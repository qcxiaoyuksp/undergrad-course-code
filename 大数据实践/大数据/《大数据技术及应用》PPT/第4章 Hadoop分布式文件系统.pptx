
<file path=[Content_Types].xml><?xml version="1.0" encoding="utf-8"?>
<Types xmlns="http://schemas.openxmlformats.org/package/2006/content-types">
  <Default Extension="png" ContentType="image/png"/>
  <Default Extension="tmp"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8"/>
  </p:notesMasterIdLst>
  <p:sldIdLst>
    <p:sldId id="256" r:id="rId2"/>
    <p:sldId id="290" r:id="rId3"/>
    <p:sldId id="312" r:id="rId4"/>
    <p:sldId id="303" r:id="rId5"/>
    <p:sldId id="330" r:id="rId6"/>
    <p:sldId id="331" r:id="rId7"/>
    <p:sldId id="332" r:id="rId8"/>
    <p:sldId id="333" r:id="rId9"/>
    <p:sldId id="334" r:id="rId10"/>
    <p:sldId id="335" r:id="rId11"/>
    <p:sldId id="336" r:id="rId12"/>
    <p:sldId id="337" r:id="rId13"/>
    <p:sldId id="338" r:id="rId14"/>
    <p:sldId id="339" r:id="rId15"/>
    <p:sldId id="340" r:id="rId16"/>
    <p:sldId id="341" r:id="rId17"/>
    <p:sldId id="342" r:id="rId18"/>
    <p:sldId id="343" r:id="rId19"/>
    <p:sldId id="344" r:id="rId20"/>
    <p:sldId id="348" r:id="rId21"/>
    <p:sldId id="347" r:id="rId22"/>
    <p:sldId id="435" r:id="rId23"/>
    <p:sldId id="346" r:id="rId24"/>
    <p:sldId id="345" r:id="rId25"/>
    <p:sldId id="350" r:id="rId26"/>
    <p:sldId id="436" r:id="rId27"/>
    <p:sldId id="349" r:id="rId28"/>
    <p:sldId id="318" r:id="rId29"/>
    <p:sldId id="262" r:id="rId30"/>
    <p:sldId id="352" r:id="rId31"/>
    <p:sldId id="353" r:id="rId32"/>
    <p:sldId id="354" r:id="rId33"/>
    <p:sldId id="355" r:id="rId34"/>
    <p:sldId id="356" r:id="rId35"/>
    <p:sldId id="433" r:id="rId36"/>
    <p:sldId id="357" r:id="rId37"/>
    <p:sldId id="358" r:id="rId38"/>
    <p:sldId id="359" r:id="rId39"/>
    <p:sldId id="360" r:id="rId40"/>
    <p:sldId id="361" r:id="rId41"/>
    <p:sldId id="362" r:id="rId42"/>
    <p:sldId id="363" r:id="rId43"/>
    <p:sldId id="434" r:id="rId44"/>
    <p:sldId id="319" r:id="rId45"/>
    <p:sldId id="329" r:id="rId46"/>
    <p:sldId id="364" r:id="rId47"/>
    <p:sldId id="351" r:id="rId48"/>
    <p:sldId id="365" r:id="rId49"/>
    <p:sldId id="366" r:id="rId50"/>
    <p:sldId id="367" r:id="rId51"/>
    <p:sldId id="368" r:id="rId52"/>
    <p:sldId id="369" r:id="rId53"/>
    <p:sldId id="370" r:id="rId54"/>
    <p:sldId id="371" r:id="rId55"/>
    <p:sldId id="372" r:id="rId56"/>
    <p:sldId id="320" r:id="rId57"/>
    <p:sldId id="270" r:id="rId58"/>
    <p:sldId id="373" r:id="rId59"/>
    <p:sldId id="374" r:id="rId60"/>
    <p:sldId id="375" r:id="rId61"/>
    <p:sldId id="376" r:id="rId62"/>
    <p:sldId id="382" r:id="rId63"/>
    <p:sldId id="383" r:id="rId64"/>
    <p:sldId id="384" r:id="rId65"/>
    <p:sldId id="377" r:id="rId66"/>
    <p:sldId id="378" r:id="rId67"/>
    <p:sldId id="379" r:id="rId68"/>
    <p:sldId id="380" r:id="rId69"/>
    <p:sldId id="381" r:id="rId70"/>
    <p:sldId id="385" r:id="rId71"/>
    <p:sldId id="386" r:id="rId72"/>
    <p:sldId id="387" r:id="rId73"/>
    <p:sldId id="388" r:id="rId74"/>
    <p:sldId id="389" r:id="rId75"/>
    <p:sldId id="390" r:id="rId76"/>
    <p:sldId id="391" r:id="rId77"/>
    <p:sldId id="392" r:id="rId78"/>
    <p:sldId id="393" r:id="rId79"/>
    <p:sldId id="394" r:id="rId80"/>
    <p:sldId id="395" r:id="rId81"/>
    <p:sldId id="396" r:id="rId82"/>
    <p:sldId id="397" r:id="rId83"/>
    <p:sldId id="398" r:id="rId84"/>
    <p:sldId id="399" r:id="rId85"/>
    <p:sldId id="400" r:id="rId86"/>
    <p:sldId id="401" r:id="rId87"/>
    <p:sldId id="402" r:id="rId88"/>
    <p:sldId id="403" r:id="rId89"/>
    <p:sldId id="404" r:id="rId90"/>
    <p:sldId id="405" r:id="rId91"/>
    <p:sldId id="406" r:id="rId92"/>
    <p:sldId id="407" r:id="rId93"/>
    <p:sldId id="408" r:id="rId94"/>
    <p:sldId id="409" r:id="rId95"/>
    <p:sldId id="411" r:id="rId96"/>
    <p:sldId id="412" r:id="rId97"/>
    <p:sldId id="413" r:id="rId98"/>
    <p:sldId id="414" r:id="rId99"/>
    <p:sldId id="418" r:id="rId100"/>
    <p:sldId id="419" r:id="rId101"/>
    <p:sldId id="420" r:id="rId102"/>
    <p:sldId id="421" r:id="rId103"/>
    <p:sldId id="423" r:id="rId104"/>
    <p:sldId id="422" r:id="rId105"/>
    <p:sldId id="424" r:id="rId106"/>
    <p:sldId id="425" r:id="rId107"/>
    <p:sldId id="426" r:id="rId108"/>
    <p:sldId id="427" r:id="rId109"/>
    <p:sldId id="428" r:id="rId110"/>
    <p:sldId id="429" r:id="rId111"/>
    <p:sldId id="430" r:id="rId112"/>
    <p:sldId id="431" r:id="rId113"/>
    <p:sldId id="432" r:id="rId114"/>
    <p:sldId id="417" r:id="rId115"/>
    <p:sldId id="416" r:id="rId116"/>
    <p:sldId id="326" r:id="rId117"/>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125" autoAdjust="0"/>
  </p:normalViewPr>
  <p:slideViewPr>
    <p:cSldViewPr>
      <p:cViewPr varScale="1">
        <p:scale>
          <a:sx n="192" d="100"/>
          <a:sy n="192" d="100"/>
        </p:scale>
        <p:origin x="900" y="100"/>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presProps" Target="presProps.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heme" Target="theme/theme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49959E0-9653-4E01-B050-18B859E9663F}" type="datetimeFigureOut">
              <a:rPr lang="zh-CN" altLang="en-US" smtClean="0"/>
              <a:t>2022/11/6</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D579405-0C40-48BA-99C8-403F46F30A6E}" type="slidenum">
              <a:rPr lang="zh-CN" altLang="en-US" smtClean="0"/>
              <a:t>‹#›</a:t>
            </a:fld>
            <a:endParaRPr lang="zh-CN" altLang="en-US"/>
          </a:p>
        </p:txBody>
      </p:sp>
    </p:spTree>
    <p:extLst>
      <p:ext uri="{BB962C8B-B14F-4D97-AF65-F5344CB8AC3E}">
        <p14:creationId xmlns:p14="http://schemas.microsoft.com/office/powerpoint/2010/main" val="867528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579405-0C40-48BA-99C8-403F46F30A6E}" type="slidenum">
              <a:rPr lang="zh-CN" altLang="en-US" smtClean="0"/>
              <a:t>2</a:t>
            </a:fld>
            <a:endParaRPr lang="zh-CN" altLang="en-US"/>
          </a:p>
        </p:txBody>
      </p:sp>
    </p:spTree>
    <p:extLst>
      <p:ext uri="{BB962C8B-B14F-4D97-AF65-F5344CB8AC3E}">
        <p14:creationId xmlns:p14="http://schemas.microsoft.com/office/powerpoint/2010/main" val="2113870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3</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579405-0C40-48BA-99C8-403F46F30A6E}" type="slidenum">
              <a:rPr lang="zh-CN" altLang="en-US" smtClean="0"/>
              <a:t>9</a:t>
            </a:fld>
            <a:endParaRPr lang="zh-CN" altLang="en-US"/>
          </a:p>
        </p:txBody>
      </p:sp>
    </p:spTree>
    <p:extLst>
      <p:ext uri="{BB962C8B-B14F-4D97-AF65-F5344CB8AC3E}">
        <p14:creationId xmlns:p14="http://schemas.microsoft.com/office/powerpoint/2010/main" val="15777614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579405-0C40-48BA-99C8-403F46F30A6E}" type="slidenum">
              <a:rPr lang="zh-CN" altLang="en-US" smtClean="0"/>
              <a:t>11</a:t>
            </a:fld>
            <a:endParaRPr lang="zh-CN" altLang="en-US"/>
          </a:p>
        </p:txBody>
      </p:sp>
    </p:spTree>
    <p:extLst>
      <p:ext uri="{BB962C8B-B14F-4D97-AF65-F5344CB8AC3E}">
        <p14:creationId xmlns:p14="http://schemas.microsoft.com/office/powerpoint/2010/main" val="6961270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D579405-0C40-48BA-99C8-403F46F30A6E}" type="slidenum">
              <a:rPr lang="zh-CN" altLang="en-US" smtClean="0"/>
              <a:t>12</a:t>
            </a:fld>
            <a:endParaRPr lang="zh-CN" altLang="en-US"/>
          </a:p>
        </p:txBody>
      </p:sp>
    </p:spTree>
    <p:extLst>
      <p:ext uri="{BB962C8B-B14F-4D97-AF65-F5344CB8AC3E}">
        <p14:creationId xmlns:p14="http://schemas.microsoft.com/office/powerpoint/2010/main" val="23571238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3D579405-0C40-48BA-99C8-403F46F30A6E}" type="slidenum">
              <a:rPr lang="zh-CN" altLang="en-US" smtClean="0"/>
              <a:t>22</a:t>
            </a:fld>
            <a:endParaRPr lang="zh-CN" altLang="en-US"/>
          </a:p>
        </p:txBody>
      </p:sp>
    </p:spTree>
    <p:extLst>
      <p:ext uri="{BB962C8B-B14F-4D97-AF65-F5344CB8AC3E}">
        <p14:creationId xmlns:p14="http://schemas.microsoft.com/office/powerpoint/2010/main" val="336809945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28</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ACK</a:t>
            </a:r>
            <a:r>
              <a:rPr lang="zh-CN" altLang="en-US" dirty="0"/>
              <a:t>应答机制：</a:t>
            </a:r>
            <a:r>
              <a:rPr lang="en-US" altLang="zh-CN" dirty="0" err="1"/>
              <a:t>Datanode</a:t>
            </a:r>
            <a:r>
              <a:rPr lang="zh-CN" altLang="en-US" dirty="0"/>
              <a:t>保存一个</a:t>
            </a:r>
            <a:r>
              <a:rPr lang="en-US" altLang="zh-CN" dirty="0"/>
              <a:t>packet</a:t>
            </a:r>
            <a:r>
              <a:rPr lang="zh-CN" altLang="en-US" dirty="0"/>
              <a:t>成功后，回给一个应答。</a:t>
            </a:r>
          </a:p>
        </p:txBody>
      </p:sp>
      <p:sp>
        <p:nvSpPr>
          <p:cNvPr id="4" name="灯片编号占位符 3"/>
          <p:cNvSpPr>
            <a:spLocks noGrp="1"/>
          </p:cNvSpPr>
          <p:nvPr>
            <p:ph type="sldNum" sz="quarter" idx="5"/>
          </p:nvPr>
        </p:nvSpPr>
        <p:spPr/>
        <p:txBody>
          <a:bodyPr/>
          <a:lstStyle/>
          <a:p>
            <a:fld id="{3D579405-0C40-48BA-99C8-403F46F30A6E}" type="slidenum">
              <a:rPr lang="zh-CN" altLang="en-US" smtClean="0"/>
              <a:t>37</a:t>
            </a:fld>
            <a:endParaRPr lang="zh-CN" altLang="en-US"/>
          </a:p>
        </p:txBody>
      </p:sp>
    </p:spTree>
    <p:extLst>
      <p:ext uri="{BB962C8B-B14F-4D97-AF65-F5344CB8AC3E}">
        <p14:creationId xmlns:p14="http://schemas.microsoft.com/office/powerpoint/2010/main" val="2963709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44</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56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86</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119409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107</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37173595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114</a:t>
            </a:fld>
            <a:endParaRPr lang="zh-CN" altLang="en-US" sz="1200">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2393101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xfrm>
            <a:off x="381000" y="685800"/>
            <a:ext cx="6096000" cy="3429000"/>
          </a:xfrm>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300">
                <a:solidFill>
                  <a:schemeClr val="tx1"/>
                </a:solidFill>
                <a:latin typeface="方正正黑简体" panose="02000000000000000000" pitchFamily="2" charset="-122"/>
                <a:ea typeface="方正正黑简体" panose="02000000000000000000" pitchFamily="2" charset="-122"/>
              </a:defRPr>
            </a:lvl1pPr>
            <a:lvl2pPr marL="742950" indent="-285750">
              <a:defRPr sz="1300">
                <a:solidFill>
                  <a:schemeClr val="tx1"/>
                </a:solidFill>
                <a:latin typeface="方正正黑简体" panose="02000000000000000000" pitchFamily="2" charset="-122"/>
                <a:ea typeface="方正正黑简体" panose="02000000000000000000" pitchFamily="2" charset="-122"/>
              </a:defRPr>
            </a:lvl2pPr>
            <a:lvl3pPr marL="1143000" indent="-228600">
              <a:defRPr sz="1300">
                <a:solidFill>
                  <a:schemeClr val="tx1"/>
                </a:solidFill>
                <a:latin typeface="方正正黑简体" panose="02000000000000000000" pitchFamily="2" charset="-122"/>
                <a:ea typeface="方正正黑简体" panose="02000000000000000000" pitchFamily="2" charset="-122"/>
              </a:defRPr>
            </a:lvl3pPr>
            <a:lvl4pPr marL="1600200" indent="-228600">
              <a:defRPr sz="1300">
                <a:solidFill>
                  <a:schemeClr val="tx1"/>
                </a:solidFill>
                <a:latin typeface="方正正黑简体" panose="02000000000000000000" pitchFamily="2" charset="-122"/>
                <a:ea typeface="方正正黑简体" panose="02000000000000000000" pitchFamily="2" charset="-122"/>
              </a:defRPr>
            </a:lvl4pPr>
            <a:lvl5pPr marL="2057400" indent="-228600">
              <a:defRPr sz="1300">
                <a:solidFill>
                  <a:schemeClr val="tx1"/>
                </a:solidFill>
                <a:latin typeface="方正正黑简体" panose="02000000000000000000" pitchFamily="2" charset="-122"/>
                <a:ea typeface="方正正黑简体" panose="02000000000000000000" pitchFamily="2" charset="-122"/>
              </a:defRPr>
            </a:lvl5pPr>
            <a:lvl6pPr marL="25146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6pPr>
            <a:lvl7pPr marL="29718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7pPr>
            <a:lvl8pPr marL="34290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8pPr>
            <a:lvl9pPr marL="3886200" indent="-228600" defTabSz="685800" eaLnBrk="0" fontAlgn="base" hangingPunct="0">
              <a:spcBef>
                <a:spcPct val="0"/>
              </a:spcBef>
              <a:spcAft>
                <a:spcPct val="0"/>
              </a:spcAft>
              <a:defRPr sz="1300">
                <a:solidFill>
                  <a:schemeClr val="tx1"/>
                </a:solidFill>
                <a:latin typeface="方正正黑简体" panose="02000000000000000000" pitchFamily="2" charset="-122"/>
                <a:ea typeface="方正正黑简体" panose="02000000000000000000" pitchFamily="2" charset="-122"/>
              </a:defRPr>
            </a:lvl9pPr>
          </a:lstStyle>
          <a:p>
            <a:fld id="{8E734D7E-DDC1-43BA-BA84-4A1CFE3D3418}" type="slidenum">
              <a:rPr lang="zh-CN" altLang="en-US" sz="1200">
                <a:latin typeface="Calibri" panose="020F0502020204030204" pitchFamily="34" charset="0"/>
                <a:ea typeface="宋体" panose="02010600030101010101" pitchFamily="2" charset="-122"/>
              </a:rPr>
              <a:t>116</a:t>
            </a:fld>
            <a:endParaRPr lang="zh-CN" altLang="en-US"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44016" y="231490"/>
            <a:ext cx="7668344" cy="540060"/>
          </a:xfrm>
          <a:noFill/>
        </p:spPr>
        <p:txBody>
          <a:bodyPr>
            <a:normAutofit/>
          </a:bodyPr>
          <a:lstStyle>
            <a:lvl1pPr algn="l">
              <a:defRPr sz="3200" b="1">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3" name="内容占位符 2"/>
          <p:cNvSpPr>
            <a:spLocks noGrp="1"/>
          </p:cNvSpPr>
          <p:nvPr>
            <p:ph idx="1"/>
          </p:nvPr>
        </p:nvSpPr>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五边形 7"/>
          <p:cNvSpPr/>
          <p:nvPr userDrawn="1"/>
        </p:nvSpPr>
        <p:spPr>
          <a:xfrm>
            <a:off x="0" y="195486"/>
            <a:ext cx="6804248" cy="648072"/>
          </a:xfrm>
          <a:prstGeom prst="homePlate">
            <a:avLst/>
          </a:prstGeom>
          <a:solidFill>
            <a:schemeClr val="accent1"/>
          </a:solidFill>
          <a:effectLst>
            <a:glow rad="101600">
              <a:schemeClr val="accent1">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530820CF-B880-4189-942D-D702A7CBA730}" type="datetimeFigureOut">
              <a:rPr lang="zh-CN" altLang="en-US" smtClean="0"/>
              <a:t>2022/11/6</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0" y="0"/>
            <a:ext cx="9144000" cy="1059582"/>
          </a:xfrm>
          <a:prstGeom prst="rect">
            <a:avLst/>
          </a:prstGeom>
          <a:solidFill>
            <a:schemeClr val="accent1">
              <a:lumMod val="75000"/>
            </a:schemeClr>
          </a:solidFill>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820CF-B880-4189-942D-D702A7CBA730}" type="datetimeFigureOut">
              <a:rPr lang="zh-CN" altLang="en-US" smtClean="0"/>
              <a:t>2022/11/6</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0C913308-F349-4B6D-A68A-DD1791B4A57B}"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slide" Target="slide86.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5.tmp"/><Relationship Id="rId2" Type="http://schemas.openxmlformats.org/officeDocument/2006/relationships/image" Target="../media/image14.tmp"/><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2.xml"/><Relationship Id="rId4" Type="http://schemas.openxmlformats.org/officeDocument/2006/relationships/image" Target="../media/image18.tmp"/></Relationships>
</file>

<file path=ppt/slides/_rels/slide50.xml.rels><?xml version="1.0" encoding="UTF-8" standalone="yes"?>
<Relationships xmlns="http://schemas.openxmlformats.org/package/2006/relationships"><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1.tmp"/><Relationship Id="rId2" Type="http://schemas.openxmlformats.org/officeDocument/2006/relationships/image" Target="../media/image20.tmp"/><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5.tmp"/><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6.tmp"/><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28.tmp"/><Relationship Id="rId2" Type="http://schemas.openxmlformats.org/officeDocument/2006/relationships/image" Target="../media/image27.tmp"/><Relationship Id="rId1" Type="http://schemas.openxmlformats.org/officeDocument/2006/relationships/slideLayout" Target="../slideLayouts/slideLayout2.xml"/><Relationship Id="rId4" Type="http://schemas.openxmlformats.org/officeDocument/2006/relationships/image" Target="../media/image29.tmp"/></Relationships>
</file>

<file path=ppt/slides/_rels/slide63.xml.rels><?xml version="1.0" encoding="UTF-8" standalone="yes"?>
<Relationships xmlns="http://schemas.openxmlformats.org/package/2006/relationships"><Relationship Id="rId2" Type="http://schemas.openxmlformats.org/officeDocument/2006/relationships/image" Target="../media/image30.tmp"/><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32.tmp"/><Relationship Id="rId2" Type="http://schemas.openxmlformats.org/officeDocument/2006/relationships/image" Target="../media/image31.tmp"/><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33.tmp"/><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4.tmp"/><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5.tmp"/><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6.tmp"/><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7.tmp"/><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8.tmp"/><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9.tmp"/><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0.tmp"/><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2.tmp"/><Relationship Id="rId2" Type="http://schemas.openxmlformats.org/officeDocument/2006/relationships/image" Target="../media/image41.tmp"/><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4.tmp"/><Relationship Id="rId2" Type="http://schemas.openxmlformats.org/officeDocument/2006/relationships/image" Target="../media/image43.tmp"/><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5.tmp"/><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6.tmp"/><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7.tmp"/><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8.tmp"/><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9.tmp"/><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50.tmp"/><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1.tmp"/><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53.tmp"/><Relationship Id="rId2" Type="http://schemas.openxmlformats.org/officeDocument/2006/relationships/image" Target="../media/image52.tmp"/><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55.tmp"/><Relationship Id="rId2" Type="http://schemas.openxmlformats.org/officeDocument/2006/relationships/image" Target="../media/image54.tmp"/><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56.tmp"/><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57.tmp"/><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58.tmp"/><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59.tmp"/><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0.tmp"/><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61.tmp"/><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62.jpe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1354" y="0"/>
            <a:ext cx="9141291" cy="5143500"/>
          </a:xfrm>
          <a:prstGeom prst="rect">
            <a:avLst/>
          </a:prstGeom>
        </p:spPr>
      </p:pic>
      <p:pic>
        <p:nvPicPr>
          <p:cNvPr id="5" name="图片 4"/>
          <p:cNvPicPr>
            <a:picLocks noChangeAspect="1"/>
          </p:cNvPicPr>
          <p:nvPr/>
        </p:nvPicPr>
        <p:blipFill>
          <a:blip r:embed="rId3"/>
          <a:stretch>
            <a:fillRect/>
          </a:stretch>
        </p:blipFill>
        <p:spPr>
          <a:xfrm>
            <a:off x="1441962" y="417200"/>
            <a:ext cx="6260074" cy="4522858"/>
          </a:xfrm>
          <a:prstGeom prst="rect">
            <a:avLst/>
          </a:prstGeom>
        </p:spPr>
      </p:pic>
      <p:pic>
        <p:nvPicPr>
          <p:cNvPr id="6" name="图片 5"/>
          <p:cNvPicPr>
            <a:picLocks noChangeAspect="1"/>
          </p:cNvPicPr>
          <p:nvPr/>
        </p:nvPicPr>
        <p:blipFill>
          <a:blip r:embed="rId4"/>
          <a:stretch>
            <a:fillRect/>
          </a:stretch>
        </p:blipFill>
        <p:spPr>
          <a:xfrm>
            <a:off x="1441962" y="1026542"/>
            <a:ext cx="6381983" cy="3090416"/>
          </a:xfrm>
          <a:prstGeom prst="rect">
            <a:avLst/>
          </a:prstGeom>
        </p:spPr>
      </p:pic>
      <p:sp>
        <p:nvSpPr>
          <p:cNvPr id="2" name="标题 1"/>
          <p:cNvSpPr>
            <a:spLocks noGrp="1"/>
          </p:cNvSpPr>
          <p:nvPr>
            <p:ph type="ctrTitle"/>
          </p:nvPr>
        </p:nvSpPr>
        <p:spPr>
          <a:xfrm>
            <a:off x="1763688" y="1815666"/>
            <a:ext cx="5472609" cy="1512168"/>
          </a:xfrm>
          <a:noFill/>
        </p:spPr>
        <p:txBody>
          <a:bodyPr>
            <a:noAutofit/>
          </a:bodyPr>
          <a:lstStyle/>
          <a:p>
            <a:pPr>
              <a:lnSpc>
                <a:spcPct val="150000"/>
              </a:lnSpc>
              <a:spcBef>
                <a:spcPts val="600"/>
              </a:spcBef>
              <a:spcAft>
                <a:spcPts val="600"/>
              </a:spcAft>
            </a:pPr>
            <a:r>
              <a:rPr lang="zh-CN" altLang="en-US"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a:t>
            </a:r>
            <a:r>
              <a:rPr lang="en-US" altLang="zh-CN"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4</a:t>
            </a:r>
            <a:r>
              <a:rPr lang="zh-CN" altLang="en-US"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br>
              <a:rPr lang="en-US" altLang="zh-CN"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br>
            <a:r>
              <a:rPr lang="en-US" altLang="zh-CN"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Hadoop</a:t>
            </a:r>
            <a:r>
              <a:rPr lang="zh-CN" altLang="zh-CN"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分布式文件系统</a:t>
            </a:r>
            <a:r>
              <a:rPr lang="en-US" altLang="zh-CN"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br>
              <a:rPr lang="en-US" altLang="zh-CN" sz="36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br>
            <a:endParaRPr lang="zh-CN" altLang="en-US" sz="2000" b="1" dirty="0">
              <a:solidFill>
                <a:schemeClr val="accent6"/>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38928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fltVal val="0"/>
                                          </p:val>
                                        </p:tav>
                                        <p:tav tm="100000">
                                          <p:val>
                                            <p:strVal val="#ppt_w"/>
                                          </p:val>
                                        </p:tav>
                                      </p:tavLst>
                                    </p:anim>
                                    <p:anim calcmode="lin" valueType="num">
                                      <p:cBhvr>
                                        <p:cTn id="8" dur="1000" fill="hold"/>
                                        <p:tgtEl>
                                          <p:spTgt spid="5"/>
                                        </p:tgtEl>
                                        <p:attrNameLst>
                                          <p:attrName>ppt_h</p:attrName>
                                        </p:attrNameLst>
                                      </p:cBhvr>
                                      <p:tavLst>
                                        <p:tav tm="0">
                                          <p:val>
                                            <p:fltVal val="0"/>
                                          </p:val>
                                        </p:tav>
                                        <p:tav tm="100000">
                                          <p:val>
                                            <p:strVal val="#ppt_h"/>
                                          </p:val>
                                        </p:tav>
                                      </p:tavLst>
                                    </p:anim>
                                  </p:childTnLst>
                                </p:cTn>
                              </p:par>
                              <p:par>
                                <p:cTn id="9" presetID="2" presetClass="entr" presetSubtype="2" fill="hold" nodeType="with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1000" fill="hold"/>
                                        <p:tgtEl>
                                          <p:spTgt spid="6"/>
                                        </p:tgtEl>
                                        <p:attrNameLst>
                                          <p:attrName>ppt_x</p:attrName>
                                        </p:attrNameLst>
                                      </p:cBhvr>
                                      <p:tavLst>
                                        <p:tav tm="0">
                                          <p:val>
                                            <p:strVal val="1+#ppt_w/2"/>
                                          </p:val>
                                        </p:tav>
                                        <p:tav tm="100000">
                                          <p:val>
                                            <p:strVal val="#ppt_x"/>
                                          </p:val>
                                        </p:tav>
                                      </p:tavLst>
                                    </p:anim>
                                    <p:anim calcmode="lin" valueType="num">
                                      <p:cBhvr additive="base">
                                        <p:cTn id="12" dur="10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图片 18"/>
          <p:cNvPicPr>
            <a:picLocks noChangeAspect="1"/>
          </p:cNvPicPr>
          <p:nvPr/>
        </p:nvPicPr>
        <p:blipFill>
          <a:blip r:embed="rId3"/>
          <a:stretch>
            <a:fillRect/>
          </a:stretch>
        </p:blipFill>
        <p:spPr>
          <a:xfrm>
            <a:off x="1354" y="0"/>
            <a:ext cx="9141291" cy="5143500"/>
          </a:xfrm>
          <a:prstGeom prst="rect">
            <a:avLst/>
          </a:prstGeom>
        </p:spPr>
      </p:pic>
      <p:sp>
        <p:nvSpPr>
          <p:cNvPr id="6" name="Rectangle 5"/>
          <p:cNvSpPr>
            <a:spLocks noChangeArrowheads="1"/>
          </p:cNvSpPr>
          <p:nvPr/>
        </p:nvSpPr>
        <p:spPr bwMode="auto">
          <a:xfrm>
            <a:off x="788426" y="1439525"/>
            <a:ext cx="3351526"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7" name="Freeform 6"/>
          <p:cNvSpPr/>
          <p:nvPr/>
        </p:nvSpPr>
        <p:spPr bwMode="auto">
          <a:xfrm>
            <a:off x="226650" y="1439525"/>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8" name="TextBox 144"/>
          <p:cNvSpPr txBox="1"/>
          <p:nvPr/>
        </p:nvSpPr>
        <p:spPr>
          <a:xfrm>
            <a:off x="294124" y="1479194"/>
            <a:ext cx="686700" cy="438691"/>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01</a:t>
            </a:r>
            <a:endParaRPr lang="zh-CN" altLang="en-US" sz="2400" b="1" dirty="0">
              <a:solidFill>
                <a:schemeClr val="bg1"/>
              </a:solidFill>
              <a:latin typeface="微软雅黑" panose="020B0503020204020204" pitchFamily="34" charset="-122"/>
            </a:endParaRPr>
          </a:p>
        </p:txBody>
      </p:sp>
      <p:sp>
        <p:nvSpPr>
          <p:cNvPr id="9" name="TextBox 145"/>
          <p:cNvSpPr txBox="1"/>
          <p:nvPr/>
        </p:nvSpPr>
        <p:spPr>
          <a:xfrm>
            <a:off x="1169685" y="1511039"/>
            <a:ext cx="3094784"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Hadoop</a:t>
            </a:r>
            <a:r>
              <a:rPr lang="zh-CN" altLang="en-US" sz="2400" b="1" dirty="0">
                <a:solidFill>
                  <a:schemeClr val="bg1"/>
                </a:solidFill>
                <a:latin typeface="微软雅黑" panose="020B0503020204020204" pitchFamily="34" charset="-122"/>
                <a:ea typeface="微软雅黑" panose="020B0503020204020204" pitchFamily="34" charset="-122"/>
              </a:rPr>
              <a:t>简介</a:t>
            </a:r>
          </a:p>
        </p:txBody>
      </p:sp>
      <p:sp>
        <p:nvSpPr>
          <p:cNvPr id="10" name="Rectangle 5"/>
          <p:cNvSpPr>
            <a:spLocks noChangeArrowheads="1"/>
          </p:cNvSpPr>
          <p:nvPr/>
        </p:nvSpPr>
        <p:spPr bwMode="auto">
          <a:xfrm>
            <a:off x="802524" y="2407238"/>
            <a:ext cx="3351526"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11" name="Freeform 6"/>
          <p:cNvSpPr/>
          <p:nvPr/>
        </p:nvSpPr>
        <p:spPr bwMode="auto">
          <a:xfrm>
            <a:off x="240748" y="2407238"/>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12" name="TextBox 152"/>
          <p:cNvSpPr txBox="1"/>
          <p:nvPr/>
        </p:nvSpPr>
        <p:spPr>
          <a:xfrm>
            <a:off x="308222" y="2446906"/>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02</a:t>
            </a:r>
            <a:endParaRPr lang="zh-CN" altLang="en-US" sz="2400" b="1" dirty="0">
              <a:solidFill>
                <a:schemeClr val="bg1"/>
              </a:solidFill>
              <a:latin typeface="微软雅黑" panose="020B0503020204020204" pitchFamily="34" charset="-122"/>
            </a:endParaRPr>
          </a:p>
        </p:txBody>
      </p:sp>
      <p:sp>
        <p:nvSpPr>
          <p:cNvPr id="13" name="TextBox 153"/>
          <p:cNvSpPr txBox="1"/>
          <p:nvPr/>
        </p:nvSpPr>
        <p:spPr>
          <a:xfrm>
            <a:off x="1183782" y="2419003"/>
            <a:ext cx="3609447"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rPr>
              <a:t>HDFS</a:t>
            </a:r>
            <a:r>
              <a:rPr lang="zh-CN" altLang="en-US" sz="2400" b="1" dirty="0">
                <a:solidFill>
                  <a:schemeClr val="bg1"/>
                </a:solidFill>
                <a:latin typeface="微软雅黑" panose="020B0503020204020204" pitchFamily="34" charset="-122"/>
                <a:ea typeface="微软雅黑" panose="020B0503020204020204" pitchFamily="34" charset="-122"/>
              </a:rPr>
              <a:t>体系结构</a:t>
            </a:r>
          </a:p>
        </p:txBody>
      </p:sp>
      <p:grpSp>
        <p:nvGrpSpPr>
          <p:cNvPr id="14" name="组合 54"/>
          <p:cNvGrpSpPr/>
          <p:nvPr/>
        </p:nvGrpSpPr>
        <p:grpSpPr bwMode="auto">
          <a:xfrm>
            <a:off x="0" y="349949"/>
            <a:ext cx="9142645" cy="841713"/>
            <a:chOff x="256379" y="27271"/>
            <a:chExt cx="7683149" cy="841022"/>
          </a:xfrm>
        </p:grpSpPr>
        <p:grpSp>
          <p:nvGrpSpPr>
            <p:cNvPr id="15" name="组合 55"/>
            <p:cNvGrpSpPr/>
            <p:nvPr/>
          </p:nvGrpSpPr>
          <p:grpSpPr bwMode="auto">
            <a:xfrm>
              <a:off x="256379" y="27271"/>
              <a:ext cx="7683149" cy="837427"/>
              <a:chOff x="256379" y="27271"/>
              <a:chExt cx="7683149" cy="837427"/>
            </a:xfrm>
          </p:grpSpPr>
          <p:sp>
            <p:nvSpPr>
              <p:cNvPr id="17" name="文本框 57"/>
              <p:cNvSpPr txBox="1">
                <a:spLocks noChangeArrowheads="1"/>
              </p:cNvSpPr>
              <p:nvPr/>
            </p:nvSpPr>
            <p:spPr bwMode="auto">
              <a:xfrm>
                <a:off x="439196" y="27271"/>
                <a:ext cx="1432561" cy="5842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r>
                  <a:rPr lang="zh-CN" altLang="en-US" sz="3200" b="1" dirty="0">
                    <a:solidFill>
                      <a:srgbClr val="FFC000"/>
                    </a:solidFill>
                    <a:latin typeface="微软雅黑" panose="020B0503020204020204" pitchFamily="34" charset="-122"/>
                    <a:ea typeface="微软雅黑" panose="020B0503020204020204" pitchFamily="34" charset="-122"/>
                  </a:rPr>
                  <a:t>目 录</a:t>
                </a:r>
              </a:p>
            </p:txBody>
          </p:sp>
          <p:cxnSp>
            <p:nvCxnSpPr>
              <p:cNvPr id="18" name="直接连接符 58"/>
              <p:cNvCxnSpPr>
                <a:cxnSpLocks noChangeShapeType="1"/>
              </p:cNvCxnSpPr>
              <p:nvPr/>
            </p:nvCxnSpPr>
            <p:spPr bwMode="auto">
              <a:xfrm flipV="1">
                <a:off x="256379" y="817054"/>
                <a:ext cx="7683149" cy="47644"/>
              </a:xfrm>
              <a:prstGeom prst="line">
                <a:avLst/>
              </a:prstGeom>
              <a:noFill/>
              <a:ln w="6350">
                <a:solidFill>
                  <a:schemeClr val="bg1"/>
                </a:solidFill>
                <a:round/>
              </a:ln>
              <a:extLst>
                <a:ext uri="{909E8E84-426E-40DD-AFC4-6F175D3DCCD1}">
                  <a14:hiddenFill xmlns:a14="http://schemas.microsoft.com/office/drawing/2010/main">
                    <a:noFill/>
                  </a14:hiddenFill>
                </a:ext>
              </a:extLst>
            </p:spPr>
          </p:cxnSp>
        </p:grpSp>
        <p:sp>
          <p:nvSpPr>
            <p:cNvPr id="16" name="文本框 56"/>
            <p:cNvSpPr txBox="1">
              <a:spLocks noChangeArrowheads="1"/>
            </p:cNvSpPr>
            <p:nvPr/>
          </p:nvSpPr>
          <p:spPr bwMode="auto">
            <a:xfrm>
              <a:off x="871257" y="499264"/>
              <a:ext cx="1050505" cy="3690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algn="dist" eaLnBrk="1" hangingPunct="1"/>
              <a:r>
                <a:rPr lang="en-US" altLang="zh-CN" dirty="0">
                  <a:solidFill>
                    <a:schemeClr val="bg1"/>
                  </a:solidFill>
                  <a:latin typeface="微软雅黑" panose="020B0503020204020204" pitchFamily="34" charset="-122"/>
                  <a:ea typeface="微软雅黑" panose="020B0503020204020204" pitchFamily="34" charset="-122"/>
                </a:rPr>
                <a:t>Contents</a:t>
              </a:r>
              <a:endParaRPr lang="zh-CN" altLang="en-US" dirty="0">
                <a:solidFill>
                  <a:schemeClr val="bg1"/>
                </a:solidFill>
                <a:latin typeface="微软雅黑" panose="020B0503020204020204" pitchFamily="34" charset="-122"/>
                <a:ea typeface="微软雅黑" panose="020B0503020204020204" pitchFamily="34" charset="-122"/>
              </a:endParaRPr>
            </a:p>
          </p:txBody>
        </p:sp>
      </p:grpSp>
      <p:sp>
        <p:nvSpPr>
          <p:cNvPr id="20" name="Rectangle 5"/>
          <p:cNvSpPr>
            <a:spLocks noChangeArrowheads="1"/>
          </p:cNvSpPr>
          <p:nvPr/>
        </p:nvSpPr>
        <p:spPr bwMode="auto">
          <a:xfrm>
            <a:off x="834374" y="3472502"/>
            <a:ext cx="3351526"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21" name="Freeform 6"/>
          <p:cNvSpPr/>
          <p:nvPr/>
        </p:nvSpPr>
        <p:spPr bwMode="auto">
          <a:xfrm>
            <a:off x="272598" y="3472502"/>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22" name="TextBox 144"/>
          <p:cNvSpPr txBox="1"/>
          <p:nvPr/>
        </p:nvSpPr>
        <p:spPr>
          <a:xfrm>
            <a:off x="340072" y="3512171"/>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03</a:t>
            </a:r>
            <a:endParaRPr lang="zh-CN" altLang="en-US" sz="2400" b="1" dirty="0">
              <a:solidFill>
                <a:schemeClr val="bg1"/>
              </a:solidFill>
              <a:latin typeface="微软雅黑" panose="020B0503020204020204" pitchFamily="34" charset="-122"/>
            </a:endParaRPr>
          </a:p>
        </p:txBody>
      </p:sp>
      <p:sp>
        <p:nvSpPr>
          <p:cNvPr id="23" name="TextBox 145"/>
          <p:cNvSpPr txBox="1"/>
          <p:nvPr/>
        </p:nvSpPr>
        <p:spPr>
          <a:xfrm>
            <a:off x="1215633" y="3544016"/>
            <a:ext cx="2463569"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HDFS</a:t>
            </a:r>
            <a:r>
              <a:rPr lang="zh-CN" altLang="en-US" sz="2400" b="1" dirty="0">
                <a:solidFill>
                  <a:schemeClr val="bg1"/>
                </a:solidFill>
                <a:latin typeface="微软雅黑" panose="020B0503020204020204" pitchFamily="34" charset="-122"/>
                <a:ea typeface="微软雅黑" panose="020B0503020204020204" pitchFamily="34" charset="-122"/>
              </a:rPr>
              <a:t>初探</a:t>
            </a:r>
          </a:p>
        </p:txBody>
      </p:sp>
      <p:sp>
        <p:nvSpPr>
          <p:cNvPr id="24" name="Rectangle 5"/>
          <p:cNvSpPr>
            <a:spLocks noChangeArrowheads="1"/>
          </p:cNvSpPr>
          <p:nvPr/>
        </p:nvSpPr>
        <p:spPr bwMode="auto">
          <a:xfrm>
            <a:off x="4878957" y="1445582"/>
            <a:ext cx="4099504" cy="518055"/>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25" name="Freeform 6"/>
          <p:cNvSpPr/>
          <p:nvPr/>
        </p:nvSpPr>
        <p:spPr bwMode="auto">
          <a:xfrm>
            <a:off x="4317181" y="1445582"/>
            <a:ext cx="865275" cy="518055"/>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26" name="TextBox 152"/>
          <p:cNvSpPr txBox="1"/>
          <p:nvPr/>
        </p:nvSpPr>
        <p:spPr>
          <a:xfrm>
            <a:off x="4384655" y="1485250"/>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04</a:t>
            </a:r>
            <a:endParaRPr lang="zh-CN" altLang="en-US" sz="2400" b="1" dirty="0">
              <a:solidFill>
                <a:schemeClr val="bg1"/>
              </a:solidFill>
              <a:latin typeface="微软雅黑" panose="020B0503020204020204" pitchFamily="34" charset="-122"/>
            </a:endParaRPr>
          </a:p>
        </p:txBody>
      </p:sp>
      <p:sp>
        <p:nvSpPr>
          <p:cNvPr id="27" name="TextBox 153"/>
          <p:cNvSpPr txBox="1"/>
          <p:nvPr/>
        </p:nvSpPr>
        <p:spPr>
          <a:xfrm>
            <a:off x="5292080" y="1485249"/>
            <a:ext cx="3094785" cy="438555"/>
          </a:xfrm>
          <a:prstGeom prst="rect">
            <a:avLst/>
          </a:prstGeom>
          <a:noFill/>
        </p:spPr>
        <p:txBody>
          <a:bodyPr wrap="square" lIns="68553" tIns="34277" rIns="68553" bIns="34277" rtlCol="0">
            <a:spAutoFit/>
          </a:bodyPr>
          <a:lstStyle/>
          <a:p>
            <a:pPr fontAlgn="base">
              <a:spcBef>
                <a:spcPct val="0"/>
              </a:spcBef>
              <a:spcAft>
                <a:spcPct val="0"/>
              </a:spcAft>
            </a:pPr>
            <a:r>
              <a:rPr lang="en-US" altLang="zh-CN" sz="2400" b="1" dirty="0">
                <a:solidFill>
                  <a:schemeClr val="bg1"/>
                </a:solidFill>
                <a:latin typeface="微软雅黑" panose="020B0503020204020204" pitchFamily="34" charset="-122"/>
                <a:ea typeface="微软雅黑" panose="020B0503020204020204" pitchFamily="34" charset="-122"/>
              </a:rPr>
              <a:t>HDFS</a:t>
            </a:r>
            <a:r>
              <a:rPr lang="zh-CN" altLang="en-US" sz="2400" b="1" dirty="0">
                <a:solidFill>
                  <a:schemeClr val="bg1"/>
                </a:solidFill>
                <a:latin typeface="微软雅黑" panose="020B0503020204020204" pitchFamily="34" charset="-122"/>
                <a:ea typeface="微软雅黑" panose="020B0503020204020204" pitchFamily="34" charset="-122"/>
              </a:rPr>
              <a:t>常用</a:t>
            </a:r>
            <a:r>
              <a:rPr lang="en-US" altLang="zh-CN" sz="2400" b="1" dirty="0">
                <a:solidFill>
                  <a:schemeClr val="bg1"/>
                </a:solidFill>
                <a:latin typeface="微软雅黑" panose="020B0503020204020204" pitchFamily="34" charset="-122"/>
                <a:ea typeface="微软雅黑" panose="020B0503020204020204" pitchFamily="34" charset="-122"/>
              </a:rPr>
              <a:t>CLI</a:t>
            </a:r>
            <a:r>
              <a:rPr lang="zh-CN" altLang="en-US" sz="2400" b="1" dirty="0">
                <a:solidFill>
                  <a:schemeClr val="bg1"/>
                </a:solidFill>
                <a:latin typeface="微软雅黑" panose="020B0503020204020204" pitchFamily="34" charset="-122"/>
                <a:ea typeface="微软雅黑" panose="020B0503020204020204" pitchFamily="34" charset="-122"/>
              </a:rPr>
              <a:t>命令</a:t>
            </a:r>
          </a:p>
        </p:txBody>
      </p:sp>
      <p:sp>
        <p:nvSpPr>
          <p:cNvPr id="60" name="Rectangle 5"/>
          <p:cNvSpPr>
            <a:spLocks noChangeArrowheads="1"/>
          </p:cNvSpPr>
          <p:nvPr/>
        </p:nvSpPr>
        <p:spPr bwMode="auto">
          <a:xfrm>
            <a:off x="4878956" y="2379609"/>
            <a:ext cx="4099505" cy="847554"/>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61" name="Freeform 6"/>
          <p:cNvSpPr/>
          <p:nvPr/>
        </p:nvSpPr>
        <p:spPr bwMode="auto">
          <a:xfrm>
            <a:off x="4317181" y="2379609"/>
            <a:ext cx="865275" cy="847554"/>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62" name="TextBox 152"/>
          <p:cNvSpPr txBox="1"/>
          <p:nvPr/>
        </p:nvSpPr>
        <p:spPr>
          <a:xfrm>
            <a:off x="4384655" y="2419277"/>
            <a:ext cx="6845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05</a:t>
            </a:r>
            <a:endParaRPr lang="zh-CN" altLang="en-US" sz="2400" b="1" dirty="0">
              <a:solidFill>
                <a:schemeClr val="bg1"/>
              </a:solidFill>
              <a:latin typeface="微软雅黑" panose="020B0503020204020204" pitchFamily="34" charset="-122"/>
            </a:endParaRPr>
          </a:p>
        </p:txBody>
      </p:sp>
      <p:sp>
        <p:nvSpPr>
          <p:cNvPr id="63" name="TextBox 153"/>
          <p:cNvSpPr txBox="1"/>
          <p:nvPr/>
        </p:nvSpPr>
        <p:spPr>
          <a:xfrm>
            <a:off x="5292080" y="2419276"/>
            <a:ext cx="3842763" cy="807887"/>
          </a:xfrm>
          <a:prstGeom prst="rect">
            <a:avLst/>
          </a:prstGeom>
          <a:noFill/>
        </p:spPr>
        <p:txBody>
          <a:bodyPr wrap="square" lIns="68553" tIns="34277" rIns="68553" bIns="34277" rtlCol="0">
            <a:spAutoFit/>
          </a:bodyPr>
          <a:lstStyle/>
          <a:p>
            <a:pPr fontAlgn="base">
              <a:spcBef>
                <a:spcPct val="0"/>
              </a:spcBef>
              <a:spcAft>
                <a:spcPct val="0"/>
              </a:spcAft>
            </a:pPr>
            <a:r>
              <a:rPr lang="zh-CN" altLang="en-US" sz="2400" b="1" dirty="0">
                <a:solidFill>
                  <a:schemeClr val="bg1"/>
                </a:solidFill>
                <a:latin typeface="微软雅黑" panose="020B0503020204020204" pitchFamily="34" charset="-122"/>
                <a:ea typeface="微软雅黑" panose="020B0503020204020204" pitchFamily="34" charset="-122"/>
                <a:hlinkClick r:id="rId4" action="ppaction://hlinksldjump">
                  <a:extLst>
                    <a:ext uri="{A12FA001-AC4F-418D-AE19-62706E023703}">
                      <ahyp:hlinkClr xmlns:ahyp="http://schemas.microsoft.com/office/drawing/2018/hyperlinkcolor" val="tx"/>
                    </a:ext>
                  </a:extLst>
                </a:hlinkClick>
              </a:rPr>
              <a:t>利用</a:t>
            </a:r>
            <a:r>
              <a:rPr lang="en-US" altLang="zh-CN" sz="2400" b="1" dirty="0" err="1">
                <a:solidFill>
                  <a:schemeClr val="bg1"/>
                </a:solidFill>
                <a:latin typeface="微软雅黑" panose="020B0503020204020204" pitchFamily="34" charset="-122"/>
                <a:ea typeface="微软雅黑" panose="020B0503020204020204" pitchFamily="34" charset="-122"/>
                <a:hlinkClick r:id="rId4" action="ppaction://hlinksldjump">
                  <a:extLst>
                    <a:ext uri="{A12FA001-AC4F-418D-AE19-62706E023703}">
                      <ahyp:hlinkClr xmlns:ahyp="http://schemas.microsoft.com/office/drawing/2018/hyperlinkcolor" val="tx"/>
                    </a:ext>
                  </a:extLst>
                </a:hlinkClick>
              </a:rPr>
              <a:t>pyhdfs</a:t>
            </a:r>
            <a:r>
              <a:rPr lang="zh-CN" altLang="en-US" sz="2400" b="1" dirty="0">
                <a:solidFill>
                  <a:schemeClr val="bg1"/>
                </a:solidFill>
                <a:latin typeface="微软雅黑" panose="020B0503020204020204" pitchFamily="34" charset="-122"/>
                <a:ea typeface="微软雅黑" panose="020B0503020204020204" pitchFamily="34" charset="-122"/>
                <a:hlinkClick r:id="rId4" action="ppaction://hlinksldjump">
                  <a:extLst>
                    <a:ext uri="{A12FA001-AC4F-418D-AE19-62706E023703}">
                      <ahyp:hlinkClr xmlns:ahyp="http://schemas.microsoft.com/office/drawing/2018/hyperlinkcolor" val="tx"/>
                    </a:ext>
                  </a:extLst>
                </a:hlinkClick>
              </a:rPr>
              <a:t>实现</a:t>
            </a:r>
            <a:r>
              <a:rPr lang="en-US" altLang="zh-CN" sz="2400" b="1" dirty="0">
                <a:solidFill>
                  <a:schemeClr val="bg1"/>
                </a:solidFill>
                <a:latin typeface="微软雅黑" panose="020B0503020204020204" pitchFamily="34" charset="-122"/>
                <a:ea typeface="微软雅黑" panose="020B0503020204020204" pitchFamily="34" charset="-122"/>
                <a:hlinkClick r:id="rId4" action="ppaction://hlinksldjump">
                  <a:extLst>
                    <a:ext uri="{A12FA001-AC4F-418D-AE19-62706E023703}">
                      <ahyp:hlinkClr xmlns:ahyp="http://schemas.microsoft.com/office/drawing/2018/hyperlinkcolor" val="tx"/>
                    </a:ext>
                  </a:extLst>
                </a:hlinkClick>
              </a:rPr>
              <a:t>HDFS</a:t>
            </a:r>
            <a:r>
              <a:rPr lang="zh-CN" altLang="en-US" sz="2400" b="1" dirty="0">
                <a:solidFill>
                  <a:schemeClr val="bg1"/>
                </a:solidFill>
                <a:latin typeface="微软雅黑" panose="020B0503020204020204" pitchFamily="34" charset="-122"/>
                <a:ea typeface="微软雅黑" panose="020B0503020204020204" pitchFamily="34" charset="-122"/>
                <a:hlinkClick r:id="rId4" action="ppaction://hlinksldjump">
                  <a:extLst>
                    <a:ext uri="{A12FA001-AC4F-418D-AE19-62706E023703}">
                      <ahyp:hlinkClr xmlns:ahyp="http://schemas.microsoft.com/office/drawing/2018/hyperlinkcolor" val="tx"/>
                    </a:ext>
                  </a:extLst>
                </a:hlinkClick>
              </a:rPr>
              <a:t>的文件访问</a:t>
            </a:r>
            <a:endParaRPr lang="zh-CN" altLang="en-US" sz="2400" b="1" dirty="0">
              <a:solidFill>
                <a:schemeClr val="bg1"/>
              </a:solidFill>
              <a:latin typeface="微软雅黑" panose="020B0503020204020204" pitchFamily="34" charset="-122"/>
              <a:ea typeface="微软雅黑" panose="020B0503020204020204" pitchFamily="34" charset="-122"/>
            </a:endParaRPr>
          </a:p>
        </p:txBody>
      </p:sp>
      <p:sp>
        <p:nvSpPr>
          <p:cNvPr id="28" name="Rectangle 5"/>
          <p:cNvSpPr>
            <a:spLocks noChangeArrowheads="1"/>
          </p:cNvSpPr>
          <p:nvPr/>
        </p:nvSpPr>
        <p:spPr bwMode="auto">
          <a:xfrm>
            <a:off x="4919827" y="3486548"/>
            <a:ext cx="4058635" cy="518056"/>
          </a:xfrm>
          <a:prstGeom prst="rect">
            <a:avLst/>
          </a:prstGeom>
          <a:noFill/>
          <a:ln w="6350" cap="flat">
            <a:solidFill>
              <a:schemeClr val="bg1"/>
            </a:solidFill>
            <a:prstDash val="solid"/>
            <a:miter lim="800000"/>
          </a:ln>
          <a:effectLst>
            <a:outerShdw blurRad="203200" sx="102000" sy="102000" algn="ctr" rotWithShape="0">
              <a:prstClr val="black">
                <a:alpha val="40000"/>
              </a:prstClr>
            </a:outerShdw>
          </a:effectLst>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latin typeface="微软雅黑" panose="020B0503020204020204" pitchFamily="34" charset="-122"/>
              <a:ea typeface="微软雅黑" panose="020B0503020204020204" pitchFamily="34" charset="-122"/>
            </a:endParaRPr>
          </a:p>
        </p:txBody>
      </p:sp>
      <p:sp>
        <p:nvSpPr>
          <p:cNvPr id="29" name="Freeform 6"/>
          <p:cNvSpPr/>
          <p:nvPr/>
        </p:nvSpPr>
        <p:spPr bwMode="auto">
          <a:xfrm>
            <a:off x="4317181" y="3486548"/>
            <a:ext cx="818517" cy="518056"/>
          </a:xfrm>
          <a:custGeom>
            <a:avLst/>
            <a:gdLst>
              <a:gd name="T0" fmla="*/ 2158 w 2158"/>
              <a:gd name="T1" fmla="*/ 531 h 1996"/>
              <a:gd name="T2" fmla="*/ 1996 w 2158"/>
              <a:gd name="T3" fmla="*/ 397 h 1996"/>
              <a:gd name="T4" fmla="*/ 1996 w 2158"/>
              <a:gd name="T5" fmla="*/ 0 h 1996"/>
              <a:gd name="T6" fmla="*/ 0 w 2158"/>
              <a:gd name="T7" fmla="*/ 0 h 1996"/>
              <a:gd name="T8" fmla="*/ 0 w 2158"/>
              <a:gd name="T9" fmla="*/ 1996 h 1996"/>
              <a:gd name="T10" fmla="*/ 1996 w 2158"/>
              <a:gd name="T11" fmla="*/ 1996 h 1996"/>
              <a:gd name="T12" fmla="*/ 1996 w 2158"/>
              <a:gd name="T13" fmla="*/ 666 h 1996"/>
              <a:gd name="T14" fmla="*/ 2158 w 2158"/>
              <a:gd name="T15" fmla="*/ 531 h 199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58" h="1996">
                <a:moveTo>
                  <a:pt x="2158" y="531"/>
                </a:moveTo>
                <a:lnTo>
                  <a:pt x="1996" y="397"/>
                </a:lnTo>
                <a:lnTo>
                  <a:pt x="1996" y="0"/>
                </a:lnTo>
                <a:lnTo>
                  <a:pt x="0" y="0"/>
                </a:lnTo>
                <a:lnTo>
                  <a:pt x="0" y="1996"/>
                </a:lnTo>
                <a:lnTo>
                  <a:pt x="1996" y="1996"/>
                </a:lnTo>
                <a:lnTo>
                  <a:pt x="1996" y="666"/>
                </a:lnTo>
                <a:lnTo>
                  <a:pt x="2158" y="531"/>
                </a:lnTo>
                <a:close/>
              </a:path>
            </a:pathLst>
          </a:custGeom>
          <a:solidFill>
            <a:srgbClr val="00B0F0"/>
          </a:solidFill>
          <a:ln w="19050">
            <a:solidFill>
              <a:srgbClr val="F8F8F8"/>
            </a:solidFill>
            <a:round/>
          </a:ln>
        </p:spPr>
        <p:txBody>
          <a:bodyPr vert="horz" wrap="square" lIns="68553" tIns="34277" rIns="68553" bIns="34277" numCol="1" anchor="t" anchorCtr="0" compatLnSpc="1"/>
          <a:lstStyle/>
          <a:p>
            <a:pPr fontAlgn="base">
              <a:spcBef>
                <a:spcPct val="0"/>
              </a:spcBef>
              <a:spcAft>
                <a:spcPct val="0"/>
              </a:spcAft>
            </a:pPr>
            <a:endParaRPr lang="zh-CN" altLang="en-US" kern="0">
              <a:solidFill>
                <a:schemeClr val="bg1"/>
              </a:solidFill>
              <a:ea typeface="宋体" panose="02010600030101010101" pitchFamily="2" charset="-122"/>
            </a:endParaRPr>
          </a:p>
        </p:txBody>
      </p:sp>
      <p:sp>
        <p:nvSpPr>
          <p:cNvPr id="30" name="TextBox 144"/>
          <p:cNvSpPr txBox="1"/>
          <p:nvPr/>
        </p:nvSpPr>
        <p:spPr>
          <a:xfrm>
            <a:off x="4384655" y="3526216"/>
            <a:ext cx="516754"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a:solidFill>
                  <a:schemeClr val="bg1"/>
                </a:solidFill>
                <a:latin typeface="微软雅黑" panose="020B0503020204020204" pitchFamily="34" charset="-122"/>
              </a:rPr>
              <a:t>06</a:t>
            </a:r>
            <a:endParaRPr lang="zh-CN" altLang="en-US" sz="2400" b="1" dirty="0">
              <a:solidFill>
                <a:schemeClr val="bg1"/>
              </a:solidFill>
              <a:latin typeface="微软雅黑" panose="020B0503020204020204" pitchFamily="34" charset="-122"/>
            </a:endParaRPr>
          </a:p>
        </p:txBody>
      </p:sp>
      <p:sp>
        <p:nvSpPr>
          <p:cNvPr id="31" name="TextBox 145"/>
          <p:cNvSpPr txBox="1"/>
          <p:nvPr/>
        </p:nvSpPr>
        <p:spPr>
          <a:xfrm>
            <a:off x="5332951" y="3529979"/>
            <a:ext cx="3657876" cy="438555"/>
          </a:xfrm>
          <a:prstGeom prst="rect">
            <a:avLst/>
          </a:prstGeom>
          <a:noFill/>
        </p:spPr>
        <p:txBody>
          <a:bodyPr wrap="square" lIns="68553" tIns="34277" rIns="68553" bIns="34277" rtlCol="0">
            <a:spAutoFit/>
          </a:bodyPr>
          <a:lstStyle/>
          <a:p>
            <a:pPr fontAlgn="base">
              <a:spcBef>
                <a:spcPct val="0"/>
              </a:spcBef>
              <a:spcAft>
                <a:spcPct val="0"/>
              </a:spcAft>
              <a:buFont typeface="Arial" panose="020B0604020202020204" pitchFamily="34" charset="0"/>
              <a:buNone/>
            </a:pPr>
            <a:r>
              <a:rPr lang="en-US" altLang="zh-CN" sz="2400" b="1" dirty="0" err="1">
                <a:solidFill>
                  <a:schemeClr val="bg1"/>
                </a:solidFill>
                <a:latin typeface="微软雅黑" panose="020B0503020204020204" pitchFamily="34" charset="-122"/>
                <a:ea typeface="微软雅黑" panose="020B0503020204020204" pitchFamily="34" charset="-122"/>
              </a:rPr>
              <a:t>Pyhdfs</a:t>
            </a:r>
            <a:r>
              <a:rPr lang="zh-CN" altLang="en-US" sz="2400" b="1" dirty="0">
                <a:solidFill>
                  <a:schemeClr val="bg1"/>
                </a:solidFill>
                <a:latin typeface="微软雅黑" panose="020B0503020204020204" pitchFamily="34" charset="-122"/>
                <a:ea typeface="微软雅黑" panose="020B0503020204020204" pitchFamily="34" charset="-122"/>
              </a:rPr>
              <a:t>应用实战</a:t>
            </a:r>
          </a:p>
        </p:txBody>
      </p:sp>
    </p:spTree>
    <p:extLst>
      <p:ext uri="{BB962C8B-B14F-4D97-AF65-F5344CB8AC3E}">
        <p14:creationId xmlns:p14="http://schemas.microsoft.com/office/powerpoint/2010/main" val="3185313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0-#ppt_w/2"/>
                                          </p:val>
                                        </p:tav>
                                        <p:tav tm="100000">
                                          <p:val>
                                            <p:strVal val="#ppt_x"/>
                                          </p:val>
                                        </p:tav>
                                      </p:tavLst>
                                    </p:anim>
                                    <p:anim calcmode="lin" valueType="num">
                                      <p:cBhvr additive="base">
                                        <p:cTn id="12" dur="500" fill="hold"/>
                                        <p:tgtEl>
                                          <p:spTgt spid="7"/>
                                        </p:tgtEl>
                                        <p:attrNameLst>
                                          <p:attrName>ppt_y</p:attrName>
                                        </p:attrNameLst>
                                      </p:cBhvr>
                                      <p:tavLst>
                                        <p:tav tm="0">
                                          <p:val>
                                            <p:strVal val="#ppt_y"/>
                                          </p:val>
                                        </p:tav>
                                        <p:tav tm="100000">
                                          <p:val>
                                            <p:strVal val="#ppt_y"/>
                                          </p:val>
                                        </p:tav>
                                      </p:tavLst>
                                    </p:anim>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wipe(left)">
                                      <p:cBhvr>
                                        <p:cTn id="19" dur="500"/>
                                        <p:tgtEl>
                                          <p:spTgt spid="9"/>
                                        </p:tgtEl>
                                      </p:cBhvr>
                                    </p:animEffect>
                                  </p:childTnLst>
                                </p:cTn>
                              </p:par>
                            </p:childTnLst>
                          </p:cTn>
                        </p:par>
                        <p:par>
                          <p:cTn id="20" fill="hold">
                            <p:stCondLst>
                              <p:cond delay="1000"/>
                            </p:stCondLst>
                            <p:childTnLst>
                              <p:par>
                                <p:cTn id="21" presetID="2" presetClass="entr" presetSubtype="2" fill="hold" grpId="0" nodeType="afterEffect">
                                  <p:stCondLst>
                                    <p:cond delay="0"/>
                                  </p:stCondLst>
                                  <p:childTnLst>
                                    <p:set>
                                      <p:cBhvr>
                                        <p:cTn id="22" dur="1" fill="hold">
                                          <p:stCondLst>
                                            <p:cond delay="0"/>
                                          </p:stCondLst>
                                        </p:cTn>
                                        <p:tgtEl>
                                          <p:spTgt spid="10"/>
                                        </p:tgtEl>
                                        <p:attrNameLst>
                                          <p:attrName>style.visibility</p:attrName>
                                        </p:attrNameLst>
                                      </p:cBhvr>
                                      <p:to>
                                        <p:strVal val="visible"/>
                                      </p:to>
                                    </p:set>
                                    <p:anim calcmode="lin" valueType="num">
                                      <p:cBhvr additive="base">
                                        <p:cTn id="23" dur="500" fill="hold"/>
                                        <p:tgtEl>
                                          <p:spTgt spid="10"/>
                                        </p:tgtEl>
                                        <p:attrNameLst>
                                          <p:attrName>ppt_x</p:attrName>
                                        </p:attrNameLst>
                                      </p:cBhvr>
                                      <p:tavLst>
                                        <p:tav tm="0">
                                          <p:val>
                                            <p:strVal val="1+#ppt_w/2"/>
                                          </p:val>
                                        </p:tav>
                                        <p:tav tm="100000">
                                          <p:val>
                                            <p:strVal val="#ppt_x"/>
                                          </p:val>
                                        </p:tav>
                                      </p:tavLst>
                                    </p:anim>
                                    <p:anim calcmode="lin" valueType="num">
                                      <p:cBhvr additive="base">
                                        <p:cTn id="24" dur="500" fill="hold"/>
                                        <p:tgtEl>
                                          <p:spTgt spid="10"/>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 calcmode="lin" valueType="num">
                                      <p:cBhvr additive="base">
                                        <p:cTn id="27" dur="500" fill="hold"/>
                                        <p:tgtEl>
                                          <p:spTgt spid="11"/>
                                        </p:tgtEl>
                                        <p:attrNameLst>
                                          <p:attrName>ppt_x</p:attrName>
                                        </p:attrNameLst>
                                      </p:cBhvr>
                                      <p:tavLst>
                                        <p:tav tm="0">
                                          <p:val>
                                            <p:strVal val="0-#ppt_w/2"/>
                                          </p:val>
                                        </p:tav>
                                        <p:tav tm="100000">
                                          <p:val>
                                            <p:strVal val="#ppt_x"/>
                                          </p:val>
                                        </p:tav>
                                      </p:tavLst>
                                    </p:anim>
                                    <p:anim calcmode="lin" valueType="num">
                                      <p:cBhvr additive="base">
                                        <p:cTn id="28" dur="500" fill="hold"/>
                                        <p:tgtEl>
                                          <p:spTgt spid="11"/>
                                        </p:tgtEl>
                                        <p:attrNameLst>
                                          <p:attrName>ppt_y</p:attrName>
                                        </p:attrNameLst>
                                      </p:cBhvr>
                                      <p:tavLst>
                                        <p:tav tm="0">
                                          <p:val>
                                            <p:strVal val="#ppt_y"/>
                                          </p:val>
                                        </p:tav>
                                        <p:tav tm="100000">
                                          <p:val>
                                            <p:strVal val="#ppt_y"/>
                                          </p:val>
                                        </p:tav>
                                      </p:tavLst>
                                    </p:anim>
                                  </p:childTnLst>
                                </p:cTn>
                              </p:par>
                            </p:childTnLst>
                          </p:cTn>
                        </p:par>
                        <p:par>
                          <p:cTn id="29" fill="hold">
                            <p:stCondLst>
                              <p:cond delay="1500"/>
                            </p:stCondLst>
                            <p:childTnLst>
                              <p:par>
                                <p:cTn id="30" presetID="22" presetClass="entr" presetSubtype="8" fill="hold" grpId="0" nodeType="after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500"/>
                                        <p:tgtEl>
                                          <p:spTgt spid="12"/>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500"/>
                                        <p:tgtEl>
                                          <p:spTgt spid="13"/>
                                        </p:tgtEl>
                                      </p:cBhvr>
                                    </p:animEffect>
                                  </p:childTnLst>
                                </p:cTn>
                              </p:par>
                            </p:childTnLst>
                          </p:cTn>
                        </p:par>
                        <p:par>
                          <p:cTn id="36" fill="hold">
                            <p:stCondLst>
                              <p:cond delay="2000"/>
                            </p:stCondLst>
                            <p:childTnLst>
                              <p:par>
                                <p:cTn id="37" presetID="2" presetClass="entr" presetSubtype="2" fill="hold" grpId="0" nodeType="afterEffect">
                                  <p:stCondLst>
                                    <p:cond delay="0"/>
                                  </p:stCondLst>
                                  <p:childTnLst>
                                    <p:set>
                                      <p:cBhvr>
                                        <p:cTn id="38" dur="1" fill="hold">
                                          <p:stCondLst>
                                            <p:cond delay="0"/>
                                          </p:stCondLst>
                                        </p:cTn>
                                        <p:tgtEl>
                                          <p:spTgt spid="20"/>
                                        </p:tgtEl>
                                        <p:attrNameLst>
                                          <p:attrName>style.visibility</p:attrName>
                                        </p:attrNameLst>
                                      </p:cBhvr>
                                      <p:to>
                                        <p:strVal val="visible"/>
                                      </p:to>
                                    </p:set>
                                    <p:anim calcmode="lin" valueType="num">
                                      <p:cBhvr additive="base">
                                        <p:cTn id="39" dur="500" fill="hold"/>
                                        <p:tgtEl>
                                          <p:spTgt spid="20"/>
                                        </p:tgtEl>
                                        <p:attrNameLst>
                                          <p:attrName>ppt_x</p:attrName>
                                        </p:attrNameLst>
                                      </p:cBhvr>
                                      <p:tavLst>
                                        <p:tav tm="0">
                                          <p:val>
                                            <p:strVal val="1+#ppt_w/2"/>
                                          </p:val>
                                        </p:tav>
                                        <p:tav tm="100000">
                                          <p:val>
                                            <p:strVal val="#ppt_x"/>
                                          </p:val>
                                        </p:tav>
                                      </p:tavLst>
                                    </p:anim>
                                    <p:anim calcmode="lin" valueType="num">
                                      <p:cBhvr additive="base">
                                        <p:cTn id="40" dur="500" fill="hold"/>
                                        <p:tgtEl>
                                          <p:spTgt spid="20"/>
                                        </p:tgtEl>
                                        <p:attrNameLst>
                                          <p:attrName>ppt_y</p:attrName>
                                        </p:attrNameLst>
                                      </p:cBhvr>
                                      <p:tavLst>
                                        <p:tav tm="0">
                                          <p:val>
                                            <p:strVal val="#ppt_y"/>
                                          </p:val>
                                        </p:tav>
                                        <p:tav tm="100000">
                                          <p:val>
                                            <p:strVal val="#ppt_y"/>
                                          </p:val>
                                        </p:tav>
                                      </p:tavLst>
                                    </p:anim>
                                  </p:childTnLst>
                                </p:cTn>
                              </p:par>
                              <p:par>
                                <p:cTn id="41" presetID="2" presetClass="entr" presetSubtype="8"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 calcmode="lin" valueType="num">
                                      <p:cBhvr additive="base">
                                        <p:cTn id="43" dur="500" fill="hold"/>
                                        <p:tgtEl>
                                          <p:spTgt spid="21"/>
                                        </p:tgtEl>
                                        <p:attrNameLst>
                                          <p:attrName>ppt_x</p:attrName>
                                        </p:attrNameLst>
                                      </p:cBhvr>
                                      <p:tavLst>
                                        <p:tav tm="0">
                                          <p:val>
                                            <p:strVal val="0-#ppt_w/2"/>
                                          </p:val>
                                        </p:tav>
                                        <p:tav tm="100000">
                                          <p:val>
                                            <p:strVal val="#ppt_x"/>
                                          </p:val>
                                        </p:tav>
                                      </p:tavLst>
                                    </p:anim>
                                    <p:anim calcmode="lin" valueType="num">
                                      <p:cBhvr additive="base">
                                        <p:cTn id="44" dur="500" fill="hold"/>
                                        <p:tgtEl>
                                          <p:spTgt spid="21"/>
                                        </p:tgtEl>
                                        <p:attrNameLst>
                                          <p:attrName>ppt_y</p:attrName>
                                        </p:attrNameLst>
                                      </p:cBhvr>
                                      <p:tavLst>
                                        <p:tav tm="0">
                                          <p:val>
                                            <p:strVal val="#ppt_y"/>
                                          </p:val>
                                        </p:tav>
                                        <p:tav tm="100000">
                                          <p:val>
                                            <p:strVal val="#ppt_y"/>
                                          </p:val>
                                        </p:tav>
                                      </p:tavLst>
                                    </p:anim>
                                  </p:childTnLst>
                                </p:cTn>
                              </p:par>
                            </p:childTnLst>
                          </p:cTn>
                        </p:par>
                        <p:par>
                          <p:cTn id="45" fill="hold">
                            <p:stCondLst>
                              <p:cond delay="2500"/>
                            </p:stCondLst>
                            <p:childTnLst>
                              <p:par>
                                <p:cTn id="46" presetID="22" presetClass="entr" presetSubtype="8" fill="hold" grpId="0" nodeType="after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left)">
                                      <p:cBhvr>
                                        <p:cTn id="48" dur="500"/>
                                        <p:tgtEl>
                                          <p:spTgt spid="22"/>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3"/>
                                        </p:tgtEl>
                                        <p:attrNameLst>
                                          <p:attrName>style.visibility</p:attrName>
                                        </p:attrNameLst>
                                      </p:cBhvr>
                                      <p:to>
                                        <p:strVal val="visible"/>
                                      </p:to>
                                    </p:set>
                                    <p:animEffect transition="in" filter="wipe(left)">
                                      <p:cBhvr>
                                        <p:cTn id="51" dur="500"/>
                                        <p:tgtEl>
                                          <p:spTgt spid="23"/>
                                        </p:tgtEl>
                                      </p:cBhvr>
                                    </p:animEffect>
                                  </p:childTnLst>
                                </p:cTn>
                              </p:par>
                            </p:childTnLst>
                          </p:cTn>
                        </p:par>
                        <p:par>
                          <p:cTn id="52" fill="hold">
                            <p:stCondLst>
                              <p:cond delay="3000"/>
                            </p:stCondLst>
                            <p:childTnLst>
                              <p:par>
                                <p:cTn id="53" presetID="2" presetClass="entr" presetSubtype="2" fill="hold" grpId="0" nodeType="after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1+#ppt_w/2"/>
                                          </p:val>
                                        </p:tav>
                                        <p:tav tm="100000">
                                          <p:val>
                                            <p:strVal val="#ppt_x"/>
                                          </p:val>
                                        </p:tav>
                                      </p:tavLst>
                                    </p:anim>
                                    <p:anim calcmode="lin" valueType="num">
                                      <p:cBhvr additive="base">
                                        <p:cTn id="56" dur="500" fill="hold"/>
                                        <p:tgtEl>
                                          <p:spTgt spid="24"/>
                                        </p:tgtEl>
                                        <p:attrNameLst>
                                          <p:attrName>ppt_y</p:attrName>
                                        </p:attrNameLst>
                                      </p:cBhvr>
                                      <p:tavLst>
                                        <p:tav tm="0">
                                          <p:val>
                                            <p:strVal val="#ppt_y"/>
                                          </p:val>
                                        </p:tav>
                                        <p:tav tm="100000">
                                          <p:val>
                                            <p:strVal val="#ppt_y"/>
                                          </p:val>
                                        </p:tav>
                                      </p:tavLst>
                                    </p:anim>
                                  </p:childTnLst>
                                </p:cTn>
                              </p:par>
                              <p:par>
                                <p:cTn id="57" presetID="2" presetClass="entr" presetSubtype="8" fill="hold" grpId="0" nodeType="withEffect">
                                  <p:stCondLst>
                                    <p:cond delay="0"/>
                                  </p:stCondLst>
                                  <p:childTnLst>
                                    <p:set>
                                      <p:cBhvr>
                                        <p:cTn id="58" dur="1" fill="hold">
                                          <p:stCondLst>
                                            <p:cond delay="0"/>
                                          </p:stCondLst>
                                        </p:cTn>
                                        <p:tgtEl>
                                          <p:spTgt spid="25"/>
                                        </p:tgtEl>
                                        <p:attrNameLst>
                                          <p:attrName>style.visibility</p:attrName>
                                        </p:attrNameLst>
                                      </p:cBhvr>
                                      <p:to>
                                        <p:strVal val="visible"/>
                                      </p:to>
                                    </p:set>
                                    <p:anim calcmode="lin" valueType="num">
                                      <p:cBhvr additive="base">
                                        <p:cTn id="59" dur="500" fill="hold"/>
                                        <p:tgtEl>
                                          <p:spTgt spid="25"/>
                                        </p:tgtEl>
                                        <p:attrNameLst>
                                          <p:attrName>ppt_x</p:attrName>
                                        </p:attrNameLst>
                                      </p:cBhvr>
                                      <p:tavLst>
                                        <p:tav tm="0">
                                          <p:val>
                                            <p:strVal val="0-#ppt_w/2"/>
                                          </p:val>
                                        </p:tav>
                                        <p:tav tm="100000">
                                          <p:val>
                                            <p:strVal val="#ppt_x"/>
                                          </p:val>
                                        </p:tav>
                                      </p:tavLst>
                                    </p:anim>
                                    <p:anim calcmode="lin" valueType="num">
                                      <p:cBhvr additive="base">
                                        <p:cTn id="60" dur="500" fill="hold"/>
                                        <p:tgtEl>
                                          <p:spTgt spid="25"/>
                                        </p:tgtEl>
                                        <p:attrNameLst>
                                          <p:attrName>ppt_y</p:attrName>
                                        </p:attrNameLst>
                                      </p:cBhvr>
                                      <p:tavLst>
                                        <p:tav tm="0">
                                          <p:val>
                                            <p:strVal val="#ppt_y"/>
                                          </p:val>
                                        </p:tav>
                                        <p:tav tm="100000">
                                          <p:val>
                                            <p:strVal val="#ppt_y"/>
                                          </p:val>
                                        </p:tav>
                                      </p:tavLst>
                                    </p:anim>
                                  </p:childTnLst>
                                </p:cTn>
                              </p:par>
                            </p:childTnLst>
                          </p:cTn>
                        </p:par>
                        <p:par>
                          <p:cTn id="61" fill="hold">
                            <p:stCondLst>
                              <p:cond delay="3500"/>
                            </p:stCondLst>
                            <p:childTnLst>
                              <p:par>
                                <p:cTn id="62" presetID="22" presetClass="entr" presetSubtype="8" fill="hold" grpId="0" nodeType="afterEffect">
                                  <p:stCondLst>
                                    <p:cond delay="0"/>
                                  </p:stCondLst>
                                  <p:childTnLst>
                                    <p:set>
                                      <p:cBhvr>
                                        <p:cTn id="63" dur="1" fill="hold">
                                          <p:stCondLst>
                                            <p:cond delay="0"/>
                                          </p:stCondLst>
                                        </p:cTn>
                                        <p:tgtEl>
                                          <p:spTgt spid="26"/>
                                        </p:tgtEl>
                                        <p:attrNameLst>
                                          <p:attrName>style.visibility</p:attrName>
                                        </p:attrNameLst>
                                      </p:cBhvr>
                                      <p:to>
                                        <p:strVal val="visible"/>
                                      </p:to>
                                    </p:set>
                                    <p:animEffect transition="in" filter="wipe(left)">
                                      <p:cBhvr>
                                        <p:cTn id="64" dur="500"/>
                                        <p:tgtEl>
                                          <p:spTgt spid="26"/>
                                        </p:tgtEl>
                                      </p:cBhvr>
                                    </p:animEffect>
                                  </p:childTnLst>
                                </p:cTn>
                              </p:par>
                              <p:par>
                                <p:cTn id="65" presetID="22" presetClass="entr" presetSubtype="8" fill="hold" grpId="0" nodeType="withEffect">
                                  <p:stCondLst>
                                    <p:cond delay="0"/>
                                  </p:stCondLst>
                                  <p:childTnLst>
                                    <p:set>
                                      <p:cBhvr>
                                        <p:cTn id="66" dur="1" fill="hold">
                                          <p:stCondLst>
                                            <p:cond delay="0"/>
                                          </p:stCondLst>
                                        </p:cTn>
                                        <p:tgtEl>
                                          <p:spTgt spid="27"/>
                                        </p:tgtEl>
                                        <p:attrNameLst>
                                          <p:attrName>style.visibility</p:attrName>
                                        </p:attrNameLst>
                                      </p:cBhvr>
                                      <p:to>
                                        <p:strVal val="visible"/>
                                      </p:to>
                                    </p:set>
                                    <p:animEffect transition="in" filter="wipe(left)">
                                      <p:cBhvr>
                                        <p:cTn id="67" dur="500"/>
                                        <p:tgtEl>
                                          <p:spTgt spid="27"/>
                                        </p:tgtEl>
                                      </p:cBhvr>
                                    </p:animEffect>
                                  </p:childTnLst>
                                </p:cTn>
                              </p:par>
                            </p:childTnLst>
                          </p:cTn>
                        </p:par>
                        <p:par>
                          <p:cTn id="68" fill="hold">
                            <p:stCondLst>
                              <p:cond delay="4000"/>
                            </p:stCondLst>
                            <p:childTnLst>
                              <p:par>
                                <p:cTn id="69" presetID="2" presetClass="entr" presetSubtype="2" fill="hold" grpId="0" nodeType="afterEffect">
                                  <p:stCondLst>
                                    <p:cond delay="0"/>
                                  </p:stCondLst>
                                  <p:childTnLst>
                                    <p:set>
                                      <p:cBhvr>
                                        <p:cTn id="70" dur="1" fill="hold">
                                          <p:stCondLst>
                                            <p:cond delay="0"/>
                                          </p:stCondLst>
                                        </p:cTn>
                                        <p:tgtEl>
                                          <p:spTgt spid="60"/>
                                        </p:tgtEl>
                                        <p:attrNameLst>
                                          <p:attrName>style.visibility</p:attrName>
                                        </p:attrNameLst>
                                      </p:cBhvr>
                                      <p:to>
                                        <p:strVal val="visible"/>
                                      </p:to>
                                    </p:set>
                                    <p:anim calcmode="lin" valueType="num">
                                      <p:cBhvr additive="base">
                                        <p:cTn id="71" dur="500" fill="hold"/>
                                        <p:tgtEl>
                                          <p:spTgt spid="60"/>
                                        </p:tgtEl>
                                        <p:attrNameLst>
                                          <p:attrName>ppt_x</p:attrName>
                                        </p:attrNameLst>
                                      </p:cBhvr>
                                      <p:tavLst>
                                        <p:tav tm="0">
                                          <p:val>
                                            <p:strVal val="1+#ppt_w/2"/>
                                          </p:val>
                                        </p:tav>
                                        <p:tav tm="100000">
                                          <p:val>
                                            <p:strVal val="#ppt_x"/>
                                          </p:val>
                                        </p:tav>
                                      </p:tavLst>
                                    </p:anim>
                                    <p:anim calcmode="lin" valueType="num">
                                      <p:cBhvr additive="base">
                                        <p:cTn id="72" dur="500" fill="hold"/>
                                        <p:tgtEl>
                                          <p:spTgt spid="60"/>
                                        </p:tgtEl>
                                        <p:attrNameLst>
                                          <p:attrName>ppt_y</p:attrName>
                                        </p:attrNameLst>
                                      </p:cBhvr>
                                      <p:tavLst>
                                        <p:tav tm="0">
                                          <p:val>
                                            <p:strVal val="#ppt_y"/>
                                          </p:val>
                                        </p:tav>
                                        <p:tav tm="100000">
                                          <p:val>
                                            <p:strVal val="#ppt_y"/>
                                          </p:val>
                                        </p:tav>
                                      </p:tavLst>
                                    </p:anim>
                                  </p:childTnLst>
                                </p:cTn>
                              </p:par>
                              <p:par>
                                <p:cTn id="73" presetID="2" presetClass="entr" presetSubtype="8" fill="hold" grpId="0" nodeType="withEffect">
                                  <p:stCondLst>
                                    <p:cond delay="0"/>
                                  </p:stCondLst>
                                  <p:childTnLst>
                                    <p:set>
                                      <p:cBhvr>
                                        <p:cTn id="74" dur="1" fill="hold">
                                          <p:stCondLst>
                                            <p:cond delay="0"/>
                                          </p:stCondLst>
                                        </p:cTn>
                                        <p:tgtEl>
                                          <p:spTgt spid="61"/>
                                        </p:tgtEl>
                                        <p:attrNameLst>
                                          <p:attrName>style.visibility</p:attrName>
                                        </p:attrNameLst>
                                      </p:cBhvr>
                                      <p:to>
                                        <p:strVal val="visible"/>
                                      </p:to>
                                    </p:set>
                                    <p:anim calcmode="lin" valueType="num">
                                      <p:cBhvr additive="base">
                                        <p:cTn id="75" dur="500" fill="hold"/>
                                        <p:tgtEl>
                                          <p:spTgt spid="61"/>
                                        </p:tgtEl>
                                        <p:attrNameLst>
                                          <p:attrName>ppt_x</p:attrName>
                                        </p:attrNameLst>
                                      </p:cBhvr>
                                      <p:tavLst>
                                        <p:tav tm="0">
                                          <p:val>
                                            <p:strVal val="0-#ppt_w/2"/>
                                          </p:val>
                                        </p:tav>
                                        <p:tav tm="100000">
                                          <p:val>
                                            <p:strVal val="#ppt_x"/>
                                          </p:val>
                                        </p:tav>
                                      </p:tavLst>
                                    </p:anim>
                                    <p:anim calcmode="lin" valueType="num">
                                      <p:cBhvr additive="base">
                                        <p:cTn id="76" dur="500" fill="hold"/>
                                        <p:tgtEl>
                                          <p:spTgt spid="61"/>
                                        </p:tgtEl>
                                        <p:attrNameLst>
                                          <p:attrName>ppt_y</p:attrName>
                                        </p:attrNameLst>
                                      </p:cBhvr>
                                      <p:tavLst>
                                        <p:tav tm="0">
                                          <p:val>
                                            <p:strVal val="#ppt_y"/>
                                          </p:val>
                                        </p:tav>
                                        <p:tav tm="100000">
                                          <p:val>
                                            <p:strVal val="#ppt_y"/>
                                          </p:val>
                                        </p:tav>
                                      </p:tavLst>
                                    </p:anim>
                                  </p:childTnLst>
                                </p:cTn>
                              </p:par>
                            </p:childTnLst>
                          </p:cTn>
                        </p:par>
                        <p:par>
                          <p:cTn id="77" fill="hold">
                            <p:stCondLst>
                              <p:cond delay="4500"/>
                            </p:stCondLst>
                            <p:childTnLst>
                              <p:par>
                                <p:cTn id="78" presetID="22" presetClass="entr" presetSubtype="8" fill="hold" grpId="0" nodeType="afterEffect">
                                  <p:stCondLst>
                                    <p:cond delay="0"/>
                                  </p:stCondLst>
                                  <p:childTnLst>
                                    <p:set>
                                      <p:cBhvr>
                                        <p:cTn id="79" dur="1" fill="hold">
                                          <p:stCondLst>
                                            <p:cond delay="0"/>
                                          </p:stCondLst>
                                        </p:cTn>
                                        <p:tgtEl>
                                          <p:spTgt spid="62"/>
                                        </p:tgtEl>
                                        <p:attrNameLst>
                                          <p:attrName>style.visibility</p:attrName>
                                        </p:attrNameLst>
                                      </p:cBhvr>
                                      <p:to>
                                        <p:strVal val="visible"/>
                                      </p:to>
                                    </p:set>
                                    <p:animEffect transition="in" filter="wipe(left)">
                                      <p:cBhvr>
                                        <p:cTn id="80" dur="500"/>
                                        <p:tgtEl>
                                          <p:spTgt spid="62"/>
                                        </p:tgtEl>
                                      </p:cBhvr>
                                    </p:animEffect>
                                  </p:childTnLst>
                                </p:cTn>
                              </p:par>
                              <p:par>
                                <p:cTn id="81" presetID="22" presetClass="entr" presetSubtype="8" fill="hold" grpId="0" nodeType="withEffect">
                                  <p:stCondLst>
                                    <p:cond delay="0"/>
                                  </p:stCondLst>
                                  <p:childTnLst>
                                    <p:set>
                                      <p:cBhvr>
                                        <p:cTn id="82" dur="1" fill="hold">
                                          <p:stCondLst>
                                            <p:cond delay="0"/>
                                          </p:stCondLst>
                                        </p:cTn>
                                        <p:tgtEl>
                                          <p:spTgt spid="63"/>
                                        </p:tgtEl>
                                        <p:attrNameLst>
                                          <p:attrName>style.visibility</p:attrName>
                                        </p:attrNameLst>
                                      </p:cBhvr>
                                      <p:to>
                                        <p:strVal val="visible"/>
                                      </p:to>
                                    </p:set>
                                    <p:animEffect transition="in" filter="wipe(left)">
                                      <p:cBhvr>
                                        <p:cTn id="83" dur="500"/>
                                        <p:tgtEl>
                                          <p:spTgt spid="63"/>
                                        </p:tgtEl>
                                      </p:cBhvr>
                                    </p:animEffect>
                                  </p:childTnLst>
                                </p:cTn>
                              </p:par>
                            </p:childTnLst>
                          </p:cTn>
                        </p:par>
                        <p:par>
                          <p:cTn id="84" fill="hold">
                            <p:stCondLst>
                              <p:cond delay="5000"/>
                            </p:stCondLst>
                            <p:childTnLst>
                              <p:par>
                                <p:cTn id="85" presetID="2" presetClass="entr" presetSubtype="2" fill="hold" grpId="0" nodeType="afterEffect">
                                  <p:stCondLst>
                                    <p:cond delay="0"/>
                                  </p:stCondLst>
                                  <p:childTnLst>
                                    <p:set>
                                      <p:cBhvr>
                                        <p:cTn id="86" dur="1" fill="hold">
                                          <p:stCondLst>
                                            <p:cond delay="0"/>
                                          </p:stCondLst>
                                        </p:cTn>
                                        <p:tgtEl>
                                          <p:spTgt spid="28"/>
                                        </p:tgtEl>
                                        <p:attrNameLst>
                                          <p:attrName>style.visibility</p:attrName>
                                        </p:attrNameLst>
                                      </p:cBhvr>
                                      <p:to>
                                        <p:strVal val="visible"/>
                                      </p:to>
                                    </p:set>
                                    <p:anim calcmode="lin" valueType="num">
                                      <p:cBhvr additive="base">
                                        <p:cTn id="87" dur="500" fill="hold"/>
                                        <p:tgtEl>
                                          <p:spTgt spid="28"/>
                                        </p:tgtEl>
                                        <p:attrNameLst>
                                          <p:attrName>ppt_x</p:attrName>
                                        </p:attrNameLst>
                                      </p:cBhvr>
                                      <p:tavLst>
                                        <p:tav tm="0">
                                          <p:val>
                                            <p:strVal val="1+#ppt_w/2"/>
                                          </p:val>
                                        </p:tav>
                                        <p:tav tm="100000">
                                          <p:val>
                                            <p:strVal val="#ppt_x"/>
                                          </p:val>
                                        </p:tav>
                                      </p:tavLst>
                                    </p:anim>
                                    <p:anim calcmode="lin" valueType="num">
                                      <p:cBhvr additive="base">
                                        <p:cTn id="88" dur="500" fill="hold"/>
                                        <p:tgtEl>
                                          <p:spTgt spid="28"/>
                                        </p:tgtEl>
                                        <p:attrNameLst>
                                          <p:attrName>ppt_y</p:attrName>
                                        </p:attrNameLst>
                                      </p:cBhvr>
                                      <p:tavLst>
                                        <p:tav tm="0">
                                          <p:val>
                                            <p:strVal val="#ppt_y"/>
                                          </p:val>
                                        </p:tav>
                                        <p:tav tm="100000">
                                          <p:val>
                                            <p:strVal val="#ppt_y"/>
                                          </p:val>
                                        </p:tav>
                                      </p:tavLst>
                                    </p:anim>
                                  </p:childTnLst>
                                </p:cTn>
                              </p:par>
                              <p:par>
                                <p:cTn id="89" presetID="2" presetClass="entr" presetSubtype="8" fill="hold" grpId="0" nodeType="withEffect">
                                  <p:stCondLst>
                                    <p:cond delay="0"/>
                                  </p:stCondLst>
                                  <p:childTnLst>
                                    <p:set>
                                      <p:cBhvr>
                                        <p:cTn id="90" dur="1" fill="hold">
                                          <p:stCondLst>
                                            <p:cond delay="0"/>
                                          </p:stCondLst>
                                        </p:cTn>
                                        <p:tgtEl>
                                          <p:spTgt spid="29"/>
                                        </p:tgtEl>
                                        <p:attrNameLst>
                                          <p:attrName>style.visibility</p:attrName>
                                        </p:attrNameLst>
                                      </p:cBhvr>
                                      <p:to>
                                        <p:strVal val="visible"/>
                                      </p:to>
                                    </p:set>
                                    <p:anim calcmode="lin" valueType="num">
                                      <p:cBhvr additive="base">
                                        <p:cTn id="91" dur="500" fill="hold"/>
                                        <p:tgtEl>
                                          <p:spTgt spid="29"/>
                                        </p:tgtEl>
                                        <p:attrNameLst>
                                          <p:attrName>ppt_x</p:attrName>
                                        </p:attrNameLst>
                                      </p:cBhvr>
                                      <p:tavLst>
                                        <p:tav tm="0">
                                          <p:val>
                                            <p:strVal val="0-#ppt_w/2"/>
                                          </p:val>
                                        </p:tav>
                                        <p:tav tm="100000">
                                          <p:val>
                                            <p:strVal val="#ppt_x"/>
                                          </p:val>
                                        </p:tav>
                                      </p:tavLst>
                                    </p:anim>
                                    <p:anim calcmode="lin" valueType="num">
                                      <p:cBhvr additive="base">
                                        <p:cTn id="92" dur="500" fill="hold"/>
                                        <p:tgtEl>
                                          <p:spTgt spid="29"/>
                                        </p:tgtEl>
                                        <p:attrNameLst>
                                          <p:attrName>ppt_y</p:attrName>
                                        </p:attrNameLst>
                                      </p:cBhvr>
                                      <p:tavLst>
                                        <p:tav tm="0">
                                          <p:val>
                                            <p:strVal val="#ppt_y"/>
                                          </p:val>
                                        </p:tav>
                                        <p:tav tm="100000">
                                          <p:val>
                                            <p:strVal val="#ppt_y"/>
                                          </p:val>
                                        </p:tav>
                                      </p:tavLst>
                                    </p:anim>
                                  </p:childTnLst>
                                </p:cTn>
                              </p:par>
                            </p:childTnLst>
                          </p:cTn>
                        </p:par>
                        <p:par>
                          <p:cTn id="93" fill="hold">
                            <p:stCondLst>
                              <p:cond delay="5500"/>
                            </p:stCondLst>
                            <p:childTnLst>
                              <p:par>
                                <p:cTn id="94" presetID="22" presetClass="entr" presetSubtype="8" fill="hold" grpId="0" nodeType="afterEffect">
                                  <p:stCondLst>
                                    <p:cond delay="0"/>
                                  </p:stCondLst>
                                  <p:childTnLst>
                                    <p:set>
                                      <p:cBhvr>
                                        <p:cTn id="95" dur="1" fill="hold">
                                          <p:stCondLst>
                                            <p:cond delay="0"/>
                                          </p:stCondLst>
                                        </p:cTn>
                                        <p:tgtEl>
                                          <p:spTgt spid="30"/>
                                        </p:tgtEl>
                                        <p:attrNameLst>
                                          <p:attrName>style.visibility</p:attrName>
                                        </p:attrNameLst>
                                      </p:cBhvr>
                                      <p:to>
                                        <p:strVal val="visible"/>
                                      </p:to>
                                    </p:set>
                                    <p:animEffect transition="in" filter="wipe(left)">
                                      <p:cBhvr>
                                        <p:cTn id="96" dur="500"/>
                                        <p:tgtEl>
                                          <p:spTgt spid="30"/>
                                        </p:tgtEl>
                                      </p:cBhvr>
                                    </p:animEffect>
                                  </p:childTnLst>
                                </p:cTn>
                              </p:par>
                              <p:par>
                                <p:cTn id="97" presetID="22" presetClass="entr" presetSubtype="8" fill="hold" grpId="0"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wipe(left)">
                                      <p:cBhvr>
                                        <p:cTn id="99"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P spid="9" grpId="0"/>
      <p:bldP spid="10" grpId="0" animBg="1"/>
      <p:bldP spid="11" grpId="0" animBg="1"/>
      <p:bldP spid="12" grpId="0"/>
      <p:bldP spid="13" grpId="0"/>
      <p:bldP spid="20" grpId="0" animBg="1"/>
      <p:bldP spid="21" grpId="0" animBg="1"/>
      <p:bldP spid="22" grpId="0"/>
      <p:bldP spid="23" grpId="0"/>
      <p:bldP spid="24" grpId="0" animBg="1"/>
      <p:bldP spid="25" grpId="0" animBg="1"/>
      <p:bldP spid="26" grpId="0"/>
      <p:bldP spid="27" grpId="0"/>
      <p:bldP spid="60" grpId="0" animBg="1"/>
      <p:bldP spid="61" grpId="0" animBg="1"/>
      <p:bldP spid="62" grpId="0"/>
      <p:bldP spid="63" grpId="0"/>
      <p:bldP spid="28" grpId="0" animBg="1"/>
      <p:bldP spid="29" grpId="0" animBg="1"/>
      <p:bldP spid="30" grpId="0"/>
      <p:bldP spid="3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203848" y="2531256"/>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45248" y="1884925"/>
            <a:ext cx="4441513" cy="1200329"/>
          </a:xfrm>
          <a:prstGeom prst="rect">
            <a:avLst/>
          </a:prstGeom>
          <a:noFill/>
        </p:spPr>
        <p:txBody>
          <a:bodyPr wrap="square">
            <a:spAutoFit/>
          </a:bodyPr>
          <a:lstStyle/>
          <a:p>
            <a:r>
              <a:rPr lang="en-US" altLang="zh-CN" sz="3600" b="1" dirty="0">
                <a:solidFill>
                  <a:srgbClr val="FFC000"/>
                </a:solidFill>
                <a:latin typeface="微软雅黑" panose="020B0503020204020204" pitchFamily="34" charset="-122"/>
                <a:ea typeface="微软雅黑" panose="020B0503020204020204" pitchFamily="34" charset="-122"/>
              </a:rPr>
              <a:t>Hadoop</a:t>
            </a:r>
            <a:r>
              <a:rPr lang="zh-CN" altLang="en-US" sz="3600" b="1" dirty="0">
                <a:solidFill>
                  <a:srgbClr val="FFC000"/>
                </a:solidFill>
                <a:latin typeface="微软雅黑" panose="020B0503020204020204" pitchFamily="34" charset="-122"/>
                <a:ea typeface="微软雅黑" panose="020B0503020204020204" pitchFamily="34" charset="-122"/>
              </a:rPr>
              <a:t>简介</a:t>
            </a:r>
          </a:p>
          <a:p>
            <a:endPar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endParaRPr>
          </a:p>
        </p:txBody>
      </p:sp>
      <p:sp>
        <p:nvSpPr>
          <p:cNvPr id="41" name="文本框 40"/>
          <p:cNvSpPr txBox="1">
            <a:spLocks noChangeArrowheads="1"/>
          </p:cNvSpPr>
          <p:nvPr/>
        </p:nvSpPr>
        <p:spPr bwMode="auto">
          <a:xfrm>
            <a:off x="1268270" y="1449965"/>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01</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534304695"/>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1 Hadoop</a:t>
            </a:r>
            <a:endParaRPr lang="zh-CN" altLang="en-US" dirty="0"/>
          </a:p>
        </p:txBody>
      </p:sp>
      <p:sp>
        <p:nvSpPr>
          <p:cNvPr id="6" name="内容占位符 5">
            <a:extLst>
              <a:ext uri="{FF2B5EF4-FFF2-40B4-BE49-F238E27FC236}">
                <a16:creationId xmlns:a16="http://schemas.microsoft.com/office/drawing/2014/main" id="{1708205E-0972-4DFB-9315-251627F89F56}"/>
              </a:ext>
            </a:extLst>
          </p:cNvPr>
          <p:cNvSpPr>
            <a:spLocks noGrp="1"/>
          </p:cNvSpPr>
          <p:nvPr>
            <p:ph idx="1"/>
          </p:nvPr>
        </p:nvSpPr>
        <p:spPr>
          <a:xfrm>
            <a:off x="467544" y="987574"/>
            <a:ext cx="7668344" cy="3394472"/>
          </a:xfrm>
        </p:spPr>
        <p:txBody>
          <a:bodyPr>
            <a:noAutofit/>
          </a:bodyPr>
          <a:lstStyle/>
          <a:p>
            <a:pPr>
              <a:lnSpc>
                <a:spcPct val="120000"/>
              </a:lnSpc>
            </a:pPr>
            <a:r>
              <a:rPr lang="en-US" altLang="zh-CN" sz="2600" dirty="0">
                <a:latin typeface="+mn-ea"/>
              </a:rPr>
              <a:t>Apache Hadoop</a:t>
            </a:r>
            <a:r>
              <a:rPr lang="zh-CN" altLang="zh-CN" sz="2600" dirty="0">
                <a:latin typeface="+mn-ea"/>
              </a:rPr>
              <a:t>项目是</a:t>
            </a:r>
            <a:r>
              <a:rPr lang="en-US" altLang="zh-CN" sz="2600" dirty="0">
                <a:latin typeface="+mn-ea"/>
              </a:rPr>
              <a:t>Apache</a:t>
            </a:r>
            <a:r>
              <a:rPr lang="zh-CN" altLang="zh-CN" sz="2600" dirty="0">
                <a:latin typeface="+mn-ea"/>
              </a:rPr>
              <a:t>软件基金会下的一个顶级项目，致力于可靠、可扩展、分布式计算开发的开源软件</a:t>
            </a:r>
            <a:r>
              <a:rPr lang="zh-CN" altLang="en-US" sz="2600" dirty="0">
                <a:latin typeface="+mn-ea"/>
              </a:rPr>
              <a:t>。</a:t>
            </a:r>
            <a:endParaRPr lang="en-US" altLang="zh-CN" sz="2600" dirty="0">
              <a:latin typeface="+mn-ea"/>
            </a:endParaRPr>
          </a:p>
          <a:p>
            <a:pPr>
              <a:lnSpc>
                <a:spcPct val="120000"/>
              </a:lnSpc>
            </a:pPr>
            <a:r>
              <a:rPr lang="en-US" altLang="zh-CN" sz="2600" dirty="0">
                <a:latin typeface="+mn-ea"/>
              </a:rPr>
              <a:t>Apache Hadoop</a:t>
            </a:r>
            <a:r>
              <a:rPr lang="zh-CN" altLang="zh-CN" sz="2600" dirty="0">
                <a:latin typeface="+mn-ea"/>
              </a:rPr>
              <a:t>系统是一个允许使用简单的编程模型实现跨计算机集群的大型数据集的分布式处理框架，它可以从单个服务器扩展到数千台机器，且每台机器都提供本地计算和存储。</a:t>
            </a:r>
            <a:endParaRPr lang="zh-CN" altLang="en-US" sz="2600" dirty="0"/>
          </a:p>
        </p:txBody>
      </p:sp>
    </p:spTree>
    <p:extLst>
      <p:ext uri="{BB962C8B-B14F-4D97-AF65-F5344CB8AC3E}">
        <p14:creationId xmlns:p14="http://schemas.microsoft.com/office/powerpoint/2010/main" val="13394601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8066FDD-3C34-4788-BBEB-6E63CD036E72}"/>
              </a:ext>
            </a:extLst>
          </p:cNvPr>
          <p:cNvSpPr>
            <a:spLocks noGrp="1"/>
          </p:cNvSpPr>
          <p:nvPr>
            <p:ph type="title"/>
          </p:nvPr>
        </p:nvSpPr>
        <p:spPr/>
        <p:txBody>
          <a:bodyPr>
            <a:normAutofit fontScale="90000"/>
          </a:bodyPr>
          <a:lstStyle/>
          <a:p>
            <a:r>
              <a:rPr lang="en-US" altLang="zh-CN" dirty="0"/>
              <a:t>1 Hadoop—</a:t>
            </a:r>
            <a:r>
              <a:rPr lang="zh-CN" altLang="en-US" dirty="0"/>
              <a:t>发展历史</a:t>
            </a:r>
          </a:p>
        </p:txBody>
      </p:sp>
      <p:pic>
        <p:nvPicPr>
          <p:cNvPr id="4" name="内容占位符 3">
            <a:extLst>
              <a:ext uri="{FF2B5EF4-FFF2-40B4-BE49-F238E27FC236}">
                <a16:creationId xmlns:a16="http://schemas.microsoft.com/office/drawing/2014/main" id="{692DFFA6-6E57-4421-84A7-20033FB02B5A}"/>
              </a:ext>
            </a:extLst>
          </p:cNvPr>
          <p:cNvPicPr>
            <a:picLocks noGrp="1" noChangeAspect="1"/>
          </p:cNvPicPr>
          <p:nvPr>
            <p:ph idx="1"/>
          </p:nvPr>
        </p:nvPicPr>
        <p:blipFill>
          <a:blip r:embed="rId2"/>
          <a:stretch>
            <a:fillRect/>
          </a:stretch>
        </p:blipFill>
        <p:spPr>
          <a:xfrm>
            <a:off x="0" y="1347614"/>
            <a:ext cx="8333129" cy="2088232"/>
          </a:xfrm>
          <a:prstGeom prst="rect">
            <a:avLst/>
          </a:prstGeom>
        </p:spPr>
      </p:pic>
    </p:spTree>
    <p:extLst>
      <p:ext uri="{BB962C8B-B14F-4D97-AF65-F5344CB8AC3E}">
        <p14:creationId xmlns:p14="http://schemas.microsoft.com/office/powerpoint/2010/main" val="14749827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2D9B6D-6311-443C-9276-F03B676E5950}"/>
              </a:ext>
            </a:extLst>
          </p:cNvPr>
          <p:cNvSpPr>
            <a:spLocks noGrp="1"/>
          </p:cNvSpPr>
          <p:nvPr>
            <p:ph type="title"/>
          </p:nvPr>
        </p:nvSpPr>
        <p:spPr/>
        <p:txBody>
          <a:bodyPr>
            <a:normAutofit fontScale="90000"/>
          </a:bodyPr>
          <a:lstStyle/>
          <a:p>
            <a:r>
              <a:rPr lang="en-US" altLang="zh-CN" dirty="0"/>
              <a:t>1 Hadoop—</a:t>
            </a:r>
            <a:r>
              <a:rPr lang="zh-CN" altLang="en-US" dirty="0"/>
              <a:t>优势</a:t>
            </a:r>
          </a:p>
        </p:txBody>
      </p:sp>
      <p:sp>
        <p:nvSpPr>
          <p:cNvPr id="3" name="内容占位符 2">
            <a:extLst>
              <a:ext uri="{FF2B5EF4-FFF2-40B4-BE49-F238E27FC236}">
                <a16:creationId xmlns:a16="http://schemas.microsoft.com/office/drawing/2014/main" id="{6650A833-773A-4857-9BB9-4F68C530D457}"/>
              </a:ext>
            </a:extLst>
          </p:cNvPr>
          <p:cNvSpPr>
            <a:spLocks noGrp="1"/>
          </p:cNvSpPr>
          <p:nvPr>
            <p:ph idx="1"/>
          </p:nvPr>
        </p:nvSpPr>
        <p:spPr>
          <a:xfrm>
            <a:off x="179512" y="1059582"/>
            <a:ext cx="8424936" cy="3816424"/>
          </a:xfrm>
        </p:spPr>
        <p:txBody>
          <a:bodyPr>
            <a:normAutofit/>
          </a:bodyPr>
          <a:lstStyle/>
          <a:p>
            <a:pPr lvl="0" hangingPunct="0"/>
            <a:r>
              <a:rPr lang="zh-CN" altLang="zh-CN" sz="2000" b="1"/>
              <a:t>快速</a:t>
            </a:r>
            <a:r>
              <a:rPr lang="zh-CN" altLang="zh-CN" sz="2000"/>
              <a:t>：数据分布</a:t>
            </a:r>
            <a:r>
              <a:rPr lang="zh-CN" altLang="zh-CN" sz="2000" dirty="0"/>
              <a:t>在集群中的各个节点，由各节点分别进行处理，这有助于利用集群上各节点的计算能力更快地进行数据检索和</a:t>
            </a:r>
            <a:r>
              <a:rPr lang="zh-CN" altLang="zh-CN" sz="2000"/>
              <a:t>处理。</a:t>
            </a:r>
            <a:endParaRPr lang="en-US" altLang="zh-CN" sz="2000"/>
          </a:p>
          <a:p>
            <a:pPr lvl="0" hangingPunct="0"/>
            <a:r>
              <a:rPr lang="zh-CN" altLang="zh-CN" sz="2000" b="1"/>
              <a:t>可</a:t>
            </a:r>
            <a:r>
              <a:rPr lang="zh-CN" altLang="zh-CN" sz="2000" b="1" dirty="0"/>
              <a:t>伸缩性</a:t>
            </a:r>
            <a:r>
              <a:rPr lang="zh-CN" altLang="zh-CN" sz="2000" dirty="0"/>
              <a:t>：</a:t>
            </a:r>
            <a:r>
              <a:rPr lang="en-US" altLang="zh-CN" sz="2000" dirty="0"/>
              <a:t>Hadoop</a:t>
            </a:r>
            <a:r>
              <a:rPr lang="zh-CN" altLang="zh-CN" sz="2000" dirty="0"/>
              <a:t>的扩展非常方便，只要在集群中添加节点，就可以扩展</a:t>
            </a:r>
            <a:r>
              <a:rPr lang="en-US" altLang="zh-CN" sz="2000" dirty="0"/>
              <a:t>Hadoop</a:t>
            </a:r>
            <a:r>
              <a:rPr lang="zh-CN" altLang="zh-CN" sz="2000" dirty="0"/>
              <a:t>集群。</a:t>
            </a:r>
          </a:p>
          <a:p>
            <a:pPr lvl="0" hangingPunct="0"/>
            <a:r>
              <a:rPr lang="zh-CN" altLang="zh-CN" sz="2000" b="1" dirty="0"/>
              <a:t>经济高效</a:t>
            </a:r>
            <a:r>
              <a:rPr lang="zh-CN" altLang="zh-CN" sz="2000" dirty="0"/>
              <a:t>：</a:t>
            </a:r>
            <a:r>
              <a:rPr lang="en-US" altLang="zh-CN" sz="2000" dirty="0"/>
              <a:t>Hadoop</a:t>
            </a:r>
            <a:r>
              <a:rPr lang="zh-CN" altLang="zh-CN" sz="2000" dirty="0"/>
              <a:t>是开源的，使用普通硬件来存储数据，因此与传统的关系数据库管理系统相比，它具有成本效益优势。</a:t>
            </a:r>
          </a:p>
          <a:p>
            <a:pPr lvl="0" hangingPunct="0"/>
            <a:r>
              <a:rPr lang="zh-CN" altLang="zh-CN" sz="2000" b="1" dirty="0"/>
              <a:t>故障恢复能力</a:t>
            </a:r>
            <a:r>
              <a:rPr lang="zh-CN" altLang="zh-CN" sz="2000" dirty="0"/>
              <a:t>：</a:t>
            </a:r>
            <a:r>
              <a:rPr lang="en-US" altLang="zh-CN" sz="2000" dirty="0"/>
              <a:t>HDFS</a:t>
            </a:r>
            <a:r>
              <a:rPr lang="zh-CN" altLang="zh-CN" sz="2000" dirty="0"/>
              <a:t>具有在网络上复制数据的特性，如果一个节点出现故障或发生网络故障，</a:t>
            </a:r>
            <a:r>
              <a:rPr lang="en-US" altLang="zh-CN" sz="2000" dirty="0"/>
              <a:t>Hadoop</a:t>
            </a:r>
            <a:r>
              <a:rPr lang="zh-CN" altLang="zh-CN" sz="2000" dirty="0"/>
              <a:t>可以从其他</a:t>
            </a:r>
            <a:r>
              <a:rPr lang="en-US" altLang="zh-CN" sz="2000" dirty="0" err="1"/>
              <a:t>DataNode</a:t>
            </a:r>
            <a:r>
              <a:rPr lang="zh-CN" altLang="zh-CN" sz="2000" dirty="0"/>
              <a:t>中获取另一个数据副本并使用它。通常情况下，数据被重复复制、存储三</a:t>
            </a:r>
            <a:r>
              <a:rPr lang="zh-CN" altLang="zh-CN" sz="2000"/>
              <a:t>次，副本</a:t>
            </a:r>
            <a:r>
              <a:rPr lang="zh-CN" altLang="zh-CN" sz="2000" dirty="0"/>
              <a:t>数量是可配置的。</a:t>
            </a:r>
          </a:p>
          <a:p>
            <a:pPr marL="0" indent="0">
              <a:buNone/>
            </a:pPr>
            <a:endParaRPr lang="zh-CN" altLang="en-US" sz="2000" dirty="0"/>
          </a:p>
        </p:txBody>
      </p:sp>
    </p:spTree>
    <p:extLst>
      <p:ext uri="{BB962C8B-B14F-4D97-AF65-F5344CB8AC3E}">
        <p14:creationId xmlns:p14="http://schemas.microsoft.com/office/powerpoint/2010/main" val="23680213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C64953-A537-4C0E-BEA8-A11C30E50985}"/>
              </a:ext>
            </a:extLst>
          </p:cNvPr>
          <p:cNvSpPr>
            <a:spLocks noGrp="1"/>
          </p:cNvSpPr>
          <p:nvPr>
            <p:ph type="title"/>
          </p:nvPr>
        </p:nvSpPr>
        <p:spPr/>
        <p:txBody>
          <a:bodyPr>
            <a:normAutofit fontScale="90000"/>
          </a:bodyPr>
          <a:lstStyle/>
          <a:p>
            <a:r>
              <a:rPr lang="en-US" altLang="zh-CN" dirty="0"/>
              <a:t>1 Hadoop—</a:t>
            </a:r>
            <a:r>
              <a:rPr lang="zh-CN" altLang="en-US" dirty="0"/>
              <a:t>生态</a:t>
            </a:r>
          </a:p>
        </p:txBody>
      </p:sp>
      <p:sp>
        <p:nvSpPr>
          <p:cNvPr id="3" name="内容占位符 2">
            <a:extLst>
              <a:ext uri="{FF2B5EF4-FFF2-40B4-BE49-F238E27FC236}">
                <a16:creationId xmlns:a16="http://schemas.microsoft.com/office/drawing/2014/main" id="{18203C07-396C-40BE-9352-097F2C995E27}"/>
              </a:ext>
            </a:extLst>
          </p:cNvPr>
          <p:cNvSpPr>
            <a:spLocks noGrp="1"/>
          </p:cNvSpPr>
          <p:nvPr>
            <p:ph idx="1"/>
          </p:nvPr>
        </p:nvSpPr>
        <p:spPr>
          <a:xfrm>
            <a:off x="395536" y="1192933"/>
            <a:ext cx="8280920" cy="3323033"/>
          </a:xfrm>
        </p:spPr>
        <p:txBody>
          <a:bodyPr>
            <a:normAutofit/>
          </a:bodyPr>
          <a:lstStyle/>
          <a:p>
            <a:pPr marL="0" indent="0">
              <a:lnSpc>
                <a:spcPct val="150000"/>
              </a:lnSpc>
              <a:buNone/>
            </a:pPr>
            <a:r>
              <a:rPr lang="en-US" altLang="zh-CN" sz="2400"/>
              <a:t>         Hadoop</a:t>
            </a:r>
            <a:r>
              <a:rPr lang="zh-CN" altLang="zh-CN" sz="2400" dirty="0"/>
              <a:t>生态系统是一个提供各种服务来解决大数据问题的平台或套件，它包括</a:t>
            </a:r>
            <a:r>
              <a:rPr lang="en-US" altLang="zh-CN" sz="2400" dirty="0"/>
              <a:t>Apache</a:t>
            </a:r>
            <a:r>
              <a:rPr lang="zh-CN" altLang="zh-CN" sz="2400" dirty="0"/>
              <a:t>项目和各种商业工具和解决方案。除了</a:t>
            </a:r>
            <a:r>
              <a:rPr lang="en-US" altLang="zh-CN" sz="2400" dirty="0"/>
              <a:t>Hadoop</a:t>
            </a:r>
            <a:r>
              <a:rPr lang="zh-CN" altLang="zh-CN" sz="2400" dirty="0"/>
              <a:t>的四个核心组件（</a:t>
            </a:r>
            <a:r>
              <a:rPr lang="en-US" altLang="zh-CN" sz="2400" dirty="0"/>
              <a:t>HDFS</a:t>
            </a:r>
            <a:r>
              <a:rPr lang="zh-CN" altLang="zh-CN" sz="2400" dirty="0"/>
              <a:t>、</a:t>
            </a:r>
            <a:r>
              <a:rPr lang="en-US" altLang="zh-CN" sz="2400" dirty="0"/>
              <a:t>MapReduce</a:t>
            </a:r>
            <a:r>
              <a:rPr lang="zh-CN" altLang="zh-CN" sz="2400" dirty="0"/>
              <a:t>、</a:t>
            </a:r>
            <a:r>
              <a:rPr lang="en-US" altLang="zh-CN" sz="2400" dirty="0"/>
              <a:t>YARN</a:t>
            </a:r>
            <a:r>
              <a:rPr lang="zh-CN" altLang="zh-CN" sz="2400" dirty="0"/>
              <a:t>和</a:t>
            </a:r>
            <a:r>
              <a:rPr lang="en-US" altLang="zh-CN" sz="2400" dirty="0"/>
              <a:t>Hadoop Common</a:t>
            </a:r>
            <a:r>
              <a:rPr lang="zh-CN" altLang="zh-CN" sz="2400" dirty="0"/>
              <a:t>）外，大多数工具和解决方案都用于补充或支持这些主要组件。</a:t>
            </a:r>
            <a:endParaRPr lang="zh-CN" altLang="en-US" sz="2400" dirty="0"/>
          </a:p>
        </p:txBody>
      </p:sp>
    </p:spTree>
    <p:extLst>
      <p:ext uri="{BB962C8B-B14F-4D97-AF65-F5344CB8AC3E}">
        <p14:creationId xmlns:p14="http://schemas.microsoft.com/office/powerpoint/2010/main" val="13688991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60DAC0-3DD3-45EE-B947-0249FB4C92C8}"/>
              </a:ext>
            </a:extLst>
          </p:cNvPr>
          <p:cNvSpPr>
            <a:spLocks noGrp="1"/>
          </p:cNvSpPr>
          <p:nvPr>
            <p:ph type="title"/>
          </p:nvPr>
        </p:nvSpPr>
        <p:spPr/>
        <p:txBody>
          <a:bodyPr>
            <a:normAutofit fontScale="90000"/>
          </a:bodyPr>
          <a:lstStyle/>
          <a:p>
            <a:r>
              <a:rPr lang="en-US" altLang="zh-CN" dirty="0"/>
              <a:t>1 Hadoop—</a:t>
            </a:r>
            <a:r>
              <a:rPr lang="zh-CN" altLang="en-US" dirty="0"/>
              <a:t>生态系统</a:t>
            </a:r>
          </a:p>
        </p:txBody>
      </p:sp>
      <p:pic>
        <p:nvPicPr>
          <p:cNvPr id="4" name="内容占位符 3">
            <a:extLst>
              <a:ext uri="{FF2B5EF4-FFF2-40B4-BE49-F238E27FC236}">
                <a16:creationId xmlns:a16="http://schemas.microsoft.com/office/drawing/2014/main" id="{B49D3BC1-2E3D-4464-81FC-E72463D70CA4}"/>
              </a:ext>
            </a:extLst>
          </p:cNvPr>
          <p:cNvPicPr>
            <a:picLocks noGrp="1" noChangeAspect="1"/>
          </p:cNvPicPr>
          <p:nvPr>
            <p:ph idx="1"/>
          </p:nvPr>
        </p:nvPicPr>
        <p:blipFill>
          <a:blip r:embed="rId2"/>
          <a:stretch>
            <a:fillRect/>
          </a:stretch>
        </p:blipFill>
        <p:spPr>
          <a:xfrm>
            <a:off x="611560" y="1009420"/>
            <a:ext cx="7344816" cy="3124659"/>
          </a:xfrm>
          <a:prstGeom prst="rect">
            <a:avLst/>
          </a:prstGeom>
        </p:spPr>
      </p:pic>
    </p:spTree>
    <p:extLst>
      <p:ext uri="{BB962C8B-B14F-4D97-AF65-F5344CB8AC3E}">
        <p14:creationId xmlns:p14="http://schemas.microsoft.com/office/powerpoint/2010/main" val="1798122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C81DDF1-B6B8-481F-9C16-9037494EB501}"/>
              </a:ext>
            </a:extLst>
          </p:cNvPr>
          <p:cNvSpPr>
            <a:spLocks noGrp="1"/>
          </p:cNvSpPr>
          <p:nvPr>
            <p:ph type="title"/>
          </p:nvPr>
        </p:nvSpPr>
        <p:spPr/>
        <p:txBody>
          <a:bodyPr>
            <a:normAutofit fontScale="90000"/>
          </a:bodyPr>
          <a:lstStyle/>
          <a:p>
            <a:r>
              <a:rPr lang="en-US" altLang="zh-CN" dirty="0"/>
              <a:t>1 Hadoop—</a:t>
            </a:r>
            <a:r>
              <a:rPr lang="zh-CN" altLang="en-US" dirty="0"/>
              <a:t>生态系统组件</a:t>
            </a:r>
          </a:p>
        </p:txBody>
      </p:sp>
      <p:sp>
        <p:nvSpPr>
          <p:cNvPr id="3" name="内容占位符 2">
            <a:extLst>
              <a:ext uri="{FF2B5EF4-FFF2-40B4-BE49-F238E27FC236}">
                <a16:creationId xmlns:a16="http://schemas.microsoft.com/office/drawing/2014/main" id="{DC9773AE-DCEC-41F6-83D8-781785EB52B4}"/>
              </a:ext>
            </a:extLst>
          </p:cNvPr>
          <p:cNvSpPr>
            <a:spLocks noGrp="1"/>
          </p:cNvSpPr>
          <p:nvPr>
            <p:ph idx="1"/>
          </p:nvPr>
        </p:nvSpPr>
        <p:spPr>
          <a:xfrm>
            <a:off x="395536" y="1059582"/>
            <a:ext cx="8280920" cy="3888432"/>
          </a:xfrm>
        </p:spPr>
        <p:txBody>
          <a:bodyPr>
            <a:normAutofit fontScale="55000" lnSpcReduction="20000"/>
          </a:bodyPr>
          <a:lstStyle/>
          <a:p>
            <a:pPr lvl="0" hangingPunct="0">
              <a:lnSpc>
                <a:spcPct val="130000"/>
              </a:lnSpc>
            </a:pPr>
            <a:r>
              <a:rPr lang="en-US" altLang="zh-CN" dirty="0"/>
              <a:t>HDFS</a:t>
            </a:r>
            <a:r>
              <a:rPr lang="zh-CN" altLang="zh-CN" dirty="0"/>
              <a:t>：</a:t>
            </a:r>
            <a:r>
              <a:rPr lang="en-US" altLang="zh-CN" dirty="0"/>
              <a:t>Hadoop</a:t>
            </a:r>
            <a:r>
              <a:rPr lang="zh-CN" altLang="zh-CN" dirty="0"/>
              <a:t>分布式文件系统</a:t>
            </a:r>
            <a:r>
              <a:rPr lang="zh-CN" altLang="zh-CN"/>
              <a:t>，</a:t>
            </a:r>
            <a:r>
              <a:rPr lang="en-US" altLang="zh-CN"/>
              <a:t>Hadoop</a:t>
            </a:r>
            <a:r>
              <a:rPr lang="zh-CN" altLang="zh-CN"/>
              <a:t>核心</a:t>
            </a:r>
            <a:r>
              <a:rPr lang="zh-CN" altLang="zh-CN" dirty="0"/>
              <a:t>组件之一；</a:t>
            </a:r>
          </a:p>
          <a:p>
            <a:pPr hangingPunct="0">
              <a:lnSpc>
                <a:spcPct val="130000"/>
              </a:lnSpc>
            </a:pPr>
            <a:r>
              <a:rPr lang="en-US" altLang="zh-CN"/>
              <a:t>Yarn</a:t>
            </a:r>
            <a:r>
              <a:rPr lang="zh-CN" altLang="zh-CN"/>
              <a:t>：</a:t>
            </a:r>
            <a:r>
              <a:rPr lang="zh-CN" altLang="en-US"/>
              <a:t>分布式</a:t>
            </a:r>
            <a:r>
              <a:rPr lang="zh-CN" altLang="zh-CN" b="1">
                <a:solidFill>
                  <a:srgbClr val="FF0000"/>
                </a:solidFill>
              </a:rPr>
              <a:t>资源管理与调度器</a:t>
            </a:r>
            <a:r>
              <a:rPr lang="zh-CN" altLang="zh-CN"/>
              <a:t>，</a:t>
            </a:r>
            <a:r>
              <a:rPr lang="en-US" altLang="zh-CN"/>
              <a:t>Hadoop</a:t>
            </a:r>
            <a:r>
              <a:rPr lang="zh-CN" altLang="zh-CN"/>
              <a:t>核心组件之一；</a:t>
            </a:r>
            <a:endParaRPr lang="en-US" altLang="zh-CN"/>
          </a:p>
          <a:p>
            <a:pPr hangingPunct="0">
              <a:lnSpc>
                <a:spcPct val="130000"/>
              </a:lnSpc>
            </a:pPr>
            <a:r>
              <a:rPr lang="en-US" altLang="zh-CN"/>
              <a:t>MapReduce</a:t>
            </a:r>
            <a:r>
              <a:rPr lang="zh-CN" altLang="zh-CN" dirty="0"/>
              <a:t>：基于编程的数据处理</a:t>
            </a:r>
            <a:r>
              <a:rPr lang="zh-CN" altLang="zh-CN"/>
              <a:t>，</a:t>
            </a:r>
            <a:r>
              <a:rPr lang="en-US" altLang="zh-CN"/>
              <a:t>Hadoop</a:t>
            </a:r>
            <a:r>
              <a:rPr lang="zh-CN" altLang="zh-CN"/>
              <a:t>核心</a:t>
            </a:r>
            <a:r>
              <a:rPr lang="zh-CN" altLang="zh-CN" dirty="0"/>
              <a:t>组件之一；</a:t>
            </a:r>
          </a:p>
          <a:p>
            <a:pPr hangingPunct="0">
              <a:lnSpc>
                <a:spcPct val="130000"/>
              </a:lnSpc>
            </a:pPr>
            <a:r>
              <a:rPr lang="en-US" altLang="zh-CN"/>
              <a:t>Zookeeper</a:t>
            </a:r>
            <a:r>
              <a:rPr lang="zh-CN" altLang="zh-CN"/>
              <a:t>：</a:t>
            </a:r>
            <a:r>
              <a:rPr lang="zh-CN" altLang="en-US"/>
              <a:t>分布式</a:t>
            </a:r>
            <a:r>
              <a:rPr lang="zh-CN" altLang="en-US" b="1">
                <a:solidFill>
                  <a:srgbClr val="FF0000"/>
                </a:solidFill>
              </a:rPr>
              <a:t>一致性服务组件</a:t>
            </a:r>
            <a:r>
              <a:rPr lang="zh-CN" altLang="en-US"/>
              <a:t>，提供分布式协调一致性服务</a:t>
            </a:r>
            <a:r>
              <a:rPr lang="zh-CN" altLang="zh-CN"/>
              <a:t>；</a:t>
            </a:r>
            <a:endParaRPr lang="zh-CN" altLang="en-US" dirty="0"/>
          </a:p>
          <a:p>
            <a:pPr hangingPunct="0">
              <a:lnSpc>
                <a:spcPct val="130000"/>
              </a:lnSpc>
            </a:pPr>
            <a:r>
              <a:rPr lang="en-US" altLang="zh-CN"/>
              <a:t>HBase </a:t>
            </a:r>
            <a:r>
              <a:rPr lang="zh-CN" altLang="zh-CN"/>
              <a:t>：</a:t>
            </a:r>
            <a:r>
              <a:rPr lang="zh-CN" altLang="zh-CN" dirty="0"/>
              <a:t>一种非关系型（</a:t>
            </a:r>
            <a:r>
              <a:rPr lang="en-US" altLang="zh-CN" dirty="0"/>
              <a:t>NoSQL</a:t>
            </a:r>
            <a:r>
              <a:rPr lang="zh-CN" altLang="zh-CN" dirty="0"/>
              <a:t>）数据库；</a:t>
            </a:r>
          </a:p>
          <a:p>
            <a:pPr hangingPunct="0">
              <a:lnSpc>
                <a:spcPct val="130000"/>
              </a:lnSpc>
            </a:pPr>
            <a:r>
              <a:rPr lang="en-US" altLang="zh-CN" dirty="0"/>
              <a:t>HIVE</a:t>
            </a:r>
            <a:r>
              <a:rPr lang="zh-CN" altLang="zh-CN" dirty="0"/>
              <a:t>：一种基于</a:t>
            </a:r>
            <a:r>
              <a:rPr lang="en-US" altLang="zh-CN" dirty="0"/>
              <a:t>Hadoop</a:t>
            </a:r>
            <a:r>
              <a:rPr lang="zh-CN" altLang="zh-CN" dirty="0"/>
              <a:t>的数据仓库系统； </a:t>
            </a:r>
          </a:p>
          <a:p>
            <a:pPr lvl="0" hangingPunct="0">
              <a:lnSpc>
                <a:spcPct val="130000"/>
              </a:lnSpc>
            </a:pPr>
            <a:r>
              <a:rPr lang="en-US" altLang="zh-CN" dirty="0"/>
              <a:t>Spark</a:t>
            </a:r>
            <a:r>
              <a:rPr lang="zh-CN" altLang="zh-CN" dirty="0"/>
              <a:t>：</a:t>
            </a:r>
            <a:r>
              <a:rPr lang="zh-CN" altLang="zh-CN"/>
              <a:t>一种</a:t>
            </a:r>
            <a:r>
              <a:rPr lang="zh-CN" altLang="en-US"/>
              <a:t>流式</a:t>
            </a:r>
            <a:r>
              <a:rPr lang="zh-CN" altLang="zh-CN"/>
              <a:t>数据处理</a:t>
            </a:r>
            <a:r>
              <a:rPr lang="zh-CN" altLang="zh-CN" dirty="0"/>
              <a:t>计算框架；</a:t>
            </a:r>
          </a:p>
          <a:p>
            <a:pPr lvl="0" hangingPunct="0">
              <a:lnSpc>
                <a:spcPct val="130000"/>
              </a:lnSpc>
            </a:pPr>
            <a:r>
              <a:rPr lang="en-US" altLang="zh-CN" dirty="0"/>
              <a:t>PIG</a:t>
            </a:r>
            <a:r>
              <a:rPr lang="zh-CN" altLang="zh-CN" dirty="0"/>
              <a:t>：一种基于查询的数据处理服务；</a:t>
            </a:r>
          </a:p>
          <a:p>
            <a:pPr lvl="0" hangingPunct="0">
              <a:lnSpc>
                <a:spcPct val="130000"/>
              </a:lnSpc>
            </a:pPr>
            <a:r>
              <a:rPr lang="en-US" altLang="zh-CN" dirty="0"/>
              <a:t>Mahout</a:t>
            </a:r>
            <a:r>
              <a:rPr lang="zh-CN" altLang="zh-CN" dirty="0"/>
              <a:t>，</a:t>
            </a:r>
            <a:r>
              <a:rPr lang="en-US" altLang="zh-CN" dirty="0"/>
              <a:t>Spark </a:t>
            </a:r>
            <a:r>
              <a:rPr lang="en-US" altLang="zh-CN" dirty="0" err="1"/>
              <a:t>MLLib</a:t>
            </a:r>
            <a:r>
              <a:rPr lang="zh-CN" altLang="zh-CN" dirty="0"/>
              <a:t>：机器学习算法库；</a:t>
            </a:r>
          </a:p>
          <a:p>
            <a:pPr lvl="0" hangingPunct="0">
              <a:lnSpc>
                <a:spcPct val="130000"/>
              </a:lnSpc>
            </a:pPr>
            <a:r>
              <a:rPr lang="en-US" altLang="zh-CN" dirty="0"/>
              <a:t>Solar</a:t>
            </a:r>
            <a:r>
              <a:rPr lang="zh-CN" altLang="zh-CN" dirty="0"/>
              <a:t>，</a:t>
            </a:r>
            <a:r>
              <a:rPr lang="en-US" altLang="zh-CN" dirty="0"/>
              <a:t>Lucene</a:t>
            </a:r>
            <a:r>
              <a:rPr lang="zh-CN" altLang="zh-CN" dirty="0"/>
              <a:t>：基于</a:t>
            </a:r>
            <a:r>
              <a:rPr lang="en-US" altLang="zh-CN" dirty="0"/>
              <a:t>Hadoop</a:t>
            </a:r>
            <a:r>
              <a:rPr lang="zh-CN" altLang="zh-CN" dirty="0"/>
              <a:t>框架的搜索和索引；</a:t>
            </a:r>
          </a:p>
        </p:txBody>
      </p:sp>
    </p:spTree>
    <p:extLst>
      <p:ext uri="{BB962C8B-B14F-4D97-AF65-F5344CB8AC3E}">
        <p14:creationId xmlns:p14="http://schemas.microsoft.com/office/powerpoint/2010/main" val="2494815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A65556-20F4-4796-81CB-14F64581078A}"/>
              </a:ext>
            </a:extLst>
          </p:cNvPr>
          <p:cNvSpPr>
            <a:spLocks noGrp="1"/>
          </p:cNvSpPr>
          <p:nvPr>
            <p:ph type="title"/>
          </p:nvPr>
        </p:nvSpPr>
        <p:spPr/>
        <p:txBody>
          <a:bodyPr>
            <a:normAutofit fontScale="90000"/>
          </a:bodyPr>
          <a:lstStyle/>
          <a:p>
            <a:r>
              <a:rPr lang="en-US" altLang="zh-CN" dirty="0"/>
              <a:t>1 Hadoop—</a:t>
            </a:r>
            <a:r>
              <a:rPr lang="zh-CN" altLang="en-US" dirty="0"/>
              <a:t>核心组件</a:t>
            </a:r>
          </a:p>
        </p:txBody>
      </p:sp>
      <p:pic>
        <p:nvPicPr>
          <p:cNvPr id="4" name="内容占位符 3">
            <a:extLst>
              <a:ext uri="{FF2B5EF4-FFF2-40B4-BE49-F238E27FC236}">
                <a16:creationId xmlns:a16="http://schemas.microsoft.com/office/drawing/2014/main" id="{DBFDF07C-0296-4158-ACA5-BA0007D4846E}"/>
              </a:ext>
            </a:extLst>
          </p:cNvPr>
          <p:cNvPicPr>
            <a:picLocks noGrp="1" noChangeAspect="1"/>
          </p:cNvPicPr>
          <p:nvPr>
            <p:ph idx="1"/>
          </p:nvPr>
        </p:nvPicPr>
        <p:blipFill>
          <a:blip r:embed="rId2"/>
          <a:stretch>
            <a:fillRect/>
          </a:stretch>
        </p:blipFill>
        <p:spPr>
          <a:xfrm>
            <a:off x="-108520" y="1023578"/>
            <a:ext cx="8657923" cy="3096344"/>
          </a:xfrm>
          <a:prstGeom prst="rect">
            <a:avLst/>
          </a:prstGeom>
        </p:spPr>
      </p:pic>
    </p:spTree>
    <p:extLst>
      <p:ext uri="{BB962C8B-B14F-4D97-AF65-F5344CB8AC3E}">
        <p14:creationId xmlns:p14="http://schemas.microsoft.com/office/powerpoint/2010/main" val="41555048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BF1FE5-3D95-4C3A-A370-42DB85FC4060}"/>
              </a:ext>
            </a:extLst>
          </p:cNvPr>
          <p:cNvSpPr>
            <a:spLocks noGrp="1"/>
          </p:cNvSpPr>
          <p:nvPr>
            <p:ph type="title"/>
          </p:nvPr>
        </p:nvSpPr>
        <p:spPr/>
        <p:txBody>
          <a:bodyPr>
            <a:normAutofit fontScale="90000"/>
          </a:bodyPr>
          <a:lstStyle/>
          <a:p>
            <a:r>
              <a:rPr lang="en-US" altLang="zh-CN" dirty="0"/>
              <a:t>1 Hadoop—</a:t>
            </a:r>
            <a:r>
              <a:rPr lang="zh-CN" altLang="en-US" dirty="0"/>
              <a:t>核心组件</a:t>
            </a:r>
          </a:p>
        </p:txBody>
      </p:sp>
      <p:sp>
        <p:nvSpPr>
          <p:cNvPr id="3" name="内容占位符 2">
            <a:extLst>
              <a:ext uri="{FF2B5EF4-FFF2-40B4-BE49-F238E27FC236}">
                <a16:creationId xmlns:a16="http://schemas.microsoft.com/office/drawing/2014/main" id="{15BAFCE7-54C3-4AE5-80D8-4CF01369EDF6}"/>
              </a:ext>
            </a:extLst>
          </p:cNvPr>
          <p:cNvSpPr>
            <a:spLocks noGrp="1"/>
          </p:cNvSpPr>
          <p:nvPr>
            <p:ph idx="1"/>
          </p:nvPr>
        </p:nvSpPr>
        <p:spPr>
          <a:xfrm>
            <a:off x="467544" y="1131590"/>
            <a:ext cx="8173416" cy="3456384"/>
          </a:xfrm>
        </p:spPr>
        <p:txBody>
          <a:bodyPr>
            <a:normAutofit fontScale="85000" lnSpcReduction="10000"/>
          </a:bodyPr>
          <a:lstStyle/>
          <a:p>
            <a:pPr marL="0" indent="0" hangingPunct="0">
              <a:buNone/>
            </a:pPr>
            <a:r>
              <a:rPr lang="en-US" altLang="zh-CN" b="1" dirty="0"/>
              <a:t>1</a:t>
            </a:r>
            <a:r>
              <a:rPr lang="zh-CN" altLang="zh-CN" b="1" dirty="0"/>
              <a:t>．</a:t>
            </a:r>
            <a:r>
              <a:rPr lang="en-US" altLang="zh-CN" sz="4000" b="1" dirty="0"/>
              <a:t>HDFS</a:t>
            </a:r>
            <a:r>
              <a:rPr lang="zh-CN" altLang="zh-CN" sz="4000" b="1" dirty="0"/>
              <a:t>（</a:t>
            </a:r>
            <a:r>
              <a:rPr lang="en-US" altLang="zh-CN" sz="4000" b="1" dirty="0"/>
              <a:t>Hadoop</a:t>
            </a:r>
            <a:r>
              <a:rPr lang="zh-CN" altLang="zh-CN" sz="4000" b="1" dirty="0"/>
              <a:t>分布式文件系统）</a:t>
            </a:r>
          </a:p>
          <a:p>
            <a:pPr>
              <a:lnSpc>
                <a:spcPct val="120000"/>
              </a:lnSpc>
            </a:pPr>
            <a:r>
              <a:rPr lang="en-US" altLang="zh-CN" sz="2800" dirty="0">
                <a:latin typeface="+mn-ea"/>
              </a:rPr>
              <a:t>Hadoop</a:t>
            </a:r>
            <a:r>
              <a:rPr lang="zh-CN" altLang="zh-CN" sz="2800" dirty="0">
                <a:latin typeface="+mn-ea"/>
              </a:rPr>
              <a:t>系统最核心的</a:t>
            </a:r>
            <a:r>
              <a:rPr lang="zh-CN" altLang="zh-CN" sz="2800">
                <a:latin typeface="+mn-ea"/>
              </a:rPr>
              <a:t>组件。</a:t>
            </a:r>
            <a:endParaRPr lang="zh-CN" altLang="zh-CN" sz="2800" dirty="0">
              <a:latin typeface="+mn-ea"/>
            </a:endParaRPr>
          </a:p>
          <a:p>
            <a:pPr>
              <a:lnSpc>
                <a:spcPct val="120000"/>
              </a:lnSpc>
            </a:pPr>
            <a:r>
              <a:rPr lang="en-US" altLang="zh-CN" sz="2800" dirty="0">
                <a:latin typeface="+mn-ea"/>
              </a:rPr>
              <a:t>HDFS</a:t>
            </a:r>
            <a:r>
              <a:rPr lang="zh-CN" altLang="zh-CN" sz="2800" dirty="0">
                <a:latin typeface="+mn-ea"/>
              </a:rPr>
              <a:t>可以支持数据的分布式存储、访问，使得由分布式异构计算机组成的网络集群可以提供更加强大的服务。</a:t>
            </a:r>
            <a:endParaRPr lang="en-US" altLang="zh-CN" sz="2800" dirty="0">
              <a:latin typeface="+mn-ea"/>
            </a:endParaRPr>
          </a:p>
          <a:p>
            <a:pPr>
              <a:lnSpc>
                <a:spcPct val="120000"/>
              </a:lnSpc>
            </a:pPr>
            <a:r>
              <a:rPr lang="en-US" altLang="zh-CN" sz="2800">
                <a:latin typeface="+mn-ea"/>
              </a:rPr>
              <a:t>HDFS</a:t>
            </a:r>
            <a:r>
              <a:rPr lang="zh-CN" altLang="zh-CN" sz="2800">
                <a:latin typeface="+mn-ea"/>
              </a:rPr>
              <a:t>将文件分成块存储在分布式体系结构的节点中，并通过冗余存储的方式提高整个文件系统的容错。</a:t>
            </a:r>
            <a:endParaRPr lang="zh-CN" altLang="en-US" sz="2800">
              <a:latin typeface="+mn-ea"/>
            </a:endParaRPr>
          </a:p>
          <a:p>
            <a:pPr>
              <a:lnSpc>
                <a:spcPct val="120000"/>
              </a:lnSpc>
            </a:pPr>
            <a:r>
              <a:rPr lang="en-US" altLang="zh-CN" sz="2800">
                <a:latin typeface="+mn-ea"/>
              </a:rPr>
              <a:t>HDFS</a:t>
            </a:r>
            <a:r>
              <a:rPr lang="zh-CN" altLang="zh-CN" sz="2800" dirty="0">
                <a:latin typeface="+mn-ea"/>
              </a:rPr>
              <a:t>还允许连接到其他核心组件，如</a:t>
            </a:r>
            <a:r>
              <a:rPr lang="en-US" altLang="zh-CN" sz="2800">
                <a:latin typeface="+mn-ea"/>
              </a:rPr>
              <a:t>MapReduce</a:t>
            </a:r>
            <a:r>
              <a:rPr lang="zh-CN" altLang="en-US" sz="2800">
                <a:latin typeface="+mn-ea"/>
              </a:rPr>
              <a:t>。</a:t>
            </a:r>
            <a:endParaRPr lang="en-US" altLang="zh-CN" sz="2800" dirty="0">
              <a:latin typeface="+mn-ea"/>
            </a:endParaRPr>
          </a:p>
        </p:txBody>
      </p:sp>
    </p:spTree>
    <p:extLst>
      <p:ext uri="{BB962C8B-B14F-4D97-AF65-F5344CB8AC3E}">
        <p14:creationId xmlns:p14="http://schemas.microsoft.com/office/powerpoint/2010/main" val="37634651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BF1FE5-3D95-4C3A-A370-42DB85FC4060}"/>
              </a:ext>
            </a:extLst>
          </p:cNvPr>
          <p:cNvSpPr>
            <a:spLocks noGrp="1"/>
          </p:cNvSpPr>
          <p:nvPr>
            <p:ph type="title"/>
          </p:nvPr>
        </p:nvSpPr>
        <p:spPr/>
        <p:txBody>
          <a:bodyPr>
            <a:normAutofit fontScale="90000"/>
          </a:bodyPr>
          <a:lstStyle/>
          <a:p>
            <a:r>
              <a:rPr lang="en-US" altLang="zh-CN" dirty="0"/>
              <a:t>1 Hadoop—</a:t>
            </a:r>
            <a:r>
              <a:rPr lang="zh-CN" altLang="en-US" dirty="0"/>
              <a:t>核心组件</a:t>
            </a:r>
          </a:p>
        </p:txBody>
      </p:sp>
      <p:sp>
        <p:nvSpPr>
          <p:cNvPr id="3" name="内容占位符 2">
            <a:extLst>
              <a:ext uri="{FF2B5EF4-FFF2-40B4-BE49-F238E27FC236}">
                <a16:creationId xmlns:a16="http://schemas.microsoft.com/office/drawing/2014/main" id="{15BAFCE7-54C3-4AE5-80D8-4CF01369EDF6}"/>
              </a:ext>
            </a:extLst>
          </p:cNvPr>
          <p:cNvSpPr>
            <a:spLocks noGrp="1"/>
          </p:cNvSpPr>
          <p:nvPr>
            <p:ph idx="1"/>
          </p:nvPr>
        </p:nvSpPr>
        <p:spPr>
          <a:xfrm>
            <a:off x="251520" y="987574"/>
            <a:ext cx="8229600" cy="3600400"/>
          </a:xfrm>
        </p:spPr>
        <p:txBody>
          <a:bodyPr>
            <a:normAutofit fontScale="62500" lnSpcReduction="20000"/>
          </a:bodyPr>
          <a:lstStyle/>
          <a:p>
            <a:pPr marL="0" indent="0" hangingPunct="0">
              <a:buNone/>
            </a:pPr>
            <a:r>
              <a:rPr lang="en-US" altLang="zh-CN" sz="4500" b="1" dirty="0"/>
              <a:t>2</a:t>
            </a:r>
            <a:r>
              <a:rPr lang="zh-CN" altLang="zh-CN" sz="4500" b="1" dirty="0"/>
              <a:t>．</a:t>
            </a:r>
            <a:r>
              <a:rPr lang="en-US" altLang="zh-CN" sz="4500" b="1" dirty="0"/>
              <a:t>MapReduce</a:t>
            </a:r>
          </a:p>
          <a:p>
            <a:pPr>
              <a:lnSpc>
                <a:spcPct val="120000"/>
              </a:lnSpc>
            </a:pPr>
            <a:r>
              <a:rPr lang="en-US" altLang="zh-CN" sz="3800" dirty="0">
                <a:latin typeface="+mn-ea"/>
              </a:rPr>
              <a:t>Hadoop</a:t>
            </a:r>
            <a:r>
              <a:rPr lang="zh-CN" altLang="zh-CN" sz="3800" dirty="0">
                <a:latin typeface="+mn-ea"/>
              </a:rPr>
              <a:t>的另一个核心组件，它结合了两个独立的功能：</a:t>
            </a:r>
            <a:r>
              <a:rPr lang="en-US" altLang="zh-CN" sz="3800" dirty="0">
                <a:latin typeface="+mn-ea"/>
              </a:rPr>
              <a:t>Map</a:t>
            </a:r>
            <a:r>
              <a:rPr lang="zh-CN" altLang="zh-CN" sz="3800" dirty="0">
                <a:latin typeface="+mn-ea"/>
              </a:rPr>
              <a:t>和</a:t>
            </a:r>
            <a:r>
              <a:rPr lang="en-US" altLang="zh-CN" sz="3800" dirty="0">
                <a:latin typeface="+mn-ea"/>
              </a:rPr>
              <a:t>Reduce</a:t>
            </a:r>
            <a:r>
              <a:rPr lang="zh-CN" altLang="zh-CN" sz="3800" dirty="0">
                <a:latin typeface="+mn-ea"/>
              </a:rPr>
              <a:t>，并使用键值对实现数据并行计算的框架。</a:t>
            </a:r>
            <a:endParaRPr lang="en-US" altLang="zh-CN" sz="3800" dirty="0">
              <a:latin typeface="+mn-ea"/>
            </a:endParaRPr>
          </a:p>
          <a:p>
            <a:pPr>
              <a:lnSpc>
                <a:spcPct val="120000"/>
              </a:lnSpc>
            </a:pPr>
            <a:r>
              <a:rPr lang="en-US" altLang="zh-CN" sz="3800" dirty="0">
                <a:latin typeface="+mn-ea"/>
              </a:rPr>
              <a:t>Map</a:t>
            </a:r>
            <a:r>
              <a:rPr lang="zh-CN" altLang="zh-CN" sz="3800" dirty="0">
                <a:latin typeface="+mn-ea"/>
              </a:rPr>
              <a:t>任务接受输入数据并将其转换为可以在键值对中计算的数据集，</a:t>
            </a:r>
            <a:r>
              <a:rPr lang="en-US" altLang="zh-CN" sz="3800" dirty="0">
                <a:latin typeface="+mn-ea"/>
              </a:rPr>
              <a:t>Map</a:t>
            </a:r>
            <a:r>
              <a:rPr lang="zh-CN" altLang="zh-CN" sz="3800" dirty="0">
                <a:latin typeface="+mn-ea"/>
              </a:rPr>
              <a:t>任务的输出作为</a:t>
            </a:r>
            <a:r>
              <a:rPr lang="en-US" altLang="zh-CN" sz="3800" dirty="0">
                <a:latin typeface="+mn-ea"/>
              </a:rPr>
              <a:t>Reduce</a:t>
            </a:r>
            <a:r>
              <a:rPr lang="zh-CN" altLang="zh-CN" sz="3800" dirty="0">
                <a:latin typeface="+mn-ea"/>
              </a:rPr>
              <a:t>的输入，</a:t>
            </a:r>
            <a:r>
              <a:rPr lang="en-US" altLang="zh-CN" sz="3800" dirty="0">
                <a:latin typeface="+mn-ea"/>
              </a:rPr>
              <a:t>Reduce</a:t>
            </a:r>
            <a:r>
              <a:rPr lang="zh-CN" altLang="zh-CN" sz="3800" dirty="0">
                <a:latin typeface="+mn-ea"/>
              </a:rPr>
              <a:t>运算后输出得到期望的结果。</a:t>
            </a:r>
          </a:p>
          <a:p>
            <a:pPr>
              <a:lnSpc>
                <a:spcPct val="120000"/>
              </a:lnSpc>
            </a:pPr>
            <a:r>
              <a:rPr lang="zh-CN" altLang="zh-CN" sz="3800" dirty="0">
                <a:latin typeface="+mn-ea"/>
              </a:rPr>
              <a:t>从本质上看，</a:t>
            </a:r>
            <a:r>
              <a:rPr lang="en-US" altLang="zh-CN" sz="3800" dirty="0">
                <a:latin typeface="+mn-ea"/>
              </a:rPr>
              <a:t>Map</a:t>
            </a:r>
            <a:r>
              <a:rPr lang="zh-CN" altLang="zh-CN" sz="3800" dirty="0">
                <a:latin typeface="+mn-ea"/>
              </a:rPr>
              <a:t>允许一个平台以一种通用格式为进一步进行数据分析提供数据支持；</a:t>
            </a:r>
            <a:r>
              <a:rPr lang="en-US" altLang="zh-CN" sz="3800" dirty="0">
                <a:latin typeface="+mn-ea"/>
              </a:rPr>
              <a:t>Reduce</a:t>
            </a:r>
            <a:r>
              <a:rPr lang="zh-CN" altLang="zh-CN" sz="3800" dirty="0">
                <a:latin typeface="+mn-ea"/>
              </a:rPr>
              <a:t>则将可用的映射关系数据约简为一组定义良好的统计值。</a:t>
            </a:r>
            <a:endParaRPr lang="zh-CN" altLang="en-US" sz="3800" dirty="0">
              <a:latin typeface="+mn-ea"/>
            </a:endParaRPr>
          </a:p>
        </p:txBody>
      </p:sp>
    </p:spTree>
    <p:extLst>
      <p:ext uri="{BB962C8B-B14F-4D97-AF65-F5344CB8AC3E}">
        <p14:creationId xmlns:p14="http://schemas.microsoft.com/office/powerpoint/2010/main" val="14934108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BF1FE5-3D95-4C3A-A370-42DB85FC4060}"/>
              </a:ext>
            </a:extLst>
          </p:cNvPr>
          <p:cNvSpPr>
            <a:spLocks noGrp="1"/>
          </p:cNvSpPr>
          <p:nvPr>
            <p:ph type="title"/>
          </p:nvPr>
        </p:nvSpPr>
        <p:spPr/>
        <p:txBody>
          <a:bodyPr>
            <a:normAutofit fontScale="90000"/>
          </a:bodyPr>
          <a:lstStyle/>
          <a:p>
            <a:r>
              <a:rPr lang="en-US" altLang="zh-CN" dirty="0"/>
              <a:t>1 Hadoop—</a:t>
            </a:r>
            <a:r>
              <a:rPr lang="zh-CN" altLang="en-US" dirty="0"/>
              <a:t>核心组件</a:t>
            </a:r>
          </a:p>
        </p:txBody>
      </p:sp>
      <p:sp>
        <p:nvSpPr>
          <p:cNvPr id="3" name="内容占位符 2">
            <a:extLst>
              <a:ext uri="{FF2B5EF4-FFF2-40B4-BE49-F238E27FC236}">
                <a16:creationId xmlns:a16="http://schemas.microsoft.com/office/drawing/2014/main" id="{15BAFCE7-54C3-4AE5-80D8-4CF01369EDF6}"/>
              </a:ext>
            </a:extLst>
          </p:cNvPr>
          <p:cNvSpPr>
            <a:spLocks noGrp="1"/>
          </p:cNvSpPr>
          <p:nvPr>
            <p:ph idx="1"/>
          </p:nvPr>
        </p:nvSpPr>
        <p:spPr>
          <a:xfrm>
            <a:off x="251520" y="987574"/>
            <a:ext cx="8229600" cy="3816424"/>
          </a:xfrm>
        </p:spPr>
        <p:txBody>
          <a:bodyPr>
            <a:normAutofit fontScale="55000" lnSpcReduction="20000"/>
          </a:bodyPr>
          <a:lstStyle/>
          <a:p>
            <a:pPr marL="0" indent="0" hangingPunct="0">
              <a:lnSpc>
                <a:spcPct val="80000"/>
              </a:lnSpc>
              <a:buNone/>
            </a:pPr>
            <a:r>
              <a:rPr lang="en-US" altLang="zh-CN" sz="5100" b="1" dirty="0"/>
              <a:t>3</a:t>
            </a:r>
            <a:r>
              <a:rPr lang="zh-CN" altLang="zh-CN" sz="5100" b="1" dirty="0"/>
              <a:t>．</a:t>
            </a:r>
            <a:r>
              <a:rPr lang="en-US" altLang="zh-CN" sz="5100" b="1" dirty="0"/>
              <a:t>Yarn</a:t>
            </a:r>
            <a:endParaRPr lang="zh-CN" altLang="zh-CN" sz="5100" b="1" dirty="0"/>
          </a:p>
          <a:p>
            <a:pPr>
              <a:lnSpc>
                <a:spcPct val="120000"/>
              </a:lnSpc>
            </a:pPr>
            <a:r>
              <a:rPr lang="en-US" altLang="zh-CN" sz="4000" dirty="0">
                <a:latin typeface="+mn-ea"/>
              </a:rPr>
              <a:t>Yarn</a:t>
            </a:r>
            <a:r>
              <a:rPr lang="zh-CN" altLang="zh-CN" sz="4000" dirty="0">
                <a:latin typeface="+mn-ea"/>
              </a:rPr>
              <a:t>是</a:t>
            </a:r>
            <a:r>
              <a:rPr lang="en-US" altLang="zh-CN" sz="4000" dirty="0">
                <a:latin typeface="+mn-ea"/>
              </a:rPr>
              <a:t>Hadoop 2</a:t>
            </a:r>
            <a:r>
              <a:rPr lang="zh-CN" altLang="zh-CN" sz="4000" dirty="0">
                <a:latin typeface="+mn-ea"/>
              </a:rPr>
              <a:t>中引入的核心组件，它是管理网络集群中可用资源的系统（资源管理器），并为系统上的每个大数据需求</a:t>
            </a:r>
            <a:r>
              <a:rPr lang="zh-CN" altLang="zh-CN" sz="4000" b="1" dirty="0">
                <a:solidFill>
                  <a:srgbClr val="FF0000"/>
                </a:solidFill>
                <a:latin typeface="+mn-ea"/>
              </a:rPr>
              <a:t>调度处理任务</a:t>
            </a:r>
            <a:r>
              <a:rPr lang="zh-CN" altLang="zh-CN" sz="4000" dirty="0">
                <a:latin typeface="+mn-ea"/>
              </a:rPr>
              <a:t>，以提出一个智能调度</a:t>
            </a:r>
            <a:r>
              <a:rPr lang="zh-CN" altLang="zh-CN" sz="4000">
                <a:latin typeface="+mn-ea"/>
              </a:rPr>
              <a:t>方案。</a:t>
            </a:r>
            <a:endParaRPr lang="en-US" altLang="zh-CN" sz="4000">
              <a:latin typeface="+mn-ea"/>
            </a:endParaRPr>
          </a:p>
          <a:p>
            <a:pPr>
              <a:lnSpc>
                <a:spcPct val="120000"/>
              </a:lnSpc>
            </a:pPr>
            <a:endParaRPr lang="en-US" altLang="zh-CN" sz="4000" dirty="0">
              <a:latin typeface="+mn-ea"/>
            </a:endParaRPr>
          </a:p>
          <a:p>
            <a:pPr marL="0" indent="0" hangingPunct="0">
              <a:lnSpc>
                <a:spcPct val="80000"/>
              </a:lnSpc>
              <a:buNone/>
            </a:pPr>
            <a:r>
              <a:rPr lang="en-US" altLang="zh-CN" sz="5100" b="1" dirty="0"/>
              <a:t>4</a:t>
            </a:r>
            <a:r>
              <a:rPr lang="zh-CN" altLang="zh-CN" sz="5100" b="1" dirty="0"/>
              <a:t>．</a:t>
            </a:r>
            <a:r>
              <a:rPr lang="en-US" altLang="zh-CN" sz="5100" b="1" dirty="0"/>
              <a:t>Hadoop Common</a:t>
            </a:r>
            <a:endParaRPr lang="zh-CN" altLang="zh-CN" sz="5100" b="1" dirty="0"/>
          </a:p>
          <a:p>
            <a:pPr>
              <a:lnSpc>
                <a:spcPct val="120000"/>
              </a:lnSpc>
            </a:pPr>
            <a:r>
              <a:rPr lang="en-US" altLang="zh-CN" sz="4000" dirty="0">
                <a:latin typeface="+mn-ea"/>
              </a:rPr>
              <a:t>Hadoop Common</a:t>
            </a:r>
            <a:r>
              <a:rPr lang="zh-CN" altLang="zh-CN" sz="4000" dirty="0">
                <a:latin typeface="+mn-ea"/>
              </a:rPr>
              <a:t>由其他</a:t>
            </a:r>
            <a:r>
              <a:rPr lang="en-US" altLang="zh-CN" sz="4000" dirty="0">
                <a:latin typeface="+mn-ea"/>
              </a:rPr>
              <a:t>Hadoop</a:t>
            </a:r>
            <a:r>
              <a:rPr lang="zh-CN" altLang="zh-CN" sz="4000" dirty="0">
                <a:latin typeface="+mn-ea"/>
              </a:rPr>
              <a:t>模块调用，用于支持</a:t>
            </a:r>
            <a:r>
              <a:rPr lang="en-US" altLang="zh-CN" sz="4000" dirty="0">
                <a:latin typeface="+mn-ea"/>
              </a:rPr>
              <a:t>Hadoop</a:t>
            </a:r>
            <a:r>
              <a:rPr lang="zh-CN" altLang="zh-CN" sz="4000" dirty="0">
                <a:latin typeface="+mn-ea"/>
              </a:rPr>
              <a:t>的运行。</a:t>
            </a:r>
            <a:endParaRPr lang="en-US" altLang="zh-CN" sz="4000" dirty="0">
              <a:latin typeface="+mn-ea"/>
            </a:endParaRPr>
          </a:p>
          <a:p>
            <a:pPr>
              <a:lnSpc>
                <a:spcPct val="120000"/>
              </a:lnSpc>
            </a:pPr>
            <a:r>
              <a:rPr lang="en-US" altLang="zh-CN" sz="4000" dirty="0">
                <a:latin typeface="+mn-ea"/>
              </a:rPr>
              <a:t>Hadoop Common</a:t>
            </a:r>
            <a:r>
              <a:rPr lang="zh-CN" altLang="zh-CN" sz="4000" dirty="0">
                <a:latin typeface="+mn-ea"/>
              </a:rPr>
              <a:t>带来的应用、工具使得任何计算机都可以成为</a:t>
            </a:r>
            <a:r>
              <a:rPr lang="en-US" altLang="zh-CN" sz="4000" dirty="0">
                <a:latin typeface="+mn-ea"/>
              </a:rPr>
              <a:t>Hadoop</a:t>
            </a:r>
            <a:r>
              <a:rPr lang="zh-CN" altLang="zh-CN" sz="4000" dirty="0">
                <a:latin typeface="+mn-ea"/>
              </a:rPr>
              <a:t>网络的一部分，从而消除了可能在任何给定时间连接到网络的不同硬件节点之间的</a:t>
            </a:r>
            <a:r>
              <a:rPr lang="zh-CN" altLang="zh-CN" sz="4000">
                <a:latin typeface="+mn-ea"/>
              </a:rPr>
              <a:t>差异。</a:t>
            </a:r>
            <a:endParaRPr lang="en-US" altLang="zh-CN" sz="4000" dirty="0">
              <a:latin typeface="+mn-ea"/>
            </a:endParaRPr>
          </a:p>
        </p:txBody>
      </p:sp>
    </p:spTree>
    <p:extLst>
      <p:ext uri="{BB962C8B-B14F-4D97-AF65-F5344CB8AC3E}">
        <p14:creationId xmlns:p14="http://schemas.microsoft.com/office/powerpoint/2010/main" val="9656808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C35A3F-586E-4954-9A09-F916BFFA79C0}"/>
              </a:ext>
            </a:extLst>
          </p:cNvPr>
          <p:cNvSpPr>
            <a:spLocks noGrp="1"/>
          </p:cNvSpPr>
          <p:nvPr>
            <p:ph type="title"/>
          </p:nvPr>
        </p:nvSpPr>
        <p:spPr>
          <a:xfrm>
            <a:off x="-30832" y="278847"/>
            <a:ext cx="7668344" cy="540060"/>
          </a:xfrm>
        </p:spPr>
        <p:txBody>
          <a:bodyPr>
            <a:normAutofit fontScale="90000"/>
          </a:bodyPr>
          <a:lstStyle/>
          <a:p>
            <a:r>
              <a:rPr lang="en-US" altLang="zh-CN" dirty="0"/>
              <a:t>1 Hadoop—Hadoop1.0</a:t>
            </a:r>
            <a:r>
              <a:rPr lang="zh-CN" altLang="en-US" dirty="0"/>
              <a:t>集群组成</a:t>
            </a:r>
          </a:p>
        </p:txBody>
      </p:sp>
      <p:pic>
        <p:nvPicPr>
          <p:cNvPr id="4" name="图片 3">
            <a:extLst>
              <a:ext uri="{FF2B5EF4-FFF2-40B4-BE49-F238E27FC236}">
                <a16:creationId xmlns:a16="http://schemas.microsoft.com/office/drawing/2014/main" id="{2521F64B-88B3-4637-B8DD-1A5027AA9161}"/>
              </a:ext>
            </a:extLst>
          </p:cNvPr>
          <p:cNvPicPr>
            <a:picLocks noChangeAspect="1"/>
          </p:cNvPicPr>
          <p:nvPr/>
        </p:nvPicPr>
        <p:blipFill rotWithShape="1">
          <a:blip r:embed="rId2"/>
          <a:srcRect l="16192" r="12967"/>
          <a:stretch/>
        </p:blipFill>
        <p:spPr>
          <a:xfrm>
            <a:off x="2811634" y="1203598"/>
            <a:ext cx="6332366" cy="3024336"/>
          </a:xfrm>
          <a:prstGeom prst="rect">
            <a:avLst/>
          </a:prstGeom>
        </p:spPr>
      </p:pic>
      <p:sp>
        <p:nvSpPr>
          <p:cNvPr id="5" name="矩形 4">
            <a:extLst>
              <a:ext uri="{FF2B5EF4-FFF2-40B4-BE49-F238E27FC236}">
                <a16:creationId xmlns:a16="http://schemas.microsoft.com/office/drawing/2014/main" id="{AF5F7AAE-6D86-4E6E-A8E4-040863433461}"/>
              </a:ext>
            </a:extLst>
          </p:cNvPr>
          <p:cNvSpPr/>
          <p:nvPr/>
        </p:nvSpPr>
        <p:spPr>
          <a:xfrm>
            <a:off x="467544" y="987574"/>
            <a:ext cx="2488106" cy="3816429"/>
          </a:xfrm>
          <a:prstGeom prst="rect">
            <a:avLst/>
          </a:prstGeom>
          <a:ln w="15875">
            <a:solidFill>
              <a:schemeClr val="tx1"/>
            </a:solidFill>
          </a:ln>
        </p:spPr>
        <p:txBody>
          <a:bodyPr wrap="square">
            <a:spAutoFit/>
          </a:bodyPr>
          <a:lstStyle/>
          <a:p>
            <a:r>
              <a:rPr lang="en-US" altLang="zh-CN" sz="2200" kern="1050" dirty="0">
                <a:latin typeface="Times New Roman" panose="02020603050405020304" pitchFamily="18" charset="0"/>
                <a:cs typeface="方正书宋简体"/>
              </a:rPr>
              <a:t>Hadoop 1.0</a:t>
            </a:r>
            <a:r>
              <a:rPr lang="zh-CN" altLang="zh-CN" sz="2200" kern="1050" dirty="0">
                <a:latin typeface="Times New Roman" panose="02020603050405020304" pitchFamily="18" charset="0"/>
                <a:cs typeface="方正书宋简体"/>
              </a:rPr>
              <a:t>集群由一个主节点（</a:t>
            </a:r>
            <a:r>
              <a:rPr lang="en-US" altLang="zh-CN" sz="2200" kern="1050" dirty="0">
                <a:latin typeface="Times New Roman" panose="02020603050405020304" pitchFamily="18" charset="0"/>
                <a:cs typeface="方正书宋简体"/>
              </a:rPr>
              <a:t>master</a:t>
            </a:r>
            <a:r>
              <a:rPr lang="zh-CN" altLang="zh-CN" sz="2200" kern="1050" dirty="0">
                <a:latin typeface="Times New Roman" panose="02020603050405020304" pitchFamily="18" charset="0"/>
                <a:cs typeface="方正书宋简体"/>
              </a:rPr>
              <a:t>）和多个从节点（</a:t>
            </a:r>
            <a:r>
              <a:rPr lang="en-US" altLang="zh-CN" sz="2200" kern="1050" dirty="0">
                <a:latin typeface="Times New Roman" panose="02020603050405020304" pitchFamily="18" charset="0"/>
                <a:cs typeface="方正书宋简体"/>
              </a:rPr>
              <a:t>slave</a:t>
            </a:r>
            <a:r>
              <a:rPr lang="zh-CN" altLang="zh-CN" sz="2200" kern="1050" dirty="0">
                <a:latin typeface="Times New Roman" panose="02020603050405020304" pitchFamily="18" charset="0"/>
                <a:cs typeface="方正书宋简体"/>
              </a:rPr>
              <a:t>）组成</a:t>
            </a:r>
            <a:r>
              <a:rPr lang="zh-CN" altLang="en-US" sz="2200" kern="1050" dirty="0">
                <a:latin typeface="Times New Roman" panose="02020603050405020304" pitchFamily="18" charset="0"/>
                <a:cs typeface="方正书宋简体"/>
              </a:rPr>
              <a:t>：</a:t>
            </a:r>
            <a:r>
              <a:rPr lang="zh-CN" altLang="zh-CN" sz="2200" kern="1050" dirty="0">
                <a:latin typeface="Times New Roman" panose="02020603050405020304" pitchFamily="18" charset="0"/>
                <a:cs typeface="方正书宋简体"/>
              </a:rPr>
              <a:t>主节点包括</a:t>
            </a:r>
            <a:r>
              <a:rPr lang="en-US" altLang="zh-CN" sz="2200" kern="1050" dirty="0">
                <a:latin typeface="Times New Roman" panose="02020603050405020304" pitchFamily="18" charset="0"/>
                <a:cs typeface="方正书宋简体"/>
              </a:rPr>
              <a:t>Job Tracker</a:t>
            </a:r>
            <a:r>
              <a:rPr lang="zh-CN" altLang="zh-CN" sz="2200" kern="1050" dirty="0">
                <a:latin typeface="Times New Roman" panose="02020603050405020304" pitchFamily="18" charset="0"/>
                <a:cs typeface="方正书宋简体"/>
              </a:rPr>
              <a:t>、</a:t>
            </a:r>
            <a:r>
              <a:rPr lang="en-US" altLang="zh-CN" sz="2200" kern="1050" dirty="0">
                <a:latin typeface="Times New Roman" panose="02020603050405020304" pitchFamily="18" charset="0"/>
                <a:cs typeface="方正书宋简体"/>
              </a:rPr>
              <a:t>Task Tracker</a:t>
            </a:r>
            <a:r>
              <a:rPr lang="zh-CN" altLang="zh-CN" sz="2200" kern="1050" dirty="0">
                <a:latin typeface="Times New Roman" panose="02020603050405020304" pitchFamily="18" charset="0"/>
                <a:cs typeface="方正书宋简体"/>
              </a:rPr>
              <a:t>、</a:t>
            </a:r>
            <a:r>
              <a:rPr lang="en-US" altLang="zh-CN" sz="2200" kern="1050" dirty="0" err="1">
                <a:latin typeface="Times New Roman" panose="02020603050405020304" pitchFamily="18" charset="0"/>
                <a:cs typeface="方正书宋简体"/>
              </a:rPr>
              <a:t>NameNode</a:t>
            </a:r>
            <a:r>
              <a:rPr lang="zh-CN" altLang="zh-CN" sz="2200" kern="1050" dirty="0">
                <a:latin typeface="Times New Roman" panose="02020603050405020304" pitchFamily="18" charset="0"/>
                <a:cs typeface="方正书宋简体"/>
              </a:rPr>
              <a:t>和</a:t>
            </a:r>
            <a:r>
              <a:rPr lang="en-US" altLang="zh-CN" sz="2200" kern="1050" dirty="0" err="1">
                <a:latin typeface="Times New Roman" panose="02020603050405020304" pitchFamily="18" charset="0"/>
                <a:cs typeface="方正书宋简体"/>
              </a:rPr>
              <a:t>DataNode</a:t>
            </a:r>
            <a:r>
              <a:rPr lang="zh-CN" altLang="en-US" sz="2200" kern="1050" dirty="0">
                <a:latin typeface="Times New Roman" panose="02020603050405020304" pitchFamily="18" charset="0"/>
                <a:cs typeface="方正书宋简体"/>
              </a:rPr>
              <a:t>；</a:t>
            </a:r>
            <a:r>
              <a:rPr lang="zh-CN" altLang="zh-CN" sz="2200" kern="1050" dirty="0">
                <a:latin typeface="Times New Roman" panose="02020603050405020304" pitchFamily="18" charset="0"/>
                <a:cs typeface="方正书宋简体"/>
              </a:rPr>
              <a:t>从节点包括</a:t>
            </a:r>
            <a:r>
              <a:rPr lang="en-US" altLang="zh-CN" sz="2200" kern="1050" dirty="0" err="1">
                <a:latin typeface="Times New Roman" panose="02020603050405020304" pitchFamily="18" charset="0"/>
                <a:cs typeface="方正书宋简体"/>
              </a:rPr>
              <a:t>DataNode</a:t>
            </a:r>
            <a:r>
              <a:rPr lang="zh-CN" altLang="zh-CN" sz="2200" kern="1050" dirty="0">
                <a:latin typeface="Times New Roman" panose="02020603050405020304" pitchFamily="18" charset="0"/>
                <a:cs typeface="方正书宋简体"/>
              </a:rPr>
              <a:t>和</a:t>
            </a:r>
            <a:r>
              <a:rPr lang="en-US" altLang="zh-CN" sz="2200" kern="1050" dirty="0" err="1">
                <a:latin typeface="Times New Roman" panose="02020603050405020304" pitchFamily="18" charset="0"/>
                <a:cs typeface="方正书宋简体"/>
              </a:rPr>
              <a:t>TaskTracker</a:t>
            </a:r>
            <a:endParaRPr lang="zh-CN" altLang="en-US" sz="2200" dirty="0"/>
          </a:p>
        </p:txBody>
      </p:sp>
      <p:sp>
        <p:nvSpPr>
          <p:cNvPr id="3" name="文本框 2">
            <a:extLst>
              <a:ext uri="{FF2B5EF4-FFF2-40B4-BE49-F238E27FC236}">
                <a16:creationId xmlns:a16="http://schemas.microsoft.com/office/drawing/2014/main" id="{8B713B68-1EB7-4010-A1E0-47C9D4A98E3E}"/>
              </a:ext>
            </a:extLst>
          </p:cNvPr>
          <p:cNvSpPr txBox="1"/>
          <p:nvPr/>
        </p:nvSpPr>
        <p:spPr>
          <a:xfrm>
            <a:off x="4427984" y="2283718"/>
            <a:ext cx="792088" cy="253916"/>
          </a:xfrm>
          <a:prstGeom prst="rect">
            <a:avLst/>
          </a:prstGeom>
          <a:solidFill>
            <a:schemeClr val="accent1"/>
          </a:solidFill>
        </p:spPr>
        <p:txBody>
          <a:bodyPr wrap="square" rtlCol="0">
            <a:spAutoFit/>
          </a:bodyPr>
          <a:lstStyle/>
          <a:p>
            <a:r>
              <a:rPr lang="en-US" altLang="zh-CN" sz="1050"/>
              <a:t>JobTracker</a:t>
            </a:r>
            <a:endParaRPr lang="zh-CN" altLang="en-US" sz="1050"/>
          </a:p>
        </p:txBody>
      </p:sp>
    </p:spTree>
    <p:extLst>
      <p:ext uri="{BB962C8B-B14F-4D97-AF65-F5344CB8AC3E}">
        <p14:creationId xmlns:p14="http://schemas.microsoft.com/office/powerpoint/2010/main" val="3866447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83328D-5522-4D56-8E9A-8E8A015CF4CE}"/>
              </a:ext>
            </a:extLst>
          </p:cNvPr>
          <p:cNvSpPr>
            <a:spLocks noGrp="1"/>
          </p:cNvSpPr>
          <p:nvPr>
            <p:ph type="title"/>
          </p:nvPr>
        </p:nvSpPr>
        <p:spPr/>
        <p:txBody>
          <a:bodyPr>
            <a:normAutofit fontScale="90000"/>
          </a:bodyPr>
          <a:lstStyle/>
          <a:p>
            <a:r>
              <a:rPr lang="en-US" altLang="zh-CN" dirty="0"/>
              <a:t>1 Hadoop—Hadoop1.0</a:t>
            </a:r>
            <a:r>
              <a:rPr lang="zh-CN" altLang="en-US" dirty="0"/>
              <a:t>集群组成</a:t>
            </a:r>
          </a:p>
        </p:txBody>
      </p:sp>
      <p:sp>
        <p:nvSpPr>
          <p:cNvPr id="3" name="内容占位符 2">
            <a:extLst>
              <a:ext uri="{FF2B5EF4-FFF2-40B4-BE49-F238E27FC236}">
                <a16:creationId xmlns:a16="http://schemas.microsoft.com/office/drawing/2014/main" id="{5C32716D-7A94-43F8-9061-F5C9CCB3FE2E}"/>
              </a:ext>
            </a:extLst>
          </p:cNvPr>
          <p:cNvSpPr>
            <a:spLocks noGrp="1"/>
          </p:cNvSpPr>
          <p:nvPr>
            <p:ph idx="1"/>
          </p:nvPr>
        </p:nvSpPr>
        <p:spPr>
          <a:xfrm>
            <a:off x="323528" y="915566"/>
            <a:ext cx="8157592" cy="3888432"/>
          </a:xfrm>
        </p:spPr>
        <p:txBody>
          <a:bodyPr>
            <a:normAutofit fontScale="47500" lnSpcReduction="20000"/>
          </a:bodyPr>
          <a:lstStyle/>
          <a:p>
            <a:pPr marL="0" indent="0" hangingPunct="0">
              <a:buNone/>
            </a:pPr>
            <a:r>
              <a:rPr lang="en-US" altLang="zh-CN" sz="5900" b="1" dirty="0" err="1"/>
              <a:t>NameNode</a:t>
            </a:r>
            <a:endParaRPr lang="zh-CN" altLang="zh-CN" sz="5900" dirty="0"/>
          </a:p>
          <a:p>
            <a:pPr lvl="0">
              <a:lnSpc>
                <a:spcPct val="120000"/>
              </a:lnSpc>
            </a:pPr>
            <a:r>
              <a:rPr lang="en-US" altLang="zh-CN" sz="4600" dirty="0" err="1">
                <a:latin typeface="+mn-ea"/>
              </a:rPr>
              <a:t>NameNode</a:t>
            </a:r>
            <a:r>
              <a:rPr lang="zh-CN" altLang="zh-CN" sz="4600" dirty="0">
                <a:latin typeface="+mn-ea"/>
              </a:rPr>
              <a:t>常被称为名字节点、元数据节点、主节点等，它是</a:t>
            </a:r>
            <a:r>
              <a:rPr lang="en-US" altLang="zh-CN" sz="4600" dirty="0">
                <a:latin typeface="+mn-ea"/>
              </a:rPr>
              <a:t>HDFS</a:t>
            </a:r>
            <a:r>
              <a:rPr lang="zh-CN" altLang="zh-CN" sz="4600" dirty="0">
                <a:latin typeface="+mn-ea"/>
              </a:rPr>
              <a:t>集群中的主服务器；</a:t>
            </a:r>
          </a:p>
          <a:p>
            <a:pPr lvl="0">
              <a:lnSpc>
                <a:spcPct val="120000"/>
              </a:lnSpc>
            </a:pPr>
            <a:r>
              <a:rPr lang="en-US" altLang="zh-CN" sz="4600">
                <a:latin typeface="+mn-ea"/>
              </a:rPr>
              <a:t>Hadoop</a:t>
            </a:r>
            <a:r>
              <a:rPr lang="zh-CN" altLang="zh-CN" sz="4600" dirty="0">
                <a:latin typeface="+mn-ea"/>
              </a:rPr>
              <a:t>集群通常还会设立备用</a:t>
            </a:r>
            <a:r>
              <a:rPr lang="en-US" altLang="zh-CN" sz="4600" dirty="0" err="1">
                <a:latin typeface="+mn-ea"/>
              </a:rPr>
              <a:t>NameNode</a:t>
            </a:r>
            <a:r>
              <a:rPr lang="zh-CN" altLang="zh-CN" sz="4600" dirty="0">
                <a:latin typeface="+mn-ea"/>
              </a:rPr>
              <a:t>，称为“</a:t>
            </a:r>
            <a:r>
              <a:rPr lang="en-US" altLang="zh-CN" sz="4600" b="1" dirty="0">
                <a:latin typeface="+mn-ea"/>
              </a:rPr>
              <a:t>Secondary </a:t>
            </a:r>
            <a:r>
              <a:rPr lang="en-US" altLang="zh-CN" sz="4600" b="1" dirty="0" err="1">
                <a:latin typeface="+mn-ea"/>
              </a:rPr>
              <a:t>NameNode</a:t>
            </a:r>
            <a:r>
              <a:rPr lang="zh-CN" altLang="zh-CN" sz="4600" dirty="0">
                <a:latin typeface="+mn-ea"/>
              </a:rPr>
              <a:t>”，一旦</a:t>
            </a:r>
            <a:r>
              <a:rPr lang="en-US" altLang="zh-CN" sz="4600" dirty="0" err="1">
                <a:latin typeface="+mn-ea"/>
              </a:rPr>
              <a:t>NameNode</a:t>
            </a:r>
            <a:r>
              <a:rPr lang="zh-CN" altLang="zh-CN" sz="4600" dirty="0">
                <a:latin typeface="+mn-ea"/>
              </a:rPr>
              <a:t>不能使用，可以用备用</a:t>
            </a:r>
            <a:r>
              <a:rPr lang="en-US" altLang="zh-CN" sz="4600" dirty="0" err="1">
                <a:latin typeface="+mn-ea"/>
              </a:rPr>
              <a:t>NameNode</a:t>
            </a:r>
            <a:r>
              <a:rPr lang="zh-CN" altLang="zh-CN" sz="4600" dirty="0">
                <a:latin typeface="+mn-ea"/>
              </a:rPr>
              <a:t>提供服务支持；</a:t>
            </a:r>
          </a:p>
          <a:p>
            <a:pPr lvl="0">
              <a:lnSpc>
                <a:spcPct val="120000"/>
              </a:lnSpc>
            </a:pPr>
            <a:r>
              <a:rPr lang="en-US" altLang="zh-CN" sz="4600" dirty="0" err="1">
                <a:latin typeface="+mn-ea"/>
              </a:rPr>
              <a:t>NameNode</a:t>
            </a:r>
            <a:r>
              <a:rPr lang="zh-CN" altLang="zh-CN" sz="4600" dirty="0">
                <a:latin typeface="+mn-ea"/>
              </a:rPr>
              <a:t>通过执行诸如打开、重命名和关闭文件之类的操作来管理文件系统命名空间；</a:t>
            </a:r>
          </a:p>
          <a:p>
            <a:pPr lvl="0">
              <a:lnSpc>
                <a:spcPct val="120000"/>
              </a:lnSpc>
            </a:pPr>
            <a:r>
              <a:rPr lang="en-US" altLang="zh-CN" sz="4600" dirty="0" err="1">
                <a:latin typeface="+mn-ea"/>
              </a:rPr>
              <a:t>NameNode</a:t>
            </a:r>
            <a:r>
              <a:rPr lang="zh-CN" altLang="zh-CN" sz="4600" dirty="0">
                <a:latin typeface="+mn-ea"/>
              </a:rPr>
              <a:t>统一提供系统</a:t>
            </a:r>
            <a:r>
              <a:rPr lang="zh-CN" altLang="zh-CN" sz="4600">
                <a:latin typeface="+mn-ea"/>
              </a:rPr>
              <a:t>的对外</a:t>
            </a:r>
            <a:r>
              <a:rPr lang="zh-CN" altLang="en-US" sz="4600">
                <a:latin typeface="+mn-ea"/>
              </a:rPr>
              <a:t>接</a:t>
            </a:r>
            <a:r>
              <a:rPr lang="zh-CN" altLang="zh-CN" sz="4600">
                <a:latin typeface="+mn-ea"/>
              </a:rPr>
              <a:t>口，简化</a:t>
            </a:r>
            <a:r>
              <a:rPr lang="zh-CN" altLang="zh-CN" sz="4600" dirty="0">
                <a:latin typeface="+mn-ea"/>
              </a:rPr>
              <a:t>了整个系统的体系结构和使用模式。</a:t>
            </a:r>
            <a:r>
              <a:rPr lang="en-US" altLang="zh-CN" sz="4600" dirty="0">
                <a:latin typeface="+mn-ea"/>
              </a:rPr>
              <a:t>              </a:t>
            </a:r>
            <a:endParaRPr lang="zh-CN" altLang="zh-CN" sz="4600" dirty="0">
              <a:latin typeface="+mn-ea"/>
            </a:endParaRPr>
          </a:p>
          <a:p>
            <a:endParaRPr lang="zh-CN" altLang="en-US" dirty="0"/>
          </a:p>
        </p:txBody>
      </p:sp>
    </p:spTree>
    <p:extLst>
      <p:ext uri="{BB962C8B-B14F-4D97-AF65-F5344CB8AC3E}">
        <p14:creationId xmlns:p14="http://schemas.microsoft.com/office/powerpoint/2010/main" val="27426897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683328D-5522-4D56-8E9A-8E8A015CF4CE}"/>
              </a:ext>
            </a:extLst>
          </p:cNvPr>
          <p:cNvSpPr>
            <a:spLocks noGrp="1"/>
          </p:cNvSpPr>
          <p:nvPr>
            <p:ph type="title"/>
          </p:nvPr>
        </p:nvSpPr>
        <p:spPr/>
        <p:txBody>
          <a:bodyPr>
            <a:normAutofit fontScale="90000"/>
          </a:bodyPr>
          <a:lstStyle/>
          <a:p>
            <a:r>
              <a:rPr lang="en-US" altLang="zh-CN" dirty="0"/>
              <a:t>1 Hadoop—Hadoop1.0</a:t>
            </a:r>
            <a:r>
              <a:rPr lang="zh-CN" altLang="en-US" dirty="0"/>
              <a:t>集群组成</a:t>
            </a:r>
          </a:p>
        </p:txBody>
      </p:sp>
      <p:sp>
        <p:nvSpPr>
          <p:cNvPr id="3" name="内容占位符 2">
            <a:extLst>
              <a:ext uri="{FF2B5EF4-FFF2-40B4-BE49-F238E27FC236}">
                <a16:creationId xmlns:a16="http://schemas.microsoft.com/office/drawing/2014/main" id="{5C32716D-7A94-43F8-9061-F5C9CCB3FE2E}"/>
              </a:ext>
            </a:extLst>
          </p:cNvPr>
          <p:cNvSpPr>
            <a:spLocks noGrp="1"/>
          </p:cNvSpPr>
          <p:nvPr>
            <p:ph idx="1"/>
          </p:nvPr>
        </p:nvSpPr>
        <p:spPr>
          <a:xfrm>
            <a:off x="323528" y="1059582"/>
            <a:ext cx="8229600" cy="4083918"/>
          </a:xfrm>
        </p:spPr>
        <p:txBody>
          <a:bodyPr>
            <a:normAutofit/>
          </a:bodyPr>
          <a:lstStyle/>
          <a:p>
            <a:pPr marL="0" indent="0" hangingPunct="0">
              <a:buNone/>
            </a:pPr>
            <a:r>
              <a:rPr lang="en-US" altLang="zh-CN" b="1" dirty="0" err="1"/>
              <a:t>DataNode</a:t>
            </a:r>
            <a:endParaRPr lang="zh-CN" altLang="zh-CN" dirty="0"/>
          </a:p>
          <a:p>
            <a:pPr>
              <a:lnSpc>
                <a:spcPct val="110000"/>
              </a:lnSpc>
            </a:pPr>
            <a:r>
              <a:rPr lang="en-US" altLang="zh-CN" sz="2400" dirty="0">
                <a:latin typeface="+mn-ea"/>
              </a:rPr>
              <a:t>HDFS</a:t>
            </a:r>
            <a:r>
              <a:rPr lang="zh-CN" altLang="zh-CN" sz="2400" dirty="0">
                <a:latin typeface="+mn-ea"/>
              </a:rPr>
              <a:t>集群可以包含多个</a:t>
            </a:r>
            <a:r>
              <a:rPr lang="en-US" altLang="zh-CN" sz="2400" dirty="0" err="1">
                <a:latin typeface="+mn-ea"/>
              </a:rPr>
              <a:t>DataNode</a:t>
            </a:r>
            <a:r>
              <a:rPr lang="zh-CN" altLang="zh-CN" sz="2400" dirty="0">
                <a:latin typeface="+mn-ea"/>
              </a:rPr>
              <a:t>；</a:t>
            </a:r>
          </a:p>
          <a:p>
            <a:pPr>
              <a:lnSpc>
                <a:spcPct val="110000"/>
              </a:lnSpc>
            </a:pPr>
            <a:r>
              <a:rPr lang="zh-CN" altLang="zh-CN" sz="2400" dirty="0">
                <a:latin typeface="+mn-ea"/>
              </a:rPr>
              <a:t>每个</a:t>
            </a:r>
            <a:r>
              <a:rPr lang="en-US" altLang="zh-CN" sz="2400" dirty="0" err="1">
                <a:latin typeface="+mn-ea"/>
              </a:rPr>
              <a:t>DataNode</a:t>
            </a:r>
            <a:r>
              <a:rPr lang="zh-CN" altLang="zh-CN" sz="2400" dirty="0">
                <a:latin typeface="+mn-ea"/>
              </a:rPr>
              <a:t>包含多个数据块，这些数据块用于存储数据；</a:t>
            </a:r>
          </a:p>
          <a:p>
            <a:pPr>
              <a:lnSpc>
                <a:spcPct val="110000"/>
              </a:lnSpc>
            </a:pPr>
            <a:r>
              <a:rPr lang="en-US" altLang="zh-CN" sz="2400" dirty="0" err="1">
                <a:latin typeface="+mn-ea"/>
              </a:rPr>
              <a:t>DataNode</a:t>
            </a:r>
            <a:r>
              <a:rPr lang="zh-CN" altLang="zh-CN" sz="2400" dirty="0">
                <a:latin typeface="+mn-ea"/>
              </a:rPr>
              <a:t>负责根据文件系统客户端的请求读取和写入数据；</a:t>
            </a:r>
          </a:p>
          <a:p>
            <a:pPr>
              <a:lnSpc>
                <a:spcPct val="110000"/>
              </a:lnSpc>
            </a:pPr>
            <a:r>
              <a:rPr lang="en-US" altLang="zh-CN" sz="2400" dirty="0" err="1">
                <a:latin typeface="+mn-ea"/>
              </a:rPr>
              <a:t>DataNode</a:t>
            </a:r>
            <a:r>
              <a:rPr lang="zh-CN" altLang="zh-CN" sz="2400" dirty="0">
                <a:latin typeface="+mn-ea"/>
              </a:rPr>
              <a:t>根据</a:t>
            </a:r>
            <a:r>
              <a:rPr lang="en-US" altLang="zh-CN" sz="2400" dirty="0" err="1">
                <a:latin typeface="+mn-ea"/>
              </a:rPr>
              <a:t>NameNode</a:t>
            </a:r>
            <a:r>
              <a:rPr lang="zh-CN" altLang="zh-CN" sz="2400" dirty="0">
                <a:latin typeface="+mn-ea"/>
              </a:rPr>
              <a:t>的指令执行块创建、删除和复制； </a:t>
            </a:r>
          </a:p>
          <a:p>
            <a:endParaRPr lang="zh-CN" altLang="en-US" dirty="0"/>
          </a:p>
        </p:txBody>
      </p:sp>
    </p:spTree>
    <p:extLst>
      <p:ext uri="{BB962C8B-B14F-4D97-AF65-F5344CB8AC3E}">
        <p14:creationId xmlns:p14="http://schemas.microsoft.com/office/powerpoint/2010/main" val="12328559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80A02C-FC3F-42D7-B4F8-AFC758890517}"/>
              </a:ext>
            </a:extLst>
          </p:cNvPr>
          <p:cNvSpPr>
            <a:spLocks noGrp="1"/>
          </p:cNvSpPr>
          <p:nvPr>
            <p:ph type="title"/>
          </p:nvPr>
        </p:nvSpPr>
        <p:spPr/>
        <p:txBody>
          <a:bodyPr>
            <a:normAutofit fontScale="90000"/>
          </a:bodyPr>
          <a:lstStyle/>
          <a:p>
            <a:r>
              <a:rPr lang="en-US" altLang="zh-CN" dirty="0"/>
              <a:t>1 Hadoop—Hadoop1.0</a:t>
            </a:r>
            <a:r>
              <a:rPr lang="zh-CN" altLang="en-US" dirty="0"/>
              <a:t>集群组成</a:t>
            </a:r>
          </a:p>
        </p:txBody>
      </p:sp>
      <p:sp>
        <p:nvSpPr>
          <p:cNvPr id="3" name="内容占位符 2">
            <a:extLst>
              <a:ext uri="{FF2B5EF4-FFF2-40B4-BE49-F238E27FC236}">
                <a16:creationId xmlns:a16="http://schemas.microsoft.com/office/drawing/2014/main" id="{A3BAFC1B-ABEC-4C42-A893-4A5B6E56170D}"/>
              </a:ext>
            </a:extLst>
          </p:cNvPr>
          <p:cNvSpPr>
            <a:spLocks noGrp="1"/>
          </p:cNvSpPr>
          <p:nvPr>
            <p:ph idx="1"/>
          </p:nvPr>
        </p:nvSpPr>
        <p:spPr>
          <a:xfrm>
            <a:off x="251520" y="903050"/>
            <a:ext cx="8229600" cy="3900948"/>
          </a:xfrm>
        </p:spPr>
        <p:txBody>
          <a:bodyPr>
            <a:normAutofit/>
          </a:bodyPr>
          <a:lstStyle/>
          <a:p>
            <a:pPr marL="0" indent="0">
              <a:lnSpc>
                <a:spcPct val="120000"/>
              </a:lnSpc>
              <a:buNone/>
            </a:pPr>
            <a:r>
              <a:rPr lang="en-US" altLang="zh-CN" b="1"/>
              <a:t>JobTracker</a:t>
            </a:r>
            <a:r>
              <a:rPr lang="zh-CN" altLang="en-US" b="1"/>
              <a:t>和</a:t>
            </a:r>
            <a:r>
              <a:rPr lang="en-US" altLang="zh-CN" b="1"/>
              <a:t>TaskTracker</a:t>
            </a:r>
          </a:p>
          <a:p>
            <a:pPr>
              <a:lnSpc>
                <a:spcPct val="120000"/>
              </a:lnSpc>
            </a:pPr>
            <a:r>
              <a:rPr lang="en-US" altLang="zh-CN" sz="2600"/>
              <a:t>JobTracker</a:t>
            </a:r>
            <a:r>
              <a:rPr lang="zh-CN" altLang="zh-CN" sz="2600"/>
              <a:t>和</a:t>
            </a:r>
            <a:r>
              <a:rPr lang="en-US" altLang="zh-CN" sz="2600"/>
              <a:t>TaskTracker</a:t>
            </a:r>
            <a:r>
              <a:rPr lang="zh-CN" altLang="en-US" sz="2600"/>
              <a:t>用于</a:t>
            </a:r>
            <a:r>
              <a:rPr lang="zh-CN" altLang="zh-CN" sz="2600"/>
              <a:t>任务调度</a:t>
            </a:r>
            <a:r>
              <a:rPr lang="zh-CN" altLang="en-US" sz="2600"/>
              <a:t>；</a:t>
            </a:r>
            <a:endParaRPr lang="en-US" altLang="zh-CN" sz="2600" dirty="0"/>
          </a:p>
          <a:p>
            <a:pPr>
              <a:lnSpc>
                <a:spcPct val="120000"/>
              </a:lnSpc>
            </a:pPr>
            <a:r>
              <a:rPr lang="en-US" altLang="zh-CN" sz="2600"/>
              <a:t>JobTracker</a:t>
            </a:r>
            <a:r>
              <a:rPr lang="zh-CN" altLang="zh-CN" sz="2600" dirty="0"/>
              <a:t>负责资源管理、</a:t>
            </a:r>
            <a:r>
              <a:rPr lang="zh-CN" altLang="zh-CN" sz="2600"/>
              <a:t>任务调度</a:t>
            </a:r>
            <a:endParaRPr lang="en-US" altLang="zh-CN" sz="2600"/>
          </a:p>
          <a:p>
            <a:pPr>
              <a:lnSpc>
                <a:spcPct val="120000"/>
              </a:lnSpc>
            </a:pPr>
            <a:r>
              <a:rPr lang="en-US" altLang="zh-CN" sz="2600"/>
              <a:t>TaskTracker</a:t>
            </a:r>
            <a:r>
              <a:rPr lang="zh-CN" altLang="zh-CN" sz="2600" dirty="0"/>
              <a:t>负责管理被分到</a:t>
            </a:r>
            <a:r>
              <a:rPr lang="en-US" altLang="zh-CN" sz="2600" dirty="0" err="1"/>
              <a:t>DataNode</a:t>
            </a:r>
            <a:r>
              <a:rPr lang="zh-CN" altLang="zh-CN" sz="2600" dirty="0"/>
              <a:t>的计算任务、</a:t>
            </a:r>
            <a:r>
              <a:rPr lang="zh-CN" altLang="zh-CN" sz="2600"/>
              <a:t>资源汇报</a:t>
            </a:r>
            <a:endParaRPr lang="en-US" altLang="zh-CN" sz="2600"/>
          </a:p>
          <a:p>
            <a:pPr>
              <a:lnSpc>
                <a:spcPct val="120000"/>
              </a:lnSpc>
            </a:pPr>
            <a:r>
              <a:rPr lang="en-US" altLang="zh-CN" sz="2600"/>
              <a:t>TaskTracker</a:t>
            </a:r>
            <a:r>
              <a:rPr lang="zh-CN" altLang="zh-CN" sz="2600" dirty="0"/>
              <a:t>与</a:t>
            </a:r>
            <a:r>
              <a:rPr lang="en-US" altLang="zh-CN" sz="2600" dirty="0" err="1"/>
              <a:t>JobTracker</a:t>
            </a:r>
            <a:r>
              <a:rPr lang="zh-CN" altLang="zh-CN" sz="2600" dirty="0"/>
              <a:t>之间维持心跳，实时汇报当前</a:t>
            </a:r>
            <a:r>
              <a:rPr lang="en-US" altLang="zh-CN" sz="2600" dirty="0" err="1"/>
              <a:t>DataNode</a:t>
            </a:r>
            <a:r>
              <a:rPr lang="zh-CN" altLang="zh-CN" sz="2600" dirty="0"/>
              <a:t>资源所</a:t>
            </a:r>
            <a:r>
              <a:rPr lang="zh-CN" altLang="zh-CN" sz="2600"/>
              <a:t>剩情况。</a:t>
            </a:r>
            <a:endParaRPr lang="en-US" altLang="zh-CN" sz="2600"/>
          </a:p>
        </p:txBody>
      </p:sp>
    </p:spTree>
    <p:extLst>
      <p:ext uri="{BB962C8B-B14F-4D97-AF65-F5344CB8AC3E}">
        <p14:creationId xmlns:p14="http://schemas.microsoft.com/office/powerpoint/2010/main" val="34873577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80A02C-FC3F-42D7-B4F8-AFC758890517}"/>
              </a:ext>
            </a:extLst>
          </p:cNvPr>
          <p:cNvSpPr>
            <a:spLocks noGrp="1"/>
          </p:cNvSpPr>
          <p:nvPr>
            <p:ph type="title"/>
          </p:nvPr>
        </p:nvSpPr>
        <p:spPr/>
        <p:txBody>
          <a:bodyPr>
            <a:normAutofit fontScale="90000"/>
          </a:bodyPr>
          <a:lstStyle/>
          <a:p>
            <a:r>
              <a:rPr lang="en-US" altLang="zh-CN" dirty="0"/>
              <a:t>1 Hadoop—Hadoop1.0</a:t>
            </a:r>
            <a:r>
              <a:rPr lang="zh-CN" altLang="en-US" dirty="0"/>
              <a:t>集群组成</a:t>
            </a:r>
          </a:p>
        </p:txBody>
      </p:sp>
      <p:sp>
        <p:nvSpPr>
          <p:cNvPr id="3" name="内容占位符 2">
            <a:extLst>
              <a:ext uri="{FF2B5EF4-FFF2-40B4-BE49-F238E27FC236}">
                <a16:creationId xmlns:a16="http://schemas.microsoft.com/office/drawing/2014/main" id="{A3BAFC1B-ABEC-4C42-A893-4A5B6E56170D}"/>
              </a:ext>
            </a:extLst>
          </p:cNvPr>
          <p:cNvSpPr>
            <a:spLocks noGrp="1"/>
          </p:cNvSpPr>
          <p:nvPr>
            <p:ph idx="1"/>
          </p:nvPr>
        </p:nvSpPr>
        <p:spPr>
          <a:xfrm>
            <a:off x="251520" y="903050"/>
            <a:ext cx="8229600" cy="4248472"/>
          </a:xfrm>
        </p:spPr>
        <p:txBody>
          <a:bodyPr>
            <a:normAutofit/>
          </a:bodyPr>
          <a:lstStyle/>
          <a:p>
            <a:pPr marL="0" indent="0" hangingPunct="0">
              <a:buNone/>
            </a:pPr>
            <a:r>
              <a:rPr lang="en-US" altLang="zh-CN" sz="2800" b="1" dirty="0" err="1"/>
              <a:t>JobTracker</a:t>
            </a:r>
            <a:r>
              <a:rPr lang="zh-CN" altLang="zh-CN" sz="2800" b="1" dirty="0"/>
              <a:t>（作业追踪器）</a:t>
            </a:r>
            <a:endParaRPr lang="zh-CN" altLang="zh-CN" sz="2800" dirty="0"/>
          </a:p>
          <a:p>
            <a:pPr lvl="0" hangingPunct="0"/>
            <a:r>
              <a:rPr lang="en-US" altLang="zh-CN" sz="2600" dirty="0" err="1"/>
              <a:t>JobTracker</a:t>
            </a:r>
            <a:r>
              <a:rPr lang="zh-CN" altLang="zh-CN" sz="2600" dirty="0"/>
              <a:t>的作用是接受来自客户端的</a:t>
            </a:r>
            <a:r>
              <a:rPr lang="en-US" altLang="zh-CN" sz="2600" dirty="0"/>
              <a:t>MapReduce</a:t>
            </a:r>
            <a:r>
              <a:rPr lang="zh-CN" altLang="zh-CN" sz="2600" dirty="0"/>
              <a:t>作业，并使用</a:t>
            </a:r>
            <a:r>
              <a:rPr lang="en-US" altLang="zh-CN" sz="2600" dirty="0" err="1"/>
              <a:t>NameNode</a:t>
            </a:r>
            <a:r>
              <a:rPr lang="zh-CN" altLang="zh-CN" sz="2600" dirty="0"/>
              <a:t>处理数据。</a:t>
            </a:r>
            <a:r>
              <a:rPr lang="en-US" altLang="zh-CN" sz="2600" dirty="0"/>
              <a:t>              </a:t>
            </a:r>
            <a:endParaRPr lang="zh-CN" altLang="zh-CN" sz="2600" dirty="0"/>
          </a:p>
          <a:p>
            <a:pPr lvl="0" hangingPunct="0"/>
            <a:r>
              <a:rPr lang="zh-CN" altLang="zh-CN" sz="2600" dirty="0"/>
              <a:t>作为响应，</a:t>
            </a:r>
            <a:r>
              <a:rPr lang="en-US" altLang="zh-CN" sz="2600" dirty="0" err="1"/>
              <a:t>NameNode</a:t>
            </a:r>
            <a:r>
              <a:rPr lang="zh-CN" altLang="zh-CN" sz="2600" dirty="0"/>
              <a:t>向</a:t>
            </a:r>
            <a:r>
              <a:rPr lang="en-US" altLang="zh-CN" sz="2600" dirty="0" err="1"/>
              <a:t>JobTracker</a:t>
            </a:r>
            <a:r>
              <a:rPr lang="zh-CN" altLang="zh-CN" sz="2600" dirty="0"/>
              <a:t>提供元数据。</a:t>
            </a:r>
            <a:r>
              <a:rPr lang="en-US" altLang="zh-CN" sz="2600" dirty="0"/>
              <a:t>              </a:t>
            </a:r>
            <a:endParaRPr lang="zh-CN" altLang="zh-CN" sz="2600" dirty="0"/>
          </a:p>
          <a:p>
            <a:pPr marL="0" indent="0" hangingPunct="0">
              <a:buNone/>
            </a:pPr>
            <a:r>
              <a:rPr lang="en-US" altLang="zh-CN" sz="2800" b="1" dirty="0" err="1"/>
              <a:t>TaskTracker</a:t>
            </a:r>
            <a:r>
              <a:rPr lang="zh-CN" altLang="zh-CN" sz="2800" b="1" dirty="0"/>
              <a:t>（任务追踪）</a:t>
            </a:r>
            <a:endParaRPr lang="zh-CN" altLang="zh-CN" sz="2800" dirty="0"/>
          </a:p>
          <a:p>
            <a:pPr lvl="0" hangingPunct="0"/>
            <a:r>
              <a:rPr lang="en-US" altLang="zh-CN" sz="2400" dirty="0" err="1"/>
              <a:t>TaskTracker</a:t>
            </a:r>
            <a:r>
              <a:rPr lang="zh-CN" altLang="zh-CN" sz="2400" dirty="0"/>
              <a:t>作为</a:t>
            </a:r>
            <a:r>
              <a:rPr lang="en-US" altLang="zh-CN" sz="2400" dirty="0" err="1"/>
              <a:t>JobTracker</a:t>
            </a:r>
            <a:r>
              <a:rPr lang="zh-CN" altLang="zh-CN" sz="2400" dirty="0"/>
              <a:t>的从属节点。</a:t>
            </a:r>
          </a:p>
          <a:p>
            <a:pPr lvl="0" hangingPunct="0"/>
            <a:r>
              <a:rPr lang="en-US" altLang="zh-CN" sz="2400" dirty="0" err="1"/>
              <a:t>TaskTracker</a:t>
            </a:r>
            <a:r>
              <a:rPr lang="zh-CN" altLang="zh-CN" sz="2400" dirty="0"/>
              <a:t>从</a:t>
            </a:r>
            <a:r>
              <a:rPr lang="en-US" altLang="zh-CN" sz="2400" dirty="0" err="1"/>
              <a:t>JobTracker</a:t>
            </a:r>
            <a:r>
              <a:rPr lang="zh-CN" altLang="zh-CN" sz="2400" dirty="0"/>
              <a:t>接收任务和代码，并将这些代码用于处理文件数据，这个过程也可以称为</a:t>
            </a:r>
            <a:r>
              <a:rPr lang="en-US" altLang="zh-CN" sz="2400" dirty="0"/>
              <a:t>Mapper</a:t>
            </a:r>
            <a:r>
              <a:rPr lang="zh-CN" altLang="zh-CN" sz="2400" dirty="0"/>
              <a:t>。</a:t>
            </a:r>
          </a:p>
          <a:p>
            <a:pPr marL="0" indent="0">
              <a:lnSpc>
                <a:spcPct val="120000"/>
              </a:lnSpc>
              <a:buNone/>
            </a:pPr>
            <a:endParaRPr lang="zh-CN" altLang="en-US" sz="3500" dirty="0"/>
          </a:p>
        </p:txBody>
      </p:sp>
    </p:spTree>
    <p:extLst>
      <p:ext uri="{BB962C8B-B14F-4D97-AF65-F5344CB8AC3E}">
        <p14:creationId xmlns:p14="http://schemas.microsoft.com/office/powerpoint/2010/main" val="32481289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80A02C-FC3F-42D7-B4F8-AFC758890517}"/>
              </a:ext>
            </a:extLst>
          </p:cNvPr>
          <p:cNvSpPr>
            <a:spLocks noGrp="1"/>
          </p:cNvSpPr>
          <p:nvPr>
            <p:ph type="title"/>
          </p:nvPr>
        </p:nvSpPr>
        <p:spPr/>
        <p:txBody>
          <a:bodyPr>
            <a:normAutofit fontScale="90000"/>
          </a:bodyPr>
          <a:lstStyle/>
          <a:p>
            <a:r>
              <a:rPr lang="en-US" altLang="zh-CN" dirty="0"/>
              <a:t>1 Hadoop—Hadoop1.0</a:t>
            </a:r>
            <a:r>
              <a:rPr lang="zh-CN" altLang="en-US" dirty="0"/>
              <a:t>集群组成</a:t>
            </a:r>
          </a:p>
        </p:txBody>
      </p:sp>
      <p:sp>
        <p:nvSpPr>
          <p:cNvPr id="3" name="内容占位符 2">
            <a:extLst>
              <a:ext uri="{FF2B5EF4-FFF2-40B4-BE49-F238E27FC236}">
                <a16:creationId xmlns:a16="http://schemas.microsoft.com/office/drawing/2014/main" id="{A3BAFC1B-ABEC-4C42-A893-4A5B6E56170D}"/>
              </a:ext>
            </a:extLst>
          </p:cNvPr>
          <p:cNvSpPr>
            <a:spLocks noGrp="1"/>
          </p:cNvSpPr>
          <p:nvPr>
            <p:ph idx="1"/>
          </p:nvPr>
        </p:nvSpPr>
        <p:spPr>
          <a:xfrm>
            <a:off x="251520" y="895028"/>
            <a:ext cx="8640960" cy="4248472"/>
          </a:xfrm>
        </p:spPr>
        <p:txBody>
          <a:bodyPr>
            <a:normAutofit/>
          </a:bodyPr>
          <a:lstStyle/>
          <a:p>
            <a:pPr marL="0" indent="0">
              <a:lnSpc>
                <a:spcPct val="120000"/>
              </a:lnSpc>
              <a:buNone/>
            </a:pPr>
            <a:r>
              <a:rPr lang="en-US" altLang="zh-CN" sz="2800" b="1" dirty="0"/>
              <a:t>Hadoop 1.0</a:t>
            </a:r>
            <a:r>
              <a:rPr lang="zh-CN" altLang="zh-CN" sz="2800" b="1" dirty="0"/>
              <a:t>的</a:t>
            </a:r>
            <a:r>
              <a:rPr lang="en-US" altLang="zh-CN" sz="2800" b="1" dirty="0" err="1"/>
              <a:t>JobTracker</a:t>
            </a:r>
            <a:r>
              <a:rPr lang="zh-CN" altLang="en-US" sz="2800" b="1" dirty="0"/>
              <a:t>存在的</a:t>
            </a:r>
            <a:r>
              <a:rPr lang="zh-CN" altLang="zh-CN" sz="2800" b="1" dirty="0"/>
              <a:t>问题：</a:t>
            </a:r>
            <a:endParaRPr lang="en-US" altLang="zh-CN" sz="2800" b="1" dirty="0"/>
          </a:p>
          <a:p>
            <a:pPr>
              <a:lnSpc>
                <a:spcPct val="120000"/>
              </a:lnSpc>
            </a:pPr>
            <a:r>
              <a:rPr lang="en-US" altLang="zh-CN" sz="2200" dirty="0" err="1"/>
              <a:t>JobTracker</a:t>
            </a:r>
            <a:r>
              <a:rPr lang="zh-CN" altLang="zh-CN" sz="2200" dirty="0"/>
              <a:t>是单点的，必然存在单点故障问题；</a:t>
            </a:r>
            <a:endParaRPr lang="en-US" altLang="zh-CN" sz="2200" dirty="0"/>
          </a:p>
          <a:p>
            <a:pPr>
              <a:lnSpc>
                <a:spcPct val="120000"/>
              </a:lnSpc>
            </a:pPr>
            <a:r>
              <a:rPr lang="zh-CN" altLang="zh-CN" sz="2200" dirty="0"/>
              <a:t>因为</a:t>
            </a:r>
            <a:r>
              <a:rPr lang="en-US" altLang="zh-CN" sz="2200" dirty="0" err="1"/>
              <a:t>JobTracker</a:t>
            </a:r>
            <a:r>
              <a:rPr lang="zh-CN" altLang="zh-CN" sz="2200" dirty="0"/>
              <a:t>集成了资源管理和任务调度，存在压力过大的问题；</a:t>
            </a:r>
            <a:endParaRPr lang="en-US" altLang="zh-CN" sz="2200" dirty="0"/>
          </a:p>
          <a:p>
            <a:pPr>
              <a:lnSpc>
                <a:spcPct val="120000"/>
              </a:lnSpc>
            </a:pPr>
            <a:r>
              <a:rPr lang="zh-CN" altLang="zh-CN" sz="2200" dirty="0"/>
              <a:t>若有新的非</a:t>
            </a:r>
            <a:r>
              <a:rPr lang="en-US" altLang="zh-CN" sz="2200" dirty="0"/>
              <a:t>MapReduce</a:t>
            </a:r>
            <a:r>
              <a:rPr lang="zh-CN" altLang="zh-CN" sz="2200" dirty="0"/>
              <a:t>计算框架，则不能复用资源管理，新的计算框架必将各自实现自己的资源管理，从而造成资源竞争。</a:t>
            </a:r>
            <a:endParaRPr lang="zh-CN" altLang="en-US" sz="2200" dirty="0"/>
          </a:p>
        </p:txBody>
      </p:sp>
    </p:spTree>
    <p:extLst>
      <p:ext uri="{BB962C8B-B14F-4D97-AF65-F5344CB8AC3E}">
        <p14:creationId xmlns:p14="http://schemas.microsoft.com/office/powerpoint/2010/main" val="16578453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A6450D-0555-4178-9914-5BBD1A075E9F}"/>
              </a:ext>
            </a:extLst>
          </p:cNvPr>
          <p:cNvSpPr>
            <a:spLocks noGrp="1"/>
          </p:cNvSpPr>
          <p:nvPr>
            <p:ph type="title"/>
          </p:nvPr>
        </p:nvSpPr>
        <p:spPr>
          <a:xfrm>
            <a:off x="35496" y="278847"/>
            <a:ext cx="7668344" cy="540060"/>
          </a:xfrm>
        </p:spPr>
        <p:txBody>
          <a:bodyPr>
            <a:normAutofit fontScale="90000"/>
          </a:bodyPr>
          <a:lstStyle/>
          <a:p>
            <a:r>
              <a:rPr lang="en-US" altLang="zh-CN" dirty="0"/>
              <a:t>1 Hadoop— </a:t>
            </a:r>
            <a:r>
              <a:rPr lang="en-US" altLang="zh-CN" dirty="0">
                <a:effectLst/>
              </a:rPr>
              <a:t>Hadoop 2.0</a:t>
            </a:r>
            <a:r>
              <a:rPr lang="zh-CN" altLang="zh-CN" dirty="0">
                <a:effectLst/>
              </a:rPr>
              <a:t>中</a:t>
            </a:r>
            <a:r>
              <a:rPr lang="en-US" altLang="zh-CN" dirty="0">
                <a:effectLst/>
              </a:rPr>
              <a:t>Yarn</a:t>
            </a:r>
            <a:r>
              <a:rPr lang="zh-CN" altLang="zh-CN" dirty="0">
                <a:effectLst/>
              </a:rPr>
              <a:t>模型</a:t>
            </a:r>
            <a:endParaRPr lang="zh-CN" altLang="en-US" dirty="0"/>
          </a:p>
        </p:txBody>
      </p:sp>
      <p:sp>
        <p:nvSpPr>
          <p:cNvPr id="3" name="内容占位符 2">
            <a:extLst>
              <a:ext uri="{FF2B5EF4-FFF2-40B4-BE49-F238E27FC236}">
                <a16:creationId xmlns:a16="http://schemas.microsoft.com/office/drawing/2014/main" id="{337108B2-D3E1-440D-8D88-6B2605404E27}"/>
              </a:ext>
            </a:extLst>
          </p:cNvPr>
          <p:cNvSpPr>
            <a:spLocks noGrp="1"/>
          </p:cNvSpPr>
          <p:nvPr>
            <p:ph idx="1"/>
          </p:nvPr>
        </p:nvSpPr>
        <p:spPr>
          <a:xfrm>
            <a:off x="457200" y="1200151"/>
            <a:ext cx="8075240" cy="3394472"/>
          </a:xfrm>
        </p:spPr>
        <p:txBody>
          <a:bodyPr>
            <a:normAutofit fontScale="85000" lnSpcReduction="20000"/>
          </a:bodyPr>
          <a:lstStyle/>
          <a:p>
            <a:pPr>
              <a:lnSpc>
                <a:spcPct val="120000"/>
              </a:lnSpc>
            </a:pPr>
            <a:r>
              <a:rPr lang="en-US" altLang="zh-CN" sz="2800" b="1" dirty="0"/>
              <a:t>Hadoop 2.x </a:t>
            </a:r>
            <a:r>
              <a:rPr lang="zh-CN" altLang="zh-CN" sz="2800" b="1" dirty="0"/>
              <a:t>中引入了全新的资源调度方案</a:t>
            </a:r>
            <a:r>
              <a:rPr lang="en-US" altLang="zh-CN" sz="2800" b="1" dirty="0"/>
              <a:t>Yarn</a:t>
            </a:r>
            <a:r>
              <a:rPr lang="zh-CN" altLang="zh-CN" sz="2800" dirty="0"/>
              <a:t>，</a:t>
            </a:r>
            <a:r>
              <a:rPr lang="en-US" altLang="zh-CN" sz="2800" dirty="0"/>
              <a:t>Yarn</a:t>
            </a:r>
            <a:r>
              <a:rPr lang="zh-CN" altLang="zh-CN" sz="2800" dirty="0"/>
              <a:t>将资源管理和任务调度分开，解耦了</a:t>
            </a:r>
            <a:r>
              <a:rPr lang="en-US" altLang="zh-CN" sz="2800" dirty="0" err="1"/>
              <a:t>JobTracker</a:t>
            </a:r>
            <a:r>
              <a:rPr lang="zh-CN" altLang="zh-CN" sz="2800" dirty="0"/>
              <a:t>的功能。</a:t>
            </a:r>
            <a:endParaRPr lang="en-US" altLang="zh-CN" sz="2800" dirty="0"/>
          </a:p>
          <a:p>
            <a:pPr>
              <a:lnSpc>
                <a:spcPct val="120000"/>
              </a:lnSpc>
            </a:pPr>
            <a:r>
              <a:rPr lang="en-US" altLang="zh-CN" sz="2800" dirty="0"/>
              <a:t>Yarn</a:t>
            </a:r>
            <a:r>
              <a:rPr lang="zh-CN" altLang="zh-CN" sz="2800" dirty="0"/>
              <a:t>与</a:t>
            </a:r>
            <a:r>
              <a:rPr lang="en-US" altLang="zh-CN" sz="2800" dirty="0"/>
              <a:t>MapReduce</a:t>
            </a:r>
            <a:r>
              <a:rPr lang="zh-CN" altLang="zh-CN" sz="2800" dirty="0"/>
              <a:t>无关，</a:t>
            </a:r>
            <a:r>
              <a:rPr lang="en-US" altLang="zh-CN" sz="2800" dirty="0"/>
              <a:t>Yarn</a:t>
            </a:r>
            <a:r>
              <a:rPr lang="zh-CN" altLang="zh-CN" sz="2800" dirty="0"/>
              <a:t>是独立的资源层，除了支持</a:t>
            </a:r>
            <a:r>
              <a:rPr lang="en-US" altLang="zh-CN" sz="2800" dirty="0"/>
              <a:t>MapReduce</a:t>
            </a:r>
            <a:r>
              <a:rPr lang="zh-CN" altLang="zh-CN" sz="2800" dirty="0"/>
              <a:t>计算框架，还支持</a:t>
            </a:r>
            <a:r>
              <a:rPr lang="en-US" altLang="zh-CN" sz="2800" dirty="0"/>
              <a:t>Spark</a:t>
            </a:r>
            <a:r>
              <a:rPr lang="zh-CN" altLang="zh-CN" sz="2800" dirty="0"/>
              <a:t>等其他计算模型，从而增强了资源的统一管理和调度。</a:t>
            </a:r>
            <a:endParaRPr lang="en-US" altLang="zh-CN" sz="2800" dirty="0"/>
          </a:p>
          <a:p>
            <a:pPr>
              <a:lnSpc>
                <a:spcPct val="120000"/>
              </a:lnSpc>
            </a:pPr>
            <a:r>
              <a:rPr lang="en-US" altLang="zh-CN" sz="2800" dirty="0"/>
              <a:t>Yarn</a:t>
            </a:r>
            <a:r>
              <a:rPr lang="zh-CN" altLang="zh-CN" sz="2800" dirty="0"/>
              <a:t>从整体上还是属于</a:t>
            </a:r>
            <a:r>
              <a:rPr lang="en-US" altLang="zh-CN" sz="2800" dirty="0"/>
              <a:t>master/slave</a:t>
            </a:r>
            <a:r>
              <a:rPr lang="zh-CN" altLang="zh-CN" sz="2800" dirty="0"/>
              <a:t>模型，主要依赖于</a:t>
            </a:r>
            <a:r>
              <a:rPr lang="en-US" altLang="zh-CN" sz="2800" dirty="0" err="1"/>
              <a:t>ResourceManager</a:t>
            </a:r>
            <a:r>
              <a:rPr lang="zh-CN" altLang="zh-CN" sz="2800" dirty="0"/>
              <a:t>、</a:t>
            </a:r>
            <a:r>
              <a:rPr lang="en-US" altLang="zh-CN" sz="2800" err="1"/>
              <a:t>NodeManager</a:t>
            </a:r>
            <a:r>
              <a:rPr lang="zh-CN" altLang="zh-CN" sz="2800"/>
              <a:t>、</a:t>
            </a:r>
            <a:r>
              <a:rPr lang="en-US" altLang="zh-CN" sz="2800"/>
              <a:t>ApplicationMaster</a:t>
            </a:r>
            <a:r>
              <a:rPr lang="zh-CN" altLang="zh-CN" sz="2800" dirty="0"/>
              <a:t>三个组件来实现功能</a:t>
            </a:r>
            <a:endParaRPr lang="zh-CN" altLang="en-US" sz="2800" dirty="0"/>
          </a:p>
        </p:txBody>
      </p:sp>
      <p:sp>
        <p:nvSpPr>
          <p:cNvPr id="4" name="对话气泡: 圆角矩形 3">
            <a:extLst>
              <a:ext uri="{FF2B5EF4-FFF2-40B4-BE49-F238E27FC236}">
                <a16:creationId xmlns:a16="http://schemas.microsoft.com/office/drawing/2014/main" id="{619559A5-F6A0-4D00-8121-370BF606B9B2}"/>
              </a:ext>
            </a:extLst>
          </p:cNvPr>
          <p:cNvSpPr/>
          <p:nvPr/>
        </p:nvSpPr>
        <p:spPr>
          <a:xfrm>
            <a:off x="2051720" y="4594623"/>
            <a:ext cx="1224136" cy="381244"/>
          </a:xfrm>
          <a:prstGeom prst="wedgeRoundRectCallout">
            <a:avLst>
              <a:gd name="adj1" fmla="val -9230"/>
              <a:gd name="adj2" fmla="val -222366"/>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b="1" dirty="0" err="1"/>
              <a:t>JobTracke</a:t>
            </a:r>
            <a:endParaRPr lang="zh-CN" altLang="en-US" dirty="0"/>
          </a:p>
        </p:txBody>
      </p:sp>
      <p:sp>
        <p:nvSpPr>
          <p:cNvPr id="5" name="对话气泡: 圆角矩形 4">
            <a:extLst>
              <a:ext uri="{FF2B5EF4-FFF2-40B4-BE49-F238E27FC236}">
                <a16:creationId xmlns:a16="http://schemas.microsoft.com/office/drawing/2014/main" id="{BC56B4A8-5175-47D3-8E55-16CDAD3D3CE5}"/>
              </a:ext>
            </a:extLst>
          </p:cNvPr>
          <p:cNvSpPr/>
          <p:nvPr/>
        </p:nvSpPr>
        <p:spPr>
          <a:xfrm>
            <a:off x="3707904" y="4587974"/>
            <a:ext cx="1368152" cy="381244"/>
          </a:xfrm>
          <a:prstGeom prst="wedgeRoundRectCallout">
            <a:avLst>
              <a:gd name="adj1" fmla="val -9230"/>
              <a:gd name="adj2" fmla="val -222366"/>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b="1" dirty="0" err="1"/>
              <a:t>TaskTracker</a:t>
            </a:r>
            <a:endParaRPr lang="zh-CN" altLang="en-US" dirty="0"/>
          </a:p>
        </p:txBody>
      </p:sp>
      <p:sp>
        <p:nvSpPr>
          <p:cNvPr id="7" name="对话气泡: 圆角矩形 6">
            <a:extLst>
              <a:ext uri="{FF2B5EF4-FFF2-40B4-BE49-F238E27FC236}">
                <a16:creationId xmlns:a16="http://schemas.microsoft.com/office/drawing/2014/main" id="{252EB904-04CE-4513-8961-3123C89816B5}"/>
              </a:ext>
            </a:extLst>
          </p:cNvPr>
          <p:cNvSpPr/>
          <p:nvPr/>
        </p:nvSpPr>
        <p:spPr>
          <a:xfrm>
            <a:off x="6012160" y="4587974"/>
            <a:ext cx="1512168" cy="381244"/>
          </a:xfrm>
          <a:prstGeom prst="wedgeRoundRectCallout">
            <a:avLst>
              <a:gd name="adj1" fmla="val -9230"/>
              <a:gd name="adj2" fmla="val -222366"/>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b="1"/>
              <a:t>作业小组长</a:t>
            </a:r>
            <a:endParaRPr lang="zh-CN" altLang="en-US" dirty="0"/>
          </a:p>
        </p:txBody>
      </p:sp>
    </p:spTree>
    <p:extLst>
      <p:ext uri="{BB962C8B-B14F-4D97-AF65-F5344CB8AC3E}">
        <p14:creationId xmlns:p14="http://schemas.microsoft.com/office/powerpoint/2010/main" val="1854194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A6450D-0555-4178-9914-5BBD1A075E9F}"/>
              </a:ext>
            </a:extLst>
          </p:cNvPr>
          <p:cNvSpPr>
            <a:spLocks noGrp="1"/>
          </p:cNvSpPr>
          <p:nvPr>
            <p:ph type="title"/>
          </p:nvPr>
        </p:nvSpPr>
        <p:spPr>
          <a:xfrm>
            <a:off x="35496" y="278847"/>
            <a:ext cx="7668344" cy="540060"/>
          </a:xfrm>
        </p:spPr>
        <p:txBody>
          <a:bodyPr>
            <a:normAutofit fontScale="90000"/>
          </a:bodyPr>
          <a:lstStyle/>
          <a:p>
            <a:r>
              <a:rPr lang="en-US" altLang="zh-CN" dirty="0"/>
              <a:t>1 Hadoop— </a:t>
            </a:r>
            <a:r>
              <a:rPr lang="en-US" altLang="zh-CN" dirty="0">
                <a:effectLst/>
              </a:rPr>
              <a:t>Hadoop 2.0</a:t>
            </a:r>
            <a:r>
              <a:rPr lang="zh-CN" altLang="zh-CN" dirty="0">
                <a:effectLst/>
              </a:rPr>
              <a:t>中</a:t>
            </a:r>
            <a:r>
              <a:rPr lang="en-US" altLang="zh-CN" dirty="0">
                <a:effectLst/>
              </a:rPr>
              <a:t>Yarn</a:t>
            </a:r>
            <a:r>
              <a:rPr lang="zh-CN" altLang="zh-CN" dirty="0">
                <a:effectLst/>
              </a:rPr>
              <a:t>模型</a:t>
            </a:r>
            <a:endParaRPr lang="zh-CN" altLang="en-US" dirty="0"/>
          </a:p>
        </p:txBody>
      </p:sp>
      <p:pic>
        <p:nvPicPr>
          <p:cNvPr id="6" name="图片 5" descr="See the source image">
            <a:extLst>
              <a:ext uri="{FF2B5EF4-FFF2-40B4-BE49-F238E27FC236}">
                <a16:creationId xmlns:a16="http://schemas.microsoft.com/office/drawing/2014/main" id="{2E22633E-FBDE-498C-A829-19868F913C6E}"/>
              </a:ext>
            </a:extLst>
          </p:cNvPr>
          <p:cNvPicPr/>
          <p:nvPr/>
        </p:nvPicPr>
        <p:blipFill>
          <a:blip r:embed="rId2" cstate="print">
            <a:extLst>
              <a:ext uri="{28A0092B-C50C-407E-A947-70E740481C1C}">
                <a14:useLocalDpi xmlns:a14="http://schemas.microsoft.com/office/drawing/2010/main" val="0"/>
              </a:ext>
            </a:extLst>
          </a:blip>
          <a:srcRect t="17559"/>
          <a:stretch>
            <a:fillRect/>
          </a:stretch>
        </p:blipFill>
        <p:spPr>
          <a:xfrm>
            <a:off x="611560" y="987574"/>
            <a:ext cx="7272808" cy="3805071"/>
          </a:xfrm>
          <a:prstGeom prst="rect">
            <a:avLst/>
          </a:prstGeom>
          <a:noFill/>
          <a:ln>
            <a:noFill/>
          </a:ln>
        </p:spPr>
      </p:pic>
    </p:spTree>
    <p:extLst>
      <p:ext uri="{BB962C8B-B14F-4D97-AF65-F5344CB8AC3E}">
        <p14:creationId xmlns:p14="http://schemas.microsoft.com/office/powerpoint/2010/main" val="16103923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2BCA5A-9621-4C09-B485-5E474B956632}"/>
              </a:ext>
            </a:extLst>
          </p:cNvPr>
          <p:cNvSpPr>
            <a:spLocks noGrp="1"/>
          </p:cNvSpPr>
          <p:nvPr>
            <p:ph type="title"/>
          </p:nvPr>
        </p:nvSpPr>
        <p:spPr/>
        <p:txBody>
          <a:bodyPr>
            <a:normAutofit fontScale="90000"/>
          </a:bodyPr>
          <a:lstStyle/>
          <a:p>
            <a:endParaRPr lang="zh-CN" altLang="en-US"/>
          </a:p>
        </p:txBody>
      </p:sp>
      <p:sp>
        <p:nvSpPr>
          <p:cNvPr id="4" name="内容占位符 3">
            <a:extLst>
              <a:ext uri="{FF2B5EF4-FFF2-40B4-BE49-F238E27FC236}">
                <a16:creationId xmlns:a16="http://schemas.microsoft.com/office/drawing/2014/main" id="{1ED41AAA-A837-44EA-A768-18759694F0FD}"/>
              </a:ext>
            </a:extLst>
          </p:cNvPr>
          <p:cNvSpPr txBox="1">
            <a:spLocks noGrp="1"/>
          </p:cNvSpPr>
          <p:nvPr>
            <p:ph idx="1"/>
          </p:nvPr>
        </p:nvSpPr>
        <p:spPr>
          <a:xfrm>
            <a:off x="395536" y="987574"/>
            <a:ext cx="8229600" cy="3662541"/>
          </a:xfrm>
          <a:prstGeom prst="rect">
            <a:avLst/>
          </a:prstGeom>
          <a:noFill/>
        </p:spPr>
        <p:txBody>
          <a:bodyPr wrap="square" rtlCol="0">
            <a:spAutoFit/>
          </a:bodyPr>
          <a:lstStyle/>
          <a:p>
            <a:r>
              <a:rPr lang="en-US" altLang="zh-CN" sz="2000"/>
              <a:t>1. client</a:t>
            </a:r>
            <a:r>
              <a:rPr lang="zh-CN" altLang="en-US" sz="2000"/>
              <a:t>提交作业给</a:t>
            </a:r>
            <a:r>
              <a:rPr lang="en-US" altLang="zh-CN" sz="2000"/>
              <a:t>Yarn</a:t>
            </a:r>
            <a:r>
              <a:rPr lang="zh-CN" altLang="en-US" sz="2000"/>
              <a:t>后，</a:t>
            </a:r>
            <a:r>
              <a:rPr lang="en-US" altLang="zh-CN" sz="2000"/>
              <a:t>RM</a:t>
            </a:r>
            <a:r>
              <a:rPr lang="zh-CN" altLang="en-US" sz="2000"/>
              <a:t>首先和</a:t>
            </a:r>
            <a:r>
              <a:rPr lang="en-US" altLang="zh-CN" sz="2000"/>
              <a:t>NM</a:t>
            </a:r>
            <a:r>
              <a:rPr lang="zh-CN" altLang="en-US" sz="2000"/>
              <a:t>进行通信，通信的目的是为了给</a:t>
            </a:r>
            <a:r>
              <a:rPr lang="en-US" altLang="zh-CN" sz="2000"/>
              <a:t>APP Mater</a:t>
            </a:r>
            <a:r>
              <a:rPr lang="zh-CN" altLang="en-US" sz="2000"/>
              <a:t>分配第一个容器</a:t>
            </a:r>
            <a:endParaRPr lang="en-US" altLang="zh-CN" sz="2000"/>
          </a:p>
          <a:p>
            <a:r>
              <a:rPr lang="en-US" altLang="zh-CN" sz="2000"/>
              <a:t>2. APP Master</a:t>
            </a:r>
            <a:r>
              <a:rPr lang="zh-CN" altLang="en-US" sz="2000"/>
              <a:t>启动之后会对任务进行拆分，需要多个</a:t>
            </a:r>
            <a:r>
              <a:rPr lang="en-US" altLang="zh-CN" sz="2000"/>
              <a:t>container</a:t>
            </a:r>
            <a:r>
              <a:rPr lang="zh-CN" altLang="en-US" sz="2000"/>
              <a:t>（因为一个</a:t>
            </a:r>
            <a:r>
              <a:rPr lang="en-US" altLang="zh-CN" sz="2000"/>
              <a:t>container</a:t>
            </a:r>
            <a:r>
              <a:rPr lang="zh-CN" altLang="en-US" sz="2000"/>
              <a:t>无法完全执行一个</a:t>
            </a:r>
            <a:r>
              <a:rPr lang="en-US" altLang="zh-CN" sz="2000"/>
              <a:t>Task</a:t>
            </a:r>
            <a:r>
              <a:rPr lang="zh-CN" altLang="en-US" sz="2000"/>
              <a:t>） 在多个容器中执行。因此</a:t>
            </a:r>
            <a:r>
              <a:rPr lang="en-US" altLang="zh-CN" sz="2000"/>
              <a:t>APP Master</a:t>
            </a:r>
            <a:r>
              <a:rPr lang="zh-CN" altLang="en-US" sz="2000"/>
              <a:t>要向</a:t>
            </a:r>
            <a:r>
              <a:rPr lang="en-US" altLang="zh-CN" sz="2000"/>
              <a:t>RM</a:t>
            </a:r>
            <a:r>
              <a:rPr lang="zh-CN" altLang="en-US" sz="2000"/>
              <a:t>发送心跳，向</a:t>
            </a:r>
            <a:r>
              <a:rPr lang="en-US" altLang="zh-CN" sz="2000"/>
              <a:t>RM</a:t>
            </a:r>
            <a:r>
              <a:rPr lang="zh-CN" altLang="en-US" sz="2000"/>
              <a:t>进行申请运行程序的一些容器</a:t>
            </a:r>
            <a:endParaRPr lang="en-US" altLang="zh-CN" sz="2000"/>
          </a:p>
          <a:p>
            <a:r>
              <a:rPr lang="en-US" altLang="zh-CN" sz="2000"/>
              <a:t>3. AM</a:t>
            </a:r>
            <a:r>
              <a:rPr lang="zh-CN" altLang="en-US" sz="2000"/>
              <a:t>要和运行任务的</a:t>
            </a:r>
            <a:r>
              <a:rPr lang="en-US" altLang="zh-CN" sz="2000"/>
              <a:t>container</a:t>
            </a:r>
            <a:r>
              <a:rPr lang="zh-CN" altLang="en-US" sz="2000"/>
              <a:t>保持心跳因为任务运行的成功</a:t>
            </a:r>
            <a:r>
              <a:rPr lang="en-US" altLang="zh-CN" sz="2000"/>
              <a:t>/</a:t>
            </a:r>
            <a:r>
              <a:rPr lang="zh-CN" altLang="en-US" sz="2000"/>
              <a:t>失败的状态</a:t>
            </a:r>
            <a:r>
              <a:rPr lang="en-US" altLang="zh-CN" sz="2000"/>
              <a:t>AM</a:t>
            </a:r>
            <a:r>
              <a:rPr lang="zh-CN" altLang="en-US" sz="2000"/>
              <a:t>必须要知道，知道的前提就是</a:t>
            </a:r>
            <a:r>
              <a:rPr lang="en-US" altLang="zh-CN" sz="2000"/>
              <a:t>AM</a:t>
            </a:r>
            <a:r>
              <a:rPr lang="zh-CN" altLang="en-US" sz="2000"/>
              <a:t>和</a:t>
            </a:r>
            <a:r>
              <a:rPr lang="en-US" altLang="zh-CN" sz="2000"/>
              <a:t>container</a:t>
            </a:r>
            <a:r>
              <a:rPr lang="zh-CN" altLang="en-US" sz="2000"/>
              <a:t>保持心跳关系。</a:t>
            </a:r>
            <a:endParaRPr lang="en-US" altLang="zh-CN" sz="2000"/>
          </a:p>
          <a:p>
            <a:r>
              <a:rPr lang="zh-CN" altLang="en-US" sz="2000"/>
              <a:t>当任务执行完成后，</a:t>
            </a:r>
            <a:r>
              <a:rPr lang="en-US" altLang="zh-CN" sz="2000"/>
              <a:t>AM</a:t>
            </a:r>
            <a:r>
              <a:rPr lang="zh-CN" altLang="en-US" sz="2000"/>
              <a:t>会像</a:t>
            </a:r>
            <a:r>
              <a:rPr lang="en-US" altLang="zh-CN" sz="2000"/>
              <a:t>RM</a:t>
            </a:r>
            <a:r>
              <a:rPr lang="zh-CN" altLang="en-US" sz="2000"/>
              <a:t>进行申请，注销</a:t>
            </a:r>
            <a:r>
              <a:rPr lang="en-US" altLang="zh-CN" sz="2000"/>
              <a:t>container</a:t>
            </a:r>
            <a:r>
              <a:rPr lang="zh-CN" altLang="en-US" sz="2000"/>
              <a:t>，该</a:t>
            </a:r>
            <a:r>
              <a:rPr lang="en-US" altLang="zh-CN" sz="2000"/>
              <a:t>container</a:t>
            </a:r>
            <a:r>
              <a:rPr lang="zh-CN" altLang="en-US" sz="2000"/>
              <a:t>所处的</a:t>
            </a:r>
            <a:r>
              <a:rPr lang="en-US" altLang="zh-CN" sz="2000"/>
              <a:t>NM</a:t>
            </a:r>
            <a:r>
              <a:rPr lang="zh-CN" altLang="en-US" sz="2000"/>
              <a:t>的资源就得到了释放如果任务执行失败，</a:t>
            </a:r>
            <a:r>
              <a:rPr lang="en-US" altLang="zh-CN" sz="2000"/>
              <a:t>AM</a:t>
            </a:r>
            <a:r>
              <a:rPr lang="zh-CN" altLang="en-US" sz="2000"/>
              <a:t>会像</a:t>
            </a:r>
            <a:r>
              <a:rPr lang="en-US" altLang="zh-CN" sz="2000"/>
              <a:t>RM</a:t>
            </a:r>
            <a:r>
              <a:rPr lang="zh-CN" altLang="en-US" sz="2000"/>
              <a:t>进行申请，在另外的节点上启动一个</a:t>
            </a:r>
            <a:r>
              <a:rPr lang="en-US" altLang="zh-CN" sz="2000"/>
              <a:t>container</a:t>
            </a:r>
            <a:r>
              <a:rPr lang="zh-CN" altLang="en-US" sz="2000"/>
              <a:t>运行任务（新的</a:t>
            </a:r>
            <a:r>
              <a:rPr lang="en-US" altLang="zh-CN" sz="2000"/>
              <a:t>container</a:t>
            </a:r>
            <a:r>
              <a:rPr lang="zh-CN" altLang="en-US" sz="2000"/>
              <a:t>只会运行还未运行的任务，运行完的任务是已经得到保存的）</a:t>
            </a:r>
          </a:p>
        </p:txBody>
      </p:sp>
    </p:spTree>
    <p:extLst>
      <p:ext uri="{BB962C8B-B14F-4D97-AF65-F5344CB8AC3E}">
        <p14:creationId xmlns:p14="http://schemas.microsoft.com/office/powerpoint/2010/main" val="3195448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A6450D-0555-4178-9914-5BBD1A075E9F}"/>
              </a:ext>
            </a:extLst>
          </p:cNvPr>
          <p:cNvSpPr>
            <a:spLocks noGrp="1"/>
          </p:cNvSpPr>
          <p:nvPr>
            <p:ph type="title"/>
          </p:nvPr>
        </p:nvSpPr>
        <p:spPr>
          <a:xfrm>
            <a:off x="35496" y="278847"/>
            <a:ext cx="7668344" cy="540060"/>
          </a:xfrm>
        </p:spPr>
        <p:txBody>
          <a:bodyPr>
            <a:normAutofit fontScale="90000"/>
          </a:bodyPr>
          <a:lstStyle/>
          <a:p>
            <a:r>
              <a:rPr lang="en-US" altLang="zh-CN" dirty="0"/>
              <a:t>1 Hadoop— </a:t>
            </a:r>
            <a:r>
              <a:rPr lang="en-US" altLang="zh-CN" dirty="0">
                <a:effectLst/>
              </a:rPr>
              <a:t>Hadoop 2.0</a:t>
            </a:r>
            <a:r>
              <a:rPr lang="zh-CN" altLang="zh-CN" dirty="0">
                <a:effectLst/>
              </a:rPr>
              <a:t>中</a:t>
            </a:r>
            <a:r>
              <a:rPr lang="en-US" altLang="zh-CN" dirty="0">
                <a:effectLst/>
              </a:rPr>
              <a:t>Yarn</a:t>
            </a:r>
            <a:r>
              <a:rPr lang="zh-CN" altLang="zh-CN" dirty="0">
                <a:effectLst/>
              </a:rPr>
              <a:t>模型</a:t>
            </a:r>
            <a:endParaRPr lang="zh-CN" altLang="en-US" dirty="0"/>
          </a:p>
        </p:txBody>
      </p:sp>
      <p:sp>
        <p:nvSpPr>
          <p:cNvPr id="3" name="内容占位符 2">
            <a:extLst>
              <a:ext uri="{FF2B5EF4-FFF2-40B4-BE49-F238E27FC236}">
                <a16:creationId xmlns:a16="http://schemas.microsoft.com/office/drawing/2014/main" id="{337108B2-D3E1-440D-8D88-6B2605404E27}"/>
              </a:ext>
            </a:extLst>
          </p:cNvPr>
          <p:cNvSpPr>
            <a:spLocks noGrp="1"/>
          </p:cNvSpPr>
          <p:nvPr>
            <p:ph idx="1"/>
          </p:nvPr>
        </p:nvSpPr>
        <p:spPr>
          <a:xfrm>
            <a:off x="251520" y="1059582"/>
            <a:ext cx="8229600" cy="3394472"/>
          </a:xfrm>
        </p:spPr>
        <p:txBody>
          <a:bodyPr>
            <a:normAutofit fontScale="85000" lnSpcReduction="20000"/>
          </a:bodyPr>
          <a:lstStyle/>
          <a:p>
            <a:pPr hangingPunct="0">
              <a:lnSpc>
                <a:spcPct val="120000"/>
              </a:lnSpc>
            </a:pPr>
            <a:r>
              <a:rPr lang="en-US" altLang="zh-CN" sz="4000" b="1" dirty="0" err="1"/>
              <a:t>ResourceManager</a:t>
            </a:r>
            <a:r>
              <a:rPr lang="en-US" altLang="zh-CN" sz="4000" b="1" dirty="0"/>
              <a:t> </a:t>
            </a:r>
            <a:endParaRPr lang="zh-CN" altLang="zh-CN" sz="4000" b="1" dirty="0"/>
          </a:p>
          <a:p>
            <a:pPr marL="400050" lvl="1" indent="0" hangingPunct="0">
              <a:lnSpc>
                <a:spcPct val="120000"/>
              </a:lnSpc>
              <a:buNone/>
            </a:pPr>
            <a:r>
              <a:rPr lang="en-US" altLang="zh-CN" dirty="0" err="1"/>
              <a:t>ResourceManager</a:t>
            </a:r>
            <a:r>
              <a:rPr lang="en-US" altLang="zh-CN" dirty="0"/>
              <a:t> </a:t>
            </a:r>
            <a:r>
              <a:rPr lang="zh-CN" altLang="zh-CN" dirty="0"/>
              <a:t>拥有系统所有资源分配的决定权，负责集群中所有应用程序的资源分配，拥有集群资源的全局视图，为用户提供公平的、基于容量的、本地化的资源调度，根据程序的需求、调度优先级以及可用资源情况，动态分配特定节点运行应用程序。它与每个节点上的</a:t>
            </a:r>
            <a:r>
              <a:rPr lang="en-US" altLang="zh-CN" dirty="0" err="1"/>
              <a:t>NodeManager</a:t>
            </a:r>
            <a:r>
              <a:rPr lang="zh-CN" altLang="zh-CN" dirty="0"/>
              <a:t>和每个应用程序的</a:t>
            </a:r>
            <a:r>
              <a:rPr lang="en-US" altLang="zh-CN" dirty="0" err="1"/>
              <a:t>ApplicationMaster</a:t>
            </a:r>
            <a:r>
              <a:rPr lang="zh-CN" altLang="zh-CN" dirty="0"/>
              <a:t>协调工作。</a:t>
            </a:r>
          </a:p>
        </p:txBody>
      </p:sp>
    </p:spTree>
    <p:extLst>
      <p:ext uri="{BB962C8B-B14F-4D97-AF65-F5344CB8AC3E}">
        <p14:creationId xmlns:p14="http://schemas.microsoft.com/office/powerpoint/2010/main" val="28639237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A6450D-0555-4178-9914-5BBD1A075E9F}"/>
              </a:ext>
            </a:extLst>
          </p:cNvPr>
          <p:cNvSpPr>
            <a:spLocks noGrp="1"/>
          </p:cNvSpPr>
          <p:nvPr>
            <p:ph type="title"/>
          </p:nvPr>
        </p:nvSpPr>
        <p:spPr>
          <a:xfrm>
            <a:off x="35496" y="278847"/>
            <a:ext cx="7668344" cy="540060"/>
          </a:xfrm>
        </p:spPr>
        <p:txBody>
          <a:bodyPr>
            <a:normAutofit fontScale="90000"/>
          </a:bodyPr>
          <a:lstStyle/>
          <a:p>
            <a:r>
              <a:rPr lang="en-US" altLang="zh-CN" dirty="0"/>
              <a:t>1 Hadoop— </a:t>
            </a:r>
            <a:r>
              <a:rPr lang="en-US" altLang="zh-CN" dirty="0">
                <a:effectLst/>
              </a:rPr>
              <a:t>Hadoop 2.0</a:t>
            </a:r>
            <a:r>
              <a:rPr lang="zh-CN" altLang="zh-CN" dirty="0">
                <a:effectLst/>
              </a:rPr>
              <a:t>中</a:t>
            </a:r>
            <a:r>
              <a:rPr lang="en-US" altLang="zh-CN" dirty="0">
                <a:effectLst/>
              </a:rPr>
              <a:t>Yarn</a:t>
            </a:r>
            <a:r>
              <a:rPr lang="zh-CN" altLang="zh-CN" dirty="0">
                <a:effectLst/>
              </a:rPr>
              <a:t>模型</a:t>
            </a:r>
            <a:endParaRPr lang="zh-CN" altLang="en-US" dirty="0"/>
          </a:p>
        </p:txBody>
      </p:sp>
      <p:sp>
        <p:nvSpPr>
          <p:cNvPr id="3" name="内容占位符 2">
            <a:extLst>
              <a:ext uri="{FF2B5EF4-FFF2-40B4-BE49-F238E27FC236}">
                <a16:creationId xmlns:a16="http://schemas.microsoft.com/office/drawing/2014/main" id="{337108B2-D3E1-440D-8D88-6B2605404E27}"/>
              </a:ext>
            </a:extLst>
          </p:cNvPr>
          <p:cNvSpPr>
            <a:spLocks noGrp="1"/>
          </p:cNvSpPr>
          <p:nvPr>
            <p:ph idx="1"/>
          </p:nvPr>
        </p:nvSpPr>
        <p:spPr>
          <a:xfrm>
            <a:off x="457200" y="1131590"/>
            <a:ext cx="8435280" cy="3744416"/>
          </a:xfrm>
        </p:spPr>
        <p:txBody>
          <a:bodyPr>
            <a:normAutofit fontScale="70000" lnSpcReduction="20000"/>
          </a:bodyPr>
          <a:lstStyle/>
          <a:p>
            <a:pPr marL="0" indent="0" hangingPunct="0">
              <a:lnSpc>
                <a:spcPct val="120000"/>
              </a:lnSpc>
              <a:buNone/>
            </a:pPr>
            <a:r>
              <a:rPr lang="en-US" altLang="zh-CN" b="1" dirty="0" err="1"/>
              <a:t>ResourceManager</a:t>
            </a:r>
            <a:r>
              <a:rPr lang="zh-CN" altLang="zh-CN" b="1" dirty="0"/>
              <a:t>主要包含两</a:t>
            </a:r>
            <a:r>
              <a:rPr lang="zh-CN" altLang="zh-CN" b="1"/>
              <a:t>个组件：</a:t>
            </a:r>
            <a:r>
              <a:rPr lang="en-US" altLang="zh-CN" b="1"/>
              <a:t>Scheduler</a:t>
            </a:r>
            <a:r>
              <a:rPr lang="zh-CN" altLang="zh-CN" b="1" dirty="0"/>
              <a:t>和</a:t>
            </a:r>
            <a:r>
              <a:rPr lang="en-US" altLang="zh-CN" b="1" dirty="0" err="1"/>
              <a:t>ApplicationManager</a:t>
            </a:r>
            <a:r>
              <a:rPr lang="zh-CN" altLang="en-US" b="1" dirty="0"/>
              <a:t>：</a:t>
            </a:r>
            <a:endParaRPr lang="zh-CN" altLang="zh-CN" b="1" dirty="0"/>
          </a:p>
          <a:p>
            <a:pPr hangingPunct="0">
              <a:lnSpc>
                <a:spcPct val="120000"/>
              </a:lnSpc>
            </a:pPr>
            <a:r>
              <a:rPr lang="en-US" altLang="zh-CN" dirty="0"/>
              <a:t>Scheduler</a:t>
            </a:r>
            <a:r>
              <a:rPr lang="zh-CN" altLang="zh-CN" dirty="0"/>
              <a:t>是一个可插拔的插件，负责运行中的各个应用程序的资源分配，受资源容量、队列以及其他因素</a:t>
            </a:r>
            <a:r>
              <a:rPr lang="zh-CN" altLang="zh-CN"/>
              <a:t>的影响</a:t>
            </a:r>
            <a:r>
              <a:rPr lang="zh-CN" altLang="en-US"/>
              <a:t>；</a:t>
            </a:r>
            <a:endParaRPr lang="en-US" altLang="zh-CN"/>
          </a:p>
          <a:p>
            <a:pPr hangingPunct="0">
              <a:lnSpc>
                <a:spcPct val="120000"/>
              </a:lnSpc>
            </a:pPr>
            <a:r>
              <a:rPr lang="zh-CN" altLang="en-US"/>
              <a:t>在</a:t>
            </a:r>
            <a:r>
              <a:rPr lang="en-US" altLang="zh-CN"/>
              <a:t>Hadoop</a:t>
            </a:r>
            <a:r>
              <a:rPr lang="zh-CN" altLang="en-US"/>
              <a:t>中资源调度器有三种，默认的调度器是原始的基于队列的先入先出调度器</a:t>
            </a:r>
            <a:r>
              <a:rPr lang="en-US" altLang="zh-CN"/>
              <a:t>(FIFO Scheduler) </a:t>
            </a:r>
            <a:r>
              <a:rPr lang="zh-CN" altLang="en-US"/>
              <a:t>；</a:t>
            </a:r>
            <a:endParaRPr lang="en-US" altLang="zh-CN"/>
          </a:p>
          <a:p>
            <a:pPr hangingPunct="0">
              <a:lnSpc>
                <a:spcPct val="120000"/>
              </a:lnSpc>
            </a:pPr>
            <a:r>
              <a:rPr lang="zh-CN" altLang="en-US"/>
              <a:t>还有两个多用户调度器：公平调度器</a:t>
            </a:r>
            <a:r>
              <a:rPr lang="en-US" altLang="zh-CN"/>
              <a:t>(Fair Scheduler)</a:t>
            </a:r>
            <a:r>
              <a:rPr lang="zh-CN" altLang="en-US"/>
              <a:t>、计算能力调度器</a:t>
            </a:r>
            <a:r>
              <a:rPr lang="en-US" altLang="zh-CN"/>
              <a:t>(Capacity Scheduler)</a:t>
            </a:r>
            <a:r>
              <a:rPr lang="zh-CN" altLang="en-US"/>
              <a:t>；</a:t>
            </a:r>
            <a:endParaRPr lang="zh-CN" altLang="zh-CN" dirty="0"/>
          </a:p>
        </p:txBody>
      </p:sp>
    </p:spTree>
    <p:extLst>
      <p:ext uri="{BB962C8B-B14F-4D97-AF65-F5344CB8AC3E}">
        <p14:creationId xmlns:p14="http://schemas.microsoft.com/office/powerpoint/2010/main" val="326806174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6CBA61-547D-4BE8-A039-A9EC63A58D70}"/>
              </a:ext>
            </a:extLst>
          </p:cNvPr>
          <p:cNvSpPr>
            <a:spLocks noGrp="1"/>
          </p:cNvSpPr>
          <p:nvPr>
            <p:ph type="title"/>
          </p:nvPr>
        </p:nvSpPr>
        <p:spPr/>
        <p:txBody>
          <a:bodyPr>
            <a:normAutofit fontScale="90000"/>
          </a:bodyPr>
          <a:lstStyle/>
          <a:p>
            <a:r>
              <a:rPr lang="en-US" altLang="zh-CN" dirty="0"/>
              <a:t>1 Hadoop— </a:t>
            </a:r>
            <a:r>
              <a:rPr lang="en-US" altLang="zh-CN" dirty="0">
                <a:effectLst/>
              </a:rPr>
              <a:t>Hadoop 2.0</a:t>
            </a:r>
            <a:r>
              <a:rPr lang="zh-CN" altLang="zh-CN" dirty="0">
                <a:effectLst/>
              </a:rPr>
              <a:t>中</a:t>
            </a:r>
            <a:r>
              <a:rPr lang="en-US" altLang="zh-CN" dirty="0">
                <a:effectLst/>
              </a:rPr>
              <a:t>Yarn</a:t>
            </a:r>
            <a:r>
              <a:rPr lang="zh-CN" altLang="zh-CN" dirty="0">
                <a:effectLst/>
              </a:rPr>
              <a:t>模型</a:t>
            </a:r>
            <a:endParaRPr lang="zh-CN" altLang="en-US" dirty="0"/>
          </a:p>
        </p:txBody>
      </p:sp>
      <p:sp>
        <p:nvSpPr>
          <p:cNvPr id="3" name="内容占位符 2">
            <a:extLst>
              <a:ext uri="{FF2B5EF4-FFF2-40B4-BE49-F238E27FC236}">
                <a16:creationId xmlns:a16="http://schemas.microsoft.com/office/drawing/2014/main" id="{7F33DE2D-11B9-48E5-8179-8BF03EF8FCF0}"/>
              </a:ext>
            </a:extLst>
          </p:cNvPr>
          <p:cNvSpPr>
            <a:spLocks noGrp="1"/>
          </p:cNvSpPr>
          <p:nvPr>
            <p:ph idx="1"/>
          </p:nvPr>
        </p:nvSpPr>
        <p:spPr>
          <a:xfrm>
            <a:off x="395536" y="1059582"/>
            <a:ext cx="8064896" cy="3960440"/>
          </a:xfrm>
        </p:spPr>
        <p:txBody>
          <a:bodyPr>
            <a:normAutofit fontScale="55000" lnSpcReduction="20000"/>
          </a:bodyPr>
          <a:lstStyle/>
          <a:p>
            <a:pPr marL="0" indent="0" hangingPunct="0">
              <a:lnSpc>
                <a:spcPct val="120000"/>
              </a:lnSpc>
              <a:buNone/>
            </a:pPr>
            <a:r>
              <a:rPr lang="en-US" altLang="zh-CN" sz="5100" b="1" dirty="0" err="1"/>
              <a:t>ApplicationMaster</a:t>
            </a:r>
            <a:endParaRPr lang="zh-CN" altLang="zh-CN" sz="5100" b="1" dirty="0"/>
          </a:p>
          <a:p>
            <a:pPr hangingPunct="0">
              <a:lnSpc>
                <a:spcPct val="120000"/>
              </a:lnSpc>
            </a:pPr>
            <a:r>
              <a:rPr lang="en-US" altLang="zh-CN" sz="3600" dirty="0" err="1"/>
              <a:t>ApplicationMaster</a:t>
            </a:r>
            <a:r>
              <a:rPr lang="zh-CN" altLang="zh-CN" sz="3600" dirty="0"/>
              <a:t>负责与</a:t>
            </a:r>
            <a:r>
              <a:rPr lang="en-US" altLang="zh-CN" sz="3600" dirty="0"/>
              <a:t>Scheduler</a:t>
            </a:r>
            <a:r>
              <a:rPr lang="zh-CN" altLang="zh-CN" sz="3600" dirty="0"/>
              <a:t>协商合适的</a:t>
            </a:r>
            <a:r>
              <a:rPr lang="en-US" altLang="zh-CN" sz="3600" dirty="0"/>
              <a:t>Container</a:t>
            </a:r>
            <a:r>
              <a:rPr lang="zh-CN" altLang="zh-CN" sz="3600" dirty="0"/>
              <a:t>，跟踪应用程序的状态，以及监控它们的进度，</a:t>
            </a:r>
            <a:r>
              <a:rPr lang="en-US" altLang="zh-CN" sz="3600" dirty="0" err="1"/>
              <a:t>ApplicationMaster</a:t>
            </a:r>
            <a:r>
              <a:rPr lang="zh-CN" altLang="zh-CN" sz="3600" dirty="0"/>
              <a:t>是协调集群中应用程序执行的进程。</a:t>
            </a:r>
            <a:endParaRPr lang="en-US" altLang="zh-CN" sz="3600" dirty="0"/>
          </a:p>
          <a:p>
            <a:pPr hangingPunct="0">
              <a:lnSpc>
                <a:spcPct val="120000"/>
              </a:lnSpc>
            </a:pPr>
            <a:r>
              <a:rPr lang="zh-CN" altLang="zh-CN" sz="3600" dirty="0"/>
              <a:t>每个应用程序都有自己的</a:t>
            </a:r>
            <a:r>
              <a:rPr lang="en-US" altLang="zh-CN" sz="3600" dirty="0" err="1"/>
              <a:t>ApplicationMaster</a:t>
            </a:r>
            <a:r>
              <a:rPr lang="zh-CN" altLang="zh-CN" sz="3600" dirty="0"/>
              <a:t>，负责与</a:t>
            </a:r>
            <a:r>
              <a:rPr lang="en-US" altLang="zh-CN" sz="3600" dirty="0" err="1"/>
              <a:t>ResourceManager</a:t>
            </a:r>
            <a:r>
              <a:rPr lang="zh-CN" altLang="zh-CN" sz="3600" dirty="0"/>
              <a:t>协商资源（</a:t>
            </a:r>
            <a:r>
              <a:rPr lang="en-US" altLang="zh-CN" sz="3600" dirty="0"/>
              <a:t>Container</a:t>
            </a:r>
            <a:r>
              <a:rPr lang="zh-CN" altLang="zh-CN" sz="3600" dirty="0"/>
              <a:t>）和</a:t>
            </a:r>
            <a:r>
              <a:rPr lang="en-US" altLang="zh-CN" sz="3600" dirty="0" err="1"/>
              <a:t>NodeManager</a:t>
            </a:r>
            <a:r>
              <a:rPr lang="zh-CN" altLang="zh-CN" sz="3600" dirty="0"/>
              <a:t>协同工作来执行和监控任务 。</a:t>
            </a:r>
          </a:p>
          <a:p>
            <a:pPr hangingPunct="0">
              <a:lnSpc>
                <a:spcPct val="120000"/>
              </a:lnSpc>
            </a:pPr>
            <a:r>
              <a:rPr lang="zh-CN" altLang="zh-CN" sz="3600" dirty="0"/>
              <a:t>当一个</a:t>
            </a:r>
            <a:r>
              <a:rPr lang="en-US" altLang="zh-CN" sz="3600" dirty="0" err="1"/>
              <a:t>ApplicationMaster</a:t>
            </a:r>
            <a:r>
              <a:rPr lang="zh-CN" altLang="zh-CN" sz="3600" dirty="0"/>
              <a:t>启动后，会周期性的向</a:t>
            </a:r>
            <a:r>
              <a:rPr lang="en-US" altLang="zh-CN" sz="3600" dirty="0" err="1"/>
              <a:t>ResourceManager</a:t>
            </a:r>
            <a:r>
              <a:rPr lang="zh-CN" altLang="zh-CN" sz="3600" dirty="0"/>
              <a:t>发送心跳报告来确认其健康和所需的资源</a:t>
            </a:r>
            <a:r>
              <a:rPr lang="zh-CN" altLang="zh-CN" sz="3600"/>
              <a:t>情况。根据</a:t>
            </a:r>
            <a:r>
              <a:rPr lang="en-US" altLang="zh-CN" sz="3600" dirty="0" err="1"/>
              <a:t>ResourceManager</a:t>
            </a:r>
            <a:r>
              <a:rPr lang="zh-CN" altLang="zh-CN" sz="3600" dirty="0"/>
              <a:t>发来的</a:t>
            </a:r>
            <a:r>
              <a:rPr lang="en-US" altLang="zh-CN" sz="3600" dirty="0"/>
              <a:t>Container</a:t>
            </a:r>
            <a:r>
              <a:rPr lang="zh-CN" altLang="zh-CN" sz="3600" dirty="0"/>
              <a:t>，</a:t>
            </a:r>
            <a:r>
              <a:rPr lang="en-US" altLang="zh-CN" sz="3600" dirty="0" err="1"/>
              <a:t>ApplicationMaster</a:t>
            </a:r>
            <a:r>
              <a:rPr lang="zh-CN" altLang="zh-CN" sz="3600" dirty="0"/>
              <a:t>可以更新它的执行计划以适应资源不足或者过剩，</a:t>
            </a:r>
            <a:r>
              <a:rPr lang="en-US" altLang="zh-CN" sz="3600" dirty="0"/>
              <a:t>Container</a:t>
            </a:r>
            <a:r>
              <a:rPr lang="zh-CN" altLang="zh-CN" sz="3600" dirty="0"/>
              <a:t>可以动态的分配和释放</a:t>
            </a:r>
            <a:r>
              <a:rPr lang="zh-CN" altLang="zh-CN" sz="3600"/>
              <a:t>资源。</a:t>
            </a:r>
            <a:endParaRPr lang="zh-CN" altLang="zh-CN" sz="3600" dirty="0"/>
          </a:p>
        </p:txBody>
      </p:sp>
    </p:spTree>
    <p:extLst>
      <p:ext uri="{BB962C8B-B14F-4D97-AF65-F5344CB8AC3E}">
        <p14:creationId xmlns:p14="http://schemas.microsoft.com/office/powerpoint/2010/main" val="123745769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A6450D-0555-4178-9914-5BBD1A075E9F}"/>
              </a:ext>
            </a:extLst>
          </p:cNvPr>
          <p:cNvSpPr>
            <a:spLocks noGrp="1"/>
          </p:cNvSpPr>
          <p:nvPr>
            <p:ph type="title"/>
          </p:nvPr>
        </p:nvSpPr>
        <p:spPr>
          <a:xfrm>
            <a:off x="35496" y="278847"/>
            <a:ext cx="7668344" cy="540060"/>
          </a:xfrm>
        </p:spPr>
        <p:txBody>
          <a:bodyPr>
            <a:normAutofit fontScale="90000"/>
          </a:bodyPr>
          <a:lstStyle/>
          <a:p>
            <a:r>
              <a:rPr lang="en-US" altLang="zh-CN" dirty="0"/>
              <a:t>1 Hadoop— </a:t>
            </a:r>
            <a:r>
              <a:rPr lang="en-US" altLang="zh-CN" dirty="0">
                <a:effectLst/>
              </a:rPr>
              <a:t>Hadoop 2.0</a:t>
            </a:r>
            <a:r>
              <a:rPr lang="zh-CN" altLang="zh-CN" dirty="0">
                <a:effectLst/>
              </a:rPr>
              <a:t>中</a:t>
            </a:r>
            <a:r>
              <a:rPr lang="en-US" altLang="zh-CN" dirty="0">
                <a:effectLst/>
              </a:rPr>
              <a:t>Yarn</a:t>
            </a:r>
            <a:r>
              <a:rPr lang="zh-CN" altLang="zh-CN" dirty="0">
                <a:effectLst/>
              </a:rPr>
              <a:t>模型</a:t>
            </a:r>
            <a:endParaRPr lang="zh-CN" altLang="en-US" dirty="0"/>
          </a:p>
        </p:txBody>
      </p:sp>
      <p:sp>
        <p:nvSpPr>
          <p:cNvPr id="3" name="内容占位符 2">
            <a:extLst>
              <a:ext uri="{FF2B5EF4-FFF2-40B4-BE49-F238E27FC236}">
                <a16:creationId xmlns:a16="http://schemas.microsoft.com/office/drawing/2014/main" id="{337108B2-D3E1-440D-8D88-6B2605404E27}"/>
              </a:ext>
            </a:extLst>
          </p:cNvPr>
          <p:cNvSpPr>
            <a:spLocks noGrp="1"/>
          </p:cNvSpPr>
          <p:nvPr>
            <p:ph idx="1"/>
          </p:nvPr>
        </p:nvSpPr>
        <p:spPr>
          <a:xfrm>
            <a:off x="457200" y="1131590"/>
            <a:ext cx="8229600" cy="3456384"/>
          </a:xfrm>
        </p:spPr>
        <p:txBody>
          <a:bodyPr>
            <a:normAutofit lnSpcReduction="10000"/>
          </a:bodyPr>
          <a:lstStyle/>
          <a:p>
            <a:pPr hangingPunct="0">
              <a:lnSpc>
                <a:spcPct val="120000"/>
              </a:lnSpc>
            </a:pPr>
            <a:r>
              <a:rPr lang="en-US" altLang="zh-CN" sz="2400" b="1"/>
              <a:t>Container</a:t>
            </a:r>
            <a:r>
              <a:rPr lang="zh-CN" altLang="en-US" sz="2400"/>
              <a:t>是</a:t>
            </a:r>
            <a:r>
              <a:rPr lang="en-US" altLang="zh-CN" sz="2400"/>
              <a:t>Yarn</a:t>
            </a:r>
            <a:r>
              <a:rPr lang="zh-CN" altLang="en-US" sz="2400"/>
              <a:t>框架的计算单元，是具体执行应用</a:t>
            </a:r>
            <a:r>
              <a:rPr lang="en-US" altLang="zh-CN" sz="2400"/>
              <a:t>task</a:t>
            </a:r>
            <a:r>
              <a:rPr lang="zh-CN" altLang="en-US" sz="2400"/>
              <a:t>的基本单位。</a:t>
            </a:r>
            <a:endParaRPr lang="en-US" altLang="zh-CN" sz="2400"/>
          </a:p>
          <a:p>
            <a:pPr hangingPunct="0">
              <a:lnSpc>
                <a:spcPct val="120000"/>
              </a:lnSpc>
            </a:pPr>
            <a:r>
              <a:rPr lang="en-US" altLang="zh-CN" sz="2400"/>
              <a:t>Container</a:t>
            </a:r>
            <a:r>
              <a:rPr lang="zh-CN" altLang="en-US" sz="2400"/>
              <a:t>和集群节点的关系是：一个节点会运行多个</a:t>
            </a:r>
            <a:r>
              <a:rPr lang="en-US" altLang="zh-CN" sz="2400"/>
              <a:t>Container</a:t>
            </a:r>
            <a:r>
              <a:rPr lang="zh-CN" altLang="en-US" sz="2400"/>
              <a:t>，但一个</a:t>
            </a:r>
            <a:r>
              <a:rPr lang="en-US" altLang="zh-CN" sz="2400"/>
              <a:t>Container</a:t>
            </a:r>
            <a:r>
              <a:rPr lang="zh-CN" altLang="en-US" sz="2400"/>
              <a:t>只运行在一个节点上。每个应用程序从</a:t>
            </a:r>
            <a:r>
              <a:rPr lang="en-US" altLang="zh-CN" sz="2400"/>
              <a:t>ApplicationMaster</a:t>
            </a:r>
            <a:r>
              <a:rPr lang="zh-CN" altLang="en-US" sz="2400"/>
              <a:t>开始，它本身就是一个</a:t>
            </a:r>
            <a:r>
              <a:rPr lang="en-US" altLang="zh-CN" sz="2400"/>
              <a:t>Container</a:t>
            </a:r>
            <a:r>
              <a:rPr lang="zh-CN" altLang="en-US" sz="2400"/>
              <a:t>（第</a:t>
            </a:r>
            <a:r>
              <a:rPr lang="en-US" altLang="zh-CN" sz="2400"/>
              <a:t>0</a:t>
            </a:r>
            <a:r>
              <a:rPr lang="zh-CN" altLang="en-US" sz="2400"/>
              <a:t>个），一旦启动，</a:t>
            </a:r>
            <a:r>
              <a:rPr lang="en-US" altLang="zh-CN" sz="2400"/>
              <a:t>ApplicationMaster</a:t>
            </a:r>
            <a:r>
              <a:rPr lang="zh-CN" altLang="en-US" sz="2400"/>
              <a:t>就会根据任务需求与</a:t>
            </a:r>
            <a:r>
              <a:rPr lang="en-US" altLang="zh-CN" sz="2400"/>
              <a:t>ResourceManager</a:t>
            </a:r>
            <a:r>
              <a:rPr lang="zh-CN" altLang="en-US" sz="2400"/>
              <a:t>协商更多的</a:t>
            </a:r>
            <a:r>
              <a:rPr lang="en-US" altLang="zh-CN" sz="2400"/>
              <a:t>Container</a:t>
            </a:r>
            <a:r>
              <a:rPr lang="zh-CN" altLang="en-US" sz="2400"/>
              <a:t>，在运行过程中可以动态释放和申请</a:t>
            </a:r>
            <a:r>
              <a:rPr lang="en-US" altLang="zh-CN" sz="2400"/>
              <a:t>Container</a:t>
            </a:r>
            <a:r>
              <a:rPr lang="zh-CN" altLang="en-US" sz="2400"/>
              <a:t>。</a:t>
            </a:r>
          </a:p>
          <a:p>
            <a:pPr marL="0" indent="0" hangingPunct="0">
              <a:lnSpc>
                <a:spcPct val="120000"/>
              </a:lnSpc>
              <a:buNone/>
            </a:pPr>
            <a:endParaRPr lang="en-US" altLang="zh-CN" sz="2400"/>
          </a:p>
        </p:txBody>
      </p:sp>
    </p:spTree>
    <p:extLst>
      <p:ext uri="{BB962C8B-B14F-4D97-AF65-F5344CB8AC3E}">
        <p14:creationId xmlns:p14="http://schemas.microsoft.com/office/powerpoint/2010/main" val="1670956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88A701-A3FA-4C6D-865D-4A8EF3824A8C}"/>
              </a:ext>
            </a:extLst>
          </p:cNvPr>
          <p:cNvSpPr>
            <a:spLocks noGrp="1"/>
          </p:cNvSpPr>
          <p:nvPr>
            <p:ph type="title"/>
          </p:nvPr>
        </p:nvSpPr>
        <p:spPr/>
        <p:txBody>
          <a:bodyPr>
            <a:normAutofit fontScale="90000"/>
          </a:bodyPr>
          <a:lstStyle/>
          <a:p>
            <a:r>
              <a:rPr lang="en-US" altLang="zh-CN" dirty="0"/>
              <a:t>1 Hadoop— </a:t>
            </a:r>
            <a:r>
              <a:rPr lang="en-US" altLang="zh-CN" dirty="0">
                <a:effectLst/>
              </a:rPr>
              <a:t>Hadoop 2.0</a:t>
            </a:r>
            <a:r>
              <a:rPr lang="zh-CN" altLang="zh-CN" dirty="0">
                <a:effectLst/>
              </a:rPr>
              <a:t>中</a:t>
            </a:r>
            <a:r>
              <a:rPr lang="en-US" altLang="zh-CN" dirty="0">
                <a:effectLst/>
              </a:rPr>
              <a:t>Yarn</a:t>
            </a:r>
            <a:r>
              <a:rPr lang="zh-CN" altLang="zh-CN" dirty="0">
                <a:effectLst/>
              </a:rPr>
              <a:t>模型</a:t>
            </a:r>
            <a:endParaRPr lang="zh-CN" altLang="en-US" dirty="0"/>
          </a:p>
        </p:txBody>
      </p:sp>
      <p:sp>
        <p:nvSpPr>
          <p:cNvPr id="3" name="内容占位符 2">
            <a:extLst>
              <a:ext uri="{FF2B5EF4-FFF2-40B4-BE49-F238E27FC236}">
                <a16:creationId xmlns:a16="http://schemas.microsoft.com/office/drawing/2014/main" id="{BE58D54A-A373-41E2-A7AE-1F1615E88DDB}"/>
              </a:ext>
            </a:extLst>
          </p:cNvPr>
          <p:cNvSpPr>
            <a:spLocks noGrp="1"/>
          </p:cNvSpPr>
          <p:nvPr>
            <p:ph idx="1"/>
          </p:nvPr>
        </p:nvSpPr>
        <p:spPr>
          <a:xfrm>
            <a:off x="323528" y="967036"/>
            <a:ext cx="8229600" cy="3260898"/>
          </a:xfrm>
        </p:spPr>
        <p:txBody>
          <a:bodyPr>
            <a:normAutofit/>
          </a:bodyPr>
          <a:lstStyle/>
          <a:p>
            <a:pPr marL="0" indent="0" hangingPunct="0">
              <a:lnSpc>
                <a:spcPct val="120000"/>
              </a:lnSpc>
              <a:buNone/>
            </a:pPr>
            <a:r>
              <a:rPr lang="en-US" altLang="zh-CN" sz="3600" b="1" dirty="0" err="1"/>
              <a:t>NodeManager</a:t>
            </a:r>
            <a:endParaRPr lang="zh-CN" altLang="zh-CN" sz="3600" b="1" dirty="0"/>
          </a:p>
          <a:p>
            <a:pPr hangingPunct="0">
              <a:lnSpc>
                <a:spcPct val="120000"/>
              </a:lnSpc>
            </a:pPr>
            <a:r>
              <a:rPr lang="en-US" altLang="zh-CN" sz="2400" dirty="0" err="1"/>
              <a:t>NodeManager</a:t>
            </a:r>
            <a:r>
              <a:rPr lang="zh-CN" altLang="zh-CN" sz="2400" dirty="0"/>
              <a:t>是</a:t>
            </a:r>
            <a:r>
              <a:rPr lang="en-US" altLang="zh-CN" sz="2400" dirty="0"/>
              <a:t>Yarn</a:t>
            </a:r>
            <a:r>
              <a:rPr lang="zh-CN" altLang="zh-CN" sz="2400" dirty="0"/>
              <a:t>节点的一个工作代理，管理</a:t>
            </a:r>
            <a:r>
              <a:rPr lang="en-US" altLang="zh-CN" sz="2400" dirty="0"/>
              <a:t>Hadoop</a:t>
            </a:r>
            <a:r>
              <a:rPr lang="zh-CN" altLang="zh-CN" sz="2400" dirty="0"/>
              <a:t>集群中独立的计算节点，主要负责与</a:t>
            </a:r>
            <a:r>
              <a:rPr lang="en-US" altLang="zh-CN" sz="2400" dirty="0" err="1"/>
              <a:t>ResourceManager</a:t>
            </a:r>
            <a:r>
              <a:rPr lang="zh-CN" altLang="zh-CN" sz="2400" dirty="0"/>
              <a:t>通信，负责启动和管理应用程序的</a:t>
            </a:r>
            <a:r>
              <a:rPr lang="en-US" altLang="zh-CN" sz="2400" dirty="0"/>
              <a:t>Container</a:t>
            </a:r>
            <a:r>
              <a:rPr lang="zh-CN" altLang="zh-CN" sz="2400" dirty="0"/>
              <a:t>的生命周期，监控它们的资源使用情况（</a:t>
            </a:r>
            <a:r>
              <a:rPr lang="en-US" altLang="zh-CN" sz="2400" dirty="0"/>
              <a:t>CPU</a:t>
            </a:r>
            <a:r>
              <a:rPr lang="zh-CN" altLang="zh-CN" sz="2400" dirty="0"/>
              <a:t>和内存），跟踪节点的监控状态、管理日志等，并将这些信息报告给</a:t>
            </a:r>
            <a:r>
              <a:rPr lang="en-US" altLang="zh-CN" sz="2400"/>
              <a:t>RM</a:t>
            </a:r>
            <a:r>
              <a:rPr lang="zh-CN" altLang="zh-CN" sz="2400"/>
              <a:t>。</a:t>
            </a:r>
            <a:endParaRPr lang="zh-CN" altLang="zh-CN" sz="2400" dirty="0"/>
          </a:p>
        </p:txBody>
      </p:sp>
    </p:spTree>
    <p:extLst>
      <p:ext uri="{BB962C8B-B14F-4D97-AF65-F5344CB8AC3E}">
        <p14:creationId xmlns:p14="http://schemas.microsoft.com/office/powerpoint/2010/main" val="39235873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28600" y="0"/>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67" y="1732402"/>
            <a:ext cx="4441513"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HDFS</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体系结构</a:t>
            </a:r>
          </a:p>
        </p:txBody>
      </p:sp>
      <p:sp>
        <p:nvSpPr>
          <p:cNvPr id="41" name="文本框 40"/>
          <p:cNvSpPr txBox="1">
            <a:spLocks noChangeArrowheads="1"/>
          </p:cNvSpPr>
          <p:nvPr/>
        </p:nvSpPr>
        <p:spPr bwMode="auto">
          <a:xfrm>
            <a:off x="124698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02</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38161813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 HDFS</a:t>
            </a:r>
            <a:r>
              <a:rPr lang="zh-CN" altLang="en-US" dirty="0"/>
              <a:t>体系结构</a:t>
            </a:r>
          </a:p>
        </p:txBody>
      </p:sp>
      <p:sp>
        <p:nvSpPr>
          <p:cNvPr id="4" name="Rectangle 3"/>
          <p:cNvSpPr>
            <a:spLocks noGrp="1" noChangeArrowheads="1"/>
          </p:cNvSpPr>
          <p:nvPr>
            <p:ph idx="1"/>
          </p:nvPr>
        </p:nvSpPr>
        <p:spPr>
          <a:xfrm>
            <a:off x="323528" y="1059583"/>
            <a:ext cx="8208912" cy="3096344"/>
          </a:xfrm>
        </p:spPr>
        <p:txBody>
          <a:bodyPr>
            <a:normAutofit/>
          </a:bodyPr>
          <a:lstStyle/>
          <a:p>
            <a:pPr hangingPunct="0">
              <a:lnSpc>
                <a:spcPct val="120000"/>
              </a:lnSpc>
            </a:pPr>
            <a:r>
              <a:rPr lang="en-US" altLang="zh-CN" sz="2400" dirty="0"/>
              <a:t>HDFS</a:t>
            </a:r>
            <a:r>
              <a:rPr lang="zh-CN" altLang="zh-CN" sz="2400" dirty="0"/>
              <a:t>（</a:t>
            </a:r>
            <a:r>
              <a:rPr lang="en-US" altLang="zh-CN" sz="2400" dirty="0"/>
              <a:t>Hadoop</a:t>
            </a:r>
            <a:r>
              <a:rPr lang="zh-CN" altLang="zh-CN" sz="2400" dirty="0"/>
              <a:t>分布式文件系统）是一种运行在通用计算机（</a:t>
            </a:r>
            <a:r>
              <a:rPr lang="en-US" altLang="zh-CN" sz="2400" dirty="0"/>
              <a:t>commodity hardware</a:t>
            </a:r>
            <a:r>
              <a:rPr lang="zh-CN" altLang="zh-CN" sz="2400" dirty="0"/>
              <a:t>）上的分布式文件系统，与现有的分布式文件系统有显著的差异。</a:t>
            </a:r>
            <a:endParaRPr lang="en-US" altLang="zh-CN" sz="2400" dirty="0"/>
          </a:p>
          <a:p>
            <a:pPr hangingPunct="0">
              <a:lnSpc>
                <a:spcPct val="120000"/>
              </a:lnSpc>
            </a:pPr>
            <a:r>
              <a:rPr lang="en-US" altLang="zh-CN" sz="2400" dirty="0"/>
              <a:t>HDFS</a:t>
            </a:r>
            <a:r>
              <a:rPr lang="zh-CN" altLang="zh-CN" sz="2400" dirty="0"/>
              <a:t>设计用于部署在低成本硬件上，具有高容错性。</a:t>
            </a:r>
            <a:endParaRPr lang="en-US" altLang="zh-CN" sz="2400" dirty="0"/>
          </a:p>
          <a:p>
            <a:pPr hangingPunct="0">
              <a:lnSpc>
                <a:spcPct val="120000"/>
              </a:lnSpc>
            </a:pPr>
            <a:r>
              <a:rPr lang="en-US" altLang="zh-CN" sz="2400" dirty="0"/>
              <a:t>HDFS</a:t>
            </a:r>
            <a:r>
              <a:rPr lang="zh-CN" altLang="zh-CN" sz="2400" dirty="0"/>
              <a:t>提供对应用程序数据的高吞吐量访问，适合处理超大数据集的</a:t>
            </a:r>
            <a:r>
              <a:rPr lang="zh-CN" altLang="zh-CN" sz="2400"/>
              <a:t>应用程序。</a:t>
            </a:r>
            <a:endParaRPr lang="en-US" altLang="zh-CN" sz="2400" dirty="0"/>
          </a:p>
        </p:txBody>
      </p:sp>
    </p:spTree>
    <p:extLst>
      <p:ext uri="{BB962C8B-B14F-4D97-AF65-F5344CB8AC3E}">
        <p14:creationId xmlns:p14="http://schemas.microsoft.com/office/powerpoint/2010/main" val="26427848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—HDFS</a:t>
            </a:r>
            <a:r>
              <a:rPr lang="zh-CN" altLang="en-US" dirty="0"/>
              <a:t>的设计目标</a:t>
            </a:r>
          </a:p>
        </p:txBody>
      </p:sp>
      <p:sp>
        <p:nvSpPr>
          <p:cNvPr id="4" name="Rectangle 3"/>
          <p:cNvSpPr>
            <a:spLocks noGrp="1" noChangeArrowheads="1"/>
          </p:cNvSpPr>
          <p:nvPr>
            <p:ph idx="1"/>
          </p:nvPr>
        </p:nvSpPr>
        <p:spPr>
          <a:xfrm>
            <a:off x="323528" y="968661"/>
            <a:ext cx="8208912" cy="3943349"/>
          </a:xfrm>
        </p:spPr>
        <p:txBody>
          <a:bodyPr>
            <a:normAutofit fontScale="70000" lnSpcReduction="20000"/>
          </a:bodyPr>
          <a:lstStyle/>
          <a:p>
            <a:pPr marL="0" indent="0" hangingPunct="0">
              <a:lnSpc>
                <a:spcPct val="120000"/>
              </a:lnSpc>
              <a:buNone/>
            </a:pPr>
            <a:r>
              <a:rPr lang="en-US" altLang="zh-CN" sz="4000" b="1" dirty="0"/>
              <a:t>1</a:t>
            </a:r>
            <a:r>
              <a:rPr lang="zh-CN" altLang="zh-CN" sz="4000" b="1" dirty="0"/>
              <a:t>．克服硬件故障</a:t>
            </a:r>
          </a:p>
          <a:p>
            <a:pPr marL="400050" lvl="1" indent="0" hangingPunct="0">
              <a:lnSpc>
                <a:spcPct val="120000"/>
              </a:lnSpc>
              <a:buNone/>
            </a:pPr>
            <a:r>
              <a:rPr lang="zh-CN" altLang="zh-CN" dirty="0"/>
              <a:t>一个</a:t>
            </a:r>
            <a:r>
              <a:rPr lang="en-US" altLang="zh-CN" dirty="0"/>
              <a:t>HDFS</a:t>
            </a:r>
            <a:r>
              <a:rPr lang="zh-CN" altLang="zh-CN" dirty="0"/>
              <a:t>实例可能由成百上千台服务器组成，每台服务器都存储文件系统的部分数据，而每台服务器都是由大量的组件组成，每个组件都有一定的故障概率，这就意味着</a:t>
            </a:r>
            <a:r>
              <a:rPr lang="en-US" altLang="zh-CN" dirty="0"/>
              <a:t>HDFS</a:t>
            </a:r>
            <a:r>
              <a:rPr lang="zh-CN" altLang="zh-CN" dirty="0"/>
              <a:t>实例中总有些组件可能产生故障。因此，检测故障并快速、自动地从故障中恢复是</a:t>
            </a:r>
            <a:r>
              <a:rPr lang="en-US" altLang="zh-CN" dirty="0"/>
              <a:t>HDFS</a:t>
            </a:r>
            <a:r>
              <a:rPr lang="zh-CN" altLang="zh-CN" dirty="0"/>
              <a:t>架构的核心</a:t>
            </a:r>
            <a:r>
              <a:rPr lang="zh-CN" altLang="zh-CN"/>
              <a:t>目标。</a:t>
            </a:r>
            <a:endParaRPr lang="zh-CN" altLang="zh-CN" dirty="0"/>
          </a:p>
          <a:p>
            <a:pPr marL="0" indent="0" hangingPunct="0">
              <a:lnSpc>
                <a:spcPct val="120000"/>
              </a:lnSpc>
              <a:buNone/>
            </a:pPr>
            <a:r>
              <a:rPr lang="en-US" altLang="zh-CN" sz="4000" b="1"/>
              <a:t>2</a:t>
            </a:r>
            <a:r>
              <a:rPr lang="zh-CN" altLang="zh-CN" sz="4000" b="1"/>
              <a:t>．</a:t>
            </a:r>
            <a:r>
              <a:rPr lang="zh-CN" altLang="en-US" sz="4000" b="1"/>
              <a:t>支持大数据集</a:t>
            </a:r>
          </a:p>
          <a:p>
            <a:pPr marL="0" indent="0" hangingPunct="0">
              <a:lnSpc>
                <a:spcPct val="120000"/>
              </a:lnSpc>
              <a:buNone/>
            </a:pPr>
            <a:r>
              <a:rPr lang="zh-CN" altLang="en-US" sz="2700"/>
              <a:t>        运行在</a:t>
            </a:r>
            <a:r>
              <a:rPr lang="en-US" altLang="zh-CN" sz="2700"/>
              <a:t>HDFS</a:t>
            </a:r>
            <a:r>
              <a:rPr lang="zh-CN" altLang="en-US" sz="2700"/>
              <a:t>上的应用程序通常都以处理大数据集为目标，</a:t>
            </a:r>
            <a:r>
              <a:rPr lang="en-US" altLang="zh-CN" sz="2700"/>
              <a:t>HDFS</a:t>
            </a:r>
            <a:r>
              <a:rPr lang="zh-CN" altLang="en-US" sz="2700"/>
              <a:t>中的文件大小一般为千兆字节到</a:t>
            </a:r>
            <a:r>
              <a:rPr lang="en-US" altLang="zh-CN" sz="2700"/>
              <a:t>T</a:t>
            </a:r>
            <a:r>
              <a:rPr lang="zh-CN" altLang="en-US" sz="2700"/>
              <a:t>字节，因此</a:t>
            </a:r>
            <a:r>
              <a:rPr lang="en-US" altLang="zh-CN" sz="2700"/>
              <a:t>HDFS</a:t>
            </a:r>
            <a:r>
              <a:rPr lang="zh-CN" altLang="en-US" sz="2700"/>
              <a:t>被设计为支持大文件。</a:t>
            </a:r>
            <a:r>
              <a:rPr lang="en-US" altLang="zh-CN" sz="2700"/>
              <a:t>HDFS</a:t>
            </a:r>
            <a:r>
              <a:rPr lang="zh-CN" altLang="en-US" sz="2700"/>
              <a:t>应该提供高聚合数据带宽，并且可以扩展到单个集群中的数百个节点，一个</a:t>
            </a:r>
            <a:r>
              <a:rPr lang="en-US" altLang="zh-CN" sz="2700"/>
              <a:t>HDFS</a:t>
            </a:r>
            <a:r>
              <a:rPr lang="zh-CN" altLang="en-US" sz="2700"/>
              <a:t>实例应可以支持数千万个文件。</a:t>
            </a:r>
            <a:endParaRPr lang="zh-CN" altLang="zh-CN" sz="2700" dirty="0"/>
          </a:p>
        </p:txBody>
      </p:sp>
    </p:spTree>
    <p:extLst>
      <p:ext uri="{BB962C8B-B14F-4D97-AF65-F5344CB8AC3E}">
        <p14:creationId xmlns:p14="http://schemas.microsoft.com/office/powerpoint/2010/main" val="391054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—HDFS</a:t>
            </a:r>
            <a:r>
              <a:rPr lang="zh-CN" altLang="en-US" dirty="0"/>
              <a:t>的设计目标</a:t>
            </a:r>
          </a:p>
        </p:txBody>
      </p:sp>
      <p:sp>
        <p:nvSpPr>
          <p:cNvPr id="4" name="Rectangle 3"/>
          <p:cNvSpPr>
            <a:spLocks noGrp="1" noChangeArrowheads="1"/>
          </p:cNvSpPr>
          <p:nvPr>
            <p:ph idx="1"/>
          </p:nvPr>
        </p:nvSpPr>
        <p:spPr>
          <a:xfrm>
            <a:off x="323528" y="968661"/>
            <a:ext cx="8208912" cy="3691321"/>
          </a:xfrm>
        </p:spPr>
        <p:txBody>
          <a:bodyPr>
            <a:normAutofit/>
          </a:bodyPr>
          <a:lstStyle/>
          <a:p>
            <a:pPr marL="0" indent="0" hangingPunct="0">
              <a:lnSpc>
                <a:spcPct val="110000"/>
              </a:lnSpc>
              <a:buNone/>
            </a:pPr>
            <a:r>
              <a:rPr lang="en-US" altLang="zh-CN" sz="2800" b="1"/>
              <a:t>3</a:t>
            </a:r>
            <a:r>
              <a:rPr lang="zh-CN" altLang="zh-CN" sz="2800" b="1"/>
              <a:t>．</a:t>
            </a:r>
            <a:r>
              <a:rPr lang="zh-CN" altLang="en-US" sz="2800" b="1"/>
              <a:t>简单</a:t>
            </a:r>
            <a:r>
              <a:rPr lang="zh-CN" altLang="en-US" sz="2800" b="1" dirty="0"/>
              <a:t>一致性模型</a:t>
            </a:r>
            <a:endParaRPr lang="zh-CN" altLang="zh-CN" sz="2800" b="1" dirty="0"/>
          </a:p>
          <a:p>
            <a:pPr marL="400050" lvl="1" indent="0">
              <a:lnSpc>
                <a:spcPct val="120000"/>
              </a:lnSpc>
              <a:buNone/>
            </a:pPr>
            <a:r>
              <a:rPr lang="en-US" altLang="zh-CN" sz="2400" dirty="0"/>
              <a:t>HDFS</a:t>
            </a:r>
            <a:r>
              <a:rPr lang="zh-CN" altLang="en-US" sz="2400" dirty="0"/>
              <a:t>应用程序需要满足</a:t>
            </a:r>
            <a:r>
              <a:rPr lang="en-US" altLang="zh-CN" sz="2400" dirty="0"/>
              <a:t>write-once-read-many</a:t>
            </a:r>
            <a:r>
              <a:rPr lang="zh-CN" altLang="en-US" sz="2400" dirty="0"/>
              <a:t>的文件存取模型。文件一旦创建、写入后，除了扩展文件和截断文件外，不需要其他更改方式。扩展文件是指将内容附加到文件末尾，而不是更新文件任意位置的数据，简化了数据一致性问题，并实现了高吞吐量的数据存取。这种文件系统的存取模型非常符合</a:t>
            </a:r>
            <a:r>
              <a:rPr lang="en-US" altLang="zh-CN" sz="2400" dirty="0"/>
              <a:t>MapReduce</a:t>
            </a:r>
            <a:r>
              <a:rPr lang="zh-CN" altLang="en-US" sz="2400" dirty="0"/>
              <a:t>应用程序或</a:t>
            </a:r>
            <a:r>
              <a:rPr lang="en-US" altLang="zh-CN" sz="2400" dirty="0"/>
              <a:t>web</a:t>
            </a:r>
            <a:r>
              <a:rPr lang="zh-CN" altLang="en-US" sz="2400" dirty="0"/>
              <a:t>爬虫应用程序的需求。</a:t>
            </a:r>
            <a:endParaRPr lang="zh-CN" altLang="zh-CN" sz="2400" dirty="0"/>
          </a:p>
        </p:txBody>
      </p:sp>
    </p:spTree>
    <p:extLst>
      <p:ext uri="{BB962C8B-B14F-4D97-AF65-F5344CB8AC3E}">
        <p14:creationId xmlns:p14="http://schemas.microsoft.com/office/powerpoint/2010/main" val="37184476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—HDFS</a:t>
            </a:r>
            <a:r>
              <a:rPr lang="zh-CN" altLang="en-US" dirty="0"/>
              <a:t>的设计目标</a:t>
            </a:r>
          </a:p>
        </p:txBody>
      </p:sp>
      <p:sp>
        <p:nvSpPr>
          <p:cNvPr id="4" name="Rectangle 3"/>
          <p:cNvSpPr>
            <a:spLocks noGrp="1" noChangeArrowheads="1"/>
          </p:cNvSpPr>
          <p:nvPr>
            <p:ph idx="1"/>
          </p:nvPr>
        </p:nvSpPr>
        <p:spPr>
          <a:xfrm>
            <a:off x="323528" y="968661"/>
            <a:ext cx="8208912" cy="3943349"/>
          </a:xfrm>
        </p:spPr>
        <p:txBody>
          <a:bodyPr>
            <a:normAutofit fontScale="62500" lnSpcReduction="20000"/>
          </a:bodyPr>
          <a:lstStyle/>
          <a:p>
            <a:pPr marL="0" indent="0" hangingPunct="0">
              <a:lnSpc>
                <a:spcPct val="120000"/>
              </a:lnSpc>
              <a:buNone/>
            </a:pPr>
            <a:r>
              <a:rPr lang="en-US" altLang="zh-CN" sz="4500" b="1"/>
              <a:t>4</a:t>
            </a:r>
            <a:r>
              <a:rPr lang="zh-CN" altLang="en-US" sz="4500" b="1"/>
              <a:t>．</a:t>
            </a:r>
            <a:r>
              <a:rPr lang="zh-CN" altLang="en-US" sz="4500" b="1" dirty="0"/>
              <a:t>计算移动或数据移动</a:t>
            </a:r>
            <a:endParaRPr lang="zh-CN" altLang="zh-CN" sz="4500" b="1" dirty="0"/>
          </a:p>
          <a:p>
            <a:pPr marL="400050" lvl="1" indent="0" hangingPunct="0">
              <a:lnSpc>
                <a:spcPct val="120000"/>
              </a:lnSpc>
              <a:buNone/>
            </a:pPr>
            <a:r>
              <a:rPr lang="zh-CN" altLang="en-US" dirty="0"/>
              <a:t>如果应用程序对数据的操作能够离数据更近些，那么其执行效率会高得多，当数据集非常大时，这种优势更加明显。这种计算移动到离数据更近的模式可以最大限度地减少网络拥塞并提高系统的总体吞吐量。通常最好将计算迁移到数据所在的位置，而不是将数据移动到应用程序运行的位置。</a:t>
            </a:r>
            <a:r>
              <a:rPr lang="en-US" altLang="zh-CN" b="1" dirty="0"/>
              <a:t>HDFS</a:t>
            </a:r>
            <a:r>
              <a:rPr lang="zh-CN" altLang="en-US" b="1" dirty="0"/>
              <a:t>为应用程序提供接口，使它们能够更靠近数据所在的位置。</a:t>
            </a:r>
            <a:endParaRPr lang="en-US" altLang="zh-CN" b="1" dirty="0"/>
          </a:p>
          <a:p>
            <a:pPr marL="0" indent="0" hangingPunct="0">
              <a:lnSpc>
                <a:spcPct val="120000"/>
              </a:lnSpc>
              <a:buNone/>
            </a:pPr>
            <a:r>
              <a:rPr lang="en-US" altLang="zh-CN" sz="4900" b="1"/>
              <a:t>5</a:t>
            </a:r>
            <a:r>
              <a:rPr lang="zh-CN" altLang="en-US" sz="4900" b="1"/>
              <a:t>．</a:t>
            </a:r>
            <a:r>
              <a:rPr lang="zh-CN" altLang="en-US" sz="4900" b="1" dirty="0"/>
              <a:t>异构硬件的兼容性和软件平台的可移植性</a:t>
            </a:r>
            <a:endParaRPr lang="zh-CN" altLang="zh-CN" sz="4900" b="1" dirty="0"/>
          </a:p>
          <a:p>
            <a:pPr marL="400050" lvl="1" indent="0">
              <a:lnSpc>
                <a:spcPct val="120000"/>
              </a:lnSpc>
              <a:buNone/>
            </a:pPr>
            <a:r>
              <a:rPr lang="en-US" altLang="zh-CN"/>
              <a:t>HDFS</a:t>
            </a:r>
            <a:r>
              <a:rPr lang="zh-CN" altLang="en-US"/>
              <a:t>被设计成易于从一个平台移植到另一个平台，这有助于采用</a:t>
            </a:r>
            <a:r>
              <a:rPr lang="en-US" altLang="zh-CN"/>
              <a:t>HDFS</a:t>
            </a:r>
            <a:r>
              <a:rPr lang="zh-CN" altLang="en-US"/>
              <a:t>作为应用程序的平台。</a:t>
            </a:r>
            <a:endParaRPr lang="zh-CN" altLang="zh-CN" dirty="0"/>
          </a:p>
        </p:txBody>
      </p:sp>
    </p:spTree>
    <p:extLst>
      <p:ext uri="{BB962C8B-B14F-4D97-AF65-F5344CB8AC3E}">
        <p14:creationId xmlns:p14="http://schemas.microsoft.com/office/powerpoint/2010/main" val="30747448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a:t>
            </a:r>
            <a:r>
              <a:rPr lang="en-US" altLang="zh-CN" dirty="0" err="1"/>
              <a:t>Namenode</a:t>
            </a:r>
            <a:r>
              <a:rPr lang="zh-CN" altLang="en-US" dirty="0"/>
              <a:t>和</a:t>
            </a:r>
            <a:r>
              <a:rPr lang="en-US" altLang="zh-CN" dirty="0" err="1"/>
              <a:t>Datanode</a:t>
            </a:r>
            <a:endParaRPr lang="zh-CN" altLang="en-US" dirty="0"/>
          </a:p>
        </p:txBody>
      </p:sp>
      <p:sp>
        <p:nvSpPr>
          <p:cNvPr id="3" name="内容占位符 2">
            <a:extLst>
              <a:ext uri="{FF2B5EF4-FFF2-40B4-BE49-F238E27FC236}">
                <a16:creationId xmlns:a16="http://schemas.microsoft.com/office/drawing/2014/main" id="{5DCFDC94-1CFC-43B6-AA50-D001815095E3}"/>
              </a:ext>
            </a:extLst>
          </p:cNvPr>
          <p:cNvSpPr>
            <a:spLocks noGrp="1"/>
          </p:cNvSpPr>
          <p:nvPr>
            <p:ph idx="1"/>
          </p:nvPr>
        </p:nvSpPr>
        <p:spPr>
          <a:xfrm>
            <a:off x="251520" y="1059582"/>
            <a:ext cx="8229600" cy="3852428"/>
          </a:xfrm>
        </p:spPr>
        <p:txBody>
          <a:bodyPr>
            <a:normAutofit fontScale="62500" lnSpcReduction="20000"/>
          </a:bodyPr>
          <a:lstStyle/>
          <a:p>
            <a:pPr>
              <a:lnSpc>
                <a:spcPct val="120000"/>
              </a:lnSpc>
            </a:pPr>
            <a:r>
              <a:rPr lang="en-US" altLang="zh-CN" dirty="0"/>
              <a:t>HDFS</a:t>
            </a:r>
            <a:r>
              <a:rPr lang="zh-CN" altLang="en-US" dirty="0"/>
              <a:t>是一种主</a:t>
            </a:r>
            <a:r>
              <a:rPr lang="en-US" altLang="zh-CN" dirty="0"/>
              <a:t>/</a:t>
            </a:r>
            <a:r>
              <a:rPr lang="zh-CN" altLang="en-US" dirty="0"/>
              <a:t>从体系结构，</a:t>
            </a:r>
            <a:r>
              <a:rPr lang="en-US" altLang="zh-CN" dirty="0"/>
              <a:t>HDFS</a:t>
            </a:r>
            <a:r>
              <a:rPr lang="zh-CN" altLang="en-US" dirty="0"/>
              <a:t>集群由一个</a:t>
            </a:r>
            <a:r>
              <a:rPr lang="en-US" altLang="zh-CN" dirty="0" err="1"/>
              <a:t>NameNode</a:t>
            </a:r>
            <a:r>
              <a:rPr lang="zh-CN" altLang="en-US" dirty="0"/>
              <a:t>和一个主服务器以及多个</a:t>
            </a:r>
            <a:r>
              <a:rPr lang="en-US" altLang="zh-CN" dirty="0" err="1"/>
              <a:t>Datanode</a:t>
            </a:r>
            <a:r>
              <a:rPr lang="zh-CN" altLang="en-US" dirty="0"/>
              <a:t>组成。</a:t>
            </a:r>
            <a:endParaRPr lang="en-US" altLang="zh-CN" dirty="0"/>
          </a:p>
          <a:p>
            <a:pPr>
              <a:lnSpc>
                <a:spcPct val="120000"/>
              </a:lnSpc>
            </a:pPr>
            <a:r>
              <a:rPr lang="zh-CN" altLang="en-US" dirty="0"/>
              <a:t>主服务器管理文件系统命名空间并控制客户端对文件的访问。</a:t>
            </a:r>
            <a:endParaRPr lang="en-US" altLang="zh-CN" dirty="0"/>
          </a:p>
          <a:p>
            <a:pPr>
              <a:lnSpc>
                <a:spcPct val="120000"/>
              </a:lnSpc>
            </a:pPr>
            <a:r>
              <a:rPr lang="zh-CN" altLang="en-US" dirty="0"/>
              <a:t>一般情况下，集群的每个节点都有一个</a:t>
            </a:r>
            <a:r>
              <a:rPr lang="en-US" altLang="zh-CN" dirty="0" err="1"/>
              <a:t>DataNode</a:t>
            </a:r>
            <a:r>
              <a:rPr lang="zh-CN" altLang="en-US" dirty="0"/>
              <a:t>，它们负责管理连接到它们所在节点上的存储。</a:t>
            </a:r>
            <a:r>
              <a:rPr lang="en-US" altLang="zh-CN" dirty="0"/>
              <a:t>HDFS</a:t>
            </a:r>
            <a:r>
              <a:rPr lang="zh-CN" altLang="en-US" dirty="0"/>
              <a:t>通过一个统一的文件系统命名空间展示系统文件结构，并允许用户提交数据存储到文件中。在系统内部，文件被分成一个或多个块，这些块存储在一组</a:t>
            </a:r>
            <a:r>
              <a:rPr lang="en-US" altLang="zh-CN" dirty="0" err="1"/>
              <a:t>DataNode</a:t>
            </a:r>
            <a:r>
              <a:rPr lang="zh-CN" altLang="en-US" dirty="0"/>
              <a:t>中。</a:t>
            </a:r>
            <a:endParaRPr lang="en-US" altLang="zh-CN" dirty="0"/>
          </a:p>
          <a:p>
            <a:pPr>
              <a:lnSpc>
                <a:spcPct val="120000"/>
              </a:lnSpc>
            </a:pPr>
            <a:r>
              <a:rPr lang="en-US" altLang="zh-CN" dirty="0" err="1"/>
              <a:t>NameNode</a:t>
            </a:r>
            <a:r>
              <a:rPr lang="zh-CN" altLang="en-US" dirty="0"/>
              <a:t>执行文件系统命名空间的相关操作，如打开、关闭和重命名文件和目录等；除此之外，它还确定文件块到数据节点的映射。</a:t>
            </a:r>
            <a:endParaRPr lang="en-US" altLang="zh-CN" dirty="0"/>
          </a:p>
          <a:p>
            <a:pPr>
              <a:lnSpc>
                <a:spcPct val="120000"/>
              </a:lnSpc>
            </a:pPr>
            <a:r>
              <a:rPr lang="en-US" altLang="zh-CN" dirty="0" err="1"/>
              <a:t>DataNode</a:t>
            </a:r>
            <a:r>
              <a:rPr lang="zh-CN" altLang="en-US" dirty="0"/>
              <a:t>负责处理来自文件系统客户端的读写请求，并根据</a:t>
            </a:r>
            <a:r>
              <a:rPr lang="en-US" altLang="zh-CN" dirty="0" err="1"/>
              <a:t>NameNode</a:t>
            </a:r>
            <a:r>
              <a:rPr lang="zh-CN" altLang="en-US" dirty="0"/>
              <a:t>的指令执行块创建、删除和复制。</a:t>
            </a:r>
          </a:p>
        </p:txBody>
      </p:sp>
    </p:spTree>
    <p:extLst>
      <p:ext uri="{BB962C8B-B14F-4D97-AF65-F5344CB8AC3E}">
        <p14:creationId xmlns:p14="http://schemas.microsoft.com/office/powerpoint/2010/main" val="31792061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a:t>
            </a:r>
            <a:r>
              <a:rPr lang="en-US" altLang="zh-CN" dirty="0" err="1"/>
              <a:t>Namenode</a:t>
            </a:r>
            <a:r>
              <a:rPr lang="zh-CN" altLang="en-US" dirty="0"/>
              <a:t>和</a:t>
            </a:r>
            <a:r>
              <a:rPr lang="en-US" altLang="zh-CN" dirty="0" err="1"/>
              <a:t>Datanode</a:t>
            </a:r>
            <a:endParaRPr lang="zh-CN" altLang="en-US" dirty="0"/>
          </a:p>
        </p:txBody>
      </p:sp>
      <p:pic>
        <p:nvPicPr>
          <p:cNvPr id="6" name="图片 5">
            <a:extLst>
              <a:ext uri="{FF2B5EF4-FFF2-40B4-BE49-F238E27FC236}">
                <a16:creationId xmlns:a16="http://schemas.microsoft.com/office/drawing/2014/main" id="{9F88CF94-3629-44F5-AAA0-68551FB3E41B}"/>
              </a:ext>
            </a:extLst>
          </p:cNvPr>
          <p:cNvPicPr>
            <a:picLocks noChangeAspect="1"/>
          </p:cNvPicPr>
          <p:nvPr/>
        </p:nvPicPr>
        <p:blipFill>
          <a:blip r:embed="rId2"/>
          <a:stretch>
            <a:fillRect/>
          </a:stretch>
        </p:blipFill>
        <p:spPr>
          <a:xfrm>
            <a:off x="1619672" y="1059582"/>
            <a:ext cx="5256584" cy="3315356"/>
          </a:xfrm>
          <a:prstGeom prst="rect">
            <a:avLst/>
          </a:prstGeom>
        </p:spPr>
      </p:pic>
      <p:sp>
        <p:nvSpPr>
          <p:cNvPr id="7" name="矩形 6">
            <a:extLst>
              <a:ext uri="{FF2B5EF4-FFF2-40B4-BE49-F238E27FC236}">
                <a16:creationId xmlns:a16="http://schemas.microsoft.com/office/drawing/2014/main" id="{E25EC807-2F9D-48D3-8651-2010C81FB88C}"/>
              </a:ext>
            </a:extLst>
          </p:cNvPr>
          <p:cNvSpPr/>
          <p:nvPr/>
        </p:nvSpPr>
        <p:spPr>
          <a:xfrm>
            <a:off x="1628009" y="4443958"/>
            <a:ext cx="6191118" cy="523220"/>
          </a:xfrm>
          <a:prstGeom prst="rect">
            <a:avLst/>
          </a:prstGeom>
        </p:spPr>
        <p:txBody>
          <a:bodyPr wrap="none">
            <a:spAutoFit/>
          </a:bodyPr>
          <a:lstStyle/>
          <a:p>
            <a:r>
              <a:rPr lang="en-US" altLang="zh-CN" sz="2800" b="1" kern="1050" dirty="0">
                <a:latin typeface="Times New Roman" panose="02020603050405020304" pitchFamily="18" charset="0"/>
                <a:cs typeface="方正书宋简体"/>
              </a:rPr>
              <a:t>HDFS</a:t>
            </a:r>
            <a:r>
              <a:rPr lang="zh-CN" altLang="zh-CN" sz="2800" b="1" kern="1050" dirty="0">
                <a:latin typeface="Times New Roman" panose="02020603050405020304" pitchFamily="18" charset="0"/>
                <a:cs typeface="方正书宋简体"/>
              </a:rPr>
              <a:t>体系结构</a:t>
            </a:r>
            <a:r>
              <a:rPr lang="zh-CN" altLang="en-US" sz="2800" b="1" kern="1050" dirty="0">
                <a:latin typeface="Times New Roman" panose="02020603050405020304" pitchFamily="18" charset="0"/>
                <a:cs typeface="方正书宋简体"/>
              </a:rPr>
              <a:t>（主</a:t>
            </a:r>
            <a:r>
              <a:rPr lang="en-US" altLang="zh-CN" sz="2800" b="1" kern="1050" dirty="0">
                <a:latin typeface="Times New Roman" panose="02020603050405020304" pitchFamily="18" charset="0"/>
                <a:cs typeface="方正书宋简体"/>
              </a:rPr>
              <a:t>—</a:t>
            </a:r>
            <a:r>
              <a:rPr lang="zh-CN" altLang="en-US" sz="2800" b="1" kern="1050" dirty="0">
                <a:latin typeface="Times New Roman" panose="02020603050405020304" pitchFamily="18" charset="0"/>
                <a:cs typeface="方正书宋简体"/>
              </a:rPr>
              <a:t>从结构）</a:t>
            </a:r>
            <a:r>
              <a:rPr lang="zh-CN" altLang="zh-CN" sz="2800" b="1" kern="1050" dirty="0">
                <a:latin typeface="Times New Roman" panose="02020603050405020304" pitchFamily="18" charset="0"/>
                <a:cs typeface="方正书宋简体"/>
              </a:rPr>
              <a:t>示意图</a:t>
            </a:r>
            <a:endParaRPr lang="zh-CN" altLang="en-US" sz="2800" b="1" dirty="0"/>
          </a:p>
        </p:txBody>
      </p:sp>
    </p:spTree>
    <p:extLst>
      <p:ext uri="{BB962C8B-B14F-4D97-AF65-F5344CB8AC3E}">
        <p14:creationId xmlns:p14="http://schemas.microsoft.com/office/powerpoint/2010/main" val="38346225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a:xfrm>
            <a:off x="0" y="238567"/>
            <a:ext cx="7668344" cy="540060"/>
          </a:xfrm>
        </p:spPr>
        <p:txBody>
          <a:bodyPr>
            <a:normAutofit/>
          </a:bodyPr>
          <a:lstStyle/>
          <a:p>
            <a:r>
              <a:rPr lang="en-US" altLang="zh-CN" sz="2800" dirty="0"/>
              <a:t>2 HDFS</a:t>
            </a:r>
            <a:r>
              <a:rPr lang="zh-CN" altLang="en-US" sz="2800" dirty="0"/>
              <a:t>体系结构</a:t>
            </a:r>
            <a:r>
              <a:rPr lang="en-US" altLang="zh-CN" sz="2800" dirty="0"/>
              <a:t>—</a:t>
            </a:r>
            <a:r>
              <a:rPr lang="en-US" altLang="zh-CN" sz="2800" dirty="0" err="1"/>
              <a:t>Namenode</a:t>
            </a:r>
            <a:r>
              <a:rPr lang="zh-CN" altLang="en-US" sz="2800" dirty="0"/>
              <a:t>和</a:t>
            </a:r>
            <a:r>
              <a:rPr lang="en-US" altLang="zh-CN" sz="2800" dirty="0" err="1"/>
              <a:t>Datanode</a:t>
            </a:r>
            <a:endParaRPr lang="zh-CN" altLang="en-US" sz="2800" dirty="0"/>
          </a:p>
        </p:txBody>
      </p:sp>
      <p:sp>
        <p:nvSpPr>
          <p:cNvPr id="3" name="内容占位符 2">
            <a:extLst>
              <a:ext uri="{FF2B5EF4-FFF2-40B4-BE49-F238E27FC236}">
                <a16:creationId xmlns:a16="http://schemas.microsoft.com/office/drawing/2014/main" id="{5DCFDC94-1CFC-43B6-AA50-D001815095E3}"/>
              </a:ext>
            </a:extLst>
          </p:cNvPr>
          <p:cNvSpPr>
            <a:spLocks noGrp="1"/>
          </p:cNvSpPr>
          <p:nvPr>
            <p:ph idx="1"/>
          </p:nvPr>
        </p:nvSpPr>
        <p:spPr>
          <a:xfrm>
            <a:off x="251520" y="1059582"/>
            <a:ext cx="8229600" cy="3852428"/>
          </a:xfrm>
        </p:spPr>
        <p:txBody>
          <a:bodyPr>
            <a:normAutofit fontScale="92500"/>
          </a:bodyPr>
          <a:lstStyle/>
          <a:p>
            <a:pPr>
              <a:lnSpc>
                <a:spcPct val="120000"/>
              </a:lnSpc>
            </a:pPr>
            <a:r>
              <a:rPr lang="en-US" altLang="zh-CN" sz="2800" b="1" dirty="0" err="1"/>
              <a:t>Namenode</a:t>
            </a:r>
            <a:r>
              <a:rPr lang="zh-CN" altLang="en-US" sz="2800" b="1" dirty="0"/>
              <a:t>的元数据信息：</a:t>
            </a:r>
            <a:endParaRPr lang="en-US" altLang="zh-CN" sz="2800" b="1" dirty="0"/>
          </a:p>
          <a:p>
            <a:pPr lvl="1">
              <a:lnSpc>
                <a:spcPct val="120000"/>
              </a:lnSpc>
            </a:pPr>
            <a:r>
              <a:rPr lang="zh-CN" altLang="en-US" sz="2400" dirty="0"/>
              <a:t>文件属性信息：文件名称、权限、时间、大小、复制因子、数据块大小；</a:t>
            </a:r>
            <a:endParaRPr lang="en-US" altLang="zh-CN" sz="2400" dirty="0"/>
          </a:p>
          <a:p>
            <a:pPr lvl="1">
              <a:lnSpc>
                <a:spcPct val="120000"/>
              </a:lnSpc>
            </a:pPr>
            <a:r>
              <a:rPr lang="zh-CN" altLang="en-US" sz="2400" dirty="0"/>
              <a:t>文件块位置信息：文件块与</a:t>
            </a:r>
            <a:r>
              <a:rPr lang="en-US" altLang="zh-CN" sz="2400" dirty="0" err="1"/>
              <a:t>Datanode</a:t>
            </a:r>
            <a:r>
              <a:rPr lang="zh-CN" altLang="en-US" sz="2400" dirty="0"/>
              <a:t>间的映射信息；</a:t>
            </a:r>
            <a:endParaRPr lang="en-US" altLang="zh-CN" sz="2400" dirty="0"/>
          </a:p>
          <a:p>
            <a:pPr lvl="1">
              <a:lnSpc>
                <a:spcPct val="120000"/>
              </a:lnSpc>
            </a:pPr>
            <a:r>
              <a:rPr lang="zh-CN" altLang="en-US" sz="2400" dirty="0"/>
              <a:t>以</a:t>
            </a:r>
            <a:r>
              <a:rPr lang="en-US" altLang="zh-CN" sz="2400" dirty="0" err="1"/>
              <a:t>fsimage</a:t>
            </a:r>
            <a:r>
              <a:rPr lang="zh-CN" altLang="en-US" sz="2400" dirty="0"/>
              <a:t>和</a:t>
            </a:r>
            <a:r>
              <a:rPr lang="en-US" altLang="zh-CN" sz="2400" dirty="0"/>
              <a:t>edits</a:t>
            </a:r>
            <a:r>
              <a:rPr lang="zh-CN" altLang="en-US" sz="2400" dirty="0"/>
              <a:t>将内存中的数据存入磁盘，再次启动时会读取这些信息；</a:t>
            </a:r>
            <a:endParaRPr lang="en-US" altLang="zh-CN" sz="2400" dirty="0"/>
          </a:p>
          <a:p>
            <a:pPr>
              <a:lnSpc>
                <a:spcPct val="120000"/>
              </a:lnSpc>
            </a:pPr>
            <a:r>
              <a:rPr lang="en-US" altLang="zh-CN" sz="2600" dirty="0" err="1"/>
              <a:t>Namenode</a:t>
            </a:r>
            <a:r>
              <a:rPr lang="zh-CN" altLang="en-US" sz="2600" dirty="0"/>
              <a:t>和</a:t>
            </a:r>
            <a:r>
              <a:rPr lang="en-US" altLang="zh-CN" sz="2600" dirty="0" err="1"/>
              <a:t>Datanode</a:t>
            </a:r>
            <a:r>
              <a:rPr lang="zh-CN" altLang="en-US" sz="2600" dirty="0"/>
              <a:t>之间维持心跳信息，</a:t>
            </a:r>
            <a:r>
              <a:rPr lang="en-US" altLang="zh-CN" sz="2600" dirty="0" err="1"/>
              <a:t>Datanode</a:t>
            </a:r>
            <a:r>
              <a:rPr lang="zh-CN" altLang="en-US" sz="2600" dirty="0"/>
              <a:t>隔一段时间向</a:t>
            </a:r>
            <a:r>
              <a:rPr lang="en-US" altLang="zh-CN" sz="2600" dirty="0" err="1"/>
              <a:t>Namenode</a:t>
            </a:r>
            <a:r>
              <a:rPr lang="zh-CN" altLang="en-US" sz="2600" dirty="0"/>
              <a:t>发送心跳包，告诉</a:t>
            </a:r>
            <a:r>
              <a:rPr lang="en-US" altLang="zh-CN" sz="2600" dirty="0" err="1"/>
              <a:t>Namenode</a:t>
            </a:r>
            <a:r>
              <a:rPr lang="zh-CN" altLang="en-US" sz="2600" dirty="0"/>
              <a:t>它还存在。</a:t>
            </a:r>
            <a:endParaRPr lang="en-US" altLang="zh-CN" sz="2600" dirty="0"/>
          </a:p>
          <a:p>
            <a:pPr lvl="1">
              <a:lnSpc>
                <a:spcPct val="120000"/>
              </a:lnSpc>
            </a:pPr>
            <a:endParaRPr lang="zh-CN" altLang="en-US" sz="2400" dirty="0"/>
          </a:p>
        </p:txBody>
      </p:sp>
    </p:spTree>
    <p:extLst>
      <p:ext uri="{BB962C8B-B14F-4D97-AF65-F5344CB8AC3E}">
        <p14:creationId xmlns:p14="http://schemas.microsoft.com/office/powerpoint/2010/main" val="34931877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a:t>
            </a:r>
            <a:r>
              <a:rPr lang="zh-CN" altLang="en-US" dirty="0"/>
              <a:t>读取数据原理</a:t>
            </a:r>
          </a:p>
        </p:txBody>
      </p:sp>
      <p:pic>
        <p:nvPicPr>
          <p:cNvPr id="3" name="图片 2">
            <a:extLst>
              <a:ext uri="{FF2B5EF4-FFF2-40B4-BE49-F238E27FC236}">
                <a16:creationId xmlns:a16="http://schemas.microsoft.com/office/drawing/2014/main" id="{C05B0F2F-8235-43E0-8889-EE8890768875}"/>
              </a:ext>
            </a:extLst>
          </p:cNvPr>
          <p:cNvPicPr>
            <a:picLocks noChangeAspect="1"/>
          </p:cNvPicPr>
          <p:nvPr/>
        </p:nvPicPr>
        <p:blipFill>
          <a:blip r:embed="rId2"/>
          <a:stretch>
            <a:fillRect/>
          </a:stretch>
        </p:blipFill>
        <p:spPr>
          <a:xfrm>
            <a:off x="2843808" y="1028960"/>
            <a:ext cx="5618422" cy="3319559"/>
          </a:xfrm>
          <a:prstGeom prst="rect">
            <a:avLst/>
          </a:prstGeom>
        </p:spPr>
      </p:pic>
      <p:sp>
        <p:nvSpPr>
          <p:cNvPr id="4" name="矩形 3">
            <a:extLst>
              <a:ext uri="{FF2B5EF4-FFF2-40B4-BE49-F238E27FC236}">
                <a16:creationId xmlns:a16="http://schemas.microsoft.com/office/drawing/2014/main" id="{DD11E9AE-7129-40ED-93BB-D965432BBC78}"/>
              </a:ext>
            </a:extLst>
          </p:cNvPr>
          <p:cNvSpPr/>
          <p:nvPr/>
        </p:nvSpPr>
        <p:spPr>
          <a:xfrm>
            <a:off x="659302" y="4338398"/>
            <a:ext cx="3667992" cy="523220"/>
          </a:xfrm>
          <a:prstGeom prst="rect">
            <a:avLst/>
          </a:prstGeom>
        </p:spPr>
        <p:txBody>
          <a:bodyPr wrap="none">
            <a:spAutoFit/>
          </a:bodyPr>
          <a:lstStyle/>
          <a:p>
            <a:r>
              <a:rPr lang="en-US" altLang="zh-CN" sz="2800" b="1" kern="1050" dirty="0">
                <a:latin typeface="Times New Roman" panose="02020603050405020304" pitchFamily="18" charset="0"/>
                <a:cs typeface="方正书宋简体"/>
              </a:rPr>
              <a:t>HDFS</a:t>
            </a:r>
            <a:r>
              <a:rPr lang="zh-CN" altLang="zh-CN" sz="2800" b="1" kern="1050" dirty="0">
                <a:latin typeface="Times New Roman" panose="02020603050405020304" pitchFamily="18" charset="0"/>
                <a:cs typeface="方正书宋简体"/>
              </a:rPr>
              <a:t>读取数据的过程</a:t>
            </a:r>
            <a:endParaRPr lang="zh-CN" altLang="en-US" sz="2800" b="1" dirty="0"/>
          </a:p>
        </p:txBody>
      </p:sp>
      <p:sp>
        <p:nvSpPr>
          <p:cNvPr id="5" name="矩形 4">
            <a:extLst>
              <a:ext uri="{FF2B5EF4-FFF2-40B4-BE49-F238E27FC236}">
                <a16:creationId xmlns:a16="http://schemas.microsoft.com/office/drawing/2014/main" id="{4870B42A-358E-4B15-8D76-E8C353482769}"/>
              </a:ext>
            </a:extLst>
          </p:cNvPr>
          <p:cNvSpPr/>
          <p:nvPr/>
        </p:nvSpPr>
        <p:spPr>
          <a:xfrm>
            <a:off x="323528" y="1209198"/>
            <a:ext cx="2339752" cy="2862322"/>
          </a:xfrm>
          <a:prstGeom prst="rect">
            <a:avLst/>
          </a:prstGeom>
          <a:solidFill>
            <a:schemeClr val="tx2">
              <a:lumMod val="20000"/>
              <a:lumOff val="80000"/>
            </a:schemeClr>
          </a:solidFill>
          <a:ln>
            <a:solidFill>
              <a:schemeClr val="tx2"/>
            </a:solidFill>
          </a:ln>
        </p:spPr>
        <p:txBody>
          <a:bodyPr wrap="square">
            <a:spAutoFit/>
          </a:bodyPr>
          <a:lstStyle/>
          <a:p>
            <a:pPr indent="266700" algn="just" hangingPunct="0">
              <a:spcAft>
                <a:spcPts val="0"/>
              </a:spcAft>
            </a:pPr>
            <a:r>
              <a:rPr lang="zh-CN" altLang="zh-CN" kern="1050" dirty="0">
                <a:latin typeface="Times New Roman" panose="02020603050405020304" pitchFamily="18" charset="0"/>
                <a:cs typeface="方正书宋简体"/>
              </a:rPr>
              <a:t>客户端软件通过</a:t>
            </a:r>
            <a:r>
              <a:rPr lang="en-US" altLang="zh-CN" kern="1050" dirty="0" err="1">
                <a:latin typeface="Times New Roman" panose="02020603050405020304" pitchFamily="18" charset="0"/>
                <a:cs typeface="方正书宋简体"/>
              </a:rPr>
              <a:t>DistrubutedFileSystem</a:t>
            </a:r>
            <a:r>
              <a:rPr lang="zh-CN" altLang="zh-CN" kern="1050" dirty="0">
                <a:latin typeface="Times New Roman" panose="02020603050405020304" pitchFamily="18" charset="0"/>
                <a:cs typeface="方正书宋简体"/>
              </a:rPr>
              <a:t>和</a:t>
            </a:r>
            <a:r>
              <a:rPr lang="en-US" altLang="zh-CN" kern="1050" dirty="0" err="1">
                <a:latin typeface="Times New Roman" panose="02020603050405020304" pitchFamily="18" charset="0"/>
                <a:cs typeface="方正书宋简体"/>
              </a:rPr>
              <a:t>FSDataInputStream</a:t>
            </a:r>
            <a:r>
              <a:rPr lang="zh-CN" altLang="zh-CN" kern="1050" dirty="0">
                <a:latin typeface="Times New Roman" panose="02020603050405020304" pitchFamily="18" charset="0"/>
                <a:cs typeface="方正书宋简体"/>
              </a:rPr>
              <a:t>实现与</a:t>
            </a:r>
            <a:r>
              <a:rPr lang="en-US" altLang="zh-CN" kern="1050" dirty="0">
                <a:latin typeface="Times New Roman" panose="02020603050405020304" pitchFamily="18" charset="0"/>
                <a:cs typeface="方正书宋简体"/>
              </a:rPr>
              <a:t>HDFS</a:t>
            </a:r>
            <a:r>
              <a:rPr lang="zh-CN" altLang="zh-CN" kern="1050" dirty="0">
                <a:latin typeface="Times New Roman" panose="02020603050405020304" pitchFamily="18" charset="0"/>
                <a:cs typeface="方正书宋简体"/>
              </a:rPr>
              <a:t>系统的交互，从而隔离了用户程序与</a:t>
            </a:r>
            <a:r>
              <a:rPr lang="en-US" altLang="zh-CN" kern="1050" dirty="0">
                <a:latin typeface="Times New Roman" panose="02020603050405020304" pitchFamily="18" charset="0"/>
                <a:cs typeface="方正书宋简体"/>
              </a:rPr>
              <a:t>HDFS</a:t>
            </a:r>
            <a:r>
              <a:rPr lang="zh-CN" altLang="zh-CN" kern="1050" dirty="0">
                <a:latin typeface="Times New Roman" panose="02020603050405020304" pitchFamily="18" charset="0"/>
                <a:cs typeface="方正书宋简体"/>
              </a:rPr>
              <a:t>文件系统的复杂交互过程，大大简化了</a:t>
            </a:r>
            <a:r>
              <a:rPr lang="en-US" altLang="zh-CN" kern="1050" dirty="0">
                <a:latin typeface="Times New Roman" panose="02020603050405020304" pitchFamily="18" charset="0"/>
                <a:cs typeface="方正书宋简体"/>
              </a:rPr>
              <a:t>Hadoop</a:t>
            </a:r>
            <a:r>
              <a:rPr lang="zh-CN" altLang="zh-CN" kern="1050" dirty="0">
                <a:latin typeface="Times New Roman" panose="02020603050405020304" pitchFamily="18" charset="0"/>
                <a:cs typeface="方正书宋简体"/>
              </a:rPr>
              <a:t>分布式文件系统的应用。</a:t>
            </a:r>
          </a:p>
        </p:txBody>
      </p:sp>
    </p:spTree>
    <p:extLst>
      <p:ext uri="{BB962C8B-B14F-4D97-AF65-F5344CB8AC3E}">
        <p14:creationId xmlns:p14="http://schemas.microsoft.com/office/powerpoint/2010/main" val="751134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a:t>
            </a:r>
            <a:r>
              <a:rPr lang="zh-CN" altLang="en-US" dirty="0"/>
              <a:t>写数据原理</a:t>
            </a:r>
          </a:p>
        </p:txBody>
      </p:sp>
      <p:pic>
        <p:nvPicPr>
          <p:cNvPr id="4" name="图片 3">
            <a:extLst>
              <a:ext uri="{FF2B5EF4-FFF2-40B4-BE49-F238E27FC236}">
                <a16:creationId xmlns:a16="http://schemas.microsoft.com/office/drawing/2014/main" id="{7A8A8630-7FC0-4037-BFCC-41A830FB6B9E}"/>
              </a:ext>
            </a:extLst>
          </p:cNvPr>
          <p:cNvPicPr>
            <a:picLocks noChangeAspect="1"/>
          </p:cNvPicPr>
          <p:nvPr/>
        </p:nvPicPr>
        <p:blipFill>
          <a:blip r:embed="rId3"/>
          <a:stretch>
            <a:fillRect/>
          </a:stretch>
        </p:blipFill>
        <p:spPr>
          <a:xfrm>
            <a:off x="2555776" y="1042689"/>
            <a:ext cx="5966865" cy="3607711"/>
          </a:xfrm>
          <a:prstGeom prst="rect">
            <a:avLst/>
          </a:prstGeom>
        </p:spPr>
      </p:pic>
      <p:sp>
        <p:nvSpPr>
          <p:cNvPr id="5" name="矩形 4">
            <a:extLst>
              <a:ext uri="{FF2B5EF4-FFF2-40B4-BE49-F238E27FC236}">
                <a16:creationId xmlns:a16="http://schemas.microsoft.com/office/drawing/2014/main" id="{EF3ABB2B-1D64-4E6D-9085-86F48A3F4DA5}"/>
              </a:ext>
            </a:extLst>
          </p:cNvPr>
          <p:cNvSpPr/>
          <p:nvPr/>
        </p:nvSpPr>
        <p:spPr>
          <a:xfrm>
            <a:off x="670872" y="4466308"/>
            <a:ext cx="3307316" cy="523220"/>
          </a:xfrm>
          <a:prstGeom prst="rect">
            <a:avLst/>
          </a:prstGeom>
        </p:spPr>
        <p:txBody>
          <a:bodyPr wrap="none">
            <a:spAutoFit/>
          </a:bodyPr>
          <a:lstStyle/>
          <a:p>
            <a:r>
              <a:rPr lang="en-US" altLang="zh-CN" sz="2800" b="1" kern="1050" dirty="0">
                <a:latin typeface="Times New Roman" panose="02020603050405020304" pitchFamily="18" charset="0"/>
                <a:cs typeface="方正书宋简体"/>
              </a:rPr>
              <a:t>HDFS</a:t>
            </a:r>
            <a:r>
              <a:rPr lang="zh-CN" altLang="zh-CN" sz="2800" b="1" kern="1050" dirty="0">
                <a:latin typeface="Times New Roman" panose="02020603050405020304" pitchFamily="18" charset="0"/>
                <a:cs typeface="方正书宋简体"/>
              </a:rPr>
              <a:t>写入数据过程</a:t>
            </a:r>
            <a:endParaRPr lang="zh-CN" altLang="en-US" sz="2800" b="1" dirty="0"/>
          </a:p>
        </p:txBody>
      </p:sp>
      <p:sp>
        <p:nvSpPr>
          <p:cNvPr id="6" name="矩形 5">
            <a:extLst>
              <a:ext uri="{FF2B5EF4-FFF2-40B4-BE49-F238E27FC236}">
                <a16:creationId xmlns:a16="http://schemas.microsoft.com/office/drawing/2014/main" id="{225FBF48-E2E5-413B-96FE-B9F8612C6749}"/>
              </a:ext>
            </a:extLst>
          </p:cNvPr>
          <p:cNvSpPr/>
          <p:nvPr/>
        </p:nvSpPr>
        <p:spPr>
          <a:xfrm>
            <a:off x="273596" y="1110049"/>
            <a:ext cx="2160240" cy="3139321"/>
          </a:xfrm>
          <a:prstGeom prst="rect">
            <a:avLst/>
          </a:prstGeom>
          <a:solidFill>
            <a:schemeClr val="tx2">
              <a:lumMod val="20000"/>
              <a:lumOff val="80000"/>
            </a:schemeClr>
          </a:solidFill>
          <a:ln>
            <a:solidFill>
              <a:schemeClr val="tx2"/>
            </a:solidFill>
          </a:ln>
        </p:spPr>
        <p:txBody>
          <a:bodyPr wrap="square">
            <a:spAutoFit/>
          </a:bodyPr>
          <a:lstStyle/>
          <a:p>
            <a:r>
              <a:rPr lang="zh-CN" altLang="en-US" dirty="0"/>
              <a:t>客户端只在开始和结束时与</a:t>
            </a:r>
            <a:r>
              <a:rPr lang="en-US" altLang="zh-CN" dirty="0" err="1"/>
              <a:t>NameNode</a:t>
            </a:r>
            <a:r>
              <a:rPr lang="zh-CN" altLang="en-US" dirty="0"/>
              <a:t>交互，大大减轻</a:t>
            </a:r>
            <a:r>
              <a:rPr lang="en-US" altLang="zh-CN" dirty="0" err="1"/>
              <a:t>NameNode</a:t>
            </a:r>
            <a:r>
              <a:rPr lang="zh-CN" altLang="en-US" dirty="0"/>
              <a:t>的负担。在具体的写入过程中，由</a:t>
            </a:r>
            <a:r>
              <a:rPr lang="en-US" altLang="zh-CN" dirty="0" err="1"/>
              <a:t>FSDataOutputStream</a:t>
            </a:r>
            <a:r>
              <a:rPr lang="zh-CN" altLang="en-US" dirty="0"/>
              <a:t>实现与各数据节点的交互，大大简化了用户对文件的操作。</a:t>
            </a:r>
          </a:p>
        </p:txBody>
      </p:sp>
      <p:sp>
        <p:nvSpPr>
          <p:cNvPr id="3" name="对话气泡: 圆角矩形 2">
            <a:extLst>
              <a:ext uri="{FF2B5EF4-FFF2-40B4-BE49-F238E27FC236}">
                <a16:creationId xmlns:a16="http://schemas.microsoft.com/office/drawing/2014/main" id="{7B1B6ECA-C46B-4D54-A611-9C61607BAD75}"/>
              </a:ext>
            </a:extLst>
          </p:cNvPr>
          <p:cNvSpPr/>
          <p:nvPr/>
        </p:nvSpPr>
        <p:spPr>
          <a:xfrm>
            <a:off x="2407898" y="3435846"/>
            <a:ext cx="1588038" cy="504056"/>
          </a:xfrm>
          <a:prstGeom prst="wedgeRoundRectCallout">
            <a:avLst>
              <a:gd name="adj1" fmla="val -3243"/>
              <a:gd name="adj2" fmla="val -140384"/>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sz="1000" dirty="0"/>
              <a:t>ACK</a:t>
            </a:r>
            <a:r>
              <a:rPr lang="zh-CN" altLang="en-US" sz="1000" dirty="0"/>
              <a:t>应答机制：</a:t>
            </a:r>
            <a:r>
              <a:rPr lang="en-US" altLang="zh-CN" sz="1000" dirty="0" err="1"/>
              <a:t>Datanode</a:t>
            </a:r>
            <a:r>
              <a:rPr lang="zh-CN" altLang="en-US" sz="1000" dirty="0"/>
              <a:t>保存一个</a:t>
            </a:r>
            <a:r>
              <a:rPr lang="en-US" altLang="zh-CN" sz="1000" dirty="0"/>
              <a:t>packet</a:t>
            </a:r>
            <a:r>
              <a:rPr lang="zh-CN" altLang="en-US" sz="1000" dirty="0"/>
              <a:t>成功后，回给一个应答</a:t>
            </a:r>
          </a:p>
        </p:txBody>
      </p:sp>
      <p:sp>
        <p:nvSpPr>
          <p:cNvPr id="7" name="对话气泡: 圆角矩形 6">
            <a:extLst>
              <a:ext uri="{FF2B5EF4-FFF2-40B4-BE49-F238E27FC236}">
                <a16:creationId xmlns:a16="http://schemas.microsoft.com/office/drawing/2014/main" id="{9BA68AC9-B8A2-4503-93C6-0663DBB2310E}"/>
              </a:ext>
            </a:extLst>
          </p:cNvPr>
          <p:cNvSpPr/>
          <p:nvPr/>
        </p:nvSpPr>
        <p:spPr>
          <a:xfrm>
            <a:off x="6804248" y="2715766"/>
            <a:ext cx="1368152" cy="504056"/>
          </a:xfrm>
          <a:prstGeom prst="wedgeRoundRectCallout">
            <a:avLst>
              <a:gd name="adj1" fmla="val -98081"/>
              <a:gd name="adj2" fmla="val -55016"/>
              <a:gd name="adj3" fmla="val 16667"/>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zh-CN" altLang="en-US" sz="1000" dirty="0"/>
              <a:t>写文件的过程中会与</a:t>
            </a:r>
            <a:r>
              <a:rPr lang="en-US" altLang="zh-CN" sz="1000" dirty="0" err="1"/>
              <a:t>Namenode</a:t>
            </a:r>
            <a:r>
              <a:rPr lang="zh-CN" altLang="en-US" sz="1000" dirty="0"/>
              <a:t>通信，报告写的情况</a:t>
            </a:r>
          </a:p>
        </p:txBody>
      </p:sp>
    </p:spTree>
    <p:extLst>
      <p:ext uri="{BB962C8B-B14F-4D97-AF65-F5344CB8AC3E}">
        <p14:creationId xmlns:p14="http://schemas.microsoft.com/office/powerpoint/2010/main" val="215959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anim calcmode="lin" valueType="num">
                                      <p:cBhvr additive="base">
                                        <p:cTn id="13" dur="500" fill="hold"/>
                                        <p:tgtEl>
                                          <p:spTgt spid="7"/>
                                        </p:tgtEl>
                                        <p:attrNameLst>
                                          <p:attrName>ppt_x</p:attrName>
                                        </p:attrNameLst>
                                      </p:cBhvr>
                                      <p:tavLst>
                                        <p:tav tm="0">
                                          <p:val>
                                            <p:strVal val="#ppt_x"/>
                                          </p:val>
                                        </p:tav>
                                        <p:tav tm="100000">
                                          <p:val>
                                            <p:strVal val="#ppt_x"/>
                                          </p:val>
                                        </p:tav>
                                      </p:tavLst>
                                    </p:anim>
                                    <p:anim calcmode="lin" valueType="num">
                                      <p:cBhvr additive="base">
                                        <p:cTn id="1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7"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a:t>
            </a:r>
            <a:r>
              <a:rPr lang="zh-CN" altLang="en-US" dirty="0"/>
              <a:t>文件系统命名空间</a:t>
            </a:r>
          </a:p>
        </p:txBody>
      </p:sp>
      <p:sp>
        <p:nvSpPr>
          <p:cNvPr id="3" name="内容占位符 2">
            <a:extLst>
              <a:ext uri="{FF2B5EF4-FFF2-40B4-BE49-F238E27FC236}">
                <a16:creationId xmlns:a16="http://schemas.microsoft.com/office/drawing/2014/main" id="{5DCFDC94-1CFC-43B6-AA50-D001815095E3}"/>
              </a:ext>
            </a:extLst>
          </p:cNvPr>
          <p:cNvSpPr>
            <a:spLocks noGrp="1"/>
          </p:cNvSpPr>
          <p:nvPr>
            <p:ph idx="1"/>
          </p:nvPr>
        </p:nvSpPr>
        <p:spPr>
          <a:xfrm>
            <a:off x="251520" y="843558"/>
            <a:ext cx="8229600" cy="3528392"/>
          </a:xfrm>
        </p:spPr>
        <p:txBody>
          <a:bodyPr>
            <a:noAutofit/>
          </a:bodyPr>
          <a:lstStyle/>
          <a:p>
            <a:pPr>
              <a:lnSpc>
                <a:spcPct val="120000"/>
              </a:lnSpc>
            </a:pPr>
            <a:r>
              <a:rPr lang="en-US" altLang="zh-CN" sz="2000" dirty="0"/>
              <a:t>HDFS</a:t>
            </a:r>
            <a:r>
              <a:rPr lang="zh-CN" altLang="zh-CN" sz="2000" dirty="0"/>
              <a:t>支持传统的分层文件组织，用户或应用程序可以创建目录并在这些目录中存储文件。</a:t>
            </a:r>
            <a:endParaRPr lang="en-US" altLang="zh-CN" sz="2000" dirty="0"/>
          </a:p>
          <a:p>
            <a:pPr>
              <a:lnSpc>
                <a:spcPct val="120000"/>
              </a:lnSpc>
            </a:pPr>
            <a:r>
              <a:rPr lang="zh-CN" altLang="zh-CN" sz="2000" dirty="0"/>
              <a:t>文件系统命名空间（</a:t>
            </a:r>
            <a:r>
              <a:rPr lang="en-US" altLang="zh-CN" sz="2000" dirty="0"/>
              <a:t>The File System Namespace</a:t>
            </a:r>
            <a:r>
              <a:rPr lang="zh-CN" altLang="zh-CN" sz="2000" dirty="0"/>
              <a:t>）层次结构与大多数现有文件系统相似，可以创建和删除文件、移动</a:t>
            </a:r>
            <a:r>
              <a:rPr lang="zh-CN" altLang="en-US" sz="2000" dirty="0"/>
              <a:t>文件</a:t>
            </a:r>
            <a:r>
              <a:rPr lang="zh-CN" altLang="zh-CN" sz="2000" dirty="0"/>
              <a:t>或重命名</a:t>
            </a:r>
            <a:r>
              <a:rPr lang="zh-CN" altLang="zh-CN" sz="2000"/>
              <a:t>文件。</a:t>
            </a:r>
            <a:endParaRPr lang="en-US" altLang="zh-CN" sz="2000"/>
          </a:p>
          <a:p>
            <a:pPr>
              <a:lnSpc>
                <a:spcPct val="120000"/>
              </a:lnSpc>
            </a:pPr>
            <a:r>
              <a:rPr lang="en-US" altLang="zh-CN" sz="2000"/>
              <a:t>NameNode</a:t>
            </a:r>
            <a:r>
              <a:rPr lang="zh-CN" altLang="zh-CN" sz="2000" dirty="0"/>
              <a:t>维护文件系统命名空间，对文件系统命名空间或其属性的任何更改都由</a:t>
            </a:r>
            <a:r>
              <a:rPr lang="en-US" altLang="zh-CN" sz="2000" dirty="0" err="1"/>
              <a:t>NameNode</a:t>
            </a:r>
            <a:r>
              <a:rPr lang="zh-CN" altLang="zh-CN" sz="2000" dirty="0"/>
              <a:t>加以记录。</a:t>
            </a:r>
            <a:endParaRPr lang="en-US" altLang="zh-CN" sz="2000" dirty="0"/>
          </a:p>
          <a:p>
            <a:pPr>
              <a:lnSpc>
                <a:spcPct val="120000"/>
              </a:lnSpc>
            </a:pPr>
            <a:r>
              <a:rPr lang="zh-CN" altLang="zh-CN" sz="2000" dirty="0"/>
              <a:t>文件副本数称为文件的复制因子，应用程序可以指定由</a:t>
            </a:r>
            <a:r>
              <a:rPr lang="en-US" altLang="zh-CN" sz="2000" dirty="0"/>
              <a:t>HDFS</a:t>
            </a:r>
            <a:r>
              <a:rPr lang="zh-CN" altLang="zh-CN" sz="2000" dirty="0"/>
              <a:t>维护的文件副本数量，这些信息由</a:t>
            </a:r>
            <a:r>
              <a:rPr lang="en-US" altLang="zh-CN" sz="2000" dirty="0" err="1"/>
              <a:t>NameNode</a:t>
            </a:r>
            <a:r>
              <a:rPr lang="zh-CN" altLang="zh-CN" sz="2000" dirty="0"/>
              <a:t>存储和维护。</a:t>
            </a:r>
          </a:p>
        </p:txBody>
      </p:sp>
    </p:spTree>
    <p:extLst>
      <p:ext uri="{BB962C8B-B14F-4D97-AF65-F5344CB8AC3E}">
        <p14:creationId xmlns:p14="http://schemas.microsoft.com/office/powerpoint/2010/main" val="33578268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a:t>
            </a:r>
            <a:r>
              <a:rPr lang="zh-CN" altLang="en-US" dirty="0"/>
              <a:t>数据容错</a:t>
            </a:r>
          </a:p>
        </p:txBody>
      </p:sp>
      <p:sp>
        <p:nvSpPr>
          <p:cNvPr id="3" name="内容占位符 2">
            <a:extLst>
              <a:ext uri="{FF2B5EF4-FFF2-40B4-BE49-F238E27FC236}">
                <a16:creationId xmlns:a16="http://schemas.microsoft.com/office/drawing/2014/main" id="{5DCFDC94-1CFC-43B6-AA50-D001815095E3}"/>
              </a:ext>
            </a:extLst>
          </p:cNvPr>
          <p:cNvSpPr>
            <a:spLocks noGrp="1"/>
          </p:cNvSpPr>
          <p:nvPr>
            <p:ph idx="1"/>
          </p:nvPr>
        </p:nvSpPr>
        <p:spPr>
          <a:xfrm>
            <a:off x="251520" y="843558"/>
            <a:ext cx="8229600" cy="4155926"/>
          </a:xfrm>
        </p:spPr>
        <p:txBody>
          <a:bodyPr>
            <a:noAutofit/>
          </a:bodyPr>
          <a:lstStyle/>
          <a:p>
            <a:pPr>
              <a:lnSpc>
                <a:spcPct val="120000"/>
              </a:lnSpc>
            </a:pPr>
            <a:r>
              <a:rPr lang="en-US" altLang="zh-CN" sz="2000" dirty="0"/>
              <a:t>HDFS</a:t>
            </a:r>
            <a:r>
              <a:rPr lang="zh-CN" altLang="en-US" sz="2000" dirty="0"/>
              <a:t>可以在大型集群中跨机器可靠地存储大型文件，它将每个文件存储为一个块序列，通过复制文件块来实现容错。一个文件中除最后一个块以外，所有块都具有相同的大小。</a:t>
            </a:r>
          </a:p>
          <a:p>
            <a:pPr>
              <a:lnSpc>
                <a:spcPct val="120000"/>
              </a:lnSpc>
            </a:pPr>
            <a:r>
              <a:rPr lang="zh-CN" altLang="en-US" sz="2000" dirty="0"/>
              <a:t>每个文件都可以配置块大小和复制因子，应用程序可以指定文件的副本数。</a:t>
            </a:r>
            <a:r>
              <a:rPr lang="en-US" altLang="zh-CN" sz="2000" dirty="0"/>
              <a:t>HDFS</a:t>
            </a:r>
            <a:r>
              <a:rPr lang="zh-CN" altLang="en-US" sz="2000" dirty="0"/>
              <a:t>中的文件只写一次，之后可以利用</a:t>
            </a:r>
            <a:r>
              <a:rPr lang="en-US" altLang="zh-CN" sz="2000" dirty="0"/>
              <a:t>appends</a:t>
            </a:r>
            <a:r>
              <a:rPr lang="zh-CN" altLang="en-US" sz="2000" dirty="0"/>
              <a:t>和</a:t>
            </a:r>
            <a:r>
              <a:rPr lang="en-US" altLang="zh-CN" sz="2000" dirty="0"/>
              <a:t>truncates</a:t>
            </a:r>
            <a:r>
              <a:rPr lang="zh-CN" altLang="en-US" sz="2000" dirty="0"/>
              <a:t>对文件进行扩展和截断。</a:t>
            </a:r>
            <a:r>
              <a:rPr lang="en-US" altLang="zh-CN" sz="2000" dirty="0"/>
              <a:t>HDFS</a:t>
            </a:r>
            <a:r>
              <a:rPr lang="zh-CN" altLang="en-US" sz="2000" dirty="0"/>
              <a:t>严格限定同时只能有一个应用程序实现文件的写入操作。</a:t>
            </a:r>
          </a:p>
          <a:p>
            <a:pPr>
              <a:lnSpc>
                <a:spcPct val="120000"/>
              </a:lnSpc>
            </a:pPr>
            <a:r>
              <a:rPr lang="en-US" altLang="zh-CN" sz="2000" dirty="0" err="1"/>
              <a:t>NameNode</a:t>
            </a:r>
            <a:r>
              <a:rPr lang="zh-CN" altLang="en-US" sz="2000" dirty="0"/>
              <a:t>做出关于块复制的所有决策，它定期从集群中的每个</a:t>
            </a:r>
            <a:r>
              <a:rPr lang="en-US" altLang="zh-CN" sz="2000" dirty="0" err="1"/>
              <a:t>DataNode</a:t>
            </a:r>
            <a:r>
              <a:rPr lang="zh-CN" altLang="en-US" sz="2000" dirty="0"/>
              <a:t>接收心跳和文件数据块报告（</a:t>
            </a:r>
            <a:r>
              <a:rPr lang="en-US" altLang="zh-CN" sz="2000" dirty="0" err="1"/>
              <a:t>BlockReport</a:t>
            </a:r>
            <a:r>
              <a:rPr lang="zh-CN" altLang="en-US" sz="2000" dirty="0"/>
              <a:t>）。接收到心跳意味着</a:t>
            </a:r>
            <a:r>
              <a:rPr lang="en-US" altLang="zh-CN" sz="2000" dirty="0" err="1"/>
              <a:t>DataNode</a:t>
            </a:r>
            <a:r>
              <a:rPr lang="zh-CN" altLang="en-US" sz="2000" dirty="0"/>
              <a:t>运行正常，</a:t>
            </a:r>
            <a:r>
              <a:rPr lang="en-US" altLang="zh-CN" sz="2000" dirty="0" err="1"/>
              <a:t>BlockReport</a:t>
            </a:r>
            <a:r>
              <a:rPr lang="zh-CN" altLang="en-US" sz="2000" dirty="0"/>
              <a:t>则包含</a:t>
            </a:r>
            <a:r>
              <a:rPr lang="en-US" altLang="zh-CN" sz="2000" dirty="0" err="1"/>
              <a:t>DataNode</a:t>
            </a:r>
            <a:r>
              <a:rPr lang="zh-CN" altLang="en-US" sz="2000" dirty="0"/>
              <a:t>上所有块的列表。</a:t>
            </a:r>
          </a:p>
        </p:txBody>
      </p:sp>
    </p:spTree>
    <p:extLst>
      <p:ext uri="{BB962C8B-B14F-4D97-AF65-F5344CB8AC3E}">
        <p14:creationId xmlns:p14="http://schemas.microsoft.com/office/powerpoint/2010/main" val="7253360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a:t>
            </a:r>
            <a:r>
              <a:rPr lang="zh-CN" altLang="en-US" dirty="0"/>
              <a:t>副本的管理与使用</a:t>
            </a:r>
          </a:p>
        </p:txBody>
      </p:sp>
      <p:sp>
        <p:nvSpPr>
          <p:cNvPr id="3" name="内容占位符 2">
            <a:extLst>
              <a:ext uri="{FF2B5EF4-FFF2-40B4-BE49-F238E27FC236}">
                <a16:creationId xmlns:a16="http://schemas.microsoft.com/office/drawing/2014/main" id="{5DCFDC94-1CFC-43B6-AA50-D001815095E3}"/>
              </a:ext>
            </a:extLst>
          </p:cNvPr>
          <p:cNvSpPr>
            <a:spLocks noGrp="1"/>
          </p:cNvSpPr>
          <p:nvPr>
            <p:ph idx="1"/>
          </p:nvPr>
        </p:nvSpPr>
        <p:spPr>
          <a:xfrm>
            <a:off x="251520" y="843558"/>
            <a:ext cx="8229600" cy="4155926"/>
          </a:xfrm>
        </p:spPr>
        <p:txBody>
          <a:bodyPr>
            <a:noAutofit/>
          </a:bodyPr>
          <a:lstStyle/>
          <a:p>
            <a:pPr>
              <a:lnSpc>
                <a:spcPct val="120000"/>
              </a:lnSpc>
            </a:pPr>
            <a:r>
              <a:rPr lang="zh-CN" altLang="en-US" sz="2000" dirty="0"/>
              <a:t>副本的放置对</a:t>
            </a:r>
            <a:r>
              <a:rPr lang="en-US" altLang="zh-CN" sz="2000" dirty="0"/>
              <a:t>HDFS</a:t>
            </a:r>
            <a:r>
              <a:rPr lang="zh-CN" altLang="en-US" sz="2000" dirty="0"/>
              <a:t>的可靠性和性能至关重要。基于机架感知的副本放置策略可以提高数据可靠性、可用性和网络带宽利用率。</a:t>
            </a:r>
          </a:p>
          <a:p>
            <a:pPr>
              <a:lnSpc>
                <a:spcPct val="120000"/>
              </a:lnSpc>
            </a:pPr>
            <a:r>
              <a:rPr lang="zh-CN" altLang="en-US" sz="2000" dirty="0"/>
              <a:t>大型</a:t>
            </a:r>
            <a:r>
              <a:rPr lang="en-US" altLang="zh-CN" sz="2000" dirty="0"/>
              <a:t>HDFS</a:t>
            </a:r>
            <a:r>
              <a:rPr lang="zh-CN" altLang="en-US" sz="2000" dirty="0"/>
              <a:t>实例通常运行于分布在多个机架上的计算机集群上。不同机架上的两个节点之间必须通过交换机进行通信。在大多数情况下，同一机架中的计算机之间的网络带宽大于不同机架上计算机之间的网络带宽。</a:t>
            </a:r>
          </a:p>
          <a:p>
            <a:pPr>
              <a:lnSpc>
                <a:spcPct val="120000"/>
              </a:lnSpc>
            </a:pPr>
            <a:r>
              <a:rPr lang="en-US" altLang="zh-CN" sz="2000" dirty="0" err="1"/>
              <a:t>NameNode</a:t>
            </a:r>
            <a:r>
              <a:rPr lang="zh-CN" altLang="en-US" sz="2000" dirty="0"/>
              <a:t>通过</a:t>
            </a:r>
            <a:r>
              <a:rPr lang="en-US" altLang="zh-CN" sz="2000" dirty="0"/>
              <a:t>Hadoop</a:t>
            </a:r>
            <a:r>
              <a:rPr lang="zh-CN" altLang="en-US" sz="2000" dirty="0"/>
              <a:t>机架感知过程确定每个</a:t>
            </a:r>
            <a:r>
              <a:rPr lang="en-US" altLang="zh-CN" sz="2000" dirty="0" err="1"/>
              <a:t>DataNode</a:t>
            </a:r>
            <a:r>
              <a:rPr lang="zh-CN" altLang="en-US" sz="2000" dirty="0"/>
              <a:t>所属的机架</a:t>
            </a:r>
            <a:r>
              <a:rPr lang="en-US" altLang="zh-CN" sz="2000" dirty="0"/>
              <a:t>id</a:t>
            </a:r>
            <a:r>
              <a:rPr lang="zh-CN" altLang="en-US" sz="2000" dirty="0"/>
              <a:t>。一个简单但非最佳的策略是将副本放在不同的机架上，这可以防止整个机架发生故障时丢失数据，并允许在读取数据时使用多个机架的带宽。</a:t>
            </a:r>
          </a:p>
        </p:txBody>
      </p:sp>
    </p:spTree>
    <p:extLst>
      <p:ext uri="{BB962C8B-B14F-4D97-AF65-F5344CB8AC3E}">
        <p14:creationId xmlns:p14="http://schemas.microsoft.com/office/powerpoint/2010/main" val="362845300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a:t>
            </a:r>
            <a:r>
              <a:rPr lang="zh-CN" altLang="en-US" dirty="0"/>
              <a:t>副本的管理与使用</a:t>
            </a:r>
          </a:p>
        </p:txBody>
      </p:sp>
      <p:sp>
        <p:nvSpPr>
          <p:cNvPr id="3" name="内容占位符 2">
            <a:extLst>
              <a:ext uri="{FF2B5EF4-FFF2-40B4-BE49-F238E27FC236}">
                <a16:creationId xmlns:a16="http://schemas.microsoft.com/office/drawing/2014/main" id="{5DCFDC94-1CFC-43B6-AA50-D001815095E3}"/>
              </a:ext>
            </a:extLst>
          </p:cNvPr>
          <p:cNvSpPr>
            <a:spLocks noGrp="1"/>
          </p:cNvSpPr>
          <p:nvPr>
            <p:ph idx="1"/>
          </p:nvPr>
        </p:nvSpPr>
        <p:spPr>
          <a:xfrm>
            <a:off x="251520" y="843558"/>
            <a:ext cx="8229600" cy="4155926"/>
          </a:xfrm>
        </p:spPr>
        <p:txBody>
          <a:bodyPr>
            <a:noAutofit/>
          </a:bodyPr>
          <a:lstStyle/>
          <a:p>
            <a:pPr>
              <a:lnSpc>
                <a:spcPct val="120000"/>
              </a:lnSpc>
            </a:pPr>
            <a:r>
              <a:rPr lang="zh-CN" altLang="en-US" sz="2000" dirty="0"/>
              <a:t>当复制因子为</a:t>
            </a:r>
            <a:r>
              <a:rPr lang="en-US" altLang="zh-CN" sz="2000" dirty="0"/>
              <a:t>3</a:t>
            </a:r>
            <a:r>
              <a:rPr lang="zh-CN" altLang="en-US" sz="2000" dirty="0"/>
              <a:t>时，</a:t>
            </a:r>
            <a:r>
              <a:rPr lang="en-US" altLang="zh-CN" sz="2000" dirty="0"/>
              <a:t>HDFS</a:t>
            </a:r>
            <a:r>
              <a:rPr lang="zh-CN" altLang="en-US" sz="2000" dirty="0"/>
              <a:t>的放置策略是：如果</a:t>
            </a:r>
            <a:r>
              <a:rPr lang="en-US" altLang="zh-CN" sz="2000" dirty="0"/>
              <a:t>writer</a:t>
            </a:r>
            <a:r>
              <a:rPr lang="zh-CN" altLang="en-US" sz="2000" dirty="0"/>
              <a:t>位于</a:t>
            </a:r>
            <a:r>
              <a:rPr lang="en-US" altLang="zh-CN" sz="2000" dirty="0" err="1"/>
              <a:t>DataNode</a:t>
            </a:r>
            <a:r>
              <a:rPr lang="zh-CN" altLang="en-US" sz="2000" dirty="0"/>
              <a:t>上，则将一个副本放在本地计算机上；否则，将一个副本放在与</a:t>
            </a:r>
            <a:r>
              <a:rPr lang="en-US" altLang="zh-CN" sz="2000" dirty="0"/>
              <a:t>writer</a:t>
            </a:r>
            <a:r>
              <a:rPr lang="zh-CN" altLang="en-US" sz="2000" dirty="0"/>
              <a:t>相同机架（机架</a:t>
            </a:r>
            <a:r>
              <a:rPr lang="en-US" altLang="zh-CN" sz="2000" dirty="0"/>
              <a:t>A</a:t>
            </a:r>
            <a:r>
              <a:rPr lang="zh-CN" altLang="en-US" sz="2000" dirty="0"/>
              <a:t>）上随机的</a:t>
            </a:r>
            <a:r>
              <a:rPr lang="en-US" altLang="zh-CN" sz="2000" dirty="0" err="1"/>
              <a:t>DataNode</a:t>
            </a:r>
            <a:r>
              <a:rPr lang="zh-CN" altLang="en-US" sz="2000" dirty="0"/>
              <a:t>上</a:t>
            </a:r>
            <a:r>
              <a:rPr lang="zh-CN" altLang="en-US" sz="2000"/>
              <a:t>；另外一个</a:t>
            </a:r>
            <a:r>
              <a:rPr lang="zh-CN" altLang="en-US" sz="2000" dirty="0"/>
              <a:t>副本放在另一</a:t>
            </a:r>
            <a:r>
              <a:rPr lang="zh-CN" altLang="en-US" sz="2000"/>
              <a:t>个机架的节点上</a:t>
            </a:r>
            <a:r>
              <a:rPr lang="zh-CN" altLang="en-US" sz="2000" dirty="0"/>
              <a:t>。</a:t>
            </a:r>
            <a:endParaRPr lang="en-US" altLang="zh-CN" sz="2000" dirty="0"/>
          </a:p>
          <a:p>
            <a:pPr>
              <a:lnSpc>
                <a:spcPct val="120000"/>
              </a:lnSpc>
            </a:pPr>
            <a:r>
              <a:rPr lang="zh-CN" altLang="en-US" sz="2000" dirty="0"/>
              <a:t>此策略可减少机架间的写入流量，从而提高写入性能。由于机架故障的概率远小于节点故障的概率，因此，该策略不会影响数据可靠性和可用性。</a:t>
            </a:r>
            <a:endParaRPr lang="en-US" altLang="zh-CN" sz="2000" dirty="0"/>
          </a:p>
          <a:p>
            <a:pPr>
              <a:lnSpc>
                <a:spcPct val="120000"/>
              </a:lnSpc>
            </a:pPr>
            <a:r>
              <a:rPr lang="zh-CN" altLang="en-US" sz="2000" dirty="0"/>
              <a:t>如果复制因子大于</a:t>
            </a:r>
            <a:r>
              <a:rPr lang="en-US" altLang="zh-CN" sz="2000" dirty="0"/>
              <a:t>3</a:t>
            </a:r>
            <a:r>
              <a:rPr lang="zh-CN" altLang="en-US" sz="2000" dirty="0"/>
              <a:t>，则随机确定第</a:t>
            </a:r>
            <a:r>
              <a:rPr lang="en-US" altLang="zh-CN" sz="2000" dirty="0"/>
              <a:t>4</a:t>
            </a:r>
            <a:r>
              <a:rPr lang="zh-CN" altLang="en-US" sz="2000" dirty="0"/>
              <a:t>个和后续副本的位置，同时将每个机架的副本数保持在上限以下（例如：（副本数</a:t>
            </a:r>
            <a:r>
              <a:rPr lang="en-US" altLang="zh-CN" sz="2000" dirty="0"/>
              <a:t>-1</a:t>
            </a:r>
            <a:r>
              <a:rPr lang="zh-CN" altLang="en-US" sz="2000" dirty="0"/>
              <a:t>）</a:t>
            </a:r>
            <a:r>
              <a:rPr lang="en-US" altLang="zh-CN" sz="2000" dirty="0"/>
              <a:t>/</a:t>
            </a:r>
            <a:r>
              <a:rPr lang="zh-CN" altLang="en-US" sz="2000" dirty="0"/>
              <a:t>机架</a:t>
            </a:r>
            <a:r>
              <a:rPr lang="en-US" altLang="zh-CN" sz="2000" dirty="0"/>
              <a:t>+2</a:t>
            </a:r>
            <a:r>
              <a:rPr lang="zh-CN" altLang="en-US" sz="2000" dirty="0"/>
              <a:t>）。由于</a:t>
            </a:r>
            <a:r>
              <a:rPr lang="en-US" altLang="zh-CN" sz="2000" dirty="0" err="1"/>
              <a:t>NameNode</a:t>
            </a:r>
            <a:r>
              <a:rPr lang="zh-CN" altLang="en-US" sz="2000" dirty="0"/>
              <a:t>不允许一个</a:t>
            </a:r>
            <a:r>
              <a:rPr lang="en-US" altLang="zh-CN" sz="2000" dirty="0" err="1"/>
              <a:t>DataNode</a:t>
            </a:r>
            <a:r>
              <a:rPr lang="zh-CN" altLang="en-US" sz="2000" dirty="0"/>
              <a:t>拥有同一块的多个副本，所以创建的最大副本数就是此时</a:t>
            </a:r>
            <a:r>
              <a:rPr lang="en-US" altLang="zh-CN" sz="2000" dirty="0" err="1"/>
              <a:t>DataNode</a:t>
            </a:r>
            <a:r>
              <a:rPr lang="zh-CN" altLang="en-US" sz="2000" dirty="0"/>
              <a:t>的总数。</a:t>
            </a:r>
            <a:endParaRPr lang="en-US" altLang="zh-CN" sz="2000" dirty="0"/>
          </a:p>
        </p:txBody>
      </p:sp>
    </p:spTree>
    <p:extLst>
      <p:ext uri="{BB962C8B-B14F-4D97-AF65-F5344CB8AC3E}">
        <p14:creationId xmlns:p14="http://schemas.microsoft.com/office/powerpoint/2010/main" val="307086805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a:t>
            </a:r>
            <a:r>
              <a:rPr lang="zh-CN" altLang="en-US" dirty="0"/>
              <a:t>副本的管理与使用</a:t>
            </a:r>
          </a:p>
        </p:txBody>
      </p:sp>
      <p:sp>
        <p:nvSpPr>
          <p:cNvPr id="3" name="内容占位符 2">
            <a:extLst>
              <a:ext uri="{FF2B5EF4-FFF2-40B4-BE49-F238E27FC236}">
                <a16:creationId xmlns:a16="http://schemas.microsoft.com/office/drawing/2014/main" id="{5DCFDC94-1CFC-43B6-AA50-D001815095E3}"/>
              </a:ext>
            </a:extLst>
          </p:cNvPr>
          <p:cNvSpPr>
            <a:spLocks noGrp="1"/>
          </p:cNvSpPr>
          <p:nvPr>
            <p:ph idx="1"/>
          </p:nvPr>
        </p:nvSpPr>
        <p:spPr>
          <a:xfrm>
            <a:off x="251520" y="843558"/>
            <a:ext cx="8229600" cy="4155926"/>
          </a:xfrm>
        </p:spPr>
        <p:txBody>
          <a:bodyPr>
            <a:noAutofit/>
          </a:bodyPr>
          <a:lstStyle/>
          <a:p>
            <a:pPr>
              <a:lnSpc>
                <a:spcPct val="120000"/>
              </a:lnSpc>
            </a:pPr>
            <a:r>
              <a:rPr lang="zh-CN" altLang="en-US" sz="2000" dirty="0"/>
              <a:t>将存储介质和存储策略的支持添加到</a:t>
            </a:r>
            <a:r>
              <a:rPr lang="en-US" altLang="zh-CN" sz="2000" dirty="0"/>
              <a:t>HDFS</a:t>
            </a:r>
            <a:r>
              <a:rPr lang="zh-CN" altLang="en-US" sz="2000" dirty="0"/>
              <a:t>之后，除了机架感知策略外，</a:t>
            </a:r>
            <a:r>
              <a:rPr lang="en-US" altLang="zh-CN" sz="2000" dirty="0" err="1"/>
              <a:t>NameNode</a:t>
            </a:r>
            <a:r>
              <a:rPr lang="zh-CN" altLang="en-US" sz="2000" dirty="0"/>
              <a:t>还将考虑到副本</a:t>
            </a:r>
            <a:r>
              <a:rPr lang="zh-CN" altLang="en-US" sz="2000"/>
              <a:t>放置。</a:t>
            </a:r>
            <a:endParaRPr lang="en-US" altLang="zh-CN" sz="2000"/>
          </a:p>
          <a:p>
            <a:pPr>
              <a:lnSpc>
                <a:spcPct val="120000"/>
              </a:lnSpc>
            </a:pPr>
            <a:r>
              <a:rPr lang="en-US" altLang="zh-CN" sz="2000"/>
              <a:t>NameNode</a:t>
            </a:r>
            <a:r>
              <a:rPr lang="zh-CN" altLang="en-US" sz="2000" dirty="0"/>
              <a:t>首先根据机架感知选择节点，然后检查其是否具有与文件关联的策略所需的存储空间，如果没有，</a:t>
            </a:r>
            <a:r>
              <a:rPr lang="en-US" altLang="zh-CN" sz="2000" dirty="0" err="1"/>
              <a:t>NameNode</a:t>
            </a:r>
            <a:r>
              <a:rPr lang="zh-CN" altLang="en-US" sz="2000" dirty="0"/>
              <a:t>将查找另一个节点。如果在第一条路径中找不到足够的节点来放置副本，</a:t>
            </a:r>
            <a:r>
              <a:rPr lang="en-US" altLang="zh-CN" sz="2000" dirty="0" err="1"/>
              <a:t>NameNode</a:t>
            </a:r>
            <a:r>
              <a:rPr lang="zh-CN" altLang="en-US" sz="2000" dirty="0"/>
              <a:t>会在第二条路径中查找具有后备存储介质的节点。</a:t>
            </a:r>
          </a:p>
          <a:p>
            <a:pPr>
              <a:lnSpc>
                <a:spcPct val="120000"/>
              </a:lnSpc>
            </a:pPr>
            <a:r>
              <a:rPr lang="zh-CN" altLang="en-US" sz="2000" dirty="0"/>
              <a:t>为了最小化全局带宽消耗和读取延迟，</a:t>
            </a:r>
            <a:r>
              <a:rPr lang="en-US" altLang="zh-CN" sz="2000" dirty="0"/>
              <a:t>HDFS</a:t>
            </a:r>
            <a:r>
              <a:rPr lang="zh-CN" altLang="en-US" sz="2000" dirty="0"/>
              <a:t>首先尝试最接近读请求位置的副本。如果在与读请求节点相同的机架上存在一个副本，则首选该副本来满足读取请求。如果</a:t>
            </a:r>
            <a:r>
              <a:rPr lang="en-US" altLang="zh-CN" sz="2000" dirty="0"/>
              <a:t>HDFS</a:t>
            </a:r>
            <a:r>
              <a:rPr lang="zh-CN" altLang="en-US" sz="2000" dirty="0"/>
              <a:t>集群跨越多个数据中心，那么驻留在本地数据中心的副本比任何远程副本都要优先考虑。</a:t>
            </a:r>
          </a:p>
        </p:txBody>
      </p:sp>
    </p:spTree>
    <p:extLst>
      <p:ext uri="{BB962C8B-B14F-4D97-AF65-F5344CB8AC3E}">
        <p14:creationId xmlns:p14="http://schemas.microsoft.com/office/powerpoint/2010/main" val="242318137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580EA7-1E3E-4972-8767-A5E72A456947}"/>
              </a:ext>
            </a:extLst>
          </p:cNvPr>
          <p:cNvSpPr>
            <a:spLocks noGrp="1"/>
          </p:cNvSpPr>
          <p:nvPr>
            <p:ph type="title"/>
          </p:nvPr>
        </p:nvSpPr>
        <p:spPr/>
        <p:txBody>
          <a:bodyPr>
            <a:normAutofit fontScale="90000"/>
          </a:bodyPr>
          <a:lstStyle/>
          <a:p>
            <a:r>
              <a:rPr lang="en-US" altLang="zh-CN" dirty="0"/>
              <a:t>2 HDFS</a:t>
            </a:r>
            <a:r>
              <a:rPr lang="zh-CN" altLang="en-US" dirty="0"/>
              <a:t>体系结构</a:t>
            </a:r>
            <a:r>
              <a:rPr lang="en-US" altLang="zh-CN" dirty="0"/>
              <a:t>—</a:t>
            </a:r>
            <a:r>
              <a:rPr lang="zh-CN" altLang="en-US" dirty="0"/>
              <a:t>特性总结</a:t>
            </a:r>
          </a:p>
        </p:txBody>
      </p:sp>
      <p:sp>
        <p:nvSpPr>
          <p:cNvPr id="3" name="内容占位符 2">
            <a:extLst>
              <a:ext uri="{FF2B5EF4-FFF2-40B4-BE49-F238E27FC236}">
                <a16:creationId xmlns:a16="http://schemas.microsoft.com/office/drawing/2014/main" id="{5DCFDC94-1CFC-43B6-AA50-D001815095E3}"/>
              </a:ext>
            </a:extLst>
          </p:cNvPr>
          <p:cNvSpPr>
            <a:spLocks noGrp="1"/>
          </p:cNvSpPr>
          <p:nvPr>
            <p:ph idx="1"/>
          </p:nvPr>
        </p:nvSpPr>
        <p:spPr>
          <a:xfrm>
            <a:off x="485546" y="1224082"/>
            <a:ext cx="8118902" cy="3435900"/>
          </a:xfrm>
        </p:spPr>
        <p:txBody>
          <a:bodyPr>
            <a:noAutofit/>
          </a:bodyPr>
          <a:lstStyle/>
          <a:p>
            <a:pPr>
              <a:lnSpc>
                <a:spcPct val="120000"/>
              </a:lnSpc>
            </a:pPr>
            <a:r>
              <a:rPr lang="zh-CN" altLang="en-US" sz="2400" b="1" dirty="0">
                <a:solidFill>
                  <a:srgbClr val="FF0000"/>
                </a:solidFill>
              </a:rPr>
              <a:t>从主结构</a:t>
            </a:r>
            <a:r>
              <a:rPr lang="zh-CN" altLang="en-US" sz="2400" dirty="0"/>
              <a:t>：一主多从，各司其职，互相配合；</a:t>
            </a:r>
            <a:endParaRPr lang="en-US" altLang="zh-CN" sz="2400" dirty="0"/>
          </a:p>
          <a:p>
            <a:pPr>
              <a:lnSpc>
                <a:spcPct val="120000"/>
              </a:lnSpc>
            </a:pPr>
            <a:r>
              <a:rPr lang="zh-CN" altLang="en-US" sz="2400" b="1" dirty="0">
                <a:solidFill>
                  <a:srgbClr val="FF0000"/>
                </a:solidFill>
              </a:rPr>
              <a:t>分块存储机制</a:t>
            </a:r>
            <a:r>
              <a:rPr lang="zh-CN" altLang="en-US" sz="2400" dirty="0"/>
              <a:t>：文件物理被拆分，放在多台机器上，可以并行处理，负载均衡；</a:t>
            </a:r>
            <a:endParaRPr lang="en-US" altLang="zh-CN" sz="2400" dirty="0"/>
          </a:p>
          <a:p>
            <a:pPr>
              <a:lnSpc>
                <a:spcPct val="120000"/>
              </a:lnSpc>
            </a:pPr>
            <a:r>
              <a:rPr lang="zh-CN" altLang="en-US" sz="2400" b="1" dirty="0">
                <a:solidFill>
                  <a:srgbClr val="FF0000"/>
                </a:solidFill>
              </a:rPr>
              <a:t>副本机制</a:t>
            </a:r>
            <a:r>
              <a:rPr lang="zh-CN" altLang="en-US" sz="2400" dirty="0"/>
              <a:t>：数据存储安全，如设</a:t>
            </a:r>
            <a:r>
              <a:rPr lang="en-US" altLang="zh-CN" sz="2400" dirty="0" err="1"/>
              <a:t>dfs.replication</a:t>
            </a:r>
            <a:r>
              <a:rPr lang="zh-CN" altLang="en-US" sz="2400" dirty="0"/>
              <a:t>的值为</a:t>
            </a:r>
            <a:r>
              <a:rPr lang="en-US" altLang="zh-CN" sz="2400" dirty="0"/>
              <a:t>3</a:t>
            </a:r>
            <a:r>
              <a:rPr lang="zh-CN" altLang="en-US" sz="2400" dirty="0"/>
              <a:t>，也就是会额外再复制</a:t>
            </a:r>
            <a:r>
              <a:rPr lang="en-US" altLang="zh-CN" sz="2400" dirty="0"/>
              <a:t>2</a:t>
            </a:r>
            <a:r>
              <a:rPr lang="zh-CN" altLang="en-US" sz="2400" dirty="0"/>
              <a:t>份，连同本身共</a:t>
            </a:r>
            <a:r>
              <a:rPr lang="en-US" altLang="zh-CN" sz="2400" dirty="0"/>
              <a:t>3</a:t>
            </a:r>
            <a:r>
              <a:rPr lang="zh-CN" altLang="en-US" sz="2400" dirty="0"/>
              <a:t>份副本。</a:t>
            </a:r>
            <a:endParaRPr lang="en-US" altLang="zh-CN" sz="2400" dirty="0"/>
          </a:p>
          <a:p>
            <a:pPr>
              <a:lnSpc>
                <a:spcPct val="120000"/>
              </a:lnSpc>
            </a:pPr>
            <a:r>
              <a:rPr lang="en-US" altLang="zh-CN" sz="2400" b="1" dirty="0">
                <a:solidFill>
                  <a:srgbClr val="FF0000"/>
                </a:solidFill>
              </a:rPr>
              <a:t>Namespace</a:t>
            </a:r>
            <a:r>
              <a:rPr lang="zh-CN" altLang="en-US" sz="2400" dirty="0"/>
              <a:t>：层次型的文件组织结构，与本地文件系统类似。</a:t>
            </a:r>
          </a:p>
        </p:txBody>
      </p:sp>
    </p:spTree>
    <p:extLst>
      <p:ext uri="{BB962C8B-B14F-4D97-AF65-F5344CB8AC3E}">
        <p14:creationId xmlns:p14="http://schemas.microsoft.com/office/powerpoint/2010/main" val="30223587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4441513"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Times New Roman" panose="02020603050405020304" pitchFamily="18" charset="0"/>
              </a:rPr>
              <a:t>HDFS</a:t>
            </a:r>
            <a:r>
              <a:rPr lang="zh-CN" altLang="en-US" sz="3600" b="1" dirty="0">
                <a:solidFill>
                  <a:srgbClr val="FFC000"/>
                </a:solidFill>
                <a:effectLst>
                  <a:outerShdw blurRad="38100" dist="38100" dir="2700000" algn="tl">
                    <a:srgbClr val="000000">
                      <a:alpha val="43137"/>
                    </a:srgbClr>
                  </a:outerShdw>
                </a:effectLst>
                <a:latin typeface="IrisUPC" panose="020B0604020202020204" pitchFamily="34" charset="-34"/>
                <a:ea typeface="微软雅黑" panose="020B0503020204020204" pitchFamily="34" charset="-122"/>
                <a:cs typeface="IrisUPC" panose="020B0604020202020204" pitchFamily="34" charset="-34"/>
              </a:rPr>
              <a:t>初探</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03</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38161813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 HDFS</a:t>
            </a:r>
            <a:r>
              <a:rPr lang="zh-CN" altLang="en-US" dirty="0"/>
              <a:t>初探</a:t>
            </a:r>
            <a:r>
              <a:rPr lang="en-US" altLang="zh-CN" dirty="0"/>
              <a:t>—</a:t>
            </a:r>
            <a:r>
              <a:rPr lang="zh-CN" altLang="en-US" dirty="0"/>
              <a:t>开始</a:t>
            </a:r>
            <a:r>
              <a:rPr lang="en-US" altLang="zh-CN" dirty="0"/>
              <a:t>HDFS</a:t>
            </a:r>
            <a:r>
              <a:rPr lang="zh-CN" altLang="en-US" dirty="0"/>
              <a:t>旅程</a:t>
            </a:r>
          </a:p>
        </p:txBody>
      </p:sp>
      <p:sp>
        <p:nvSpPr>
          <p:cNvPr id="3" name="内容占位符 2"/>
          <p:cNvSpPr>
            <a:spLocks noGrp="1"/>
          </p:cNvSpPr>
          <p:nvPr>
            <p:ph idx="1"/>
          </p:nvPr>
        </p:nvSpPr>
        <p:spPr>
          <a:xfrm>
            <a:off x="251520" y="987574"/>
            <a:ext cx="8229600" cy="3394472"/>
          </a:xfrm>
        </p:spPr>
        <p:txBody>
          <a:bodyPr>
            <a:normAutofit/>
          </a:bodyPr>
          <a:lstStyle/>
          <a:p>
            <a:r>
              <a:rPr lang="zh-CN" altLang="en-US" sz="2400" dirty="0"/>
              <a:t>在使用</a:t>
            </a:r>
            <a:r>
              <a:rPr lang="en-US" altLang="zh-CN" sz="2400" dirty="0"/>
              <a:t>HDFS</a:t>
            </a:r>
            <a:r>
              <a:rPr lang="zh-CN" altLang="en-US" sz="2400" dirty="0"/>
              <a:t>文件系统前，需要先对文件系统进行格式化。在</a:t>
            </a:r>
            <a:r>
              <a:rPr lang="en-US" altLang="zh-CN" sz="2400" dirty="0" err="1"/>
              <a:t>NameNode</a:t>
            </a:r>
            <a:r>
              <a:rPr lang="zh-CN" altLang="en-US" sz="2400" dirty="0"/>
              <a:t>（</a:t>
            </a:r>
            <a:r>
              <a:rPr lang="en-US" altLang="zh-CN" sz="2400" dirty="0"/>
              <a:t>HDFS</a:t>
            </a:r>
            <a:r>
              <a:rPr lang="zh-CN" altLang="en-US" sz="2400" dirty="0"/>
              <a:t>服务器）上输入并执行“</a:t>
            </a:r>
            <a:r>
              <a:rPr lang="en-US" altLang="zh-CN" sz="2400" dirty="0" err="1"/>
              <a:t>hadoop</a:t>
            </a:r>
            <a:r>
              <a:rPr lang="en-US" altLang="zh-CN" sz="2400" dirty="0"/>
              <a:t> </a:t>
            </a:r>
            <a:r>
              <a:rPr lang="en-US" altLang="zh-CN" sz="2400" dirty="0" err="1"/>
              <a:t>namenode</a:t>
            </a:r>
            <a:r>
              <a:rPr lang="en-US" altLang="zh-CN" sz="2400" dirty="0"/>
              <a:t> -format”</a:t>
            </a:r>
            <a:r>
              <a:rPr lang="zh-CN" altLang="en-US" sz="2400" dirty="0"/>
              <a:t>命令，其执行过程如下：</a:t>
            </a:r>
          </a:p>
        </p:txBody>
      </p:sp>
      <p:pic>
        <p:nvPicPr>
          <p:cNvPr id="5" name="图片 4">
            <a:extLst>
              <a:ext uri="{FF2B5EF4-FFF2-40B4-BE49-F238E27FC236}">
                <a16:creationId xmlns:a16="http://schemas.microsoft.com/office/drawing/2014/main" id="{FD7E965F-7310-4A3B-942A-5420DD62B9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2321775"/>
            <a:ext cx="7430144" cy="2270957"/>
          </a:xfrm>
          <a:prstGeom prst="rect">
            <a:avLst/>
          </a:prstGeom>
        </p:spPr>
      </p:pic>
    </p:spTree>
    <p:extLst>
      <p:ext uri="{BB962C8B-B14F-4D97-AF65-F5344CB8AC3E}">
        <p14:creationId xmlns:p14="http://schemas.microsoft.com/office/powerpoint/2010/main" val="418264414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 HDFS</a:t>
            </a:r>
            <a:r>
              <a:rPr lang="zh-CN" altLang="en-US" dirty="0"/>
              <a:t>初探</a:t>
            </a:r>
            <a:r>
              <a:rPr lang="en-US" altLang="zh-CN" dirty="0"/>
              <a:t>—</a:t>
            </a:r>
            <a:r>
              <a:rPr lang="zh-CN" altLang="en-US" dirty="0"/>
              <a:t>开始</a:t>
            </a:r>
            <a:r>
              <a:rPr lang="en-US" altLang="zh-CN" dirty="0"/>
              <a:t>HDFS</a:t>
            </a:r>
            <a:r>
              <a:rPr lang="zh-CN" altLang="en-US" dirty="0"/>
              <a:t>旅程</a:t>
            </a:r>
          </a:p>
        </p:txBody>
      </p:sp>
      <p:sp>
        <p:nvSpPr>
          <p:cNvPr id="3" name="内容占位符 2"/>
          <p:cNvSpPr>
            <a:spLocks noGrp="1"/>
          </p:cNvSpPr>
          <p:nvPr>
            <p:ph idx="1"/>
          </p:nvPr>
        </p:nvSpPr>
        <p:spPr>
          <a:xfrm>
            <a:off x="251520" y="987574"/>
            <a:ext cx="8229600" cy="3394472"/>
          </a:xfrm>
        </p:spPr>
        <p:txBody>
          <a:bodyPr>
            <a:normAutofit/>
          </a:bodyPr>
          <a:lstStyle/>
          <a:p>
            <a:r>
              <a:rPr lang="zh-CN" altLang="en-US" sz="2400" dirty="0"/>
              <a:t>格式化</a:t>
            </a:r>
            <a:r>
              <a:rPr lang="en-US" altLang="zh-CN" sz="2400" dirty="0"/>
              <a:t>HDFS</a:t>
            </a:r>
            <a:r>
              <a:rPr lang="zh-CN" altLang="en-US" sz="2400" dirty="0"/>
              <a:t>后，便可以启动</a:t>
            </a:r>
            <a:r>
              <a:rPr lang="en-US" altLang="zh-CN" sz="2400" dirty="0"/>
              <a:t>Hadoop</a:t>
            </a:r>
            <a:r>
              <a:rPr lang="zh-CN" altLang="en-US" sz="2400" dirty="0"/>
              <a:t>分布式文件系统，执行如下命令将会启动</a:t>
            </a:r>
            <a:r>
              <a:rPr lang="en-US" altLang="zh-CN" sz="2400" dirty="0" err="1"/>
              <a:t>NameNode</a:t>
            </a:r>
            <a:r>
              <a:rPr lang="zh-CN" altLang="en-US" sz="2400" dirty="0"/>
              <a:t>以及</a:t>
            </a:r>
            <a:r>
              <a:rPr lang="en-US" altLang="zh-CN" sz="2400" dirty="0" err="1"/>
              <a:t>DataNode</a:t>
            </a:r>
            <a:r>
              <a:rPr lang="zh-CN" altLang="en-US" sz="2400" dirty="0"/>
              <a:t>。</a:t>
            </a:r>
          </a:p>
        </p:txBody>
      </p:sp>
      <p:pic>
        <p:nvPicPr>
          <p:cNvPr id="6" name="图片 5">
            <a:extLst>
              <a:ext uri="{FF2B5EF4-FFF2-40B4-BE49-F238E27FC236}">
                <a16:creationId xmlns:a16="http://schemas.microsoft.com/office/drawing/2014/main" id="{B11ADFA7-CDCE-490E-BD09-076F340809C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91680" y="2283718"/>
            <a:ext cx="4392488" cy="1058335"/>
          </a:xfrm>
          <a:prstGeom prst="rect">
            <a:avLst/>
          </a:prstGeom>
        </p:spPr>
      </p:pic>
    </p:spTree>
    <p:extLst>
      <p:ext uri="{BB962C8B-B14F-4D97-AF65-F5344CB8AC3E}">
        <p14:creationId xmlns:p14="http://schemas.microsoft.com/office/powerpoint/2010/main" val="41786940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8A53CB-0F96-4938-AE8A-E040E64C51EB}"/>
              </a:ext>
            </a:extLst>
          </p:cNvPr>
          <p:cNvSpPr>
            <a:spLocks noGrp="1"/>
          </p:cNvSpPr>
          <p:nvPr>
            <p:ph type="title"/>
          </p:nvPr>
        </p:nvSpPr>
        <p:spPr/>
        <p:txBody>
          <a:bodyPr>
            <a:normAutofit fontScale="90000"/>
          </a:bodyPr>
          <a:lstStyle/>
          <a:p>
            <a:r>
              <a:rPr lang="en-US" altLang="zh-CN" dirty="0"/>
              <a:t>3 Hadoop</a:t>
            </a:r>
            <a:r>
              <a:rPr lang="zh-CN" altLang="en-US" dirty="0"/>
              <a:t>初探 </a:t>
            </a:r>
            <a:r>
              <a:rPr lang="en-US" altLang="zh-CN" dirty="0"/>
              <a:t>— </a:t>
            </a:r>
            <a:r>
              <a:rPr lang="zh-CN" altLang="en-US" dirty="0"/>
              <a:t>命令结构</a:t>
            </a:r>
          </a:p>
        </p:txBody>
      </p:sp>
      <p:sp>
        <p:nvSpPr>
          <p:cNvPr id="3" name="内容占位符 2">
            <a:extLst>
              <a:ext uri="{FF2B5EF4-FFF2-40B4-BE49-F238E27FC236}">
                <a16:creationId xmlns:a16="http://schemas.microsoft.com/office/drawing/2014/main" id="{8A36C031-A349-4868-8102-14663424ADB4}"/>
              </a:ext>
            </a:extLst>
          </p:cNvPr>
          <p:cNvSpPr>
            <a:spLocks noGrp="1"/>
          </p:cNvSpPr>
          <p:nvPr>
            <p:ph idx="1"/>
          </p:nvPr>
        </p:nvSpPr>
        <p:spPr>
          <a:xfrm>
            <a:off x="323528" y="1059582"/>
            <a:ext cx="8229600" cy="3960440"/>
          </a:xfrm>
        </p:spPr>
        <p:txBody>
          <a:bodyPr>
            <a:normAutofit fontScale="92500" lnSpcReduction="10000"/>
          </a:bodyPr>
          <a:lstStyle/>
          <a:p>
            <a:r>
              <a:rPr lang="en-US" altLang="zh-CN" sz="2800" dirty="0"/>
              <a:t>Hadoop</a:t>
            </a:r>
            <a:r>
              <a:rPr lang="zh-CN" altLang="zh-CN" sz="2800" dirty="0"/>
              <a:t>命令都遵循相同的命令格式：</a:t>
            </a:r>
            <a:endParaRPr lang="en-US" altLang="zh-CN" sz="2800" dirty="0"/>
          </a:p>
          <a:p>
            <a:pPr marL="0" indent="0">
              <a:buNone/>
            </a:pPr>
            <a:r>
              <a:rPr lang="en-US" altLang="zh-CN" sz="2000" dirty="0"/>
              <a:t>Usage: </a:t>
            </a:r>
            <a:r>
              <a:rPr lang="en-US" altLang="zh-CN" sz="2000" dirty="0" err="1"/>
              <a:t>shellcommand</a:t>
            </a:r>
            <a:r>
              <a:rPr lang="en-US" altLang="zh-CN" sz="2000" dirty="0"/>
              <a:t> [SHELL_OPTIONS] [COMMAND] [GENERIC_OPTIONS] [COMMAND_OPTIONS]</a:t>
            </a:r>
            <a:endParaRPr lang="zh-CN" altLang="zh-CN" sz="2000" dirty="0"/>
          </a:p>
          <a:p>
            <a:pPr lvl="1" hangingPunct="0">
              <a:buFont typeface="Wingdings" panose="05000000000000000000" pitchFamily="2" charset="2"/>
              <a:buChar char="Ø"/>
            </a:pPr>
            <a:r>
              <a:rPr lang="en-US" altLang="zh-CN" sz="2200" dirty="0"/>
              <a:t>Hadoop</a:t>
            </a:r>
            <a:r>
              <a:rPr lang="zh-CN" altLang="zh-CN" sz="2200" dirty="0"/>
              <a:t>命令的各个部分对应描述如下：</a:t>
            </a:r>
          </a:p>
          <a:p>
            <a:pPr lvl="1" hangingPunct="0">
              <a:buFont typeface="Wingdings" panose="05000000000000000000" pitchFamily="2" charset="2"/>
              <a:buChar char="Ø"/>
            </a:pPr>
            <a:r>
              <a:rPr lang="en-US" altLang="zh-CN" sz="2200" dirty="0" err="1"/>
              <a:t>Shellcommand</a:t>
            </a:r>
            <a:r>
              <a:rPr lang="zh-CN" altLang="zh-CN" sz="2200" dirty="0"/>
              <a:t>：不同的</a:t>
            </a:r>
            <a:r>
              <a:rPr lang="en-US" altLang="zh-CN" sz="2200" dirty="0"/>
              <a:t>Hadoop</a:t>
            </a:r>
            <a:r>
              <a:rPr lang="zh-CN" altLang="zh-CN" sz="2200" dirty="0"/>
              <a:t>子项目都有不同的命令名称，例如，</a:t>
            </a:r>
            <a:r>
              <a:rPr lang="en-US" altLang="zh-CN" sz="2200" dirty="0"/>
              <a:t>Hadoop Common</a:t>
            </a:r>
            <a:r>
              <a:rPr lang="zh-CN" altLang="zh-CN" sz="2200" dirty="0"/>
              <a:t>对应</a:t>
            </a:r>
            <a:r>
              <a:rPr lang="en-US" altLang="zh-CN" sz="2200" dirty="0" err="1"/>
              <a:t>hadoop</a:t>
            </a:r>
            <a:r>
              <a:rPr lang="en-US" altLang="zh-CN" sz="2200" dirty="0"/>
              <a:t> </a:t>
            </a:r>
            <a:r>
              <a:rPr lang="zh-CN" altLang="zh-CN" sz="2200" dirty="0"/>
              <a:t>，</a:t>
            </a:r>
            <a:r>
              <a:rPr lang="en-US" altLang="zh-CN" sz="2200" dirty="0"/>
              <a:t>HDFS</a:t>
            </a:r>
            <a:r>
              <a:rPr lang="zh-CN" altLang="zh-CN" sz="2200" dirty="0"/>
              <a:t>对应</a:t>
            </a:r>
            <a:r>
              <a:rPr lang="en-US" altLang="zh-CN" sz="2200" dirty="0" err="1"/>
              <a:t>hdfs</a:t>
            </a:r>
            <a:r>
              <a:rPr lang="zh-CN" altLang="zh-CN" sz="2200" dirty="0"/>
              <a:t>，</a:t>
            </a:r>
            <a:r>
              <a:rPr lang="en-US" altLang="zh-CN" sz="2200" dirty="0"/>
              <a:t>YARN</a:t>
            </a:r>
            <a:r>
              <a:rPr lang="zh-CN" altLang="zh-CN" sz="2200" dirty="0"/>
              <a:t>对应</a:t>
            </a:r>
            <a:r>
              <a:rPr lang="en-US" altLang="zh-CN" sz="2200" dirty="0"/>
              <a:t>yarn</a:t>
            </a:r>
            <a:r>
              <a:rPr lang="zh-CN" altLang="zh-CN" sz="2200" dirty="0"/>
              <a:t>；</a:t>
            </a:r>
          </a:p>
          <a:p>
            <a:pPr lvl="1" hangingPunct="0">
              <a:buFont typeface="Wingdings" panose="05000000000000000000" pitchFamily="2" charset="2"/>
              <a:buChar char="Ø"/>
            </a:pPr>
            <a:r>
              <a:rPr lang="en-US" altLang="zh-CN" sz="2200" dirty="0"/>
              <a:t>SHELL_OPTIONS</a:t>
            </a:r>
            <a:r>
              <a:rPr lang="zh-CN" altLang="zh-CN" sz="2200" dirty="0"/>
              <a:t>：</a:t>
            </a:r>
            <a:r>
              <a:rPr lang="en-US" altLang="zh-CN" sz="2200" dirty="0"/>
              <a:t>Shell</a:t>
            </a:r>
            <a:r>
              <a:rPr lang="zh-CN" altLang="zh-CN" sz="2200" dirty="0"/>
              <a:t>在执行</a:t>
            </a:r>
            <a:r>
              <a:rPr lang="en-US" altLang="zh-CN" sz="2200" dirty="0"/>
              <a:t>Java</a:t>
            </a:r>
            <a:r>
              <a:rPr lang="zh-CN" altLang="zh-CN" sz="2200" dirty="0"/>
              <a:t>前需执行的选项，例如加载配置文件，其可设置参数如表</a:t>
            </a:r>
            <a:r>
              <a:rPr lang="en-US" altLang="zh-CN" sz="2200" dirty="0"/>
              <a:t>4.2</a:t>
            </a:r>
            <a:r>
              <a:rPr lang="zh-CN" altLang="zh-CN" sz="2200" dirty="0"/>
              <a:t>所示。</a:t>
            </a:r>
          </a:p>
          <a:p>
            <a:pPr lvl="1" hangingPunct="0">
              <a:buFont typeface="Wingdings" panose="05000000000000000000" pitchFamily="2" charset="2"/>
              <a:buChar char="Ø"/>
            </a:pPr>
            <a:r>
              <a:rPr lang="en-US" altLang="zh-CN" sz="2200" dirty="0"/>
              <a:t>COMMAND</a:t>
            </a:r>
            <a:r>
              <a:rPr lang="zh-CN" altLang="zh-CN" sz="2200" dirty="0"/>
              <a:t>：具体的命令； </a:t>
            </a:r>
          </a:p>
          <a:p>
            <a:pPr lvl="1" hangingPunct="0">
              <a:buFont typeface="Wingdings" panose="05000000000000000000" pitchFamily="2" charset="2"/>
              <a:buChar char="Ø"/>
            </a:pPr>
            <a:r>
              <a:rPr lang="en-US" altLang="zh-CN" sz="2200" dirty="0"/>
              <a:t>GENERIC_OPTIONS</a:t>
            </a:r>
            <a:r>
              <a:rPr lang="zh-CN" altLang="zh-CN" sz="2200" dirty="0"/>
              <a:t>：多数命令都支持的一些可选项设置； </a:t>
            </a:r>
          </a:p>
          <a:p>
            <a:pPr lvl="1" hangingPunct="0">
              <a:buFont typeface="Wingdings" panose="05000000000000000000" pitchFamily="2" charset="2"/>
              <a:buChar char="Ø"/>
            </a:pPr>
            <a:r>
              <a:rPr lang="en-US" altLang="zh-CN" sz="2200" dirty="0"/>
              <a:t>COMMAND_OPTIONS</a:t>
            </a:r>
            <a:r>
              <a:rPr lang="zh-CN" altLang="zh-CN" sz="2200" dirty="0"/>
              <a:t>：各种命令特有的一些可选设置项。</a:t>
            </a:r>
            <a:endParaRPr lang="zh-CN" altLang="en-US" sz="2200" dirty="0"/>
          </a:p>
        </p:txBody>
      </p:sp>
    </p:spTree>
    <p:extLst>
      <p:ext uri="{BB962C8B-B14F-4D97-AF65-F5344CB8AC3E}">
        <p14:creationId xmlns:p14="http://schemas.microsoft.com/office/powerpoint/2010/main" val="22736585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 HDFS</a:t>
            </a:r>
            <a:r>
              <a:rPr lang="zh-CN" altLang="en-US" dirty="0"/>
              <a:t>初探</a:t>
            </a:r>
            <a:r>
              <a:rPr lang="en-US" altLang="zh-CN" dirty="0"/>
              <a:t>—</a:t>
            </a:r>
            <a:r>
              <a:rPr lang="zh-CN" altLang="en-US" dirty="0"/>
              <a:t>开始</a:t>
            </a:r>
            <a:r>
              <a:rPr lang="en-US" altLang="zh-CN" dirty="0"/>
              <a:t>HDFS</a:t>
            </a:r>
            <a:r>
              <a:rPr lang="zh-CN" altLang="en-US" dirty="0"/>
              <a:t>旅程</a:t>
            </a:r>
          </a:p>
        </p:txBody>
      </p:sp>
      <p:sp>
        <p:nvSpPr>
          <p:cNvPr id="3" name="内容占位符 2"/>
          <p:cNvSpPr>
            <a:spLocks noGrp="1"/>
          </p:cNvSpPr>
          <p:nvPr>
            <p:ph idx="1"/>
          </p:nvPr>
        </p:nvSpPr>
        <p:spPr>
          <a:xfrm>
            <a:off x="251520" y="987574"/>
            <a:ext cx="8229600" cy="4392488"/>
          </a:xfrm>
        </p:spPr>
        <p:txBody>
          <a:bodyPr>
            <a:normAutofit/>
          </a:bodyPr>
          <a:lstStyle/>
          <a:p>
            <a:r>
              <a:rPr lang="zh-CN" altLang="en-US" sz="2400" dirty="0"/>
              <a:t>使用“</a:t>
            </a:r>
            <a:r>
              <a:rPr lang="en-US" altLang="zh-CN" sz="2400" dirty="0"/>
              <a:t>ls”</a:t>
            </a:r>
            <a:r>
              <a:rPr lang="zh-CN" altLang="en-US" sz="2400" dirty="0"/>
              <a:t>命令可以查看文件系统中的文件信息，格式如下：</a:t>
            </a:r>
            <a:endParaRPr lang="en-US" altLang="zh-CN" sz="2400" dirty="0"/>
          </a:p>
          <a:p>
            <a:endParaRPr lang="en-US" altLang="zh-CN" sz="2400" dirty="0"/>
          </a:p>
          <a:p>
            <a:r>
              <a:rPr lang="en-US" altLang="zh-CN" sz="2400" dirty="0"/>
              <a:t>“$HADOOP_HOME”</a:t>
            </a:r>
            <a:r>
              <a:rPr lang="zh-CN" altLang="en-US" sz="2400" dirty="0"/>
              <a:t>是</a:t>
            </a:r>
            <a:r>
              <a:rPr lang="en-US" altLang="zh-CN" sz="2400" dirty="0"/>
              <a:t>Hadoop</a:t>
            </a:r>
            <a:r>
              <a:rPr lang="zh-CN" altLang="en-US" sz="2400" dirty="0"/>
              <a:t>安装目录，可以将”</a:t>
            </a:r>
            <a:r>
              <a:rPr lang="en-US" altLang="zh-CN" sz="2400" dirty="0"/>
              <a:t>$HADOOP_HOME/bin”</a:t>
            </a:r>
            <a:r>
              <a:rPr lang="zh-CN" altLang="en-US" sz="2400" dirty="0"/>
              <a:t>加入</a:t>
            </a:r>
            <a:r>
              <a:rPr lang="en-US" altLang="zh-CN" sz="2400" dirty="0"/>
              <a:t>$PATH</a:t>
            </a:r>
            <a:r>
              <a:rPr lang="zh-CN" altLang="en-US" sz="2400" dirty="0"/>
              <a:t>中，即可以直接执行</a:t>
            </a:r>
            <a:r>
              <a:rPr lang="en-US" altLang="zh-CN" sz="2400" dirty="0" err="1"/>
              <a:t>hadoop</a:t>
            </a:r>
            <a:r>
              <a:rPr lang="zh-CN" altLang="en-US" sz="2400" dirty="0"/>
              <a:t>命令。</a:t>
            </a:r>
          </a:p>
          <a:p>
            <a:r>
              <a:rPr lang="zh-CN" altLang="en-US" sz="2400" dirty="0"/>
              <a:t>例如，使用“</a:t>
            </a:r>
            <a:r>
              <a:rPr lang="en-US" altLang="zh-CN" sz="2400" dirty="0" err="1"/>
              <a:t>hadoop</a:t>
            </a:r>
            <a:r>
              <a:rPr lang="en-US" altLang="zh-CN" sz="2400" dirty="0"/>
              <a:t> fs -ls”</a:t>
            </a:r>
            <a:r>
              <a:rPr lang="zh-CN" altLang="en-US" sz="2400" dirty="0"/>
              <a:t>查看根目录信息：</a:t>
            </a:r>
            <a:endParaRPr lang="en-US" altLang="zh-CN" sz="2400" dirty="0"/>
          </a:p>
          <a:p>
            <a:endParaRPr lang="en-US" altLang="zh-CN" sz="2400" dirty="0"/>
          </a:p>
          <a:p>
            <a:endParaRPr lang="en-US" altLang="zh-CN" sz="2400" dirty="0"/>
          </a:p>
          <a:p>
            <a:endParaRPr lang="en-US" altLang="zh-CN" sz="2400" dirty="0"/>
          </a:p>
          <a:p>
            <a:endParaRPr lang="zh-CN" altLang="en-US" sz="2400" dirty="0"/>
          </a:p>
        </p:txBody>
      </p:sp>
      <p:pic>
        <p:nvPicPr>
          <p:cNvPr id="5" name="图片 4">
            <a:extLst>
              <a:ext uri="{FF2B5EF4-FFF2-40B4-BE49-F238E27FC236}">
                <a16:creationId xmlns:a16="http://schemas.microsoft.com/office/drawing/2014/main" id="{19A1DEBE-6350-4E10-8C97-1804795176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1419622"/>
            <a:ext cx="6507450" cy="391598"/>
          </a:xfrm>
          <a:prstGeom prst="rect">
            <a:avLst/>
          </a:prstGeom>
        </p:spPr>
      </p:pic>
      <p:pic>
        <p:nvPicPr>
          <p:cNvPr id="8" name="图片 7">
            <a:extLst>
              <a:ext uri="{FF2B5EF4-FFF2-40B4-BE49-F238E27FC236}">
                <a16:creationId xmlns:a16="http://schemas.microsoft.com/office/drawing/2014/main" id="{2E9F6F2C-A152-4E85-B52D-3F0A08C2E0E0}"/>
              </a:ext>
            </a:extLst>
          </p:cNvPr>
          <p:cNvPicPr>
            <a:picLocks noChangeAspect="1"/>
          </p:cNvPicPr>
          <p:nvPr/>
        </p:nvPicPr>
        <p:blipFill rotWithShape="1">
          <a:blip r:embed="rId3">
            <a:extLst>
              <a:ext uri="{28A0092B-C50C-407E-A947-70E740481C1C}">
                <a14:useLocalDpi xmlns:a14="http://schemas.microsoft.com/office/drawing/2010/main" val="0"/>
              </a:ext>
            </a:extLst>
          </a:blip>
          <a:srcRect t="3844"/>
          <a:stretch/>
        </p:blipFill>
        <p:spPr>
          <a:xfrm>
            <a:off x="517530" y="3525740"/>
            <a:ext cx="7963590" cy="1260371"/>
          </a:xfrm>
          <a:prstGeom prst="rect">
            <a:avLst/>
          </a:prstGeom>
        </p:spPr>
      </p:pic>
    </p:spTree>
    <p:extLst>
      <p:ext uri="{BB962C8B-B14F-4D97-AF65-F5344CB8AC3E}">
        <p14:creationId xmlns:p14="http://schemas.microsoft.com/office/powerpoint/2010/main" val="2010418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 HDFS</a:t>
            </a:r>
            <a:r>
              <a:rPr lang="zh-CN" altLang="en-US" dirty="0"/>
              <a:t>初探</a:t>
            </a:r>
            <a:r>
              <a:rPr lang="en-US" altLang="zh-CN" dirty="0"/>
              <a:t>—</a:t>
            </a:r>
            <a:r>
              <a:rPr lang="zh-CN" altLang="en-US" dirty="0"/>
              <a:t>添加数据文件</a:t>
            </a:r>
          </a:p>
        </p:txBody>
      </p:sp>
      <p:sp>
        <p:nvSpPr>
          <p:cNvPr id="3" name="内容占位符 2"/>
          <p:cNvSpPr>
            <a:spLocks noGrp="1"/>
          </p:cNvSpPr>
          <p:nvPr>
            <p:ph idx="1"/>
          </p:nvPr>
        </p:nvSpPr>
        <p:spPr>
          <a:xfrm>
            <a:off x="251520" y="987574"/>
            <a:ext cx="8229600" cy="3394472"/>
          </a:xfrm>
        </p:spPr>
        <p:txBody>
          <a:bodyPr>
            <a:normAutofit/>
          </a:bodyPr>
          <a:lstStyle/>
          <a:p>
            <a:r>
              <a:rPr lang="zh-CN" altLang="en-US" sz="2400" dirty="0"/>
              <a:t>将本地数据文件“</a:t>
            </a:r>
            <a:r>
              <a:rPr lang="en-US" altLang="zh-CN" sz="2400" dirty="0"/>
              <a:t>file.txt”</a:t>
            </a:r>
            <a:r>
              <a:rPr lang="zh-CN" altLang="en-US" sz="2400" dirty="0"/>
              <a:t>存储到</a:t>
            </a:r>
            <a:r>
              <a:rPr lang="en-US" altLang="zh-CN" sz="2400" dirty="0"/>
              <a:t>HDFS</a:t>
            </a:r>
            <a:r>
              <a:rPr lang="zh-CN" altLang="en-US" sz="2400" dirty="0"/>
              <a:t>中的“</a:t>
            </a:r>
            <a:r>
              <a:rPr lang="en-US" altLang="zh-CN" sz="2400" dirty="0"/>
              <a:t>/user/input”</a:t>
            </a:r>
            <a:r>
              <a:rPr lang="zh-CN" altLang="en-US" sz="2400" dirty="0"/>
              <a:t>文件夹下，可按下述操作执行：</a:t>
            </a:r>
            <a:endParaRPr lang="en-US" altLang="zh-CN" sz="2400" dirty="0"/>
          </a:p>
          <a:p>
            <a:pPr marL="0" indent="0">
              <a:buNone/>
            </a:pPr>
            <a:r>
              <a:rPr lang="en-US" altLang="zh-CN" sz="2400" dirty="0"/>
              <a:t>      </a:t>
            </a:r>
            <a:r>
              <a:rPr lang="zh-CN" altLang="en-US" sz="2400" dirty="0"/>
              <a:t>创建存储文件夹</a:t>
            </a:r>
            <a:endParaRPr lang="en-US" altLang="zh-CN" sz="2400" dirty="0"/>
          </a:p>
          <a:p>
            <a:pPr marL="0" indent="0">
              <a:buNone/>
            </a:pPr>
            <a:endParaRPr lang="en-US" altLang="zh-CN" sz="2400" dirty="0"/>
          </a:p>
          <a:p>
            <a:pPr marL="0" indent="0">
              <a:buNone/>
            </a:pPr>
            <a:r>
              <a:rPr lang="en-US" altLang="zh-CN" sz="2400" dirty="0"/>
              <a:t>      </a:t>
            </a:r>
            <a:r>
              <a:rPr lang="zh-CN" altLang="en-US" sz="2400" dirty="0"/>
              <a:t>使用</a:t>
            </a:r>
            <a:r>
              <a:rPr lang="en-US" altLang="zh-CN" sz="2400" dirty="0"/>
              <a:t>put</a:t>
            </a:r>
            <a:r>
              <a:rPr lang="zh-CN" altLang="en-US" sz="2400" dirty="0"/>
              <a:t>命令上传文件</a:t>
            </a:r>
            <a:endParaRPr lang="en-US" altLang="zh-CN" sz="2400" dirty="0"/>
          </a:p>
          <a:p>
            <a:pPr marL="0" indent="0">
              <a:buNone/>
            </a:pPr>
            <a:endParaRPr lang="en-US" altLang="zh-CN" sz="2400" dirty="0"/>
          </a:p>
          <a:p>
            <a:pPr marL="0" indent="0">
              <a:buNone/>
            </a:pPr>
            <a:r>
              <a:rPr lang="en-US" altLang="zh-CN" sz="2400" dirty="0"/>
              <a:t>      </a:t>
            </a:r>
            <a:r>
              <a:rPr lang="zh-CN" altLang="en-US" sz="2400" dirty="0"/>
              <a:t>查看操作是否成功</a:t>
            </a:r>
            <a:endParaRPr lang="en-US" altLang="zh-CN" sz="2400" dirty="0"/>
          </a:p>
          <a:p>
            <a:pPr marL="0" indent="0">
              <a:buNone/>
            </a:pPr>
            <a:endParaRPr lang="zh-CN" altLang="en-US" sz="2400" dirty="0"/>
          </a:p>
        </p:txBody>
      </p:sp>
      <p:pic>
        <p:nvPicPr>
          <p:cNvPr id="5" name="图片 4">
            <a:extLst>
              <a:ext uri="{FF2B5EF4-FFF2-40B4-BE49-F238E27FC236}">
                <a16:creationId xmlns:a16="http://schemas.microsoft.com/office/drawing/2014/main" id="{75C1A7AE-4E6E-4485-8CE2-56C9E2644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3608" y="2211710"/>
            <a:ext cx="5252096" cy="467892"/>
          </a:xfrm>
          <a:prstGeom prst="rect">
            <a:avLst/>
          </a:prstGeom>
        </p:spPr>
      </p:pic>
      <p:pic>
        <p:nvPicPr>
          <p:cNvPr id="8" name="图片 7">
            <a:extLst>
              <a:ext uri="{FF2B5EF4-FFF2-40B4-BE49-F238E27FC236}">
                <a16:creationId xmlns:a16="http://schemas.microsoft.com/office/drawing/2014/main" id="{EB9C7570-BDFF-4FFF-9248-4D95B2A685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901" y="3107214"/>
            <a:ext cx="7441219" cy="434266"/>
          </a:xfrm>
          <a:prstGeom prst="rect">
            <a:avLst/>
          </a:prstGeom>
        </p:spPr>
      </p:pic>
      <p:pic>
        <p:nvPicPr>
          <p:cNvPr id="10" name="图片 9">
            <a:extLst>
              <a:ext uri="{FF2B5EF4-FFF2-40B4-BE49-F238E27FC236}">
                <a16:creationId xmlns:a16="http://schemas.microsoft.com/office/drawing/2014/main" id="{2BECD5CE-575B-42E5-8825-1790390A19B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9901" y="4012446"/>
            <a:ext cx="3964147" cy="437149"/>
          </a:xfrm>
          <a:prstGeom prst="rect">
            <a:avLst/>
          </a:prstGeom>
        </p:spPr>
      </p:pic>
    </p:spTree>
    <p:extLst>
      <p:ext uri="{BB962C8B-B14F-4D97-AF65-F5344CB8AC3E}">
        <p14:creationId xmlns:p14="http://schemas.microsoft.com/office/powerpoint/2010/main" val="18699053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 HDFS</a:t>
            </a:r>
            <a:r>
              <a:rPr lang="zh-CN" altLang="en-US" dirty="0"/>
              <a:t>初探</a:t>
            </a:r>
            <a:r>
              <a:rPr lang="en-US" altLang="zh-CN" dirty="0"/>
              <a:t>—</a:t>
            </a:r>
            <a:r>
              <a:rPr lang="zh-CN" altLang="en-US" dirty="0"/>
              <a:t>添加数据文件</a:t>
            </a:r>
          </a:p>
        </p:txBody>
      </p:sp>
      <p:sp>
        <p:nvSpPr>
          <p:cNvPr id="3" name="内容占位符 2"/>
          <p:cNvSpPr>
            <a:spLocks noGrp="1"/>
          </p:cNvSpPr>
          <p:nvPr>
            <p:ph idx="1"/>
          </p:nvPr>
        </p:nvSpPr>
        <p:spPr>
          <a:xfrm>
            <a:off x="251520" y="987574"/>
            <a:ext cx="8229600" cy="3394472"/>
          </a:xfrm>
        </p:spPr>
        <p:txBody>
          <a:bodyPr>
            <a:normAutofit/>
          </a:bodyPr>
          <a:lstStyle/>
          <a:p>
            <a:r>
              <a:rPr lang="zh-CN" altLang="en-US" sz="2400" dirty="0"/>
              <a:t>例如：创建一个文件夹，再利用</a:t>
            </a:r>
            <a:r>
              <a:rPr lang="en-US" altLang="zh-CN" sz="2400" dirty="0"/>
              <a:t>touch</a:t>
            </a:r>
            <a:r>
              <a:rPr lang="zh-CN" altLang="en-US" sz="2400" dirty="0"/>
              <a:t>命令创建一个空的文件，往该文件中写入“</a:t>
            </a:r>
            <a:r>
              <a:rPr lang="en-US" altLang="zh-CN" sz="2400" dirty="0"/>
              <a:t>hello world”</a:t>
            </a:r>
            <a:r>
              <a:rPr lang="zh-CN" altLang="en-US" sz="2400" dirty="0"/>
              <a:t>，上传文件至</a:t>
            </a:r>
            <a:r>
              <a:rPr lang="en-US" altLang="zh-CN" sz="2400" dirty="0"/>
              <a:t>HDFS</a:t>
            </a:r>
            <a:r>
              <a:rPr lang="zh-CN" altLang="en-US" sz="2400" dirty="0"/>
              <a:t>并查看，其执行过程如下：</a:t>
            </a:r>
          </a:p>
        </p:txBody>
      </p:sp>
      <p:pic>
        <p:nvPicPr>
          <p:cNvPr id="6" name="图片 5">
            <a:extLst>
              <a:ext uri="{FF2B5EF4-FFF2-40B4-BE49-F238E27FC236}">
                <a16:creationId xmlns:a16="http://schemas.microsoft.com/office/drawing/2014/main" id="{2C1A6C9B-00B2-497D-9410-C550DB436F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4015" y="2283718"/>
            <a:ext cx="8243019" cy="1800200"/>
          </a:xfrm>
          <a:prstGeom prst="rect">
            <a:avLst/>
          </a:prstGeom>
        </p:spPr>
      </p:pic>
    </p:spTree>
    <p:extLst>
      <p:ext uri="{BB962C8B-B14F-4D97-AF65-F5344CB8AC3E}">
        <p14:creationId xmlns:p14="http://schemas.microsoft.com/office/powerpoint/2010/main" val="370423840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 HDFS</a:t>
            </a:r>
            <a:r>
              <a:rPr lang="zh-CN" altLang="en-US" dirty="0"/>
              <a:t>初探</a:t>
            </a:r>
            <a:r>
              <a:rPr lang="en-US" altLang="zh-CN" dirty="0"/>
              <a:t>—</a:t>
            </a:r>
            <a:r>
              <a:rPr lang="zh-CN" altLang="en-US" dirty="0"/>
              <a:t>从</a:t>
            </a:r>
            <a:r>
              <a:rPr lang="en-US" altLang="zh-CN" dirty="0"/>
              <a:t>HDFS</a:t>
            </a:r>
            <a:r>
              <a:rPr lang="zh-CN" altLang="en-US" dirty="0"/>
              <a:t>中下载文件</a:t>
            </a:r>
          </a:p>
        </p:txBody>
      </p:sp>
      <p:sp>
        <p:nvSpPr>
          <p:cNvPr id="3" name="内容占位符 2"/>
          <p:cNvSpPr>
            <a:spLocks noGrp="1"/>
          </p:cNvSpPr>
          <p:nvPr>
            <p:ph idx="1"/>
          </p:nvPr>
        </p:nvSpPr>
        <p:spPr>
          <a:xfrm>
            <a:off x="251520" y="987574"/>
            <a:ext cx="8229600" cy="3394472"/>
          </a:xfrm>
        </p:spPr>
        <p:txBody>
          <a:bodyPr>
            <a:normAutofit/>
          </a:bodyPr>
          <a:lstStyle/>
          <a:p>
            <a:r>
              <a:rPr lang="zh-CN" altLang="en-US" sz="2400" dirty="0"/>
              <a:t>将</a:t>
            </a:r>
            <a:r>
              <a:rPr lang="en-US" altLang="zh-CN" sz="2400" dirty="0"/>
              <a:t>HDFS</a:t>
            </a:r>
            <a:r>
              <a:rPr lang="zh-CN" altLang="en-US" sz="2400" dirty="0"/>
              <a:t>中的数据文件“</a:t>
            </a:r>
            <a:r>
              <a:rPr lang="en-US" altLang="zh-CN" sz="2400" dirty="0"/>
              <a:t>/user/output/</a:t>
            </a:r>
            <a:r>
              <a:rPr lang="en-US" altLang="zh-CN" sz="2400" dirty="0" err="1"/>
              <a:t>outfile</a:t>
            </a:r>
            <a:r>
              <a:rPr lang="en-US" altLang="zh-CN" sz="2400" dirty="0"/>
              <a:t>”</a:t>
            </a:r>
            <a:r>
              <a:rPr lang="zh-CN" altLang="en-US" sz="2400" dirty="0"/>
              <a:t> 下载到本地文件系统，操作如下：</a:t>
            </a:r>
            <a:endParaRPr lang="en-US" altLang="zh-CN" sz="2400" dirty="0"/>
          </a:p>
          <a:p>
            <a:pPr lvl="1"/>
            <a:r>
              <a:rPr lang="zh-CN" altLang="zh-CN" sz="2400" dirty="0"/>
              <a:t>“</a:t>
            </a:r>
            <a:r>
              <a:rPr lang="en-US" altLang="zh-CN" sz="2400" dirty="0"/>
              <a:t>cat</a:t>
            </a:r>
            <a:r>
              <a:rPr lang="zh-CN" altLang="zh-CN" sz="2400" dirty="0"/>
              <a:t>”命令查看文件：</a:t>
            </a:r>
            <a:endParaRPr lang="en-US" altLang="zh-CN" sz="2400" dirty="0"/>
          </a:p>
          <a:p>
            <a:pPr marL="457200" lvl="1" indent="0">
              <a:buNone/>
            </a:pPr>
            <a:endParaRPr lang="zh-CN" altLang="zh-CN" sz="2400" dirty="0"/>
          </a:p>
          <a:p>
            <a:pPr lvl="1"/>
            <a:r>
              <a:rPr lang="zh-CN" altLang="zh-CN" sz="2400" dirty="0"/>
              <a:t>“</a:t>
            </a:r>
            <a:r>
              <a:rPr lang="en-US" altLang="zh-CN" sz="2400" dirty="0"/>
              <a:t>get</a:t>
            </a:r>
            <a:r>
              <a:rPr lang="zh-CN" altLang="zh-CN" sz="2400" dirty="0"/>
              <a:t>”命令把文件从</a:t>
            </a:r>
            <a:r>
              <a:rPr lang="en-US" altLang="zh-CN" sz="2400" dirty="0"/>
              <a:t>HDFS</a:t>
            </a:r>
            <a:r>
              <a:rPr lang="zh-CN" altLang="zh-CN" sz="2400" dirty="0"/>
              <a:t>中下载到本地文件系统：</a:t>
            </a:r>
          </a:p>
          <a:p>
            <a:endParaRPr lang="zh-CN" altLang="en-US" sz="2400" dirty="0"/>
          </a:p>
        </p:txBody>
      </p:sp>
      <p:pic>
        <p:nvPicPr>
          <p:cNvPr id="5" name="图片 4">
            <a:extLst>
              <a:ext uri="{FF2B5EF4-FFF2-40B4-BE49-F238E27FC236}">
                <a16:creationId xmlns:a16="http://schemas.microsoft.com/office/drawing/2014/main" id="{A53AC6F3-D471-4F62-8C0F-F545D322CE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2211710"/>
            <a:ext cx="6336704" cy="427063"/>
          </a:xfrm>
          <a:prstGeom prst="rect">
            <a:avLst/>
          </a:prstGeom>
        </p:spPr>
      </p:pic>
      <p:pic>
        <p:nvPicPr>
          <p:cNvPr id="8" name="图片 7">
            <a:extLst>
              <a:ext uri="{FF2B5EF4-FFF2-40B4-BE49-F238E27FC236}">
                <a16:creationId xmlns:a16="http://schemas.microsoft.com/office/drawing/2014/main" id="{270B51C1-E16F-43EB-BAF2-8840917839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599" y="3225997"/>
            <a:ext cx="7632849" cy="424047"/>
          </a:xfrm>
          <a:prstGeom prst="rect">
            <a:avLst/>
          </a:prstGeom>
        </p:spPr>
      </p:pic>
    </p:spTree>
    <p:extLst>
      <p:ext uri="{BB962C8B-B14F-4D97-AF65-F5344CB8AC3E}">
        <p14:creationId xmlns:p14="http://schemas.microsoft.com/office/powerpoint/2010/main" val="153338378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 HDFS</a:t>
            </a:r>
            <a:r>
              <a:rPr lang="zh-CN" altLang="en-US" dirty="0"/>
              <a:t>初探</a:t>
            </a:r>
            <a:r>
              <a:rPr lang="en-US" altLang="zh-CN" dirty="0"/>
              <a:t>—</a:t>
            </a:r>
            <a:r>
              <a:rPr lang="zh-CN" altLang="en-US" dirty="0"/>
              <a:t>关闭</a:t>
            </a:r>
            <a:r>
              <a:rPr lang="en-US" altLang="zh-CN" dirty="0"/>
              <a:t>HDFS</a:t>
            </a:r>
            <a:endParaRPr lang="zh-CN" altLang="en-US" dirty="0"/>
          </a:p>
        </p:txBody>
      </p:sp>
      <p:sp>
        <p:nvSpPr>
          <p:cNvPr id="3" name="内容占位符 2"/>
          <p:cNvSpPr>
            <a:spLocks noGrp="1"/>
          </p:cNvSpPr>
          <p:nvPr>
            <p:ph idx="1"/>
          </p:nvPr>
        </p:nvSpPr>
        <p:spPr>
          <a:xfrm>
            <a:off x="251520" y="987574"/>
            <a:ext cx="8229600" cy="3394472"/>
          </a:xfrm>
        </p:spPr>
        <p:txBody>
          <a:bodyPr>
            <a:normAutofit/>
          </a:bodyPr>
          <a:lstStyle/>
          <a:p>
            <a:r>
              <a:rPr lang="zh-CN" altLang="en-US" sz="2400" dirty="0"/>
              <a:t>若要关闭</a:t>
            </a:r>
            <a:r>
              <a:rPr lang="en-US" altLang="zh-CN" sz="2400" dirty="0"/>
              <a:t>HDFS</a:t>
            </a:r>
            <a:r>
              <a:rPr lang="zh-CN" altLang="en-US" sz="2400" dirty="0"/>
              <a:t>，可以使用</a:t>
            </a:r>
            <a:r>
              <a:rPr lang="en-US" altLang="zh-CN" sz="2400" dirty="0"/>
              <a:t>stop-dfs.sh</a:t>
            </a:r>
            <a:r>
              <a:rPr lang="zh-CN" altLang="en-US" sz="2400" dirty="0"/>
              <a:t>命令</a:t>
            </a:r>
            <a:endParaRPr lang="en-US" altLang="zh-CN" sz="2400" dirty="0"/>
          </a:p>
          <a:p>
            <a:pPr marL="0" indent="0">
              <a:buNone/>
            </a:pPr>
            <a:endParaRPr lang="zh-CN" altLang="zh-CN" sz="2400" dirty="0"/>
          </a:p>
          <a:p>
            <a:endParaRPr lang="zh-CN" altLang="en-US" sz="2400" dirty="0"/>
          </a:p>
        </p:txBody>
      </p:sp>
      <p:pic>
        <p:nvPicPr>
          <p:cNvPr id="6" name="图片 5">
            <a:extLst>
              <a:ext uri="{FF2B5EF4-FFF2-40B4-BE49-F238E27FC236}">
                <a16:creationId xmlns:a16="http://schemas.microsoft.com/office/drawing/2014/main" id="{46BEC21B-FECD-4255-9789-D006C512A13A}"/>
              </a:ext>
            </a:extLst>
          </p:cNvPr>
          <p:cNvPicPr>
            <a:picLocks noChangeAspect="1"/>
          </p:cNvPicPr>
          <p:nvPr/>
        </p:nvPicPr>
        <p:blipFill rotWithShape="1">
          <a:blip r:embed="rId2">
            <a:extLst>
              <a:ext uri="{28A0092B-C50C-407E-A947-70E740481C1C}">
                <a14:useLocalDpi xmlns:a14="http://schemas.microsoft.com/office/drawing/2010/main" val="0"/>
              </a:ext>
            </a:extLst>
          </a:blip>
          <a:srcRect t="2628"/>
          <a:stretch/>
        </p:blipFill>
        <p:spPr>
          <a:xfrm>
            <a:off x="1043608" y="1707654"/>
            <a:ext cx="5400600" cy="1334290"/>
          </a:xfrm>
          <a:prstGeom prst="rect">
            <a:avLst/>
          </a:prstGeom>
        </p:spPr>
      </p:pic>
    </p:spTree>
    <p:extLst>
      <p:ext uri="{BB962C8B-B14F-4D97-AF65-F5344CB8AC3E}">
        <p14:creationId xmlns:p14="http://schemas.microsoft.com/office/powerpoint/2010/main" val="27558247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 HDFS</a:t>
            </a:r>
            <a:r>
              <a:rPr lang="zh-CN" altLang="en-US" dirty="0"/>
              <a:t>初探</a:t>
            </a:r>
            <a:r>
              <a:rPr lang="en-US" altLang="zh-CN" dirty="0"/>
              <a:t>—</a:t>
            </a:r>
            <a:r>
              <a:rPr lang="zh-CN" altLang="en-US" dirty="0"/>
              <a:t>利用</a:t>
            </a:r>
            <a:r>
              <a:rPr lang="en-US" altLang="zh-CN" dirty="0"/>
              <a:t>Web Console</a:t>
            </a:r>
            <a:r>
              <a:rPr lang="zh-CN" altLang="en-US" dirty="0"/>
              <a:t>访问</a:t>
            </a:r>
            <a:r>
              <a:rPr lang="en-US" altLang="zh-CN" dirty="0"/>
              <a:t>HDFS</a:t>
            </a:r>
            <a:endParaRPr lang="zh-CN" altLang="en-US" dirty="0"/>
          </a:p>
        </p:txBody>
      </p:sp>
      <p:sp>
        <p:nvSpPr>
          <p:cNvPr id="3" name="内容占位符 2"/>
          <p:cNvSpPr>
            <a:spLocks noGrp="1"/>
          </p:cNvSpPr>
          <p:nvPr>
            <p:ph idx="1"/>
          </p:nvPr>
        </p:nvSpPr>
        <p:spPr>
          <a:xfrm>
            <a:off x="251520" y="915566"/>
            <a:ext cx="8229600" cy="3394472"/>
          </a:xfrm>
        </p:spPr>
        <p:txBody>
          <a:bodyPr>
            <a:normAutofit/>
          </a:bodyPr>
          <a:lstStyle/>
          <a:p>
            <a:r>
              <a:rPr lang="en-US" altLang="zh-CN" sz="2400" dirty="0"/>
              <a:t>HDFS</a:t>
            </a:r>
            <a:r>
              <a:rPr lang="zh-CN" altLang="en-US" sz="2400" dirty="0"/>
              <a:t>启动后，可以直接通过</a:t>
            </a:r>
            <a:r>
              <a:rPr lang="en-US" altLang="zh-CN" sz="2400" dirty="0"/>
              <a:t>Web Console</a:t>
            </a:r>
            <a:r>
              <a:rPr lang="zh-CN" altLang="en-US" sz="2400" dirty="0"/>
              <a:t>访问</a:t>
            </a:r>
            <a:r>
              <a:rPr lang="en-US" altLang="zh-CN" sz="2400" dirty="0"/>
              <a:t>HDFS</a:t>
            </a:r>
            <a:r>
              <a:rPr lang="zh-CN" altLang="en-US" sz="2400" dirty="0"/>
              <a:t>。在浏览器中输入：</a:t>
            </a:r>
            <a:r>
              <a:rPr lang="en-US" altLang="zh-CN" sz="2400" dirty="0"/>
              <a:t>http://ip:50070</a:t>
            </a:r>
            <a:r>
              <a:rPr lang="zh-CN" altLang="en-US" sz="2400" dirty="0"/>
              <a:t>，如果修改了端口号，则利用修改后的端口号访问。</a:t>
            </a:r>
            <a:r>
              <a:rPr lang="en-US" altLang="zh-CN" sz="2400" dirty="0"/>
              <a:t>Web</a:t>
            </a:r>
            <a:r>
              <a:rPr lang="zh-CN" altLang="en-US" sz="2400" dirty="0"/>
              <a:t>控制台提供了最基本的文件操作。</a:t>
            </a:r>
            <a:endParaRPr lang="zh-CN" altLang="zh-CN" sz="2400" dirty="0"/>
          </a:p>
          <a:p>
            <a:endParaRPr lang="zh-CN" altLang="en-US" sz="2400" dirty="0"/>
          </a:p>
        </p:txBody>
      </p:sp>
      <p:pic>
        <p:nvPicPr>
          <p:cNvPr id="4" name="图片 3">
            <a:extLst>
              <a:ext uri="{FF2B5EF4-FFF2-40B4-BE49-F238E27FC236}">
                <a16:creationId xmlns:a16="http://schemas.microsoft.com/office/drawing/2014/main" id="{717057B8-92EF-4C4B-A273-4C653454961B}"/>
              </a:ext>
            </a:extLst>
          </p:cNvPr>
          <p:cNvPicPr>
            <a:picLocks noChangeAspect="1"/>
          </p:cNvPicPr>
          <p:nvPr/>
        </p:nvPicPr>
        <p:blipFill>
          <a:blip r:embed="rId2"/>
          <a:stretch>
            <a:fillRect/>
          </a:stretch>
        </p:blipFill>
        <p:spPr>
          <a:xfrm>
            <a:off x="1835696" y="2211710"/>
            <a:ext cx="5112568" cy="2841827"/>
          </a:xfrm>
          <a:prstGeom prst="rect">
            <a:avLst/>
          </a:prstGeom>
        </p:spPr>
      </p:pic>
    </p:spTree>
    <p:extLst>
      <p:ext uri="{BB962C8B-B14F-4D97-AF65-F5344CB8AC3E}">
        <p14:creationId xmlns:p14="http://schemas.microsoft.com/office/powerpoint/2010/main" val="12600034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 HDFS</a:t>
            </a:r>
            <a:r>
              <a:rPr lang="zh-CN" altLang="en-US" dirty="0"/>
              <a:t>初探</a:t>
            </a:r>
            <a:r>
              <a:rPr lang="en-US" altLang="zh-CN" dirty="0"/>
              <a:t>—</a:t>
            </a:r>
            <a:r>
              <a:rPr lang="zh-CN" altLang="en-US" dirty="0"/>
              <a:t>利用</a:t>
            </a:r>
            <a:r>
              <a:rPr lang="en-US" altLang="zh-CN" dirty="0"/>
              <a:t>Web Console</a:t>
            </a:r>
            <a:r>
              <a:rPr lang="zh-CN" altLang="en-US" dirty="0"/>
              <a:t>访问</a:t>
            </a:r>
            <a:r>
              <a:rPr lang="en-US" altLang="zh-CN" dirty="0"/>
              <a:t>HDFS</a:t>
            </a:r>
            <a:endParaRPr lang="zh-CN" altLang="en-US" dirty="0"/>
          </a:p>
        </p:txBody>
      </p:sp>
      <p:sp>
        <p:nvSpPr>
          <p:cNvPr id="3" name="内容占位符 2"/>
          <p:cNvSpPr>
            <a:spLocks noGrp="1"/>
          </p:cNvSpPr>
          <p:nvPr>
            <p:ph idx="1"/>
          </p:nvPr>
        </p:nvSpPr>
        <p:spPr>
          <a:xfrm>
            <a:off x="251520" y="915566"/>
            <a:ext cx="8229600" cy="3394472"/>
          </a:xfrm>
        </p:spPr>
        <p:txBody>
          <a:bodyPr>
            <a:normAutofit/>
          </a:bodyPr>
          <a:lstStyle/>
          <a:p>
            <a:r>
              <a:rPr lang="zh-CN" altLang="en-US" sz="2400" dirty="0"/>
              <a:t>选择</a:t>
            </a:r>
            <a:r>
              <a:rPr lang="en-US" altLang="zh-CN" sz="2400" dirty="0"/>
              <a:t>Utilities-&gt;Browse the file system</a:t>
            </a:r>
            <a:r>
              <a:rPr lang="zh-CN" altLang="en-US" sz="2400" dirty="0"/>
              <a:t>选项可以进入</a:t>
            </a:r>
            <a:r>
              <a:rPr lang="en-US" altLang="zh-CN" sz="2400" dirty="0"/>
              <a:t>HDFS</a:t>
            </a:r>
            <a:r>
              <a:rPr lang="zh-CN" altLang="en-US" sz="2400" dirty="0"/>
              <a:t>文件系统进行文件的查看和管理操作。文件管理主界面如图所示</a:t>
            </a:r>
          </a:p>
        </p:txBody>
      </p:sp>
      <p:pic>
        <p:nvPicPr>
          <p:cNvPr id="6" name="图片 5">
            <a:extLst>
              <a:ext uri="{FF2B5EF4-FFF2-40B4-BE49-F238E27FC236}">
                <a16:creationId xmlns:a16="http://schemas.microsoft.com/office/drawing/2014/main" id="{459E34D8-3D70-4513-BAED-E29FC054420F}"/>
              </a:ext>
            </a:extLst>
          </p:cNvPr>
          <p:cNvPicPr>
            <a:picLocks noChangeAspect="1"/>
          </p:cNvPicPr>
          <p:nvPr/>
        </p:nvPicPr>
        <p:blipFill>
          <a:blip r:embed="rId2"/>
          <a:stretch>
            <a:fillRect/>
          </a:stretch>
        </p:blipFill>
        <p:spPr>
          <a:xfrm>
            <a:off x="1475656" y="1846255"/>
            <a:ext cx="5988547" cy="3065755"/>
          </a:xfrm>
          <a:prstGeom prst="rect">
            <a:avLst/>
          </a:prstGeom>
        </p:spPr>
      </p:pic>
    </p:spTree>
    <p:extLst>
      <p:ext uri="{BB962C8B-B14F-4D97-AF65-F5344CB8AC3E}">
        <p14:creationId xmlns:p14="http://schemas.microsoft.com/office/powerpoint/2010/main" val="4368071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3 HDFS</a:t>
            </a:r>
            <a:r>
              <a:rPr lang="zh-CN" altLang="en-US" dirty="0"/>
              <a:t>初探</a:t>
            </a:r>
            <a:r>
              <a:rPr lang="en-US" altLang="zh-CN" dirty="0"/>
              <a:t>—</a:t>
            </a:r>
            <a:r>
              <a:rPr lang="zh-CN" altLang="en-US" dirty="0"/>
              <a:t>利用</a:t>
            </a:r>
            <a:r>
              <a:rPr lang="en-US" altLang="zh-CN" dirty="0"/>
              <a:t>Web Console</a:t>
            </a:r>
            <a:r>
              <a:rPr lang="zh-CN" altLang="en-US" dirty="0"/>
              <a:t>访问</a:t>
            </a:r>
            <a:r>
              <a:rPr lang="en-US" altLang="zh-CN" dirty="0"/>
              <a:t>HDFS</a:t>
            </a:r>
            <a:endParaRPr lang="zh-CN" altLang="en-US" dirty="0"/>
          </a:p>
        </p:txBody>
      </p:sp>
      <p:sp>
        <p:nvSpPr>
          <p:cNvPr id="3" name="内容占位符 2"/>
          <p:cNvSpPr>
            <a:spLocks noGrp="1"/>
          </p:cNvSpPr>
          <p:nvPr>
            <p:ph idx="1"/>
          </p:nvPr>
        </p:nvSpPr>
        <p:spPr>
          <a:xfrm>
            <a:off x="251520" y="915566"/>
            <a:ext cx="8229600" cy="3394472"/>
          </a:xfrm>
        </p:spPr>
        <p:txBody>
          <a:bodyPr>
            <a:normAutofit/>
          </a:bodyPr>
          <a:lstStyle/>
          <a:p>
            <a:r>
              <a:rPr lang="en-US" altLang="zh-CN" sz="2400" dirty="0"/>
              <a:t>HDFS</a:t>
            </a:r>
            <a:r>
              <a:rPr lang="zh-CN" altLang="en-US" sz="2400" dirty="0"/>
              <a:t>启动后，可以直接通过</a:t>
            </a:r>
            <a:r>
              <a:rPr lang="en-US" altLang="zh-CN" sz="2400" dirty="0"/>
              <a:t>Web Console</a:t>
            </a:r>
            <a:r>
              <a:rPr lang="zh-CN" altLang="en-US" sz="2400" dirty="0"/>
              <a:t>访问</a:t>
            </a:r>
            <a:r>
              <a:rPr lang="en-US" altLang="zh-CN" sz="2400" dirty="0"/>
              <a:t>HDFS</a:t>
            </a:r>
            <a:r>
              <a:rPr lang="zh-CN" altLang="en-US" sz="2400" dirty="0"/>
              <a:t>。在浏览器中输入：</a:t>
            </a:r>
            <a:r>
              <a:rPr lang="en-US" altLang="zh-CN" sz="2400" dirty="0"/>
              <a:t>http://ip:50070</a:t>
            </a:r>
            <a:r>
              <a:rPr lang="zh-CN" altLang="en-US" sz="2400" dirty="0"/>
              <a:t>，如果修改了端口号，则利用修改后的端口号访问。</a:t>
            </a:r>
            <a:r>
              <a:rPr lang="en-US" altLang="zh-CN" sz="2400" dirty="0"/>
              <a:t>Web</a:t>
            </a:r>
            <a:r>
              <a:rPr lang="zh-CN" altLang="en-US" sz="2400" dirty="0"/>
              <a:t>控制台提供了最基本的文件操作。</a:t>
            </a:r>
            <a:endParaRPr lang="zh-CN" altLang="zh-CN" sz="2400" dirty="0"/>
          </a:p>
          <a:p>
            <a:endParaRPr lang="zh-CN" altLang="en-US" sz="2400" dirty="0"/>
          </a:p>
        </p:txBody>
      </p:sp>
      <p:pic>
        <p:nvPicPr>
          <p:cNvPr id="4" name="图片 3">
            <a:extLst>
              <a:ext uri="{FF2B5EF4-FFF2-40B4-BE49-F238E27FC236}">
                <a16:creationId xmlns:a16="http://schemas.microsoft.com/office/drawing/2014/main" id="{717057B8-92EF-4C4B-A273-4C653454961B}"/>
              </a:ext>
            </a:extLst>
          </p:cNvPr>
          <p:cNvPicPr>
            <a:picLocks noChangeAspect="1"/>
          </p:cNvPicPr>
          <p:nvPr/>
        </p:nvPicPr>
        <p:blipFill>
          <a:blip r:embed="rId2"/>
          <a:stretch>
            <a:fillRect/>
          </a:stretch>
        </p:blipFill>
        <p:spPr>
          <a:xfrm>
            <a:off x="1835696" y="2211710"/>
            <a:ext cx="5112568" cy="2841827"/>
          </a:xfrm>
          <a:prstGeom prst="rect">
            <a:avLst/>
          </a:prstGeom>
        </p:spPr>
      </p:pic>
    </p:spTree>
    <p:extLst>
      <p:ext uri="{BB962C8B-B14F-4D97-AF65-F5344CB8AC3E}">
        <p14:creationId xmlns:p14="http://schemas.microsoft.com/office/powerpoint/2010/main" val="5864112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grpSp>
        <p:nvGrpSpPr>
          <p:cNvPr id="32" name="组合 14"/>
          <p:cNvGrpSpPr/>
          <p:nvPr/>
        </p:nvGrpSpPr>
        <p:grpSpPr bwMode="auto">
          <a:xfrm>
            <a:off x="3182587" y="2378733"/>
            <a:ext cx="4637337" cy="80987"/>
            <a:chOff x="3649980" y="3375660"/>
            <a:chExt cx="4638285" cy="108000"/>
          </a:xfrm>
        </p:grpSpPr>
        <p:cxnSp>
          <p:nvCxnSpPr>
            <p:cNvPr id="33" name="直接连接符 32"/>
            <p:cNvCxnSpPr/>
            <p:nvPr/>
          </p:nvCxnSpPr>
          <p:spPr>
            <a:xfrm>
              <a:off x="3734134" y="3429660"/>
              <a:ext cx="4495132"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3649980"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a:xfrm>
              <a:off x="8205448" y="3375660"/>
              <a:ext cx="82817" cy="108000"/>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grpSp>
      <p:sp>
        <p:nvSpPr>
          <p:cNvPr id="36" name="文本框 35"/>
          <p:cNvSpPr txBox="1"/>
          <p:nvPr/>
        </p:nvSpPr>
        <p:spPr>
          <a:xfrm>
            <a:off x="3223987" y="1732402"/>
            <a:ext cx="5236445" cy="646331"/>
          </a:xfrm>
          <a:prstGeom prst="rect">
            <a:avLst/>
          </a:prstGeom>
          <a:noFill/>
        </p:spPr>
        <p:txBody>
          <a:bodyPr wrap="square">
            <a:spAutoFit/>
          </a:bodyPr>
          <a:lstStyle/>
          <a:p>
            <a:r>
              <a:rPr lang="en-US" altLang="zh-CN"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HDFS</a:t>
            </a:r>
            <a:r>
              <a:rPr lang="zh-CN" altLang="en-US"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常用</a:t>
            </a:r>
            <a:r>
              <a:rPr lang="en-US" altLang="zh-CN"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CLI</a:t>
            </a:r>
            <a:r>
              <a:rPr lang="zh-CN" altLang="en-US"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命令</a:t>
            </a:r>
          </a:p>
        </p:txBody>
      </p:sp>
      <p:sp>
        <p:nvSpPr>
          <p:cNvPr id="41" name="文本框 40"/>
          <p:cNvSpPr txBox="1">
            <a:spLocks noChangeArrowheads="1"/>
          </p:cNvSpPr>
          <p:nvPr/>
        </p:nvSpPr>
        <p:spPr bwMode="auto">
          <a:xfrm>
            <a:off x="1247009" y="1297442"/>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04</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381618131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400"/>
                                  </p:stCondLst>
                                  <p:childTnLst>
                                    <p:set>
                                      <p:cBhvr>
                                        <p:cTn id="6" dur="1" fill="hold">
                                          <p:stCondLst>
                                            <p:cond delay="0"/>
                                          </p:stCondLst>
                                        </p:cTn>
                                        <p:tgtEl>
                                          <p:spTgt spid="32"/>
                                        </p:tgtEl>
                                        <p:attrNameLst>
                                          <p:attrName>style.visibility</p:attrName>
                                        </p:attrNameLst>
                                      </p:cBhvr>
                                      <p:to>
                                        <p:strVal val="visible"/>
                                      </p:to>
                                    </p:set>
                                    <p:animEffect transition="in" filter="wipe(left)">
                                      <p:cBhvr>
                                        <p:cTn id="7" dur="500"/>
                                        <p:tgtEl>
                                          <p:spTgt spid="32"/>
                                        </p:tgtEl>
                                      </p:cBhvr>
                                    </p:animEffect>
                                  </p:childTnLst>
                                </p:cTn>
                              </p:par>
                            </p:childTnLst>
                          </p:cTn>
                        </p:par>
                        <p:par>
                          <p:cTn id="8" fill="hold">
                            <p:stCondLst>
                              <p:cond delay="900"/>
                            </p:stCondLst>
                            <p:childTnLst>
                              <p:par>
                                <p:cTn id="9" presetID="12" presetClass="entr" presetSubtype="4" fill="hold" grpId="0" nodeType="afterEffect">
                                  <p:stCondLst>
                                    <p:cond delay="0"/>
                                  </p:stCondLst>
                                  <p:childTnLst>
                                    <p:set>
                                      <p:cBhvr>
                                        <p:cTn id="10" dur="1" fill="hold">
                                          <p:stCondLst>
                                            <p:cond delay="0"/>
                                          </p:stCondLst>
                                        </p:cTn>
                                        <p:tgtEl>
                                          <p:spTgt spid="36"/>
                                        </p:tgtEl>
                                        <p:attrNameLst>
                                          <p:attrName>style.visibility</p:attrName>
                                        </p:attrNameLst>
                                      </p:cBhvr>
                                      <p:to>
                                        <p:strVal val="visible"/>
                                      </p:to>
                                    </p:set>
                                    <p:anim calcmode="lin" valueType="num">
                                      <p:cBhvr additive="base">
                                        <p:cTn id="11" dur="500"/>
                                        <p:tgtEl>
                                          <p:spTgt spid="36"/>
                                        </p:tgtEl>
                                        <p:attrNameLst>
                                          <p:attrName>ppt_y</p:attrName>
                                        </p:attrNameLst>
                                      </p:cBhvr>
                                      <p:tavLst>
                                        <p:tav tm="0">
                                          <p:val>
                                            <p:strVal val="#ppt_y+#ppt_h*1.125000"/>
                                          </p:val>
                                        </p:tav>
                                        <p:tav tm="100000">
                                          <p:val>
                                            <p:strVal val="#ppt_y"/>
                                          </p:val>
                                        </p:tav>
                                      </p:tavLst>
                                    </p:anim>
                                    <p:animEffect transition="in" filter="wipe(up)">
                                      <p:cBhvr>
                                        <p:cTn id="12" dur="500"/>
                                        <p:tgtEl>
                                          <p:spTgt spid="36"/>
                                        </p:tgtEl>
                                      </p:cBhvr>
                                    </p:animEffect>
                                  </p:childTnLst>
                                </p:cTn>
                              </p:par>
                              <p:par>
                                <p:cTn id="13" presetID="2" presetClass="entr" presetSubtype="8" fill="hold" grpId="0" nodeType="withEffect">
                                  <p:stCondLst>
                                    <p:cond delay="0"/>
                                  </p:stCondLst>
                                  <p:childTnLst>
                                    <p:set>
                                      <p:cBhvr>
                                        <p:cTn id="14" dur="1" fill="hold">
                                          <p:stCondLst>
                                            <p:cond delay="0"/>
                                          </p:stCondLst>
                                        </p:cTn>
                                        <p:tgtEl>
                                          <p:spTgt spid="41"/>
                                        </p:tgtEl>
                                        <p:attrNameLst>
                                          <p:attrName>style.visibility</p:attrName>
                                        </p:attrNameLst>
                                      </p:cBhvr>
                                      <p:to>
                                        <p:strVal val="visible"/>
                                      </p:to>
                                    </p:set>
                                    <p:anim calcmode="lin" valueType="num">
                                      <p:cBhvr additive="base">
                                        <p:cTn id="15" dur="500" fill="hold"/>
                                        <p:tgtEl>
                                          <p:spTgt spid="41"/>
                                        </p:tgtEl>
                                        <p:attrNameLst>
                                          <p:attrName>ppt_x</p:attrName>
                                        </p:attrNameLst>
                                      </p:cBhvr>
                                      <p:tavLst>
                                        <p:tav tm="0">
                                          <p:val>
                                            <p:strVal val="0-#ppt_w/2"/>
                                          </p:val>
                                        </p:tav>
                                        <p:tav tm="100000">
                                          <p:val>
                                            <p:strVal val="#ppt_x"/>
                                          </p:val>
                                        </p:tav>
                                      </p:tavLst>
                                    </p:anim>
                                    <p:anim calcmode="lin" valueType="num">
                                      <p:cBhvr additive="base">
                                        <p:cTn id="1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HDFS</a:t>
            </a:r>
            <a:r>
              <a:rPr lang="zh-CN" altLang="en-US" dirty="0"/>
              <a:t>常用</a:t>
            </a:r>
            <a:r>
              <a:rPr lang="en-US" altLang="zh-CN" dirty="0"/>
              <a:t>CLI</a:t>
            </a:r>
            <a:r>
              <a:rPr lang="zh-CN" altLang="en-US" dirty="0"/>
              <a:t>命令</a:t>
            </a:r>
            <a:r>
              <a:rPr lang="en-US" altLang="zh-CN" dirty="0"/>
              <a:t>—HDFS</a:t>
            </a:r>
            <a:r>
              <a:rPr lang="zh-CN" altLang="en-US" dirty="0"/>
              <a:t> </a:t>
            </a:r>
            <a:r>
              <a:rPr lang="en-US" altLang="zh-CN" dirty="0"/>
              <a:t>CLI</a:t>
            </a:r>
            <a:r>
              <a:rPr lang="zh-CN" altLang="en-US" dirty="0"/>
              <a:t>总览</a:t>
            </a:r>
          </a:p>
        </p:txBody>
      </p:sp>
      <p:sp>
        <p:nvSpPr>
          <p:cNvPr id="4" name="Rectangle 3"/>
          <p:cNvSpPr>
            <a:spLocks noGrp="1" noChangeArrowheads="1"/>
          </p:cNvSpPr>
          <p:nvPr>
            <p:ph idx="1"/>
          </p:nvPr>
        </p:nvSpPr>
        <p:spPr>
          <a:xfrm>
            <a:off x="539552" y="1059582"/>
            <a:ext cx="7715200" cy="3708411"/>
          </a:xfrm>
        </p:spPr>
        <p:txBody>
          <a:bodyPr>
            <a:normAutofit fontScale="85000" lnSpcReduction="20000"/>
          </a:bodyPr>
          <a:lstStyle/>
          <a:p>
            <a:pPr>
              <a:lnSpc>
                <a:spcPct val="120000"/>
              </a:lnSpc>
            </a:pPr>
            <a:r>
              <a:rPr lang="en-US" altLang="zh-CN" sz="2800" dirty="0"/>
              <a:t>CLI</a:t>
            </a:r>
            <a:r>
              <a:rPr lang="zh-CN" altLang="en-US" sz="2800" dirty="0"/>
              <a:t>（交互式命令行界面）下，用户通过命令行直接连接</a:t>
            </a:r>
            <a:r>
              <a:rPr lang="en-US" altLang="zh-CN" sz="2800" dirty="0"/>
              <a:t>HDFS</a:t>
            </a:r>
            <a:r>
              <a:rPr lang="zh-CN" altLang="en-US" sz="2800" dirty="0"/>
              <a:t>，实现文件系统的各种操作。</a:t>
            </a:r>
            <a:r>
              <a:rPr lang="en-US" altLang="zh-CN" sz="2800" dirty="0"/>
              <a:t>CLI</a:t>
            </a:r>
            <a:r>
              <a:rPr lang="zh-CN" altLang="en-US" sz="2800" dirty="0"/>
              <a:t>是访问和操作</a:t>
            </a:r>
            <a:r>
              <a:rPr lang="en-US" altLang="zh-CN" sz="2800" dirty="0"/>
              <a:t>HDFS</a:t>
            </a:r>
            <a:r>
              <a:rPr lang="zh-CN" altLang="en-US" sz="2800" dirty="0"/>
              <a:t>系统最常用的方式。 </a:t>
            </a:r>
          </a:p>
          <a:p>
            <a:pPr>
              <a:lnSpc>
                <a:spcPct val="120000"/>
              </a:lnSpc>
            </a:pPr>
            <a:r>
              <a:rPr lang="en-US" altLang="zh-CN" sz="2800" dirty="0"/>
              <a:t>FS shell</a:t>
            </a:r>
            <a:r>
              <a:rPr lang="zh-CN" altLang="en-US" sz="2800" dirty="0"/>
              <a:t>命令将路径</a:t>
            </a:r>
            <a:r>
              <a:rPr lang="en-US" altLang="zh-CN" sz="2800" dirty="0"/>
              <a:t>URI</a:t>
            </a:r>
            <a:r>
              <a:rPr lang="zh-CN" altLang="en-US" sz="2800" dirty="0"/>
              <a:t>作为参数。</a:t>
            </a:r>
            <a:r>
              <a:rPr lang="en-US" altLang="zh-CN" sz="2800" dirty="0"/>
              <a:t>URI</a:t>
            </a:r>
            <a:r>
              <a:rPr lang="zh-CN" altLang="en-US" sz="2800" dirty="0"/>
              <a:t>格式为“</a:t>
            </a:r>
            <a:r>
              <a:rPr lang="en-US" altLang="zh-CN" sz="2800" dirty="0"/>
              <a:t>scheme://</a:t>
            </a:r>
            <a:r>
              <a:rPr lang="zh-CN" altLang="en-US" sz="2800" dirty="0"/>
              <a:t>权限</a:t>
            </a:r>
            <a:r>
              <a:rPr lang="en-US" altLang="zh-CN" sz="2800" dirty="0"/>
              <a:t>/</a:t>
            </a:r>
            <a:r>
              <a:rPr lang="zh-CN" altLang="en-US" sz="2800" dirty="0"/>
              <a:t>路径”。</a:t>
            </a:r>
            <a:endParaRPr lang="en-US" altLang="zh-CN" sz="2800" dirty="0"/>
          </a:p>
          <a:p>
            <a:pPr>
              <a:lnSpc>
                <a:spcPct val="120000"/>
              </a:lnSpc>
            </a:pPr>
            <a:r>
              <a:rPr lang="zh-CN" altLang="en-US" sz="2800" dirty="0"/>
              <a:t>对于</a:t>
            </a:r>
            <a:r>
              <a:rPr lang="en-US" altLang="zh-CN" sz="2800" dirty="0"/>
              <a:t>HDFS</a:t>
            </a:r>
            <a:r>
              <a:rPr lang="zh-CN" altLang="en-US" sz="2800" dirty="0"/>
              <a:t>，</a:t>
            </a:r>
            <a:r>
              <a:rPr lang="en-US" altLang="zh-CN" sz="2800" dirty="0"/>
              <a:t>scheme</a:t>
            </a:r>
            <a:r>
              <a:rPr lang="zh-CN" altLang="en-US" sz="2800" dirty="0"/>
              <a:t>为“</a:t>
            </a:r>
            <a:r>
              <a:rPr lang="en-US" altLang="zh-CN" sz="2800" dirty="0" err="1"/>
              <a:t>hdfs</a:t>
            </a:r>
            <a:r>
              <a:rPr lang="en-US" altLang="zh-CN" sz="2800" dirty="0"/>
              <a:t>”</a:t>
            </a:r>
            <a:r>
              <a:rPr lang="zh-CN" altLang="en-US" sz="2800" dirty="0"/>
              <a:t>，对于本地文件系统，</a:t>
            </a:r>
            <a:r>
              <a:rPr lang="en-US" altLang="zh-CN" sz="2800" dirty="0"/>
              <a:t>scheme</a:t>
            </a:r>
            <a:r>
              <a:rPr lang="zh-CN" altLang="en-US" sz="2800" dirty="0"/>
              <a:t>为“</a:t>
            </a:r>
            <a:r>
              <a:rPr lang="en-US" altLang="zh-CN" sz="2800" dirty="0"/>
              <a:t>file”</a:t>
            </a:r>
            <a:r>
              <a:rPr lang="zh-CN" altLang="en-US" sz="2800" dirty="0"/>
              <a:t>。</a:t>
            </a:r>
            <a:endParaRPr lang="en-US" altLang="zh-CN" sz="2800" dirty="0"/>
          </a:p>
          <a:p>
            <a:pPr>
              <a:lnSpc>
                <a:spcPct val="120000"/>
              </a:lnSpc>
            </a:pPr>
            <a:r>
              <a:rPr lang="en-US" altLang="zh-CN" sz="2800" dirty="0"/>
              <a:t>scheme</a:t>
            </a:r>
            <a:r>
              <a:rPr lang="zh-CN" altLang="en-US" sz="2800" dirty="0"/>
              <a:t>和权限是可选的，在未指定的情况下，使用默认</a:t>
            </a:r>
            <a:r>
              <a:rPr lang="en-US" altLang="zh-CN" sz="2800" dirty="0"/>
              <a:t>scheme</a:t>
            </a:r>
            <a:r>
              <a:rPr lang="zh-CN" altLang="en-US" sz="2800" dirty="0"/>
              <a:t>设置。</a:t>
            </a:r>
          </a:p>
        </p:txBody>
      </p:sp>
    </p:spTree>
    <p:extLst>
      <p:ext uri="{BB962C8B-B14F-4D97-AF65-F5344CB8AC3E}">
        <p14:creationId xmlns:p14="http://schemas.microsoft.com/office/powerpoint/2010/main" val="3130666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HDFS</a:t>
            </a:r>
            <a:r>
              <a:rPr lang="zh-CN" altLang="en-US" dirty="0"/>
              <a:t>常用</a:t>
            </a:r>
            <a:r>
              <a:rPr lang="en-US" altLang="zh-CN" dirty="0"/>
              <a:t>CLI</a:t>
            </a:r>
            <a:r>
              <a:rPr lang="zh-CN" altLang="en-US" dirty="0"/>
              <a:t>命令</a:t>
            </a:r>
            <a:r>
              <a:rPr lang="en-US" altLang="zh-CN" dirty="0"/>
              <a:t>—HDFS</a:t>
            </a:r>
            <a:r>
              <a:rPr lang="zh-CN" altLang="en-US" dirty="0"/>
              <a:t> </a:t>
            </a:r>
            <a:r>
              <a:rPr lang="en-US" altLang="zh-CN" dirty="0"/>
              <a:t>CLI</a:t>
            </a:r>
            <a:r>
              <a:rPr lang="zh-CN" altLang="en-US" dirty="0"/>
              <a:t>总览</a:t>
            </a:r>
          </a:p>
        </p:txBody>
      </p:sp>
      <p:sp>
        <p:nvSpPr>
          <p:cNvPr id="4" name="Rectangle 3"/>
          <p:cNvSpPr>
            <a:spLocks noGrp="1" noChangeArrowheads="1"/>
          </p:cNvSpPr>
          <p:nvPr>
            <p:ph idx="1"/>
          </p:nvPr>
        </p:nvSpPr>
        <p:spPr>
          <a:xfrm>
            <a:off x="539552" y="1059582"/>
            <a:ext cx="7715200" cy="3708411"/>
          </a:xfrm>
        </p:spPr>
        <p:txBody>
          <a:bodyPr>
            <a:normAutofit/>
          </a:bodyPr>
          <a:lstStyle/>
          <a:p>
            <a:pPr>
              <a:lnSpc>
                <a:spcPct val="120000"/>
              </a:lnSpc>
            </a:pPr>
            <a:r>
              <a:rPr lang="zh-CN" altLang="en-US" sz="2400" dirty="0"/>
              <a:t>查看</a:t>
            </a:r>
            <a:r>
              <a:rPr lang="en-US" altLang="zh-CN" sz="2400" dirty="0"/>
              <a:t>HDFS</a:t>
            </a:r>
            <a:r>
              <a:rPr lang="zh-CN" altLang="en-US" sz="2400" dirty="0"/>
              <a:t>中文件夹“</a:t>
            </a:r>
            <a:r>
              <a:rPr lang="en-US" altLang="zh-CN" sz="2400" dirty="0"/>
              <a:t>/data”</a:t>
            </a:r>
            <a:r>
              <a:rPr lang="zh-CN" altLang="en-US" sz="2400" dirty="0"/>
              <a:t>的几种方式：</a:t>
            </a:r>
            <a:endParaRPr lang="en-US" altLang="zh-CN" sz="2400" dirty="0"/>
          </a:p>
          <a:p>
            <a:pPr marL="0" indent="0">
              <a:lnSpc>
                <a:spcPct val="120000"/>
              </a:lnSpc>
              <a:buNone/>
            </a:pPr>
            <a:endParaRPr lang="en-US" altLang="zh-CN" sz="2400" dirty="0"/>
          </a:p>
          <a:p>
            <a:pPr>
              <a:lnSpc>
                <a:spcPct val="120000"/>
              </a:lnSpc>
            </a:pPr>
            <a:endParaRPr lang="en-US" altLang="zh-CN" sz="2400" dirty="0"/>
          </a:p>
          <a:p>
            <a:pPr>
              <a:lnSpc>
                <a:spcPct val="120000"/>
              </a:lnSpc>
            </a:pPr>
            <a:r>
              <a:rPr lang="zh-CN" altLang="en-US" sz="2400" dirty="0"/>
              <a:t>在本机中访问时，缺省的端口号、甚至</a:t>
            </a:r>
            <a:r>
              <a:rPr lang="en-US" altLang="zh-CN" sz="2400" dirty="0"/>
              <a:t>HDFS</a:t>
            </a:r>
            <a:r>
              <a:rPr lang="zh-CN" altLang="en-US" sz="2400" dirty="0"/>
              <a:t>服务器地址都可以自动补全。</a:t>
            </a:r>
            <a:endParaRPr lang="en-US" altLang="zh-CN" sz="2400" dirty="0"/>
          </a:p>
          <a:p>
            <a:pPr>
              <a:lnSpc>
                <a:spcPct val="120000"/>
              </a:lnSpc>
            </a:pPr>
            <a:r>
              <a:rPr lang="zh-CN" altLang="zh-CN" sz="2400" dirty="0"/>
              <a:t>本书中“</a:t>
            </a:r>
            <a:r>
              <a:rPr lang="en-US" altLang="zh-CN" sz="2400" dirty="0" err="1"/>
              <a:t>hadoop</a:t>
            </a:r>
            <a:r>
              <a:rPr lang="en-US" altLang="zh-CN" sz="2400" dirty="0"/>
              <a:t> fs …</a:t>
            </a:r>
            <a:r>
              <a:rPr lang="zh-CN" altLang="zh-CN" sz="2400" dirty="0"/>
              <a:t>”等同于“</a:t>
            </a:r>
            <a:r>
              <a:rPr lang="en-US" altLang="zh-CN" sz="2400" dirty="0" err="1"/>
              <a:t>hdfs</a:t>
            </a:r>
            <a:r>
              <a:rPr lang="en-US" altLang="zh-CN" sz="2400" dirty="0"/>
              <a:t> </a:t>
            </a:r>
            <a:r>
              <a:rPr lang="en-US" altLang="zh-CN" sz="2400" dirty="0" err="1"/>
              <a:t>dfs</a:t>
            </a:r>
            <a:r>
              <a:rPr lang="en-US" altLang="zh-CN" sz="2400" dirty="0"/>
              <a:t> …</a:t>
            </a:r>
            <a:r>
              <a:rPr lang="zh-CN" altLang="zh-CN" sz="2400" dirty="0"/>
              <a:t>”，系统执行效果是一致的</a:t>
            </a:r>
            <a:endParaRPr lang="zh-CN" altLang="en-US" sz="2400" dirty="0"/>
          </a:p>
        </p:txBody>
      </p:sp>
      <p:pic>
        <p:nvPicPr>
          <p:cNvPr id="5" name="图片 4">
            <a:extLst>
              <a:ext uri="{FF2B5EF4-FFF2-40B4-BE49-F238E27FC236}">
                <a16:creationId xmlns:a16="http://schemas.microsoft.com/office/drawing/2014/main" id="{9D55C9CE-A982-4CB3-B86D-D86B54DC76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5086" y="1505352"/>
            <a:ext cx="6888518" cy="1080120"/>
          </a:xfrm>
          <a:prstGeom prst="rect">
            <a:avLst/>
          </a:prstGeom>
        </p:spPr>
      </p:pic>
    </p:spTree>
    <p:extLst>
      <p:ext uri="{BB962C8B-B14F-4D97-AF65-F5344CB8AC3E}">
        <p14:creationId xmlns:p14="http://schemas.microsoft.com/office/powerpoint/2010/main" val="22845662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HDFS</a:t>
            </a:r>
            <a:r>
              <a:rPr lang="zh-CN" altLang="en-US" dirty="0"/>
              <a:t>常用</a:t>
            </a:r>
            <a:r>
              <a:rPr lang="en-US" altLang="zh-CN" dirty="0"/>
              <a:t>CLI</a:t>
            </a:r>
            <a:r>
              <a:rPr lang="zh-CN" altLang="en-US" dirty="0"/>
              <a:t>命令</a:t>
            </a:r>
            <a:r>
              <a:rPr lang="en-US" altLang="zh-CN" dirty="0"/>
              <a:t>—HDFS</a:t>
            </a:r>
            <a:r>
              <a:rPr lang="zh-CN" altLang="en-US" dirty="0"/>
              <a:t> </a:t>
            </a:r>
            <a:r>
              <a:rPr lang="en-US" altLang="zh-CN" dirty="0"/>
              <a:t>CLI</a:t>
            </a:r>
            <a:r>
              <a:rPr lang="zh-CN" altLang="en-US" dirty="0"/>
              <a:t>总览</a:t>
            </a:r>
          </a:p>
        </p:txBody>
      </p:sp>
      <p:sp>
        <p:nvSpPr>
          <p:cNvPr id="4" name="Rectangle 3"/>
          <p:cNvSpPr>
            <a:spLocks noGrp="1" noChangeArrowheads="1"/>
          </p:cNvSpPr>
          <p:nvPr>
            <p:ph idx="1"/>
          </p:nvPr>
        </p:nvSpPr>
        <p:spPr>
          <a:xfrm>
            <a:off x="539552" y="987574"/>
            <a:ext cx="7715200" cy="3708411"/>
          </a:xfrm>
        </p:spPr>
        <p:txBody>
          <a:bodyPr>
            <a:normAutofit/>
          </a:bodyPr>
          <a:lstStyle/>
          <a:p>
            <a:pPr>
              <a:lnSpc>
                <a:spcPct val="120000"/>
              </a:lnSpc>
            </a:pPr>
            <a:r>
              <a:rPr lang="zh-CN" altLang="en-US" sz="2400" dirty="0"/>
              <a:t>例如：在</a:t>
            </a:r>
            <a:r>
              <a:rPr lang="en-US" altLang="zh-CN" sz="2400" dirty="0"/>
              <a:t>HDFS</a:t>
            </a:r>
            <a:r>
              <a:rPr lang="zh-CN" altLang="en-US" sz="2400" dirty="0"/>
              <a:t>根文件夹下存在目录“</a:t>
            </a:r>
            <a:r>
              <a:rPr lang="en-US" altLang="zh-CN" sz="2400" dirty="0"/>
              <a:t>data”</a:t>
            </a:r>
            <a:r>
              <a:rPr lang="zh-CN" altLang="en-US" sz="2400" dirty="0"/>
              <a:t>，查看结果如下：</a:t>
            </a:r>
            <a:endParaRPr lang="en-US" altLang="zh-CN" sz="2400" dirty="0"/>
          </a:p>
          <a:p>
            <a:pPr>
              <a:lnSpc>
                <a:spcPct val="120000"/>
              </a:lnSpc>
            </a:pPr>
            <a:endParaRPr lang="en-US" altLang="zh-CN" sz="2400" dirty="0"/>
          </a:p>
          <a:p>
            <a:pPr>
              <a:lnSpc>
                <a:spcPct val="120000"/>
              </a:lnSpc>
            </a:pPr>
            <a:endParaRPr lang="en-US" altLang="zh-CN" sz="2400" dirty="0"/>
          </a:p>
          <a:p>
            <a:pPr>
              <a:lnSpc>
                <a:spcPct val="120000"/>
              </a:lnSpc>
            </a:pPr>
            <a:r>
              <a:rPr lang="zh-CN" altLang="en-US" sz="2400" dirty="0"/>
              <a:t>文件系统操作命令的帮助信息可以使用“</a:t>
            </a:r>
            <a:r>
              <a:rPr lang="en-US" altLang="zh-CN" sz="2400" dirty="0" err="1"/>
              <a:t>hadoop</a:t>
            </a:r>
            <a:r>
              <a:rPr lang="en-US" altLang="zh-CN" sz="2400" dirty="0"/>
              <a:t> fs –help</a:t>
            </a:r>
            <a:r>
              <a:rPr lang="zh-CN" altLang="en-US" sz="2400" dirty="0"/>
              <a:t>”查看</a:t>
            </a:r>
          </a:p>
        </p:txBody>
      </p:sp>
      <p:pic>
        <p:nvPicPr>
          <p:cNvPr id="5" name="图片 4">
            <a:extLst>
              <a:ext uri="{FF2B5EF4-FFF2-40B4-BE49-F238E27FC236}">
                <a16:creationId xmlns:a16="http://schemas.microsoft.com/office/drawing/2014/main" id="{CC961690-96D0-4162-814F-C26411D78B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1912" y="1995686"/>
            <a:ext cx="8156822" cy="792088"/>
          </a:xfrm>
          <a:prstGeom prst="rect">
            <a:avLst/>
          </a:prstGeom>
        </p:spPr>
      </p:pic>
    </p:spTree>
    <p:extLst>
      <p:ext uri="{BB962C8B-B14F-4D97-AF65-F5344CB8AC3E}">
        <p14:creationId xmlns:p14="http://schemas.microsoft.com/office/powerpoint/2010/main" val="5757740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539552" y="987574"/>
            <a:ext cx="7992888" cy="3708411"/>
          </a:xfrm>
        </p:spPr>
        <p:txBody>
          <a:bodyPr>
            <a:normAutofit/>
          </a:bodyPr>
          <a:lstStyle/>
          <a:p>
            <a:pPr>
              <a:lnSpc>
                <a:spcPct val="120000"/>
              </a:lnSpc>
            </a:pPr>
            <a:r>
              <a:rPr lang="zh-CN" altLang="en-US" sz="2400" dirty="0"/>
              <a:t>访问本地文件时可以使用直接路径访问方式，如“</a:t>
            </a:r>
            <a:r>
              <a:rPr lang="en-US" altLang="zh-CN" sz="2400" dirty="0"/>
              <a:t>/home/Hadoop/</a:t>
            </a:r>
            <a:r>
              <a:rPr lang="en-US" altLang="zh-CN" sz="2400" dirty="0" err="1"/>
              <a:t>localfile</a:t>
            </a:r>
            <a:r>
              <a:rPr lang="en-US" altLang="zh-CN" sz="2400" dirty="0"/>
              <a:t>”</a:t>
            </a:r>
            <a:r>
              <a:rPr lang="zh-CN" altLang="en-US" sz="2400" dirty="0"/>
              <a:t>；也可以显式指明该文件为本地文件，例如“</a:t>
            </a:r>
            <a:r>
              <a:rPr lang="en-US" altLang="zh-CN" sz="2400" dirty="0"/>
              <a:t>file:///home/Hadoop/localfile”</a:t>
            </a:r>
            <a:r>
              <a:rPr lang="zh-CN" altLang="en-US" sz="2400" dirty="0"/>
              <a:t>。</a:t>
            </a:r>
            <a:endParaRPr lang="en-US" altLang="zh-CN" sz="2400" dirty="0"/>
          </a:p>
          <a:p>
            <a:pPr>
              <a:lnSpc>
                <a:spcPct val="120000"/>
              </a:lnSpc>
            </a:pPr>
            <a:r>
              <a:rPr lang="zh-CN" altLang="en-US" sz="2400" dirty="0"/>
              <a:t>利用</a:t>
            </a:r>
            <a:r>
              <a:rPr lang="en-US" altLang="zh-CN" sz="2400" dirty="0"/>
              <a:t>SSH</a:t>
            </a:r>
            <a:r>
              <a:rPr lang="zh-CN" altLang="en-US" sz="2400" dirty="0"/>
              <a:t>登录到目标节点后，访问</a:t>
            </a:r>
            <a:r>
              <a:rPr lang="en-US" altLang="zh-CN" sz="2400" dirty="0"/>
              <a:t>HDFS</a:t>
            </a:r>
            <a:r>
              <a:rPr lang="zh-CN" altLang="en-US" sz="2400" dirty="0"/>
              <a:t>文件系统中的文件可以使用直接路径的模式“</a:t>
            </a:r>
            <a:r>
              <a:rPr lang="en-US" altLang="zh-CN" sz="2400" dirty="0"/>
              <a:t>/user/Hadoop/</a:t>
            </a:r>
            <a:r>
              <a:rPr lang="en-US" altLang="zh-CN" sz="2400" dirty="0" err="1"/>
              <a:t>hdfsfile</a:t>
            </a:r>
            <a:r>
              <a:rPr lang="en-US" altLang="zh-CN" sz="2400" dirty="0"/>
              <a:t>”</a:t>
            </a:r>
            <a:r>
              <a:rPr lang="zh-CN" altLang="en-US" sz="2400" dirty="0"/>
              <a:t>，若要访问远程的</a:t>
            </a:r>
            <a:r>
              <a:rPr lang="en-US" altLang="zh-CN" sz="2400" dirty="0"/>
              <a:t>HDFS</a:t>
            </a:r>
            <a:r>
              <a:rPr lang="zh-CN" altLang="en-US" sz="2400" dirty="0"/>
              <a:t>系统中的文件，则可以增加主机名和端口号，例如“</a:t>
            </a:r>
            <a:r>
              <a:rPr lang="en-US" altLang="zh-CN" sz="2400" dirty="0" err="1"/>
              <a:t>hdfs</a:t>
            </a:r>
            <a:r>
              <a:rPr lang="en-US" altLang="zh-CN" sz="2400" dirty="0"/>
              <a:t>://Node01:9000/user/Hadoop/</a:t>
            </a:r>
            <a:r>
              <a:rPr lang="en-US" altLang="zh-CN" sz="2400" dirty="0" err="1"/>
              <a:t>hdfsfile</a:t>
            </a:r>
            <a:r>
              <a:rPr lang="en-US" altLang="zh-CN" sz="2400" dirty="0"/>
              <a:t>”</a:t>
            </a:r>
            <a:r>
              <a:rPr lang="zh-CN" altLang="en-US" sz="2400" dirty="0"/>
              <a:t>。</a:t>
            </a:r>
          </a:p>
        </p:txBody>
      </p:sp>
    </p:spTree>
    <p:extLst>
      <p:ext uri="{BB962C8B-B14F-4D97-AF65-F5344CB8AC3E}">
        <p14:creationId xmlns:p14="http://schemas.microsoft.com/office/powerpoint/2010/main" val="294717313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539552" y="987574"/>
            <a:ext cx="7992888" cy="3708411"/>
          </a:xfrm>
        </p:spPr>
        <p:txBody>
          <a:bodyPr>
            <a:normAutofit/>
          </a:bodyPr>
          <a:lstStyle/>
          <a:p>
            <a:pPr marL="0" indent="0">
              <a:lnSpc>
                <a:spcPct val="120000"/>
              </a:lnSpc>
              <a:buNone/>
            </a:pPr>
            <a:r>
              <a:rPr lang="en-US" altLang="zh-CN" sz="2400" dirty="0"/>
              <a:t>1</a:t>
            </a:r>
            <a:r>
              <a:rPr lang="zh-CN" altLang="en-US" sz="2400" dirty="0"/>
              <a:t>．</a:t>
            </a:r>
            <a:r>
              <a:rPr lang="en-US" altLang="zh-CN" sz="2400" dirty="0" err="1"/>
              <a:t>appendToFile</a:t>
            </a:r>
            <a:endParaRPr lang="en-US" altLang="zh-CN" sz="2400" dirty="0"/>
          </a:p>
          <a:p>
            <a:pPr marL="0" indent="0">
              <a:lnSpc>
                <a:spcPct val="120000"/>
              </a:lnSpc>
              <a:buNone/>
            </a:pPr>
            <a:r>
              <a:rPr lang="zh-CN" altLang="en-US" sz="2400" dirty="0"/>
              <a:t>用法：</a:t>
            </a:r>
            <a:r>
              <a:rPr lang="en-US" altLang="zh-CN" sz="2400" dirty="0" err="1"/>
              <a:t>hadoop</a:t>
            </a:r>
            <a:r>
              <a:rPr lang="en-US" altLang="zh-CN" sz="2400" dirty="0"/>
              <a:t> fs -</a:t>
            </a:r>
            <a:r>
              <a:rPr lang="en-US" altLang="zh-CN" sz="2400" dirty="0" err="1"/>
              <a:t>appendToFile</a:t>
            </a:r>
            <a:r>
              <a:rPr lang="en-US" altLang="zh-CN" sz="2400" dirty="0"/>
              <a:t> &lt;</a:t>
            </a:r>
            <a:r>
              <a:rPr lang="en-US" altLang="zh-CN" sz="2400" dirty="0" err="1"/>
              <a:t>localsrc</a:t>
            </a:r>
            <a:r>
              <a:rPr lang="en-US" altLang="zh-CN" sz="2400" dirty="0"/>
              <a:t>&gt; ... &lt;</a:t>
            </a:r>
            <a:r>
              <a:rPr lang="en-US" altLang="zh-CN" sz="2400" dirty="0" err="1"/>
              <a:t>dst</a:t>
            </a:r>
            <a:r>
              <a:rPr lang="en-US" altLang="zh-CN" sz="2400" dirty="0"/>
              <a:t>&gt;</a:t>
            </a:r>
          </a:p>
          <a:p>
            <a:pPr marL="0" indent="0">
              <a:lnSpc>
                <a:spcPct val="120000"/>
              </a:lnSpc>
              <a:buNone/>
            </a:pPr>
            <a:r>
              <a:rPr lang="zh-CN" altLang="en-US" sz="2400" dirty="0"/>
              <a:t>说明：用于把本地文件系统的一个或者若干个文件附加到目标文件系统的指定文件后。其输入源也可以是“</a:t>
            </a:r>
            <a:r>
              <a:rPr lang="en-US" altLang="zh-CN" sz="2400" dirty="0"/>
              <a:t>STDIN”</a:t>
            </a:r>
            <a:r>
              <a:rPr lang="zh-CN" altLang="en-US" sz="2400" dirty="0"/>
              <a:t>中的输入数据。</a:t>
            </a:r>
            <a:endParaRPr lang="en-US" altLang="zh-CN" sz="2400" dirty="0"/>
          </a:p>
          <a:p>
            <a:pPr marL="0" indent="0">
              <a:lnSpc>
                <a:spcPct val="120000"/>
              </a:lnSpc>
              <a:buNone/>
            </a:pPr>
            <a:endParaRPr lang="zh-CN" altLang="en-US" sz="2400" dirty="0"/>
          </a:p>
          <a:p>
            <a:pPr marL="0" indent="0">
              <a:lnSpc>
                <a:spcPct val="120000"/>
              </a:lnSpc>
              <a:buNone/>
            </a:pPr>
            <a:endParaRPr lang="zh-CN" altLang="en-US" sz="2400" dirty="0"/>
          </a:p>
        </p:txBody>
      </p:sp>
    </p:spTree>
    <p:extLst>
      <p:ext uri="{BB962C8B-B14F-4D97-AF65-F5344CB8AC3E}">
        <p14:creationId xmlns:p14="http://schemas.microsoft.com/office/powerpoint/2010/main" val="42618054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251520" y="915566"/>
            <a:ext cx="8640960" cy="3708411"/>
          </a:xfrm>
        </p:spPr>
        <p:txBody>
          <a:bodyPr>
            <a:normAutofit/>
          </a:bodyPr>
          <a:lstStyle/>
          <a:p>
            <a:pPr>
              <a:lnSpc>
                <a:spcPct val="120000"/>
              </a:lnSpc>
            </a:pPr>
            <a:r>
              <a:rPr lang="zh-CN" altLang="en-US" sz="2400" dirty="0"/>
              <a:t>附加单个本地文件到</a:t>
            </a:r>
            <a:r>
              <a:rPr lang="en-US" altLang="zh-CN" sz="2400" dirty="0"/>
              <a:t>HDFS</a:t>
            </a:r>
            <a:r>
              <a:rPr lang="zh-CN" altLang="en-US" sz="2400" dirty="0"/>
              <a:t>文件后，远程</a:t>
            </a:r>
            <a:r>
              <a:rPr lang="en-US" altLang="zh-CN" sz="2400" dirty="0"/>
              <a:t>HDFS</a:t>
            </a:r>
            <a:r>
              <a:rPr lang="zh-CN" altLang="en-US" sz="2400" dirty="0"/>
              <a:t>文件可用主机：端口方式指定，</a:t>
            </a:r>
            <a:r>
              <a:rPr lang="en-US" altLang="zh-CN" sz="2400" dirty="0"/>
              <a:t>Node01</a:t>
            </a:r>
            <a:r>
              <a:rPr lang="zh-CN" altLang="en-US" sz="2400" dirty="0"/>
              <a:t>表示</a:t>
            </a:r>
            <a:r>
              <a:rPr lang="en-US" altLang="zh-CN" sz="2400" dirty="0" err="1"/>
              <a:t>NameNode</a:t>
            </a:r>
            <a:r>
              <a:rPr lang="zh-CN" altLang="en-US" sz="2400" dirty="0"/>
              <a:t>的</a:t>
            </a:r>
            <a:r>
              <a:rPr lang="en-US" altLang="zh-CN" sz="2400" dirty="0" err="1"/>
              <a:t>ip</a:t>
            </a:r>
            <a:r>
              <a:rPr lang="zh-CN" altLang="en-US" sz="2400" dirty="0"/>
              <a:t>地址或者主机名：</a:t>
            </a:r>
            <a:endParaRPr lang="en-US" altLang="zh-CN" sz="2400" dirty="0"/>
          </a:p>
          <a:p>
            <a:pPr>
              <a:lnSpc>
                <a:spcPct val="120000"/>
              </a:lnSpc>
            </a:pPr>
            <a:endParaRPr lang="en-US" altLang="zh-CN" sz="2400" dirty="0"/>
          </a:p>
          <a:p>
            <a:pPr>
              <a:lnSpc>
                <a:spcPct val="120000"/>
              </a:lnSpc>
            </a:pPr>
            <a:r>
              <a:rPr lang="zh-CN" altLang="en-US" sz="2400" dirty="0"/>
              <a:t>附加多个文件的命令模式，远程文件采用简单表示模式：</a:t>
            </a:r>
            <a:endParaRPr lang="en-US" altLang="zh-CN" sz="2400" dirty="0"/>
          </a:p>
          <a:p>
            <a:pPr>
              <a:lnSpc>
                <a:spcPct val="120000"/>
              </a:lnSpc>
            </a:pPr>
            <a:endParaRPr lang="en-US" altLang="zh-CN" sz="2400" dirty="0"/>
          </a:p>
          <a:p>
            <a:pPr>
              <a:lnSpc>
                <a:spcPct val="120000"/>
              </a:lnSpc>
            </a:pPr>
            <a:r>
              <a:rPr lang="zh-CN" altLang="en-US" sz="2400" dirty="0"/>
              <a:t>本地文件名指定为“</a:t>
            </a:r>
            <a:r>
              <a:rPr lang="en-US" altLang="zh-CN" sz="2400" dirty="0"/>
              <a:t>-”</a:t>
            </a:r>
            <a:r>
              <a:rPr lang="zh-CN" altLang="en-US" sz="2400" dirty="0"/>
              <a:t>表示从“</a:t>
            </a:r>
            <a:r>
              <a:rPr lang="en-US" altLang="zh-CN" sz="2400" dirty="0"/>
              <a:t>STDIN”</a:t>
            </a:r>
            <a:r>
              <a:rPr lang="zh-CN" altLang="en-US" sz="2400" dirty="0"/>
              <a:t>输入数据附加到</a:t>
            </a:r>
            <a:r>
              <a:rPr lang="en-US" altLang="zh-CN" sz="2400" dirty="0"/>
              <a:t>HDFS</a:t>
            </a:r>
            <a:r>
              <a:rPr lang="zh-CN" altLang="en-US" sz="2400" dirty="0"/>
              <a:t>文件中，其命令模式如下：</a:t>
            </a:r>
            <a:endParaRPr lang="en-US" altLang="zh-CN" sz="2400" dirty="0"/>
          </a:p>
          <a:p>
            <a:pPr>
              <a:lnSpc>
                <a:spcPct val="120000"/>
              </a:lnSpc>
            </a:pPr>
            <a:endParaRPr lang="zh-CN" altLang="en-US" sz="2400" dirty="0"/>
          </a:p>
          <a:p>
            <a:pPr marL="0" indent="0">
              <a:lnSpc>
                <a:spcPct val="120000"/>
              </a:lnSpc>
              <a:buNone/>
            </a:pPr>
            <a:endParaRPr lang="zh-CN" altLang="en-US" sz="2400" dirty="0"/>
          </a:p>
        </p:txBody>
      </p:sp>
      <p:pic>
        <p:nvPicPr>
          <p:cNvPr id="5" name="图片 4">
            <a:extLst>
              <a:ext uri="{FF2B5EF4-FFF2-40B4-BE49-F238E27FC236}">
                <a16:creationId xmlns:a16="http://schemas.microsoft.com/office/drawing/2014/main" id="{245A1D27-C885-4144-B310-21D6DE8416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1923678"/>
            <a:ext cx="7920880" cy="527541"/>
          </a:xfrm>
          <a:prstGeom prst="rect">
            <a:avLst/>
          </a:prstGeom>
        </p:spPr>
      </p:pic>
      <p:pic>
        <p:nvPicPr>
          <p:cNvPr id="7" name="图片 6">
            <a:extLst>
              <a:ext uri="{FF2B5EF4-FFF2-40B4-BE49-F238E27FC236}">
                <a16:creationId xmlns:a16="http://schemas.microsoft.com/office/drawing/2014/main" id="{5139019A-0048-4601-AC72-5584A1BC6B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640" y="3075806"/>
            <a:ext cx="8518169" cy="255290"/>
          </a:xfrm>
          <a:prstGeom prst="rect">
            <a:avLst/>
          </a:prstGeom>
        </p:spPr>
      </p:pic>
      <p:pic>
        <p:nvPicPr>
          <p:cNvPr id="9" name="图片 8">
            <a:extLst>
              <a:ext uri="{FF2B5EF4-FFF2-40B4-BE49-F238E27FC236}">
                <a16:creationId xmlns:a16="http://schemas.microsoft.com/office/drawing/2014/main" id="{50E9E336-2C23-4C33-BF9C-8090994109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0640" y="4372495"/>
            <a:ext cx="7201524" cy="251482"/>
          </a:xfrm>
          <a:prstGeom prst="rect">
            <a:avLst/>
          </a:prstGeom>
        </p:spPr>
      </p:pic>
    </p:spTree>
    <p:extLst>
      <p:ext uri="{BB962C8B-B14F-4D97-AF65-F5344CB8AC3E}">
        <p14:creationId xmlns:p14="http://schemas.microsoft.com/office/powerpoint/2010/main" val="205756960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251520" y="915566"/>
            <a:ext cx="8640960" cy="3708411"/>
          </a:xfrm>
        </p:spPr>
        <p:txBody>
          <a:bodyPr>
            <a:normAutofit/>
          </a:bodyPr>
          <a:lstStyle/>
          <a:p>
            <a:pPr marL="0" indent="0">
              <a:lnSpc>
                <a:spcPct val="120000"/>
              </a:lnSpc>
              <a:buNone/>
            </a:pPr>
            <a:r>
              <a:rPr lang="en-US" altLang="zh-CN" sz="2400" dirty="0"/>
              <a:t>【</a:t>
            </a:r>
            <a:r>
              <a:rPr lang="zh-CN" altLang="en-US" sz="2400" dirty="0"/>
              <a:t>例</a:t>
            </a:r>
            <a:r>
              <a:rPr lang="en-US" altLang="zh-CN" sz="2400" dirty="0"/>
              <a:t>4.1】</a:t>
            </a:r>
            <a:r>
              <a:rPr lang="zh-CN" altLang="en-US" sz="2400" dirty="0"/>
              <a:t>展示</a:t>
            </a:r>
            <a:r>
              <a:rPr lang="en-US" altLang="zh-CN" sz="2400" dirty="0" err="1"/>
              <a:t>appendfile</a:t>
            </a:r>
            <a:r>
              <a:rPr lang="zh-CN" altLang="en-US" sz="2400" dirty="0"/>
              <a:t>命令附加多个文件的应用</a:t>
            </a:r>
            <a:endParaRPr lang="en-US" altLang="zh-CN" sz="2400" dirty="0"/>
          </a:p>
          <a:p>
            <a:pPr marL="0" indent="0">
              <a:lnSpc>
                <a:spcPct val="120000"/>
              </a:lnSpc>
              <a:buNone/>
            </a:pPr>
            <a:endParaRPr lang="zh-CN" altLang="en-US" sz="2400" dirty="0"/>
          </a:p>
        </p:txBody>
      </p:sp>
      <p:pic>
        <p:nvPicPr>
          <p:cNvPr id="6" name="图片 5">
            <a:extLst>
              <a:ext uri="{FF2B5EF4-FFF2-40B4-BE49-F238E27FC236}">
                <a16:creationId xmlns:a16="http://schemas.microsoft.com/office/drawing/2014/main" id="{0F09E035-6DFD-4D31-BD78-7B12C7D225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3" y="1419623"/>
            <a:ext cx="7272808" cy="3478300"/>
          </a:xfrm>
          <a:prstGeom prst="rect">
            <a:avLst/>
          </a:prstGeom>
        </p:spPr>
      </p:pic>
    </p:spTree>
    <p:extLst>
      <p:ext uri="{BB962C8B-B14F-4D97-AF65-F5344CB8AC3E}">
        <p14:creationId xmlns:p14="http://schemas.microsoft.com/office/powerpoint/2010/main" val="34297380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EB8A1B-32D5-4071-B179-5651955C2EDC}"/>
              </a:ext>
            </a:extLst>
          </p:cNvPr>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3" name="内容占位符 2">
            <a:extLst>
              <a:ext uri="{FF2B5EF4-FFF2-40B4-BE49-F238E27FC236}">
                <a16:creationId xmlns:a16="http://schemas.microsoft.com/office/drawing/2014/main" id="{1E099B64-96EB-430B-9B67-4D233150AD8E}"/>
              </a:ext>
            </a:extLst>
          </p:cNvPr>
          <p:cNvSpPr>
            <a:spLocks noGrp="1"/>
          </p:cNvSpPr>
          <p:nvPr>
            <p:ph idx="1"/>
          </p:nvPr>
        </p:nvSpPr>
        <p:spPr>
          <a:xfrm>
            <a:off x="251520" y="1131590"/>
            <a:ext cx="8352928" cy="3394472"/>
          </a:xfrm>
        </p:spPr>
        <p:txBody>
          <a:bodyPr>
            <a:noAutofit/>
          </a:bodyPr>
          <a:lstStyle/>
          <a:p>
            <a:pPr marL="0" indent="0">
              <a:buNone/>
            </a:pPr>
            <a:r>
              <a:rPr lang="en-US" altLang="zh-CN" sz="2400" dirty="0"/>
              <a:t>2</a:t>
            </a:r>
            <a:r>
              <a:rPr lang="zh-CN" altLang="en-US" sz="2400" dirty="0"/>
              <a:t>．</a:t>
            </a:r>
            <a:r>
              <a:rPr lang="en-US" altLang="zh-CN" sz="2400" dirty="0"/>
              <a:t>cat</a:t>
            </a:r>
          </a:p>
          <a:p>
            <a:r>
              <a:rPr lang="zh-CN" altLang="en-US" sz="2400" dirty="0"/>
              <a:t>用法：</a:t>
            </a:r>
            <a:r>
              <a:rPr lang="en-US" altLang="zh-CN" sz="2400" dirty="0" err="1"/>
              <a:t>hadoop</a:t>
            </a:r>
            <a:r>
              <a:rPr lang="en-US" altLang="zh-CN" sz="2400" dirty="0"/>
              <a:t> fs -cat [-</a:t>
            </a:r>
            <a:r>
              <a:rPr lang="en-US" altLang="zh-CN" sz="2400" dirty="0" err="1"/>
              <a:t>ignoreCrc</a:t>
            </a:r>
            <a:r>
              <a:rPr lang="en-US" altLang="zh-CN" sz="2400" dirty="0"/>
              <a:t>] URI [URI ...]</a:t>
            </a:r>
          </a:p>
          <a:p>
            <a:r>
              <a:rPr lang="zh-CN" altLang="en-US" sz="2400" dirty="0"/>
              <a:t>说明：把指定的文件输出到</a:t>
            </a:r>
            <a:r>
              <a:rPr lang="en-US" altLang="zh-CN" sz="2400" dirty="0"/>
              <a:t>STDOUT</a:t>
            </a:r>
            <a:r>
              <a:rPr lang="zh-CN" altLang="en-US" sz="2400" dirty="0"/>
              <a:t>，在没有其他设定的情况下，</a:t>
            </a:r>
            <a:r>
              <a:rPr lang="en-US" altLang="zh-CN" sz="2400" dirty="0"/>
              <a:t>STDOUT</a:t>
            </a:r>
            <a:r>
              <a:rPr lang="zh-CN" altLang="en-US" sz="2400" dirty="0"/>
              <a:t>对应屏幕输出。</a:t>
            </a:r>
          </a:p>
          <a:p>
            <a:r>
              <a:rPr lang="en-US" altLang="zh-CN" sz="2400" dirty="0"/>
              <a:t>-</a:t>
            </a:r>
            <a:r>
              <a:rPr lang="en-US" altLang="zh-CN" sz="2400" dirty="0" err="1"/>
              <a:t>ignoreCrc</a:t>
            </a:r>
            <a:r>
              <a:rPr lang="zh-CN" altLang="en-US" sz="2400" dirty="0"/>
              <a:t>：用于指定是否要进行</a:t>
            </a:r>
            <a:r>
              <a:rPr lang="en-US" altLang="zh-CN" sz="2400" dirty="0"/>
              <a:t>CRC</a:t>
            </a:r>
            <a:r>
              <a:rPr lang="zh-CN" altLang="en-US" sz="2400" dirty="0"/>
              <a:t>校验。</a:t>
            </a:r>
          </a:p>
          <a:p>
            <a:r>
              <a:rPr lang="zh-CN" altLang="en-US" sz="2400" dirty="0"/>
              <a:t>其中</a:t>
            </a:r>
            <a:r>
              <a:rPr lang="en-US" altLang="zh-CN" sz="2400" dirty="0"/>
              <a:t>URI</a:t>
            </a:r>
            <a:r>
              <a:rPr lang="zh-CN" altLang="en-US" sz="2400" dirty="0"/>
              <a:t>缺省情况为</a:t>
            </a:r>
            <a:r>
              <a:rPr lang="en-US" altLang="zh-CN" sz="2400" dirty="0"/>
              <a:t>HDFS</a:t>
            </a:r>
            <a:r>
              <a:rPr lang="zh-CN" altLang="en-US" sz="2400" dirty="0"/>
              <a:t>系统中的文件，若指定本地文件系统中的文件，则使用“</a:t>
            </a:r>
            <a:r>
              <a:rPr lang="en-US" altLang="zh-CN" sz="2400" dirty="0"/>
              <a:t>file://”</a:t>
            </a:r>
            <a:r>
              <a:rPr lang="zh-CN" altLang="en-US" sz="2400" dirty="0"/>
              <a:t>表示。</a:t>
            </a:r>
          </a:p>
          <a:p>
            <a:endParaRPr lang="zh-CN" altLang="en-US" sz="2400" dirty="0"/>
          </a:p>
        </p:txBody>
      </p:sp>
    </p:spTree>
    <p:extLst>
      <p:ext uri="{BB962C8B-B14F-4D97-AF65-F5344CB8AC3E}">
        <p14:creationId xmlns:p14="http://schemas.microsoft.com/office/powerpoint/2010/main" val="240449624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539552" y="987574"/>
            <a:ext cx="7992888" cy="3708411"/>
          </a:xfrm>
        </p:spPr>
        <p:txBody>
          <a:bodyPr>
            <a:normAutofit/>
          </a:bodyPr>
          <a:lstStyle/>
          <a:p>
            <a:pPr marL="0" indent="0">
              <a:lnSpc>
                <a:spcPct val="120000"/>
              </a:lnSpc>
              <a:buNone/>
            </a:pPr>
            <a:r>
              <a:rPr lang="en-US" altLang="zh-CN" sz="2400" dirty="0"/>
              <a:t>【</a:t>
            </a:r>
            <a:r>
              <a:rPr lang="zh-CN" altLang="en-US" sz="2400" dirty="0"/>
              <a:t>例</a:t>
            </a:r>
            <a:r>
              <a:rPr lang="en-US" altLang="zh-CN" sz="2400" dirty="0"/>
              <a:t>4.2】</a:t>
            </a:r>
            <a:r>
              <a:rPr lang="zh-CN" altLang="en-US" sz="2400" dirty="0"/>
              <a:t>在终端显示</a:t>
            </a:r>
            <a:r>
              <a:rPr lang="en-US" altLang="zh-CN" sz="2400" dirty="0"/>
              <a:t>HDFS</a:t>
            </a:r>
            <a:r>
              <a:rPr lang="zh-CN" altLang="en-US" sz="2400" dirty="0"/>
              <a:t>上根目录下的文件</a:t>
            </a:r>
            <a:r>
              <a:rPr lang="en-US" altLang="zh-CN" sz="2400" dirty="0"/>
              <a:t>file1</a:t>
            </a:r>
            <a:r>
              <a:rPr lang="zh-CN" altLang="en-US" sz="2400" dirty="0"/>
              <a:t>和 </a:t>
            </a:r>
            <a:r>
              <a:rPr lang="en-US" altLang="zh-CN" sz="2400" dirty="0"/>
              <a:t>file2</a:t>
            </a:r>
            <a:r>
              <a:rPr lang="zh-CN" altLang="en-US" sz="2400" dirty="0"/>
              <a:t>。</a:t>
            </a:r>
            <a:endParaRPr lang="en-US" altLang="zh-CN" sz="2400" dirty="0"/>
          </a:p>
          <a:p>
            <a:pPr marL="0" indent="0">
              <a:lnSpc>
                <a:spcPct val="120000"/>
              </a:lnSpc>
              <a:buNone/>
            </a:pPr>
            <a:endParaRPr lang="en-US" altLang="zh-CN" sz="2400" dirty="0"/>
          </a:p>
          <a:p>
            <a:pPr marL="0" indent="0">
              <a:lnSpc>
                <a:spcPct val="120000"/>
              </a:lnSpc>
              <a:buNone/>
            </a:pPr>
            <a:r>
              <a:rPr lang="en-US" altLang="zh-CN" sz="2400" dirty="0"/>
              <a:t>【</a:t>
            </a:r>
            <a:r>
              <a:rPr lang="zh-CN" altLang="en-US" sz="2400" dirty="0"/>
              <a:t>例</a:t>
            </a:r>
            <a:r>
              <a:rPr lang="en-US" altLang="zh-CN" sz="2400" dirty="0"/>
              <a:t>4.3】</a:t>
            </a:r>
            <a:r>
              <a:rPr lang="zh-CN" altLang="en-US" sz="2400" dirty="0"/>
              <a:t>在终端显示本地文件系统“</a:t>
            </a:r>
            <a:r>
              <a:rPr lang="en-US" altLang="zh-CN" sz="2400" dirty="0"/>
              <a:t>/</a:t>
            </a:r>
            <a:r>
              <a:rPr lang="en-US" altLang="zh-CN" sz="2400" dirty="0" err="1"/>
              <a:t>usr</a:t>
            </a:r>
            <a:r>
              <a:rPr lang="en-US" altLang="zh-CN" sz="2400" dirty="0"/>
              <a:t>/home/</a:t>
            </a:r>
            <a:r>
              <a:rPr lang="en-US" altLang="zh-CN" sz="2400" dirty="0" err="1"/>
              <a:t>localfile</a:t>
            </a:r>
            <a:r>
              <a:rPr lang="en-US" altLang="zh-CN" sz="2400" dirty="0"/>
              <a:t>”</a:t>
            </a:r>
            <a:r>
              <a:rPr lang="zh-CN" altLang="en-US" sz="2400" dirty="0"/>
              <a:t>和</a:t>
            </a:r>
            <a:r>
              <a:rPr lang="en-US" altLang="zh-CN" sz="2400" dirty="0"/>
              <a:t>HDFS</a:t>
            </a:r>
            <a:r>
              <a:rPr lang="zh-CN" altLang="en-US" sz="2400" dirty="0"/>
              <a:t>上的文件“</a:t>
            </a:r>
            <a:r>
              <a:rPr lang="en-US" altLang="zh-CN" sz="2400" dirty="0"/>
              <a:t>/</a:t>
            </a:r>
            <a:r>
              <a:rPr lang="en-US" altLang="zh-CN" sz="2400" dirty="0" err="1"/>
              <a:t>usr</a:t>
            </a:r>
            <a:r>
              <a:rPr lang="en-US" altLang="zh-CN" sz="2400" dirty="0"/>
              <a:t>/Hadoop/ </a:t>
            </a:r>
            <a:r>
              <a:rPr lang="en-US" altLang="zh-CN" sz="2400" dirty="0" err="1"/>
              <a:t>hadoopfile</a:t>
            </a:r>
            <a:r>
              <a:rPr lang="en-US" altLang="zh-CN" sz="2400" dirty="0"/>
              <a:t>”</a:t>
            </a:r>
            <a:r>
              <a:rPr lang="zh-CN" altLang="en-US" sz="2400" dirty="0"/>
              <a:t>。需要注意的是，“</a:t>
            </a:r>
            <a:r>
              <a:rPr lang="en-US" altLang="zh-CN" sz="2400" dirty="0" err="1"/>
              <a:t>hadoop</a:t>
            </a:r>
            <a:r>
              <a:rPr lang="en-US" altLang="zh-CN" sz="2400" dirty="0"/>
              <a:t> fs -cat”</a:t>
            </a:r>
            <a:r>
              <a:rPr lang="zh-CN" altLang="en-US" sz="2400" dirty="0"/>
              <a:t>命令缺省目标文件系统为</a:t>
            </a:r>
            <a:r>
              <a:rPr lang="en-US" altLang="zh-CN" sz="2400" dirty="0"/>
              <a:t>HDFS</a:t>
            </a:r>
            <a:r>
              <a:rPr lang="zh-CN" altLang="en-US" sz="2400" dirty="0"/>
              <a:t>，若用其打印输出本地文件系统文件，则需完整的</a:t>
            </a:r>
            <a:r>
              <a:rPr lang="en-US" altLang="zh-CN" sz="2400" dirty="0"/>
              <a:t>URI</a:t>
            </a:r>
            <a:r>
              <a:rPr lang="zh-CN" altLang="en-US" sz="2400" dirty="0"/>
              <a:t>。</a:t>
            </a:r>
            <a:endParaRPr lang="en-US" altLang="zh-CN" sz="2400" dirty="0"/>
          </a:p>
          <a:p>
            <a:pPr marL="0" indent="0">
              <a:lnSpc>
                <a:spcPct val="120000"/>
              </a:lnSpc>
              <a:buNone/>
            </a:pPr>
            <a:endParaRPr lang="zh-CN" altLang="en-US" sz="2400" dirty="0"/>
          </a:p>
        </p:txBody>
      </p:sp>
      <p:pic>
        <p:nvPicPr>
          <p:cNvPr id="5" name="图片 4">
            <a:extLst>
              <a:ext uri="{FF2B5EF4-FFF2-40B4-BE49-F238E27FC236}">
                <a16:creationId xmlns:a16="http://schemas.microsoft.com/office/drawing/2014/main" id="{1AD53647-BB2D-4F37-A2E3-40993B4DEC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584" y="1635646"/>
            <a:ext cx="7795935" cy="251482"/>
          </a:xfrm>
          <a:prstGeom prst="rect">
            <a:avLst/>
          </a:prstGeom>
        </p:spPr>
      </p:pic>
      <p:pic>
        <p:nvPicPr>
          <p:cNvPr id="7" name="图片 6">
            <a:extLst>
              <a:ext uri="{FF2B5EF4-FFF2-40B4-BE49-F238E27FC236}">
                <a16:creationId xmlns:a16="http://schemas.microsoft.com/office/drawing/2014/main" id="{AAE2AF7E-7743-47BB-A50E-A7D3B57A64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359" y="3915874"/>
            <a:ext cx="8148010" cy="276630"/>
          </a:xfrm>
          <a:prstGeom prst="rect">
            <a:avLst/>
          </a:prstGeom>
        </p:spPr>
      </p:pic>
    </p:spTree>
    <p:extLst>
      <p:ext uri="{BB962C8B-B14F-4D97-AF65-F5344CB8AC3E}">
        <p14:creationId xmlns:p14="http://schemas.microsoft.com/office/powerpoint/2010/main" val="220270485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467544" y="987574"/>
            <a:ext cx="7992888" cy="3708411"/>
          </a:xfrm>
        </p:spPr>
        <p:txBody>
          <a:bodyPr>
            <a:normAutofit fontScale="85000" lnSpcReduction="10000"/>
          </a:bodyPr>
          <a:lstStyle/>
          <a:p>
            <a:pPr marL="0" indent="0">
              <a:lnSpc>
                <a:spcPct val="120000"/>
              </a:lnSpc>
              <a:buNone/>
            </a:pPr>
            <a:r>
              <a:rPr lang="en-US" altLang="zh-CN" sz="2400" dirty="0"/>
              <a:t>3</a:t>
            </a:r>
            <a:r>
              <a:rPr lang="zh-CN" altLang="en-US" sz="2400" dirty="0"/>
              <a:t>．</a:t>
            </a:r>
            <a:r>
              <a:rPr lang="en-US" altLang="zh-CN" sz="2400" dirty="0" err="1"/>
              <a:t>copyFromLocal</a:t>
            </a:r>
            <a:endParaRPr lang="en-US" altLang="zh-CN" sz="2400" dirty="0"/>
          </a:p>
          <a:p>
            <a:pPr>
              <a:lnSpc>
                <a:spcPct val="120000"/>
              </a:lnSpc>
            </a:pPr>
            <a:r>
              <a:rPr lang="zh-CN" altLang="en-US" sz="2400" dirty="0"/>
              <a:t>用法：</a:t>
            </a:r>
            <a:r>
              <a:rPr lang="en-US" altLang="zh-CN" sz="2400" dirty="0" err="1"/>
              <a:t>hadoop</a:t>
            </a:r>
            <a:r>
              <a:rPr lang="en-US" altLang="zh-CN" sz="2400" dirty="0"/>
              <a:t> fs -</a:t>
            </a:r>
            <a:r>
              <a:rPr lang="en-US" altLang="zh-CN" sz="2400" dirty="0" err="1"/>
              <a:t>copyFromLocal</a:t>
            </a:r>
            <a:r>
              <a:rPr lang="en-US" altLang="zh-CN" sz="2400" dirty="0"/>
              <a:t> [-f] [-p] [-l] [-d] &lt;</a:t>
            </a:r>
            <a:r>
              <a:rPr lang="en-US" altLang="zh-CN" sz="2400" dirty="0" err="1"/>
              <a:t>localsrc</a:t>
            </a:r>
            <a:r>
              <a:rPr lang="en-US" altLang="zh-CN" sz="2400" dirty="0"/>
              <a:t>&gt; URI</a:t>
            </a:r>
          </a:p>
          <a:p>
            <a:pPr>
              <a:lnSpc>
                <a:spcPct val="120000"/>
              </a:lnSpc>
            </a:pPr>
            <a:r>
              <a:rPr lang="zh-CN" altLang="en-US" sz="2400" dirty="0"/>
              <a:t>说明：把本地文件系统中的文件复制到</a:t>
            </a:r>
            <a:r>
              <a:rPr lang="en-US" altLang="zh-CN" sz="2400" dirty="0"/>
              <a:t>HDFS</a:t>
            </a:r>
            <a:r>
              <a:rPr lang="zh-CN" altLang="en-US" sz="2400" dirty="0"/>
              <a:t>文件系统中。其功能类似于</a:t>
            </a:r>
            <a:r>
              <a:rPr lang="en-US" altLang="zh-CN" sz="2400" dirty="0"/>
              <a:t>put</a:t>
            </a:r>
            <a:r>
              <a:rPr lang="zh-CN" altLang="en-US" sz="2400" dirty="0"/>
              <a:t>命令，只是要求源文件来自本地文件系统。</a:t>
            </a:r>
          </a:p>
          <a:p>
            <a:pPr>
              <a:lnSpc>
                <a:spcPct val="120000"/>
              </a:lnSpc>
            </a:pPr>
            <a:r>
              <a:rPr lang="en-US" altLang="zh-CN" sz="2400" dirty="0"/>
              <a:t>-f</a:t>
            </a:r>
            <a:r>
              <a:rPr lang="zh-CN" altLang="en-US" sz="2400" dirty="0"/>
              <a:t>：设定当</a:t>
            </a:r>
            <a:r>
              <a:rPr lang="zh-CN" altLang="en-US" sz="2800" dirty="0"/>
              <a:t>目标</a:t>
            </a:r>
            <a:r>
              <a:rPr lang="zh-CN" altLang="en-US" sz="2400" dirty="0"/>
              <a:t>文件已经存在时，强行覆盖；</a:t>
            </a:r>
          </a:p>
          <a:p>
            <a:pPr>
              <a:lnSpc>
                <a:spcPct val="120000"/>
              </a:lnSpc>
            </a:pPr>
            <a:r>
              <a:rPr lang="en-US" altLang="zh-CN" sz="2400" dirty="0"/>
              <a:t>-p</a:t>
            </a:r>
            <a:r>
              <a:rPr lang="zh-CN" altLang="en-US" sz="2400" dirty="0"/>
              <a:t>：设定保持存取和修改的时间，文件拥有者以及各种权限；</a:t>
            </a:r>
          </a:p>
          <a:p>
            <a:pPr>
              <a:lnSpc>
                <a:spcPct val="120000"/>
              </a:lnSpc>
            </a:pPr>
            <a:r>
              <a:rPr lang="en-US" altLang="zh-CN" sz="2400" dirty="0"/>
              <a:t>-l</a:t>
            </a:r>
            <a:r>
              <a:rPr lang="zh-CN" altLang="en-US" sz="2400" dirty="0"/>
              <a:t>：允许数据节点采用惰性存储方式（延迟将文件持久化写入磁盘），强制重复因子为</a:t>
            </a:r>
            <a:r>
              <a:rPr lang="en-US" altLang="zh-CN" sz="2400" dirty="0"/>
              <a:t>1</a:t>
            </a:r>
            <a:r>
              <a:rPr lang="zh-CN" altLang="en-US" sz="2400" dirty="0"/>
              <a:t>，该参数可能导致文件的容错性降低；</a:t>
            </a:r>
          </a:p>
          <a:p>
            <a:pPr>
              <a:lnSpc>
                <a:spcPct val="120000"/>
              </a:lnSpc>
            </a:pPr>
            <a:r>
              <a:rPr lang="en-US" altLang="zh-CN" sz="2400" dirty="0"/>
              <a:t>-d</a:t>
            </a:r>
            <a:r>
              <a:rPr lang="zh-CN" altLang="en-US" sz="2400" dirty="0"/>
              <a:t>：跳过创建临时文件步骤，该临时文件以“</a:t>
            </a:r>
            <a:r>
              <a:rPr lang="en-US" altLang="zh-CN" sz="2400" dirty="0"/>
              <a:t>._COPYING_“</a:t>
            </a:r>
            <a:r>
              <a:rPr lang="zh-CN" altLang="en-US" sz="2400" dirty="0"/>
              <a:t>为后缀。</a:t>
            </a:r>
          </a:p>
        </p:txBody>
      </p:sp>
    </p:spTree>
    <p:extLst>
      <p:ext uri="{BB962C8B-B14F-4D97-AF65-F5344CB8AC3E}">
        <p14:creationId xmlns:p14="http://schemas.microsoft.com/office/powerpoint/2010/main" val="37370491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539552" y="987574"/>
            <a:ext cx="7992888" cy="3708411"/>
          </a:xfrm>
        </p:spPr>
        <p:txBody>
          <a:bodyPr>
            <a:normAutofit/>
          </a:bodyPr>
          <a:lstStyle/>
          <a:p>
            <a:pPr marL="0" indent="0">
              <a:lnSpc>
                <a:spcPct val="120000"/>
              </a:lnSpc>
              <a:buNone/>
            </a:pPr>
            <a:r>
              <a:rPr lang="en-US" altLang="zh-CN" sz="2400" dirty="0"/>
              <a:t>【</a:t>
            </a:r>
            <a:r>
              <a:rPr lang="zh-CN" altLang="en-US" sz="2400" dirty="0"/>
              <a:t>例</a:t>
            </a:r>
            <a:r>
              <a:rPr lang="en-US" altLang="zh-CN" sz="2400" dirty="0"/>
              <a:t>4.4】</a:t>
            </a:r>
            <a:r>
              <a:rPr lang="zh-CN" altLang="en-US" sz="2400" dirty="0"/>
              <a:t>把本地文件当前文件夹下的文件</a:t>
            </a:r>
            <a:r>
              <a:rPr lang="en-US" altLang="zh-CN" sz="2400" dirty="0"/>
              <a:t>localfile1</a:t>
            </a:r>
            <a:r>
              <a:rPr lang="zh-CN" altLang="en-US" sz="2400" dirty="0"/>
              <a:t>复制到</a:t>
            </a:r>
            <a:r>
              <a:rPr lang="en-US" altLang="zh-CN" sz="2400" dirty="0"/>
              <a:t>HDFS</a:t>
            </a:r>
            <a:r>
              <a:rPr lang="zh-CN" altLang="en-US" sz="2400" dirty="0"/>
              <a:t>的“</a:t>
            </a:r>
            <a:r>
              <a:rPr lang="en-US" altLang="zh-CN" sz="2400" dirty="0"/>
              <a:t>/user/</a:t>
            </a:r>
            <a:r>
              <a:rPr lang="en-US" altLang="zh-CN" sz="2400" dirty="0" err="1"/>
              <a:t>hadoop</a:t>
            </a:r>
            <a:r>
              <a:rPr lang="en-US" altLang="zh-CN" sz="2400" dirty="0"/>
              <a:t>/”</a:t>
            </a:r>
            <a:r>
              <a:rPr lang="zh-CN" altLang="en-US" sz="2400" dirty="0"/>
              <a:t>文件夹中。</a:t>
            </a:r>
          </a:p>
        </p:txBody>
      </p:sp>
      <p:pic>
        <p:nvPicPr>
          <p:cNvPr id="5" name="图片 4">
            <a:extLst>
              <a:ext uri="{FF2B5EF4-FFF2-40B4-BE49-F238E27FC236}">
                <a16:creationId xmlns:a16="http://schemas.microsoft.com/office/drawing/2014/main" id="{B82426EE-288A-4A2E-9A1E-CA457A845E3E}"/>
              </a:ext>
            </a:extLst>
          </p:cNvPr>
          <p:cNvPicPr>
            <a:picLocks noChangeAspect="1"/>
          </p:cNvPicPr>
          <p:nvPr/>
        </p:nvPicPr>
        <p:blipFill rotWithShape="1">
          <a:blip r:embed="rId2">
            <a:extLst>
              <a:ext uri="{28A0092B-C50C-407E-A947-70E740481C1C}">
                <a14:useLocalDpi xmlns:a14="http://schemas.microsoft.com/office/drawing/2010/main" val="0"/>
              </a:ext>
            </a:extLst>
          </a:blip>
          <a:srcRect t="20000"/>
          <a:stretch/>
        </p:blipFill>
        <p:spPr>
          <a:xfrm>
            <a:off x="755576" y="2211710"/>
            <a:ext cx="6967271" cy="288032"/>
          </a:xfrm>
          <a:prstGeom prst="rect">
            <a:avLst/>
          </a:prstGeom>
        </p:spPr>
      </p:pic>
    </p:spTree>
    <p:extLst>
      <p:ext uri="{BB962C8B-B14F-4D97-AF65-F5344CB8AC3E}">
        <p14:creationId xmlns:p14="http://schemas.microsoft.com/office/powerpoint/2010/main" val="330798420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467544" y="915566"/>
            <a:ext cx="7992888" cy="3708411"/>
          </a:xfrm>
        </p:spPr>
        <p:txBody>
          <a:bodyPr>
            <a:normAutofit lnSpcReduction="10000"/>
          </a:bodyPr>
          <a:lstStyle/>
          <a:p>
            <a:pPr marL="0" indent="0">
              <a:buNone/>
            </a:pPr>
            <a:r>
              <a:rPr lang="en-US" altLang="zh-CN" sz="2400" dirty="0"/>
              <a:t>4</a:t>
            </a:r>
            <a:r>
              <a:rPr lang="zh-CN" altLang="en-US" sz="2400" dirty="0"/>
              <a:t>．</a:t>
            </a:r>
            <a:r>
              <a:rPr lang="en-US" altLang="zh-CN" sz="2400" dirty="0"/>
              <a:t>cp</a:t>
            </a:r>
          </a:p>
          <a:p>
            <a:r>
              <a:rPr lang="zh-CN" altLang="en-US" sz="2400" dirty="0"/>
              <a:t>用法：</a:t>
            </a:r>
            <a:r>
              <a:rPr lang="en-US" altLang="zh-CN" sz="2400" dirty="0" err="1"/>
              <a:t>hadoop</a:t>
            </a:r>
            <a:r>
              <a:rPr lang="en-US" altLang="zh-CN" sz="2400" dirty="0"/>
              <a:t> fs -cp [-f] [-p | -p[</a:t>
            </a:r>
            <a:r>
              <a:rPr lang="en-US" altLang="zh-CN" sz="2400" dirty="0" err="1"/>
              <a:t>topax</a:t>
            </a:r>
            <a:r>
              <a:rPr lang="en-US" altLang="zh-CN" sz="2400" dirty="0"/>
              <a:t>]] URI [URI ...] &lt;</a:t>
            </a:r>
            <a:r>
              <a:rPr lang="en-US" altLang="zh-CN" sz="2400" dirty="0" err="1"/>
              <a:t>dest</a:t>
            </a:r>
            <a:r>
              <a:rPr lang="en-US" altLang="zh-CN" sz="2400" dirty="0"/>
              <a:t>&gt;</a:t>
            </a:r>
          </a:p>
          <a:p>
            <a:r>
              <a:rPr lang="zh-CN" altLang="en-US" sz="2400" dirty="0"/>
              <a:t>说明：文件复制。</a:t>
            </a:r>
            <a:r>
              <a:rPr lang="en-US" altLang="zh-CN" sz="2400" dirty="0"/>
              <a:t>&lt;</a:t>
            </a:r>
            <a:r>
              <a:rPr lang="en-US" altLang="zh-CN" sz="2400" dirty="0" err="1"/>
              <a:t>dest</a:t>
            </a:r>
            <a:r>
              <a:rPr lang="en-US" altLang="zh-CN" sz="2400" dirty="0"/>
              <a:t>&gt;</a:t>
            </a:r>
            <a:r>
              <a:rPr lang="zh-CN" altLang="en-US" sz="2400" dirty="0"/>
              <a:t>是文件路径时，源文件可以是多个文件，或者通配符匹配的文件列表。</a:t>
            </a:r>
          </a:p>
          <a:p>
            <a:r>
              <a:rPr lang="en-US" altLang="zh-CN" sz="2400" dirty="0"/>
              <a:t>-f</a:t>
            </a:r>
            <a:r>
              <a:rPr lang="zh-CN" altLang="en-US" sz="2400" dirty="0"/>
              <a:t>：设定当目标文件已经存在时，强行覆盖；</a:t>
            </a:r>
          </a:p>
          <a:p>
            <a:r>
              <a:rPr lang="en-US" altLang="zh-CN" sz="2400" dirty="0"/>
              <a:t>-p</a:t>
            </a:r>
            <a:r>
              <a:rPr lang="zh-CN" altLang="en-US" sz="2400" dirty="0"/>
              <a:t>：设定在目标文件中保持源文件的一些属性，包括时间、拥有者、权限等。</a:t>
            </a:r>
            <a:endParaRPr lang="en-US" altLang="zh-CN" sz="2400" dirty="0"/>
          </a:p>
          <a:p>
            <a:pPr marL="0" indent="0">
              <a:buNone/>
            </a:pPr>
            <a:r>
              <a:rPr lang="en-US" altLang="zh-CN" sz="2400" dirty="0"/>
              <a:t>【</a:t>
            </a:r>
            <a:r>
              <a:rPr lang="zh-CN" altLang="en-US" sz="2400" dirty="0"/>
              <a:t>例</a:t>
            </a:r>
            <a:r>
              <a:rPr lang="en-US" altLang="zh-CN" sz="2400" dirty="0"/>
              <a:t>4.5】</a:t>
            </a:r>
            <a:r>
              <a:rPr lang="zh-CN" altLang="en-US" sz="2400" dirty="0"/>
              <a:t>把</a:t>
            </a:r>
            <a:r>
              <a:rPr lang="en-US" altLang="zh-CN" sz="2400" dirty="0"/>
              <a:t>HDFS</a:t>
            </a:r>
            <a:r>
              <a:rPr lang="zh-CN" altLang="en-US" sz="2400" dirty="0"/>
              <a:t>文件系统中的文件“</a:t>
            </a:r>
            <a:r>
              <a:rPr lang="en-US" altLang="zh-CN" sz="2400" dirty="0"/>
              <a:t>/user/</a:t>
            </a:r>
            <a:r>
              <a:rPr lang="en-US" altLang="zh-CN" sz="2400" dirty="0" err="1"/>
              <a:t>hadoop</a:t>
            </a:r>
            <a:r>
              <a:rPr lang="en-US" altLang="zh-CN" sz="2400" dirty="0"/>
              <a:t>/file1”</a:t>
            </a:r>
            <a:r>
              <a:rPr lang="zh-CN" altLang="en-US" sz="2400" dirty="0"/>
              <a:t>复制到指定文件夹下，目标文件名为</a:t>
            </a:r>
            <a:r>
              <a:rPr lang="en-US" altLang="zh-CN" sz="2400" dirty="0"/>
              <a:t>file2</a:t>
            </a:r>
            <a:r>
              <a:rPr lang="zh-CN" altLang="en-US" sz="2400" dirty="0"/>
              <a:t>。</a:t>
            </a:r>
          </a:p>
        </p:txBody>
      </p:sp>
      <p:pic>
        <p:nvPicPr>
          <p:cNvPr id="5" name="图片 4">
            <a:extLst>
              <a:ext uri="{FF2B5EF4-FFF2-40B4-BE49-F238E27FC236}">
                <a16:creationId xmlns:a16="http://schemas.microsoft.com/office/drawing/2014/main" id="{F3971953-F7A2-4035-B503-9FD9A1D27B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852" y="4402978"/>
            <a:ext cx="7153895" cy="276249"/>
          </a:xfrm>
          <a:prstGeom prst="rect">
            <a:avLst/>
          </a:prstGeom>
        </p:spPr>
      </p:pic>
    </p:spTree>
    <p:extLst>
      <p:ext uri="{BB962C8B-B14F-4D97-AF65-F5344CB8AC3E}">
        <p14:creationId xmlns:p14="http://schemas.microsoft.com/office/powerpoint/2010/main" val="47450683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539552" y="987574"/>
            <a:ext cx="7992888" cy="3708411"/>
          </a:xfrm>
        </p:spPr>
        <p:txBody>
          <a:bodyPr>
            <a:normAutofit/>
          </a:bodyPr>
          <a:lstStyle/>
          <a:p>
            <a:pPr marL="0" indent="0">
              <a:buNone/>
            </a:pPr>
            <a:r>
              <a:rPr lang="en-US" altLang="zh-CN" sz="2400" dirty="0"/>
              <a:t>5</a:t>
            </a:r>
            <a:r>
              <a:rPr lang="zh-CN" altLang="en-US" sz="2400" dirty="0"/>
              <a:t>．</a:t>
            </a:r>
            <a:r>
              <a:rPr lang="en-US" altLang="zh-CN" sz="2400" dirty="0"/>
              <a:t>df</a:t>
            </a:r>
          </a:p>
          <a:p>
            <a:r>
              <a:rPr lang="zh-CN" altLang="en-US" sz="2400" dirty="0"/>
              <a:t>用法：</a:t>
            </a:r>
            <a:r>
              <a:rPr lang="en-US" altLang="zh-CN" sz="2400" dirty="0" err="1"/>
              <a:t>hadoop</a:t>
            </a:r>
            <a:r>
              <a:rPr lang="en-US" altLang="zh-CN" sz="2400" dirty="0"/>
              <a:t> fs -df [-h] URI [URI ...]</a:t>
            </a:r>
          </a:p>
          <a:p>
            <a:r>
              <a:rPr lang="zh-CN" altLang="en-US" sz="2400" dirty="0"/>
              <a:t>说明：显示可用空间的大小。</a:t>
            </a:r>
          </a:p>
          <a:p>
            <a:r>
              <a:rPr lang="en-US" altLang="zh-CN" sz="2400" dirty="0"/>
              <a:t>-h</a:t>
            </a:r>
            <a:r>
              <a:rPr lang="zh-CN" altLang="en-US" sz="2400" dirty="0"/>
              <a:t>：用于设定空间大小的显示方式是否为适合人类阅读模式。</a:t>
            </a:r>
            <a:endParaRPr lang="en-US" altLang="zh-CN" sz="2400" dirty="0"/>
          </a:p>
          <a:p>
            <a:pPr marL="0" indent="0">
              <a:buNone/>
            </a:pPr>
            <a:r>
              <a:rPr lang="en-US" altLang="zh-CN" sz="2400" dirty="0"/>
              <a:t>【</a:t>
            </a:r>
            <a:r>
              <a:rPr lang="zh-CN" altLang="en-US" sz="2400" dirty="0"/>
              <a:t>例</a:t>
            </a:r>
            <a:r>
              <a:rPr lang="en-US" altLang="zh-CN" sz="2400" dirty="0"/>
              <a:t>4.6】</a:t>
            </a:r>
            <a:r>
              <a:rPr lang="zh-CN" altLang="en-US" sz="2400" dirty="0"/>
              <a:t>显示</a:t>
            </a:r>
            <a:r>
              <a:rPr lang="en-US" altLang="zh-CN" sz="2400" dirty="0"/>
              <a:t>/user/</a:t>
            </a:r>
            <a:r>
              <a:rPr lang="en-US" altLang="zh-CN" sz="2400" dirty="0" err="1"/>
              <a:t>hadoop</a:t>
            </a:r>
            <a:r>
              <a:rPr lang="en-US" altLang="zh-CN" sz="2400" dirty="0"/>
              <a:t>/dir1</a:t>
            </a:r>
            <a:r>
              <a:rPr lang="zh-CN" altLang="en-US" sz="2400" dirty="0"/>
              <a:t>文件夹下的相关信息</a:t>
            </a:r>
            <a:endParaRPr lang="en-US" altLang="zh-CN" sz="2400" dirty="0"/>
          </a:p>
          <a:p>
            <a:pPr marL="0" indent="0">
              <a:buNone/>
            </a:pPr>
            <a:endParaRPr lang="zh-CN" altLang="en-US" sz="2400" dirty="0"/>
          </a:p>
        </p:txBody>
      </p:sp>
      <p:pic>
        <p:nvPicPr>
          <p:cNvPr id="7" name="图片 6">
            <a:extLst>
              <a:ext uri="{FF2B5EF4-FFF2-40B4-BE49-F238E27FC236}">
                <a16:creationId xmlns:a16="http://schemas.microsoft.com/office/drawing/2014/main" id="{0DB5FADE-74EB-4D61-BB35-4C026E2A3E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5576" y="3651870"/>
            <a:ext cx="7395512" cy="792088"/>
          </a:xfrm>
          <a:prstGeom prst="rect">
            <a:avLst/>
          </a:prstGeom>
        </p:spPr>
      </p:pic>
    </p:spTree>
    <p:extLst>
      <p:ext uri="{BB962C8B-B14F-4D97-AF65-F5344CB8AC3E}">
        <p14:creationId xmlns:p14="http://schemas.microsoft.com/office/powerpoint/2010/main" val="298134580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323528" y="987574"/>
            <a:ext cx="8640960" cy="3708411"/>
          </a:xfrm>
        </p:spPr>
        <p:txBody>
          <a:bodyPr>
            <a:normAutofit/>
          </a:bodyPr>
          <a:lstStyle/>
          <a:p>
            <a:pPr marL="0" indent="0">
              <a:buNone/>
            </a:pPr>
            <a:r>
              <a:rPr lang="en-US" altLang="zh-CN" sz="2400" dirty="0"/>
              <a:t>6</a:t>
            </a:r>
            <a:r>
              <a:rPr lang="zh-CN" altLang="en-US" sz="2400" dirty="0"/>
              <a:t>．</a:t>
            </a:r>
            <a:r>
              <a:rPr lang="en-US" altLang="zh-CN" sz="2400" dirty="0"/>
              <a:t>du</a:t>
            </a:r>
          </a:p>
          <a:p>
            <a:r>
              <a:rPr lang="zh-CN" altLang="en-US" sz="2400" dirty="0"/>
              <a:t>用法：</a:t>
            </a:r>
            <a:r>
              <a:rPr lang="en-US" altLang="zh-CN" sz="2400" dirty="0" err="1"/>
              <a:t>hadoop</a:t>
            </a:r>
            <a:r>
              <a:rPr lang="en-US" altLang="zh-CN" sz="2400" dirty="0"/>
              <a:t> fs -du [-s] [-h] URI [URI ...]</a:t>
            </a:r>
          </a:p>
          <a:p>
            <a:r>
              <a:rPr lang="zh-CN" altLang="en-US" sz="2400" dirty="0"/>
              <a:t>说明：显示指定目录中包含的文件和目录的大小，如果是文件，则显示文件的长度。</a:t>
            </a:r>
          </a:p>
          <a:p>
            <a:r>
              <a:rPr lang="en-US" altLang="zh-CN" sz="2400" dirty="0"/>
              <a:t>-s</a:t>
            </a:r>
            <a:r>
              <a:rPr lang="zh-CN" altLang="en-US" sz="2400" dirty="0"/>
              <a:t>：设置显示文件总体摘要，而不仅仅是单个文件信息。              </a:t>
            </a:r>
          </a:p>
          <a:p>
            <a:r>
              <a:rPr lang="en-US" altLang="zh-CN" sz="2400" dirty="0"/>
              <a:t>-h</a:t>
            </a:r>
            <a:r>
              <a:rPr lang="zh-CN" altLang="en-US" sz="2400" dirty="0"/>
              <a:t>：设定空间大小的显示方式是否为适合人类阅读模式。</a:t>
            </a:r>
          </a:p>
          <a:p>
            <a:pPr marL="0" indent="0">
              <a:buNone/>
            </a:pPr>
            <a:r>
              <a:rPr lang="en-US" altLang="zh-CN" sz="2400" dirty="0"/>
              <a:t>【</a:t>
            </a:r>
            <a:r>
              <a:rPr lang="zh-CN" altLang="en-US" sz="2400" dirty="0"/>
              <a:t>例</a:t>
            </a:r>
            <a:r>
              <a:rPr lang="en-US" altLang="zh-CN" sz="2400" dirty="0"/>
              <a:t>4.7】</a:t>
            </a:r>
            <a:r>
              <a:rPr lang="zh-CN" altLang="en-US" sz="2400" dirty="0"/>
              <a:t>展示</a:t>
            </a:r>
            <a:r>
              <a:rPr lang="en-US" altLang="zh-CN" sz="2400" dirty="0"/>
              <a:t>HDFS</a:t>
            </a:r>
            <a:r>
              <a:rPr lang="zh-CN" altLang="en-US" sz="2400" dirty="0"/>
              <a:t>文件夹</a:t>
            </a:r>
            <a:r>
              <a:rPr lang="en-US" altLang="zh-CN" sz="2400" dirty="0"/>
              <a:t>/user/</a:t>
            </a:r>
            <a:r>
              <a:rPr lang="en-US" altLang="zh-CN" sz="2400" dirty="0" err="1"/>
              <a:t>hadoop</a:t>
            </a:r>
            <a:r>
              <a:rPr lang="en-US" altLang="zh-CN" sz="2400" dirty="0"/>
              <a:t>/dir1</a:t>
            </a:r>
            <a:r>
              <a:rPr lang="zh-CN" altLang="en-US" sz="2400" dirty="0"/>
              <a:t>的目录信息。</a:t>
            </a:r>
          </a:p>
        </p:txBody>
      </p:sp>
      <p:pic>
        <p:nvPicPr>
          <p:cNvPr id="5" name="图片 4">
            <a:extLst>
              <a:ext uri="{FF2B5EF4-FFF2-40B4-BE49-F238E27FC236}">
                <a16:creationId xmlns:a16="http://schemas.microsoft.com/office/drawing/2014/main" id="{DB2B8CAA-B6A9-438E-857E-EE8AF40952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4155926"/>
            <a:ext cx="6606167" cy="288032"/>
          </a:xfrm>
          <a:prstGeom prst="rect">
            <a:avLst/>
          </a:prstGeom>
        </p:spPr>
      </p:pic>
    </p:spTree>
    <p:extLst>
      <p:ext uri="{BB962C8B-B14F-4D97-AF65-F5344CB8AC3E}">
        <p14:creationId xmlns:p14="http://schemas.microsoft.com/office/powerpoint/2010/main" val="56437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323528" y="915566"/>
            <a:ext cx="8136904" cy="3708411"/>
          </a:xfrm>
        </p:spPr>
        <p:txBody>
          <a:bodyPr>
            <a:noAutofit/>
          </a:bodyPr>
          <a:lstStyle/>
          <a:p>
            <a:pPr marL="0" indent="0">
              <a:buNone/>
            </a:pPr>
            <a:r>
              <a:rPr lang="en-US" altLang="zh-CN" sz="2000" dirty="0"/>
              <a:t>7</a:t>
            </a:r>
            <a:r>
              <a:rPr lang="zh-CN" altLang="en-US" sz="2000" dirty="0"/>
              <a:t>．</a:t>
            </a:r>
            <a:r>
              <a:rPr lang="en-US" altLang="zh-CN" sz="2000" dirty="0"/>
              <a:t>find</a:t>
            </a:r>
          </a:p>
          <a:p>
            <a:r>
              <a:rPr lang="zh-CN" altLang="en-US" sz="2000" dirty="0"/>
              <a:t>用法：</a:t>
            </a:r>
            <a:r>
              <a:rPr lang="en-US" altLang="zh-CN" sz="2000" dirty="0" err="1"/>
              <a:t>hadoop</a:t>
            </a:r>
            <a:r>
              <a:rPr lang="en-US" altLang="zh-CN" sz="2000" dirty="0"/>
              <a:t> fs -find &lt;path&gt; ... [-name|-</a:t>
            </a:r>
            <a:r>
              <a:rPr lang="en-US" altLang="zh-CN" sz="2000" dirty="0" err="1"/>
              <a:t>iname</a:t>
            </a:r>
            <a:r>
              <a:rPr lang="en-US" altLang="zh-CN" sz="2000" dirty="0"/>
              <a:t> &lt;pattern&gt;] -print &lt;expression&gt; ...</a:t>
            </a:r>
          </a:p>
          <a:p>
            <a:r>
              <a:rPr lang="zh-CN" altLang="en-US" sz="2000" dirty="0"/>
              <a:t>说明：查找与指定表达式匹配的所有文件，并对其执行选定的操作。如果未指定路径，则默认为当前工作目录。如果未指定表达式，则默认为</a:t>
            </a:r>
            <a:r>
              <a:rPr lang="en-US" altLang="zh-CN" sz="2000" dirty="0"/>
              <a:t>-print</a:t>
            </a:r>
            <a:r>
              <a:rPr lang="zh-CN" altLang="en-US" sz="2000" dirty="0"/>
              <a:t>。</a:t>
            </a:r>
          </a:p>
          <a:p>
            <a:r>
              <a:rPr lang="en-US" altLang="zh-CN" sz="2000" dirty="0"/>
              <a:t>-name pattern</a:t>
            </a:r>
            <a:r>
              <a:rPr lang="zh-CN" altLang="en-US" sz="2000" dirty="0"/>
              <a:t>：指定查找文件的匹配模式；</a:t>
            </a:r>
          </a:p>
          <a:p>
            <a:r>
              <a:rPr lang="en-US" altLang="zh-CN" sz="2000" dirty="0"/>
              <a:t>-</a:t>
            </a:r>
            <a:r>
              <a:rPr lang="en-US" altLang="zh-CN" sz="2000" dirty="0" err="1"/>
              <a:t>iname</a:t>
            </a:r>
            <a:r>
              <a:rPr lang="en-US" altLang="zh-CN" sz="2000" dirty="0"/>
              <a:t> pattern</a:t>
            </a:r>
            <a:r>
              <a:rPr lang="zh-CN" altLang="en-US" sz="2000" dirty="0"/>
              <a:t>：作用同上，不区分文件大小写；</a:t>
            </a:r>
          </a:p>
          <a:p>
            <a:r>
              <a:rPr lang="en-US" altLang="zh-CN" sz="2000" dirty="0"/>
              <a:t>-print</a:t>
            </a:r>
            <a:r>
              <a:rPr lang="zh-CN" altLang="en-US" sz="2000" dirty="0"/>
              <a:t>：在标准输出上输出查找结果；</a:t>
            </a:r>
          </a:p>
          <a:p>
            <a:r>
              <a:rPr lang="en-US" altLang="zh-CN" sz="2000" dirty="0"/>
              <a:t>expression</a:t>
            </a:r>
            <a:r>
              <a:rPr lang="zh-CN" altLang="en-US" sz="2000" dirty="0"/>
              <a:t>：表达式</a:t>
            </a:r>
            <a:r>
              <a:rPr lang="en-US" altLang="zh-CN" sz="2000" dirty="0"/>
              <a:t>&lt;expression&gt;</a:t>
            </a:r>
            <a:r>
              <a:rPr lang="zh-CN" altLang="en-US" sz="2000" dirty="0"/>
              <a:t>可以是多个表达式的</a:t>
            </a:r>
            <a:r>
              <a:rPr lang="en-US" altLang="zh-CN" sz="2000" dirty="0"/>
              <a:t>and</a:t>
            </a:r>
            <a:r>
              <a:rPr lang="zh-CN" altLang="en-US" sz="2000" dirty="0"/>
              <a:t>，以此加强过滤条件</a:t>
            </a:r>
          </a:p>
          <a:p>
            <a:pPr marL="0" indent="0">
              <a:buNone/>
            </a:pPr>
            <a:endParaRPr lang="zh-CN" altLang="en-US" sz="2000" dirty="0"/>
          </a:p>
        </p:txBody>
      </p:sp>
    </p:spTree>
    <p:extLst>
      <p:ext uri="{BB962C8B-B14F-4D97-AF65-F5344CB8AC3E}">
        <p14:creationId xmlns:p14="http://schemas.microsoft.com/office/powerpoint/2010/main" val="76544051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539552" y="987574"/>
            <a:ext cx="7992888" cy="3708411"/>
          </a:xfrm>
        </p:spPr>
        <p:txBody>
          <a:bodyPr>
            <a:normAutofit/>
          </a:bodyPr>
          <a:lstStyle/>
          <a:p>
            <a:pPr marL="0" indent="0">
              <a:buNone/>
            </a:pPr>
            <a:r>
              <a:rPr lang="en-US" altLang="zh-CN" sz="2400" dirty="0"/>
              <a:t>【</a:t>
            </a:r>
            <a:r>
              <a:rPr lang="zh-CN" altLang="en-US" sz="2400" dirty="0"/>
              <a:t>例</a:t>
            </a:r>
            <a:r>
              <a:rPr lang="en-US" altLang="zh-CN" sz="2400" dirty="0"/>
              <a:t>4.8】</a:t>
            </a:r>
            <a:r>
              <a:rPr lang="zh-CN" altLang="en-US" sz="2400" dirty="0"/>
              <a:t>查找</a:t>
            </a:r>
            <a:r>
              <a:rPr lang="en-US" altLang="zh-CN" sz="2400" dirty="0"/>
              <a:t>HDFS</a:t>
            </a:r>
            <a:r>
              <a:rPr lang="zh-CN" altLang="en-US" sz="2400" dirty="0"/>
              <a:t>文件夹</a:t>
            </a:r>
            <a:r>
              <a:rPr lang="en-US" altLang="zh-CN" sz="2400" dirty="0"/>
              <a:t>/user</a:t>
            </a:r>
            <a:r>
              <a:rPr lang="zh-CN" altLang="en-US" sz="2400" dirty="0"/>
              <a:t>下是否存在</a:t>
            </a:r>
            <a:r>
              <a:rPr lang="en-US" altLang="zh-CN" sz="2400" dirty="0" err="1"/>
              <a:t>myhadoop.cfg</a:t>
            </a:r>
            <a:r>
              <a:rPr lang="zh-CN" altLang="en-US" sz="2400" dirty="0"/>
              <a:t>文件</a:t>
            </a:r>
            <a:endParaRPr lang="en-US" altLang="zh-CN" sz="2400" dirty="0"/>
          </a:p>
          <a:p>
            <a:pPr marL="0" indent="0">
              <a:buNone/>
            </a:pPr>
            <a:endParaRPr lang="zh-CN" altLang="en-US" sz="2400" dirty="0"/>
          </a:p>
        </p:txBody>
      </p:sp>
      <p:pic>
        <p:nvPicPr>
          <p:cNvPr id="5" name="图片 4">
            <a:extLst>
              <a:ext uri="{FF2B5EF4-FFF2-40B4-BE49-F238E27FC236}">
                <a16:creationId xmlns:a16="http://schemas.microsoft.com/office/drawing/2014/main" id="{150B0BAC-1D54-446D-9EE1-0B7D4280F752}"/>
              </a:ext>
            </a:extLst>
          </p:cNvPr>
          <p:cNvPicPr>
            <a:picLocks noChangeAspect="1"/>
          </p:cNvPicPr>
          <p:nvPr/>
        </p:nvPicPr>
        <p:blipFill rotWithShape="1">
          <a:blip r:embed="rId2">
            <a:extLst>
              <a:ext uri="{28A0092B-C50C-407E-A947-70E740481C1C}">
                <a14:useLocalDpi xmlns:a14="http://schemas.microsoft.com/office/drawing/2010/main" val="0"/>
              </a:ext>
            </a:extLst>
          </a:blip>
          <a:srcRect t="20000"/>
          <a:stretch/>
        </p:blipFill>
        <p:spPr>
          <a:xfrm>
            <a:off x="899592" y="1923678"/>
            <a:ext cx="7460823" cy="288032"/>
          </a:xfrm>
          <a:prstGeom prst="rect">
            <a:avLst/>
          </a:prstGeom>
        </p:spPr>
      </p:pic>
    </p:spTree>
    <p:extLst>
      <p:ext uri="{BB962C8B-B14F-4D97-AF65-F5344CB8AC3E}">
        <p14:creationId xmlns:p14="http://schemas.microsoft.com/office/powerpoint/2010/main" val="220946717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395536" y="987574"/>
            <a:ext cx="7992888" cy="3708411"/>
          </a:xfrm>
        </p:spPr>
        <p:txBody>
          <a:bodyPr>
            <a:normAutofit fontScale="92500"/>
          </a:bodyPr>
          <a:lstStyle/>
          <a:p>
            <a:pPr marL="0" indent="0">
              <a:lnSpc>
                <a:spcPct val="110000"/>
              </a:lnSpc>
              <a:buNone/>
            </a:pPr>
            <a:r>
              <a:rPr lang="en-US" altLang="zh-CN" sz="2400" dirty="0"/>
              <a:t>8</a:t>
            </a:r>
            <a:r>
              <a:rPr lang="zh-CN" altLang="en-US" sz="2400" dirty="0"/>
              <a:t>．</a:t>
            </a:r>
            <a:r>
              <a:rPr lang="en-US" altLang="zh-CN" sz="2400" dirty="0"/>
              <a:t>get</a:t>
            </a:r>
          </a:p>
          <a:p>
            <a:pPr marL="0" indent="0">
              <a:lnSpc>
                <a:spcPct val="110000"/>
              </a:lnSpc>
              <a:buNone/>
            </a:pPr>
            <a:r>
              <a:rPr lang="zh-CN" altLang="en-US" sz="2400" dirty="0"/>
              <a:t>用法：</a:t>
            </a:r>
            <a:r>
              <a:rPr lang="en-US" altLang="zh-CN" sz="2400" dirty="0" err="1"/>
              <a:t>hadoop</a:t>
            </a:r>
            <a:r>
              <a:rPr lang="en-US" altLang="zh-CN" sz="2400" dirty="0"/>
              <a:t> fs -get [-</a:t>
            </a:r>
            <a:r>
              <a:rPr lang="en-US" altLang="zh-CN" sz="2400" dirty="0" err="1"/>
              <a:t>ignorecrc</a:t>
            </a:r>
            <a:r>
              <a:rPr lang="en-US" altLang="zh-CN" sz="2400" dirty="0"/>
              <a:t>] [-</a:t>
            </a:r>
            <a:r>
              <a:rPr lang="en-US" altLang="zh-CN" sz="2400" dirty="0" err="1"/>
              <a:t>crc</a:t>
            </a:r>
            <a:r>
              <a:rPr lang="en-US" altLang="zh-CN" sz="2400" dirty="0"/>
              <a:t>] [-p] [-f] &lt;</a:t>
            </a:r>
            <a:r>
              <a:rPr lang="en-US" altLang="zh-CN" sz="2400" dirty="0" err="1"/>
              <a:t>src</a:t>
            </a:r>
            <a:r>
              <a:rPr lang="en-US" altLang="zh-CN" sz="2400" dirty="0"/>
              <a:t>&gt; &lt;</a:t>
            </a:r>
            <a:r>
              <a:rPr lang="en-US" altLang="zh-CN" sz="2400" dirty="0" err="1"/>
              <a:t>localdst</a:t>
            </a:r>
            <a:r>
              <a:rPr lang="en-US" altLang="zh-CN" sz="2400" dirty="0"/>
              <a:t>&gt;</a:t>
            </a:r>
          </a:p>
          <a:p>
            <a:pPr marL="0" indent="0">
              <a:lnSpc>
                <a:spcPct val="110000"/>
              </a:lnSpc>
              <a:buNone/>
            </a:pPr>
            <a:r>
              <a:rPr lang="zh-CN" altLang="en-US" sz="2400" dirty="0"/>
              <a:t>说明：将文件复制到本地文件系统。</a:t>
            </a:r>
          </a:p>
          <a:p>
            <a:pPr marL="0" indent="0">
              <a:lnSpc>
                <a:spcPct val="110000"/>
              </a:lnSpc>
              <a:buNone/>
            </a:pPr>
            <a:r>
              <a:rPr lang="en-US" altLang="zh-CN" sz="2400" dirty="0"/>
              <a:t>-p : </a:t>
            </a:r>
            <a:r>
              <a:rPr lang="zh-CN" altLang="en-US" sz="2400" dirty="0"/>
              <a:t>保持存取、修改的时间、文件所有者、权限等信息；</a:t>
            </a:r>
          </a:p>
          <a:p>
            <a:pPr marL="0" indent="0">
              <a:lnSpc>
                <a:spcPct val="110000"/>
              </a:lnSpc>
              <a:buNone/>
            </a:pPr>
            <a:r>
              <a:rPr lang="en-US" altLang="zh-CN" sz="2400" dirty="0"/>
              <a:t>-f : </a:t>
            </a:r>
            <a:r>
              <a:rPr lang="zh-CN" altLang="en-US" sz="2400" dirty="0"/>
              <a:t>若目标文件已经存在，则覆盖；</a:t>
            </a:r>
          </a:p>
          <a:p>
            <a:pPr marL="0" indent="0">
              <a:lnSpc>
                <a:spcPct val="110000"/>
              </a:lnSpc>
              <a:buNone/>
            </a:pPr>
            <a:r>
              <a:rPr lang="en-US" altLang="zh-CN" sz="2400" dirty="0"/>
              <a:t>-</a:t>
            </a:r>
            <a:r>
              <a:rPr lang="en-US" altLang="zh-CN" sz="2400" dirty="0" err="1"/>
              <a:t>ignorecrc</a:t>
            </a:r>
            <a:r>
              <a:rPr lang="en-US" altLang="zh-CN" sz="2400" dirty="0"/>
              <a:t> : </a:t>
            </a:r>
            <a:r>
              <a:rPr lang="zh-CN" altLang="en-US" sz="2400" dirty="0"/>
              <a:t>设置为在复制文件到本地时不进行</a:t>
            </a:r>
            <a:r>
              <a:rPr lang="en-US" altLang="zh-CN" sz="2400" dirty="0"/>
              <a:t>CRC</a:t>
            </a:r>
            <a:r>
              <a:rPr lang="zh-CN" altLang="en-US" sz="2400" dirty="0"/>
              <a:t>校验，</a:t>
            </a:r>
            <a:r>
              <a:rPr lang="en-US" altLang="zh-CN" sz="2400" dirty="0"/>
              <a:t>CRC</a:t>
            </a:r>
            <a:r>
              <a:rPr lang="zh-CN" altLang="en-US" sz="2400" dirty="0"/>
              <a:t>检查失败的文件可以使用此选项进行复制，</a:t>
            </a:r>
          </a:p>
          <a:p>
            <a:pPr marL="0" indent="0">
              <a:lnSpc>
                <a:spcPct val="110000"/>
              </a:lnSpc>
              <a:buNone/>
            </a:pPr>
            <a:r>
              <a:rPr lang="en-US" altLang="zh-CN" sz="2400" dirty="0"/>
              <a:t>-</a:t>
            </a:r>
            <a:r>
              <a:rPr lang="en-US" altLang="zh-CN" sz="2400" dirty="0" err="1"/>
              <a:t>crc</a:t>
            </a:r>
            <a:r>
              <a:rPr lang="en-US" altLang="zh-CN" sz="2400" dirty="0"/>
              <a:t>: </a:t>
            </a:r>
            <a:r>
              <a:rPr lang="zh-CN" altLang="en-US" sz="2400" dirty="0"/>
              <a:t>同时进行</a:t>
            </a:r>
            <a:r>
              <a:rPr lang="en-US" altLang="zh-CN" sz="2400" dirty="0"/>
              <a:t>CRC</a:t>
            </a:r>
            <a:r>
              <a:rPr lang="zh-CN" altLang="en-US" sz="2400" dirty="0"/>
              <a:t>校验；</a:t>
            </a:r>
          </a:p>
          <a:p>
            <a:pPr marL="0" indent="0">
              <a:lnSpc>
                <a:spcPct val="110000"/>
              </a:lnSpc>
              <a:buNone/>
            </a:pPr>
            <a:endParaRPr lang="zh-CN" altLang="en-US" sz="2400" dirty="0"/>
          </a:p>
        </p:txBody>
      </p:sp>
    </p:spTree>
    <p:extLst>
      <p:ext uri="{BB962C8B-B14F-4D97-AF65-F5344CB8AC3E}">
        <p14:creationId xmlns:p14="http://schemas.microsoft.com/office/powerpoint/2010/main" val="18177188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323528" y="1131590"/>
            <a:ext cx="7992888" cy="3708411"/>
          </a:xfrm>
        </p:spPr>
        <p:txBody>
          <a:bodyPr>
            <a:normAutofit/>
          </a:bodyPr>
          <a:lstStyle/>
          <a:p>
            <a:pPr marL="0" indent="0">
              <a:buNone/>
            </a:pPr>
            <a:r>
              <a:rPr lang="en-US" altLang="zh-CN" sz="2400" dirty="0"/>
              <a:t>【</a:t>
            </a:r>
            <a:r>
              <a:rPr lang="zh-CN" altLang="en-US" sz="2400" dirty="0"/>
              <a:t>例</a:t>
            </a:r>
            <a:r>
              <a:rPr lang="en-US" altLang="zh-CN" sz="2400" dirty="0"/>
              <a:t>4.9】</a:t>
            </a:r>
            <a:r>
              <a:rPr lang="zh-CN" altLang="en-US" sz="2400" dirty="0"/>
              <a:t>把</a:t>
            </a:r>
            <a:r>
              <a:rPr lang="en-US" altLang="zh-CN" sz="2400" dirty="0"/>
              <a:t>HDFS</a:t>
            </a:r>
            <a:r>
              <a:rPr lang="zh-CN" altLang="en-US" sz="2400" dirty="0"/>
              <a:t>文件夹“</a:t>
            </a:r>
            <a:r>
              <a:rPr lang="en-US" altLang="zh-CN" sz="2400" dirty="0"/>
              <a:t>/user/</a:t>
            </a:r>
            <a:r>
              <a:rPr lang="en-US" altLang="zh-CN" sz="2400" dirty="0" err="1"/>
              <a:t>hadoop</a:t>
            </a:r>
            <a:r>
              <a:rPr lang="en-US" altLang="zh-CN" sz="2400" dirty="0"/>
              <a:t>/”</a:t>
            </a:r>
            <a:r>
              <a:rPr lang="zh-CN" altLang="en-US" sz="2400" dirty="0"/>
              <a:t>下的文件</a:t>
            </a:r>
            <a:r>
              <a:rPr lang="en-US" altLang="zh-CN" sz="2400" dirty="0"/>
              <a:t>file4</a:t>
            </a:r>
            <a:r>
              <a:rPr lang="zh-CN" altLang="en-US" sz="2400" dirty="0"/>
              <a:t>下载到本地，本地文件命名为</a:t>
            </a:r>
            <a:r>
              <a:rPr lang="en-US" altLang="zh-CN" sz="2400" dirty="0" err="1"/>
              <a:t>localfile</a:t>
            </a:r>
            <a:r>
              <a:rPr lang="zh-CN" altLang="en-US" sz="2400" dirty="0"/>
              <a:t>，其中第二命令详细指定了</a:t>
            </a:r>
            <a:r>
              <a:rPr lang="en-US" altLang="zh-CN" sz="2400" dirty="0"/>
              <a:t>HDFS</a:t>
            </a:r>
            <a:r>
              <a:rPr lang="zh-CN" altLang="en-US" sz="2400" dirty="0"/>
              <a:t>文件系统的节点名称和端口号。</a:t>
            </a:r>
          </a:p>
        </p:txBody>
      </p:sp>
      <p:pic>
        <p:nvPicPr>
          <p:cNvPr id="5" name="图片 4">
            <a:extLst>
              <a:ext uri="{FF2B5EF4-FFF2-40B4-BE49-F238E27FC236}">
                <a16:creationId xmlns:a16="http://schemas.microsoft.com/office/drawing/2014/main" id="{12E5C91C-C950-42A4-88DA-F4456067B6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0561" y="2571750"/>
            <a:ext cx="8202878" cy="576122"/>
          </a:xfrm>
          <a:prstGeom prst="rect">
            <a:avLst/>
          </a:prstGeom>
        </p:spPr>
      </p:pic>
    </p:spTree>
    <p:extLst>
      <p:ext uri="{BB962C8B-B14F-4D97-AF65-F5344CB8AC3E}">
        <p14:creationId xmlns:p14="http://schemas.microsoft.com/office/powerpoint/2010/main" val="165770366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683568" y="1059582"/>
            <a:ext cx="7992888" cy="3708411"/>
          </a:xfrm>
        </p:spPr>
        <p:txBody>
          <a:bodyPr>
            <a:normAutofit/>
          </a:bodyPr>
          <a:lstStyle/>
          <a:p>
            <a:pPr marL="0" indent="0">
              <a:buNone/>
            </a:pPr>
            <a:r>
              <a:rPr lang="en-US" altLang="zh-CN" sz="2400" dirty="0"/>
              <a:t>9</a:t>
            </a:r>
            <a:r>
              <a:rPr lang="zh-CN" altLang="en-US" sz="2400" dirty="0"/>
              <a:t>．</a:t>
            </a:r>
            <a:r>
              <a:rPr lang="en-US" altLang="zh-CN" sz="2400" dirty="0"/>
              <a:t>help</a:t>
            </a:r>
          </a:p>
          <a:p>
            <a:pPr marL="0" indent="0">
              <a:buNone/>
            </a:pPr>
            <a:r>
              <a:rPr lang="zh-CN" altLang="en-US" sz="2400" dirty="0"/>
              <a:t>用法：</a:t>
            </a:r>
            <a:r>
              <a:rPr lang="en-US" altLang="zh-CN" sz="2400" dirty="0" err="1"/>
              <a:t>hadoop</a:t>
            </a:r>
            <a:r>
              <a:rPr lang="en-US" altLang="zh-CN" sz="2400" dirty="0"/>
              <a:t> fs -help</a:t>
            </a:r>
          </a:p>
          <a:p>
            <a:pPr marL="0" indent="0">
              <a:buNone/>
            </a:pPr>
            <a:r>
              <a:rPr lang="zh-CN" altLang="en-US" sz="2400" dirty="0"/>
              <a:t>说明：查看</a:t>
            </a:r>
            <a:r>
              <a:rPr lang="en-US" altLang="zh-CN" sz="2400" dirty="0"/>
              <a:t>fs</a:t>
            </a:r>
            <a:r>
              <a:rPr lang="zh-CN" altLang="en-US" sz="2400" dirty="0"/>
              <a:t>的帮助</a:t>
            </a:r>
          </a:p>
          <a:p>
            <a:pPr marL="0" indent="0">
              <a:buNone/>
            </a:pPr>
            <a:r>
              <a:rPr lang="en-US" altLang="zh-CN" sz="2400" dirty="0"/>
              <a:t>【</a:t>
            </a:r>
            <a:r>
              <a:rPr lang="zh-CN" altLang="en-US" sz="2400" dirty="0"/>
              <a:t>例</a:t>
            </a:r>
            <a:r>
              <a:rPr lang="en-US" altLang="zh-CN" sz="2400" dirty="0"/>
              <a:t>4.10】</a:t>
            </a:r>
            <a:r>
              <a:rPr lang="zh-CN" altLang="en-US" sz="2400" dirty="0"/>
              <a:t>查看</a:t>
            </a:r>
            <a:r>
              <a:rPr lang="en-US" altLang="zh-CN" sz="2400" dirty="0"/>
              <a:t>ls</a:t>
            </a:r>
            <a:r>
              <a:rPr lang="zh-CN" altLang="en-US" sz="2400" dirty="0"/>
              <a:t>的帮助信息。</a:t>
            </a:r>
          </a:p>
        </p:txBody>
      </p:sp>
      <p:pic>
        <p:nvPicPr>
          <p:cNvPr id="6" name="图片 5">
            <a:extLst>
              <a:ext uri="{FF2B5EF4-FFF2-40B4-BE49-F238E27FC236}">
                <a16:creationId xmlns:a16="http://schemas.microsoft.com/office/drawing/2014/main" id="{0B24A7CC-3FD2-4883-B860-6941ACB873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3062750"/>
            <a:ext cx="8123624" cy="1021168"/>
          </a:xfrm>
          <a:prstGeom prst="rect">
            <a:avLst/>
          </a:prstGeom>
        </p:spPr>
      </p:pic>
    </p:spTree>
    <p:extLst>
      <p:ext uri="{BB962C8B-B14F-4D97-AF65-F5344CB8AC3E}">
        <p14:creationId xmlns:p14="http://schemas.microsoft.com/office/powerpoint/2010/main" val="152259155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395536" y="1059582"/>
            <a:ext cx="7992888" cy="3708411"/>
          </a:xfrm>
        </p:spPr>
        <p:txBody>
          <a:bodyPr>
            <a:normAutofit fontScale="85000" lnSpcReduction="10000"/>
          </a:bodyPr>
          <a:lstStyle/>
          <a:p>
            <a:pPr marL="0" indent="0">
              <a:buNone/>
            </a:pPr>
            <a:r>
              <a:rPr lang="en-US" altLang="zh-CN" sz="2400" dirty="0"/>
              <a:t>10</a:t>
            </a:r>
            <a:r>
              <a:rPr lang="zh-CN" altLang="en-US" sz="2400" dirty="0"/>
              <a:t>．</a:t>
            </a:r>
            <a:r>
              <a:rPr lang="en-US" altLang="zh-CN" sz="2400" dirty="0"/>
              <a:t>ls</a:t>
            </a:r>
          </a:p>
          <a:p>
            <a:pPr marL="0" indent="0">
              <a:buNone/>
            </a:pPr>
            <a:r>
              <a:rPr lang="zh-CN" altLang="en-US" sz="2400" dirty="0"/>
              <a:t>用法：</a:t>
            </a:r>
            <a:r>
              <a:rPr lang="en-US" altLang="zh-CN" sz="2400" dirty="0" err="1"/>
              <a:t>hadoop</a:t>
            </a:r>
            <a:r>
              <a:rPr lang="en-US" altLang="zh-CN" sz="2400" dirty="0"/>
              <a:t> fs -ls [-d] [-h] [-R] &lt;</a:t>
            </a:r>
            <a:r>
              <a:rPr lang="en-US" altLang="zh-CN" sz="2400" dirty="0" err="1"/>
              <a:t>args</a:t>
            </a:r>
            <a:r>
              <a:rPr lang="en-US" altLang="zh-CN" sz="2400" dirty="0"/>
              <a:t>&gt;</a:t>
            </a:r>
          </a:p>
          <a:p>
            <a:pPr marL="0" indent="0">
              <a:buNone/>
            </a:pPr>
            <a:r>
              <a:rPr lang="zh-CN" altLang="en-US" sz="2400" dirty="0"/>
              <a:t>说明：查看文件信息。若是文件，则输出信息为“</a:t>
            </a:r>
            <a:r>
              <a:rPr lang="en-US" altLang="zh-CN" sz="2400" dirty="0"/>
              <a:t>permissions(</a:t>
            </a:r>
            <a:r>
              <a:rPr lang="zh-CN" altLang="en-US" sz="2400" dirty="0"/>
              <a:t>权限</a:t>
            </a:r>
            <a:r>
              <a:rPr lang="en-US" altLang="zh-CN" sz="2400" dirty="0"/>
              <a:t>)</a:t>
            </a:r>
            <a:r>
              <a:rPr lang="zh-CN" altLang="en-US" sz="2400" dirty="0"/>
              <a:t>、</a:t>
            </a:r>
            <a:r>
              <a:rPr lang="en-US" altLang="zh-CN" sz="2400" dirty="0" err="1"/>
              <a:t>number_of_replicas</a:t>
            </a:r>
            <a:r>
              <a:rPr lang="en-US" altLang="zh-CN" sz="2400" dirty="0"/>
              <a:t>(</a:t>
            </a:r>
            <a:r>
              <a:rPr lang="zh-CN" altLang="en-US" sz="2400" dirty="0"/>
              <a:t>副本数</a:t>
            </a:r>
            <a:r>
              <a:rPr lang="en-US" altLang="zh-CN" sz="2400" dirty="0"/>
              <a:t>)</a:t>
            </a:r>
            <a:r>
              <a:rPr lang="zh-CN" altLang="en-US" sz="2400" dirty="0"/>
              <a:t>、</a:t>
            </a:r>
            <a:r>
              <a:rPr lang="en-US" altLang="zh-CN" sz="2400" dirty="0" err="1"/>
              <a:t>userid</a:t>
            </a:r>
            <a:r>
              <a:rPr lang="en-US" altLang="zh-CN" sz="2400" dirty="0"/>
              <a:t>(</a:t>
            </a:r>
            <a:r>
              <a:rPr lang="zh-CN" altLang="en-US" sz="2400" dirty="0"/>
              <a:t>所属用户</a:t>
            </a:r>
            <a:r>
              <a:rPr lang="en-US" altLang="zh-CN" sz="2400" dirty="0"/>
              <a:t>)</a:t>
            </a:r>
            <a:r>
              <a:rPr lang="zh-CN" altLang="en-US" sz="2400" dirty="0"/>
              <a:t>、</a:t>
            </a:r>
            <a:r>
              <a:rPr lang="en-US" altLang="zh-CN" sz="2400" dirty="0" err="1"/>
              <a:t>groupid</a:t>
            </a:r>
            <a:r>
              <a:rPr lang="en-US" altLang="zh-CN" sz="2400" dirty="0"/>
              <a:t>(</a:t>
            </a:r>
            <a:r>
              <a:rPr lang="zh-CN" altLang="en-US" sz="2400" dirty="0"/>
              <a:t>所属组</a:t>
            </a:r>
            <a:r>
              <a:rPr lang="en-US" altLang="zh-CN" sz="2400" dirty="0"/>
              <a:t>)</a:t>
            </a:r>
            <a:r>
              <a:rPr lang="zh-CN" altLang="en-US" sz="2400" dirty="0"/>
              <a:t>、</a:t>
            </a:r>
            <a:r>
              <a:rPr lang="en-US" altLang="zh-CN" sz="2400" dirty="0" err="1"/>
              <a:t>filesize</a:t>
            </a:r>
            <a:r>
              <a:rPr lang="en-US" altLang="zh-CN" sz="2400" dirty="0"/>
              <a:t>(</a:t>
            </a:r>
            <a:r>
              <a:rPr lang="zh-CN" altLang="en-US" sz="2400" dirty="0"/>
              <a:t>文件大小</a:t>
            </a:r>
            <a:r>
              <a:rPr lang="en-US" altLang="zh-CN" sz="2400" dirty="0"/>
              <a:t>)</a:t>
            </a:r>
            <a:r>
              <a:rPr lang="zh-CN" altLang="en-US" sz="2400" dirty="0"/>
              <a:t>、</a:t>
            </a:r>
            <a:r>
              <a:rPr lang="en-US" altLang="zh-CN" sz="2400" dirty="0" err="1"/>
              <a:t>modification_date</a:t>
            </a:r>
            <a:r>
              <a:rPr lang="en-US" altLang="zh-CN" sz="2400" dirty="0"/>
              <a:t>(</a:t>
            </a:r>
            <a:r>
              <a:rPr lang="zh-CN" altLang="en-US" sz="2400" dirty="0"/>
              <a:t>最近修改日期</a:t>
            </a:r>
            <a:r>
              <a:rPr lang="en-US" altLang="zh-CN" sz="2400" dirty="0"/>
              <a:t>)</a:t>
            </a:r>
            <a:r>
              <a:rPr lang="zh-CN" altLang="en-US" sz="2400" dirty="0"/>
              <a:t>、</a:t>
            </a:r>
            <a:r>
              <a:rPr lang="en-US" altLang="zh-CN" sz="2400" dirty="0" err="1"/>
              <a:t>modification_time</a:t>
            </a:r>
            <a:r>
              <a:rPr lang="en-US" altLang="zh-CN" sz="2400" dirty="0"/>
              <a:t>(</a:t>
            </a:r>
            <a:r>
              <a:rPr lang="zh-CN" altLang="en-US" sz="2400" dirty="0"/>
              <a:t>最近修改时间</a:t>
            </a:r>
            <a:r>
              <a:rPr lang="en-US" altLang="zh-CN" sz="2400" dirty="0"/>
              <a:t>)</a:t>
            </a:r>
            <a:r>
              <a:rPr lang="zh-CN" altLang="en-US" sz="2400" dirty="0"/>
              <a:t>、</a:t>
            </a:r>
            <a:r>
              <a:rPr lang="en-US" altLang="zh-CN" sz="2400" dirty="0"/>
              <a:t>filename(</a:t>
            </a:r>
            <a:r>
              <a:rPr lang="zh-CN" altLang="en-US" sz="2400" dirty="0"/>
              <a:t>文件名</a:t>
            </a:r>
            <a:r>
              <a:rPr lang="en-US" altLang="zh-CN" sz="2400" dirty="0"/>
              <a:t>)”</a:t>
            </a:r>
            <a:r>
              <a:rPr lang="zh-CN" altLang="en-US" sz="2400" dirty="0"/>
              <a:t>；若是文件夹，则输出信息为“</a:t>
            </a:r>
            <a:r>
              <a:rPr lang="en-US" altLang="zh-CN" sz="2400" dirty="0"/>
              <a:t>permissions(</a:t>
            </a:r>
            <a:r>
              <a:rPr lang="zh-CN" altLang="en-US" sz="2400" dirty="0"/>
              <a:t>权限</a:t>
            </a:r>
            <a:r>
              <a:rPr lang="en-US" altLang="zh-CN" sz="2400" dirty="0"/>
              <a:t>)</a:t>
            </a:r>
            <a:r>
              <a:rPr lang="zh-CN" altLang="en-US" sz="2400" dirty="0"/>
              <a:t>、</a:t>
            </a:r>
            <a:r>
              <a:rPr lang="en-US" altLang="zh-CN" sz="2400" dirty="0" err="1"/>
              <a:t>userid</a:t>
            </a:r>
            <a:r>
              <a:rPr lang="en-US" altLang="zh-CN" sz="2400" dirty="0"/>
              <a:t>(</a:t>
            </a:r>
            <a:r>
              <a:rPr lang="zh-CN" altLang="en-US" sz="2400" dirty="0"/>
              <a:t>所属用户</a:t>
            </a:r>
            <a:r>
              <a:rPr lang="en-US" altLang="zh-CN" sz="2400" dirty="0"/>
              <a:t>)</a:t>
            </a:r>
            <a:r>
              <a:rPr lang="zh-CN" altLang="en-US" sz="2400" dirty="0"/>
              <a:t>、</a:t>
            </a:r>
            <a:r>
              <a:rPr lang="en-US" altLang="zh-CN" sz="2400" dirty="0" err="1"/>
              <a:t>groupid</a:t>
            </a:r>
            <a:r>
              <a:rPr lang="en-US" altLang="zh-CN" sz="2400" dirty="0"/>
              <a:t>(</a:t>
            </a:r>
            <a:r>
              <a:rPr lang="zh-CN" altLang="en-US" sz="2400" dirty="0"/>
              <a:t>所属组</a:t>
            </a:r>
            <a:r>
              <a:rPr lang="en-US" altLang="zh-CN" sz="2400" dirty="0"/>
              <a:t>)</a:t>
            </a:r>
            <a:r>
              <a:rPr lang="zh-CN" altLang="en-US" sz="2400" dirty="0"/>
              <a:t>、</a:t>
            </a:r>
            <a:r>
              <a:rPr lang="en-US" altLang="zh-CN" sz="2400" dirty="0" err="1"/>
              <a:t>modification_date</a:t>
            </a:r>
            <a:r>
              <a:rPr lang="en-US" altLang="zh-CN" sz="2400" dirty="0"/>
              <a:t>(</a:t>
            </a:r>
            <a:r>
              <a:rPr lang="zh-CN" altLang="en-US" sz="2400" dirty="0"/>
              <a:t>最近修改日期</a:t>
            </a:r>
            <a:r>
              <a:rPr lang="en-US" altLang="zh-CN" sz="2400" dirty="0"/>
              <a:t>)</a:t>
            </a:r>
            <a:r>
              <a:rPr lang="zh-CN" altLang="en-US" sz="2400" dirty="0"/>
              <a:t>、</a:t>
            </a:r>
            <a:r>
              <a:rPr lang="en-US" altLang="zh-CN" sz="2400" dirty="0" err="1"/>
              <a:t>modification_time</a:t>
            </a:r>
            <a:r>
              <a:rPr lang="en-US" altLang="zh-CN" sz="2400" dirty="0"/>
              <a:t>(</a:t>
            </a:r>
            <a:r>
              <a:rPr lang="zh-CN" altLang="en-US" sz="2400" dirty="0"/>
              <a:t>最近修改时间</a:t>
            </a:r>
            <a:r>
              <a:rPr lang="en-US" altLang="zh-CN" sz="2400" dirty="0"/>
              <a:t>)</a:t>
            </a:r>
            <a:r>
              <a:rPr lang="zh-CN" altLang="en-US" sz="2400" dirty="0"/>
              <a:t>、</a:t>
            </a:r>
            <a:r>
              <a:rPr lang="en-US" altLang="zh-CN" sz="2400" dirty="0" err="1"/>
              <a:t>dirname</a:t>
            </a:r>
            <a:r>
              <a:rPr lang="en-US" altLang="zh-CN" sz="2400" dirty="0"/>
              <a:t>(</a:t>
            </a:r>
            <a:r>
              <a:rPr lang="zh-CN" altLang="en-US" sz="2400" dirty="0"/>
              <a:t>文件夹名称</a:t>
            </a:r>
            <a:r>
              <a:rPr lang="en-US" altLang="zh-CN" sz="2400" dirty="0"/>
              <a:t>)”</a:t>
            </a:r>
            <a:r>
              <a:rPr lang="zh-CN" altLang="en-US" sz="2400" dirty="0"/>
              <a:t>。</a:t>
            </a:r>
          </a:p>
          <a:p>
            <a:pPr marL="0" indent="0">
              <a:buNone/>
            </a:pPr>
            <a:r>
              <a:rPr lang="en-US" altLang="zh-CN" sz="2400" dirty="0"/>
              <a:t>-d: </a:t>
            </a:r>
            <a:r>
              <a:rPr lang="zh-CN" altLang="en-US" sz="2400" dirty="0"/>
              <a:t>目录当成普通文件列出；</a:t>
            </a:r>
          </a:p>
          <a:p>
            <a:pPr marL="0" indent="0">
              <a:buNone/>
            </a:pPr>
            <a:r>
              <a:rPr lang="en-US" altLang="zh-CN" sz="2400" dirty="0"/>
              <a:t>-h: </a:t>
            </a:r>
            <a:r>
              <a:rPr lang="zh-CN" altLang="en-US" sz="2400" dirty="0"/>
              <a:t>用于设定空间大小的显示方式是否为适合人类阅读模式；</a:t>
            </a:r>
          </a:p>
          <a:p>
            <a:pPr marL="0" indent="0">
              <a:buNone/>
            </a:pPr>
            <a:r>
              <a:rPr lang="en-US" altLang="zh-CN" sz="2400" dirty="0"/>
              <a:t>-R: </a:t>
            </a:r>
            <a:r>
              <a:rPr lang="zh-CN" altLang="en-US" sz="2400" dirty="0"/>
              <a:t>递归地列出所有文件和目录。</a:t>
            </a:r>
          </a:p>
        </p:txBody>
      </p:sp>
    </p:spTree>
    <p:extLst>
      <p:ext uri="{BB962C8B-B14F-4D97-AF65-F5344CB8AC3E}">
        <p14:creationId xmlns:p14="http://schemas.microsoft.com/office/powerpoint/2010/main" val="237250266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323528" y="1131590"/>
            <a:ext cx="7992888" cy="3708411"/>
          </a:xfrm>
        </p:spPr>
        <p:txBody>
          <a:bodyPr>
            <a:normAutofit/>
          </a:bodyPr>
          <a:lstStyle/>
          <a:p>
            <a:pPr marL="0" indent="0">
              <a:buNone/>
            </a:pPr>
            <a:r>
              <a:rPr lang="en-US" altLang="zh-CN" sz="2400" dirty="0"/>
              <a:t>【</a:t>
            </a:r>
            <a:r>
              <a:rPr lang="zh-CN" altLang="en-US" sz="2400" dirty="0"/>
              <a:t>例</a:t>
            </a:r>
            <a:r>
              <a:rPr lang="en-US" altLang="zh-CN" sz="2400" dirty="0"/>
              <a:t>4.11】</a:t>
            </a:r>
            <a:r>
              <a:rPr lang="zh-CN" altLang="en-US" sz="2400" dirty="0"/>
              <a:t>列出</a:t>
            </a:r>
            <a:r>
              <a:rPr lang="en-US" altLang="zh-CN" sz="2400" dirty="0"/>
              <a:t>HDFS</a:t>
            </a:r>
            <a:r>
              <a:rPr lang="zh-CN" altLang="en-US" sz="2400" dirty="0"/>
              <a:t>上“</a:t>
            </a:r>
            <a:r>
              <a:rPr lang="en-US" altLang="zh-CN" sz="2400" dirty="0"/>
              <a:t>/user/</a:t>
            </a:r>
            <a:r>
              <a:rPr lang="en-US" altLang="zh-CN" sz="2400" dirty="0" err="1"/>
              <a:t>hadoop</a:t>
            </a:r>
            <a:r>
              <a:rPr lang="en-US" altLang="zh-CN" sz="2400" dirty="0"/>
              <a:t>/file1”</a:t>
            </a:r>
            <a:r>
              <a:rPr lang="zh-CN" altLang="en-US" sz="2400" dirty="0"/>
              <a:t>文件信息。</a:t>
            </a:r>
          </a:p>
        </p:txBody>
      </p:sp>
      <p:pic>
        <p:nvPicPr>
          <p:cNvPr id="6" name="图片 5">
            <a:extLst>
              <a:ext uri="{FF2B5EF4-FFF2-40B4-BE49-F238E27FC236}">
                <a16:creationId xmlns:a16="http://schemas.microsoft.com/office/drawing/2014/main" id="{37649FDD-7A18-4C0C-BE68-9C68776F56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1851670"/>
            <a:ext cx="5276840" cy="360040"/>
          </a:xfrm>
          <a:prstGeom prst="rect">
            <a:avLst/>
          </a:prstGeom>
        </p:spPr>
      </p:pic>
    </p:spTree>
    <p:extLst>
      <p:ext uri="{BB962C8B-B14F-4D97-AF65-F5344CB8AC3E}">
        <p14:creationId xmlns:p14="http://schemas.microsoft.com/office/powerpoint/2010/main" val="87609849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323528" y="915566"/>
            <a:ext cx="7992888" cy="3708411"/>
          </a:xfrm>
        </p:spPr>
        <p:txBody>
          <a:bodyPr>
            <a:normAutofit/>
          </a:bodyPr>
          <a:lstStyle/>
          <a:p>
            <a:pPr marL="0" indent="0">
              <a:spcBef>
                <a:spcPts val="0"/>
              </a:spcBef>
              <a:buNone/>
            </a:pPr>
            <a:r>
              <a:rPr lang="en-US" altLang="zh-CN" sz="2200" dirty="0"/>
              <a:t>11</a:t>
            </a:r>
            <a:r>
              <a:rPr lang="zh-CN" altLang="en-US" sz="2200" dirty="0"/>
              <a:t>．</a:t>
            </a:r>
            <a:r>
              <a:rPr lang="en-US" altLang="zh-CN" sz="2200" dirty="0" err="1"/>
              <a:t>mkdir</a:t>
            </a:r>
            <a:endParaRPr lang="en-US" altLang="zh-CN" sz="2200" dirty="0"/>
          </a:p>
          <a:p>
            <a:pPr marL="0" indent="0">
              <a:spcBef>
                <a:spcPts val="0"/>
              </a:spcBef>
              <a:buNone/>
            </a:pPr>
            <a:r>
              <a:rPr lang="zh-CN" altLang="en-US" sz="2200" dirty="0"/>
              <a:t>用法：</a:t>
            </a:r>
            <a:r>
              <a:rPr lang="en-US" altLang="zh-CN" sz="2200" dirty="0" err="1"/>
              <a:t>hadoop</a:t>
            </a:r>
            <a:r>
              <a:rPr lang="en-US" altLang="zh-CN" sz="2200" dirty="0"/>
              <a:t> fs -</a:t>
            </a:r>
            <a:r>
              <a:rPr lang="en-US" altLang="zh-CN" sz="2200" dirty="0" err="1"/>
              <a:t>mkdir</a:t>
            </a:r>
            <a:r>
              <a:rPr lang="en-US" altLang="zh-CN" sz="2200" dirty="0"/>
              <a:t> [-p] &lt;paths&gt;</a:t>
            </a:r>
          </a:p>
          <a:p>
            <a:pPr marL="0" indent="0">
              <a:spcBef>
                <a:spcPts val="0"/>
              </a:spcBef>
              <a:buNone/>
            </a:pPr>
            <a:r>
              <a:rPr lang="zh-CN" altLang="en-US" sz="2200" dirty="0"/>
              <a:t>说明：创建文件夹。</a:t>
            </a:r>
          </a:p>
          <a:p>
            <a:pPr marL="0" indent="0">
              <a:spcBef>
                <a:spcPts val="0"/>
              </a:spcBef>
              <a:buNone/>
            </a:pPr>
            <a:r>
              <a:rPr lang="en-US" altLang="zh-CN" sz="2200" dirty="0"/>
              <a:t>-p</a:t>
            </a:r>
            <a:r>
              <a:rPr lang="zh-CN" altLang="en-US" sz="2200" dirty="0"/>
              <a:t>：设定为是否创建目标路径</a:t>
            </a:r>
            <a:r>
              <a:rPr lang="en-US" altLang="zh-CN" sz="2200" dirty="0"/>
              <a:t>path</a:t>
            </a:r>
            <a:r>
              <a:rPr lang="zh-CN" altLang="en-US" sz="2200" dirty="0"/>
              <a:t>中途的文件夹；</a:t>
            </a:r>
            <a:endParaRPr lang="en-US" altLang="zh-CN" sz="2200" dirty="0"/>
          </a:p>
          <a:p>
            <a:pPr marL="0" indent="0">
              <a:spcBef>
                <a:spcPts val="0"/>
              </a:spcBef>
              <a:buNone/>
            </a:pPr>
            <a:r>
              <a:rPr lang="en-US" altLang="zh-CN" sz="2200" dirty="0"/>
              <a:t>【</a:t>
            </a:r>
            <a:r>
              <a:rPr lang="zh-CN" altLang="en-US" sz="2200" dirty="0"/>
              <a:t>例</a:t>
            </a:r>
            <a:r>
              <a:rPr lang="en-US" altLang="zh-CN" sz="2200" dirty="0"/>
              <a:t>4.12】</a:t>
            </a:r>
            <a:r>
              <a:rPr lang="zh-CN" altLang="en-US" sz="2200" dirty="0"/>
              <a:t>创建两个文件夹。</a:t>
            </a:r>
            <a:endParaRPr lang="en-US" altLang="zh-CN" sz="2200" dirty="0"/>
          </a:p>
          <a:p>
            <a:pPr marL="0" indent="0">
              <a:spcBef>
                <a:spcPts val="0"/>
              </a:spcBef>
              <a:buNone/>
            </a:pPr>
            <a:endParaRPr lang="en-US" altLang="zh-CN" sz="2200" dirty="0"/>
          </a:p>
          <a:p>
            <a:pPr marL="0" indent="0">
              <a:spcBef>
                <a:spcPts val="600"/>
              </a:spcBef>
              <a:buNone/>
            </a:pPr>
            <a:r>
              <a:rPr lang="en-US" altLang="zh-CN" sz="2200" dirty="0"/>
              <a:t>【</a:t>
            </a:r>
            <a:r>
              <a:rPr lang="zh-CN" altLang="en-US" sz="2200" dirty="0"/>
              <a:t>例</a:t>
            </a:r>
            <a:r>
              <a:rPr lang="en-US" altLang="zh-CN" sz="2200" dirty="0"/>
              <a:t>4.13】</a:t>
            </a:r>
            <a:r>
              <a:rPr lang="zh-CN" altLang="en-US" sz="2200" dirty="0"/>
              <a:t>创建文件夹“</a:t>
            </a:r>
            <a:r>
              <a:rPr lang="en-US" altLang="zh-CN" sz="2200" dirty="0"/>
              <a:t>/user/</a:t>
            </a:r>
            <a:r>
              <a:rPr lang="en-US" altLang="zh-CN" sz="2200" dirty="0" err="1"/>
              <a:t>hadoop</a:t>
            </a:r>
            <a:r>
              <a:rPr lang="en-US" altLang="zh-CN" sz="2200" dirty="0"/>
              <a:t>/</a:t>
            </a:r>
            <a:r>
              <a:rPr lang="en-US" altLang="zh-CN" sz="2200" dirty="0" err="1"/>
              <a:t>dir</a:t>
            </a:r>
            <a:r>
              <a:rPr lang="en-US" altLang="zh-CN" sz="2200" dirty="0"/>
              <a:t>/subdir”</a:t>
            </a:r>
            <a:r>
              <a:rPr lang="zh-CN" altLang="en-US" sz="2200" dirty="0"/>
              <a:t>，设置了参数“</a:t>
            </a:r>
            <a:r>
              <a:rPr lang="en-US" altLang="zh-CN" sz="2200" dirty="0"/>
              <a:t>-p”</a:t>
            </a:r>
            <a:r>
              <a:rPr lang="zh-CN" altLang="en-US" sz="2200" dirty="0"/>
              <a:t>，则若“</a:t>
            </a:r>
            <a:r>
              <a:rPr lang="en-US" altLang="zh-CN" sz="2200" dirty="0"/>
              <a:t>/user/</a:t>
            </a:r>
            <a:r>
              <a:rPr lang="en-US" altLang="zh-CN" sz="2200" dirty="0" err="1"/>
              <a:t>hadoop</a:t>
            </a:r>
            <a:r>
              <a:rPr lang="en-US" altLang="zh-CN" sz="2200" dirty="0"/>
              <a:t>/</a:t>
            </a:r>
            <a:r>
              <a:rPr lang="en-US" altLang="zh-CN" sz="2200" dirty="0" err="1"/>
              <a:t>dir</a:t>
            </a:r>
            <a:r>
              <a:rPr lang="en-US" altLang="zh-CN" sz="2200" dirty="0"/>
              <a:t>”</a:t>
            </a:r>
            <a:r>
              <a:rPr lang="zh-CN" altLang="en-US" sz="2200" dirty="0"/>
              <a:t>不存在，先自动创建该文件夹，之后再创建</a:t>
            </a:r>
            <a:r>
              <a:rPr lang="en-US" altLang="zh-CN" sz="2200" dirty="0"/>
              <a:t>subdir</a:t>
            </a:r>
            <a:r>
              <a:rPr lang="zh-CN" altLang="en-US" sz="2200" dirty="0"/>
              <a:t>。</a:t>
            </a:r>
          </a:p>
        </p:txBody>
      </p:sp>
      <p:pic>
        <p:nvPicPr>
          <p:cNvPr id="6" name="图片 5">
            <a:extLst>
              <a:ext uri="{FF2B5EF4-FFF2-40B4-BE49-F238E27FC236}">
                <a16:creationId xmlns:a16="http://schemas.microsoft.com/office/drawing/2014/main" id="{4701938C-023C-40D1-8F08-40E7A7AC48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2715766"/>
            <a:ext cx="6254412" cy="288032"/>
          </a:xfrm>
          <a:prstGeom prst="rect">
            <a:avLst/>
          </a:prstGeom>
        </p:spPr>
      </p:pic>
      <p:pic>
        <p:nvPicPr>
          <p:cNvPr id="8" name="图片 7">
            <a:extLst>
              <a:ext uri="{FF2B5EF4-FFF2-40B4-BE49-F238E27FC236}">
                <a16:creationId xmlns:a16="http://schemas.microsoft.com/office/drawing/2014/main" id="{EC2876BB-9C6E-4DEB-9664-E75DE471DA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805" y="4186023"/>
            <a:ext cx="7452244" cy="251482"/>
          </a:xfrm>
          <a:prstGeom prst="rect">
            <a:avLst/>
          </a:prstGeom>
        </p:spPr>
      </p:pic>
    </p:spTree>
    <p:extLst>
      <p:ext uri="{BB962C8B-B14F-4D97-AF65-F5344CB8AC3E}">
        <p14:creationId xmlns:p14="http://schemas.microsoft.com/office/powerpoint/2010/main" val="280217724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251520" y="987574"/>
            <a:ext cx="7992888" cy="3708411"/>
          </a:xfrm>
        </p:spPr>
        <p:txBody>
          <a:bodyPr>
            <a:normAutofit lnSpcReduction="10000"/>
          </a:bodyPr>
          <a:lstStyle/>
          <a:p>
            <a:pPr marL="0" indent="0">
              <a:buNone/>
            </a:pPr>
            <a:r>
              <a:rPr lang="en-US" altLang="zh-CN" sz="2400" dirty="0"/>
              <a:t>12</a:t>
            </a:r>
            <a:r>
              <a:rPr lang="zh-CN" altLang="en-US" sz="2400" dirty="0"/>
              <a:t>．</a:t>
            </a:r>
            <a:r>
              <a:rPr lang="en-US" altLang="zh-CN" sz="2400" dirty="0"/>
              <a:t>mv</a:t>
            </a:r>
          </a:p>
          <a:p>
            <a:pPr marL="0" indent="0">
              <a:buNone/>
            </a:pPr>
            <a:r>
              <a:rPr lang="zh-CN" altLang="en-US" sz="2400" dirty="0"/>
              <a:t>用法：</a:t>
            </a:r>
            <a:r>
              <a:rPr lang="en-US" altLang="zh-CN" sz="2400" dirty="0" err="1"/>
              <a:t>hadoop</a:t>
            </a:r>
            <a:r>
              <a:rPr lang="en-US" altLang="zh-CN" sz="2400" dirty="0"/>
              <a:t> fs -mv URI [URI ...] &lt;</a:t>
            </a:r>
            <a:r>
              <a:rPr lang="en-US" altLang="zh-CN" sz="2400" dirty="0" err="1"/>
              <a:t>dest</a:t>
            </a:r>
            <a:r>
              <a:rPr lang="en-US" altLang="zh-CN" sz="2400" dirty="0"/>
              <a:t>&gt;</a:t>
            </a:r>
          </a:p>
          <a:p>
            <a:pPr marL="0" indent="0">
              <a:buNone/>
            </a:pPr>
            <a:r>
              <a:rPr lang="zh-CN" altLang="en-US" sz="2400" dirty="0"/>
              <a:t>说明：将文件从源移动到目标，当源包含多个文件时，目标应是一个目录。不允许跨文件系统移动文件。若目标和源文件在同一文件夹，</a:t>
            </a:r>
            <a:r>
              <a:rPr lang="en-US" altLang="zh-CN" sz="2400" dirty="0"/>
              <a:t>mv</a:t>
            </a:r>
            <a:r>
              <a:rPr lang="zh-CN" altLang="en-US" sz="2400" dirty="0"/>
              <a:t>实际上实现了文件的改名操作。</a:t>
            </a:r>
          </a:p>
          <a:p>
            <a:pPr marL="0" indent="0">
              <a:buNone/>
            </a:pPr>
            <a:r>
              <a:rPr lang="en-US" altLang="zh-CN" sz="2400" dirty="0"/>
              <a:t>【</a:t>
            </a:r>
            <a:r>
              <a:rPr lang="zh-CN" altLang="en-US" sz="2400" dirty="0"/>
              <a:t>例</a:t>
            </a:r>
            <a:r>
              <a:rPr lang="en-US" altLang="zh-CN" sz="2400" dirty="0"/>
              <a:t>4.14】</a:t>
            </a:r>
            <a:r>
              <a:rPr lang="zh-CN" altLang="en-US" sz="2400" dirty="0"/>
              <a:t>把</a:t>
            </a:r>
            <a:r>
              <a:rPr lang="en-US" altLang="zh-CN" sz="2400" dirty="0"/>
              <a:t>HDFS</a:t>
            </a:r>
            <a:r>
              <a:rPr lang="zh-CN" altLang="en-US" sz="2400" dirty="0"/>
              <a:t>中的文件</a:t>
            </a:r>
            <a:r>
              <a:rPr lang="en-US" altLang="zh-CN" sz="2400" dirty="0"/>
              <a:t>file1</a:t>
            </a:r>
            <a:r>
              <a:rPr lang="zh-CN" altLang="en-US" sz="2400" dirty="0"/>
              <a:t>重命名为</a:t>
            </a:r>
            <a:r>
              <a:rPr lang="en-US" altLang="zh-CN" sz="2400" dirty="0"/>
              <a:t>file2</a:t>
            </a:r>
            <a:r>
              <a:rPr lang="zh-CN" altLang="en-US" sz="2400" dirty="0"/>
              <a:t>。</a:t>
            </a:r>
            <a:endParaRPr lang="en-US" altLang="zh-CN" sz="2400" dirty="0"/>
          </a:p>
          <a:p>
            <a:pPr marL="0" indent="0">
              <a:buNone/>
            </a:pPr>
            <a:endParaRPr lang="en-US" altLang="zh-CN" sz="2400" dirty="0"/>
          </a:p>
          <a:p>
            <a:pPr marL="0" indent="0">
              <a:buNone/>
            </a:pPr>
            <a:r>
              <a:rPr lang="en-US" altLang="zh-CN" sz="2400" dirty="0"/>
              <a:t>【</a:t>
            </a:r>
            <a:r>
              <a:rPr lang="zh-CN" altLang="en-US" sz="2400" dirty="0"/>
              <a:t>例</a:t>
            </a:r>
            <a:r>
              <a:rPr lang="en-US" altLang="zh-CN" sz="2400" dirty="0"/>
              <a:t>4.15】</a:t>
            </a:r>
            <a:r>
              <a:rPr lang="zh-CN" altLang="en-US" sz="2400" dirty="0"/>
              <a:t>把</a:t>
            </a:r>
            <a:r>
              <a:rPr lang="en-US" altLang="zh-CN" sz="2400" dirty="0"/>
              <a:t>HDFS</a:t>
            </a:r>
            <a:r>
              <a:rPr lang="zh-CN" altLang="en-US" sz="2400" dirty="0"/>
              <a:t>中的文件</a:t>
            </a:r>
            <a:r>
              <a:rPr lang="en-US" altLang="zh-CN" sz="2400" dirty="0"/>
              <a:t>/user/</a:t>
            </a:r>
            <a:r>
              <a:rPr lang="en-US" altLang="zh-CN" sz="2400" dirty="0" err="1"/>
              <a:t>hadoop</a:t>
            </a:r>
            <a:r>
              <a:rPr lang="en-US" altLang="zh-CN" sz="2400" dirty="0"/>
              <a:t>/file1</a:t>
            </a:r>
            <a:r>
              <a:rPr lang="zh-CN" altLang="en-US" sz="2400" dirty="0"/>
              <a:t>移动到</a:t>
            </a:r>
            <a:r>
              <a:rPr lang="en-US" altLang="zh-CN" sz="2400" dirty="0"/>
              <a:t>/dir1</a:t>
            </a:r>
            <a:r>
              <a:rPr lang="zh-CN" altLang="en-US" sz="2400" dirty="0"/>
              <a:t>文件夹下</a:t>
            </a:r>
          </a:p>
        </p:txBody>
      </p:sp>
      <p:pic>
        <p:nvPicPr>
          <p:cNvPr id="6" name="图片 5">
            <a:extLst>
              <a:ext uri="{FF2B5EF4-FFF2-40B4-BE49-F238E27FC236}">
                <a16:creationId xmlns:a16="http://schemas.microsoft.com/office/drawing/2014/main" id="{19B74B5A-65D2-4E58-8F43-989EABD577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3291830"/>
            <a:ext cx="6311300" cy="288032"/>
          </a:xfrm>
          <a:prstGeom prst="rect">
            <a:avLst/>
          </a:prstGeom>
        </p:spPr>
      </p:pic>
      <p:pic>
        <p:nvPicPr>
          <p:cNvPr id="8" name="图片 7">
            <a:extLst>
              <a:ext uri="{FF2B5EF4-FFF2-40B4-BE49-F238E27FC236}">
                <a16:creationId xmlns:a16="http://schemas.microsoft.com/office/drawing/2014/main" id="{FABA8546-7461-4E23-82B7-4E235ADAA3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499" y="4515966"/>
            <a:ext cx="8337002" cy="243861"/>
          </a:xfrm>
          <a:prstGeom prst="rect">
            <a:avLst/>
          </a:prstGeom>
        </p:spPr>
      </p:pic>
    </p:spTree>
    <p:extLst>
      <p:ext uri="{BB962C8B-B14F-4D97-AF65-F5344CB8AC3E}">
        <p14:creationId xmlns:p14="http://schemas.microsoft.com/office/powerpoint/2010/main" val="235573261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323528" y="987574"/>
            <a:ext cx="7992888" cy="3708411"/>
          </a:xfrm>
        </p:spPr>
        <p:txBody>
          <a:bodyPr>
            <a:normAutofit fontScale="92500" lnSpcReduction="10000"/>
          </a:bodyPr>
          <a:lstStyle/>
          <a:p>
            <a:pPr marL="0" indent="0">
              <a:buNone/>
            </a:pPr>
            <a:r>
              <a:rPr lang="en-US" altLang="zh-CN" sz="2400" dirty="0"/>
              <a:t>13</a:t>
            </a:r>
            <a:r>
              <a:rPr lang="zh-CN" altLang="en-US" sz="2400" dirty="0"/>
              <a:t>．</a:t>
            </a:r>
            <a:r>
              <a:rPr lang="en-US" altLang="zh-CN" sz="2400" dirty="0"/>
              <a:t>put</a:t>
            </a:r>
          </a:p>
          <a:p>
            <a:pPr marL="0" indent="0">
              <a:buNone/>
            </a:pPr>
            <a:r>
              <a:rPr lang="zh-CN" altLang="en-US" sz="2400" dirty="0"/>
              <a:t>用法：</a:t>
            </a:r>
            <a:r>
              <a:rPr lang="en-US" altLang="zh-CN" sz="2400" dirty="0" err="1"/>
              <a:t>hadoop</a:t>
            </a:r>
            <a:r>
              <a:rPr lang="en-US" altLang="zh-CN" sz="2400" dirty="0"/>
              <a:t> fs -put [-f] [-p] [-l] [-d] [ - | &lt;localsrc1&gt; .. ]. &lt;</a:t>
            </a:r>
            <a:r>
              <a:rPr lang="en-US" altLang="zh-CN" sz="2400" dirty="0" err="1"/>
              <a:t>dst</a:t>
            </a:r>
            <a:r>
              <a:rPr lang="en-US" altLang="zh-CN" sz="2400" dirty="0"/>
              <a:t>&gt;</a:t>
            </a:r>
          </a:p>
          <a:p>
            <a:pPr marL="0" indent="0">
              <a:buNone/>
            </a:pPr>
            <a:r>
              <a:rPr lang="zh-CN" altLang="en-US" sz="2400" dirty="0"/>
              <a:t>说明：将单个文件或多个文件从本地文件系统复制到目标文件系统。如果源设置为“</a:t>
            </a:r>
            <a:r>
              <a:rPr lang="en-US" altLang="zh-CN" sz="2400" dirty="0"/>
              <a:t>-”</a:t>
            </a:r>
            <a:r>
              <a:rPr lang="zh-CN" altLang="en-US" sz="2400" dirty="0"/>
              <a:t>，则从</a:t>
            </a:r>
            <a:r>
              <a:rPr lang="en-US" altLang="zh-CN" sz="2400" dirty="0"/>
              <a:t>STDIN</a:t>
            </a:r>
            <a:r>
              <a:rPr lang="zh-CN" altLang="en-US" sz="2400" dirty="0"/>
              <a:t>读取输入并写入目标文件系统</a:t>
            </a:r>
          </a:p>
          <a:p>
            <a:pPr marL="0" indent="0">
              <a:buNone/>
            </a:pPr>
            <a:r>
              <a:rPr lang="en-US" altLang="zh-CN" sz="2400" dirty="0"/>
              <a:t>-p : </a:t>
            </a:r>
            <a:r>
              <a:rPr lang="zh-CN" altLang="en-US" sz="2400" dirty="0"/>
              <a:t>保持存取、修改的时间、文件所有者、权限等信息；</a:t>
            </a:r>
          </a:p>
          <a:p>
            <a:pPr marL="0" indent="0">
              <a:buNone/>
            </a:pPr>
            <a:r>
              <a:rPr lang="en-US" altLang="zh-CN" sz="2400" dirty="0"/>
              <a:t>-f : </a:t>
            </a:r>
            <a:r>
              <a:rPr lang="zh-CN" altLang="en-US" sz="2400" dirty="0"/>
              <a:t>若目标文件已经存在，则覆盖；</a:t>
            </a:r>
          </a:p>
          <a:p>
            <a:pPr marL="0" indent="0">
              <a:buNone/>
            </a:pPr>
            <a:r>
              <a:rPr lang="en-US" altLang="zh-CN" sz="2400" dirty="0"/>
              <a:t>-l : </a:t>
            </a:r>
            <a:r>
              <a:rPr lang="zh-CN" altLang="en-US" sz="2400" dirty="0"/>
              <a:t>允许数据节点采用惰性存储方式（延迟将文件持久化写入磁盘），强制重复因子为</a:t>
            </a:r>
            <a:r>
              <a:rPr lang="en-US" altLang="zh-CN" sz="2400" dirty="0"/>
              <a:t>1</a:t>
            </a:r>
            <a:r>
              <a:rPr lang="zh-CN" altLang="en-US" sz="2400" dirty="0"/>
              <a:t>，该参数可能导致文件的容错性降低；</a:t>
            </a:r>
          </a:p>
          <a:p>
            <a:pPr marL="0" indent="0">
              <a:buNone/>
            </a:pPr>
            <a:r>
              <a:rPr lang="en-US" altLang="zh-CN" sz="2400" dirty="0"/>
              <a:t>-d : </a:t>
            </a:r>
            <a:r>
              <a:rPr lang="zh-CN" altLang="en-US" sz="2400" dirty="0"/>
              <a:t>跳过创建临时文件步骤，该临时文件以“</a:t>
            </a:r>
            <a:r>
              <a:rPr lang="en-US" altLang="zh-CN" sz="2400" dirty="0"/>
              <a:t>._COPYING_“</a:t>
            </a:r>
            <a:r>
              <a:rPr lang="zh-CN" altLang="en-US" sz="2400" dirty="0"/>
              <a:t>为后缀。</a:t>
            </a:r>
          </a:p>
        </p:txBody>
      </p:sp>
    </p:spTree>
    <p:extLst>
      <p:ext uri="{BB962C8B-B14F-4D97-AF65-F5344CB8AC3E}">
        <p14:creationId xmlns:p14="http://schemas.microsoft.com/office/powerpoint/2010/main" val="18334016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323528" y="1131590"/>
            <a:ext cx="7992888" cy="3708411"/>
          </a:xfrm>
        </p:spPr>
        <p:txBody>
          <a:bodyPr>
            <a:normAutofit/>
          </a:bodyPr>
          <a:lstStyle/>
          <a:p>
            <a:pPr marL="0" indent="0">
              <a:buNone/>
            </a:pPr>
            <a:r>
              <a:rPr lang="en-US" altLang="zh-CN" sz="2400" dirty="0"/>
              <a:t>【</a:t>
            </a:r>
            <a:r>
              <a:rPr lang="zh-CN" altLang="en-US" sz="2400" dirty="0"/>
              <a:t>例</a:t>
            </a:r>
            <a:r>
              <a:rPr lang="en-US" altLang="zh-CN" sz="2400" dirty="0"/>
              <a:t>4.16】</a:t>
            </a:r>
            <a:r>
              <a:rPr lang="zh-CN" altLang="en-US" sz="2400" dirty="0"/>
              <a:t>把本地文件</a:t>
            </a:r>
            <a:r>
              <a:rPr lang="en-US" altLang="zh-CN" sz="2400" dirty="0" err="1"/>
              <a:t>localfile</a:t>
            </a:r>
            <a:r>
              <a:rPr lang="zh-CN" altLang="en-US" sz="2400" dirty="0"/>
              <a:t>上传到</a:t>
            </a:r>
            <a:r>
              <a:rPr lang="en-US" altLang="zh-CN" sz="2400" dirty="0"/>
              <a:t>HDFS</a:t>
            </a:r>
            <a:r>
              <a:rPr lang="zh-CN" altLang="en-US" sz="2400" dirty="0"/>
              <a:t>系统“</a:t>
            </a:r>
            <a:r>
              <a:rPr lang="en-US" altLang="zh-CN" sz="2400" dirty="0"/>
              <a:t>/user/</a:t>
            </a:r>
            <a:r>
              <a:rPr lang="en-US" altLang="zh-CN" sz="2400" dirty="0" err="1"/>
              <a:t>hadoop</a:t>
            </a:r>
            <a:r>
              <a:rPr lang="en-US" altLang="zh-CN" sz="2400" dirty="0"/>
              <a:t>/”</a:t>
            </a:r>
            <a:r>
              <a:rPr lang="zh-CN" altLang="en-US" sz="2400" dirty="0"/>
              <a:t>并命名为</a:t>
            </a:r>
            <a:r>
              <a:rPr lang="en-US" altLang="zh-CN" sz="2400" dirty="0" err="1"/>
              <a:t>hadoopfile</a:t>
            </a:r>
            <a:r>
              <a:rPr lang="zh-CN" altLang="en-US" sz="2400" dirty="0"/>
              <a:t>。</a:t>
            </a:r>
          </a:p>
        </p:txBody>
      </p:sp>
      <p:pic>
        <p:nvPicPr>
          <p:cNvPr id="6" name="图片 5">
            <a:extLst>
              <a:ext uri="{FF2B5EF4-FFF2-40B4-BE49-F238E27FC236}">
                <a16:creationId xmlns:a16="http://schemas.microsoft.com/office/drawing/2014/main" id="{89522813-FEB5-4072-BEF8-F87429A3DB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3568" y="2139702"/>
            <a:ext cx="6992230" cy="288032"/>
          </a:xfrm>
          <a:prstGeom prst="rect">
            <a:avLst/>
          </a:prstGeom>
        </p:spPr>
      </p:pic>
    </p:spTree>
    <p:extLst>
      <p:ext uri="{BB962C8B-B14F-4D97-AF65-F5344CB8AC3E}">
        <p14:creationId xmlns:p14="http://schemas.microsoft.com/office/powerpoint/2010/main" val="13153613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611560" y="987574"/>
            <a:ext cx="8172908" cy="3708411"/>
          </a:xfrm>
        </p:spPr>
        <p:txBody>
          <a:bodyPr>
            <a:normAutofit fontScale="92500" lnSpcReduction="20000"/>
          </a:bodyPr>
          <a:lstStyle/>
          <a:p>
            <a:pPr marL="0" indent="0">
              <a:buNone/>
            </a:pPr>
            <a:r>
              <a:rPr lang="en-US" altLang="zh-CN" sz="2400" dirty="0"/>
              <a:t>14</a:t>
            </a:r>
            <a:r>
              <a:rPr lang="zh-CN" altLang="en-US" sz="2400" dirty="0"/>
              <a:t>．</a:t>
            </a:r>
            <a:r>
              <a:rPr lang="en-US" altLang="zh-CN" sz="2400" dirty="0"/>
              <a:t>rm</a:t>
            </a:r>
          </a:p>
          <a:p>
            <a:pPr marL="0" indent="0">
              <a:buNone/>
            </a:pPr>
            <a:r>
              <a:rPr lang="zh-CN" altLang="en-US" sz="2400" dirty="0"/>
              <a:t>用法：</a:t>
            </a:r>
            <a:r>
              <a:rPr lang="en-US" altLang="zh-CN" sz="2400" dirty="0" err="1"/>
              <a:t>hadoop</a:t>
            </a:r>
            <a:r>
              <a:rPr lang="en-US" altLang="zh-CN" sz="2400" dirty="0"/>
              <a:t> fs -rm [-f] [-r |-R] [-</a:t>
            </a:r>
            <a:r>
              <a:rPr lang="en-US" altLang="zh-CN" sz="2400" dirty="0" err="1"/>
              <a:t>skipTrash</a:t>
            </a:r>
            <a:r>
              <a:rPr lang="en-US" altLang="zh-CN" sz="2400" dirty="0"/>
              <a:t>] URI [URI ...]</a:t>
            </a:r>
          </a:p>
          <a:p>
            <a:pPr marL="0" indent="0">
              <a:buNone/>
            </a:pPr>
            <a:r>
              <a:rPr lang="zh-CN" altLang="en-US" sz="2400" dirty="0"/>
              <a:t>说明：删除指定文件。如果启用了垃圾箱，文件系统会将删除的文件移到垃圾箱目录。默认情况下已禁用垃圾箱功能，用户可以通过在配置文件“</a:t>
            </a:r>
            <a:r>
              <a:rPr lang="en-US" altLang="zh-CN" sz="2400" dirty="0"/>
              <a:t>core-site.xml”</a:t>
            </a:r>
            <a:r>
              <a:rPr lang="zh-CN" altLang="en-US" sz="2400" dirty="0"/>
              <a:t>设置大于零的间隔值来启用垃圾箱。</a:t>
            </a:r>
          </a:p>
          <a:p>
            <a:pPr marL="0" indent="0">
              <a:buNone/>
            </a:pPr>
            <a:r>
              <a:rPr lang="en-US" altLang="zh-CN" sz="2400" dirty="0"/>
              <a:t>-f</a:t>
            </a:r>
            <a:r>
              <a:rPr lang="zh-CN" altLang="en-US" sz="2400" dirty="0"/>
              <a:t>：该参数将关闭一些错误信息的显示，例如文件不存在等；</a:t>
            </a:r>
          </a:p>
          <a:p>
            <a:pPr marL="0" indent="0">
              <a:buNone/>
            </a:pPr>
            <a:r>
              <a:rPr lang="en-US" altLang="zh-CN" sz="2400" dirty="0"/>
              <a:t>-R</a:t>
            </a:r>
            <a:r>
              <a:rPr lang="zh-CN" altLang="en-US" sz="2400" dirty="0"/>
              <a:t>：递归删除文件夹中内容；</a:t>
            </a:r>
          </a:p>
          <a:p>
            <a:pPr marL="0" indent="0">
              <a:buNone/>
            </a:pPr>
            <a:r>
              <a:rPr lang="en-US" altLang="zh-CN" sz="2400" dirty="0"/>
              <a:t>-r</a:t>
            </a:r>
            <a:r>
              <a:rPr lang="zh-CN" altLang="en-US" sz="2400" dirty="0"/>
              <a:t>：等价于参数“</a:t>
            </a:r>
            <a:r>
              <a:rPr lang="en-US" altLang="zh-CN" sz="2400" dirty="0"/>
              <a:t>-R”</a:t>
            </a:r>
            <a:r>
              <a:rPr lang="zh-CN" altLang="en-US" sz="2400" dirty="0"/>
              <a:t>；</a:t>
            </a:r>
          </a:p>
          <a:p>
            <a:pPr marL="0" indent="0">
              <a:buNone/>
            </a:pPr>
            <a:r>
              <a:rPr lang="en-US" altLang="zh-CN" sz="2400" dirty="0"/>
              <a:t>-</a:t>
            </a:r>
            <a:r>
              <a:rPr lang="en-US" altLang="zh-CN" sz="2400" dirty="0" err="1"/>
              <a:t>skipTrash</a:t>
            </a:r>
            <a:r>
              <a:rPr lang="zh-CN" altLang="en-US" sz="2400" dirty="0"/>
              <a:t>：若设置该选项，则直接删除该文件，否则，在垃圾箱启用情况下，将会把要删除文件放入垃圾箱。</a:t>
            </a:r>
          </a:p>
        </p:txBody>
      </p:sp>
    </p:spTree>
    <p:extLst>
      <p:ext uri="{BB962C8B-B14F-4D97-AF65-F5344CB8AC3E}">
        <p14:creationId xmlns:p14="http://schemas.microsoft.com/office/powerpoint/2010/main" val="65362847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485546" y="987574"/>
            <a:ext cx="8334926" cy="3708411"/>
          </a:xfrm>
        </p:spPr>
        <p:txBody>
          <a:bodyPr>
            <a:normAutofit fontScale="92500" lnSpcReduction="10000"/>
          </a:bodyPr>
          <a:lstStyle/>
          <a:p>
            <a:pPr marL="0" indent="0">
              <a:buNone/>
            </a:pPr>
            <a:r>
              <a:rPr lang="en-US" altLang="zh-CN" sz="2400" dirty="0"/>
              <a:t>14</a:t>
            </a:r>
            <a:r>
              <a:rPr lang="zh-CN" altLang="en-US" sz="2400" dirty="0"/>
              <a:t>．</a:t>
            </a:r>
            <a:r>
              <a:rPr lang="en-US" altLang="zh-CN" sz="2400" dirty="0"/>
              <a:t>rm</a:t>
            </a:r>
          </a:p>
          <a:p>
            <a:pPr marL="0" indent="0">
              <a:buNone/>
            </a:pPr>
            <a:r>
              <a:rPr lang="zh-CN" altLang="en-US" sz="2400" dirty="0"/>
              <a:t>用法：</a:t>
            </a:r>
            <a:r>
              <a:rPr lang="en-US" altLang="zh-CN" sz="2400" dirty="0" err="1"/>
              <a:t>hadoop</a:t>
            </a:r>
            <a:r>
              <a:rPr lang="en-US" altLang="zh-CN" sz="2400" dirty="0"/>
              <a:t> fs -rm [-f] [-r |-R] [-</a:t>
            </a:r>
            <a:r>
              <a:rPr lang="en-US" altLang="zh-CN" sz="2400" dirty="0" err="1"/>
              <a:t>skipTrash</a:t>
            </a:r>
            <a:r>
              <a:rPr lang="en-US" altLang="zh-CN" sz="2400" dirty="0"/>
              <a:t>] URI [URI ...]</a:t>
            </a:r>
          </a:p>
          <a:p>
            <a:pPr marL="0" indent="0">
              <a:buNone/>
            </a:pPr>
            <a:r>
              <a:rPr lang="zh-CN" altLang="en-US" sz="2400" dirty="0"/>
              <a:t>说明：删除指定文件。如果启用了垃圾箱，文件系统会将删除的文件移到垃圾箱目录。默认情况下已禁用垃圾箱功能，用户可以通过在配置文件“</a:t>
            </a:r>
            <a:r>
              <a:rPr lang="en-US" altLang="zh-CN" sz="2400" dirty="0"/>
              <a:t>core-site.xml”</a:t>
            </a:r>
            <a:r>
              <a:rPr lang="zh-CN" altLang="en-US" sz="2400" dirty="0"/>
              <a:t>设置大于零的间隔值来启用垃圾箱。</a:t>
            </a:r>
          </a:p>
          <a:p>
            <a:pPr marL="0" indent="0">
              <a:buNone/>
            </a:pPr>
            <a:r>
              <a:rPr lang="en-US" altLang="zh-CN" sz="2400" dirty="0"/>
              <a:t>-f</a:t>
            </a:r>
            <a:r>
              <a:rPr lang="zh-CN" altLang="en-US" sz="2400" dirty="0"/>
              <a:t>：该参数将关闭一些错误信息的显示，例如文件不存在等；</a:t>
            </a:r>
          </a:p>
          <a:p>
            <a:pPr marL="0" indent="0">
              <a:buNone/>
            </a:pPr>
            <a:r>
              <a:rPr lang="en-US" altLang="zh-CN" sz="2400" dirty="0"/>
              <a:t>-R</a:t>
            </a:r>
            <a:r>
              <a:rPr lang="zh-CN" altLang="en-US" sz="2400" dirty="0"/>
              <a:t>：递归删除文件夹中内容；</a:t>
            </a:r>
          </a:p>
          <a:p>
            <a:pPr marL="0" indent="0">
              <a:buNone/>
            </a:pPr>
            <a:r>
              <a:rPr lang="en-US" altLang="zh-CN" sz="2400" dirty="0"/>
              <a:t>-r</a:t>
            </a:r>
            <a:r>
              <a:rPr lang="zh-CN" altLang="en-US" sz="2400" dirty="0"/>
              <a:t>：等价于参数“</a:t>
            </a:r>
            <a:r>
              <a:rPr lang="en-US" altLang="zh-CN" sz="2400" dirty="0"/>
              <a:t>-R”</a:t>
            </a:r>
            <a:r>
              <a:rPr lang="zh-CN" altLang="en-US" sz="2400" dirty="0"/>
              <a:t>；</a:t>
            </a:r>
          </a:p>
          <a:p>
            <a:pPr marL="0" indent="0">
              <a:buNone/>
            </a:pPr>
            <a:r>
              <a:rPr lang="en-US" altLang="zh-CN" sz="2400" dirty="0"/>
              <a:t>-</a:t>
            </a:r>
            <a:r>
              <a:rPr lang="en-US" altLang="zh-CN" sz="2400" dirty="0" err="1"/>
              <a:t>skipTrash</a:t>
            </a:r>
            <a:r>
              <a:rPr lang="zh-CN" altLang="en-US" sz="2400" dirty="0"/>
              <a:t>：若设置该选项，则直接删除该文件，否则，在垃圾箱启用情况下，将会把要删除文件放入垃圾箱。</a:t>
            </a:r>
          </a:p>
        </p:txBody>
      </p:sp>
    </p:spTree>
    <p:extLst>
      <p:ext uri="{BB962C8B-B14F-4D97-AF65-F5344CB8AC3E}">
        <p14:creationId xmlns:p14="http://schemas.microsoft.com/office/powerpoint/2010/main" val="309627026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611560" y="987574"/>
            <a:ext cx="8172908" cy="3708411"/>
          </a:xfrm>
        </p:spPr>
        <p:txBody>
          <a:bodyPr>
            <a:normAutofit/>
          </a:bodyPr>
          <a:lstStyle/>
          <a:p>
            <a:pPr marL="0" indent="0">
              <a:buNone/>
            </a:pPr>
            <a:r>
              <a:rPr lang="en-US" altLang="zh-CN" sz="2400" dirty="0"/>
              <a:t>【</a:t>
            </a:r>
            <a:r>
              <a:rPr lang="zh-CN" altLang="en-US" sz="2400" dirty="0"/>
              <a:t>例</a:t>
            </a:r>
            <a:r>
              <a:rPr lang="en-US" altLang="zh-CN" sz="2400" dirty="0"/>
              <a:t>4.17】</a:t>
            </a:r>
            <a:r>
              <a:rPr lang="zh-CN" altLang="en-US" sz="2400" dirty="0"/>
              <a:t>删除</a:t>
            </a:r>
            <a:r>
              <a:rPr lang="en-US" altLang="zh-CN" sz="2400" dirty="0"/>
              <a:t>HDFS</a:t>
            </a:r>
            <a:r>
              <a:rPr lang="zh-CN" altLang="en-US" sz="2400" dirty="0"/>
              <a:t>中</a:t>
            </a:r>
            <a:r>
              <a:rPr lang="en-US" altLang="zh-CN" sz="2400" dirty="0"/>
              <a:t>/dir1/file1</a:t>
            </a:r>
            <a:r>
              <a:rPr lang="zh-CN" altLang="en-US" sz="2400" dirty="0"/>
              <a:t>文件以及</a:t>
            </a:r>
            <a:r>
              <a:rPr lang="en-US" altLang="zh-CN" sz="2400" dirty="0"/>
              <a:t>/user/dir2</a:t>
            </a:r>
            <a:r>
              <a:rPr lang="zh-CN" altLang="en-US" sz="2400" dirty="0"/>
              <a:t>文件夹下所有文件</a:t>
            </a:r>
            <a:endParaRPr lang="en-US" altLang="zh-CN" sz="2400" dirty="0"/>
          </a:p>
          <a:p>
            <a:pPr marL="0" indent="0">
              <a:buNone/>
            </a:pPr>
            <a:endParaRPr lang="zh-CN" altLang="en-US" sz="2400" dirty="0"/>
          </a:p>
        </p:txBody>
      </p:sp>
      <p:pic>
        <p:nvPicPr>
          <p:cNvPr id="5" name="图片 4">
            <a:extLst>
              <a:ext uri="{FF2B5EF4-FFF2-40B4-BE49-F238E27FC236}">
                <a16:creationId xmlns:a16="http://schemas.microsoft.com/office/drawing/2014/main" id="{90BAD6CF-1840-4700-A710-E5979444E3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6580" y="1851670"/>
            <a:ext cx="7754023" cy="333404"/>
          </a:xfrm>
          <a:prstGeom prst="rect">
            <a:avLst/>
          </a:prstGeom>
        </p:spPr>
      </p:pic>
    </p:spTree>
    <p:extLst>
      <p:ext uri="{BB962C8B-B14F-4D97-AF65-F5344CB8AC3E}">
        <p14:creationId xmlns:p14="http://schemas.microsoft.com/office/powerpoint/2010/main" val="34909883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4 </a:t>
            </a:r>
            <a:r>
              <a:rPr lang="zh-CN" altLang="en-US" dirty="0"/>
              <a:t>常用</a:t>
            </a:r>
            <a:r>
              <a:rPr lang="en-US" altLang="zh-CN" dirty="0"/>
              <a:t>HDFS</a:t>
            </a:r>
            <a:r>
              <a:rPr lang="zh-CN" altLang="en-US" dirty="0"/>
              <a:t>文件操作命令</a:t>
            </a:r>
          </a:p>
        </p:txBody>
      </p:sp>
      <p:sp>
        <p:nvSpPr>
          <p:cNvPr id="4" name="Rectangle 3"/>
          <p:cNvSpPr>
            <a:spLocks noGrp="1" noChangeArrowheads="1"/>
          </p:cNvSpPr>
          <p:nvPr>
            <p:ph idx="1"/>
          </p:nvPr>
        </p:nvSpPr>
        <p:spPr>
          <a:xfrm>
            <a:off x="611560" y="987574"/>
            <a:ext cx="8172908" cy="3708411"/>
          </a:xfrm>
        </p:spPr>
        <p:txBody>
          <a:bodyPr>
            <a:normAutofit/>
          </a:bodyPr>
          <a:lstStyle/>
          <a:p>
            <a:pPr marL="0" indent="0">
              <a:buNone/>
            </a:pPr>
            <a:r>
              <a:rPr lang="en-US" altLang="zh-CN" sz="2400" dirty="0"/>
              <a:t>15</a:t>
            </a:r>
            <a:r>
              <a:rPr lang="zh-CN" altLang="en-US" sz="2400" dirty="0"/>
              <a:t>．</a:t>
            </a:r>
            <a:r>
              <a:rPr lang="en-US" altLang="zh-CN" sz="2400" dirty="0" err="1"/>
              <a:t>rmdir</a:t>
            </a:r>
            <a:endParaRPr lang="en-US" altLang="zh-CN" sz="2400" dirty="0"/>
          </a:p>
          <a:p>
            <a:pPr marL="0" indent="0">
              <a:buNone/>
            </a:pPr>
            <a:r>
              <a:rPr lang="zh-CN" altLang="en-US" sz="2400" dirty="0"/>
              <a:t>用法：</a:t>
            </a:r>
            <a:r>
              <a:rPr lang="en-US" altLang="zh-CN" sz="2400" dirty="0" err="1"/>
              <a:t>hadoop</a:t>
            </a:r>
            <a:r>
              <a:rPr lang="en-US" altLang="zh-CN" sz="2400" dirty="0"/>
              <a:t> fs -</a:t>
            </a:r>
            <a:r>
              <a:rPr lang="en-US" altLang="zh-CN" sz="2400" dirty="0" err="1"/>
              <a:t>rmdir</a:t>
            </a:r>
            <a:r>
              <a:rPr lang="en-US" altLang="zh-CN" sz="2400" dirty="0"/>
              <a:t> [--ignore-fail-on-non-empty] URI [URI ...]</a:t>
            </a:r>
          </a:p>
          <a:p>
            <a:pPr marL="0" indent="0">
              <a:buNone/>
            </a:pPr>
            <a:r>
              <a:rPr lang="zh-CN" altLang="en-US" sz="2400" dirty="0"/>
              <a:t>说明：删除指定文件夹。</a:t>
            </a:r>
          </a:p>
          <a:p>
            <a:pPr marL="0" indent="0">
              <a:buNone/>
            </a:pPr>
            <a:r>
              <a:rPr lang="en-US" altLang="zh-CN" sz="2400" dirty="0"/>
              <a:t>--ignore-fail-on-non-empty: </a:t>
            </a:r>
            <a:r>
              <a:rPr lang="zh-CN" altLang="en-US" sz="2400" dirty="0"/>
              <a:t>在使用通配符时，如果一个文件夹包含文件，忽略错误信息。</a:t>
            </a:r>
          </a:p>
          <a:p>
            <a:pPr marL="0" indent="0">
              <a:buNone/>
            </a:pPr>
            <a:r>
              <a:rPr lang="en-US" altLang="zh-CN" sz="2400" dirty="0"/>
              <a:t>【</a:t>
            </a:r>
            <a:r>
              <a:rPr lang="zh-CN" altLang="en-US" sz="2400" dirty="0"/>
              <a:t>例</a:t>
            </a:r>
            <a:r>
              <a:rPr lang="en-US" altLang="zh-CN" sz="2400" dirty="0"/>
              <a:t>4.18】</a:t>
            </a:r>
            <a:r>
              <a:rPr lang="zh-CN" altLang="en-US" sz="2400" dirty="0"/>
              <a:t>删除</a:t>
            </a:r>
            <a:r>
              <a:rPr lang="en-US" altLang="zh-CN" sz="2400" dirty="0"/>
              <a:t>HDFS</a:t>
            </a:r>
            <a:r>
              <a:rPr lang="zh-CN" altLang="en-US" sz="2400" dirty="0"/>
              <a:t>中</a:t>
            </a:r>
            <a:r>
              <a:rPr lang="en-US" altLang="zh-CN" sz="2400" dirty="0"/>
              <a:t>/user/</a:t>
            </a:r>
            <a:r>
              <a:rPr lang="en-US" altLang="zh-CN" sz="2400" dirty="0" err="1"/>
              <a:t>hadoop</a:t>
            </a:r>
            <a:r>
              <a:rPr lang="en-US" altLang="zh-CN" sz="2400" dirty="0"/>
              <a:t>/</a:t>
            </a:r>
            <a:r>
              <a:rPr lang="en-US" altLang="zh-CN" sz="2400" dirty="0" err="1"/>
              <a:t>emptydir</a:t>
            </a:r>
            <a:r>
              <a:rPr lang="zh-CN" altLang="en-US" sz="2400" dirty="0"/>
              <a:t>文件夹。</a:t>
            </a:r>
          </a:p>
        </p:txBody>
      </p:sp>
      <p:pic>
        <p:nvPicPr>
          <p:cNvPr id="5" name="图片 4">
            <a:extLst>
              <a:ext uri="{FF2B5EF4-FFF2-40B4-BE49-F238E27FC236}">
                <a16:creationId xmlns:a16="http://schemas.microsoft.com/office/drawing/2014/main" id="{8A96B300-EE37-42FD-895D-3FEB9023B4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1600" y="3723878"/>
            <a:ext cx="6266950" cy="360040"/>
          </a:xfrm>
          <a:prstGeom prst="rect">
            <a:avLst/>
          </a:prstGeom>
        </p:spPr>
      </p:pic>
    </p:spTree>
    <p:extLst>
      <p:ext uri="{BB962C8B-B14F-4D97-AF65-F5344CB8AC3E}">
        <p14:creationId xmlns:p14="http://schemas.microsoft.com/office/powerpoint/2010/main" val="324266808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cxnSp>
        <p:nvCxnSpPr>
          <p:cNvPr id="33" name="直接连接符 32"/>
          <p:cNvCxnSpPr>
            <a:cxnSpLocks/>
            <a:endCxn id="35" idx="2"/>
          </p:cNvCxnSpPr>
          <p:nvPr/>
        </p:nvCxnSpPr>
        <p:spPr bwMode="auto">
          <a:xfrm flipV="1">
            <a:off x="2370589" y="2419227"/>
            <a:ext cx="6469152" cy="368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bwMode="auto">
          <a:xfrm>
            <a:off x="2267744" y="2378733"/>
            <a:ext cx="102845" cy="8098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bwMode="auto">
          <a:xfrm>
            <a:off x="8839741" y="2378733"/>
            <a:ext cx="102845" cy="8098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6" name="文本框 35"/>
          <p:cNvSpPr txBox="1"/>
          <p:nvPr/>
        </p:nvSpPr>
        <p:spPr>
          <a:xfrm>
            <a:off x="2295447" y="1727848"/>
            <a:ext cx="7029081" cy="646331"/>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利用</a:t>
            </a:r>
            <a:r>
              <a:rPr lang="en-US" altLang="zh-CN" sz="3600" b="1" dirty="0" err="1">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pyhdfs</a:t>
            </a:r>
            <a:r>
              <a:rPr lang="zh-CN" altLang="en-US"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实现</a:t>
            </a:r>
            <a:r>
              <a:rPr lang="en-US" altLang="zh-CN"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HDFS</a:t>
            </a:r>
            <a:r>
              <a:rPr lang="zh-CN" altLang="en-US"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的文件访问</a:t>
            </a:r>
          </a:p>
        </p:txBody>
      </p:sp>
      <p:sp>
        <p:nvSpPr>
          <p:cNvPr id="41" name="文本框 40"/>
          <p:cNvSpPr txBox="1">
            <a:spLocks noChangeArrowheads="1"/>
          </p:cNvSpPr>
          <p:nvPr/>
        </p:nvSpPr>
        <p:spPr bwMode="auto">
          <a:xfrm>
            <a:off x="533799" y="1358517"/>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05</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639827527"/>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p:tgtEl>
                                          <p:spTgt spid="36"/>
                                        </p:tgtEl>
                                        <p:attrNameLst>
                                          <p:attrName>ppt_y</p:attrName>
                                        </p:attrNameLst>
                                      </p:cBhvr>
                                      <p:tavLst>
                                        <p:tav tm="0">
                                          <p:val>
                                            <p:strVal val="#ppt_y+#ppt_h*1.125000"/>
                                          </p:val>
                                        </p:tav>
                                        <p:tav tm="100000">
                                          <p:val>
                                            <p:strVal val="#ppt_y"/>
                                          </p:val>
                                        </p:tav>
                                      </p:tavLst>
                                    </p:anim>
                                    <p:animEffect transition="in" filter="wipe(up)">
                                      <p:cBhvr>
                                        <p:cTn id="8" dur="500"/>
                                        <p:tgtEl>
                                          <p:spTgt spid="36"/>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fill="hold"/>
                                        <p:tgtEl>
                                          <p:spTgt spid="41"/>
                                        </p:tgtEl>
                                        <p:attrNameLst>
                                          <p:attrName>ppt_x</p:attrName>
                                        </p:attrNameLst>
                                      </p:cBhvr>
                                      <p:tavLst>
                                        <p:tav tm="0">
                                          <p:val>
                                            <p:strVal val="0-#ppt_w/2"/>
                                          </p:val>
                                        </p:tav>
                                        <p:tav tm="100000">
                                          <p:val>
                                            <p:strVal val="#ppt_x"/>
                                          </p:val>
                                        </p:tav>
                                      </p:tavLst>
                                    </p:anim>
                                    <p:anim calcmode="lin" valueType="num">
                                      <p:cBhvr additive="base">
                                        <p:cTn id="12"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zh-CN" altLang="en-US" dirty="0"/>
              <a:t>利用</a:t>
            </a:r>
            <a:r>
              <a:rPr lang="en-US" altLang="zh-CN" dirty="0" err="1"/>
              <a:t>pyhdfs</a:t>
            </a:r>
            <a:r>
              <a:rPr lang="zh-CN" altLang="en-US" dirty="0"/>
              <a:t>实现</a:t>
            </a:r>
            <a:r>
              <a:rPr lang="en-US" altLang="zh-CN" dirty="0"/>
              <a:t>HDFS</a:t>
            </a:r>
            <a:r>
              <a:rPr lang="zh-CN" altLang="en-US" dirty="0"/>
              <a:t>的文件访问</a:t>
            </a:r>
          </a:p>
        </p:txBody>
      </p:sp>
      <p:sp>
        <p:nvSpPr>
          <p:cNvPr id="4" name="Rectangle 3"/>
          <p:cNvSpPr>
            <a:spLocks noGrp="1" noChangeArrowheads="1"/>
          </p:cNvSpPr>
          <p:nvPr>
            <p:ph idx="1"/>
          </p:nvPr>
        </p:nvSpPr>
        <p:spPr>
          <a:xfrm>
            <a:off x="251520" y="987574"/>
            <a:ext cx="8640960" cy="3708411"/>
          </a:xfrm>
        </p:spPr>
        <p:txBody>
          <a:bodyPr>
            <a:normAutofit/>
          </a:bodyPr>
          <a:lstStyle/>
          <a:p>
            <a:r>
              <a:rPr lang="zh-CN" altLang="en-US" sz="2400" dirty="0"/>
              <a:t>为了便于用户编写程序，</a:t>
            </a:r>
            <a:r>
              <a:rPr lang="en-US" altLang="zh-CN" sz="2400" dirty="0"/>
              <a:t>Hadoop</a:t>
            </a:r>
            <a:r>
              <a:rPr lang="zh-CN" altLang="en-US" sz="2400" dirty="0"/>
              <a:t>提供了丰富的</a:t>
            </a:r>
            <a:r>
              <a:rPr lang="en-US" altLang="zh-CN" sz="2400" dirty="0"/>
              <a:t>API</a:t>
            </a:r>
            <a:r>
              <a:rPr lang="zh-CN" altLang="en-US" sz="2400" dirty="0"/>
              <a:t>支持。</a:t>
            </a:r>
          </a:p>
          <a:p>
            <a:r>
              <a:rPr lang="en-US" altLang="zh-CN" sz="2400" dirty="0"/>
              <a:t>Hadoop</a:t>
            </a:r>
            <a:r>
              <a:rPr lang="zh-CN" altLang="en-US" sz="2400" dirty="0"/>
              <a:t>提供了</a:t>
            </a:r>
            <a:r>
              <a:rPr lang="en-US" altLang="zh-CN" sz="2400" dirty="0"/>
              <a:t>Java API</a:t>
            </a:r>
            <a:r>
              <a:rPr lang="zh-CN" altLang="en-US" sz="2400" dirty="0"/>
              <a:t>供</a:t>
            </a:r>
            <a:r>
              <a:rPr lang="en-US" altLang="zh-CN" sz="2400" dirty="0"/>
              <a:t>Java</a:t>
            </a:r>
            <a:r>
              <a:rPr lang="zh-CN" altLang="en-US" sz="2400" dirty="0"/>
              <a:t>程序调用，这也是最重要的一种方式，大量二次开发的底层都是采用这种方式。</a:t>
            </a:r>
            <a:r>
              <a:rPr lang="en-US" altLang="zh-CN" sz="2400" dirty="0"/>
              <a:t>Hadoop</a:t>
            </a:r>
            <a:r>
              <a:rPr lang="zh-CN" altLang="en-US" sz="2400" dirty="0"/>
              <a:t>也针对其他语言开发了</a:t>
            </a:r>
            <a:r>
              <a:rPr lang="en-US" altLang="zh-CN" sz="2400" dirty="0"/>
              <a:t>API</a:t>
            </a:r>
            <a:r>
              <a:rPr lang="zh-CN" altLang="en-US" sz="2400" dirty="0"/>
              <a:t>支持，例如官方提供的</a:t>
            </a:r>
            <a:r>
              <a:rPr lang="en-US" altLang="zh-CN" sz="2400" dirty="0"/>
              <a:t>C API</a:t>
            </a:r>
            <a:r>
              <a:rPr lang="zh-CN" altLang="en-US" sz="2400" dirty="0"/>
              <a:t>的</a:t>
            </a:r>
            <a:r>
              <a:rPr lang="en-US" altLang="zh-CN" sz="2400" dirty="0" err="1"/>
              <a:t>libhdfs</a:t>
            </a:r>
            <a:r>
              <a:rPr lang="zh-CN" altLang="en-US" sz="2400" dirty="0"/>
              <a:t>。</a:t>
            </a:r>
          </a:p>
          <a:p>
            <a:r>
              <a:rPr lang="en-US" altLang="zh-CN" sz="2400" dirty="0"/>
              <a:t>Hadoop</a:t>
            </a:r>
            <a:r>
              <a:rPr lang="zh-CN" altLang="en-US" sz="2400" dirty="0"/>
              <a:t>也有支持</a:t>
            </a:r>
            <a:r>
              <a:rPr lang="en-US" altLang="zh-CN" sz="2400" dirty="0"/>
              <a:t>Python</a:t>
            </a:r>
            <a:r>
              <a:rPr lang="zh-CN" altLang="en-US" sz="2400" dirty="0"/>
              <a:t>开发的</a:t>
            </a:r>
            <a:r>
              <a:rPr lang="en-US" altLang="zh-CN" sz="2400" dirty="0" err="1"/>
              <a:t>pyhdfs</a:t>
            </a:r>
            <a:r>
              <a:rPr lang="zh-CN" altLang="en-US" sz="2400" dirty="0"/>
              <a:t>等。</a:t>
            </a:r>
            <a:r>
              <a:rPr lang="en-US" altLang="zh-CN" sz="2400" dirty="0" err="1"/>
              <a:t>pyhdfs</a:t>
            </a:r>
            <a:r>
              <a:rPr lang="zh-CN" altLang="en-US" sz="2400" dirty="0"/>
              <a:t>是对</a:t>
            </a:r>
            <a:r>
              <a:rPr lang="en-US" altLang="zh-CN" sz="2400" dirty="0" err="1"/>
              <a:t>libhdfs</a:t>
            </a:r>
            <a:r>
              <a:rPr lang="zh-CN" altLang="en-US" sz="2400" dirty="0"/>
              <a:t>的</a:t>
            </a:r>
            <a:r>
              <a:rPr lang="en-US" altLang="zh-CN" sz="2400" dirty="0"/>
              <a:t>Python</a:t>
            </a:r>
            <a:r>
              <a:rPr lang="zh-CN" altLang="en-US" sz="2400" dirty="0"/>
              <a:t>封装库。它提供了一些常用方法来处理</a:t>
            </a:r>
            <a:r>
              <a:rPr lang="en-US" altLang="zh-CN" sz="2400" dirty="0"/>
              <a:t>HDFS</a:t>
            </a:r>
            <a:r>
              <a:rPr lang="zh-CN" altLang="en-US" sz="2400" dirty="0"/>
              <a:t>上的文件和目录，如：读写文件、枚举目录文件、显示</a:t>
            </a:r>
            <a:r>
              <a:rPr lang="en-US" altLang="zh-CN" sz="2400" dirty="0"/>
              <a:t>HDFS</a:t>
            </a:r>
            <a:r>
              <a:rPr lang="zh-CN" altLang="en-US" sz="2400" dirty="0"/>
              <a:t>可用空间、显示文件的复制块数等。</a:t>
            </a:r>
            <a:r>
              <a:rPr lang="en-US" altLang="zh-CN" sz="2400" dirty="0" err="1"/>
              <a:t>pyhdfs</a:t>
            </a:r>
            <a:r>
              <a:rPr lang="zh-CN" altLang="en-US" sz="2400" dirty="0"/>
              <a:t>使用</a:t>
            </a:r>
            <a:r>
              <a:rPr lang="en-US" altLang="zh-CN" sz="2400" dirty="0"/>
              <a:t>swig</a:t>
            </a:r>
            <a:r>
              <a:rPr lang="zh-CN" altLang="en-US" sz="2400" dirty="0"/>
              <a:t>技术，对</a:t>
            </a:r>
            <a:r>
              <a:rPr lang="en-US" altLang="zh-CN" sz="2400" dirty="0" err="1"/>
              <a:t>libhdfs</a:t>
            </a:r>
            <a:r>
              <a:rPr lang="zh-CN" altLang="en-US" sz="2400" dirty="0"/>
              <a:t>提供的绝大多数函数进行了封装，目的是提供更简单的调用方式。</a:t>
            </a:r>
          </a:p>
        </p:txBody>
      </p:sp>
    </p:spTree>
    <p:extLst>
      <p:ext uri="{BB962C8B-B14F-4D97-AF65-F5344CB8AC3E}">
        <p14:creationId xmlns:p14="http://schemas.microsoft.com/office/powerpoint/2010/main" val="207574139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zh-CN" dirty="0">
                <a:effectLst/>
              </a:rPr>
              <a:t>的安装与应用案例</a:t>
            </a:r>
            <a:endParaRPr lang="zh-CN" altLang="en-US" dirty="0"/>
          </a:p>
        </p:txBody>
      </p:sp>
      <p:sp>
        <p:nvSpPr>
          <p:cNvPr id="4" name="Rectangle 3"/>
          <p:cNvSpPr>
            <a:spLocks noGrp="1" noChangeArrowheads="1"/>
          </p:cNvSpPr>
          <p:nvPr>
            <p:ph idx="1"/>
          </p:nvPr>
        </p:nvSpPr>
        <p:spPr>
          <a:xfrm>
            <a:off x="503040" y="987574"/>
            <a:ext cx="8245424" cy="3708411"/>
          </a:xfrm>
        </p:spPr>
        <p:txBody>
          <a:bodyPr>
            <a:normAutofit/>
          </a:bodyPr>
          <a:lstStyle/>
          <a:p>
            <a:pPr marL="457200" indent="-457200">
              <a:buFont typeface="+mj-lt"/>
              <a:buAutoNum type="arabicPeriod"/>
            </a:pPr>
            <a:r>
              <a:rPr lang="zh-CN" altLang="en-US" sz="2400" dirty="0"/>
              <a:t>安装</a:t>
            </a:r>
            <a:r>
              <a:rPr lang="en-US" altLang="zh-CN" sz="2400" dirty="0" err="1"/>
              <a:t>pyhdfs</a:t>
            </a:r>
            <a:endParaRPr lang="en-US" altLang="zh-CN" sz="2400" dirty="0"/>
          </a:p>
          <a:p>
            <a:pPr marL="400050" lvl="1" indent="0">
              <a:buNone/>
            </a:pPr>
            <a:r>
              <a:rPr lang="en-US" altLang="zh-CN" sz="2400" dirty="0" err="1"/>
              <a:t>pyhdfs</a:t>
            </a:r>
            <a:r>
              <a:rPr lang="zh-CN" altLang="en-US" sz="2400" dirty="0"/>
              <a:t>可以直接通过</a:t>
            </a:r>
            <a:r>
              <a:rPr lang="en-US" altLang="zh-CN" sz="2400" dirty="0"/>
              <a:t>pip</a:t>
            </a:r>
            <a:r>
              <a:rPr lang="zh-CN" altLang="en-US" sz="2400" dirty="0"/>
              <a:t>进行安装，操作命令如下：</a:t>
            </a:r>
            <a:endParaRPr lang="en-US" altLang="zh-CN" sz="2400" dirty="0"/>
          </a:p>
          <a:p>
            <a:pPr marL="400050" lvl="1" indent="0">
              <a:buNone/>
            </a:pPr>
            <a:endParaRPr lang="en-US" altLang="zh-CN" sz="2400" dirty="0"/>
          </a:p>
          <a:p>
            <a:pPr marL="400050" lvl="1" indent="0">
              <a:buNone/>
            </a:pPr>
            <a:endParaRPr lang="en-US" altLang="zh-CN" sz="2400" dirty="0"/>
          </a:p>
          <a:p>
            <a:pPr marL="400050" lvl="1" indent="0">
              <a:buNone/>
            </a:pPr>
            <a:r>
              <a:rPr lang="zh-CN" altLang="en-US" sz="2400" dirty="0"/>
              <a:t>安装完成后，可以启动</a:t>
            </a:r>
            <a:r>
              <a:rPr lang="en-US" altLang="zh-CN" sz="2400" dirty="0"/>
              <a:t>Python</a:t>
            </a:r>
            <a:r>
              <a:rPr lang="zh-CN" altLang="en-US" sz="2400" dirty="0"/>
              <a:t>，通过“</a:t>
            </a:r>
            <a:r>
              <a:rPr lang="en-US" altLang="zh-CN" sz="2400" dirty="0"/>
              <a:t>import </a:t>
            </a:r>
            <a:r>
              <a:rPr lang="en-US" altLang="zh-CN" sz="2400" dirty="0" err="1"/>
              <a:t>pyhdfs</a:t>
            </a:r>
            <a:r>
              <a:rPr lang="en-US" altLang="zh-CN" sz="2400" dirty="0"/>
              <a:t>”</a:t>
            </a:r>
            <a:r>
              <a:rPr lang="zh-CN" altLang="en-US" sz="2400" dirty="0"/>
              <a:t>验证是否安装成功。</a:t>
            </a:r>
          </a:p>
        </p:txBody>
      </p:sp>
      <p:pic>
        <p:nvPicPr>
          <p:cNvPr id="5" name="图片 4">
            <a:extLst>
              <a:ext uri="{FF2B5EF4-FFF2-40B4-BE49-F238E27FC236}">
                <a16:creationId xmlns:a16="http://schemas.microsoft.com/office/drawing/2014/main" id="{855C6633-6BB3-41EA-9712-3111746F74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59632" y="2067694"/>
            <a:ext cx="3142164" cy="360040"/>
          </a:xfrm>
          <a:prstGeom prst="rect">
            <a:avLst/>
          </a:prstGeom>
        </p:spPr>
      </p:pic>
    </p:spTree>
    <p:extLst>
      <p:ext uri="{BB962C8B-B14F-4D97-AF65-F5344CB8AC3E}">
        <p14:creationId xmlns:p14="http://schemas.microsoft.com/office/powerpoint/2010/main" val="35873361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zh-CN" dirty="0">
                <a:effectLst/>
              </a:rPr>
              <a:t>的安装与应用案例</a:t>
            </a:r>
            <a:endParaRPr lang="zh-CN" altLang="en-US" dirty="0"/>
          </a:p>
        </p:txBody>
      </p:sp>
      <p:sp>
        <p:nvSpPr>
          <p:cNvPr id="4" name="Rectangle 3"/>
          <p:cNvSpPr>
            <a:spLocks noGrp="1" noChangeArrowheads="1"/>
          </p:cNvSpPr>
          <p:nvPr>
            <p:ph idx="1"/>
          </p:nvPr>
        </p:nvSpPr>
        <p:spPr>
          <a:xfrm>
            <a:off x="503040" y="987574"/>
            <a:ext cx="8533456" cy="3960440"/>
          </a:xfrm>
        </p:spPr>
        <p:txBody>
          <a:bodyPr>
            <a:normAutofit fontScale="92500"/>
          </a:bodyPr>
          <a:lstStyle/>
          <a:p>
            <a:pPr marL="0" indent="0">
              <a:buNone/>
            </a:pPr>
            <a:r>
              <a:rPr lang="en-US" altLang="zh-CN" sz="2400" dirty="0"/>
              <a:t>2. </a:t>
            </a:r>
            <a:r>
              <a:rPr lang="zh-CN" altLang="en-US" sz="2400" dirty="0"/>
              <a:t>编写</a:t>
            </a:r>
            <a:r>
              <a:rPr lang="en-US" altLang="zh-CN" sz="2400" dirty="0"/>
              <a:t>Python</a:t>
            </a:r>
            <a:r>
              <a:rPr lang="zh-CN" altLang="en-US" sz="2400" dirty="0"/>
              <a:t>程序</a:t>
            </a:r>
            <a:endParaRPr lang="en-US" altLang="zh-CN" sz="2400" dirty="0"/>
          </a:p>
          <a:p>
            <a:pPr marL="400050" lvl="1" indent="0">
              <a:buNone/>
            </a:pPr>
            <a:r>
              <a:rPr lang="zh-CN" altLang="en-US" sz="2400" dirty="0"/>
              <a:t>新建</a:t>
            </a:r>
            <a:r>
              <a:rPr lang="en-US" altLang="zh-CN" sz="2400" dirty="0"/>
              <a:t>HDFS</a:t>
            </a:r>
            <a:r>
              <a:rPr lang="zh-CN" altLang="en-US" sz="2400" dirty="0"/>
              <a:t>的客户端程序文件</a:t>
            </a:r>
            <a:r>
              <a:rPr lang="en-US" altLang="zh-CN" sz="2400" dirty="0"/>
              <a:t>hello-pyhdfs.py</a:t>
            </a:r>
            <a:r>
              <a:rPr lang="zh-CN" altLang="en-US" sz="2400" dirty="0"/>
              <a:t>，代码如下：</a:t>
            </a:r>
            <a:endParaRPr lang="en-US" altLang="zh-CN" sz="2400" dirty="0"/>
          </a:p>
          <a:p>
            <a:pPr marL="400050" lvl="1" indent="0">
              <a:buNone/>
            </a:pPr>
            <a:endParaRPr lang="en-US" altLang="zh-CN" sz="2400" dirty="0"/>
          </a:p>
          <a:p>
            <a:pPr marL="400050" lvl="1" indent="0">
              <a:buNone/>
            </a:pPr>
            <a:endParaRPr lang="en-US" altLang="zh-CN" sz="2400" dirty="0"/>
          </a:p>
          <a:p>
            <a:pPr marL="400050" lvl="1" indent="0">
              <a:buNone/>
            </a:pPr>
            <a:endParaRPr lang="en-US" altLang="zh-CN" sz="2400" dirty="0"/>
          </a:p>
          <a:p>
            <a:pPr marL="400050" lvl="1" indent="0">
              <a:buNone/>
            </a:pPr>
            <a:endParaRPr lang="en-US" altLang="zh-CN" sz="2400" dirty="0"/>
          </a:p>
          <a:p>
            <a:pPr marL="400050" lvl="1" indent="0">
              <a:buNone/>
            </a:pPr>
            <a:r>
              <a:rPr lang="zh-CN" altLang="en-US" sz="2400" dirty="0"/>
              <a:t>该程序首先引入</a:t>
            </a:r>
            <a:r>
              <a:rPr lang="en-US" altLang="zh-CN" sz="2400" dirty="0" err="1"/>
              <a:t>pyhdfs</a:t>
            </a:r>
            <a:r>
              <a:rPr lang="zh-CN" altLang="en-US" sz="2400" dirty="0"/>
              <a:t>库，使用主机地址、端口号和用户构建</a:t>
            </a:r>
            <a:r>
              <a:rPr lang="en-US" altLang="zh-CN" sz="2400" dirty="0"/>
              <a:t>HDFS</a:t>
            </a:r>
            <a:r>
              <a:rPr lang="zh-CN" altLang="en-US" sz="2400" dirty="0"/>
              <a:t>文件系统的客户端，然后利用</a:t>
            </a:r>
            <a:r>
              <a:rPr lang="en-US" altLang="zh-CN" sz="2400" dirty="0"/>
              <a:t>client</a:t>
            </a:r>
            <a:r>
              <a:rPr lang="zh-CN" altLang="en-US" sz="2400" dirty="0"/>
              <a:t>进行各种文件的操作。</a:t>
            </a:r>
          </a:p>
          <a:p>
            <a:pPr marL="400050" lvl="1" indent="0">
              <a:buNone/>
            </a:pPr>
            <a:r>
              <a:rPr lang="zh-CN" altLang="en-US" sz="2400" dirty="0"/>
              <a:t>首先创建根文件夹“</a:t>
            </a:r>
            <a:r>
              <a:rPr lang="en-US" altLang="zh-CN" sz="2400" dirty="0"/>
              <a:t>/data”</a:t>
            </a:r>
            <a:r>
              <a:rPr lang="zh-CN" altLang="en-US" sz="2400" dirty="0"/>
              <a:t>，然后列出根文件夹下的所有内容，并逐一打印输出。</a:t>
            </a:r>
          </a:p>
          <a:p>
            <a:pPr marL="400050" lvl="1" indent="0">
              <a:buNone/>
            </a:pPr>
            <a:endParaRPr lang="en-US" altLang="zh-CN" sz="2400" dirty="0"/>
          </a:p>
          <a:p>
            <a:pPr marL="400050" lvl="1" indent="0">
              <a:buNone/>
            </a:pPr>
            <a:endParaRPr lang="en-US" altLang="zh-CN" sz="2400" dirty="0"/>
          </a:p>
        </p:txBody>
      </p:sp>
      <p:graphicFrame>
        <p:nvGraphicFramePr>
          <p:cNvPr id="3" name="表格 2">
            <a:extLst>
              <a:ext uri="{FF2B5EF4-FFF2-40B4-BE49-F238E27FC236}">
                <a16:creationId xmlns:a16="http://schemas.microsoft.com/office/drawing/2014/main" id="{2683BD59-A5A1-4C46-BF81-386529A314B1}"/>
              </a:ext>
            </a:extLst>
          </p:cNvPr>
          <p:cNvGraphicFramePr>
            <a:graphicFrameLocks noGrp="1"/>
          </p:cNvGraphicFramePr>
          <p:nvPr>
            <p:extLst>
              <p:ext uri="{D42A27DB-BD31-4B8C-83A1-F6EECF244321}">
                <p14:modId xmlns:p14="http://schemas.microsoft.com/office/powerpoint/2010/main" val="3976403942"/>
              </p:ext>
            </p:extLst>
          </p:nvPr>
        </p:nvGraphicFramePr>
        <p:xfrm>
          <a:off x="1187624" y="1779662"/>
          <a:ext cx="5596656" cy="1463040"/>
        </p:xfrm>
        <a:graphic>
          <a:graphicData uri="http://schemas.openxmlformats.org/drawingml/2006/table">
            <a:tbl>
              <a:tblPr firstRow="1" firstCol="1" bandRow="1">
                <a:tableStyleId>{5C22544A-7EE6-4342-B048-85BDC9FD1C3A}</a:tableStyleId>
              </a:tblPr>
              <a:tblGrid>
                <a:gridCol w="5596656">
                  <a:extLst>
                    <a:ext uri="{9D8B030D-6E8A-4147-A177-3AD203B41FA5}">
                      <a16:colId xmlns:a16="http://schemas.microsoft.com/office/drawing/2014/main" val="3648925306"/>
                    </a:ext>
                  </a:extLst>
                </a:gridCol>
              </a:tblGrid>
              <a:tr h="1379592">
                <a:tc>
                  <a:txBody>
                    <a:bodyPr/>
                    <a:lstStyle/>
                    <a:p>
                      <a:pPr algn="just">
                        <a:lnSpc>
                          <a:spcPct val="100000"/>
                        </a:lnSpc>
                        <a:spcAft>
                          <a:spcPts val="0"/>
                        </a:spcAft>
                      </a:pPr>
                      <a:r>
                        <a:rPr lang="en-US" sz="1600" kern="100">
                          <a:effectLst/>
                        </a:rPr>
                        <a:t>import pyhdfs</a:t>
                      </a:r>
                      <a:endParaRPr lang="zh-CN" sz="1600" kern="100">
                        <a:effectLst/>
                      </a:endParaRPr>
                    </a:p>
                    <a:p>
                      <a:pPr algn="just">
                        <a:lnSpc>
                          <a:spcPct val="100000"/>
                        </a:lnSpc>
                        <a:spcAft>
                          <a:spcPts val="0"/>
                        </a:spcAft>
                      </a:pPr>
                      <a:r>
                        <a:rPr lang="en-US" sz="1600" kern="100">
                          <a:effectLst/>
                        </a:rPr>
                        <a:t>client= pyhdfs.HdfsClient(hosts="localhost:9870",user_name="root")</a:t>
                      </a:r>
                      <a:endParaRPr lang="zh-CN" sz="1600" kern="100">
                        <a:effectLst/>
                      </a:endParaRPr>
                    </a:p>
                    <a:p>
                      <a:pPr algn="just">
                        <a:lnSpc>
                          <a:spcPct val="100000"/>
                        </a:lnSpc>
                        <a:spcAft>
                          <a:spcPts val="0"/>
                        </a:spcAft>
                      </a:pPr>
                      <a:r>
                        <a:rPr lang="en-US" sz="1600" kern="100">
                          <a:effectLst/>
                        </a:rPr>
                        <a:t>client.mkdirs("/data")  </a:t>
                      </a:r>
                      <a:r>
                        <a:rPr lang="en-US" altLang="zh-CN" sz="1600" kern="100">
                          <a:effectLst/>
                        </a:rPr>
                        <a:t>#</a:t>
                      </a:r>
                      <a:r>
                        <a:rPr lang="zh-CN" altLang="en-US" sz="1600" kern="100">
                          <a:effectLst/>
                        </a:rPr>
                        <a:t>创建文件夹</a:t>
                      </a:r>
                      <a:endParaRPr lang="zh-CN" sz="1600" kern="100">
                        <a:effectLst/>
                      </a:endParaRPr>
                    </a:p>
                    <a:p>
                      <a:pPr algn="just">
                        <a:lnSpc>
                          <a:spcPct val="100000"/>
                        </a:lnSpc>
                        <a:spcAft>
                          <a:spcPts val="0"/>
                        </a:spcAft>
                      </a:pPr>
                      <a:r>
                        <a:rPr lang="en-US" sz="1600" kern="100">
                          <a:effectLst/>
                        </a:rPr>
                        <a:t>for file in client.listdir("/"):</a:t>
                      </a:r>
                      <a:endParaRPr lang="zh-CN" sz="1600" kern="100">
                        <a:effectLst/>
                      </a:endParaRPr>
                    </a:p>
                    <a:p>
                      <a:pPr algn="just">
                        <a:lnSpc>
                          <a:spcPct val="100000"/>
                        </a:lnSpc>
                        <a:spcAft>
                          <a:spcPts val="0"/>
                        </a:spcAft>
                      </a:pPr>
                      <a:r>
                        <a:rPr lang="en-US" sz="1600" kern="100">
                          <a:effectLst/>
                        </a:rPr>
                        <a:t>    print(file)</a:t>
                      </a:r>
                      <a:endParaRPr lang="zh-CN" sz="16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711959774"/>
                  </a:ext>
                </a:extLst>
              </a:tr>
            </a:tbl>
          </a:graphicData>
        </a:graphic>
      </p:graphicFrame>
    </p:spTree>
    <p:extLst>
      <p:ext uri="{BB962C8B-B14F-4D97-AF65-F5344CB8AC3E}">
        <p14:creationId xmlns:p14="http://schemas.microsoft.com/office/powerpoint/2010/main" val="252673372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zh-CN" dirty="0">
                <a:effectLst/>
              </a:rPr>
              <a:t>的安装与应用案例</a:t>
            </a:r>
            <a:endParaRPr lang="zh-CN" altLang="en-US" dirty="0"/>
          </a:p>
        </p:txBody>
      </p:sp>
      <p:sp>
        <p:nvSpPr>
          <p:cNvPr id="4" name="Rectangle 3"/>
          <p:cNvSpPr>
            <a:spLocks noGrp="1" noChangeArrowheads="1"/>
          </p:cNvSpPr>
          <p:nvPr>
            <p:ph idx="1"/>
          </p:nvPr>
        </p:nvSpPr>
        <p:spPr>
          <a:xfrm>
            <a:off x="503040" y="987574"/>
            <a:ext cx="8640960" cy="3708411"/>
          </a:xfrm>
        </p:spPr>
        <p:txBody>
          <a:bodyPr>
            <a:normAutofit/>
          </a:bodyPr>
          <a:lstStyle/>
          <a:p>
            <a:pPr marL="0" indent="0">
              <a:buNone/>
            </a:pPr>
            <a:r>
              <a:rPr lang="en-US" altLang="zh-CN" sz="2400" dirty="0"/>
              <a:t>3. </a:t>
            </a:r>
            <a:r>
              <a:rPr lang="zh-CN" altLang="en-US" sz="2400" dirty="0"/>
              <a:t>执行</a:t>
            </a:r>
            <a:r>
              <a:rPr lang="en-US" altLang="zh-CN" sz="2400" dirty="0"/>
              <a:t>Python</a:t>
            </a:r>
            <a:r>
              <a:rPr lang="zh-CN" altLang="en-US" sz="2400" dirty="0"/>
              <a:t>程序</a:t>
            </a:r>
            <a:endParaRPr lang="en-US" altLang="zh-CN" sz="2400" dirty="0"/>
          </a:p>
          <a:p>
            <a:pPr marL="0" indent="0">
              <a:buNone/>
            </a:pPr>
            <a:r>
              <a:rPr lang="zh-CN" altLang="en-US" sz="2400" dirty="0"/>
              <a:t>在运行程序前，先查看</a:t>
            </a:r>
            <a:r>
              <a:rPr lang="en-US" altLang="zh-CN" sz="2400" dirty="0"/>
              <a:t>HDFS</a:t>
            </a:r>
            <a:r>
              <a:rPr lang="zh-CN" altLang="en-US" sz="2400" dirty="0"/>
              <a:t>的根文件夹下已有文件，执行“</a:t>
            </a:r>
            <a:r>
              <a:rPr lang="en-US" altLang="zh-CN" sz="2400" dirty="0"/>
              <a:t>hello-pyhdfs.py”</a:t>
            </a:r>
            <a:r>
              <a:rPr lang="zh-CN" altLang="en-US" sz="2400" dirty="0"/>
              <a:t>后，对比“</a:t>
            </a:r>
            <a:r>
              <a:rPr lang="en-US" altLang="zh-CN" sz="2400" dirty="0" err="1"/>
              <a:t>hadoop</a:t>
            </a:r>
            <a:r>
              <a:rPr lang="en-US" altLang="zh-CN" sz="2400" dirty="0"/>
              <a:t> fs -ls /”</a:t>
            </a:r>
            <a:r>
              <a:rPr lang="zh-CN" altLang="en-US" sz="2400" dirty="0"/>
              <a:t>查看文件夹的情况。</a:t>
            </a:r>
            <a:endParaRPr lang="en-US" altLang="zh-CN" sz="2400" dirty="0"/>
          </a:p>
          <a:p>
            <a:pPr marL="400050" lvl="1" indent="0">
              <a:buNone/>
            </a:pPr>
            <a:endParaRPr lang="en-US" altLang="zh-CN" sz="2400" dirty="0"/>
          </a:p>
        </p:txBody>
      </p:sp>
      <p:pic>
        <p:nvPicPr>
          <p:cNvPr id="6" name="图片 5">
            <a:extLst>
              <a:ext uri="{FF2B5EF4-FFF2-40B4-BE49-F238E27FC236}">
                <a16:creationId xmlns:a16="http://schemas.microsoft.com/office/drawing/2014/main" id="{6EE40CB9-FF76-4002-B29F-F26CE4D9AB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2355726"/>
            <a:ext cx="4320480" cy="2429408"/>
          </a:xfrm>
          <a:prstGeom prst="rect">
            <a:avLst/>
          </a:prstGeom>
        </p:spPr>
      </p:pic>
    </p:spTree>
    <p:extLst>
      <p:ext uri="{BB962C8B-B14F-4D97-AF65-F5344CB8AC3E}">
        <p14:creationId xmlns:p14="http://schemas.microsoft.com/office/powerpoint/2010/main" val="19637186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503040" y="987574"/>
            <a:ext cx="8101408" cy="3708411"/>
          </a:xfrm>
        </p:spPr>
        <p:txBody>
          <a:bodyPr>
            <a:normAutofit fontScale="92500" lnSpcReduction="20000"/>
          </a:bodyPr>
          <a:lstStyle/>
          <a:p>
            <a:pPr>
              <a:lnSpc>
                <a:spcPct val="120000"/>
              </a:lnSpc>
            </a:pPr>
            <a:r>
              <a:rPr lang="en-US" altLang="zh-CN" sz="2400" dirty="0" err="1"/>
              <a:t>pyhdfs</a:t>
            </a:r>
            <a:r>
              <a:rPr lang="zh-CN" altLang="en-US" sz="2400" dirty="0"/>
              <a:t>中包含</a:t>
            </a:r>
            <a:r>
              <a:rPr lang="en-US" altLang="zh-CN" sz="2400" dirty="0" err="1"/>
              <a:t>HdfsClient</a:t>
            </a:r>
            <a:r>
              <a:rPr lang="zh-CN" altLang="en-US" sz="2400" dirty="0"/>
              <a:t>和其他相关辅助类，其中</a:t>
            </a:r>
            <a:r>
              <a:rPr lang="en-US" altLang="zh-CN" sz="2400" dirty="0" err="1"/>
              <a:t>HdfsClient</a:t>
            </a:r>
            <a:r>
              <a:rPr lang="zh-CN" altLang="en-US" sz="2400" dirty="0"/>
              <a:t>是整个</a:t>
            </a:r>
            <a:r>
              <a:rPr lang="en-US" altLang="zh-CN" sz="2400" dirty="0" err="1"/>
              <a:t>pyhdfs</a:t>
            </a:r>
            <a:r>
              <a:rPr lang="zh-CN" altLang="en-US" sz="2400" dirty="0"/>
              <a:t>的核心所在，是最关键的类。</a:t>
            </a:r>
            <a:endParaRPr lang="en-US" altLang="zh-CN" sz="2400" dirty="0"/>
          </a:p>
          <a:p>
            <a:pPr>
              <a:lnSpc>
                <a:spcPct val="120000"/>
              </a:lnSpc>
            </a:pPr>
            <a:r>
              <a:rPr lang="zh-CN" altLang="en-US" sz="2400" dirty="0"/>
              <a:t>连接</a:t>
            </a:r>
            <a:r>
              <a:rPr lang="en-US" altLang="zh-CN" sz="2400" dirty="0"/>
              <a:t>HDFS</a:t>
            </a:r>
            <a:r>
              <a:rPr lang="zh-CN" altLang="en-US" sz="2400" dirty="0"/>
              <a:t>的</a:t>
            </a:r>
            <a:r>
              <a:rPr lang="en-US" altLang="zh-CN" sz="2400" dirty="0" err="1"/>
              <a:t>Namenode</a:t>
            </a:r>
            <a:r>
              <a:rPr lang="zh-CN" altLang="en-US" sz="2400" dirty="0"/>
              <a:t>，对</a:t>
            </a:r>
            <a:r>
              <a:rPr lang="en-US" altLang="zh-CN" sz="2400" dirty="0"/>
              <a:t>HDFS</a:t>
            </a:r>
            <a:r>
              <a:rPr lang="zh-CN" altLang="en-US" sz="2400" dirty="0"/>
              <a:t>上的文件进行查询、读、写操作等都是通过</a:t>
            </a:r>
            <a:r>
              <a:rPr lang="en-US" altLang="zh-CN" sz="2400" dirty="0" err="1"/>
              <a:t>HdfsClient</a:t>
            </a:r>
            <a:r>
              <a:rPr lang="zh-CN" altLang="en-US" sz="2400" dirty="0"/>
              <a:t>的实例完成。</a:t>
            </a:r>
          </a:p>
          <a:p>
            <a:pPr>
              <a:lnSpc>
                <a:spcPct val="120000"/>
              </a:lnSpc>
            </a:pPr>
            <a:r>
              <a:rPr lang="zh-CN" altLang="en-US" sz="2400" dirty="0"/>
              <a:t>除了一些关键字参数外，所有函数都会将任意查询参数直接传递给</a:t>
            </a:r>
            <a:r>
              <a:rPr lang="en-US" altLang="zh-CN" sz="2400" dirty="0" err="1"/>
              <a:t>WebHDFS</a:t>
            </a:r>
            <a:r>
              <a:rPr lang="zh-CN" altLang="en-US" sz="2400" dirty="0"/>
              <a:t>。特别的，任何函数都将接受用户名</a:t>
            </a:r>
            <a:r>
              <a:rPr lang="en-US" altLang="zh-CN" sz="2400" dirty="0"/>
              <a:t>user.name</a:t>
            </a:r>
            <a:r>
              <a:rPr lang="zh-CN" altLang="en-US" sz="2400" dirty="0"/>
              <a:t>或者</a:t>
            </a:r>
            <a:r>
              <a:rPr lang="en-US" altLang="zh-CN" sz="2400" dirty="0" err="1"/>
              <a:t>user_name</a:t>
            </a:r>
            <a:r>
              <a:rPr lang="zh-CN" altLang="en-US" sz="2400" dirty="0"/>
              <a:t>。</a:t>
            </a:r>
          </a:p>
          <a:p>
            <a:pPr>
              <a:lnSpc>
                <a:spcPct val="120000"/>
              </a:lnSpc>
            </a:pPr>
            <a:r>
              <a:rPr lang="zh-CN" altLang="en-US" sz="2400" dirty="0"/>
              <a:t>对于</a:t>
            </a:r>
            <a:r>
              <a:rPr lang="en-US" altLang="zh-CN" sz="2400" dirty="0"/>
              <a:t>Python</a:t>
            </a:r>
            <a:r>
              <a:rPr lang="zh-CN" altLang="en-US" sz="2400" dirty="0"/>
              <a:t>语言，其函数经常使用</a:t>
            </a:r>
            <a:r>
              <a:rPr lang="en-US" altLang="zh-CN" sz="2400" dirty="0"/>
              <a:t>“**</a:t>
            </a:r>
            <a:r>
              <a:rPr lang="en-US" altLang="zh-CN" sz="2400" dirty="0" err="1"/>
              <a:t>kwarg</a:t>
            </a:r>
            <a:r>
              <a:rPr lang="en-US" altLang="zh-CN" sz="2400" dirty="0"/>
              <a:t>”</a:t>
            </a:r>
            <a:r>
              <a:rPr lang="zh-CN" altLang="en-US" sz="2400" dirty="0"/>
              <a:t>来传递不常用、且个数可变的参数。在本节的剩余部分，部分函数参数说明中列出了可用的关键参数，其用法为</a:t>
            </a:r>
            <a:r>
              <a:rPr lang="en-US" altLang="zh-CN" sz="2400" dirty="0"/>
              <a:t>"</a:t>
            </a:r>
            <a:r>
              <a:rPr lang="zh-CN" altLang="en-US" sz="2400" dirty="0"/>
              <a:t>参数名</a:t>
            </a:r>
            <a:r>
              <a:rPr lang="en-US" altLang="zh-CN" sz="2400" dirty="0"/>
              <a:t>=</a:t>
            </a:r>
            <a:r>
              <a:rPr lang="zh-CN" altLang="en-US" sz="2400" dirty="0"/>
              <a:t>参数值</a:t>
            </a:r>
            <a:r>
              <a:rPr lang="en-US" altLang="zh-CN" sz="2400" dirty="0"/>
              <a:t>"</a:t>
            </a:r>
            <a:r>
              <a:rPr lang="zh-CN" altLang="en-US" sz="2400" dirty="0"/>
              <a:t>的模式。</a:t>
            </a:r>
          </a:p>
          <a:p>
            <a:pPr marL="400050" lvl="1" indent="0">
              <a:buNone/>
            </a:pPr>
            <a:endParaRPr lang="en-US" altLang="zh-CN" sz="2400" dirty="0"/>
          </a:p>
        </p:txBody>
      </p:sp>
    </p:spTree>
    <p:extLst>
      <p:ext uri="{BB962C8B-B14F-4D97-AF65-F5344CB8AC3E}">
        <p14:creationId xmlns:p14="http://schemas.microsoft.com/office/powerpoint/2010/main" val="27900259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521296" y="879562"/>
            <a:ext cx="8101408" cy="4032448"/>
          </a:xfrm>
        </p:spPr>
        <p:txBody>
          <a:bodyPr>
            <a:normAutofit fontScale="92500" lnSpcReduction="20000"/>
          </a:bodyPr>
          <a:lstStyle/>
          <a:p>
            <a:pPr>
              <a:lnSpc>
                <a:spcPct val="120000"/>
              </a:lnSpc>
            </a:pPr>
            <a:r>
              <a:rPr lang="en-US" altLang="zh-CN" sz="2400" dirty="0" err="1"/>
              <a:t>HdfsClient</a:t>
            </a:r>
            <a:r>
              <a:rPr lang="zh-CN" altLang="en-US" sz="2400" dirty="0"/>
              <a:t>类对象的构造函数：</a:t>
            </a:r>
            <a:endParaRPr lang="en-US" altLang="zh-CN" sz="2400" dirty="0"/>
          </a:p>
          <a:p>
            <a:pPr>
              <a:lnSpc>
                <a:spcPct val="120000"/>
              </a:lnSpc>
            </a:pPr>
            <a:endParaRPr lang="en-US" altLang="zh-CN" sz="2400" dirty="0"/>
          </a:p>
          <a:p>
            <a:pPr>
              <a:lnSpc>
                <a:spcPct val="120000"/>
              </a:lnSpc>
            </a:pPr>
            <a:endParaRPr lang="en-US" altLang="zh-CN" sz="2400" dirty="0"/>
          </a:p>
          <a:p>
            <a:pPr>
              <a:lnSpc>
                <a:spcPct val="120000"/>
              </a:lnSpc>
            </a:pPr>
            <a:endParaRPr lang="en-US" altLang="zh-CN" sz="2400" dirty="0"/>
          </a:p>
          <a:p>
            <a:pPr>
              <a:lnSpc>
                <a:spcPct val="120000"/>
              </a:lnSpc>
            </a:pPr>
            <a:endParaRPr lang="en-US" altLang="zh-CN" sz="2400" dirty="0"/>
          </a:p>
          <a:p>
            <a:pPr>
              <a:lnSpc>
                <a:spcPct val="120000"/>
              </a:lnSpc>
            </a:pPr>
            <a:r>
              <a:rPr lang="zh-CN" altLang="en-US" sz="2400" dirty="0"/>
              <a:t>参数说明：</a:t>
            </a:r>
          </a:p>
          <a:p>
            <a:pPr lvl="1">
              <a:lnSpc>
                <a:spcPct val="120000"/>
              </a:lnSpc>
            </a:pPr>
            <a:r>
              <a:rPr lang="en-US" altLang="zh-CN" sz="2000" dirty="0"/>
              <a:t>Hosts</a:t>
            </a:r>
            <a:r>
              <a:rPr lang="zh-CN" altLang="en-US" sz="2000" dirty="0"/>
              <a:t>：</a:t>
            </a:r>
            <a:r>
              <a:rPr lang="en-US" altLang="zh-CN" sz="2000" dirty="0" err="1"/>
              <a:t>NameNode</a:t>
            </a:r>
            <a:r>
              <a:rPr lang="zh-CN" altLang="en-US" sz="2000" dirty="0"/>
              <a:t>的</a:t>
            </a:r>
            <a:r>
              <a:rPr lang="en-US" altLang="zh-CN" sz="2000" dirty="0"/>
              <a:t>HTTP</a:t>
            </a:r>
            <a:r>
              <a:rPr lang="zh-CN" altLang="en-US" sz="2000" dirty="0"/>
              <a:t>主机列表，主机名或</a:t>
            </a:r>
            <a:r>
              <a:rPr lang="en-US" altLang="zh-CN" sz="2000" dirty="0"/>
              <a:t>IP</a:t>
            </a:r>
            <a:r>
              <a:rPr lang="zh-CN" altLang="en-US" sz="2000" dirty="0"/>
              <a:t>地址与端口号之间需要</a:t>
            </a:r>
            <a:r>
              <a:rPr lang="zh-CN" altLang="en-US" sz="2000"/>
              <a:t>用</a:t>
            </a:r>
            <a:r>
              <a:rPr lang="en-US" altLang="zh-CN" sz="2000"/>
              <a:t>":"</a:t>
            </a:r>
            <a:r>
              <a:rPr lang="zh-CN" altLang="en-US" sz="2000" dirty="0"/>
              <a:t>隔开，例如：</a:t>
            </a:r>
            <a:r>
              <a:rPr lang="en-US" altLang="zh-CN" sz="2000" dirty="0"/>
              <a:t>hosts= </a:t>
            </a:r>
            <a:r>
              <a:rPr lang="en-US" altLang="zh-CN" sz="2000"/>
              <a:t>"45.91.43.237:9870</a:t>
            </a:r>
            <a:r>
              <a:rPr lang="en-US" altLang="zh-CN" sz="2000" dirty="0"/>
              <a:t>" </a:t>
            </a:r>
            <a:r>
              <a:rPr lang="zh-CN" altLang="en-US" sz="2000" dirty="0"/>
              <a:t>；当有多个主机时可以传入字符串列表，例如：</a:t>
            </a:r>
            <a:r>
              <a:rPr lang="en-US" altLang="zh-CN" sz="2000"/>
              <a:t>["47.95.45.254: </a:t>
            </a:r>
            <a:r>
              <a:rPr lang="en-US" altLang="zh-CN" sz="2000" dirty="0"/>
              <a:t>9870", </a:t>
            </a:r>
            <a:r>
              <a:rPr lang="en-US" altLang="zh-CN" sz="2000"/>
              <a:t>"47.95.45.235: </a:t>
            </a:r>
            <a:r>
              <a:rPr lang="en-US" altLang="zh-CN" sz="2000" dirty="0"/>
              <a:t>9870"]</a:t>
            </a:r>
            <a:r>
              <a:rPr lang="zh-CN" altLang="en-US" sz="2000" dirty="0"/>
              <a:t>。</a:t>
            </a:r>
          </a:p>
          <a:p>
            <a:pPr lvl="1">
              <a:lnSpc>
                <a:spcPct val="120000"/>
              </a:lnSpc>
            </a:pPr>
            <a:r>
              <a:rPr lang="en-US" altLang="zh-CN" sz="2000" dirty="0" err="1"/>
              <a:t>randomize_hosts</a:t>
            </a:r>
            <a:r>
              <a:rPr lang="zh-CN" altLang="en-US" sz="2000" dirty="0"/>
              <a:t>：是否可以随机选择</a:t>
            </a:r>
            <a:r>
              <a:rPr lang="en-US" altLang="zh-CN" sz="2000" dirty="0"/>
              <a:t>host</a:t>
            </a:r>
            <a:r>
              <a:rPr lang="zh-CN" altLang="en-US" sz="2000" dirty="0"/>
              <a:t>进行连接，默认为</a:t>
            </a:r>
            <a:r>
              <a:rPr lang="en-US" altLang="zh-CN" sz="2000" dirty="0"/>
              <a:t>True</a:t>
            </a:r>
            <a:r>
              <a:rPr lang="zh-CN" altLang="en-US" sz="2000" dirty="0"/>
              <a:t>；</a:t>
            </a:r>
          </a:p>
        </p:txBody>
      </p:sp>
      <p:pic>
        <p:nvPicPr>
          <p:cNvPr id="5" name="图片 4">
            <a:extLst>
              <a:ext uri="{FF2B5EF4-FFF2-40B4-BE49-F238E27FC236}">
                <a16:creationId xmlns:a16="http://schemas.microsoft.com/office/drawing/2014/main" id="{FC699C53-E0DF-408C-8701-DFECCD5C61B6}"/>
              </a:ext>
            </a:extLst>
          </p:cNvPr>
          <p:cNvPicPr>
            <a:picLocks noChangeAspect="1"/>
          </p:cNvPicPr>
          <p:nvPr/>
        </p:nvPicPr>
        <p:blipFill rotWithShape="1">
          <a:blip r:embed="rId2">
            <a:extLst>
              <a:ext uri="{28A0092B-C50C-407E-A947-70E740481C1C}">
                <a14:useLocalDpi xmlns:a14="http://schemas.microsoft.com/office/drawing/2010/main" val="0"/>
              </a:ext>
            </a:extLst>
          </a:blip>
          <a:srcRect t="2450"/>
          <a:stretch/>
        </p:blipFill>
        <p:spPr>
          <a:xfrm>
            <a:off x="809836" y="1273464"/>
            <a:ext cx="7524328" cy="1622322"/>
          </a:xfrm>
          <a:prstGeom prst="rect">
            <a:avLst/>
          </a:prstGeom>
        </p:spPr>
      </p:pic>
    </p:spTree>
    <p:extLst>
      <p:ext uri="{BB962C8B-B14F-4D97-AF65-F5344CB8AC3E}">
        <p14:creationId xmlns:p14="http://schemas.microsoft.com/office/powerpoint/2010/main" val="125334478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144016" y="987574"/>
            <a:ext cx="8101408" cy="3924436"/>
          </a:xfrm>
        </p:spPr>
        <p:txBody>
          <a:bodyPr>
            <a:normAutofit fontScale="70000" lnSpcReduction="20000"/>
          </a:bodyPr>
          <a:lstStyle/>
          <a:p>
            <a:pPr lvl="1">
              <a:lnSpc>
                <a:spcPct val="120000"/>
              </a:lnSpc>
            </a:pPr>
            <a:r>
              <a:rPr lang="en-US" altLang="zh-CN" sz="2600" dirty="0" err="1"/>
              <a:t>user_name</a:t>
            </a:r>
            <a:r>
              <a:rPr lang="zh-CN" altLang="en-US" sz="2600" dirty="0"/>
              <a:t>：连接的</a:t>
            </a:r>
            <a:r>
              <a:rPr lang="en-US" altLang="zh-CN" sz="2600" dirty="0"/>
              <a:t>Hadoop</a:t>
            </a:r>
            <a:r>
              <a:rPr lang="zh-CN" altLang="en-US" sz="2600" dirty="0"/>
              <a:t>平台的用户名，如果有设置环境变量</a:t>
            </a:r>
            <a:r>
              <a:rPr lang="en-US" altLang="zh-CN" sz="2600" dirty="0"/>
              <a:t>HADOOP_USER_NAME</a:t>
            </a:r>
            <a:r>
              <a:rPr lang="zh-CN" altLang="en-US" sz="2600" dirty="0"/>
              <a:t>，则缺省使用该变量，否则调用</a:t>
            </a:r>
            <a:r>
              <a:rPr lang="en-US" altLang="zh-CN" sz="2600" dirty="0" err="1"/>
              <a:t>getpass.getuser</a:t>
            </a:r>
            <a:r>
              <a:rPr lang="en-US" altLang="zh-CN" sz="2600" dirty="0"/>
              <a:t>()</a:t>
            </a:r>
            <a:r>
              <a:rPr lang="zh-CN" altLang="en-US" sz="2600" dirty="0"/>
              <a:t>获取用户名；</a:t>
            </a:r>
          </a:p>
          <a:p>
            <a:pPr lvl="1">
              <a:lnSpc>
                <a:spcPct val="120000"/>
              </a:lnSpc>
            </a:pPr>
            <a:r>
              <a:rPr lang="en-US" altLang="zh-CN" sz="2600" dirty="0"/>
              <a:t>timeout</a:t>
            </a:r>
            <a:r>
              <a:rPr lang="zh-CN" altLang="en-US" sz="2600" dirty="0"/>
              <a:t>：每个</a:t>
            </a:r>
            <a:r>
              <a:rPr lang="en-US" altLang="zh-CN" sz="2600" dirty="0" err="1"/>
              <a:t>Namenode</a:t>
            </a:r>
            <a:r>
              <a:rPr lang="zh-CN" altLang="en-US" sz="2600" dirty="0"/>
              <a:t>的</a:t>
            </a:r>
            <a:r>
              <a:rPr lang="en-US" altLang="zh-CN" sz="2600" dirty="0"/>
              <a:t>HTTP</a:t>
            </a:r>
            <a:r>
              <a:rPr lang="zh-CN" altLang="en-US" sz="2600" dirty="0"/>
              <a:t>主机连接等待的秒数，默认为</a:t>
            </a:r>
            <a:r>
              <a:rPr lang="en-US" altLang="zh-CN" sz="2600" dirty="0"/>
              <a:t>20</a:t>
            </a:r>
            <a:r>
              <a:rPr lang="zh-CN" altLang="en-US" sz="2600" dirty="0"/>
              <a:t>秒；该设置为了避免有些主机没有响应情况下导致的阻塞。</a:t>
            </a:r>
          </a:p>
          <a:p>
            <a:pPr lvl="1">
              <a:lnSpc>
                <a:spcPct val="120000"/>
              </a:lnSpc>
            </a:pPr>
            <a:r>
              <a:rPr lang="en-US" altLang="zh-CN" sz="2600" dirty="0" err="1"/>
              <a:t>max_tries</a:t>
            </a:r>
            <a:r>
              <a:rPr lang="zh-CN" altLang="en-US" sz="2600" dirty="0"/>
              <a:t>：每个</a:t>
            </a:r>
            <a:r>
              <a:rPr lang="en-US" altLang="zh-CN" sz="2600" dirty="0" err="1"/>
              <a:t>Namenode</a:t>
            </a:r>
            <a:r>
              <a:rPr lang="zh-CN" altLang="en-US" sz="2600" dirty="0"/>
              <a:t>节点尝试连接的次数，默认为</a:t>
            </a:r>
            <a:r>
              <a:rPr lang="en-US" altLang="zh-CN" sz="2600" dirty="0"/>
              <a:t>2</a:t>
            </a:r>
            <a:r>
              <a:rPr lang="zh-CN" altLang="en-US" sz="2600" dirty="0"/>
              <a:t>次；</a:t>
            </a:r>
          </a:p>
          <a:p>
            <a:pPr lvl="1">
              <a:lnSpc>
                <a:spcPct val="120000"/>
              </a:lnSpc>
            </a:pPr>
            <a:r>
              <a:rPr lang="en-US" altLang="zh-CN" sz="2600" dirty="0" err="1"/>
              <a:t>retry_delay</a:t>
            </a:r>
            <a:r>
              <a:rPr lang="zh-CN" altLang="en-US" sz="2600" dirty="0"/>
              <a:t>：在尝试连接一个</a:t>
            </a:r>
            <a:r>
              <a:rPr lang="en-US" altLang="zh-CN" sz="2600" dirty="0" err="1"/>
              <a:t>Namenode</a:t>
            </a:r>
            <a:r>
              <a:rPr lang="zh-CN" altLang="en-US" sz="2600" dirty="0"/>
              <a:t>节点失败后，尝试连接下一个</a:t>
            </a:r>
            <a:r>
              <a:rPr lang="en-US" altLang="zh-CN" sz="2600" dirty="0" err="1"/>
              <a:t>Namenode</a:t>
            </a:r>
            <a:r>
              <a:rPr lang="zh-CN" altLang="en-US" sz="2600" dirty="0"/>
              <a:t>的时间间隔，默认</a:t>
            </a:r>
            <a:r>
              <a:rPr lang="en-US" altLang="zh-CN" sz="2600" dirty="0"/>
              <a:t>5</a:t>
            </a:r>
            <a:r>
              <a:rPr lang="zh-CN" altLang="en-US" sz="2600" dirty="0"/>
              <a:t>秒；</a:t>
            </a:r>
          </a:p>
          <a:p>
            <a:pPr lvl="1">
              <a:lnSpc>
                <a:spcPct val="120000"/>
              </a:lnSpc>
            </a:pPr>
            <a:r>
              <a:rPr lang="en-US" altLang="zh-CN" sz="2600" dirty="0" err="1"/>
              <a:t>requests_session</a:t>
            </a:r>
            <a:r>
              <a:rPr lang="zh-CN" altLang="en-US" sz="2600" dirty="0"/>
              <a:t>：连接</a:t>
            </a:r>
            <a:r>
              <a:rPr lang="en-US" altLang="zh-CN" sz="2600" dirty="0"/>
              <a:t>HDFS</a:t>
            </a:r>
            <a:r>
              <a:rPr lang="zh-CN" altLang="en-US" sz="2600" dirty="0"/>
              <a:t>的</a:t>
            </a:r>
            <a:r>
              <a:rPr lang="en-US" altLang="zh-CN" sz="2600" dirty="0"/>
              <a:t>HTTP request</a:t>
            </a:r>
            <a:r>
              <a:rPr lang="zh-CN" altLang="en-US" sz="2600" dirty="0"/>
              <a:t>请求使用的</a:t>
            </a:r>
            <a:r>
              <a:rPr lang="en-US" altLang="zh-CN" sz="2600" dirty="0"/>
              <a:t>session</a:t>
            </a:r>
            <a:r>
              <a:rPr lang="zh-CN" altLang="en-US" sz="2600" dirty="0"/>
              <a:t>，默认为</a:t>
            </a:r>
            <a:r>
              <a:rPr lang="en-US" altLang="zh-CN" sz="2600" dirty="0"/>
              <a:t>None</a:t>
            </a:r>
            <a:r>
              <a:rPr lang="zh-CN" altLang="en-US" sz="2600" dirty="0"/>
              <a:t>，为每个</a:t>
            </a:r>
            <a:r>
              <a:rPr lang="en-US" altLang="zh-CN" sz="2600" dirty="0"/>
              <a:t>HTTP</a:t>
            </a:r>
            <a:r>
              <a:rPr lang="zh-CN" altLang="en-US" sz="2600" dirty="0"/>
              <a:t>请求使用一个新的</a:t>
            </a:r>
            <a:r>
              <a:rPr lang="en-US" altLang="zh-CN" sz="2600" dirty="0"/>
              <a:t>session</a:t>
            </a:r>
            <a:r>
              <a:rPr lang="zh-CN" altLang="en-US" sz="2600" dirty="0"/>
              <a:t>，调用者需要负责</a:t>
            </a:r>
            <a:r>
              <a:rPr lang="en-US" altLang="zh-CN" sz="2600" dirty="0"/>
              <a:t>session</a:t>
            </a:r>
            <a:r>
              <a:rPr lang="zh-CN" altLang="en-US" sz="2600" dirty="0"/>
              <a:t>的关闭；</a:t>
            </a:r>
          </a:p>
          <a:p>
            <a:pPr lvl="1">
              <a:lnSpc>
                <a:spcPct val="120000"/>
              </a:lnSpc>
            </a:pPr>
            <a:r>
              <a:rPr lang="en-US" altLang="zh-CN" sz="2600" dirty="0" err="1"/>
              <a:t>requests_kwargs</a:t>
            </a:r>
            <a:r>
              <a:rPr lang="zh-CN" altLang="en-US" sz="2600" dirty="0"/>
              <a:t>：其他需要传递给</a:t>
            </a:r>
            <a:r>
              <a:rPr lang="en-US" altLang="zh-CN" sz="2600" dirty="0" err="1"/>
              <a:t>WebHDFS</a:t>
            </a:r>
            <a:r>
              <a:rPr lang="zh-CN" altLang="en-US" sz="2600" dirty="0"/>
              <a:t>的参数。</a:t>
            </a:r>
          </a:p>
          <a:p>
            <a:pPr marL="400050" lvl="1" indent="0">
              <a:buNone/>
            </a:pPr>
            <a:endParaRPr lang="en-US" altLang="zh-CN" sz="2400" dirty="0"/>
          </a:p>
        </p:txBody>
      </p:sp>
    </p:spTree>
    <p:extLst>
      <p:ext uri="{BB962C8B-B14F-4D97-AF65-F5344CB8AC3E}">
        <p14:creationId xmlns:p14="http://schemas.microsoft.com/office/powerpoint/2010/main" val="76335406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144016" y="987574"/>
            <a:ext cx="8101408" cy="3924436"/>
          </a:xfrm>
        </p:spPr>
        <p:txBody>
          <a:bodyPr>
            <a:normAutofit/>
          </a:bodyPr>
          <a:lstStyle/>
          <a:p>
            <a:pPr>
              <a:lnSpc>
                <a:spcPct val="120000"/>
              </a:lnSpc>
            </a:pPr>
            <a:r>
              <a:rPr lang="en-US" altLang="zh-CN" sz="2200" dirty="0"/>
              <a:t>【</a:t>
            </a:r>
            <a:r>
              <a:rPr lang="zh-CN" altLang="en-US" sz="2200" dirty="0"/>
              <a:t>例</a:t>
            </a:r>
            <a:r>
              <a:rPr lang="en-US" altLang="zh-CN" sz="2200" dirty="0"/>
              <a:t>4.19】</a:t>
            </a:r>
            <a:r>
              <a:rPr lang="zh-CN" altLang="en-US" sz="2200" dirty="0"/>
              <a:t>利用</a:t>
            </a:r>
            <a:r>
              <a:rPr lang="en-US" altLang="zh-CN" sz="2200" dirty="0" err="1"/>
              <a:t>HdfsClient</a:t>
            </a:r>
            <a:r>
              <a:rPr lang="zh-CN" altLang="en-US" sz="2200" dirty="0"/>
              <a:t>构造一个客户端对象</a:t>
            </a:r>
            <a:r>
              <a:rPr lang="en-US" altLang="zh-CN" sz="2200" dirty="0"/>
              <a:t>client</a:t>
            </a:r>
            <a:r>
              <a:rPr lang="zh-CN" altLang="en-US" sz="2200" dirty="0"/>
              <a:t>，其设置可连接主机为</a:t>
            </a:r>
            <a:r>
              <a:rPr lang="en-US" altLang="zh-CN" sz="2200" dirty="0" err="1"/>
              <a:t>namenode</a:t>
            </a:r>
            <a:r>
              <a:rPr lang="zh-CN" altLang="en-US" sz="2200" dirty="0"/>
              <a:t>以及</a:t>
            </a:r>
            <a:r>
              <a:rPr lang="en-US" altLang="zh-CN" sz="2200" dirty="0" err="1"/>
              <a:t>second_namenode</a:t>
            </a:r>
            <a:r>
              <a:rPr lang="zh-CN" altLang="en-US" sz="2200" dirty="0"/>
              <a:t>。这两个主机按照顺序建立连接，先连接主</a:t>
            </a:r>
            <a:r>
              <a:rPr lang="en-US" altLang="zh-CN" sz="2200" dirty="0" err="1"/>
              <a:t>namenode</a:t>
            </a:r>
            <a:r>
              <a:rPr lang="zh-CN" altLang="en-US" sz="2200" dirty="0"/>
              <a:t>，连接不成功时再连接</a:t>
            </a:r>
            <a:r>
              <a:rPr lang="en-US" altLang="zh-CN" sz="2200" dirty="0" err="1"/>
              <a:t>second_namenode</a:t>
            </a:r>
            <a:r>
              <a:rPr lang="zh-CN" altLang="en-US" sz="2200" dirty="0"/>
              <a:t>，连接用户名为”</a:t>
            </a:r>
            <a:r>
              <a:rPr lang="en-US" altLang="zh-CN" sz="2200" dirty="0"/>
              <a:t>root”</a:t>
            </a:r>
            <a:r>
              <a:rPr lang="zh-CN" altLang="en-US" sz="2200" dirty="0"/>
              <a:t>。该操作将返回一个</a:t>
            </a:r>
            <a:r>
              <a:rPr lang="en-US" altLang="zh-CN" sz="2200" dirty="0" err="1"/>
              <a:t>HdfsClient</a:t>
            </a:r>
            <a:r>
              <a:rPr lang="zh-CN" altLang="en-US" sz="2200" dirty="0"/>
              <a:t>对象。</a:t>
            </a:r>
            <a:endParaRPr lang="en-US" altLang="zh-CN" sz="2200" dirty="0"/>
          </a:p>
        </p:txBody>
      </p:sp>
      <p:graphicFrame>
        <p:nvGraphicFramePr>
          <p:cNvPr id="3" name="表格 2">
            <a:extLst>
              <a:ext uri="{FF2B5EF4-FFF2-40B4-BE49-F238E27FC236}">
                <a16:creationId xmlns:a16="http://schemas.microsoft.com/office/drawing/2014/main" id="{324E71B8-5F7B-4F11-A699-2116B751910B}"/>
              </a:ext>
            </a:extLst>
          </p:cNvPr>
          <p:cNvGraphicFramePr>
            <a:graphicFrameLocks noGrp="1"/>
          </p:cNvGraphicFramePr>
          <p:nvPr>
            <p:extLst>
              <p:ext uri="{D42A27DB-BD31-4B8C-83A1-F6EECF244321}">
                <p14:modId xmlns:p14="http://schemas.microsoft.com/office/powerpoint/2010/main" val="1637577449"/>
              </p:ext>
            </p:extLst>
          </p:nvPr>
        </p:nvGraphicFramePr>
        <p:xfrm>
          <a:off x="1187624" y="3435846"/>
          <a:ext cx="7128792" cy="636969"/>
        </p:xfrm>
        <a:graphic>
          <a:graphicData uri="http://schemas.openxmlformats.org/drawingml/2006/table">
            <a:tbl>
              <a:tblPr firstRow="1" firstCol="1" bandRow="1">
                <a:tableStyleId>{5C22544A-7EE6-4342-B048-85BDC9FD1C3A}</a:tableStyleId>
              </a:tblPr>
              <a:tblGrid>
                <a:gridCol w="7128792">
                  <a:extLst>
                    <a:ext uri="{9D8B030D-6E8A-4147-A177-3AD203B41FA5}">
                      <a16:colId xmlns:a16="http://schemas.microsoft.com/office/drawing/2014/main" val="3461210843"/>
                    </a:ext>
                  </a:extLst>
                </a:gridCol>
              </a:tblGrid>
              <a:tr h="0">
                <a:tc>
                  <a:txBody>
                    <a:bodyPr/>
                    <a:lstStyle/>
                    <a:p>
                      <a:pPr algn="l">
                        <a:lnSpc>
                          <a:spcPct val="120000"/>
                        </a:lnSpc>
                        <a:spcAft>
                          <a:spcPts val="0"/>
                        </a:spcAft>
                      </a:pPr>
                      <a:r>
                        <a:rPr lang="en-US" sz="1800" kern="100">
                          <a:effectLst/>
                        </a:rPr>
                        <a:t>Client = pyhdfs.HdfsClient(hosts=["namenode:9870", "second_namenode:9870"],  randomize_hosts= False, user_name="root")</a:t>
                      </a:r>
                      <a:endParaRPr lang="zh-CN" sz="18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840048476"/>
                  </a:ext>
                </a:extLst>
              </a:tr>
            </a:tbl>
          </a:graphicData>
        </a:graphic>
      </p:graphicFrame>
    </p:spTree>
    <p:extLst>
      <p:ext uri="{BB962C8B-B14F-4D97-AF65-F5344CB8AC3E}">
        <p14:creationId xmlns:p14="http://schemas.microsoft.com/office/powerpoint/2010/main" val="5179164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144016" y="987574"/>
            <a:ext cx="8101408" cy="3924436"/>
          </a:xfrm>
        </p:spPr>
        <p:txBody>
          <a:bodyPr>
            <a:normAutofit/>
          </a:bodyPr>
          <a:lstStyle/>
          <a:p>
            <a:pPr>
              <a:lnSpc>
                <a:spcPct val="120000"/>
              </a:lnSpc>
            </a:pPr>
            <a:r>
              <a:rPr lang="zh-CN" altLang="en-US" sz="2200" dirty="0"/>
              <a:t>接下来介绍类库中一些常用方法的功能及用法。</a:t>
            </a:r>
            <a:endParaRPr lang="en-US" altLang="zh-CN" sz="2200" dirty="0"/>
          </a:p>
          <a:p>
            <a:pPr>
              <a:lnSpc>
                <a:spcPct val="120000"/>
              </a:lnSpc>
            </a:pPr>
            <a:r>
              <a:rPr lang="zh-CN" altLang="en-US" sz="2200" dirty="0"/>
              <a:t>特别</a:t>
            </a:r>
            <a:r>
              <a:rPr lang="zh-CN" altLang="en-US" sz="2200"/>
              <a:t>注意，假设后续</a:t>
            </a:r>
            <a:r>
              <a:rPr lang="zh-CN" altLang="en-US" sz="2200" dirty="0"/>
              <a:t>应用实例中使用的</a:t>
            </a:r>
            <a:r>
              <a:rPr lang="en-US" altLang="zh-CN" sz="2200" dirty="0"/>
              <a:t>/</a:t>
            </a:r>
            <a:r>
              <a:rPr lang="en-US" altLang="zh-CN" sz="2200" dirty="0" err="1"/>
              <a:t>dir</a:t>
            </a:r>
            <a:r>
              <a:rPr lang="en-US" altLang="zh-CN" sz="2200" dirty="0"/>
              <a:t>/file</a:t>
            </a:r>
            <a:r>
              <a:rPr lang="zh-CN" altLang="en-US" sz="2200" dirty="0"/>
              <a:t>文件的初始内容为：</a:t>
            </a:r>
            <a:endParaRPr lang="en-US" altLang="zh-CN" sz="2200" dirty="0"/>
          </a:p>
        </p:txBody>
      </p:sp>
      <p:pic>
        <p:nvPicPr>
          <p:cNvPr id="6" name="图片 5">
            <a:extLst>
              <a:ext uri="{FF2B5EF4-FFF2-40B4-BE49-F238E27FC236}">
                <a16:creationId xmlns:a16="http://schemas.microsoft.com/office/drawing/2014/main" id="{6144CFB9-65B9-44BC-AC74-2F5B4DAF2E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35696" y="2643758"/>
            <a:ext cx="4065995" cy="703143"/>
          </a:xfrm>
          <a:prstGeom prst="rect">
            <a:avLst/>
          </a:prstGeom>
        </p:spPr>
      </p:pic>
    </p:spTree>
    <p:extLst>
      <p:ext uri="{BB962C8B-B14F-4D97-AF65-F5344CB8AC3E}">
        <p14:creationId xmlns:p14="http://schemas.microsoft.com/office/powerpoint/2010/main" val="23983407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323528" y="915566"/>
            <a:ext cx="8352928" cy="3924436"/>
          </a:xfrm>
        </p:spPr>
        <p:txBody>
          <a:bodyPr>
            <a:normAutofit/>
          </a:bodyPr>
          <a:lstStyle/>
          <a:p>
            <a:pPr marL="0" indent="0">
              <a:lnSpc>
                <a:spcPct val="120000"/>
              </a:lnSpc>
              <a:buNone/>
            </a:pPr>
            <a:r>
              <a:rPr lang="en-US" altLang="zh-CN" sz="2200" dirty="0"/>
              <a:t>1</a:t>
            </a:r>
            <a:r>
              <a:rPr lang="zh-CN" altLang="en-US" sz="2200" dirty="0"/>
              <a:t>．方法</a:t>
            </a:r>
            <a:r>
              <a:rPr lang="en-US" altLang="zh-CN" sz="2200" dirty="0"/>
              <a:t>append()</a:t>
            </a:r>
          </a:p>
          <a:p>
            <a:pPr>
              <a:lnSpc>
                <a:spcPct val="120000"/>
              </a:lnSpc>
            </a:pPr>
            <a:r>
              <a:rPr lang="zh-CN" altLang="en-US" sz="2200" dirty="0"/>
              <a:t>方法语法：</a:t>
            </a:r>
            <a:r>
              <a:rPr lang="en-US" altLang="zh-CN" sz="2200" dirty="0"/>
              <a:t>append(path: str, data: Union[bytes, IO[bytes]], **</a:t>
            </a:r>
            <a:r>
              <a:rPr lang="en-US" altLang="zh-CN" sz="2200" dirty="0" err="1"/>
              <a:t>kwargs</a:t>
            </a:r>
            <a:r>
              <a:rPr lang="en-US" altLang="zh-CN" sz="2200" dirty="0"/>
              <a:t>) → None</a:t>
            </a:r>
          </a:p>
          <a:p>
            <a:pPr>
              <a:lnSpc>
                <a:spcPct val="120000"/>
              </a:lnSpc>
            </a:pPr>
            <a:r>
              <a:rPr lang="zh-CN" altLang="en-US" sz="2200" dirty="0"/>
              <a:t>方法描述：该方法的功能是向一个文件末尾追加内容。</a:t>
            </a:r>
          </a:p>
          <a:p>
            <a:pPr>
              <a:lnSpc>
                <a:spcPct val="120000"/>
              </a:lnSpc>
            </a:pPr>
            <a:r>
              <a:rPr lang="zh-CN" altLang="en-US" sz="2200" dirty="0"/>
              <a:t>参数说明：</a:t>
            </a:r>
          </a:p>
          <a:p>
            <a:pPr lvl="1">
              <a:lnSpc>
                <a:spcPct val="120000"/>
              </a:lnSpc>
            </a:pPr>
            <a:r>
              <a:rPr lang="en-US" altLang="zh-CN" sz="2000" dirty="0"/>
              <a:t>path(str)</a:t>
            </a:r>
            <a:r>
              <a:rPr lang="zh-CN" altLang="en-US" sz="2000" dirty="0"/>
              <a:t>：目标文件名；</a:t>
            </a:r>
          </a:p>
          <a:p>
            <a:pPr lvl="1">
              <a:lnSpc>
                <a:spcPct val="120000"/>
              </a:lnSpc>
            </a:pPr>
            <a:r>
              <a:rPr lang="en-US" altLang="zh-CN" sz="2000" dirty="0"/>
              <a:t>data</a:t>
            </a:r>
            <a:r>
              <a:rPr lang="zh-CN" altLang="en-US" sz="2000" dirty="0"/>
              <a:t>：需要追加的数据，可以是</a:t>
            </a:r>
            <a:r>
              <a:rPr lang="en-US" altLang="zh-CN" sz="2000" dirty="0"/>
              <a:t>bytes</a:t>
            </a:r>
            <a:r>
              <a:rPr lang="zh-CN" altLang="en-US" sz="2000" dirty="0"/>
              <a:t>列表数据，也可以是类似</a:t>
            </a:r>
            <a:r>
              <a:rPr lang="en-US" altLang="zh-CN" sz="2000" dirty="0"/>
              <a:t>file</a:t>
            </a:r>
            <a:r>
              <a:rPr lang="zh-CN" altLang="en-US" sz="2000" dirty="0"/>
              <a:t>的对象；</a:t>
            </a:r>
          </a:p>
          <a:p>
            <a:pPr lvl="1">
              <a:lnSpc>
                <a:spcPct val="120000"/>
              </a:lnSpc>
            </a:pPr>
            <a:r>
              <a:rPr lang="en-US" altLang="zh-CN" sz="2000" dirty="0" err="1"/>
              <a:t>buffersize</a:t>
            </a:r>
            <a:r>
              <a:rPr lang="en-US" altLang="zh-CN" sz="2000" dirty="0"/>
              <a:t> (int)</a:t>
            </a:r>
            <a:r>
              <a:rPr lang="zh-CN" altLang="en-US" sz="2000" dirty="0"/>
              <a:t>：进行数据传输时利用的缓冲区大小。</a:t>
            </a:r>
          </a:p>
        </p:txBody>
      </p:sp>
    </p:spTree>
    <p:extLst>
      <p:ext uri="{BB962C8B-B14F-4D97-AF65-F5344CB8AC3E}">
        <p14:creationId xmlns:p14="http://schemas.microsoft.com/office/powerpoint/2010/main" val="420030615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251520" y="915566"/>
            <a:ext cx="8101408" cy="3924436"/>
          </a:xfrm>
        </p:spPr>
        <p:txBody>
          <a:bodyPr>
            <a:normAutofit/>
          </a:bodyPr>
          <a:lstStyle/>
          <a:p>
            <a:pPr marL="0" indent="0">
              <a:lnSpc>
                <a:spcPct val="120000"/>
              </a:lnSpc>
              <a:buNone/>
            </a:pPr>
            <a:r>
              <a:rPr lang="en-US" altLang="zh-CN" sz="2200" dirty="0"/>
              <a:t>【</a:t>
            </a:r>
            <a:r>
              <a:rPr lang="zh-CN" altLang="en-US" sz="2200" dirty="0"/>
              <a:t>例</a:t>
            </a:r>
            <a:r>
              <a:rPr lang="en-US" altLang="zh-CN" sz="2200" dirty="0"/>
              <a:t>4.20】</a:t>
            </a:r>
            <a:r>
              <a:rPr lang="zh-CN" altLang="en-US" sz="2200" dirty="0"/>
              <a:t>编写程序</a:t>
            </a:r>
            <a:r>
              <a:rPr lang="en-US" altLang="zh-CN" sz="2200" dirty="0"/>
              <a:t>Append1.py</a:t>
            </a:r>
            <a:r>
              <a:rPr lang="zh-CN" altLang="en-US" sz="2200" dirty="0"/>
              <a:t>，将本地文件“</a:t>
            </a:r>
            <a:r>
              <a:rPr lang="en-US" altLang="zh-CN" sz="2200" dirty="0"/>
              <a:t>/home/</a:t>
            </a:r>
            <a:r>
              <a:rPr lang="en-US" altLang="zh-CN" sz="2200" dirty="0" err="1"/>
              <a:t>hadoop</a:t>
            </a:r>
            <a:r>
              <a:rPr lang="en-US" altLang="zh-CN" sz="2200" dirty="0"/>
              <a:t>/bigdata/</a:t>
            </a:r>
            <a:r>
              <a:rPr lang="en-US" altLang="zh-CN" sz="2200" dirty="0" err="1"/>
              <a:t>pyhdfsTest</a:t>
            </a:r>
            <a:r>
              <a:rPr lang="en-US" altLang="zh-CN" sz="2200" dirty="0"/>
              <a:t>/file1”</a:t>
            </a:r>
            <a:r>
              <a:rPr lang="zh-CN" altLang="en-US" sz="2200" dirty="0"/>
              <a:t>的内容追加到</a:t>
            </a:r>
            <a:r>
              <a:rPr lang="en-US" altLang="zh-CN" sz="2200" dirty="0"/>
              <a:t>HDFS</a:t>
            </a:r>
            <a:r>
              <a:rPr lang="zh-CN" altLang="en-US" sz="2200" dirty="0"/>
              <a:t>中的</a:t>
            </a:r>
            <a:r>
              <a:rPr lang="en-US" altLang="zh-CN" sz="2200" dirty="0"/>
              <a:t>/</a:t>
            </a:r>
            <a:r>
              <a:rPr lang="en-US" altLang="zh-CN" sz="2200" dirty="0" err="1"/>
              <a:t>dir</a:t>
            </a:r>
            <a:r>
              <a:rPr lang="en-US" altLang="zh-CN" sz="2200" dirty="0"/>
              <a:t>/file</a:t>
            </a:r>
            <a:r>
              <a:rPr lang="zh-CN" altLang="en-US" sz="2200" dirty="0"/>
              <a:t>文件的末尾，程序代码如下。</a:t>
            </a:r>
            <a:endParaRPr lang="en-US" altLang="zh-CN" sz="2200" dirty="0"/>
          </a:p>
          <a:p>
            <a:pPr marL="0" indent="0">
              <a:lnSpc>
                <a:spcPct val="120000"/>
              </a:lnSpc>
              <a:buNone/>
            </a:pPr>
            <a:endParaRPr lang="en-US" altLang="zh-CN" sz="2200" dirty="0"/>
          </a:p>
          <a:p>
            <a:pPr marL="0" indent="0">
              <a:lnSpc>
                <a:spcPct val="120000"/>
              </a:lnSpc>
              <a:buNone/>
            </a:pPr>
            <a:endParaRPr lang="en-US" altLang="zh-CN" sz="2200" dirty="0"/>
          </a:p>
          <a:p>
            <a:pPr marL="0" indent="0">
              <a:lnSpc>
                <a:spcPct val="120000"/>
              </a:lnSpc>
              <a:buNone/>
            </a:pPr>
            <a:endParaRPr lang="en-US" altLang="zh-CN" sz="2200" dirty="0"/>
          </a:p>
          <a:p>
            <a:pPr marL="0" indent="0">
              <a:lnSpc>
                <a:spcPct val="120000"/>
              </a:lnSpc>
              <a:buNone/>
            </a:pPr>
            <a:r>
              <a:rPr lang="zh-CN" altLang="en-US" sz="2200" dirty="0"/>
              <a:t>程序执行及运行结果</a:t>
            </a:r>
            <a:endParaRPr lang="en-US" altLang="zh-CN" sz="2200" dirty="0"/>
          </a:p>
          <a:p>
            <a:pPr marL="0" indent="0">
              <a:lnSpc>
                <a:spcPct val="120000"/>
              </a:lnSpc>
              <a:buNone/>
            </a:pPr>
            <a:endParaRPr lang="en-US" altLang="zh-CN" sz="2200" dirty="0"/>
          </a:p>
        </p:txBody>
      </p:sp>
      <p:pic>
        <p:nvPicPr>
          <p:cNvPr id="6" name="图片 5">
            <a:extLst>
              <a:ext uri="{FF2B5EF4-FFF2-40B4-BE49-F238E27FC236}">
                <a16:creationId xmlns:a16="http://schemas.microsoft.com/office/drawing/2014/main" id="{90FF4559-5A6A-4D08-85DF-F4A8EF55A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2196139"/>
            <a:ext cx="7992888" cy="1363289"/>
          </a:xfrm>
          <a:prstGeom prst="rect">
            <a:avLst/>
          </a:prstGeom>
        </p:spPr>
      </p:pic>
      <p:pic>
        <p:nvPicPr>
          <p:cNvPr id="8" name="图片 7">
            <a:extLst>
              <a:ext uri="{FF2B5EF4-FFF2-40B4-BE49-F238E27FC236}">
                <a16:creationId xmlns:a16="http://schemas.microsoft.com/office/drawing/2014/main" id="{FE3B3842-0DE8-4279-8B26-E219F7B912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08" y="4011910"/>
            <a:ext cx="3147333" cy="1005927"/>
          </a:xfrm>
          <a:prstGeom prst="rect">
            <a:avLst/>
          </a:prstGeom>
        </p:spPr>
      </p:pic>
    </p:spTree>
    <p:extLst>
      <p:ext uri="{BB962C8B-B14F-4D97-AF65-F5344CB8AC3E}">
        <p14:creationId xmlns:p14="http://schemas.microsoft.com/office/powerpoint/2010/main" val="25266875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144016" y="987574"/>
            <a:ext cx="8101408" cy="3924436"/>
          </a:xfrm>
        </p:spPr>
        <p:txBody>
          <a:bodyPr>
            <a:normAutofit fontScale="85000" lnSpcReduction="20000"/>
          </a:bodyPr>
          <a:lstStyle/>
          <a:p>
            <a:pPr marL="0" indent="0">
              <a:lnSpc>
                <a:spcPct val="120000"/>
              </a:lnSpc>
              <a:buNone/>
            </a:pPr>
            <a:r>
              <a:rPr lang="en-US" altLang="zh-CN" sz="2200" dirty="0"/>
              <a:t>2</a:t>
            </a:r>
            <a:r>
              <a:rPr lang="zh-CN" altLang="en-US" sz="2200" dirty="0"/>
              <a:t>．方法</a:t>
            </a:r>
            <a:r>
              <a:rPr lang="en-US" altLang="zh-CN" sz="2200" dirty="0" err="1"/>
              <a:t>concat</a:t>
            </a:r>
            <a:r>
              <a:rPr lang="en-US" altLang="zh-CN" sz="2200" dirty="0"/>
              <a:t>()</a:t>
            </a:r>
          </a:p>
          <a:p>
            <a:pPr>
              <a:lnSpc>
                <a:spcPct val="120000"/>
              </a:lnSpc>
            </a:pPr>
            <a:r>
              <a:rPr lang="zh-CN" altLang="en-US" sz="2200" dirty="0"/>
              <a:t>方法语法：</a:t>
            </a:r>
            <a:r>
              <a:rPr lang="en-US" altLang="zh-CN" sz="2200" dirty="0" err="1"/>
              <a:t>concat</a:t>
            </a:r>
            <a:r>
              <a:rPr lang="en-US" altLang="zh-CN" sz="2200" dirty="0"/>
              <a:t>(target: str, sources: List[str], **</a:t>
            </a:r>
            <a:r>
              <a:rPr lang="en-US" altLang="zh-CN" sz="2200" dirty="0" err="1"/>
              <a:t>kwargs</a:t>
            </a:r>
            <a:r>
              <a:rPr lang="en-US" altLang="zh-CN" sz="2200" dirty="0"/>
              <a:t>) → None</a:t>
            </a:r>
          </a:p>
          <a:p>
            <a:pPr>
              <a:lnSpc>
                <a:spcPct val="120000"/>
              </a:lnSpc>
            </a:pPr>
            <a:r>
              <a:rPr lang="zh-CN" altLang="en-US" sz="2200" dirty="0"/>
              <a:t>方法描述：该方法的功能是将源文件列表中的文件合并为一个文件，将合并后的数据存放在目标文件中。若目标文件不存在，则抛出</a:t>
            </a:r>
            <a:r>
              <a:rPr lang="en-US" altLang="zh-CN" sz="2200" dirty="0" err="1"/>
              <a:t>FileNotFoundException</a:t>
            </a:r>
            <a:r>
              <a:rPr lang="zh-CN" altLang="en-US" sz="2200" dirty="0"/>
              <a:t>，若源文件列表为空，则抛出</a:t>
            </a:r>
            <a:r>
              <a:rPr lang="en-US" altLang="zh-CN" sz="2200" dirty="0" err="1"/>
              <a:t>IllegalArgumentException</a:t>
            </a:r>
            <a:r>
              <a:rPr lang="zh-CN" altLang="en-US" sz="2200" dirty="0"/>
              <a:t>；所有的源文件要和目标文件在同一个文件夹中，否则抛出</a:t>
            </a:r>
            <a:r>
              <a:rPr lang="en-US" altLang="zh-CN" sz="2200" dirty="0" err="1"/>
              <a:t>IllegalArgumentException</a:t>
            </a:r>
            <a:r>
              <a:rPr lang="zh-CN" altLang="en-US" sz="2200" dirty="0"/>
              <a:t>；所有源文件的块大小（</a:t>
            </a:r>
            <a:r>
              <a:rPr lang="en-US" altLang="zh-CN" sz="2200" dirty="0"/>
              <a:t>block sizes</a:t>
            </a:r>
            <a:r>
              <a:rPr lang="zh-CN" altLang="en-US" sz="2200" dirty="0"/>
              <a:t>）都必须与目标文件块大小一致；除最后一个文件外，其余所有源文件必须是一个完整的块；源文件不能重复。</a:t>
            </a:r>
          </a:p>
          <a:p>
            <a:pPr>
              <a:lnSpc>
                <a:spcPct val="120000"/>
              </a:lnSpc>
            </a:pPr>
            <a:r>
              <a:rPr lang="zh-CN" altLang="en-US" sz="2200" dirty="0"/>
              <a:t>参数说明：</a:t>
            </a:r>
          </a:p>
          <a:p>
            <a:pPr lvl="1">
              <a:lnSpc>
                <a:spcPct val="120000"/>
              </a:lnSpc>
            </a:pPr>
            <a:r>
              <a:rPr lang="en-US" altLang="zh-CN" sz="2400" dirty="0"/>
              <a:t>target</a:t>
            </a:r>
            <a:r>
              <a:rPr lang="zh-CN" altLang="en-US" sz="2400" dirty="0"/>
              <a:t>：目标文件，用于存放合并后的最终数据；</a:t>
            </a:r>
          </a:p>
          <a:p>
            <a:pPr lvl="1">
              <a:lnSpc>
                <a:spcPct val="120000"/>
              </a:lnSpc>
            </a:pPr>
            <a:r>
              <a:rPr lang="en-US" altLang="zh-CN" sz="2400" dirty="0"/>
              <a:t>source(list)</a:t>
            </a:r>
            <a:r>
              <a:rPr lang="zh-CN" altLang="en-US" sz="2400" dirty="0"/>
              <a:t>：需要合并的源文件列表；</a:t>
            </a:r>
          </a:p>
        </p:txBody>
      </p:sp>
    </p:spTree>
    <p:extLst>
      <p:ext uri="{BB962C8B-B14F-4D97-AF65-F5344CB8AC3E}">
        <p14:creationId xmlns:p14="http://schemas.microsoft.com/office/powerpoint/2010/main" val="391265461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144016" y="987574"/>
            <a:ext cx="8101408" cy="3924436"/>
          </a:xfrm>
        </p:spPr>
        <p:txBody>
          <a:bodyPr>
            <a:normAutofit/>
          </a:bodyPr>
          <a:lstStyle/>
          <a:p>
            <a:pPr marL="0" indent="0">
              <a:lnSpc>
                <a:spcPct val="120000"/>
              </a:lnSpc>
              <a:buNone/>
            </a:pPr>
            <a:r>
              <a:rPr lang="en-US" altLang="zh-CN" sz="2200" dirty="0"/>
              <a:t>【</a:t>
            </a:r>
            <a:r>
              <a:rPr lang="zh-CN" altLang="en-US" sz="2200" dirty="0"/>
              <a:t>例</a:t>
            </a:r>
            <a:r>
              <a:rPr lang="en-US" altLang="zh-CN" sz="2200" dirty="0"/>
              <a:t>4.22】</a:t>
            </a:r>
            <a:r>
              <a:rPr lang="zh-CN" altLang="en-US" sz="2200" dirty="0"/>
              <a:t>编写程序</a:t>
            </a:r>
            <a:r>
              <a:rPr lang="en-US" altLang="zh-CN" sz="2200" dirty="0"/>
              <a:t>hdfs_concat.py</a:t>
            </a:r>
            <a:r>
              <a:rPr lang="zh-CN" altLang="en-US" sz="2200" dirty="0"/>
              <a:t>，该程序实现将文件</a:t>
            </a:r>
            <a:r>
              <a:rPr lang="en-US" altLang="zh-CN" sz="2200" dirty="0"/>
              <a:t>file1</a:t>
            </a:r>
            <a:r>
              <a:rPr lang="zh-CN" altLang="en-US" sz="2200" dirty="0"/>
              <a:t>和文件</a:t>
            </a:r>
            <a:r>
              <a:rPr lang="en-US" altLang="zh-CN" sz="2200" dirty="0"/>
              <a:t>file2</a:t>
            </a:r>
            <a:r>
              <a:rPr lang="zh-CN" altLang="en-US" sz="2200" dirty="0"/>
              <a:t>的内容合并后存放到文件</a:t>
            </a:r>
            <a:r>
              <a:rPr lang="en-US" altLang="zh-CN" sz="2200" dirty="0" err="1"/>
              <a:t>newfile</a:t>
            </a:r>
            <a:r>
              <a:rPr lang="zh-CN" altLang="en-US" sz="2200" dirty="0"/>
              <a:t>中，其程序源码如下：</a:t>
            </a:r>
            <a:endParaRPr lang="zh-CN" altLang="en-US" sz="2400" dirty="0"/>
          </a:p>
        </p:txBody>
      </p:sp>
      <p:pic>
        <p:nvPicPr>
          <p:cNvPr id="5" name="图片 4">
            <a:extLst>
              <a:ext uri="{FF2B5EF4-FFF2-40B4-BE49-F238E27FC236}">
                <a16:creationId xmlns:a16="http://schemas.microsoft.com/office/drawing/2014/main" id="{3609712E-43A7-488D-B9AF-7234AE669E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544" y="1923678"/>
            <a:ext cx="7681626" cy="746825"/>
          </a:xfrm>
          <a:prstGeom prst="rect">
            <a:avLst/>
          </a:prstGeom>
        </p:spPr>
      </p:pic>
      <p:pic>
        <p:nvPicPr>
          <p:cNvPr id="7" name="图片 6">
            <a:extLst>
              <a:ext uri="{FF2B5EF4-FFF2-40B4-BE49-F238E27FC236}">
                <a16:creationId xmlns:a16="http://schemas.microsoft.com/office/drawing/2014/main" id="{2575ECB1-1DAC-4C87-B004-60DA2FFEC5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4" y="2804587"/>
            <a:ext cx="7887383" cy="2293819"/>
          </a:xfrm>
          <a:prstGeom prst="rect">
            <a:avLst/>
          </a:prstGeom>
        </p:spPr>
      </p:pic>
    </p:spTree>
    <p:extLst>
      <p:ext uri="{BB962C8B-B14F-4D97-AF65-F5344CB8AC3E}">
        <p14:creationId xmlns:p14="http://schemas.microsoft.com/office/powerpoint/2010/main" val="270275325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144016" y="987574"/>
            <a:ext cx="8388424" cy="3924436"/>
          </a:xfrm>
        </p:spPr>
        <p:txBody>
          <a:bodyPr>
            <a:normAutofit/>
          </a:bodyPr>
          <a:lstStyle/>
          <a:p>
            <a:pPr marL="0" indent="0">
              <a:lnSpc>
                <a:spcPct val="120000"/>
              </a:lnSpc>
              <a:buNone/>
            </a:pPr>
            <a:r>
              <a:rPr lang="en-US" altLang="zh-CN" sz="2200" dirty="0"/>
              <a:t>3</a:t>
            </a:r>
            <a:r>
              <a:rPr lang="zh-CN" altLang="en-US" sz="2200" dirty="0"/>
              <a:t>．方法</a:t>
            </a:r>
            <a:r>
              <a:rPr lang="en-US" altLang="zh-CN" sz="2200" dirty="0" err="1"/>
              <a:t>copy_from_local</a:t>
            </a:r>
            <a:r>
              <a:rPr lang="en-US" altLang="zh-CN" sz="2200" dirty="0"/>
              <a:t>()</a:t>
            </a:r>
          </a:p>
          <a:p>
            <a:pPr>
              <a:lnSpc>
                <a:spcPct val="120000"/>
              </a:lnSpc>
            </a:pPr>
            <a:r>
              <a:rPr lang="zh-CN" altLang="en-US" sz="2200" dirty="0"/>
              <a:t>方法语法：</a:t>
            </a:r>
            <a:r>
              <a:rPr lang="en-US" altLang="zh-CN" sz="2200" dirty="0" err="1"/>
              <a:t>copy_from_local</a:t>
            </a:r>
            <a:r>
              <a:rPr lang="en-US" altLang="zh-CN" sz="2200" dirty="0"/>
              <a:t>(</a:t>
            </a:r>
            <a:r>
              <a:rPr lang="en-US" altLang="zh-CN" sz="2200" dirty="0" err="1"/>
              <a:t>localsrc</a:t>
            </a:r>
            <a:r>
              <a:rPr lang="en-US" altLang="zh-CN" sz="2200" dirty="0"/>
              <a:t>: str, </a:t>
            </a:r>
            <a:r>
              <a:rPr lang="en-US" altLang="zh-CN" sz="2200" dirty="0" err="1"/>
              <a:t>dest</a:t>
            </a:r>
            <a:r>
              <a:rPr lang="en-US" altLang="zh-CN" sz="2200" dirty="0"/>
              <a:t>: str, **</a:t>
            </a:r>
            <a:r>
              <a:rPr lang="en-US" altLang="zh-CN" sz="2200" dirty="0" err="1"/>
              <a:t>kwargs</a:t>
            </a:r>
            <a:r>
              <a:rPr lang="en-US" altLang="zh-CN" sz="2200" dirty="0"/>
              <a:t>) → None</a:t>
            </a:r>
          </a:p>
          <a:p>
            <a:pPr>
              <a:lnSpc>
                <a:spcPct val="120000"/>
              </a:lnSpc>
            </a:pPr>
            <a:r>
              <a:rPr lang="zh-CN" altLang="en-US" sz="2200" dirty="0"/>
              <a:t>方法描述：该方法的功能是从本地文件系统复制一个文件到目标文件系统的指定目录下。</a:t>
            </a:r>
          </a:p>
          <a:p>
            <a:pPr>
              <a:lnSpc>
                <a:spcPct val="120000"/>
              </a:lnSpc>
            </a:pPr>
            <a:r>
              <a:rPr lang="zh-CN" altLang="en-US" sz="2200" dirty="0"/>
              <a:t>参数说明：</a:t>
            </a:r>
          </a:p>
          <a:p>
            <a:pPr marL="685800" lvl="1">
              <a:lnSpc>
                <a:spcPct val="120000"/>
              </a:lnSpc>
            </a:pPr>
            <a:r>
              <a:rPr lang="en-US" altLang="zh-CN" sz="1800" dirty="0" err="1"/>
              <a:t>localsrc</a:t>
            </a:r>
            <a:r>
              <a:rPr lang="en-US" altLang="zh-CN" sz="1800" dirty="0"/>
              <a:t>(str)</a:t>
            </a:r>
            <a:r>
              <a:rPr lang="zh-CN" altLang="en-US" sz="1800" dirty="0"/>
              <a:t>：本地文件系统中的文件名；</a:t>
            </a:r>
          </a:p>
          <a:p>
            <a:pPr marL="685800" lvl="1">
              <a:lnSpc>
                <a:spcPct val="120000"/>
              </a:lnSpc>
            </a:pPr>
            <a:r>
              <a:rPr lang="en-US" altLang="zh-CN" sz="1800" dirty="0" err="1"/>
              <a:t>dest</a:t>
            </a:r>
            <a:r>
              <a:rPr lang="en-US" altLang="zh-CN" sz="1800" dirty="0"/>
              <a:t>(str)</a:t>
            </a:r>
            <a:r>
              <a:rPr lang="zh-CN" altLang="en-US" sz="1800" dirty="0"/>
              <a:t>：目标系统中的文件名；</a:t>
            </a:r>
          </a:p>
        </p:txBody>
      </p:sp>
    </p:spTree>
    <p:extLst>
      <p:ext uri="{BB962C8B-B14F-4D97-AF65-F5344CB8AC3E}">
        <p14:creationId xmlns:p14="http://schemas.microsoft.com/office/powerpoint/2010/main" val="29709568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144016" y="987574"/>
            <a:ext cx="8101408" cy="3924436"/>
          </a:xfrm>
        </p:spPr>
        <p:txBody>
          <a:bodyPr>
            <a:normAutofit/>
          </a:bodyPr>
          <a:lstStyle/>
          <a:p>
            <a:pPr marL="0" indent="0">
              <a:lnSpc>
                <a:spcPct val="120000"/>
              </a:lnSpc>
              <a:buNone/>
            </a:pPr>
            <a:r>
              <a:rPr lang="en-US" altLang="zh-CN" sz="2200" dirty="0"/>
              <a:t>【</a:t>
            </a:r>
            <a:r>
              <a:rPr lang="zh-CN" altLang="en-US" sz="2200" dirty="0"/>
              <a:t>例</a:t>
            </a:r>
            <a:r>
              <a:rPr lang="en-US" altLang="zh-CN" sz="2200" dirty="0"/>
              <a:t>4.23】</a:t>
            </a:r>
            <a:r>
              <a:rPr lang="zh-CN" altLang="en-US" sz="2200" dirty="0"/>
              <a:t>编写程序</a:t>
            </a:r>
            <a:r>
              <a:rPr lang="en-US" altLang="zh-CN" sz="2200" dirty="0"/>
              <a:t>copy_from_local1.py</a:t>
            </a:r>
            <a:r>
              <a:rPr lang="zh-CN" altLang="en-US" sz="2200" dirty="0"/>
              <a:t>，该程序实现将本地文件系统中的文件</a:t>
            </a:r>
            <a:r>
              <a:rPr lang="en-US" altLang="zh-CN" sz="2200" dirty="0"/>
              <a:t>"/home/</a:t>
            </a:r>
            <a:r>
              <a:rPr lang="en-US" altLang="zh-CN" sz="2200" dirty="0" err="1"/>
              <a:t>hadoop</a:t>
            </a:r>
            <a:r>
              <a:rPr lang="en-US" altLang="zh-CN" sz="2200" dirty="0"/>
              <a:t>/bigdata/</a:t>
            </a:r>
            <a:r>
              <a:rPr lang="en-US" altLang="zh-CN" sz="2200" dirty="0" err="1"/>
              <a:t>pyhdfsTest</a:t>
            </a:r>
            <a:r>
              <a:rPr lang="en-US" altLang="zh-CN" sz="2200" dirty="0"/>
              <a:t>/file1"</a:t>
            </a:r>
            <a:r>
              <a:rPr lang="zh-CN" altLang="en-US" sz="2200" dirty="0"/>
              <a:t>复制到目标文件系统中“</a:t>
            </a:r>
            <a:r>
              <a:rPr lang="en-US" altLang="zh-CN" sz="2200" dirty="0"/>
              <a:t>/</a:t>
            </a:r>
            <a:r>
              <a:rPr lang="en-US" altLang="zh-CN" sz="2200" dirty="0" err="1"/>
              <a:t>dir</a:t>
            </a:r>
            <a:r>
              <a:rPr lang="en-US" altLang="zh-CN" sz="2200" dirty="0"/>
              <a:t>/”</a:t>
            </a:r>
            <a:r>
              <a:rPr lang="zh-CN" altLang="en-US" sz="2200" dirty="0"/>
              <a:t>目录下，目标文件名为</a:t>
            </a:r>
            <a:r>
              <a:rPr lang="en-US" altLang="zh-CN" sz="2200" dirty="0"/>
              <a:t>file1</a:t>
            </a:r>
            <a:r>
              <a:rPr lang="zh-CN" altLang="en-US" sz="2200" dirty="0"/>
              <a:t>，其程序源码如下：</a:t>
            </a:r>
            <a:endParaRPr lang="zh-CN" altLang="en-US" sz="2400" i="1" dirty="0"/>
          </a:p>
        </p:txBody>
      </p:sp>
      <p:pic>
        <p:nvPicPr>
          <p:cNvPr id="5" name="图片 4">
            <a:extLst>
              <a:ext uri="{FF2B5EF4-FFF2-40B4-BE49-F238E27FC236}">
                <a16:creationId xmlns:a16="http://schemas.microsoft.com/office/drawing/2014/main" id="{5531D837-DA6F-486D-8D0D-FB2C346961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2427734"/>
            <a:ext cx="8344623" cy="762066"/>
          </a:xfrm>
          <a:prstGeom prst="rect">
            <a:avLst/>
          </a:prstGeom>
        </p:spPr>
      </p:pic>
    </p:spTree>
    <p:extLst>
      <p:ext uri="{BB962C8B-B14F-4D97-AF65-F5344CB8AC3E}">
        <p14:creationId xmlns:p14="http://schemas.microsoft.com/office/powerpoint/2010/main" val="268124313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467544" y="915566"/>
            <a:ext cx="8101408" cy="4320480"/>
          </a:xfrm>
        </p:spPr>
        <p:txBody>
          <a:bodyPr>
            <a:normAutofit fontScale="85000" lnSpcReduction="20000"/>
          </a:bodyPr>
          <a:lstStyle/>
          <a:p>
            <a:pPr marL="0" indent="0">
              <a:lnSpc>
                <a:spcPct val="120000"/>
              </a:lnSpc>
              <a:buNone/>
            </a:pPr>
            <a:r>
              <a:rPr lang="en-US" altLang="zh-CN" sz="2200" dirty="0"/>
              <a:t>4</a:t>
            </a:r>
            <a:r>
              <a:rPr lang="zh-CN" altLang="en-US" sz="2200" dirty="0"/>
              <a:t>．方法</a:t>
            </a:r>
            <a:r>
              <a:rPr lang="en-US" altLang="zh-CN" sz="2200" dirty="0" err="1"/>
              <a:t>copy_to_local</a:t>
            </a:r>
            <a:r>
              <a:rPr lang="en-US" altLang="zh-CN" sz="2200" dirty="0"/>
              <a:t>()</a:t>
            </a:r>
          </a:p>
          <a:p>
            <a:pPr marL="0" indent="0">
              <a:lnSpc>
                <a:spcPct val="120000"/>
              </a:lnSpc>
              <a:buNone/>
            </a:pPr>
            <a:r>
              <a:rPr lang="zh-CN" altLang="en-US" sz="2200" dirty="0"/>
              <a:t>方法语法：</a:t>
            </a:r>
            <a:r>
              <a:rPr lang="en-US" altLang="zh-CN" sz="2200" dirty="0" err="1"/>
              <a:t>copy_to_local</a:t>
            </a:r>
            <a:r>
              <a:rPr lang="en-US" altLang="zh-CN" sz="2200" dirty="0"/>
              <a:t>(</a:t>
            </a:r>
            <a:r>
              <a:rPr lang="en-US" altLang="zh-CN" sz="2200" dirty="0" err="1"/>
              <a:t>src</a:t>
            </a:r>
            <a:r>
              <a:rPr lang="en-US" altLang="zh-CN" sz="2200" dirty="0"/>
              <a:t>: str, </a:t>
            </a:r>
            <a:r>
              <a:rPr lang="en-US" altLang="zh-CN" sz="2200" dirty="0" err="1"/>
              <a:t>localdest</a:t>
            </a:r>
            <a:r>
              <a:rPr lang="en-US" altLang="zh-CN" sz="2200" dirty="0"/>
              <a:t>: str, **</a:t>
            </a:r>
            <a:r>
              <a:rPr lang="en-US" altLang="zh-CN" sz="2200" dirty="0" err="1"/>
              <a:t>kwargs</a:t>
            </a:r>
            <a:r>
              <a:rPr lang="en-US" altLang="zh-CN" sz="2200" dirty="0"/>
              <a:t>) → None</a:t>
            </a:r>
          </a:p>
          <a:p>
            <a:pPr marL="0" indent="0">
              <a:lnSpc>
                <a:spcPct val="120000"/>
              </a:lnSpc>
              <a:buNone/>
            </a:pPr>
            <a:r>
              <a:rPr lang="zh-CN" altLang="en-US" sz="2200" dirty="0"/>
              <a:t>方法描述：该方法的功能是从源文件系统</a:t>
            </a:r>
            <a:r>
              <a:rPr lang="en-US" altLang="zh-CN" sz="2200" dirty="0" err="1"/>
              <a:t>src</a:t>
            </a:r>
            <a:r>
              <a:rPr lang="zh-CN" altLang="en-US" sz="2200" dirty="0"/>
              <a:t>复制文件到本地文件系统</a:t>
            </a:r>
            <a:r>
              <a:rPr lang="en-US" altLang="zh-CN" sz="2200" dirty="0" err="1"/>
              <a:t>localdest</a:t>
            </a:r>
            <a:r>
              <a:rPr lang="zh-CN" altLang="en-US" sz="2200" dirty="0"/>
              <a:t>。</a:t>
            </a:r>
          </a:p>
          <a:p>
            <a:pPr marL="0" indent="0">
              <a:lnSpc>
                <a:spcPct val="120000"/>
              </a:lnSpc>
              <a:buNone/>
            </a:pPr>
            <a:r>
              <a:rPr lang="zh-CN" altLang="en-US" sz="2200" dirty="0"/>
              <a:t>参数说明：</a:t>
            </a:r>
          </a:p>
          <a:p>
            <a:pPr lvl="1">
              <a:lnSpc>
                <a:spcPct val="120000"/>
              </a:lnSpc>
            </a:pPr>
            <a:r>
              <a:rPr lang="en-US" altLang="zh-CN" sz="1800" dirty="0" err="1"/>
              <a:t>localsrc</a:t>
            </a:r>
            <a:r>
              <a:rPr lang="en-US" altLang="zh-CN" sz="1800" dirty="0"/>
              <a:t>(str)</a:t>
            </a:r>
            <a:r>
              <a:rPr lang="zh-CN" altLang="en-US" sz="1800" dirty="0"/>
              <a:t>：本地文件系统中的文件名；</a:t>
            </a:r>
          </a:p>
          <a:p>
            <a:pPr lvl="1">
              <a:lnSpc>
                <a:spcPct val="120000"/>
              </a:lnSpc>
            </a:pPr>
            <a:r>
              <a:rPr lang="en-US" altLang="zh-CN" sz="1800" dirty="0" err="1"/>
              <a:t>dest</a:t>
            </a:r>
            <a:r>
              <a:rPr lang="en-US" altLang="zh-CN" sz="1800" dirty="0"/>
              <a:t>(str)</a:t>
            </a:r>
            <a:r>
              <a:rPr lang="zh-CN" altLang="en-US" sz="1800" dirty="0"/>
              <a:t>：目标系统中的文件名；</a:t>
            </a:r>
          </a:p>
          <a:p>
            <a:pPr lvl="1">
              <a:lnSpc>
                <a:spcPct val="120000"/>
              </a:lnSpc>
            </a:pPr>
            <a:r>
              <a:rPr lang="en-US" altLang="zh-CN" sz="1800" dirty="0"/>
              <a:t>data</a:t>
            </a:r>
            <a:r>
              <a:rPr lang="zh-CN" altLang="en-US" sz="1800" dirty="0"/>
              <a:t>：可以是一个文件对象，也可以字节列表（</a:t>
            </a:r>
            <a:r>
              <a:rPr lang="en-US" altLang="zh-CN" sz="1800" dirty="0"/>
              <a:t>bytes</a:t>
            </a:r>
            <a:r>
              <a:rPr lang="zh-CN" altLang="en-US" sz="1800" dirty="0"/>
              <a:t>）等；</a:t>
            </a:r>
          </a:p>
          <a:p>
            <a:pPr lvl="1">
              <a:lnSpc>
                <a:spcPct val="120000"/>
              </a:lnSpc>
            </a:pPr>
            <a:r>
              <a:rPr lang="en-US" altLang="zh-CN" sz="1800" dirty="0"/>
              <a:t>overwrite (bool)</a:t>
            </a:r>
            <a:r>
              <a:rPr lang="zh-CN" altLang="en-US" sz="1800" dirty="0"/>
              <a:t>：若目标文件已经存在，是否覆盖</a:t>
            </a:r>
            <a:r>
              <a:rPr lang="en-US" altLang="zh-CN" sz="1800" dirty="0"/>
              <a:t>?</a:t>
            </a:r>
          </a:p>
          <a:p>
            <a:pPr lvl="1">
              <a:lnSpc>
                <a:spcPct val="120000"/>
              </a:lnSpc>
            </a:pPr>
            <a:r>
              <a:rPr lang="en-US" altLang="zh-CN" sz="1800" dirty="0" err="1"/>
              <a:t>blocksize</a:t>
            </a:r>
            <a:r>
              <a:rPr lang="en-US" altLang="zh-CN" sz="1800" dirty="0"/>
              <a:t> (long)</a:t>
            </a:r>
            <a:r>
              <a:rPr lang="zh-CN" altLang="en-US" sz="1800" dirty="0"/>
              <a:t>：文件的块大小；</a:t>
            </a:r>
          </a:p>
          <a:p>
            <a:pPr lvl="1">
              <a:lnSpc>
                <a:spcPct val="120000"/>
              </a:lnSpc>
            </a:pPr>
            <a:r>
              <a:rPr lang="en-US" altLang="zh-CN" sz="1800" dirty="0"/>
              <a:t>replication (short) </a:t>
            </a:r>
            <a:r>
              <a:rPr lang="zh-CN" altLang="en-US" sz="1800" dirty="0"/>
              <a:t>：副本数设置；</a:t>
            </a:r>
          </a:p>
          <a:p>
            <a:pPr lvl="1">
              <a:lnSpc>
                <a:spcPct val="120000"/>
              </a:lnSpc>
            </a:pPr>
            <a:r>
              <a:rPr lang="en-US" altLang="zh-CN" sz="1800" dirty="0"/>
              <a:t>permission (octal)</a:t>
            </a:r>
            <a:r>
              <a:rPr lang="zh-CN" altLang="en-US" sz="1800" dirty="0"/>
              <a:t>：文件</a:t>
            </a:r>
            <a:r>
              <a:rPr lang="en-US" altLang="zh-CN" sz="1800" dirty="0"/>
              <a:t>/</a:t>
            </a:r>
            <a:r>
              <a:rPr lang="zh-CN" altLang="en-US" sz="1800" dirty="0"/>
              <a:t>目录的权限，八进制数，如“</a:t>
            </a:r>
            <a:r>
              <a:rPr lang="en-US" altLang="zh-CN" sz="1800" dirty="0"/>
              <a:t>700”</a:t>
            </a:r>
            <a:r>
              <a:rPr lang="zh-CN" altLang="en-US" sz="1800" dirty="0"/>
              <a:t>表示所有者可读、写、执行，所在组和其他用户没有任何权限；</a:t>
            </a:r>
          </a:p>
          <a:p>
            <a:pPr lvl="1">
              <a:lnSpc>
                <a:spcPct val="120000"/>
              </a:lnSpc>
            </a:pPr>
            <a:r>
              <a:rPr lang="en-US" altLang="zh-CN" sz="1800" dirty="0" err="1"/>
              <a:t>buffersize</a:t>
            </a:r>
            <a:r>
              <a:rPr lang="en-US" altLang="zh-CN" sz="1800" dirty="0"/>
              <a:t> (int)</a:t>
            </a:r>
            <a:r>
              <a:rPr lang="zh-CN" altLang="en-US" sz="1800" dirty="0"/>
              <a:t>：传输数据过程中的缓冲区大小。</a:t>
            </a:r>
          </a:p>
        </p:txBody>
      </p:sp>
    </p:spTree>
    <p:extLst>
      <p:ext uri="{BB962C8B-B14F-4D97-AF65-F5344CB8AC3E}">
        <p14:creationId xmlns:p14="http://schemas.microsoft.com/office/powerpoint/2010/main" val="17703350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467544" y="915566"/>
            <a:ext cx="8101408" cy="4320480"/>
          </a:xfrm>
        </p:spPr>
        <p:txBody>
          <a:bodyPr>
            <a:normAutofit/>
          </a:bodyPr>
          <a:lstStyle/>
          <a:p>
            <a:pPr marL="0" indent="0">
              <a:lnSpc>
                <a:spcPct val="120000"/>
              </a:lnSpc>
              <a:buNone/>
            </a:pPr>
            <a:r>
              <a:rPr lang="en-US" altLang="zh-CN" sz="2200" dirty="0"/>
              <a:t>【</a:t>
            </a:r>
            <a:r>
              <a:rPr lang="zh-CN" altLang="en-US" sz="2200" dirty="0"/>
              <a:t>例</a:t>
            </a:r>
            <a:r>
              <a:rPr lang="en-US" altLang="zh-CN" sz="2200" dirty="0"/>
              <a:t>4.24】</a:t>
            </a:r>
            <a:r>
              <a:rPr lang="zh-CN" altLang="en-US" sz="2200" dirty="0"/>
              <a:t>把</a:t>
            </a:r>
            <a:r>
              <a:rPr lang="en-US" altLang="zh-CN" sz="2200" dirty="0"/>
              <a:t>HDFS</a:t>
            </a:r>
            <a:r>
              <a:rPr lang="zh-CN" altLang="en-US" sz="2200" dirty="0"/>
              <a:t>文件系统的文件“</a:t>
            </a:r>
            <a:r>
              <a:rPr lang="en-US" altLang="zh-CN" sz="2200" dirty="0"/>
              <a:t>/</a:t>
            </a:r>
            <a:r>
              <a:rPr lang="en-US" altLang="zh-CN" sz="2200" dirty="0" err="1"/>
              <a:t>dir</a:t>
            </a:r>
            <a:r>
              <a:rPr lang="en-US" altLang="zh-CN" sz="2200" dirty="0"/>
              <a:t>/file1”</a:t>
            </a:r>
            <a:r>
              <a:rPr lang="zh-CN" altLang="en-US" sz="2200" dirty="0"/>
              <a:t>拷贝到本地，并存储为文件</a:t>
            </a:r>
            <a:r>
              <a:rPr lang="en-US" altLang="zh-CN" sz="2200" dirty="0"/>
              <a:t>"/home/</a:t>
            </a:r>
            <a:r>
              <a:rPr lang="en-US" altLang="zh-CN" sz="2200" dirty="0" err="1"/>
              <a:t>hadoop</a:t>
            </a:r>
            <a:r>
              <a:rPr lang="en-US" altLang="zh-CN" sz="2200" dirty="0"/>
              <a:t>/bigdata/</a:t>
            </a:r>
            <a:r>
              <a:rPr lang="en-US" altLang="zh-CN" sz="2200" dirty="0" err="1"/>
              <a:t>pyhdfsTest</a:t>
            </a:r>
            <a:r>
              <a:rPr lang="en-US" altLang="zh-CN" sz="2200" dirty="0"/>
              <a:t>/file1"</a:t>
            </a:r>
            <a:r>
              <a:rPr lang="zh-CN" altLang="en-US" sz="2200" dirty="0"/>
              <a:t>。</a:t>
            </a:r>
            <a:endParaRPr lang="en-US" altLang="zh-CN" sz="2200" dirty="0"/>
          </a:p>
          <a:p>
            <a:pPr marL="0" indent="0">
              <a:lnSpc>
                <a:spcPct val="120000"/>
              </a:lnSpc>
              <a:buNone/>
            </a:pPr>
            <a:endParaRPr lang="zh-CN" altLang="en-US" sz="1800" dirty="0"/>
          </a:p>
        </p:txBody>
      </p:sp>
      <p:pic>
        <p:nvPicPr>
          <p:cNvPr id="5" name="图片 4">
            <a:extLst>
              <a:ext uri="{FF2B5EF4-FFF2-40B4-BE49-F238E27FC236}">
                <a16:creationId xmlns:a16="http://schemas.microsoft.com/office/drawing/2014/main" id="{EB7DD393-E66B-49FD-A38E-311BD96E581A}"/>
              </a:ext>
            </a:extLst>
          </p:cNvPr>
          <p:cNvPicPr>
            <a:picLocks noChangeAspect="1"/>
          </p:cNvPicPr>
          <p:nvPr/>
        </p:nvPicPr>
        <p:blipFill rotWithShape="1">
          <a:blip r:embed="rId2">
            <a:extLst>
              <a:ext uri="{28A0092B-C50C-407E-A947-70E740481C1C}">
                <a14:useLocalDpi xmlns:a14="http://schemas.microsoft.com/office/drawing/2010/main" val="0"/>
              </a:ext>
            </a:extLst>
          </a:blip>
          <a:srcRect t="17698"/>
          <a:stretch/>
        </p:blipFill>
        <p:spPr>
          <a:xfrm>
            <a:off x="514729" y="1973580"/>
            <a:ext cx="8161727" cy="232062"/>
          </a:xfrm>
          <a:prstGeom prst="rect">
            <a:avLst/>
          </a:prstGeom>
        </p:spPr>
      </p:pic>
    </p:spTree>
    <p:extLst>
      <p:ext uri="{BB962C8B-B14F-4D97-AF65-F5344CB8AC3E}">
        <p14:creationId xmlns:p14="http://schemas.microsoft.com/office/powerpoint/2010/main" val="1364238179"/>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467544" y="831806"/>
            <a:ext cx="8101408" cy="4320480"/>
          </a:xfrm>
        </p:spPr>
        <p:txBody>
          <a:bodyPr>
            <a:normAutofit fontScale="92500" lnSpcReduction="20000"/>
          </a:bodyPr>
          <a:lstStyle/>
          <a:p>
            <a:pPr marL="0" indent="0">
              <a:lnSpc>
                <a:spcPct val="120000"/>
              </a:lnSpc>
              <a:buNone/>
            </a:pPr>
            <a:r>
              <a:rPr lang="en-US" altLang="zh-CN" sz="2200" dirty="0"/>
              <a:t>5</a:t>
            </a:r>
            <a:r>
              <a:rPr lang="zh-CN" altLang="en-US" sz="2200" dirty="0"/>
              <a:t>．方法</a:t>
            </a:r>
            <a:r>
              <a:rPr lang="en-US" altLang="zh-CN" sz="2200" dirty="0"/>
              <a:t>create()</a:t>
            </a:r>
          </a:p>
          <a:p>
            <a:pPr>
              <a:lnSpc>
                <a:spcPct val="120000"/>
              </a:lnSpc>
            </a:pPr>
            <a:r>
              <a:rPr lang="zh-CN" altLang="en-US" sz="2200" dirty="0"/>
              <a:t>方法语法：</a:t>
            </a:r>
            <a:r>
              <a:rPr lang="en-US" altLang="zh-CN" sz="2200" dirty="0"/>
              <a:t>create(path: str, data: Union[IO[bytes], bytes], **</a:t>
            </a:r>
            <a:r>
              <a:rPr lang="en-US" altLang="zh-CN" sz="2200" dirty="0" err="1"/>
              <a:t>kwargs</a:t>
            </a:r>
            <a:r>
              <a:rPr lang="en-US" altLang="zh-CN" sz="2200" dirty="0"/>
              <a:t>) → None</a:t>
            </a:r>
          </a:p>
          <a:p>
            <a:pPr>
              <a:lnSpc>
                <a:spcPct val="120000"/>
              </a:lnSpc>
            </a:pPr>
            <a:r>
              <a:rPr lang="zh-CN" altLang="en-US" sz="2200" dirty="0"/>
              <a:t>方法描述：该方法的功能是在指定路径位置创建一个文件。</a:t>
            </a:r>
          </a:p>
          <a:p>
            <a:pPr>
              <a:lnSpc>
                <a:spcPct val="120000"/>
              </a:lnSpc>
            </a:pPr>
            <a:r>
              <a:rPr lang="zh-CN" altLang="en-US" sz="2200" dirty="0"/>
              <a:t>参数说明：</a:t>
            </a:r>
          </a:p>
          <a:p>
            <a:pPr lvl="1">
              <a:lnSpc>
                <a:spcPct val="120000"/>
              </a:lnSpc>
            </a:pPr>
            <a:r>
              <a:rPr lang="en-US" altLang="zh-CN" sz="1800" dirty="0"/>
              <a:t>path(str)</a:t>
            </a:r>
            <a:r>
              <a:rPr lang="zh-CN" altLang="en-US" sz="1800" dirty="0"/>
              <a:t>：目标文件名；</a:t>
            </a:r>
          </a:p>
          <a:p>
            <a:pPr lvl="1">
              <a:lnSpc>
                <a:spcPct val="120000"/>
              </a:lnSpc>
            </a:pPr>
            <a:r>
              <a:rPr lang="en-US" altLang="zh-CN" sz="1800" dirty="0"/>
              <a:t>data</a:t>
            </a:r>
            <a:r>
              <a:rPr lang="zh-CN" altLang="en-US" sz="1800" dirty="0"/>
              <a:t>：可以是一个文件对象，也可以是字节列表（</a:t>
            </a:r>
            <a:r>
              <a:rPr lang="en-US" altLang="zh-CN" sz="1800" dirty="0"/>
              <a:t>bytes</a:t>
            </a:r>
            <a:r>
              <a:rPr lang="zh-CN" altLang="en-US" sz="1800" dirty="0"/>
              <a:t>）等；</a:t>
            </a:r>
          </a:p>
          <a:p>
            <a:pPr lvl="1">
              <a:lnSpc>
                <a:spcPct val="120000"/>
              </a:lnSpc>
            </a:pPr>
            <a:r>
              <a:rPr lang="en-US" altLang="zh-CN" sz="1800" dirty="0"/>
              <a:t>overwrite (bool)</a:t>
            </a:r>
            <a:r>
              <a:rPr lang="zh-CN" altLang="en-US" sz="1800" dirty="0"/>
              <a:t>：若目标文件已经存在，是否覆盖</a:t>
            </a:r>
            <a:r>
              <a:rPr lang="en-US" altLang="zh-CN" sz="1800" dirty="0"/>
              <a:t>?</a:t>
            </a:r>
          </a:p>
          <a:p>
            <a:pPr lvl="1">
              <a:lnSpc>
                <a:spcPct val="120000"/>
              </a:lnSpc>
            </a:pPr>
            <a:r>
              <a:rPr lang="en-US" altLang="zh-CN" sz="1800" dirty="0" err="1"/>
              <a:t>blocksize</a:t>
            </a:r>
            <a:r>
              <a:rPr lang="en-US" altLang="zh-CN" sz="1800" dirty="0"/>
              <a:t> (long)</a:t>
            </a:r>
            <a:r>
              <a:rPr lang="zh-CN" altLang="en-US" sz="1800" dirty="0"/>
              <a:t>：文件的块大小；</a:t>
            </a:r>
          </a:p>
          <a:p>
            <a:pPr lvl="1">
              <a:lnSpc>
                <a:spcPct val="120000"/>
              </a:lnSpc>
            </a:pPr>
            <a:r>
              <a:rPr lang="en-US" altLang="zh-CN" sz="1800" dirty="0"/>
              <a:t>replication (short) </a:t>
            </a:r>
            <a:r>
              <a:rPr lang="zh-CN" altLang="en-US" sz="1800" dirty="0"/>
              <a:t>：副本数设置；</a:t>
            </a:r>
          </a:p>
          <a:p>
            <a:pPr lvl="1">
              <a:lnSpc>
                <a:spcPct val="120000"/>
              </a:lnSpc>
            </a:pPr>
            <a:r>
              <a:rPr lang="en-US" altLang="zh-CN" sz="1800" dirty="0"/>
              <a:t>permission (octal)</a:t>
            </a:r>
            <a:r>
              <a:rPr lang="zh-CN" altLang="en-US" sz="1800" dirty="0"/>
              <a:t>：文件</a:t>
            </a:r>
            <a:r>
              <a:rPr lang="en-US" altLang="zh-CN" sz="1800" dirty="0"/>
              <a:t>/</a:t>
            </a:r>
            <a:r>
              <a:rPr lang="zh-CN" altLang="en-US" sz="1800" dirty="0"/>
              <a:t>目录的权限，八进制数，如“</a:t>
            </a:r>
            <a:r>
              <a:rPr lang="en-US" altLang="zh-CN" sz="1800" dirty="0"/>
              <a:t>700”</a:t>
            </a:r>
            <a:r>
              <a:rPr lang="zh-CN" altLang="en-US" sz="1800" dirty="0"/>
              <a:t>表示所有者可读、写、执行，所在组和其他用户没有任何权限；</a:t>
            </a:r>
          </a:p>
          <a:p>
            <a:pPr lvl="1">
              <a:lnSpc>
                <a:spcPct val="120000"/>
              </a:lnSpc>
            </a:pPr>
            <a:r>
              <a:rPr lang="en-US" altLang="zh-CN" sz="1800" dirty="0" err="1"/>
              <a:t>buffersize</a:t>
            </a:r>
            <a:r>
              <a:rPr lang="en-US" altLang="zh-CN" sz="1800" dirty="0"/>
              <a:t> (int)</a:t>
            </a:r>
            <a:r>
              <a:rPr lang="zh-CN" altLang="en-US" sz="1800" dirty="0"/>
              <a:t>：传输数据过程中的缓冲区大小。</a:t>
            </a:r>
          </a:p>
        </p:txBody>
      </p:sp>
    </p:spTree>
    <p:extLst>
      <p:ext uri="{BB962C8B-B14F-4D97-AF65-F5344CB8AC3E}">
        <p14:creationId xmlns:p14="http://schemas.microsoft.com/office/powerpoint/2010/main" val="2602234361"/>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467544" y="831806"/>
            <a:ext cx="8101408" cy="4320480"/>
          </a:xfrm>
        </p:spPr>
        <p:txBody>
          <a:bodyPr>
            <a:normAutofit/>
          </a:bodyPr>
          <a:lstStyle/>
          <a:p>
            <a:pPr marL="0" indent="0" hangingPunct="0">
              <a:buNone/>
            </a:pPr>
            <a:r>
              <a:rPr lang="zh-CN" altLang="zh-CN" sz="2200" b="1" dirty="0"/>
              <a:t>【例</a:t>
            </a:r>
            <a:r>
              <a:rPr lang="en-US" altLang="zh-CN" sz="2200" b="1" dirty="0"/>
              <a:t>4.25</a:t>
            </a:r>
            <a:r>
              <a:rPr lang="zh-CN" altLang="zh-CN" sz="2200" b="1" dirty="0"/>
              <a:t>】</a:t>
            </a:r>
            <a:r>
              <a:rPr lang="zh-CN" altLang="zh-CN" sz="2200" dirty="0"/>
              <a:t>编写程序</a:t>
            </a:r>
            <a:r>
              <a:rPr lang="en-US" altLang="zh-CN" sz="2200" dirty="0"/>
              <a:t>hdfs_create.py</a:t>
            </a:r>
            <a:r>
              <a:rPr lang="zh-CN" altLang="zh-CN" sz="2200" dirty="0"/>
              <a:t>，该程序实现在指定目录“</a:t>
            </a:r>
            <a:r>
              <a:rPr lang="en-US" altLang="zh-CN" sz="2200" dirty="0"/>
              <a:t>/</a:t>
            </a:r>
            <a:r>
              <a:rPr lang="en-US" altLang="zh-CN" sz="2200" dirty="0" err="1"/>
              <a:t>dir</a:t>
            </a:r>
            <a:r>
              <a:rPr lang="en-US" altLang="zh-CN" sz="2200" dirty="0"/>
              <a:t>/</a:t>
            </a:r>
            <a:r>
              <a:rPr lang="zh-CN" altLang="zh-CN" sz="2200" dirty="0"/>
              <a:t>”下创建一个新文件</a:t>
            </a:r>
            <a:r>
              <a:rPr lang="en-US" altLang="zh-CN" sz="2200" dirty="0" err="1"/>
              <a:t>newfile</a:t>
            </a:r>
            <a:r>
              <a:rPr lang="zh-CN" altLang="zh-CN" sz="2200" dirty="0"/>
              <a:t>，并读取文件</a:t>
            </a:r>
            <a:r>
              <a:rPr lang="en-US" altLang="zh-CN" sz="2200" dirty="0"/>
              <a:t>file1</a:t>
            </a:r>
            <a:r>
              <a:rPr lang="zh-CN" altLang="zh-CN" sz="2200" dirty="0"/>
              <a:t>中的数据写入新文件</a:t>
            </a:r>
            <a:r>
              <a:rPr lang="en-US" altLang="zh-CN" sz="2200" dirty="0" err="1"/>
              <a:t>newfile</a:t>
            </a:r>
            <a:r>
              <a:rPr lang="zh-CN" altLang="zh-CN" sz="2200" dirty="0"/>
              <a:t>中，如果</a:t>
            </a:r>
            <a:r>
              <a:rPr lang="en-US" altLang="zh-CN" sz="2200" dirty="0" err="1"/>
              <a:t>newfile</a:t>
            </a:r>
            <a:r>
              <a:rPr lang="zh-CN" altLang="zh-CN" sz="2200" dirty="0"/>
              <a:t>已经存在则覆盖。其具体源码如下：</a:t>
            </a:r>
          </a:p>
        </p:txBody>
      </p:sp>
      <p:pic>
        <p:nvPicPr>
          <p:cNvPr id="5" name="图片 4">
            <a:extLst>
              <a:ext uri="{FF2B5EF4-FFF2-40B4-BE49-F238E27FC236}">
                <a16:creationId xmlns:a16="http://schemas.microsoft.com/office/drawing/2014/main" id="{4BCA798A-2C81-45F4-8557-4E0D0705B7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3528" y="2355726"/>
            <a:ext cx="8748518" cy="1516511"/>
          </a:xfrm>
          <a:prstGeom prst="rect">
            <a:avLst/>
          </a:prstGeom>
        </p:spPr>
      </p:pic>
    </p:spTree>
    <p:extLst>
      <p:ext uri="{BB962C8B-B14F-4D97-AF65-F5344CB8AC3E}">
        <p14:creationId xmlns:p14="http://schemas.microsoft.com/office/powerpoint/2010/main" val="1145735774"/>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5 </a:t>
            </a:r>
            <a:r>
              <a:rPr lang="en-US" altLang="zh-CN" dirty="0" err="1">
                <a:effectLst/>
              </a:rPr>
              <a:t>pyhdfs</a:t>
            </a:r>
            <a:r>
              <a:rPr lang="zh-CN" altLang="en-US" dirty="0">
                <a:effectLst/>
              </a:rPr>
              <a:t>的</a:t>
            </a:r>
            <a:r>
              <a:rPr lang="en-US" altLang="zh-CN" dirty="0" err="1">
                <a:effectLst/>
              </a:rPr>
              <a:t>HdfsClient</a:t>
            </a:r>
            <a:r>
              <a:rPr lang="zh-CN" altLang="en-US" dirty="0">
                <a:effectLst/>
              </a:rPr>
              <a:t>类</a:t>
            </a:r>
            <a:endParaRPr lang="zh-CN" altLang="en-US" dirty="0"/>
          </a:p>
        </p:txBody>
      </p:sp>
      <p:sp>
        <p:nvSpPr>
          <p:cNvPr id="4" name="Rectangle 3"/>
          <p:cNvSpPr>
            <a:spLocks noGrp="1" noChangeArrowheads="1"/>
          </p:cNvSpPr>
          <p:nvPr>
            <p:ph idx="1"/>
          </p:nvPr>
        </p:nvSpPr>
        <p:spPr>
          <a:xfrm>
            <a:off x="467544" y="831806"/>
            <a:ext cx="8101408" cy="4320480"/>
          </a:xfrm>
        </p:spPr>
        <p:txBody>
          <a:bodyPr>
            <a:normAutofit/>
          </a:bodyPr>
          <a:lstStyle/>
          <a:p>
            <a:pPr marL="0" indent="0" hangingPunct="0">
              <a:buNone/>
            </a:pPr>
            <a:r>
              <a:rPr lang="zh-CN" altLang="zh-CN" sz="2200" dirty="0"/>
              <a:t>执行程序</a:t>
            </a:r>
            <a:r>
              <a:rPr lang="en-US" altLang="zh-CN" sz="2200" dirty="0"/>
              <a:t>hdfs_create.py</a:t>
            </a:r>
            <a:r>
              <a:rPr lang="zh-CN" altLang="zh-CN" sz="2200" dirty="0"/>
              <a:t>，然后再次查看指定“</a:t>
            </a:r>
            <a:r>
              <a:rPr lang="en-US" altLang="zh-CN" sz="2200" dirty="0"/>
              <a:t>/</a:t>
            </a:r>
            <a:r>
              <a:rPr lang="en-US" altLang="zh-CN" sz="2200" dirty="0" err="1"/>
              <a:t>dir</a:t>
            </a:r>
            <a:r>
              <a:rPr lang="en-US" altLang="zh-CN" sz="2200" dirty="0"/>
              <a:t>/</a:t>
            </a:r>
            <a:r>
              <a:rPr lang="zh-CN" altLang="zh-CN" sz="2200" dirty="0"/>
              <a:t>”目录下的文件列表，可见已经创建了新文件</a:t>
            </a:r>
            <a:r>
              <a:rPr lang="en-US" altLang="zh-CN" sz="2200" dirty="0" err="1"/>
              <a:t>newfile</a:t>
            </a:r>
            <a:r>
              <a:rPr lang="zh-CN" altLang="zh-CN" sz="2200" dirty="0"/>
              <a:t>，其内容大小与</a:t>
            </a:r>
            <a:r>
              <a:rPr lang="en-US" altLang="zh-CN" sz="2200" dirty="0"/>
              <a:t>file1</a:t>
            </a:r>
            <a:r>
              <a:rPr lang="zh-CN" altLang="zh-CN" sz="2200" dirty="0"/>
              <a:t>相同</a:t>
            </a:r>
            <a:r>
              <a:rPr lang="zh-CN" altLang="zh-CN" dirty="0"/>
              <a:t>，</a:t>
            </a:r>
            <a:r>
              <a:rPr lang="zh-CN" altLang="zh-CN" sz="2200" dirty="0"/>
              <a:t>说明在创建文件过程中写入了</a:t>
            </a:r>
            <a:r>
              <a:rPr lang="en-US" altLang="zh-CN" sz="2200" dirty="0"/>
              <a:t>file1</a:t>
            </a:r>
            <a:r>
              <a:rPr lang="zh-CN" altLang="zh-CN" sz="2200" dirty="0"/>
              <a:t>文件的内容。</a:t>
            </a:r>
          </a:p>
        </p:txBody>
      </p:sp>
      <p:pic>
        <p:nvPicPr>
          <p:cNvPr id="6" name="图片 5">
            <a:extLst>
              <a:ext uri="{FF2B5EF4-FFF2-40B4-BE49-F238E27FC236}">
                <a16:creationId xmlns:a16="http://schemas.microsoft.com/office/drawing/2014/main" id="{328F7987-1615-47A3-8094-C70C12E784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5048" y="2211710"/>
            <a:ext cx="7864522" cy="1249788"/>
          </a:xfrm>
          <a:prstGeom prst="rect">
            <a:avLst/>
          </a:prstGeom>
        </p:spPr>
      </p:pic>
    </p:spTree>
    <p:extLst>
      <p:ext uri="{BB962C8B-B14F-4D97-AF65-F5344CB8AC3E}">
        <p14:creationId xmlns:p14="http://schemas.microsoft.com/office/powerpoint/2010/main" val="216570304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cxnSp>
        <p:nvCxnSpPr>
          <p:cNvPr id="33" name="直接连接符 32"/>
          <p:cNvCxnSpPr>
            <a:cxnSpLocks/>
            <a:endCxn id="35" idx="2"/>
          </p:cNvCxnSpPr>
          <p:nvPr/>
        </p:nvCxnSpPr>
        <p:spPr bwMode="auto">
          <a:xfrm flipV="1">
            <a:off x="2370589" y="2419227"/>
            <a:ext cx="6469152" cy="368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bwMode="auto">
          <a:xfrm>
            <a:off x="2267744" y="2378733"/>
            <a:ext cx="102845" cy="8098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bwMode="auto">
          <a:xfrm>
            <a:off x="8839741" y="2378733"/>
            <a:ext cx="102845" cy="8098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6" name="文本框 35"/>
          <p:cNvSpPr txBox="1"/>
          <p:nvPr/>
        </p:nvSpPr>
        <p:spPr>
          <a:xfrm>
            <a:off x="2295447" y="1727848"/>
            <a:ext cx="7029081" cy="646331"/>
          </a:xfrm>
          <a:prstGeom prst="rect">
            <a:avLst/>
          </a:prstGeom>
          <a:noFill/>
        </p:spPr>
        <p:txBody>
          <a:bodyPr wrap="square">
            <a:spAutoFit/>
          </a:bodyPr>
          <a:lstStyle/>
          <a:p>
            <a:r>
              <a:rPr lang="en-US" altLang="zh-CN" sz="3600" b="1" dirty="0" err="1">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pyhdfs</a:t>
            </a:r>
            <a:r>
              <a:rPr lang="zh-CN" altLang="en-US"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应用实战</a:t>
            </a:r>
          </a:p>
        </p:txBody>
      </p:sp>
      <p:sp>
        <p:nvSpPr>
          <p:cNvPr id="41" name="文本框 40"/>
          <p:cNvSpPr txBox="1">
            <a:spLocks noChangeArrowheads="1"/>
          </p:cNvSpPr>
          <p:nvPr/>
        </p:nvSpPr>
        <p:spPr bwMode="auto">
          <a:xfrm>
            <a:off x="533799" y="1358517"/>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06</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1122939814"/>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p:tgtEl>
                                          <p:spTgt spid="36"/>
                                        </p:tgtEl>
                                        <p:attrNameLst>
                                          <p:attrName>ppt_y</p:attrName>
                                        </p:attrNameLst>
                                      </p:cBhvr>
                                      <p:tavLst>
                                        <p:tav tm="0">
                                          <p:val>
                                            <p:strVal val="#ppt_y+#ppt_h*1.125000"/>
                                          </p:val>
                                        </p:tav>
                                        <p:tav tm="100000">
                                          <p:val>
                                            <p:strVal val="#ppt_y"/>
                                          </p:val>
                                        </p:tav>
                                      </p:tavLst>
                                    </p:anim>
                                    <p:animEffect transition="in" filter="wipe(up)">
                                      <p:cBhvr>
                                        <p:cTn id="8" dur="500"/>
                                        <p:tgtEl>
                                          <p:spTgt spid="36"/>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fill="hold"/>
                                        <p:tgtEl>
                                          <p:spTgt spid="41"/>
                                        </p:tgtEl>
                                        <p:attrNameLst>
                                          <p:attrName>ppt_x</p:attrName>
                                        </p:attrNameLst>
                                      </p:cBhvr>
                                      <p:tavLst>
                                        <p:tav tm="0">
                                          <p:val>
                                            <p:strVal val="0-#ppt_w/2"/>
                                          </p:val>
                                        </p:tav>
                                        <p:tav tm="100000">
                                          <p:val>
                                            <p:strVal val="#ppt_x"/>
                                          </p:val>
                                        </p:tav>
                                      </p:tavLst>
                                    </p:anim>
                                    <p:anim calcmode="lin" valueType="num">
                                      <p:cBhvr additive="base">
                                        <p:cTn id="12"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6 </a:t>
            </a:r>
            <a:r>
              <a:rPr lang="en-US" altLang="zh-CN" dirty="0" err="1">
                <a:effectLst/>
              </a:rPr>
              <a:t>pyhdfs</a:t>
            </a:r>
            <a:r>
              <a:rPr lang="zh-CN" altLang="en-US" dirty="0">
                <a:effectLst/>
              </a:rPr>
              <a:t>应用实战</a:t>
            </a:r>
            <a:endParaRPr lang="zh-CN" altLang="en-US" dirty="0"/>
          </a:p>
        </p:txBody>
      </p:sp>
      <p:sp>
        <p:nvSpPr>
          <p:cNvPr id="4" name="Rectangle 3"/>
          <p:cNvSpPr>
            <a:spLocks noGrp="1" noChangeArrowheads="1"/>
          </p:cNvSpPr>
          <p:nvPr>
            <p:ph idx="1"/>
          </p:nvPr>
        </p:nvSpPr>
        <p:spPr>
          <a:xfrm>
            <a:off x="467544" y="987574"/>
            <a:ext cx="8101408" cy="3600400"/>
          </a:xfrm>
        </p:spPr>
        <p:txBody>
          <a:bodyPr>
            <a:normAutofit/>
          </a:bodyPr>
          <a:lstStyle/>
          <a:p>
            <a:pPr marL="0" indent="0">
              <a:lnSpc>
                <a:spcPct val="120000"/>
              </a:lnSpc>
              <a:buNone/>
            </a:pPr>
            <a:r>
              <a:rPr lang="zh-CN" altLang="en-US" sz="2200"/>
              <a:t>        数据</a:t>
            </a:r>
            <a:r>
              <a:rPr lang="zh-CN" altLang="en-US" sz="2200" dirty="0"/>
              <a:t>中心在接收各数据采集站的数据时，通常不是直接把数据写入</a:t>
            </a:r>
            <a:r>
              <a:rPr lang="en-US" altLang="zh-CN" sz="2200" dirty="0"/>
              <a:t>HDFS</a:t>
            </a:r>
            <a:r>
              <a:rPr lang="zh-CN" altLang="en-US" sz="2200" dirty="0"/>
              <a:t>对应的文件中，因为频繁打开</a:t>
            </a:r>
            <a:r>
              <a:rPr lang="en-US" altLang="zh-CN" sz="2200" dirty="0"/>
              <a:t>HDFS</a:t>
            </a:r>
            <a:r>
              <a:rPr lang="zh-CN" altLang="en-US" sz="2200" dirty="0"/>
              <a:t>文件进行小规模数据的读写工作会极大降低</a:t>
            </a:r>
            <a:r>
              <a:rPr lang="en-US" altLang="zh-CN" sz="2200" dirty="0"/>
              <a:t>Hadoop</a:t>
            </a:r>
            <a:r>
              <a:rPr lang="zh-CN" altLang="en-US" sz="2200" dirty="0"/>
              <a:t>系统数据处理的</a:t>
            </a:r>
            <a:r>
              <a:rPr lang="zh-CN" altLang="en-US" sz="2200"/>
              <a:t>效率。</a:t>
            </a:r>
            <a:endParaRPr lang="en-US" altLang="zh-CN" sz="2200"/>
          </a:p>
          <a:p>
            <a:pPr marL="0" indent="0">
              <a:lnSpc>
                <a:spcPct val="120000"/>
              </a:lnSpc>
              <a:buNone/>
            </a:pPr>
            <a:r>
              <a:rPr lang="en-US" altLang="zh-CN" sz="2200"/>
              <a:t>        </a:t>
            </a:r>
            <a:r>
              <a:rPr lang="zh-CN" altLang="en-US" sz="2200"/>
              <a:t>因此</a:t>
            </a:r>
            <a:r>
              <a:rPr lang="zh-CN" altLang="en-US" sz="2200" dirty="0"/>
              <a:t>，数据中心首先把各数据采集站发送的数据存储在文件中，每个文件对应一个数据采集站，等到当天</a:t>
            </a:r>
            <a:r>
              <a:rPr lang="en-US" altLang="zh-CN" sz="2200" dirty="0"/>
              <a:t>24</a:t>
            </a:r>
            <a:r>
              <a:rPr lang="zh-CN" altLang="en-US" sz="2200" dirty="0"/>
              <a:t>时接收完所有数据采集站发送的数据后，再统一把数据与</a:t>
            </a:r>
            <a:r>
              <a:rPr lang="en-US" altLang="zh-CN" sz="2200" dirty="0"/>
              <a:t>HDFS</a:t>
            </a:r>
            <a:r>
              <a:rPr lang="zh-CN" altLang="en-US" sz="2200" dirty="0"/>
              <a:t>的数据文件进行整合。现请你完成这一数据整合的过程。</a:t>
            </a:r>
            <a:endParaRPr lang="zh-CN" altLang="en-US" sz="1800" dirty="0"/>
          </a:p>
        </p:txBody>
      </p:sp>
    </p:spTree>
    <p:extLst>
      <p:ext uri="{BB962C8B-B14F-4D97-AF65-F5344CB8AC3E}">
        <p14:creationId xmlns:p14="http://schemas.microsoft.com/office/powerpoint/2010/main" val="261717227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6 </a:t>
            </a:r>
            <a:r>
              <a:rPr lang="en-US" altLang="zh-CN" dirty="0" err="1">
                <a:effectLst/>
              </a:rPr>
              <a:t>pyhdfs</a:t>
            </a:r>
            <a:r>
              <a:rPr lang="zh-CN" altLang="en-US" dirty="0">
                <a:effectLst/>
              </a:rPr>
              <a:t>应用实战</a:t>
            </a:r>
            <a:endParaRPr lang="zh-CN" altLang="en-US" dirty="0"/>
          </a:p>
        </p:txBody>
      </p:sp>
      <p:sp>
        <p:nvSpPr>
          <p:cNvPr id="4" name="Rectangle 3"/>
          <p:cNvSpPr>
            <a:spLocks noGrp="1" noChangeArrowheads="1"/>
          </p:cNvSpPr>
          <p:nvPr>
            <p:ph idx="1"/>
          </p:nvPr>
        </p:nvSpPr>
        <p:spPr>
          <a:xfrm>
            <a:off x="467544" y="915566"/>
            <a:ext cx="8101408" cy="3744416"/>
          </a:xfrm>
        </p:spPr>
        <p:txBody>
          <a:bodyPr>
            <a:normAutofit/>
          </a:bodyPr>
          <a:lstStyle/>
          <a:p>
            <a:pPr marL="0" indent="0">
              <a:lnSpc>
                <a:spcPct val="120000"/>
              </a:lnSpc>
              <a:buNone/>
            </a:pPr>
            <a:r>
              <a:rPr lang="zh-CN" altLang="en-US" sz="2200" b="1" dirty="0"/>
              <a:t>输入：</a:t>
            </a:r>
            <a:r>
              <a:rPr lang="zh-CN" altLang="en-US" sz="2200" dirty="0"/>
              <a:t>每个数据采集站上报的数据都统一存储在一个本地系统的文件夹中，文件夹中的每个文件对应一个数据采集站上报的当天数据信息。例如今天是</a:t>
            </a:r>
            <a:r>
              <a:rPr lang="en-US" altLang="zh-CN" sz="2200" dirty="0"/>
              <a:t>2021</a:t>
            </a:r>
            <a:r>
              <a:rPr lang="zh-CN" altLang="en-US" sz="2200" dirty="0"/>
              <a:t>年</a:t>
            </a:r>
            <a:r>
              <a:rPr lang="en-US" altLang="zh-CN" sz="2200" dirty="0"/>
              <a:t>1</a:t>
            </a:r>
            <a:r>
              <a:rPr lang="zh-CN" altLang="en-US" sz="2200" dirty="0"/>
              <a:t>月</a:t>
            </a:r>
            <a:r>
              <a:rPr lang="en-US" altLang="zh-CN" sz="2200" dirty="0"/>
              <a:t>1</a:t>
            </a:r>
            <a:r>
              <a:rPr lang="zh-CN" altLang="en-US" sz="2200" dirty="0"/>
              <a:t>日，那么当天所有上报数据都存储在 “</a:t>
            </a:r>
            <a:r>
              <a:rPr lang="en-US" altLang="zh-CN" sz="2200" dirty="0"/>
              <a:t>20210101”</a:t>
            </a:r>
            <a:r>
              <a:rPr lang="zh-CN" altLang="en-US" sz="2200" dirty="0"/>
              <a:t>的文件夹中，如图</a:t>
            </a:r>
            <a:r>
              <a:rPr lang="en-US" altLang="zh-CN" sz="2200" dirty="0"/>
              <a:t>4.13</a:t>
            </a:r>
            <a:r>
              <a:rPr lang="zh-CN" altLang="en-US" sz="2200" dirty="0"/>
              <a:t>所示；文件夹中的每个文件都是一个逗号隔开的“</a:t>
            </a:r>
            <a:r>
              <a:rPr lang="en-US" altLang="zh-CN" sz="2200"/>
              <a:t>.csv</a:t>
            </a:r>
            <a:r>
              <a:rPr lang="zh-CN" altLang="en-US" sz="2200"/>
              <a:t>”文件</a:t>
            </a:r>
            <a:r>
              <a:rPr lang="zh-CN" altLang="en-US" sz="2200" dirty="0"/>
              <a:t>，如图</a:t>
            </a:r>
            <a:r>
              <a:rPr lang="en-US" altLang="zh-CN" sz="2200" dirty="0"/>
              <a:t>4.14</a:t>
            </a:r>
            <a:r>
              <a:rPr lang="zh-CN" altLang="en-US" sz="2200" dirty="0"/>
              <a:t>所示。在</a:t>
            </a:r>
            <a:r>
              <a:rPr lang="en-US" altLang="zh-CN" sz="2200" dirty="0"/>
              <a:t>HDFS</a:t>
            </a:r>
            <a:r>
              <a:rPr lang="zh-CN" altLang="en-US" sz="2200" dirty="0"/>
              <a:t>系统中，专门用来存储数据的文件为“</a:t>
            </a:r>
            <a:r>
              <a:rPr lang="en-US" altLang="zh-CN" sz="2200" dirty="0"/>
              <a:t>/user/Hadoop/</a:t>
            </a:r>
            <a:r>
              <a:rPr lang="en-US" altLang="zh-CN" sz="2200" dirty="0" err="1"/>
              <a:t>CityAQ</a:t>
            </a:r>
            <a:r>
              <a:rPr lang="en-US" altLang="zh-CN" sz="2200" dirty="0"/>
              <a:t>/city-data.csv”</a:t>
            </a:r>
            <a:endParaRPr lang="zh-CN" altLang="en-US" sz="1800" dirty="0"/>
          </a:p>
        </p:txBody>
      </p:sp>
    </p:spTree>
    <p:extLst>
      <p:ext uri="{BB962C8B-B14F-4D97-AF65-F5344CB8AC3E}">
        <p14:creationId xmlns:p14="http://schemas.microsoft.com/office/powerpoint/2010/main" val="312664012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6 </a:t>
            </a:r>
            <a:r>
              <a:rPr lang="en-US" altLang="zh-CN" dirty="0" err="1">
                <a:effectLst/>
              </a:rPr>
              <a:t>pyhdfs</a:t>
            </a:r>
            <a:r>
              <a:rPr lang="zh-CN" altLang="en-US" dirty="0">
                <a:effectLst/>
              </a:rPr>
              <a:t>应用实战</a:t>
            </a:r>
            <a:endParaRPr lang="zh-CN" altLang="en-US" dirty="0"/>
          </a:p>
        </p:txBody>
      </p:sp>
      <p:pic>
        <p:nvPicPr>
          <p:cNvPr id="7" name="图片 6">
            <a:extLst>
              <a:ext uri="{FF2B5EF4-FFF2-40B4-BE49-F238E27FC236}">
                <a16:creationId xmlns:a16="http://schemas.microsoft.com/office/drawing/2014/main" id="{8D57B8C3-4001-467E-96F2-F878F0287A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5656" y="915566"/>
            <a:ext cx="5532599" cy="3833192"/>
          </a:xfrm>
          <a:prstGeom prst="rect">
            <a:avLst/>
          </a:prstGeom>
        </p:spPr>
      </p:pic>
    </p:spTree>
    <p:extLst>
      <p:ext uri="{BB962C8B-B14F-4D97-AF65-F5344CB8AC3E}">
        <p14:creationId xmlns:p14="http://schemas.microsoft.com/office/powerpoint/2010/main" val="78252328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6 </a:t>
            </a:r>
            <a:r>
              <a:rPr lang="en-US" altLang="zh-CN" dirty="0" err="1">
                <a:effectLst/>
              </a:rPr>
              <a:t>pyhdfs</a:t>
            </a:r>
            <a:r>
              <a:rPr lang="zh-CN" altLang="en-US" dirty="0">
                <a:effectLst/>
              </a:rPr>
              <a:t>应用实战</a:t>
            </a:r>
            <a:endParaRPr lang="zh-CN" altLang="en-US" dirty="0"/>
          </a:p>
        </p:txBody>
      </p:sp>
      <p:sp>
        <p:nvSpPr>
          <p:cNvPr id="4" name="Rectangle 3"/>
          <p:cNvSpPr>
            <a:spLocks noGrp="1" noChangeArrowheads="1"/>
          </p:cNvSpPr>
          <p:nvPr>
            <p:ph idx="1"/>
          </p:nvPr>
        </p:nvSpPr>
        <p:spPr>
          <a:xfrm>
            <a:off x="467544" y="915566"/>
            <a:ext cx="8352928" cy="3960440"/>
          </a:xfrm>
        </p:spPr>
        <p:txBody>
          <a:bodyPr>
            <a:normAutofit/>
          </a:bodyPr>
          <a:lstStyle/>
          <a:p>
            <a:pPr marL="0" indent="0">
              <a:lnSpc>
                <a:spcPct val="120000"/>
              </a:lnSpc>
              <a:buNone/>
            </a:pPr>
            <a:r>
              <a:rPr lang="zh-CN" altLang="en-US" sz="2200" b="1" dirty="0"/>
              <a:t>输出：</a:t>
            </a:r>
            <a:r>
              <a:rPr lang="zh-CN" altLang="en-US" sz="2200" dirty="0"/>
              <a:t>把指定日期对应的文件夹中的数据整合到</a:t>
            </a:r>
            <a:r>
              <a:rPr lang="en-US" altLang="zh-CN" sz="2200" dirty="0"/>
              <a:t>HDFS</a:t>
            </a:r>
            <a:r>
              <a:rPr lang="zh-CN" altLang="en-US" sz="2200" dirty="0"/>
              <a:t>的“</a:t>
            </a:r>
            <a:r>
              <a:rPr lang="en-US" altLang="zh-CN" sz="2200" dirty="0"/>
              <a:t>/city-data</a:t>
            </a:r>
            <a:r>
              <a:rPr lang="en-US" altLang="zh-CN" sz="2200"/>
              <a:t>.csv</a:t>
            </a:r>
            <a:r>
              <a:rPr lang="zh-CN" altLang="en-US" sz="2200"/>
              <a:t>”文件</a:t>
            </a:r>
            <a:r>
              <a:rPr lang="zh-CN" altLang="en-US" sz="2200" dirty="0"/>
              <a:t>中。</a:t>
            </a:r>
          </a:p>
          <a:p>
            <a:pPr marL="0" indent="0">
              <a:lnSpc>
                <a:spcPct val="120000"/>
              </a:lnSpc>
              <a:buNone/>
            </a:pPr>
            <a:r>
              <a:rPr lang="zh-CN" altLang="en-US" sz="2200" dirty="0"/>
              <a:t>思路分析：基于上述要求，我们将通过以下几个步骤完成指定任务：</a:t>
            </a:r>
          </a:p>
          <a:p>
            <a:pPr marL="0" indent="0">
              <a:lnSpc>
                <a:spcPct val="120000"/>
              </a:lnSpc>
              <a:buNone/>
            </a:pPr>
            <a:r>
              <a:rPr lang="zh-CN" altLang="en-US" sz="2200" dirty="0"/>
              <a:t>（</a:t>
            </a:r>
            <a:r>
              <a:rPr lang="en-US" altLang="zh-CN" sz="2200" dirty="0"/>
              <a:t>1</a:t>
            </a:r>
            <a:r>
              <a:rPr lang="zh-CN" altLang="en-US" sz="2200" dirty="0"/>
              <a:t>）根据输入的日期确定对应文件夹，利用</a:t>
            </a:r>
            <a:r>
              <a:rPr lang="en-US" altLang="zh-CN" sz="2200" dirty="0" err="1"/>
              <a:t>pyhdfs</a:t>
            </a:r>
            <a:r>
              <a:rPr lang="zh-CN" altLang="en-US" sz="2200" dirty="0"/>
              <a:t>建立</a:t>
            </a:r>
            <a:r>
              <a:rPr lang="en-US" altLang="zh-CN" sz="2200" dirty="0"/>
              <a:t>HDFS</a:t>
            </a:r>
            <a:r>
              <a:rPr lang="zh-CN" altLang="en-US" sz="2200" dirty="0"/>
              <a:t>客户端；</a:t>
            </a:r>
          </a:p>
          <a:p>
            <a:pPr marL="0" indent="0">
              <a:lnSpc>
                <a:spcPct val="120000"/>
              </a:lnSpc>
              <a:buNone/>
            </a:pPr>
            <a:r>
              <a:rPr lang="zh-CN" altLang="en-US" sz="2200" dirty="0"/>
              <a:t>（</a:t>
            </a:r>
            <a:r>
              <a:rPr lang="en-US" altLang="zh-CN" sz="2200" dirty="0"/>
              <a:t>2</a:t>
            </a:r>
            <a:r>
              <a:rPr lang="zh-CN" altLang="en-US" sz="2200" dirty="0"/>
              <a:t>）获取文件夹内的文件列表，逐个读取文件内容，并利用</a:t>
            </a:r>
            <a:r>
              <a:rPr lang="en-US" altLang="zh-CN" sz="2200" dirty="0"/>
              <a:t>append</a:t>
            </a:r>
            <a:r>
              <a:rPr lang="zh-CN" altLang="en-US" sz="2200" dirty="0"/>
              <a:t>方法把数据添加到指定文件末尾；</a:t>
            </a:r>
          </a:p>
          <a:p>
            <a:pPr marL="0" indent="0">
              <a:lnSpc>
                <a:spcPct val="120000"/>
              </a:lnSpc>
              <a:buNone/>
            </a:pPr>
            <a:r>
              <a:rPr lang="zh-CN" altLang="en-US" sz="2200" dirty="0"/>
              <a:t>（</a:t>
            </a:r>
            <a:r>
              <a:rPr lang="en-US" altLang="zh-CN" sz="2200" dirty="0"/>
              <a:t>3</a:t>
            </a:r>
            <a:r>
              <a:rPr lang="zh-CN" altLang="en-US" sz="2200" dirty="0"/>
              <a:t>）完成上述任务后，断开与</a:t>
            </a:r>
            <a:r>
              <a:rPr lang="en-US" altLang="zh-CN" sz="2200" dirty="0"/>
              <a:t>HDFS</a:t>
            </a:r>
            <a:r>
              <a:rPr lang="zh-CN" altLang="en-US" sz="2200" dirty="0"/>
              <a:t>的链接。</a:t>
            </a:r>
          </a:p>
        </p:txBody>
      </p:sp>
    </p:spTree>
    <p:extLst>
      <p:ext uri="{BB962C8B-B14F-4D97-AF65-F5344CB8AC3E}">
        <p14:creationId xmlns:p14="http://schemas.microsoft.com/office/powerpoint/2010/main" val="309342211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6 </a:t>
            </a:r>
            <a:r>
              <a:rPr lang="en-US" altLang="zh-CN" dirty="0" err="1">
                <a:effectLst/>
              </a:rPr>
              <a:t>pyhdfs</a:t>
            </a:r>
            <a:r>
              <a:rPr lang="zh-CN" altLang="en-US" dirty="0">
                <a:effectLst/>
              </a:rPr>
              <a:t>应用实战</a:t>
            </a:r>
            <a:endParaRPr lang="zh-CN" altLang="en-US" dirty="0"/>
          </a:p>
        </p:txBody>
      </p:sp>
      <p:sp>
        <p:nvSpPr>
          <p:cNvPr id="4" name="Rectangle 3"/>
          <p:cNvSpPr>
            <a:spLocks noGrp="1" noChangeArrowheads="1"/>
          </p:cNvSpPr>
          <p:nvPr>
            <p:ph idx="1"/>
          </p:nvPr>
        </p:nvSpPr>
        <p:spPr>
          <a:xfrm>
            <a:off x="611560" y="915566"/>
            <a:ext cx="7560840" cy="4104456"/>
          </a:xfrm>
          <a:solidFill>
            <a:schemeClr val="tx2">
              <a:lumMod val="20000"/>
              <a:lumOff val="80000"/>
            </a:schemeClr>
          </a:solidFill>
          <a:ln>
            <a:solidFill>
              <a:schemeClr val="tx1"/>
            </a:solidFill>
          </a:ln>
        </p:spPr>
        <p:txBody>
          <a:bodyPr>
            <a:normAutofit fontScale="47500" lnSpcReduction="20000"/>
          </a:bodyPr>
          <a:lstStyle/>
          <a:p>
            <a:pPr marL="0" indent="0">
              <a:lnSpc>
                <a:spcPct val="120000"/>
              </a:lnSpc>
              <a:buNone/>
            </a:pPr>
            <a:r>
              <a:rPr lang="zh-CN" altLang="zh-CN" sz="2400" b="1" dirty="0"/>
              <a:t>参考程序</a:t>
            </a:r>
            <a:r>
              <a:rPr lang="zh-CN" altLang="zh-CN" sz="2400" dirty="0"/>
              <a:t>：</a:t>
            </a:r>
            <a:r>
              <a:rPr lang="en-US" altLang="zh-CN" sz="2400" dirty="0"/>
              <a:t>MergeAQData.py</a:t>
            </a:r>
          </a:p>
          <a:p>
            <a:pPr marL="0" indent="0">
              <a:lnSpc>
                <a:spcPct val="120000"/>
              </a:lnSpc>
              <a:buNone/>
            </a:pPr>
            <a:r>
              <a:rPr lang="en-US" altLang="zh-CN" sz="2400" dirty="0"/>
              <a:t>#!/</a:t>
            </a:r>
            <a:r>
              <a:rPr lang="en-US" altLang="zh-CN" sz="2400" dirty="0" err="1"/>
              <a:t>usr</a:t>
            </a:r>
            <a:r>
              <a:rPr lang="en-US" altLang="zh-CN" sz="2400" dirty="0"/>
              <a:t>/bin/python3.6</a:t>
            </a:r>
          </a:p>
          <a:p>
            <a:pPr marL="0" indent="0">
              <a:lnSpc>
                <a:spcPct val="120000"/>
              </a:lnSpc>
              <a:buNone/>
            </a:pPr>
            <a:r>
              <a:rPr lang="en-US" altLang="zh-CN" sz="2400" dirty="0"/>
              <a:t>import </a:t>
            </a:r>
            <a:r>
              <a:rPr lang="en-US" altLang="zh-CN" sz="2400" dirty="0" err="1"/>
              <a:t>pyhdfs</a:t>
            </a:r>
            <a:endParaRPr lang="en-US" altLang="zh-CN" sz="2400" dirty="0"/>
          </a:p>
          <a:p>
            <a:pPr marL="0" indent="0">
              <a:lnSpc>
                <a:spcPct val="120000"/>
              </a:lnSpc>
              <a:buNone/>
            </a:pPr>
            <a:r>
              <a:rPr lang="en-US" altLang="zh-CN" sz="2400" dirty="0"/>
              <a:t>import </a:t>
            </a:r>
            <a:r>
              <a:rPr lang="en-US" altLang="zh-CN" sz="2400" dirty="0" err="1"/>
              <a:t>os</a:t>
            </a:r>
            <a:endParaRPr lang="en-US" altLang="zh-CN" sz="2400" dirty="0"/>
          </a:p>
          <a:p>
            <a:pPr marL="0" indent="0">
              <a:lnSpc>
                <a:spcPct val="120000"/>
              </a:lnSpc>
              <a:buNone/>
            </a:pPr>
            <a:r>
              <a:rPr lang="en-US" altLang="zh-CN" sz="2400" dirty="0"/>
              <a:t>client = </a:t>
            </a:r>
            <a:r>
              <a:rPr lang="en-US" altLang="zh-CN" sz="2400" dirty="0" err="1"/>
              <a:t>pyhdfs.HdfsClient</a:t>
            </a:r>
            <a:r>
              <a:rPr lang="en-US" altLang="zh-CN" sz="2400" dirty="0"/>
              <a:t>(hosts="localhost:9870", </a:t>
            </a:r>
            <a:r>
              <a:rPr lang="en-US" altLang="zh-CN" sz="2400" dirty="0" err="1"/>
              <a:t>user_</a:t>
            </a:r>
            <a:r>
              <a:rPr lang="en-US" altLang="zh-CN" sz="2400" err="1"/>
              <a:t>name</a:t>
            </a:r>
            <a:r>
              <a:rPr lang="en-US" altLang="zh-CN" sz="2400"/>
              <a:t>="root")</a:t>
            </a:r>
            <a:endParaRPr lang="en-US" altLang="zh-CN" sz="2400" dirty="0"/>
          </a:p>
          <a:p>
            <a:pPr marL="0" indent="0">
              <a:lnSpc>
                <a:spcPct val="120000"/>
              </a:lnSpc>
              <a:buNone/>
            </a:pPr>
            <a:r>
              <a:rPr lang="en-US" altLang="zh-CN" sz="2400" dirty="0"/>
              <a:t>def read(</a:t>
            </a:r>
            <a:r>
              <a:rPr lang="en-US" altLang="zh-CN" sz="2400" dirty="0" err="1"/>
              <a:t>dir</a:t>
            </a:r>
            <a:r>
              <a:rPr lang="en-US" altLang="zh-CN" sz="2400" dirty="0"/>
              <a:t>):</a:t>
            </a:r>
          </a:p>
          <a:p>
            <a:pPr marL="0" indent="0">
              <a:lnSpc>
                <a:spcPct val="120000"/>
              </a:lnSpc>
              <a:buNone/>
            </a:pPr>
            <a:r>
              <a:rPr lang="en-US" altLang="zh-CN" sz="2400" dirty="0"/>
              <a:t>    root=r'/home/</a:t>
            </a:r>
            <a:r>
              <a:rPr lang="en-US" altLang="zh-CN" sz="2400" dirty="0" err="1"/>
              <a:t>hadoop</a:t>
            </a:r>
            <a:r>
              <a:rPr lang="en-US" altLang="zh-CN" sz="2400" dirty="0"/>
              <a:t>/bigdata/</a:t>
            </a:r>
            <a:r>
              <a:rPr lang="en-US" altLang="zh-CN" sz="2400" dirty="0" err="1"/>
              <a:t>pyhdfsTest</a:t>
            </a:r>
            <a:r>
              <a:rPr lang="en-US" altLang="zh-CN" sz="2400" dirty="0"/>
              <a:t>/data/ </a:t>
            </a:r>
            <a:r>
              <a:rPr lang="en-US" altLang="zh-CN" sz="2400" dirty="0" err="1"/>
              <a:t>CityAQ</a:t>
            </a:r>
            <a:r>
              <a:rPr lang="en-US" altLang="zh-CN" sz="2400" dirty="0"/>
              <a:t>'</a:t>
            </a:r>
          </a:p>
          <a:p>
            <a:pPr marL="0" indent="0">
              <a:lnSpc>
                <a:spcPct val="120000"/>
              </a:lnSpc>
              <a:buNone/>
            </a:pPr>
            <a:r>
              <a:rPr lang="en-US" altLang="zh-CN" sz="2400" dirty="0"/>
              <a:t>    </a:t>
            </a:r>
            <a:r>
              <a:rPr lang="en-US" altLang="zh-CN" sz="2400" dirty="0" err="1"/>
              <a:t>dir</a:t>
            </a:r>
            <a:r>
              <a:rPr lang="en-US" altLang="zh-CN" sz="2400" dirty="0"/>
              <a:t>=</a:t>
            </a:r>
            <a:r>
              <a:rPr lang="en-US" altLang="zh-CN" sz="2400" dirty="0" err="1"/>
              <a:t>os.path.join</a:t>
            </a:r>
            <a:r>
              <a:rPr lang="en-US" altLang="zh-CN" sz="2400" dirty="0"/>
              <a:t>(</a:t>
            </a:r>
            <a:r>
              <a:rPr lang="en-US" altLang="zh-CN" sz="2400" dirty="0" err="1"/>
              <a:t>root,dir</a:t>
            </a:r>
            <a:r>
              <a:rPr lang="en-US" altLang="zh-CN" sz="2400" dirty="0"/>
              <a:t>)</a:t>
            </a:r>
          </a:p>
          <a:p>
            <a:pPr marL="0" indent="0">
              <a:lnSpc>
                <a:spcPct val="120000"/>
              </a:lnSpc>
              <a:buNone/>
            </a:pPr>
            <a:r>
              <a:rPr lang="en-US" altLang="zh-CN" sz="2400" dirty="0"/>
              <a:t>    for files in </a:t>
            </a:r>
            <a:r>
              <a:rPr lang="en-US" altLang="zh-CN" sz="2400" dirty="0" err="1"/>
              <a:t>os.listdir</a:t>
            </a:r>
            <a:r>
              <a:rPr lang="en-US" altLang="zh-CN" sz="2400" dirty="0"/>
              <a:t>(</a:t>
            </a:r>
            <a:r>
              <a:rPr lang="en-US" altLang="zh-CN" sz="2400" dirty="0" err="1"/>
              <a:t>dir</a:t>
            </a:r>
            <a:r>
              <a:rPr lang="en-US" altLang="zh-CN" sz="2400" dirty="0"/>
              <a:t>):</a:t>
            </a:r>
          </a:p>
          <a:p>
            <a:pPr marL="0" indent="0">
              <a:lnSpc>
                <a:spcPct val="120000"/>
              </a:lnSpc>
              <a:buNone/>
            </a:pPr>
            <a:r>
              <a:rPr lang="en-US" altLang="zh-CN" sz="2400" dirty="0"/>
              <a:t>        files=</a:t>
            </a:r>
            <a:r>
              <a:rPr lang="en-US" altLang="zh-CN" sz="2400" dirty="0" err="1"/>
              <a:t>os.path.join</a:t>
            </a:r>
            <a:r>
              <a:rPr lang="en-US" altLang="zh-CN" sz="2400" dirty="0"/>
              <a:t>(</a:t>
            </a:r>
            <a:r>
              <a:rPr lang="en-US" altLang="zh-CN" sz="2400" dirty="0" err="1"/>
              <a:t>dir,files</a:t>
            </a:r>
            <a:r>
              <a:rPr lang="en-US" altLang="zh-CN" sz="2400" dirty="0"/>
              <a:t>)</a:t>
            </a:r>
          </a:p>
          <a:p>
            <a:pPr marL="0" indent="0">
              <a:lnSpc>
                <a:spcPct val="120000"/>
              </a:lnSpc>
              <a:buNone/>
            </a:pPr>
            <a:r>
              <a:rPr lang="en-US" altLang="zh-CN" sz="2400" dirty="0"/>
              <a:t>        with open(</a:t>
            </a:r>
            <a:r>
              <a:rPr lang="en-US" altLang="zh-CN" sz="2400" dirty="0" err="1"/>
              <a:t>files,'r',encoding</a:t>
            </a:r>
            <a:r>
              <a:rPr lang="en-US" altLang="zh-CN" sz="2400" dirty="0"/>
              <a:t>='utf-8') as data:</a:t>
            </a:r>
          </a:p>
          <a:p>
            <a:pPr marL="0" indent="0">
              <a:lnSpc>
                <a:spcPct val="120000"/>
              </a:lnSpc>
              <a:buNone/>
            </a:pPr>
            <a:r>
              <a:rPr lang="en-US" altLang="zh-CN" sz="2400" dirty="0"/>
              <a:t>            for line in </a:t>
            </a:r>
            <a:r>
              <a:rPr lang="en-US" altLang="zh-CN" sz="2400" dirty="0" err="1"/>
              <a:t>data.readlines</a:t>
            </a:r>
            <a:r>
              <a:rPr lang="en-US" altLang="zh-CN" sz="2400" dirty="0"/>
              <a:t>():</a:t>
            </a:r>
          </a:p>
          <a:p>
            <a:pPr marL="0" indent="0">
              <a:lnSpc>
                <a:spcPct val="120000"/>
              </a:lnSpc>
              <a:buNone/>
            </a:pPr>
            <a:r>
              <a:rPr lang="en-US" altLang="zh-CN" sz="2400" dirty="0"/>
              <a:t>                </a:t>
            </a:r>
            <a:r>
              <a:rPr lang="en-US" altLang="zh-CN" sz="2400" dirty="0" err="1"/>
              <a:t>client.append</a:t>
            </a:r>
            <a:r>
              <a:rPr lang="en-US" altLang="zh-CN" sz="2400" dirty="0"/>
              <a:t>('/user/Hadoop/</a:t>
            </a:r>
            <a:r>
              <a:rPr lang="en-US" altLang="zh-CN" sz="2400" dirty="0" err="1"/>
              <a:t>CityAQ</a:t>
            </a:r>
            <a:r>
              <a:rPr lang="en-US" altLang="zh-CN" sz="2400" dirty="0"/>
              <a:t>/city-data.csv',\</a:t>
            </a:r>
          </a:p>
          <a:p>
            <a:pPr marL="0" indent="0">
              <a:lnSpc>
                <a:spcPct val="120000"/>
              </a:lnSpc>
              <a:buNone/>
            </a:pPr>
            <a:r>
              <a:rPr lang="en-US" altLang="zh-CN" sz="2400" dirty="0" err="1"/>
              <a:t>line.encode</a:t>
            </a:r>
            <a:r>
              <a:rPr lang="en-US" altLang="zh-CN" sz="2400" dirty="0"/>
              <a:t>("utf-8").decode("latin-1"))</a:t>
            </a:r>
          </a:p>
          <a:p>
            <a:pPr marL="0" indent="0">
              <a:lnSpc>
                <a:spcPct val="120000"/>
              </a:lnSpc>
              <a:buNone/>
            </a:pPr>
            <a:r>
              <a:rPr lang="en-US" altLang="zh-CN" sz="2400" dirty="0"/>
              <a:t>def main():</a:t>
            </a:r>
          </a:p>
          <a:p>
            <a:pPr marL="0" indent="0">
              <a:lnSpc>
                <a:spcPct val="120000"/>
              </a:lnSpc>
              <a:buNone/>
            </a:pPr>
            <a:r>
              <a:rPr lang="en-US" altLang="zh-CN" sz="2400" dirty="0"/>
              <a:t>    </a:t>
            </a:r>
            <a:r>
              <a:rPr lang="en-US" altLang="zh-CN" sz="2400" dirty="0" err="1"/>
              <a:t>dir</a:t>
            </a:r>
            <a:r>
              <a:rPr lang="en-US" altLang="zh-CN" sz="2400" dirty="0"/>
              <a:t>='20200101'   #</a:t>
            </a:r>
            <a:r>
              <a:rPr lang="zh-CN" altLang="en-US" sz="2400" dirty="0"/>
              <a:t>指定的日期</a:t>
            </a:r>
          </a:p>
          <a:p>
            <a:pPr marL="0" indent="0">
              <a:lnSpc>
                <a:spcPct val="120000"/>
              </a:lnSpc>
              <a:buNone/>
            </a:pPr>
            <a:r>
              <a:rPr lang="zh-CN" altLang="en-US" sz="2400" dirty="0"/>
              <a:t>    </a:t>
            </a:r>
            <a:r>
              <a:rPr lang="en-US" altLang="zh-CN" sz="2400" dirty="0"/>
              <a:t>read(</a:t>
            </a:r>
            <a:r>
              <a:rPr lang="en-US" altLang="zh-CN" sz="2400" dirty="0" err="1"/>
              <a:t>dir</a:t>
            </a:r>
            <a:r>
              <a:rPr lang="en-US" altLang="zh-CN" sz="2400" dirty="0"/>
              <a:t>)</a:t>
            </a:r>
          </a:p>
          <a:p>
            <a:pPr marL="0" indent="0">
              <a:lnSpc>
                <a:spcPct val="120000"/>
              </a:lnSpc>
              <a:buNone/>
            </a:pPr>
            <a:endParaRPr lang="en-US" altLang="zh-CN" sz="2400" dirty="0"/>
          </a:p>
          <a:p>
            <a:pPr marL="0" indent="0">
              <a:lnSpc>
                <a:spcPct val="120000"/>
              </a:lnSpc>
              <a:buNone/>
            </a:pPr>
            <a:r>
              <a:rPr lang="en-US" altLang="zh-CN" sz="2400" dirty="0"/>
              <a:t>if __name__ == "__main__":</a:t>
            </a:r>
          </a:p>
          <a:p>
            <a:pPr marL="0" indent="0">
              <a:lnSpc>
                <a:spcPct val="120000"/>
              </a:lnSpc>
              <a:buNone/>
            </a:pPr>
            <a:r>
              <a:rPr lang="en-US" altLang="zh-CN" sz="2400" dirty="0"/>
              <a:t>    main()</a:t>
            </a:r>
          </a:p>
          <a:p>
            <a:pPr marL="0" indent="0">
              <a:lnSpc>
                <a:spcPct val="120000"/>
              </a:lnSpc>
              <a:buNone/>
            </a:pPr>
            <a:endParaRPr lang="zh-CN" altLang="en-US" sz="2400" dirty="0"/>
          </a:p>
        </p:txBody>
      </p:sp>
    </p:spTree>
    <p:extLst>
      <p:ext uri="{BB962C8B-B14F-4D97-AF65-F5344CB8AC3E}">
        <p14:creationId xmlns:p14="http://schemas.microsoft.com/office/powerpoint/2010/main" val="267959594"/>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t>6 </a:t>
            </a:r>
            <a:r>
              <a:rPr lang="en-US" altLang="zh-CN" dirty="0" err="1">
                <a:effectLst/>
              </a:rPr>
              <a:t>pyhdfs</a:t>
            </a:r>
            <a:r>
              <a:rPr lang="zh-CN" altLang="en-US" dirty="0">
                <a:effectLst/>
              </a:rPr>
              <a:t>应用实战</a:t>
            </a:r>
            <a:endParaRPr lang="zh-CN" altLang="en-US" dirty="0"/>
          </a:p>
        </p:txBody>
      </p:sp>
      <p:sp>
        <p:nvSpPr>
          <p:cNvPr id="4" name="Rectangle 3"/>
          <p:cNvSpPr>
            <a:spLocks noGrp="1" noChangeArrowheads="1"/>
          </p:cNvSpPr>
          <p:nvPr>
            <p:ph idx="1"/>
          </p:nvPr>
        </p:nvSpPr>
        <p:spPr>
          <a:xfrm>
            <a:off x="467544" y="915566"/>
            <a:ext cx="8352928" cy="4320480"/>
          </a:xfrm>
        </p:spPr>
        <p:txBody>
          <a:bodyPr>
            <a:normAutofit/>
          </a:bodyPr>
          <a:lstStyle/>
          <a:p>
            <a:pPr marL="0" indent="0">
              <a:lnSpc>
                <a:spcPct val="120000"/>
              </a:lnSpc>
              <a:buNone/>
            </a:pPr>
            <a:r>
              <a:rPr lang="zh-CN" altLang="en-US" sz="2200" dirty="0"/>
              <a:t>编写完成上述</a:t>
            </a:r>
            <a:r>
              <a:rPr lang="en-US" altLang="zh-CN" sz="2200" dirty="0"/>
              <a:t>Python</a:t>
            </a:r>
            <a:r>
              <a:rPr lang="zh-CN" altLang="en-US" sz="2200" dirty="0"/>
              <a:t>程序后，利用</a:t>
            </a:r>
            <a:r>
              <a:rPr lang="en-US" altLang="zh-CN" sz="2200" dirty="0"/>
              <a:t>Python</a:t>
            </a:r>
            <a:r>
              <a:rPr lang="zh-CN" altLang="en-US" sz="2200" dirty="0"/>
              <a:t>执行该程序。之后把</a:t>
            </a:r>
            <a:r>
              <a:rPr lang="en-US" altLang="zh-CN" sz="2200" dirty="0"/>
              <a:t>HDFS</a:t>
            </a:r>
            <a:r>
              <a:rPr lang="zh-CN" altLang="en-US" sz="2200" dirty="0"/>
              <a:t>上的数据文件下载到本地，查看部分数据信息，其具体执行过程如下所示。</a:t>
            </a:r>
          </a:p>
        </p:txBody>
      </p:sp>
      <p:pic>
        <p:nvPicPr>
          <p:cNvPr id="5" name="图片 4">
            <a:extLst>
              <a:ext uri="{FF2B5EF4-FFF2-40B4-BE49-F238E27FC236}">
                <a16:creationId xmlns:a16="http://schemas.microsoft.com/office/drawing/2014/main" id="{EB7F9EDE-8636-452E-BC02-F8AD6CA67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7868" y="1779662"/>
            <a:ext cx="5568264" cy="3242695"/>
          </a:xfrm>
          <a:prstGeom prst="rect">
            <a:avLst/>
          </a:prstGeom>
        </p:spPr>
      </p:pic>
    </p:spTree>
    <p:extLst>
      <p:ext uri="{BB962C8B-B14F-4D97-AF65-F5344CB8AC3E}">
        <p14:creationId xmlns:p14="http://schemas.microsoft.com/office/powerpoint/2010/main" val="178352364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tretch>
            <a:fillRect/>
          </a:stretch>
        </p:blipFill>
        <p:spPr>
          <a:xfrm>
            <a:off x="0" y="8121"/>
            <a:ext cx="9141291" cy="5143500"/>
          </a:xfrm>
          <a:prstGeom prst="rect">
            <a:avLst/>
          </a:prstGeom>
        </p:spPr>
      </p:pic>
      <p:cxnSp>
        <p:nvCxnSpPr>
          <p:cNvPr id="33" name="直接连接符 32"/>
          <p:cNvCxnSpPr>
            <a:cxnSpLocks/>
            <a:endCxn id="35" idx="2"/>
          </p:cNvCxnSpPr>
          <p:nvPr/>
        </p:nvCxnSpPr>
        <p:spPr bwMode="auto">
          <a:xfrm flipV="1">
            <a:off x="2370589" y="2419227"/>
            <a:ext cx="6469152" cy="368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4" name="椭圆 33"/>
          <p:cNvSpPr/>
          <p:nvPr/>
        </p:nvSpPr>
        <p:spPr bwMode="auto">
          <a:xfrm>
            <a:off x="2267744" y="2378733"/>
            <a:ext cx="102845" cy="8098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5" name="椭圆 34"/>
          <p:cNvSpPr/>
          <p:nvPr/>
        </p:nvSpPr>
        <p:spPr bwMode="auto">
          <a:xfrm>
            <a:off x="8839741" y="2378733"/>
            <a:ext cx="102845" cy="80987"/>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36" name="文本框 35"/>
          <p:cNvSpPr txBox="1"/>
          <p:nvPr/>
        </p:nvSpPr>
        <p:spPr>
          <a:xfrm>
            <a:off x="2295447" y="1727848"/>
            <a:ext cx="7029081" cy="646331"/>
          </a:xfrm>
          <a:prstGeom prst="rect">
            <a:avLst/>
          </a:prstGeom>
          <a:noFill/>
        </p:spPr>
        <p:txBody>
          <a:bodyPr wrap="square">
            <a:spAutoFit/>
          </a:bodyPr>
          <a:lstStyle/>
          <a:p>
            <a:r>
              <a:rPr lang="zh-CN" altLang="en-US" sz="3600" b="1" dirty="0">
                <a:solidFill>
                  <a:srgbClr val="FFC000"/>
                </a:solidFill>
                <a:effectLst>
                  <a:outerShdw blurRad="38100" dist="38100" dir="2700000" algn="tl">
                    <a:srgbClr val="000000">
                      <a:alpha val="43137"/>
                    </a:srgbClr>
                  </a:outerShdw>
                </a:effectLst>
                <a:latin typeface="Times New Roman" panose="02020603050405020304" pitchFamily="18" charset="0"/>
                <a:ea typeface="微软雅黑" panose="020B0503020204020204" pitchFamily="34" charset="-122"/>
                <a:cs typeface="IrisUPC" panose="020B0604020202020204" pitchFamily="34" charset="-34"/>
              </a:rPr>
              <a:t>本章小结</a:t>
            </a:r>
          </a:p>
        </p:txBody>
      </p:sp>
      <p:sp>
        <p:nvSpPr>
          <p:cNvPr id="41" name="文本框 40"/>
          <p:cNvSpPr txBox="1">
            <a:spLocks noChangeArrowheads="1"/>
          </p:cNvSpPr>
          <p:nvPr/>
        </p:nvSpPr>
        <p:spPr bwMode="auto">
          <a:xfrm>
            <a:off x="533799" y="1358517"/>
            <a:ext cx="1698527" cy="1569660"/>
          </a:xfrm>
          <a:prstGeom prst="rect">
            <a:avLst/>
          </a:prstGeom>
          <a:noFill/>
          <a:ln w="9525">
            <a:noFill/>
            <a:miter lim="800000"/>
          </a:ln>
        </p:spPr>
        <p:txBody>
          <a:bodyPr wrap="square">
            <a:spAutoFit/>
          </a:bodyPr>
          <a:lstStyle/>
          <a:p>
            <a:pPr algn="ctr"/>
            <a:r>
              <a:rPr lang="en-US" altLang="zh-CN" sz="9600" dirty="0">
                <a:solidFill>
                  <a:srgbClr val="00B0F0"/>
                </a:solidFill>
                <a:latin typeface="IrisUPC" panose="020B0604020202020204" pitchFamily="34" charset="-34"/>
                <a:cs typeface="IrisUPC" panose="020B0604020202020204" pitchFamily="34" charset="-34"/>
              </a:rPr>
              <a:t>07</a:t>
            </a:r>
            <a:endParaRPr lang="zh-CN" altLang="en-US" sz="9600" dirty="0">
              <a:solidFill>
                <a:srgbClr val="00B0F0"/>
              </a:solidFill>
              <a:latin typeface="IrisUPC" panose="020B0604020202020204" pitchFamily="34" charset="-34"/>
              <a:cs typeface="IrisUPC" panose="020B0604020202020204" pitchFamily="34" charset="-34"/>
            </a:endParaRPr>
          </a:p>
        </p:txBody>
      </p:sp>
    </p:spTree>
    <p:extLst>
      <p:ext uri="{BB962C8B-B14F-4D97-AF65-F5344CB8AC3E}">
        <p14:creationId xmlns:p14="http://schemas.microsoft.com/office/powerpoint/2010/main" val="2336589199"/>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6"/>
                                        </p:tgtEl>
                                        <p:attrNameLst>
                                          <p:attrName>style.visibility</p:attrName>
                                        </p:attrNameLst>
                                      </p:cBhvr>
                                      <p:to>
                                        <p:strVal val="visible"/>
                                      </p:to>
                                    </p:set>
                                    <p:anim calcmode="lin" valueType="num">
                                      <p:cBhvr additive="base">
                                        <p:cTn id="7" dur="500"/>
                                        <p:tgtEl>
                                          <p:spTgt spid="36"/>
                                        </p:tgtEl>
                                        <p:attrNameLst>
                                          <p:attrName>ppt_y</p:attrName>
                                        </p:attrNameLst>
                                      </p:cBhvr>
                                      <p:tavLst>
                                        <p:tav tm="0">
                                          <p:val>
                                            <p:strVal val="#ppt_y+#ppt_h*1.125000"/>
                                          </p:val>
                                        </p:tav>
                                        <p:tav tm="100000">
                                          <p:val>
                                            <p:strVal val="#ppt_y"/>
                                          </p:val>
                                        </p:tav>
                                      </p:tavLst>
                                    </p:anim>
                                    <p:animEffect transition="in" filter="wipe(up)">
                                      <p:cBhvr>
                                        <p:cTn id="8" dur="500"/>
                                        <p:tgtEl>
                                          <p:spTgt spid="36"/>
                                        </p:tgtEl>
                                      </p:cBhvr>
                                    </p:animEffect>
                                  </p:childTnLst>
                                </p:cTn>
                              </p:par>
                              <p:par>
                                <p:cTn id="9" presetID="2" presetClass="entr" presetSubtype="8" fill="hold" grpId="0" nodeType="withEffect">
                                  <p:stCondLst>
                                    <p:cond delay="0"/>
                                  </p:stCondLst>
                                  <p:childTnLst>
                                    <p:set>
                                      <p:cBhvr>
                                        <p:cTn id="10" dur="1" fill="hold">
                                          <p:stCondLst>
                                            <p:cond delay="0"/>
                                          </p:stCondLst>
                                        </p:cTn>
                                        <p:tgtEl>
                                          <p:spTgt spid="41"/>
                                        </p:tgtEl>
                                        <p:attrNameLst>
                                          <p:attrName>style.visibility</p:attrName>
                                        </p:attrNameLst>
                                      </p:cBhvr>
                                      <p:to>
                                        <p:strVal val="visible"/>
                                      </p:to>
                                    </p:set>
                                    <p:anim calcmode="lin" valueType="num">
                                      <p:cBhvr additive="base">
                                        <p:cTn id="11" dur="500" fill="hold"/>
                                        <p:tgtEl>
                                          <p:spTgt spid="41"/>
                                        </p:tgtEl>
                                        <p:attrNameLst>
                                          <p:attrName>ppt_x</p:attrName>
                                        </p:attrNameLst>
                                      </p:cBhvr>
                                      <p:tavLst>
                                        <p:tav tm="0">
                                          <p:val>
                                            <p:strVal val="0-#ppt_w/2"/>
                                          </p:val>
                                        </p:tav>
                                        <p:tav tm="100000">
                                          <p:val>
                                            <p:strVal val="#ppt_x"/>
                                          </p:val>
                                        </p:tav>
                                      </p:tavLst>
                                    </p:anim>
                                    <p:anim calcmode="lin" valueType="num">
                                      <p:cBhvr additive="base">
                                        <p:cTn id="12"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41"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fontScale="90000"/>
          </a:bodyPr>
          <a:lstStyle/>
          <a:p>
            <a:r>
              <a:rPr lang="en-US" altLang="zh-CN" dirty="0">
                <a:effectLst/>
              </a:rPr>
              <a:t>7 </a:t>
            </a:r>
            <a:r>
              <a:rPr lang="zh-CN" altLang="en-US" dirty="0">
                <a:effectLst/>
              </a:rPr>
              <a:t>本章小结</a:t>
            </a:r>
            <a:endParaRPr lang="zh-CN" altLang="en-US" dirty="0"/>
          </a:p>
        </p:txBody>
      </p:sp>
      <p:sp>
        <p:nvSpPr>
          <p:cNvPr id="4" name="Rectangle 3"/>
          <p:cNvSpPr>
            <a:spLocks noGrp="1" noChangeArrowheads="1"/>
          </p:cNvSpPr>
          <p:nvPr>
            <p:ph idx="1"/>
          </p:nvPr>
        </p:nvSpPr>
        <p:spPr>
          <a:xfrm>
            <a:off x="144016" y="987574"/>
            <a:ext cx="8101408" cy="3924436"/>
          </a:xfrm>
        </p:spPr>
        <p:txBody>
          <a:bodyPr>
            <a:normAutofit fontScale="85000" lnSpcReduction="10000"/>
          </a:bodyPr>
          <a:lstStyle/>
          <a:p>
            <a:pPr>
              <a:lnSpc>
                <a:spcPct val="120000"/>
              </a:lnSpc>
            </a:pPr>
            <a:r>
              <a:rPr lang="en-US" altLang="zh-CN" sz="2200" dirty="0"/>
              <a:t>Hadoop</a:t>
            </a:r>
            <a:r>
              <a:rPr lang="zh-CN" altLang="en-US" sz="2200" dirty="0"/>
              <a:t>是一个由</a:t>
            </a:r>
            <a:r>
              <a:rPr lang="en-US" altLang="zh-CN" sz="2200" dirty="0"/>
              <a:t>Apache</a:t>
            </a:r>
            <a:r>
              <a:rPr lang="zh-CN" altLang="en-US" sz="2200" dirty="0"/>
              <a:t>基金会所开发的分布式系统基础架构。他以</a:t>
            </a:r>
            <a:r>
              <a:rPr lang="en-US" altLang="zh-CN" sz="2200" dirty="0"/>
              <a:t>HDFS</a:t>
            </a:r>
            <a:r>
              <a:rPr lang="zh-CN" altLang="en-US" sz="2200" dirty="0"/>
              <a:t>（</a:t>
            </a:r>
            <a:r>
              <a:rPr lang="en-US" altLang="zh-CN" sz="2200" dirty="0"/>
              <a:t>Distributed File System</a:t>
            </a:r>
            <a:r>
              <a:rPr lang="zh-CN" altLang="en-US" sz="2200" dirty="0"/>
              <a:t>）为其文件系统、支持</a:t>
            </a:r>
            <a:r>
              <a:rPr lang="en-US" altLang="zh-CN" sz="2200" dirty="0"/>
              <a:t>MapReduce</a:t>
            </a:r>
            <a:r>
              <a:rPr lang="zh-CN" altLang="en-US" sz="2200" dirty="0"/>
              <a:t>分布式程序设计和运行框架，让用户可以在不了解分布式底层细节的情况下，开发分布式程序，从而能够充分利用集群的威力进行高速运算和存储。</a:t>
            </a:r>
            <a:r>
              <a:rPr lang="en-US" altLang="zh-CN" sz="2200" dirty="0"/>
              <a:t>Hadoop</a:t>
            </a:r>
            <a:r>
              <a:rPr lang="zh-CN" altLang="en-US" sz="2200" dirty="0"/>
              <a:t>具有高容错性的特点，可以用来部署在低廉的硬件上，并提供高吞吐量来访问应用程序的数据，非常适合处理具有超大规模数据。</a:t>
            </a:r>
          </a:p>
          <a:p>
            <a:pPr>
              <a:lnSpc>
                <a:spcPct val="120000"/>
              </a:lnSpc>
            </a:pPr>
            <a:r>
              <a:rPr lang="zh-CN" altLang="en-US" sz="2200" dirty="0"/>
              <a:t>本章首先介绍了</a:t>
            </a:r>
            <a:r>
              <a:rPr lang="en-US" altLang="zh-CN" sz="2200" dirty="0"/>
              <a:t>Hadoop</a:t>
            </a:r>
            <a:r>
              <a:rPr lang="zh-CN" altLang="en-US" sz="2200" dirty="0"/>
              <a:t>的发展历史、软件生态、核心组件和</a:t>
            </a:r>
            <a:r>
              <a:rPr lang="en-US" altLang="zh-CN" sz="2200" dirty="0"/>
              <a:t>Hadoop</a:t>
            </a:r>
            <a:r>
              <a:rPr lang="zh-CN" altLang="en-US" sz="2200" dirty="0"/>
              <a:t>命令结构；之后以</a:t>
            </a:r>
            <a:r>
              <a:rPr lang="en-US" altLang="zh-CN" sz="2200" dirty="0"/>
              <a:t>HDFS</a:t>
            </a:r>
            <a:r>
              <a:rPr lang="zh-CN" altLang="en-US" sz="2200" dirty="0"/>
              <a:t>为重点介绍了其体系结构和特点，并详细介绍了</a:t>
            </a:r>
            <a:r>
              <a:rPr lang="en-US" altLang="zh-CN" sz="2200" dirty="0"/>
              <a:t>HDFS</a:t>
            </a:r>
            <a:r>
              <a:rPr lang="zh-CN" altLang="en-US" sz="2200" dirty="0"/>
              <a:t>的交互式命令。基于</a:t>
            </a:r>
            <a:r>
              <a:rPr lang="en-US" altLang="zh-CN" sz="2200" dirty="0"/>
              <a:t>Python</a:t>
            </a:r>
            <a:r>
              <a:rPr lang="zh-CN" altLang="en-US" sz="2200" dirty="0"/>
              <a:t>的广泛应用，所以本章基于</a:t>
            </a:r>
            <a:r>
              <a:rPr lang="en-US" altLang="zh-CN" sz="2200" dirty="0" err="1"/>
              <a:t>pyhdfs</a:t>
            </a:r>
            <a:r>
              <a:rPr lang="zh-CN" altLang="en-US" sz="2200" dirty="0"/>
              <a:t>介绍了利用</a:t>
            </a:r>
            <a:r>
              <a:rPr lang="en-US" altLang="zh-CN" sz="2200" dirty="0" err="1"/>
              <a:t>Pyhon</a:t>
            </a:r>
            <a:r>
              <a:rPr lang="zh-CN" altLang="en-US" sz="2200" dirty="0"/>
              <a:t>实现对</a:t>
            </a:r>
            <a:r>
              <a:rPr lang="en-US" altLang="zh-CN" sz="2200" dirty="0"/>
              <a:t>HDFS</a:t>
            </a:r>
            <a:r>
              <a:rPr lang="zh-CN" altLang="en-US" sz="2200" dirty="0"/>
              <a:t>文件的操作，详细介绍了</a:t>
            </a:r>
            <a:r>
              <a:rPr lang="en-US" altLang="zh-CN" sz="2200" dirty="0" err="1"/>
              <a:t>pyhdfs</a:t>
            </a:r>
            <a:r>
              <a:rPr lang="zh-CN" altLang="en-US" sz="2200" dirty="0"/>
              <a:t>的类库和相关方法。最后，通过一个具体的实例展示了</a:t>
            </a:r>
            <a:r>
              <a:rPr lang="en-US" altLang="zh-CN" sz="2200" dirty="0" err="1"/>
              <a:t>pyhdfs</a:t>
            </a:r>
            <a:r>
              <a:rPr lang="zh-CN" altLang="en-US" sz="2200" dirty="0"/>
              <a:t>应用的便捷性。</a:t>
            </a:r>
          </a:p>
        </p:txBody>
      </p:sp>
    </p:spTree>
    <p:extLst>
      <p:ext uri="{BB962C8B-B14F-4D97-AF65-F5344CB8AC3E}">
        <p14:creationId xmlns:p14="http://schemas.microsoft.com/office/powerpoint/2010/main" val="66698018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32698" y="4816947"/>
            <a:ext cx="775136" cy="246221"/>
          </a:xfrm>
          <a:prstGeom prst="rect">
            <a:avLst/>
          </a:prstGeom>
        </p:spPr>
        <p:txBody>
          <a:bodyPr wrap="square">
            <a:spAutoFit/>
          </a:bodyPr>
          <a:lstStyle/>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模板下载：</a:t>
            </a:r>
            <a:r>
              <a:rPr lang="en-US" altLang="zh-CN" sz="100" dirty="0">
                <a:solidFill>
                  <a:prstClr val="white"/>
                </a:solidFill>
                <a:ea typeface="宋体" panose="02010600030101010101" pitchFamily="2" charset="-122"/>
              </a:rPr>
              <a:t>www.1ppt.com/moban/     </a:t>
            </a:r>
            <a:r>
              <a:rPr lang="zh-CN" altLang="en-US" sz="100" dirty="0">
                <a:solidFill>
                  <a:prstClr val="white"/>
                </a:solidFill>
                <a:ea typeface="宋体" panose="02010600030101010101" pitchFamily="2" charset="-122"/>
              </a:rPr>
              <a:t>行业</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www.1ppt.com/hangye/ </a:t>
            </a:r>
          </a:p>
          <a:p>
            <a:pPr defTabSz="914400"/>
            <a:r>
              <a:rPr lang="zh-CN" altLang="en-US" sz="100" dirty="0">
                <a:solidFill>
                  <a:prstClr val="white"/>
                </a:solidFill>
                <a:ea typeface="宋体" panose="02010600030101010101" pitchFamily="2" charset="-122"/>
              </a:rPr>
              <a:t>节日</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模板：</a:t>
            </a:r>
            <a:r>
              <a:rPr lang="en-US" altLang="zh-CN" sz="100" dirty="0">
                <a:solidFill>
                  <a:prstClr val="white"/>
                </a:solidFill>
                <a:ea typeface="宋体" panose="02010600030101010101" pitchFamily="2" charset="-122"/>
              </a:rPr>
              <a:t>www.1ppt.com/jieri/           PPT</a:t>
            </a:r>
            <a:r>
              <a:rPr lang="zh-CN" altLang="en-US" sz="100" dirty="0">
                <a:solidFill>
                  <a:prstClr val="white"/>
                </a:solidFill>
                <a:ea typeface="宋体" panose="02010600030101010101" pitchFamily="2" charset="-122"/>
              </a:rPr>
              <a:t>素材下载：</a:t>
            </a:r>
            <a:r>
              <a:rPr lang="en-US" altLang="zh-CN" sz="100" dirty="0">
                <a:solidFill>
                  <a:prstClr val="white"/>
                </a:solidFill>
                <a:ea typeface="宋体" panose="02010600030101010101" pitchFamily="2" charset="-122"/>
              </a:rPr>
              <a:t>www.1ppt.com/sucai/</a:t>
            </a:r>
          </a:p>
          <a:p>
            <a:pPr defTabSz="914400"/>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背景图片：</a:t>
            </a:r>
            <a:r>
              <a:rPr lang="en-US" altLang="zh-CN" sz="100" dirty="0">
                <a:solidFill>
                  <a:prstClr val="white"/>
                </a:solidFill>
                <a:ea typeface="宋体" panose="02010600030101010101" pitchFamily="2" charset="-122"/>
              </a:rPr>
              <a:t>www.1ppt.com/beijing/      PPT</a:t>
            </a:r>
            <a:r>
              <a:rPr lang="zh-CN" altLang="en-US" sz="100" dirty="0">
                <a:solidFill>
                  <a:prstClr val="white"/>
                </a:solidFill>
                <a:ea typeface="宋体" panose="02010600030101010101" pitchFamily="2" charset="-122"/>
              </a:rPr>
              <a:t>图表下载：</a:t>
            </a:r>
            <a:r>
              <a:rPr lang="en-US" altLang="zh-CN" sz="100" dirty="0">
                <a:solidFill>
                  <a:prstClr val="white"/>
                </a:solidFill>
                <a:ea typeface="宋体" panose="02010600030101010101" pitchFamily="2" charset="-122"/>
              </a:rPr>
              <a:t>www.1ppt.com/tubiao/      </a:t>
            </a:r>
          </a:p>
          <a:p>
            <a:pPr defTabSz="914400"/>
            <a:r>
              <a:rPr lang="zh-CN" altLang="en-US" sz="100" dirty="0">
                <a:solidFill>
                  <a:prstClr val="white"/>
                </a:solidFill>
                <a:ea typeface="宋体" panose="02010600030101010101" pitchFamily="2" charset="-122"/>
              </a:rPr>
              <a:t>优秀</a:t>
            </a:r>
            <a:r>
              <a:rPr lang="en-US" altLang="zh-CN" sz="100" dirty="0">
                <a:solidFill>
                  <a:prstClr val="white"/>
                </a:solidFill>
                <a:ea typeface="宋体" panose="02010600030101010101" pitchFamily="2" charset="-122"/>
              </a:rPr>
              <a:t>PPT</a:t>
            </a:r>
            <a:r>
              <a:rPr lang="zh-CN" altLang="en-US" sz="100" dirty="0">
                <a:solidFill>
                  <a:prstClr val="white"/>
                </a:solidFill>
                <a:ea typeface="宋体" panose="02010600030101010101" pitchFamily="2" charset="-122"/>
              </a:rPr>
              <a:t>下载：</a:t>
            </a:r>
            <a:r>
              <a:rPr lang="en-US" altLang="zh-CN" sz="100" dirty="0">
                <a:solidFill>
                  <a:prstClr val="white"/>
                </a:solidFill>
                <a:ea typeface="宋体" panose="02010600030101010101" pitchFamily="2" charset="-122"/>
              </a:rPr>
              <a:t>www.1ppt.com/xiazai/        PPT</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www.1ppt.com/powerpoint/      </a:t>
            </a:r>
          </a:p>
          <a:p>
            <a:pPr defTabSz="914400"/>
            <a:r>
              <a:rPr lang="en-US" altLang="zh-CN" sz="100" dirty="0">
                <a:solidFill>
                  <a:prstClr val="white"/>
                </a:solidFill>
                <a:ea typeface="宋体" panose="02010600030101010101" pitchFamily="2" charset="-122"/>
              </a:rPr>
              <a:t>Word</a:t>
            </a:r>
            <a:r>
              <a:rPr lang="zh-CN" altLang="en-US" sz="100" dirty="0">
                <a:solidFill>
                  <a:prstClr val="white"/>
                </a:solidFill>
                <a:ea typeface="宋体" panose="02010600030101010101" pitchFamily="2" charset="-122"/>
              </a:rPr>
              <a:t>教程： </a:t>
            </a:r>
            <a:r>
              <a:rPr lang="en-US" altLang="zh-CN" sz="100" dirty="0">
                <a:solidFill>
                  <a:prstClr val="white"/>
                </a:solidFill>
                <a:ea typeface="宋体" panose="02010600030101010101" pitchFamily="2" charset="-122"/>
              </a:rPr>
              <a:t>www.1ppt.com/word/              Excel</a:t>
            </a:r>
            <a:r>
              <a:rPr lang="zh-CN" altLang="en-US" sz="100" dirty="0">
                <a:solidFill>
                  <a:prstClr val="white"/>
                </a:solidFill>
                <a:ea typeface="宋体" panose="02010600030101010101" pitchFamily="2" charset="-122"/>
              </a:rPr>
              <a:t>教程：</a:t>
            </a:r>
            <a:r>
              <a:rPr lang="en-US" altLang="zh-CN" sz="100" dirty="0">
                <a:solidFill>
                  <a:prstClr val="white"/>
                </a:solidFill>
                <a:ea typeface="宋体" panose="02010600030101010101" pitchFamily="2" charset="-122"/>
              </a:rPr>
              <a:t>www.1ppt.com/excel/  </a:t>
            </a:r>
          </a:p>
          <a:p>
            <a:pPr defTabSz="914400"/>
            <a:r>
              <a:rPr lang="zh-CN" altLang="en-US" sz="100" dirty="0">
                <a:solidFill>
                  <a:prstClr val="white"/>
                </a:solidFill>
                <a:ea typeface="宋体" panose="02010600030101010101" pitchFamily="2" charset="-122"/>
              </a:rPr>
              <a:t>资料下载：</a:t>
            </a:r>
            <a:r>
              <a:rPr lang="en-US" altLang="zh-CN" sz="100" dirty="0">
                <a:solidFill>
                  <a:prstClr val="white"/>
                </a:solidFill>
                <a:ea typeface="宋体" panose="02010600030101010101" pitchFamily="2" charset="-122"/>
              </a:rPr>
              <a:t>www.1ppt.com/ziliao/                PPT</a:t>
            </a:r>
            <a:r>
              <a:rPr lang="zh-CN" altLang="en-US" sz="100" dirty="0">
                <a:solidFill>
                  <a:prstClr val="white"/>
                </a:solidFill>
                <a:ea typeface="宋体" panose="02010600030101010101" pitchFamily="2" charset="-122"/>
              </a:rPr>
              <a:t>课件下载：</a:t>
            </a:r>
            <a:r>
              <a:rPr lang="en-US" altLang="zh-CN" sz="100" dirty="0">
                <a:solidFill>
                  <a:prstClr val="white"/>
                </a:solidFill>
                <a:ea typeface="宋体" panose="02010600030101010101" pitchFamily="2" charset="-122"/>
              </a:rPr>
              <a:t>www.1ppt.com/kejian/ </a:t>
            </a:r>
          </a:p>
          <a:p>
            <a:pPr defTabSz="914400"/>
            <a:r>
              <a:rPr lang="zh-CN" altLang="en-US" sz="100" dirty="0">
                <a:solidFill>
                  <a:prstClr val="white"/>
                </a:solidFill>
                <a:ea typeface="宋体" panose="02010600030101010101" pitchFamily="2" charset="-122"/>
              </a:rPr>
              <a:t>范文下载：</a:t>
            </a:r>
            <a:r>
              <a:rPr lang="en-US" altLang="zh-CN" sz="100" dirty="0">
                <a:solidFill>
                  <a:prstClr val="white"/>
                </a:solidFill>
                <a:ea typeface="宋体" panose="02010600030101010101" pitchFamily="2" charset="-122"/>
              </a:rPr>
              <a:t>www.1ppt.com/fanwen/             </a:t>
            </a:r>
            <a:r>
              <a:rPr lang="zh-CN" altLang="en-US" sz="100" dirty="0">
                <a:solidFill>
                  <a:prstClr val="white"/>
                </a:solidFill>
                <a:ea typeface="宋体" panose="02010600030101010101" pitchFamily="2" charset="-122"/>
              </a:rPr>
              <a:t>试卷下载：</a:t>
            </a:r>
            <a:r>
              <a:rPr lang="en-US" altLang="zh-CN" sz="100" dirty="0">
                <a:solidFill>
                  <a:prstClr val="white"/>
                </a:solidFill>
                <a:ea typeface="宋体" panose="02010600030101010101" pitchFamily="2" charset="-122"/>
              </a:rPr>
              <a:t>www.1ppt.com/shiti/  </a:t>
            </a:r>
          </a:p>
          <a:p>
            <a:pPr defTabSz="914400"/>
            <a:r>
              <a:rPr lang="zh-CN" altLang="en-US" sz="100" dirty="0">
                <a:solidFill>
                  <a:prstClr val="white"/>
                </a:solidFill>
                <a:ea typeface="宋体" panose="02010600030101010101" pitchFamily="2" charset="-122"/>
              </a:rPr>
              <a:t>教案下载：</a:t>
            </a:r>
            <a:r>
              <a:rPr lang="en-US" altLang="zh-CN" sz="100" dirty="0">
                <a:solidFill>
                  <a:prstClr val="white"/>
                </a:solidFill>
                <a:ea typeface="宋体" panose="02010600030101010101" pitchFamily="2" charset="-122"/>
              </a:rPr>
              <a:t>www.1ppt.com/jiaoan/        </a:t>
            </a:r>
          </a:p>
          <a:p>
            <a:pPr defTabSz="914400"/>
            <a:r>
              <a:rPr lang="zh-CN" altLang="en-US" sz="100" dirty="0">
                <a:solidFill>
                  <a:prstClr val="white"/>
                </a:solidFill>
                <a:ea typeface="宋体" panose="02010600030101010101" pitchFamily="2" charset="-122"/>
              </a:rPr>
              <a:t>字体下载：</a:t>
            </a:r>
            <a:r>
              <a:rPr lang="en-US" altLang="zh-CN" sz="100" dirty="0">
                <a:solidFill>
                  <a:prstClr val="white"/>
                </a:solidFill>
                <a:ea typeface="宋体" panose="02010600030101010101" pitchFamily="2" charset="-122"/>
              </a:rPr>
              <a:t>www.1ppt.com/ziti/</a:t>
            </a:r>
          </a:p>
          <a:p>
            <a:pPr defTabSz="914400"/>
            <a:r>
              <a:rPr lang="en-US" altLang="zh-CN" sz="100" dirty="0">
                <a:solidFill>
                  <a:prstClr val="white"/>
                </a:solidFill>
                <a:ea typeface="宋体" panose="02010600030101010101" pitchFamily="2" charset="-122"/>
              </a:rPr>
              <a:t> </a:t>
            </a:r>
            <a:endParaRPr lang="zh-CN" altLang="en-US" sz="100" dirty="0">
              <a:solidFill>
                <a:prstClr val="white"/>
              </a:solidFill>
              <a:ea typeface="宋体" panose="02010600030101010101" pitchFamily="2" charset="-122"/>
            </a:endParaRPr>
          </a:p>
        </p:txBody>
      </p:sp>
      <p:pic>
        <p:nvPicPr>
          <p:cNvPr id="2" name="图片 1"/>
          <p:cNvPicPr>
            <a:picLocks noChangeAspect="1"/>
          </p:cNvPicPr>
          <p:nvPr/>
        </p:nvPicPr>
        <p:blipFill>
          <a:blip r:embed="rId3"/>
          <a:stretch>
            <a:fillRect/>
          </a:stretch>
        </p:blipFill>
        <p:spPr>
          <a:xfrm>
            <a:off x="1354" y="0"/>
            <a:ext cx="9141291" cy="5143500"/>
          </a:xfrm>
          <a:prstGeom prst="rect">
            <a:avLst/>
          </a:prstGeom>
        </p:spPr>
      </p:pic>
      <p:pic>
        <p:nvPicPr>
          <p:cNvPr id="4" name="图片 3"/>
          <p:cNvPicPr>
            <a:picLocks noChangeAspect="1"/>
          </p:cNvPicPr>
          <p:nvPr/>
        </p:nvPicPr>
        <p:blipFill>
          <a:blip r:embed="rId4"/>
          <a:stretch>
            <a:fillRect/>
          </a:stretch>
        </p:blipFill>
        <p:spPr>
          <a:xfrm>
            <a:off x="1641307" y="294089"/>
            <a:ext cx="6260074" cy="4522858"/>
          </a:xfrm>
          <a:prstGeom prst="rect">
            <a:avLst/>
          </a:prstGeom>
        </p:spPr>
      </p:pic>
      <p:pic>
        <p:nvPicPr>
          <p:cNvPr id="7" name="图片 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020226" y="1047394"/>
            <a:ext cx="2804652" cy="2817025"/>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8" name="文本框 7"/>
          <p:cNvSpPr txBox="1"/>
          <p:nvPr/>
        </p:nvSpPr>
        <p:spPr>
          <a:xfrm>
            <a:off x="312528" y="294089"/>
            <a:ext cx="3948450" cy="5632311"/>
          </a:xfrm>
          <a:prstGeom prst="rect">
            <a:avLst/>
          </a:prstGeom>
          <a:noFill/>
        </p:spPr>
        <p:txBody>
          <a:bodyPr wrap="square" rtlCol="0">
            <a:spAutoFit/>
          </a:bodyPr>
          <a:lstStyle/>
          <a:p>
            <a:r>
              <a:rPr lang="zh-CN" altLang="en-US" sz="7200" dirty="0">
                <a:solidFill>
                  <a:srgbClr val="FFC000"/>
                </a:solidFill>
              </a:rPr>
              <a:t>谢</a:t>
            </a:r>
            <a:endParaRPr lang="en-US" altLang="zh-CN" sz="7200" dirty="0">
              <a:solidFill>
                <a:srgbClr val="FFC000"/>
              </a:solidFill>
            </a:endParaRPr>
          </a:p>
          <a:p>
            <a:r>
              <a:rPr lang="zh-CN" altLang="en-US" sz="7200" dirty="0">
                <a:solidFill>
                  <a:srgbClr val="FFC000"/>
                </a:solidFill>
              </a:rPr>
              <a:t>  谢</a:t>
            </a:r>
            <a:endParaRPr lang="en-US" altLang="zh-CN" sz="7200" dirty="0">
              <a:solidFill>
                <a:srgbClr val="FFC000"/>
              </a:solidFill>
            </a:endParaRPr>
          </a:p>
          <a:p>
            <a:r>
              <a:rPr lang="zh-CN" altLang="en-US" sz="7200" dirty="0">
                <a:solidFill>
                  <a:srgbClr val="FFC000"/>
                </a:solidFill>
              </a:rPr>
              <a:t>  聆</a:t>
            </a:r>
            <a:endParaRPr lang="en-US" altLang="zh-CN" sz="7200" dirty="0">
              <a:solidFill>
                <a:srgbClr val="FFC000"/>
              </a:solidFill>
            </a:endParaRPr>
          </a:p>
          <a:p>
            <a:r>
              <a:rPr lang="zh-CN" altLang="en-US" sz="7200" dirty="0">
                <a:solidFill>
                  <a:srgbClr val="FFC000"/>
                </a:solidFill>
              </a:rPr>
              <a:t>听</a:t>
            </a:r>
            <a:endParaRPr lang="en-US" altLang="zh-CN" sz="7200" dirty="0">
              <a:solidFill>
                <a:srgbClr val="FFC000"/>
              </a:solidFill>
            </a:endParaRPr>
          </a:p>
          <a:p>
            <a:r>
              <a:rPr lang="zh-CN" altLang="en-US" sz="7200" dirty="0">
                <a:solidFill>
                  <a:srgbClr val="FF0000"/>
                </a:solidFill>
              </a:rPr>
              <a:t>           </a:t>
            </a:r>
          </a:p>
        </p:txBody>
      </p:sp>
    </p:spTree>
    <p:extLst>
      <p:ext uri="{BB962C8B-B14F-4D97-AF65-F5344CB8AC3E}">
        <p14:creationId xmlns:p14="http://schemas.microsoft.com/office/powerpoint/2010/main" val="23990959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fltVal val="0"/>
                                          </p:val>
                                        </p:tav>
                                        <p:tav tm="100000">
                                          <p:val>
                                            <p:strVal val="#ppt_w"/>
                                          </p:val>
                                        </p:tav>
                                      </p:tavLst>
                                    </p:anim>
                                    <p:anim calcmode="lin" valueType="num">
                                      <p:cBhvr>
                                        <p:cTn id="8" dur="1000" fill="hold"/>
                                        <p:tgtEl>
                                          <p:spTgt spid="4"/>
                                        </p:tgtEl>
                                        <p:attrNameLst>
                                          <p:attrName>ppt_h</p:attrName>
                                        </p:attrNameLst>
                                      </p:cBhvr>
                                      <p:tavLst>
                                        <p:tav tm="0">
                                          <p:val>
                                            <p:fltVal val="0"/>
                                          </p:val>
                                        </p:tav>
                                        <p:tav tm="100000">
                                          <p:val>
                                            <p:strVal val="#ppt_h"/>
                                          </p:val>
                                        </p:tav>
                                      </p:tavLst>
                                    </p:anim>
                                  </p:childTnLst>
                                </p:cTn>
                              </p:par>
                              <p:par>
                                <p:cTn id="9" presetID="53" presetClass="entr" presetSubtype="16"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p:cTn id="11" dur="500" fill="hold"/>
                                        <p:tgtEl>
                                          <p:spTgt spid="8"/>
                                        </p:tgtEl>
                                        <p:attrNameLst>
                                          <p:attrName>ppt_w</p:attrName>
                                        </p:attrNameLst>
                                      </p:cBhvr>
                                      <p:tavLst>
                                        <p:tav tm="0">
                                          <p:val>
                                            <p:fltVal val="0"/>
                                          </p:val>
                                        </p:tav>
                                        <p:tav tm="100000">
                                          <p:val>
                                            <p:strVal val="#ppt_w"/>
                                          </p:val>
                                        </p:tav>
                                      </p:tavLst>
                                    </p:anim>
                                    <p:anim calcmode="lin" valueType="num">
                                      <p:cBhvr>
                                        <p:cTn id="12" dur="500" fill="hold"/>
                                        <p:tgtEl>
                                          <p:spTgt spid="8"/>
                                        </p:tgtEl>
                                        <p:attrNameLst>
                                          <p:attrName>ppt_h</p:attrName>
                                        </p:attrNameLst>
                                      </p:cBhvr>
                                      <p:tavLst>
                                        <p:tav tm="0">
                                          <p:val>
                                            <p:fltVal val="0"/>
                                          </p:val>
                                        </p:tav>
                                        <p:tav tm="100000">
                                          <p:val>
                                            <p:strVal val="#ppt_h"/>
                                          </p:val>
                                        </p:tav>
                                      </p:tavLst>
                                    </p:anim>
                                    <p:animEffect transition="in" filter="fade">
                                      <p:cBhvr>
                                        <p:cTn id="1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3915</TotalTime>
  <Words>9470</Words>
  <Application>Microsoft Office PowerPoint</Application>
  <PresentationFormat>全屏显示(16:9)</PresentationFormat>
  <Paragraphs>581</Paragraphs>
  <Slides>116</Slides>
  <Notes>14</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116</vt:i4>
      </vt:variant>
    </vt:vector>
  </HeadingPairs>
  <TitlesOfParts>
    <vt:vector size="126" baseType="lpstr">
      <vt:lpstr>等线</vt:lpstr>
      <vt:lpstr>方正书宋简体</vt:lpstr>
      <vt:lpstr>宋体</vt:lpstr>
      <vt:lpstr>微软雅黑</vt:lpstr>
      <vt:lpstr>Arial</vt:lpstr>
      <vt:lpstr>Calibri</vt:lpstr>
      <vt:lpstr>IrisUPC</vt:lpstr>
      <vt:lpstr>Times New Roman</vt:lpstr>
      <vt:lpstr>Wingdings</vt:lpstr>
      <vt:lpstr>Office 主题</vt:lpstr>
      <vt:lpstr>第4章 Hadoop分布式文件系统            </vt:lpstr>
      <vt:lpstr>PowerPoint 演示文稿</vt:lpstr>
      <vt:lpstr>PowerPoint 演示文稿</vt:lpstr>
      <vt:lpstr>1 Hadoop</vt:lpstr>
      <vt:lpstr>1 Hadoop—发展历史</vt:lpstr>
      <vt:lpstr>1 Hadoop—优势</vt:lpstr>
      <vt:lpstr>1 Hadoop—生态</vt:lpstr>
      <vt:lpstr>1 Hadoop—生态系统</vt:lpstr>
      <vt:lpstr>1 Hadoop—生态系统组件</vt:lpstr>
      <vt:lpstr>1 Hadoop—核心组件</vt:lpstr>
      <vt:lpstr>1 Hadoop—核心组件</vt:lpstr>
      <vt:lpstr>1 Hadoop—核心组件</vt:lpstr>
      <vt:lpstr>1 Hadoop—核心组件</vt:lpstr>
      <vt:lpstr>1 Hadoop—Hadoop1.0集群组成</vt:lpstr>
      <vt:lpstr>1 Hadoop—Hadoop1.0集群组成</vt:lpstr>
      <vt:lpstr>1 Hadoop—Hadoop1.0集群组成</vt:lpstr>
      <vt:lpstr>1 Hadoop—Hadoop1.0集群组成</vt:lpstr>
      <vt:lpstr>1 Hadoop—Hadoop1.0集群组成</vt:lpstr>
      <vt:lpstr>1 Hadoop—Hadoop1.0集群组成</vt:lpstr>
      <vt:lpstr>1 Hadoop— Hadoop 2.0中Yarn模型</vt:lpstr>
      <vt:lpstr>1 Hadoop— Hadoop 2.0中Yarn模型</vt:lpstr>
      <vt:lpstr>PowerPoint 演示文稿</vt:lpstr>
      <vt:lpstr>1 Hadoop— Hadoop 2.0中Yarn模型</vt:lpstr>
      <vt:lpstr>1 Hadoop— Hadoop 2.0中Yarn模型</vt:lpstr>
      <vt:lpstr>1 Hadoop— Hadoop 2.0中Yarn模型</vt:lpstr>
      <vt:lpstr>1 Hadoop— Hadoop 2.0中Yarn模型</vt:lpstr>
      <vt:lpstr>1 Hadoop— Hadoop 2.0中Yarn模型</vt:lpstr>
      <vt:lpstr>PowerPoint 演示文稿</vt:lpstr>
      <vt:lpstr>2 HDFS体系结构</vt:lpstr>
      <vt:lpstr>2 HDFS体系结构—HDFS的设计目标</vt:lpstr>
      <vt:lpstr>2 HDFS体系结构—HDFS的设计目标</vt:lpstr>
      <vt:lpstr>2 HDFS体系结构—HDFS的设计目标</vt:lpstr>
      <vt:lpstr>2 HDFS体系结构—Namenode和Datanode</vt:lpstr>
      <vt:lpstr>2 HDFS体系结构—Namenode和Datanode</vt:lpstr>
      <vt:lpstr>2 HDFS体系结构—Namenode和Datanode</vt:lpstr>
      <vt:lpstr>2 HDFS体系结构—读取数据原理</vt:lpstr>
      <vt:lpstr>2 HDFS体系结构—写数据原理</vt:lpstr>
      <vt:lpstr>2 HDFS体系结构—文件系统命名空间</vt:lpstr>
      <vt:lpstr>2 HDFS体系结构—数据容错</vt:lpstr>
      <vt:lpstr>2 HDFS体系结构—副本的管理与使用</vt:lpstr>
      <vt:lpstr>2 HDFS体系结构—副本的管理与使用</vt:lpstr>
      <vt:lpstr>2 HDFS体系结构—副本的管理与使用</vt:lpstr>
      <vt:lpstr>2 HDFS体系结构—特性总结</vt:lpstr>
      <vt:lpstr>PowerPoint 演示文稿</vt:lpstr>
      <vt:lpstr>3 HDFS初探—开始HDFS旅程</vt:lpstr>
      <vt:lpstr>3 HDFS初探—开始HDFS旅程</vt:lpstr>
      <vt:lpstr>3 Hadoop初探 — 命令结构</vt:lpstr>
      <vt:lpstr>3 HDFS初探—开始HDFS旅程</vt:lpstr>
      <vt:lpstr>3 HDFS初探—添加数据文件</vt:lpstr>
      <vt:lpstr>3 HDFS初探—添加数据文件</vt:lpstr>
      <vt:lpstr>3 HDFS初探—从HDFS中下载文件</vt:lpstr>
      <vt:lpstr>3 HDFS初探—关闭HDFS</vt:lpstr>
      <vt:lpstr>3 HDFS初探—利用Web Console访问HDFS</vt:lpstr>
      <vt:lpstr>3 HDFS初探—利用Web Console访问HDFS</vt:lpstr>
      <vt:lpstr>3 HDFS初探—利用Web Console访问HDFS</vt:lpstr>
      <vt:lpstr>PowerPoint 演示文稿</vt:lpstr>
      <vt:lpstr>4 HDFS常用CLI命令—HDFS CLI总览</vt:lpstr>
      <vt:lpstr>4 HDFS常用CLI命令—HDFS CLI总览</vt:lpstr>
      <vt:lpstr>4 HDFS常用CLI命令—HDFS CLI总览</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4 常用HDFS文件操作命令</vt:lpstr>
      <vt:lpstr>PowerPoint 演示文稿</vt:lpstr>
      <vt:lpstr>5 利用pyhdfs实现HDFS的文件访问</vt:lpstr>
      <vt:lpstr>5 pyhdfs的安装与应用案例</vt:lpstr>
      <vt:lpstr>5 pyhdfs的安装与应用案例</vt:lpstr>
      <vt:lpstr>5 pyhdfs的安装与应用案例</vt:lpstr>
      <vt:lpstr>5 pyhdfs的HdfsClient类</vt:lpstr>
      <vt:lpstr>5 pyhdfs的HdfsClient类</vt:lpstr>
      <vt:lpstr>5 pyhdfs的HdfsClient类</vt:lpstr>
      <vt:lpstr>5 pyhdfs的HdfsClient类</vt:lpstr>
      <vt:lpstr>5 pyhdfs的HdfsClient类</vt:lpstr>
      <vt:lpstr>5 pyhdfs的HdfsClient类</vt:lpstr>
      <vt:lpstr>5 pyhdfs的HdfsClient类</vt:lpstr>
      <vt:lpstr>5 pyhdfs的HdfsClient类</vt:lpstr>
      <vt:lpstr>5 pyhdfs的HdfsClient类</vt:lpstr>
      <vt:lpstr>5 pyhdfs的HdfsClient类</vt:lpstr>
      <vt:lpstr>5 pyhdfs的HdfsClient类</vt:lpstr>
      <vt:lpstr>5 pyhdfs的HdfsClient类</vt:lpstr>
      <vt:lpstr>5 pyhdfs的HdfsClient类</vt:lpstr>
      <vt:lpstr>5 pyhdfs的HdfsClient类</vt:lpstr>
      <vt:lpstr>5 pyhdfs的HdfsClient类</vt:lpstr>
      <vt:lpstr>5 pyhdfs的HdfsClient类</vt:lpstr>
      <vt:lpstr>PowerPoint 演示文稿</vt:lpstr>
      <vt:lpstr>6 pyhdfs应用实战</vt:lpstr>
      <vt:lpstr>6 pyhdfs应用实战</vt:lpstr>
      <vt:lpstr>6 pyhdfs应用实战</vt:lpstr>
      <vt:lpstr>6 pyhdfs应用实战</vt:lpstr>
      <vt:lpstr>6 pyhdfs应用实战</vt:lpstr>
      <vt:lpstr>6 pyhdfs应用实战</vt:lpstr>
      <vt:lpstr>PowerPoint 演示文稿</vt:lpstr>
      <vt:lpstr>7 本章小结</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Hadoop简介</dc:title>
  <dc:creator>fjnuzs</dc:creator>
  <cp:lastModifiedBy>lenovo</cp:lastModifiedBy>
  <cp:revision>220</cp:revision>
  <dcterms:created xsi:type="dcterms:W3CDTF">2018-05-28T02:49:46Z</dcterms:created>
  <dcterms:modified xsi:type="dcterms:W3CDTF">2022-11-06T03:19:52Z</dcterms:modified>
</cp:coreProperties>
</file>
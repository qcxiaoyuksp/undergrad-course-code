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handoutMasterIdLst>
    <p:handoutMasterId r:id="rId66"/>
  </p:handoutMasterIdLst>
  <p:sldIdLst>
    <p:sldId id="288" r:id="rId2"/>
    <p:sldId id="290" r:id="rId3"/>
    <p:sldId id="289" r:id="rId4"/>
    <p:sldId id="318" r:id="rId5"/>
    <p:sldId id="582" r:id="rId6"/>
    <p:sldId id="583" r:id="rId7"/>
    <p:sldId id="584" r:id="rId8"/>
    <p:sldId id="585" r:id="rId9"/>
    <p:sldId id="586" r:id="rId10"/>
    <p:sldId id="589" r:id="rId11"/>
    <p:sldId id="591" r:id="rId12"/>
    <p:sldId id="593" r:id="rId13"/>
    <p:sldId id="642" r:id="rId14"/>
    <p:sldId id="651" r:id="rId15"/>
    <p:sldId id="594" r:id="rId16"/>
    <p:sldId id="595" r:id="rId17"/>
    <p:sldId id="596" r:id="rId18"/>
    <p:sldId id="597" r:id="rId19"/>
    <p:sldId id="598" r:id="rId20"/>
    <p:sldId id="600" r:id="rId21"/>
    <p:sldId id="601" r:id="rId22"/>
    <p:sldId id="602" r:id="rId23"/>
    <p:sldId id="603" r:id="rId24"/>
    <p:sldId id="604" r:id="rId25"/>
    <p:sldId id="643" r:id="rId26"/>
    <p:sldId id="605" r:id="rId27"/>
    <p:sldId id="599" r:id="rId28"/>
    <p:sldId id="607" r:id="rId29"/>
    <p:sldId id="608" r:id="rId30"/>
    <p:sldId id="609" r:id="rId31"/>
    <p:sldId id="610" r:id="rId32"/>
    <p:sldId id="611" r:id="rId33"/>
    <p:sldId id="612" r:id="rId34"/>
    <p:sldId id="613" r:id="rId35"/>
    <p:sldId id="615" r:id="rId36"/>
    <p:sldId id="616" r:id="rId37"/>
    <p:sldId id="644" r:id="rId38"/>
    <p:sldId id="646" r:id="rId39"/>
    <p:sldId id="617" r:id="rId40"/>
    <p:sldId id="618" r:id="rId41"/>
    <p:sldId id="645" r:id="rId42"/>
    <p:sldId id="619" r:id="rId43"/>
    <p:sldId id="649" r:id="rId44"/>
    <p:sldId id="650" r:id="rId45"/>
    <p:sldId id="648" r:id="rId46"/>
    <p:sldId id="620" r:id="rId47"/>
    <p:sldId id="621" r:id="rId48"/>
    <p:sldId id="622" r:id="rId49"/>
    <p:sldId id="638" r:id="rId50"/>
    <p:sldId id="637" r:id="rId51"/>
    <p:sldId id="623" r:id="rId52"/>
    <p:sldId id="624" r:id="rId53"/>
    <p:sldId id="625" r:id="rId54"/>
    <p:sldId id="627" r:id="rId55"/>
    <p:sldId id="629" r:id="rId56"/>
    <p:sldId id="639" r:id="rId57"/>
    <p:sldId id="628" r:id="rId58"/>
    <p:sldId id="631" r:id="rId59"/>
    <p:sldId id="633" r:id="rId60"/>
    <p:sldId id="634" r:id="rId61"/>
    <p:sldId id="636" r:id="rId62"/>
    <p:sldId id="640" r:id="rId63"/>
    <p:sldId id="641" r:id="rId64"/>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4">
          <p15:clr>
            <a:srgbClr val="A4A3A4"/>
          </p15:clr>
        </p15:guide>
        <p15:guide id="2" pos="282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4991"/>
    <a:srgbClr val="5B9BD5"/>
    <a:srgbClr val="0070C0"/>
    <a:srgbClr val="55375F"/>
    <a:srgbClr val="7CA82A"/>
    <a:srgbClr val="442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60" autoAdjust="0"/>
    <p:restoredTop sz="84817" autoAdjust="0"/>
  </p:normalViewPr>
  <p:slideViewPr>
    <p:cSldViewPr snapToGrid="0">
      <p:cViewPr varScale="1">
        <p:scale>
          <a:sx n="126" d="100"/>
          <a:sy n="126" d="100"/>
        </p:scale>
        <p:origin x="786" y="120"/>
      </p:cViewPr>
      <p:guideLst>
        <p:guide orient="horz" pos="1684"/>
        <p:guide pos="2823"/>
      </p:guideLst>
    </p:cSldViewPr>
  </p:slideViewPr>
  <p:outlineViewPr>
    <p:cViewPr>
      <p:scale>
        <a:sx n="33" d="100"/>
        <a:sy n="33" d="100"/>
      </p:scale>
      <p:origin x="0" y="-108"/>
    </p:cViewPr>
  </p:outlineViewPr>
  <p:notesTextViewPr>
    <p:cViewPr>
      <p:scale>
        <a:sx n="1" d="1"/>
        <a:sy n="1" d="1"/>
      </p:scale>
      <p:origin x="0" y="0"/>
    </p:cViewPr>
  </p:notesTextViewPr>
  <p:sorterViewPr>
    <p:cViewPr>
      <p:scale>
        <a:sx n="121" d="100"/>
        <a:sy n="121" d="100"/>
      </p:scale>
      <p:origin x="0" y="0"/>
    </p:cViewPr>
  </p:sorterViewPr>
  <p:notesViewPr>
    <p:cSldViewPr snapToGrid="0">
      <p:cViewPr varScale="1">
        <p:scale>
          <a:sx n="95" d="100"/>
          <a:sy n="95" d="100"/>
        </p:scale>
        <p:origin x="4042"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9BCB7CA-4058-4961-8B72-7F0A36371207}" type="doc">
      <dgm:prSet loTypeId="urn:microsoft.com/office/officeart/2005/8/layout/default#1" loCatId="list" qsTypeId="urn:microsoft.com/office/officeart/2005/8/quickstyle/simple1#2" qsCatId="simple" csTypeId="urn:microsoft.com/office/officeart/2005/8/colors/accent1_2#2" csCatId="accent1" phldr="1"/>
      <dgm:spPr/>
      <dgm:t>
        <a:bodyPr/>
        <a:lstStyle/>
        <a:p>
          <a:endParaRPr lang="zh-CN" altLang="en-US"/>
        </a:p>
      </dgm:t>
    </dgm:pt>
    <dgm:pt modelId="{2A5FC6F5-CC10-47AC-B171-F18D3D8CEB62}">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t" anchorCtr="0"/>
        <a:lstStyle/>
        <a:p>
          <a:pPr algn="l" eaLnBrk="1" fontAlgn="auto" latinLnBrk="0" hangingPunct="1">
            <a:lnSpc>
              <a:spcPts val="2000"/>
            </a:lnSpc>
            <a:spcBef>
              <a:spcPct val="0"/>
            </a:spcBef>
            <a:spcAft>
              <a:spcPts val="0"/>
            </a:spcAft>
          </a:pPr>
          <a:r>
            <a:rPr lang="zh-CN" sz="1600" b="1" kern="1200" dirty="0">
              <a:solidFill>
                <a:srgbClr val="FF0000"/>
              </a:solidFill>
              <a:latin typeface="微软雅黑" panose="020B0503020204020204" pitchFamily="34" charset="-122"/>
              <a:ea typeface="微软雅黑" panose="020B0503020204020204" pitchFamily="34" charset="-122"/>
              <a:cs typeface="+mn-cs"/>
            </a:rPr>
            <a:t>场景1：</a:t>
          </a:r>
          <a:r>
            <a:rPr sz="1600" kern="1200" dirty="0">
              <a:solidFill>
                <a:prstClr val="black"/>
              </a:solidFill>
              <a:latin typeface="等线" panose="02010600030101010101" pitchFamily="2" charset="-122"/>
              <a:ea typeface="等线" panose="02010600030101010101" pitchFamily="2" charset="-122"/>
              <a:cs typeface="+mn-cs"/>
            </a:rPr>
            <a:t>某个在线购物App需要建立用户推荐系统（user recommendation system），可以根据用户访问的节点区域、浏览的商品信息等来分析消费者的行为或购买意图，以便更加快速地将用户可能想要购买的商品推送到界面上。为了实现这一功能，就需要收集用户在App上点击的产品数据、访问的页面和访问时间等日志信息，并保存到后台的大数据平台上去进行分析和挖掘，这样的需求就可以用Flume来实现。</a:t>
          </a:r>
        </a:p>
      </dgm:t>
    </dgm:pt>
    <dgm:pt modelId="{D434E9F8-AF12-4185-8617-946E502F6C9F}" type="parTrans" cxnId="{1B4F39CA-D845-4B63-BB60-9DAC93C90FF3}">
      <dgm:prSet/>
      <dgm:spPr/>
      <dgm:t>
        <a:bodyPr/>
        <a:lstStyle/>
        <a:p>
          <a:endParaRPr lang="zh-CN" altLang="en-US"/>
        </a:p>
      </dgm:t>
    </dgm:pt>
    <dgm:pt modelId="{9C9736E4-9E86-45EF-90FE-E33F1427DE6F}" type="sibTrans" cxnId="{1B4F39CA-D845-4B63-BB60-9DAC93C90FF3}">
      <dgm:prSet/>
      <dgm:spPr/>
      <dgm:t>
        <a:bodyPr/>
        <a:lstStyle/>
        <a:p>
          <a:endParaRPr lang="zh-CN" altLang="en-US"/>
        </a:p>
      </dgm:t>
    </dgm:pt>
    <dgm:pt modelId="{C84AD586-4D50-4E17-839E-0D3FBBC1A715}">
      <dgm:prSet phldr="0" custT="1">
        <dgm:style>
          <a:lnRef idx="2">
            <a:schemeClr val="accent4"/>
          </a:lnRef>
          <a:fillRef idx="1">
            <a:schemeClr val="lt1"/>
          </a:fillRef>
          <a:effectRef idx="0">
            <a:schemeClr val="accent4"/>
          </a:effectRef>
          <a:fontRef idx="minor">
            <a:schemeClr val="dk1"/>
          </a:fontRef>
        </dgm:style>
      </dgm:prSet>
      <dgm:spPr>
        <a:effectLst>
          <a:outerShdw blurRad="50800" dist="38100" dir="2700000" algn="tl" rotWithShape="0">
            <a:prstClr val="black">
              <a:alpha val="40000"/>
            </a:prstClr>
          </a:outerShdw>
        </a:effectLst>
      </dgm:spPr>
      <dgm:t>
        <a:bodyPr vert="horz" wrap="square" lIns="57150" tIns="57150" rIns="57150" bIns="57150" numCol="1" spcCol="1270" anchor="ctr" anchorCtr="0"/>
        <a:lstStyle/>
        <a:p>
          <a:pPr algn="l" defTabSz="622300">
            <a:lnSpc>
              <a:spcPct val="90000"/>
            </a:lnSpc>
            <a:spcBef>
              <a:spcPct val="0"/>
            </a:spcBef>
            <a:spcAft>
              <a:spcPct val="35000"/>
            </a:spcAft>
          </a:pPr>
          <a:endParaRPr lang="en-US" sz="1800" b="1" kern="1200" dirty="0">
            <a:solidFill>
              <a:srgbClr val="FF0000"/>
            </a:solidFill>
            <a:latin typeface="微软雅黑" panose="020B0503020204020204" pitchFamily="34" charset="-122"/>
            <a:ea typeface="微软雅黑" panose="020B0503020204020204" pitchFamily="34" charset="-122"/>
            <a:cs typeface="+mn-cs"/>
          </a:endParaRPr>
        </a:p>
        <a:p>
          <a:pPr algn="l" defTabSz="622300">
            <a:lnSpc>
              <a:spcPct val="90000"/>
            </a:lnSpc>
            <a:spcBef>
              <a:spcPct val="0"/>
            </a:spcBef>
            <a:spcAft>
              <a:spcPct val="35000"/>
            </a:spcAft>
          </a:pPr>
          <a:r>
            <a:rPr lang="en-US" sz="1800" b="1" kern="1200" dirty="0">
              <a:solidFill>
                <a:srgbClr val="FF0000"/>
              </a:solidFill>
              <a:latin typeface="微软雅黑" panose="020B0503020204020204" pitchFamily="34" charset="-122"/>
              <a:ea typeface="微软雅黑" panose="020B0503020204020204" pitchFamily="34" charset="-122"/>
              <a:cs typeface="+mn-cs"/>
            </a:rPr>
            <a:t>场景2：</a:t>
          </a:r>
          <a:r>
            <a:rPr lang="zh-CN" sz="1800" b="1" kern="1200" dirty="0">
              <a:solidFill>
                <a:prstClr val="black"/>
              </a:solidFill>
              <a:latin typeface="微软雅黑" panose="020B0503020204020204" pitchFamily="34" charset="-122"/>
              <a:ea typeface="微软雅黑" panose="020B0503020204020204" pitchFamily="34" charset="-122"/>
              <a:cs typeface="+mn-cs"/>
            </a:rPr>
            <a:t> </a:t>
          </a:r>
          <a:r>
            <a:rPr lang="zh-CN" sz="1800" kern="1200" dirty="0">
              <a:solidFill>
                <a:prstClr val="black"/>
              </a:solidFill>
              <a:latin typeface="等线" panose="02010600030101010101" pitchFamily="2" charset="-122"/>
              <a:ea typeface="等线" panose="02010600030101010101" pitchFamily="2" charset="-122"/>
              <a:cs typeface="等线" panose="02010600030101010101" pitchFamily="2" charset="-122"/>
            </a:rPr>
            <a:t>目前许多新闻类App（如：今日头条、腾讯新闻等）大都具有“内容推送”、“广告定时投放”和“新闻私人订制”等功能，这需要收集用户操作的日志信息（如：用户曾经看过的新闻、视频、观看时间和IP地址等），以便使用智能推荐系统进行分析，更精准地向用户推荐可能感兴趣的内容和广告。</a:t>
          </a:r>
        </a:p>
        <a:p>
          <a:pPr algn="l" defTabSz="622300">
            <a:lnSpc>
              <a:spcPct val="90000"/>
            </a:lnSpc>
            <a:spcBef>
              <a:spcPct val="0"/>
            </a:spcBef>
            <a:spcAft>
              <a:spcPct val="35000"/>
            </a:spcAft>
          </a:pPr>
          <a:r>
            <a:rPr sz="1800" kern="1200" dirty="0">
              <a:solidFill>
                <a:prstClr val="black"/>
              </a:solidFill>
              <a:latin typeface="等线" panose="02010600030101010101" pitchFamily="2" charset="-122"/>
              <a:ea typeface="等线" panose="02010600030101010101" pitchFamily="2" charset="-122"/>
              <a:cs typeface="等线" panose="02010600030101010101" pitchFamily="2" charset="-122"/>
            </a:rPr>
            <a:t>        </a:t>
          </a:r>
        </a:p>
      </dgm:t>
    </dgm:pt>
    <dgm:pt modelId="{261B6E8E-834C-4276-9046-801AD2D35065}" type="parTrans" cxnId="{F8031F64-B75C-4A36-BA4E-69FED9212A74}">
      <dgm:prSet/>
      <dgm:spPr/>
      <dgm:t>
        <a:bodyPr/>
        <a:lstStyle/>
        <a:p>
          <a:endParaRPr lang="zh-CN" altLang="en-US"/>
        </a:p>
      </dgm:t>
    </dgm:pt>
    <dgm:pt modelId="{E29A8147-950F-455A-97F7-D4D43AD9DC6F}" type="sibTrans" cxnId="{F8031F64-B75C-4A36-BA4E-69FED9212A74}">
      <dgm:prSet/>
      <dgm:spPr/>
      <dgm:t>
        <a:bodyPr/>
        <a:lstStyle/>
        <a:p>
          <a:endParaRPr lang="zh-CN" altLang="en-US"/>
        </a:p>
      </dgm:t>
    </dgm:pt>
    <dgm:pt modelId="{95B1ABD2-F4DC-43D3-BD20-2530EB102C43}" type="pres">
      <dgm:prSet presAssocID="{A9BCB7CA-4058-4961-8B72-7F0A36371207}" presName="diagram" presStyleCnt="0">
        <dgm:presLayoutVars>
          <dgm:dir/>
          <dgm:resizeHandles val="exact"/>
        </dgm:presLayoutVars>
      </dgm:prSet>
      <dgm:spPr/>
    </dgm:pt>
    <dgm:pt modelId="{DE671073-EABD-40C6-895B-BF187AA98700}" type="pres">
      <dgm:prSet presAssocID="{2A5FC6F5-CC10-47AC-B171-F18D3D8CEB62}" presName="node" presStyleLbl="node1" presStyleIdx="0" presStyleCnt="2" custScaleX="224797" custScaleY="71176" custLinFactNeighborX="106" custLinFactNeighborY="-4943">
        <dgm:presLayoutVars>
          <dgm:bulletEnabled val="1"/>
        </dgm:presLayoutVars>
      </dgm:prSet>
      <dgm:spPr>
        <a:xfrm>
          <a:off x="409508" y="718"/>
          <a:ext cx="3261315" cy="1811841"/>
        </a:xfrm>
        <a:prstGeom prst="rect">
          <a:avLst/>
        </a:prstGeom>
      </dgm:spPr>
    </dgm:pt>
    <dgm:pt modelId="{19C9195F-357F-4D81-A2BB-122F9286369F}" type="pres">
      <dgm:prSet presAssocID="{9C9736E4-9E86-45EF-90FE-E33F1427DE6F}" presName="sibTrans" presStyleCnt="0"/>
      <dgm:spPr/>
    </dgm:pt>
    <dgm:pt modelId="{DE4A3BF8-84B3-4B8F-A3FE-94BCB6C821D4}" type="pres">
      <dgm:prSet presAssocID="{C84AD586-4D50-4E17-839E-0D3FBBC1A715}" presName="node" presStyleLbl="node1" presStyleIdx="1" presStyleCnt="2" custScaleX="224483" custScaleY="63691" custLinFactNeighborX="39" custLinFactNeighborY="-10665">
        <dgm:presLayoutVars>
          <dgm:bulletEnabled val="1"/>
        </dgm:presLayoutVars>
      </dgm:prSet>
      <dgm:spPr>
        <a:xfrm>
          <a:off x="3974314" y="2119384"/>
          <a:ext cx="3253272" cy="1800715"/>
        </a:xfrm>
        <a:prstGeom prst="rect">
          <a:avLst/>
        </a:prstGeom>
      </dgm:spPr>
    </dgm:pt>
  </dgm:ptLst>
  <dgm:cxnLst>
    <dgm:cxn modelId="{F8031F64-B75C-4A36-BA4E-69FED9212A74}" srcId="{A9BCB7CA-4058-4961-8B72-7F0A36371207}" destId="{C84AD586-4D50-4E17-839E-0D3FBBC1A715}" srcOrd="1" destOrd="0" parTransId="{261B6E8E-834C-4276-9046-801AD2D35065}" sibTransId="{E29A8147-950F-455A-97F7-D4D43AD9DC6F}"/>
    <dgm:cxn modelId="{DC45D148-F373-488C-8628-C564D5DBAFA2}" type="presOf" srcId="{2A5FC6F5-CC10-47AC-B171-F18D3D8CEB62}" destId="{DE671073-EABD-40C6-895B-BF187AA98700}" srcOrd="0" destOrd="0" presId="urn:microsoft.com/office/officeart/2005/8/layout/default#1"/>
    <dgm:cxn modelId="{8896CA80-5E2F-4902-BE7D-A379747F300A}" type="presOf" srcId="{A9BCB7CA-4058-4961-8B72-7F0A36371207}" destId="{95B1ABD2-F4DC-43D3-BD20-2530EB102C43}" srcOrd="0" destOrd="0" presId="urn:microsoft.com/office/officeart/2005/8/layout/default#1"/>
    <dgm:cxn modelId="{9BAEAF8D-916D-49F9-A9B9-658909416D6D}" type="presOf" srcId="{C84AD586-4D50-4E17-839E-0D3FBBC1A715}" destId="{DE4A3BF8-84B3-4B8F-A3FE-94BCB6C821D4}" srcOrd="0" destOrd="0" presId="urn:microsoft.com/office/officeart/2005/8/layout/default#1"/>
    <dgm:cxn modelId="{1B4F39CA-D845-4B63-BB60-9DAC93C90FF3}" srcId="{A9BCB7CA-4058-4961-8B72-7F0A36371207}" destId="{2A5FC6F5-CC10-47AC-B171-F18D3D8CEB62}" srcOrd="0" destOrd="0" parTransId="{D434E9F8-AF12-4185-8617-946E502F6C9F}" sibTransId="{9C9736E4-9E86-45EF-90FE-E33F1427DE6F}"/>
    <dgm:cxn modelId="{C9E0EA4F-B370-41BC-B49B-3F84AA6AB3AD}" type="presParOf" srcId="{95B1ABD2-F4DC-43D3-BD20-2530EB102C43}" destId="{DE671073-EABD-40C6-895B-BF187AA98700}" srcOrd="0" destOrd="0" presId="urn:microsoft.com/office/officeart/2005/8/layout/default#1"/>
    <dgm:cxn modelId="{A2CCA93B-4C5D-4A75-9331-36670FE7CF90}" type="presParOf" srcId="{95B1ABD2-F4DC-43D3-BD20-2530EB102C43}" destId="{19C9195F-357F-4D81-A2BB-122F9286369F}" srcOrd="1" destOrd="0" presId="urn:microsoft.com/office/officeart/2005/8/layout/default#1"/>
    <dgm:cxn modelId="{DFCE8642-C3F9-4D2F-BDA0-F066F0B72F94}" type="presParOf" srcId="{95B1ABD2-F4DC-43D3-BD20-2530EB102C43}" destId="{DE4A3BF8-84B3-4B8F-A3FE-94BCB6C821D4}" srcOrd="2"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6962C7-8437-49A5-82C9-A65B2614BE29}" type="doc">
      <dgm:prSet loTypeId="urn:microsoft.com/office/officeart/2005/8/layout/target2#1" loCatId="relationship" qsTypeId="urn:microsoft.com/office/officeart/2005/8/quickstyle/simple1#4" qsCatId="simple" csTypeId="urn:microsoft.com/office/officeart/2005/8/colors/accent1_2#5" csCatId="accent1" phldr="1"/>
      <dgm:spPr/>
      <dgm:t>
        <a:bodyPr/>
        <a:lstStyle/>
        <a:p>
          <a:endParaRPr lang="zh-CN" altLang="en-US"/>
        </a:p>
      </dgm:t>
    </dgm:pt>
    <dgm:pt modelId="{7F287658-72BB-4194-AD55-3D0B5BCF7BD9}">
      <dgm:prSet phldr="0" custT="1"/>
      <dgm:spPr>
        <a:solidFill>
          <a:srgbClr val="274991"/>
        </a:solidFill>
      </dgm:spPr>
      <dgm:t>
        <a:bodyPr vert="horz" wrap="square"/>
        <a:lstStyle/>
        <a:p>
          <a:pPr>
            <a:lnSpc>
              <a:spcPct val="100000"/>
            </a:lnSpc>
            <a:spcBef>
              <a:spcPct val="0"/>
            </a:spcBef>
            <a:spcAft>
              <a:spcPct val="35000"/>
            </a:spcAft>
          </a:pPr>
          <a:r>
            <a:rPr lang="zh-CN" altLang="en-US" sz="1800" b="1" dirty="0">
              <a:solidFill>
                <a:srgbClr val="FFFF00"/>
              </a:solidFill>
            </a:rPr>
            <a:t>实体识别          </a:t>
          </a:r>
          <a:endParaRPr lang="zh-CN" altLang="en-US" sz="1400" dirty="0"/>
        </a:p>
      </dgm:t>
    </dgm:pt>
    <dgm:pt modelId="{D93ACA21-6D7D-4305-8C4D-08EC2385F94C}" type="parTrans" cxnId="{810A6DD9-4A86-461A-825B-54AFAFF04957}">
      <dgm:prSet/>
      <dgm:spPr/>
      <dgm:t>
        <a:bodyPr/>
        <a:lstStyle/>
        <a:p>
          <a:endParaRPr lang="zh-CN" altLang="en-US"/>
        </a:p>
      </dgm:t>
    </dgm:pt>
    <dgm:pt modelId="{D407AF7D-3997-4690-B31A-A8B4E1DFD5CF}" type="sibTrans" cxnId="{810A6DD9-4A86-461A-825B-54AFAFF04957}">
      <dgm:prSet/>
      <dgm:spPr/>
      <dgm:t>
        <a:bodyPr/>
        <a:lstStyle/>
        <a:p>
          <a:endParaRPr lang="zh-CN" altLang="en-US"/>
        </a:p>
      </dgm:t>
    </dgm:pt>
    <dgm:pt modelId="{CCC4DDC2-CB7D-4A6E-BEA0-FF87B2D369B2}">
      <dgm:prSet phldr="0" custT="1"/>
      <dgm:spPr>
        <a:solidFill>
          <a:schemeClr val="bg1"/>
        </a:solidFill>
      </dgm:spPr>
      <dgm:t>
        <a:bodyPr vert="horz" wrap="square"/>
        <a:lstStyle/>
        <a:p>
          <a:pPr>
            <a:lnSpc>
              <a:spcPct val="100000"/>
            </a:lnSpc>
            <a:spcBef>
              <a:spcPct val="0"/>
            </a:spcBef>
            <a:spcAft>
              <a:spcPct val="35000"/>
            </a:spcAft>
          </a:pPr>
          <a:r>
            <a:rPr lang="zh-CN" altLang="en-US" sz="1400" b="1" dirty="0">
              <a:solidFill>
                <a:schemeClr val="tx1"/>
              </a:solidFill>
            </a:rPr>
            <a:t>来自多个数据源的现实世界的实体有时并不一定是匹配的                </a:t>
          </a:r>
        </a:p>
      </dgm:t>
    </dgm:pt>
    <dgm:pt modelId="{8E2E49D6-5484-4055-9897-F04B6D444893}" type="parTrans" cxnId="{1BFBFB86-8482-4CC4-8038-39AA408F8DE6}">
      <dgm:prSet/>
      <dgm:spPr/>
      <dgm:t>
        <a:bodyPr/>
        <a:lstStyle/>
        <a:p>
          <a:endParaRPr lang="zh-CN" altLang="en-US"/>
        </a:p>
      </dgm:t>
    </dgm:pt>
    <dgm:pt modelId="{459A504E-F422-49A2-8E29-F78BB22E83E0}" type="sibTrans" cxnId="{1BFBFB86-8482-4CC4-8038-39AA408F8DE6}">
      <dgm:prSet/>
      <dgm:spPr/>
      <dgm:t>
        <a:bodyPr/>
        <a:lstStyle/>
        <a:p>
          <a:endParaRPr lang="zh-CN" altLang="en-US"/>
        </a:p>
      </dgm:t>
    </dgm:pt>
    <dgm:pt modelId="{D8B44335-238C-4744-8605-771F197313B6}" type="pres">
      <dgm:prSet presAssocID="{996962C7-8437-49A5-82C9-A65B2614BE29}" presName="Name0" presStyleCnt="0">
        <dgm:presLayoutVars>
          <dgm:chMax val="3"/>
          <dgm:chPref val="1"/>
          <dgm:dir/>
          <dgm:animLvl val="lvl"/>
          <dgm:resizeHandles/>
        </dgm:presLayoutVars>
      </dgm:prSet>
      <dgm:spPr/>
    </dgm:pt>
    <dgm:pt modelId="{0766C073-1A1A-456B-B4AB-A27EA4F644BA}" type="pres">
      <dgm:prSet presAssocID="{996962C7-8437-49A5-82C9-A65B2614BE29}" presName="outerBox" presStyleCnt="0"/>
      <dgm:spPr/>
    </dgm:pt>
    <dgm:pt modelId="{4FD94BF0-FB59-425F-9441-8761B58ADA82}" type="pres">
      <dgm:prSet presAssocID="{996962C7-8437-49A5-82C9-A65B2614BE29}" presName="outerBoxParent" presStyleLbl="node1" presStyleIdx="0" presStyleCnt="2" custLinFactNeighborX="2146" custLinFactNeighborY="-1586"/>
      <dgm:spPr/>
    </dgm:pt>
    <dgm:pt modelId="{6D851DDA-85B0-4FE3-8DA4-A68CE100B776}" type="pres">
      <dgm:prSet presAssocID="{996962C7-8437-49A5-82C9-A65B2614BE29}" presName="outerBoxChildren" presStyleCnt="0"/>
      <dgm:spPr/>
    </dgm:pt>
    <dgm:pt modelId="{7CEFC3C3-312A-41C1-AFAA-399DFD772F0B}" type="pres">
      <dgm:prSet presAssocID="{996962C7-8437-49A5-82C9-A65B2614BE29}" presName="middleBox" presStyleCnt="0"/>
      <dgm:spPr/>
    </dgm:pt>
    <dgm:pt modelId="{30C19FD3-EAB0-47B6-AEEA-E4530C2C3060}" type="pres">
      <dgm:prSet presAssocID="{996962C7-8437-49A5-82C9-A65B2614BE29}" presName="middleBoxParent" presStyleLbl="node1" presStyleIdx="1" presStyleCnt="2" custScaleY="68898" custLinFactNeighborY="534"/>
      <dgm:spPr/>
    </dgm:pt>
    <dgm:pt modelId="{9F5BCBE0-4F26-450B-802C-AAA2A1D07FAD}" type="pres">
      <dgm:prSet presAssocID="{996962C7-8437-49A5-82C9-A65B2614BE29}" presName="middleBoxChildren" presStyleCnt="0"/>
      <dgm:spPr/>
    </dgm:pt>
  </dgm:ptLst>
  <dgm:cxnLst>
    <dgm:cxn modelId="{AC7C591D-BE73-4865-A9B5-069041A78EC0}" type="presOf" srcId="{7F287658-72BB-4194-AD55-3D0B5BCF7BD9}" destId="{4FD94BF0-FB59-425F-9441-8761B58ADA82}" srcOrd="0" destOrd="0" presId="urn:microsoft.com/office/officeart/2005/8/layout/target2#1"/>
    <dgm:cxn modelId="{8D433178-585B-4A51-B019-73E7FBA71586}" type="presOf" srcId="{CCC4DDC2-CB7D-4A6E-BEA0-FF87B2D369B2}" destId="{30C19FD3-EAB0-47B6-AEEA-E4530C2C3060}" srcOrd="0" destOrd="0" presId="urn:microsoft.com/office/officeart/2005/8/layout/target2#1"/>
    <dgm:cxn modelId="{1BFBFB86-8482-4CC4-8038-39AA408F8DE6}" srcId="{996962C7-8437-49A5-82C9-A65B2614BE29}" destId="{CCC4DDC2-CB7D-4A6E-BEA0-FF87B2D369B2}" srcOrd="1" destOrd="0" parTransId="{8E2E49D6-5484-4055-9897-F04B6D444893}" sibTransId="{459A504E-F422-49A2-8E29-F78BB22E83E0}"/>
    <dgm:cxn modelId="{810A6DD9-4A86-461A-825B-54AFAFF04957}" srcId="{996962C7-8437-49A5-82C9-A65B2614BE29}" destId="{7F287658-72BB-4194-AD55-3D0B5BCF7BD9}" srcOrd="0" destOrd="0" parTransId="{D93ACA21-6D7D-4305-8C4D-08EC2385F94C}" sibTransId="{D407AF7D-3997-4690-B31A-A8B4E1DFD5CF}"/>
    <dgm:cxn modelId="{662742F4-E3D3-499F-9A28-21379FCC43A0}" type="presOf" srcId="{996962C7-8437-49A5-82C9-A65B2614BE29}" destId="{D8B44335-238C-4744-8605-771F197313B6}" srcOrd="0" destOrd="0" presId="urn:microsoft.com/office/officeart/2005/8/layout/target2#1"/>
    <dgm:cxn modelId="{CC378527-4728-425B-B68F-FA0F0809CEA8}" type="presParOf" srcId="{D8B44335-238C-4744-8605-771F197313B6}" destId="{0766C073-1A1A-456B-B4AB-A27EA4F644BA}" srcOrd="0" destOrd="0" presId="urn:microsoft.com/office/officeart/2005/8/layout/target2#1"/>
    <dgm:cxn modelId="{2B8E5C5B-C1A5-4D6A-9C68-CE4CB4F02624}" type="presParOf" srcId="{0766C073-1A1A-456B-B4AB-A27EA4F644BA}" destId="{4FD94BF0-FB59-425F-9441-8761B58ADA82}" srcOrd="0" destOrd="0" presId="urn:microsoft.com/office/officeart/2005/8/layout/target2#1"/>
    <dgm:cxn modelId="{1A748322-B356-4851-AD4D-EFD89D91E41F}" type="presParOf" srcId="{0766C073-1A1A-456B-B4AB-A27EA4F644BA}" destId="{6D851DDA-85B0-4FE3-8DA4-A68CE100B776}" srcOrd="1" destOrd="0" presId="urn:microsoft.com/office/officeart/2005/8/layout/target2#1"/>
    <dgm:cxn modelId="{FC86285B-6859-4C0C-8C37-006F745C9EB9}" type="presParOf" srcId="{D8B44335-238C-4744-8605-771F197313B6}" destId="{7CEFC3C3-312A-41C1-AFAA-399DFD772F0B}" srcOrd="1" destOrd="0" presId="urn:microsoft.com/office/officeart/2005/8/layout/target2#1"/>
    <dgm:cxn modelId="{548EF7FE-86E6-4AD1-9C41-83AD9DA657E5}" type="presParOf" srcId="{7CEFC3C3-312A-41C1-AFAA-399DFD772F0B}" destId="{30C19FD3-EAB0-47B6-AEEA-E4530C2C3060}" srcOrd="0" destOrd="0" presId="urn:microsoft.com/office/officeart/2005/8/layout/target2#1"/>
    <dgm:cxn modelId="{0FC54FDA-C0C2-40C9-97F6-C6699828A50E}" type="presParOf" srcId="{7CEFC3C3-312A-41C1-AFAA-399DFD772F0B}" destId="{9F5BCBE0-4F26-450B-802C-AAA2A1D07FAD}" srcOrd="1" destOrd="0" presId="urn:microsoft.com/office/officeart/2005/8/layout/targe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6962C7-8437-49A5-82C9-A65B2614BE29}" type="doc">
      <dgm:prSet loTypeId="urn:microsoft.com/office/officeart/2005/8/layout/target2#1" loCatId="relationship" qsTypeId="urn:microsoft.com/office/officeart/2005/8/quickstyle/simple1#4" qsCatId="simple" csTypeId="urn:microsoft.com/office/officeart/2005/8/colors/accent1_2#5" csCatId="accent1" phldr="1"/>
      <dgm:spPr/>
      <dgm:t>
        <a:bodyPr/>
        <a:lstStyle/>
        <a:p>
          <a:endParaRPr lang="zh-CN" altLang="en-US"/>
        </a:p>
      </dgm:t>
    </dgm:pt>
    <dgm:pt modelId="{7F287658-72BB-4194-AD55-3D0B5BCF7BD9}">
      <dgm:prSet phldr="0" custT="1"/>
      <dgm:spPr>
        <a:solidFill>
          <a:srgbClr val="274991"/>
        </a:solidFill>
      </dgm:spPr>
      <dgm:t>
        <a:bodyPr vert="horz" wrap="square"/>
        <a:lstStyle/>
        <a:p>
          <a:pPr>
            <a:lnSpc>
              <a:spcPct val="100000"/>
            </a:lnSpc>
            <a:spcBef>
              <a:spcPct val="0"/>
            </a:spcBef>
            <a:spcAft>
              <a:spcPct val="35000"/>
            </a:spcAft>
          </a:pPr>
          <a:r>
            <a:rPr lang="zh-CN" altLang="en-US" sz="1800" b="1" dirty="0">
              <a:solidFill>
                <a:srgbClr val="FFFF00"/>
              </a:solidFill>
            </a:rPr>
            <a:t>数据冗余问题                              </a:t>
          </a:r>
          <a:endParaRPr lang="zh-CN" altLang="en-US" sz="1400" dirty="0"/>
        </a:p>
      </dgm:t>
    </dgm:pt>
    <dgm:pt modelId="{D93ACA21-6D7D-4305-8C4D-08EC2385F94C}" type="parTrans" cxnId="{BA35A076-94D0-418C-8C86-D5C04900F190}">
      <dgm:prSet/>
      <dgm:spPr/>
      <dgm:t>
        <a:bodyPr/>
        <a:lstStyle/>
        <a:p>
          <a:endParaRPr lang="zh-CN" altLang="en-US"/>
        </a:p>
      </dgm:t>
    </dgm:pt>
    <dgm:pt modelId="{D407AF7D-3997-4690-B31A-A8B4E1DFD5CF}" type="sibTrans" cxnId="{BA35A076-94D0-418C-8C86-D5C04900F190}">
      <dgm:prSet/>
      <dgm:spPr/>
      <dgm:t>
        <a:bodyPr/>
        <a:lstStyle/>
        <a:p>
          <a:endParaRPr lang="zh-CN" altLang="en-US"/>
        </a:p>
      </dgm:t>
    </dgm:pt>
    <dgm:pt modelId="{CCC4DDC2-CB7D-4A6E-BEA0-FF87B2D369B2}">
      <dgm:prSet phldr="0" custT="1"/>
      <dgm:spPr>
        <a:solidFill>
          <a:schemeClr val="bg1"/>
        </a:solidFill>
      </dgm:spPr>
      <dgm:t>
        <a:bodyPr vert="horz" wrap="square"/>
        <a:lstStyle/>
        <a:p>
          <a:pPr>
            <a:lnSpc>
              <a:spcPct val="100000"/>
            </a:lnSpc>
            <a:spcBef>
              <a:spcPct val="0"/>
            </a:spcBef>
            <a:spcAft>
              <a:spcPct val="35000"/>
            </a:spcAft>
          </a:pPr>
          <a:r>
            <a:rPr lang="zh-CN" altLang="en-US" sz="1400" b="1" dirty="0">
              <a:solidFill>
                <a:schemeClr val="tx1"/>
              </a:solidFill>
            </a:rPr>
            <a:t>在一个数据集合中重复的数据称为数据冗余，产生冗余的因素有很多，比如每天备份公司的数据会产生冗余，在多个系统中存储相同的信息时，也可能最终得到冗余数据。</a:t>
          </a:r>
          <a:endParaRPr lang="zh-CN" altLang="en-US" sz="1400" dirty="0">
            <a:solidFill>
              <a:schemeClr val="tx1"/>
            </a:solidFill>
          </a:endParaRPr>
        </a:p>
      </dgm:t>
    </dgm:pt>
    <dgm:pt modelId="{8E2E49D6-5484-4055-9897-F04B6D444893}" type="parTrans" cxnId="{5F5D10C6-52FE-4561-B78E-509BA09E5A4E}">
      <dgm:prSet/>
      <dgm:spPr/>
      <dgm:t>
        <a:bodyPr/>
        <a:lstStyle/>
        <a:p>
          <a:endParaRPr lang="zh-CN" altLang="en-US"/>
        </a:p>
      </dgm:t>
    </dgm:pt>
    <dgm:pt modelId="{459A504E-F422-49A2-8E29-F78BB22E83E0}" type="sibTrans" cxnId="{5F5D10C6-52FE-4561-B78E-509BA09E5A4E}">
      <dgm:prSet/>
      <dgm:spPr/>
      <dgm:t>
        <a:bodyPr/>
        <a:lstStyle/>
        <a:p>
          <a:endParaRPr lang="zh-CN" altLang="en-US"/>
        </a:p>
      </dgm:t>
    </dgm:pt>
    <dgm:pt modelId="{D8B44335-238C-4744-8605-771F197313B6}" type="pres">
      <dgm:prSet presAssocID="{996962C7-8437-49A5-82C9-A65B2614BE29}" presName="Name0" presStyleCnt="0">
        <dgm:presLayoutVars>
          <dgm:chMax val="3"/>
          <dgm:chPref val="1"/>
          <dgm:dir/>
          <dgm:animLvl val="lvl"/>
          <dgm:resizeHandles/>
        </dgm:presLayoutVars>
      </dgm:prSet>
      <dgm:spPr/>
    </dgm:pt>
    <dgm:pt modelId="{0766C073-1A1A-456B-B4AB-A27EA4F644BA}" type="pres">
      <dgm:prSet presAssocID="{996962C7-8437-49A5-82C9-A65B2614BE29}" presName="outerBox" presStyleCnt="0"/>
      <dgm:spPr/>
    </dgm:pt>
    <dgm:pt modelId="{4FD94BF0-FB59-425F-9441-8761B58ADA82}" type="pres">
      <dgm:prSet presAssocID="{996962C7-8437-49A5-82C9-A65B2614BE29}" presName="outerBoxParent" presStyleLbl="node1" presStyleIdx="0" presStyleCnt="2" custLinFactNeighborX="2146" custLinFactNeighborY="-1586"/>
      <dgm:spPr/>
    </dgm:pt>
    <dgm:pt modelId="{6D851DDA-85B0-4FE3-8DA4-A68CE100B776}" type="pres">
      <dgm:prSet presAssocID="{996962C7-8437-49A5-82C9-A65B2614BE29}" presName="outerBoxChildren" presStyleCnt="0"/>
      <dgm:spPr/>
    </dgm:pt>
    <dgm:pt modelId="{7CEFC3C3-312A-41C1-AFAA-399DFD772F0B}" type="pres">
      <dgm:prSet presAssocID="{996962C7-8437-49A5-82C9-A65B2614BE29}" presName="middleBox" presStyleCnt="0"/>
      <dgm:spPr/>
    </dgm:pt>
    <dgm:pt modelId="{30C19FD3-EAB0-47B6-AEEA-E4530C2C3060}" type="pres">
      <dgm:prSet presAssocID="{996962C7-8437-49A5-82C9-A65B2614BE29}" presName="middleBoxParent" presStyleLbl="node1" presStyleIdx="1" presStyleCnt="2" custScaleY="68898" custLinFactNeighborY="534"/>
      <dgm:spPr/>
    </dgm:pt>
    <dgm:pt modelId="{9F5BCBE0-4F26-450B-802C-AAA2A1D07FAD}" type="pres">
      <dgm:prSet presAssocID="{996962C7-8437-49A5-82C9-A65B2614BE29}" presName="middleBoxChildren" presStyleCnt="0"/>
      <dgm:spPr/>
    </dgm:pt>
  </dgm:ptLst>
  <dgm:cxnLst>
    <dgm:cxn modelId="{BA35A076-94D0-418C-8C86-D5C04900F190}" srcId="{996962C7-8437-49A5-82C9-A65B2614BE29}" destId="{7F287658-72BB-4194-AD55-3D0B5BCF7BD9}" srcOrd="0" destOrd="0" parTransId="{D93ACA21-6D7D-4305-8C4D-08EC2385F94C}" sibTransId="{D407AF7D-3997-4690-B31A-A8B4E1DFD5CF}"/>
    <dgm:cxn modelId="{376D4E8D-8183-49D9-84CC-AC1AED1C4973}" type="presOf" srcId="{7F287658-72BB-4194-AD55-3D0B5BCF7BD9}" destId="{4FD94BF0-FB59-425F-9441-8761B58ADA82}" srcOrd="0" destOrd="0" presId="urn:microsoft.com/office/officeart/2005/8/layout/target2#1"/>
    <dgm:cxn modelId="{A3163897-67E7-49F8-9C8A-BCFA0CB2E917}" type="presOf" srcId="{CCC4DDC2-CB7D-4A6E-BEA0-FF87B2D369B2}" destId="{30C19FD3-EAB0-47B6-AEEA-E4530C2C3060}" srcOrd="0" destOrd="0" presId="urn:microsoft.com/office/officeart/2005/8/layout/target2#1"/>
    <dgm:cxn modelId="{5F5D10C6-52FE-4561-B78E-509BA09E5A4E}" srcId="{996962C7-8437-49A5-82C9-A65B2614BE29}" destId="{CCC4DDC2-CB7D-4A6E-BEA0-FF87B2D369B2}" srcOrd="1" destOrd="0" parTransId="{8E2E49D6-5484-4055-9897-F04B6D444893}" sibTransId="{459A504E-F422-49A2-8E29-F78BB22E83E0}"/>
    <dgm:cxn modelId="{922533CF-42C5-4344-9ACF-1CCD2796F865}" type="presOf" srcId="{996962C7-8437-49A5-82C9-A65B2614BE29}" destId="{D8B44335-238C-4744-8605-771F197313B6}" srcOrd="0" destOrd="0" presId="urn:microsoft.com/office/officeart/2005/8/layout/target2#1"/>
    <dgm:cxn modelId="{F1CF650C-F45D-46CA-BE75-103FCF6862C9}" type="presParOf" srcId="{D8B44335-238C-4744-8605-771F197313B6}" destId="{0766C073-1A1A-456B-B4AB-A27EA4F644BA}" srcOrd="0" destOrd="0" presId="urn:microsoft.com/office/officeart/2005/8/layout/target2#1"/>
    <dgm:cxn modelId="{4378E31F-CFEE-445F-ABAE-061B5108FC57}" type="presParOf" srcId="{0766C073-1A1A-456B-B4AB-A27EA4F644BA}" destId="{4FD94BF0-FB59-425F-9441-8761B58ADA82}" srcOrd="0" destOrd="0" presId="urn:microsoft.com/office/officeart/2005/8/layout/target2#1"/>
    <dgm:cxn modelId="{388D2CDB-9410-4A8F-9152-DD75FEFC1364}" type="presParOf" srcId="{0766C073-1A1A-456B-B4AB-A27EA4F644BA}" destId="{6D851DDA-85B0-4FE3-8DA4-A68CE100B776}" srcOrd="1" destOrd="0" presId="urn:microsoft.com/office/officeart/2005/8/layout/target2#1"/>
    <dgm:cxn modelId="{C63B23DE-FA1B-4751-913B-E3269E43D205}" type="presParOf" srcId="{D8B44335-238C-4744-8605-771F197313B6}" destId="{7CEFC3C3-312A-41C1-AFAA-399DFD772F0B}" srcOrd="1" destOrd="0" presId="urn:microsoft.com/office/officeart/2005/8/layout/target2#1"/>
    <dgm:cxn modelId="{5775A67E-E4E4-46EF-9A02-2CCAF3D494D9}" type="presParOf" srcId="{7CEFC3C3-312A-41C1-AFAA-399DFD772F0B}" destId="{30C19FD3-EAB0-47B6-AEEA-E4530C2C3060}" srcOrd="0" destOrd="0" presId="urn:microsoft.com/office/officeart/2005/8/layout/target2#1"/>
    <dgm:cxn modelId="{7013979B-0ABC-496C-BE57-2BFCC8740D3A}" type="presParOf" srcId="{7CEFC3C3-312A-41C1-AFAA-399DFD772F0B}" destId="{9F5BCBE0-4F26-450B-802C-AAA2A1D07FAD}" srcOrd="1" destOrd="0" presId="urn:microsoft.com/office/officeart/2005/8/layout/target2#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6962C7-8437-49A5-82C9-A65B2614BE29}" type="doc">
      <dgm:prSet loTypeId="urn:microsoft.com/office/officeart/2005/8/layout/target2#1" loCatId="relationship" qsTypeId="urn:microsoft.com/office/officeart/2005/8/quickstyle/simple1#4" qsCatId="simple" csTypeId="urn:microsoft.com/office/officeart/2005/8/colors/accent1_2#5" csCatId="accent1" phldr="1"/>
      <dgm:spPr/>
      <dgm:t>
        <a:bodyPr/>
        <a:lstStyle/>
        <a:p>
          <a:endParaRPr lang="zh-CN" altLang="en-US"/>
        </a:p>
      </dgm:t>
    </dgm:pt>
    <dgm:pt modelId="{7F287658-72BB-4194-AD55-3D0B5BCF7BD9}">
      <dgm:prSet phldr="0" custT="1"/>
      <dgm:spPr>
        <a:solidFill>
          <a:srgbClr val="274991"/>
        </a:solidFill>
      </dgm:spPr>
      <dgm:t>
        <a:bodyPr vert="horz" wrap="square"/>
        <a:lstStyle/>
        <a:p>
          <a:pPr>
            <a:lnSpc>
              <a:spcPct val="100000"/>
            </a:lnSpc>
            <a:spcBef>
              <a:spcPct val="0"/>
            </a:spcBef>
            <a:spcAft>
              <a:spcPct val="35000"/>
            </a:spcAft>
          </a:pPr>
          <a:r>
            <a:rPr lang="zh-CN" altLang="en-US" sz="1800" b="1" dirty="0">
              <a:solidFill>
                <a:srgbClr val="FFFF00"/>
              </a:solidFill>
            </a:rPr>
            <a:t>数据值冲突的检测与处理</a:t>
          </a:r>
        </a:p>
      </dgm:t>
    </dgm:pt>
    <dgm:pt modelId="{D93ACA21-6D7D-4305-8C4D-08EC2385F94C}" type="parTrans" cxnId="{A6084B76-6512-4171-8FD8-C23363A469D6}">
      <dgm:prSet/>
      <dgm:spPr/>
      <dgm:t>
        <a:bodyPr/>
        <a:lstStyle/>
        <a:p>
          <a:endParaRPr lang="zh-CN" altLang="en-US"/>
        </a:p>
      </dgm:t>
    </dgm:pt>
    <dgm:pt modelId="{D407AF7D-3997-4690-B31A-A8B4E1DFD5CF}" type="sibTrans" cxnId="{A6084B76-6512-4171-8FD8-C23363A469D6}">
      <dgm:prSet/>
      <dgm:spPr/>
      <dgm:t>
        <a:bodyPr/>
        <a:lstStyle/>
        <a:p>
          <a:endParaRPr lang="zh-CN" altLang="en-US"/>
        </a:p>
      </dgm:t>
    </dgm:pt>
    <dgm:pt modelId="{CCC4DDC2-CB7D-4A6E-BEA0-FF87B2D369B2}">
      <dgm:prSet phldr="0" custT="1"/>
      <dgm:spPr>
        <a:solidFill>
          <a:schemeClr val="bg1"/>
        </a:solidFill>
      </dgm:spPr>
      <dgm:t>
        <a:bodyPr vert="horz" wrap="square"/>
        <a:lstStyle/>
        <a:p>
          <a:pPr>
            <a:lnSpc>
              <a:spcPct val="100000"/>
            </a:lnSpc>
            <a:spcBef>
              <a:spcPct val="0"/>
            </a:spcBef>
            <a:spcAft>
              <a:spcPct val="35000"/>
            </a:spcAft>
          </a:pPr>
          <a:r>
            <a:rPr lang="zh-CN" altLang="en-US" sz="1400" b="1" dirty="0">
              <a:solidFill>
                <a:schemeClr val="tx1"/>
              </a:solidFill>
            </a:rPr>
            <a:t>由于编码、数据类型、单位等不同，对于同一个实体，不同数据源的属性值可能不同。例如，某实体的重量属性可能在一个系统中以公制单位存放，而在另一个系统中以英制单位存放。</a:t>
          </a:r>
        </a:p>
      </dgm:t>
    </dgm:pt>
    <dgm:pt modelId="{8E2E49D6-5484-4055-9897-F04B6D444893}" type="parTrans" cxnId="{DC1A1C7A-F7D5-4E1A-804D-A577E74FEAE3}">
      <dgm:prSet/>
      <dgm:spPr/>
      <dgm:t>
        <a:bodyPr/>
        <a:lstStyle/>
        <a:p>
          <a:endParaRPr lang="zh-CN" altLang="en-US"/>
        </a:p>
      </dgm:t>
    </dgm:pt>
    <dgm:pt modelId="{459A504E-F422-49A2-8E29-F78BB22E83E0}" type="sibTrans" cxnId="{DC1A1C7A-F7D5-4E1A-804D-A577E74FEAE3}">
      <dgm:prSet/>
      <dgm:spPr/>
      <dgm:t>
        <a:bodyPr/>
        <a:lstStyle/>
        <a:p>
          <a:endParaRPr lang="zh-CN" altLang="en-US"/>
        </a:p>
      </dgm:t>
    </dgm:pt>
    <dgm:pt modelId="{D8B44335-238C-4744-8605-771F197313B6}" type="pres">
      <dgm:prSet presAssocID="{996962C7-8437-49A5-82C9-A65B2614BE29}" presName="Name0" presStyleCnt="0">
        <dgm:presLayoutVars>
          <dgm:chMax val="3"/>
          <dgm:chPref val="1"/>
          <dgm:dir/>
          <dgm:animLvl val="lvl"/>
          <dgm:resizeHandles/>
        </dgm:presLayoutVars>
      </dgm:prSet>
      <dgm:spPr/>
    </dgm:pt>
    <dgm:pt modelId="{0766C073-1A1A-456B-B4AB-A27EA4F644BA}" type="pres">
      <dgm:prSet presAssocID="{996962C7-8437-49A5-82C9-A65B2614BE29}" presName="outerBox" presStyleCnt="0"/>
      <dgm:spPr/>
    </dgm:pt>
    <dgm:pt modelId="{4FD94BF0-FB59-425F-9441-8761B58ADA82}" type="pres">
      <dgm:prSet presAssocID="{996962C7-8437-49A5-82C9-A65B2614BE29}" presName="outerBoxParent" presStyleLbl="node1" presStyleIdx="0" presStyleCnt="2" custLinFactNeighborX="2146" custLinFactNeighborY="-1586"/>
      <dgm:spPr/>
    </dgm:pt>
    <dgm:pt modelId="{6D851DDA-85B0-4FE3-8DA4-A68CE100B776}" type="pres">
      <dgm:prSet presAssocID="{996962C7-8437-49A5-82C9-A65B2614BE29}" presName="outerBoxChildren" presStyleCnt="0"/>
      <dgm:spPr/>
    </dgm:pt>
    <dgm:pt modelId="{7CEFC3C3-312A-41C1-AFAA-399DFD772F0B}" type="pres">
      <dgm:prSet presAssocID="{996962C7-8437-49A5-82C9-A65B2614BE29}" presName="middleBox" presStyleCnt="0"/>
      <dgm:spPr/>
    </dgm:pt>
    <dgm:pt modelId="{30C19FD3-EAB0-47B6-AEEA-E4530C2C3060}" type="pres">
      <dgm:prSet presAssocID="{996962C7-8437-49A5-82C9-A65B2614BE29}" presName="middleBoxParent" presStyleLbl="node1" presStyleIdx="1" presStyleCnt="2" custScaleY="68898" custLinFactNeighborY="534"/>
      <dgm:spPr/>
    </dgm:pt>
    <dgm:pt modelId="{9F5BCBE0-4F26-450B-802C-AAA2A1D07FAD}" type="pres">
      <dgm:prSet presAssocID="{996962C7-8437-49A5-82C9-A65B2614BE29}" presName="middleBoxChildren" presStyleCnt="0"/>
      <dgm:spPr/>
    </dgm:pt>
  </dgm:ptLst>
  <dgm:cxnLst>
    <dgm:cxn modelId="{E2CBDE48-EAA1-4DDE-B67F-82CB43F35C97}" type="presOf" srcId="{CCC4DDC2-CB7D-4A6E-BEA0-FF87B2D369B2}" destId="{30C19FD3-EAB0-47B6-AEEA-E4530C2C3060}" srcOrd="0" destOrd="0" presId="urn:microsoft.com/office/officeart/2005/8/layout/target2#1"/>
    <dgm:cxn modelId="{15FB3753-178E-4FD8-B329-24FB5B43A5B8}" type="presOf" srcId="{7F287658-72BB-4194-AD55-3D0B5BCF7BD9}" destId="{4FD94BF0-FB59-425F-9441-8761B58ADA82}" srcOrd="0" destOrd="0" presId="urn:microsoft.com/office/officeart/2005/8/layout/target2#1"/>
    <dgm:cxn modelId="{A6084B76-6512-4171-8FD8-C23363A469D6}" srcId="{996962C7-8437-49A5-82C9-A65B2614BE29}" destId="{7F287658-72BB-4194-AD55-3D0B5BCF7BD9}" srcOrd="0" destOrd="0" parTransId="{D93ACA21-6D7D-4305-8C4D-08EC2385F94C}" sibTransId="{D407AF7D-3997-4690-B31A-A8B4E1DFD5CF}"/>
    <dgm:cxn modelId="{A15FE858-0138-4BC7-B65A-46AD19738C32}" type="presOf" srcId="{996962C7-8437-49A5-82C9-A65B2614BE29}" destId="{D8B44335-238C-4744-8605-771F197313B6}" srcOrd="0" destOrd="0" presId="urn:microsoft.com/office/officeart/2005/8/layout/target2#1"/>
    <dgm:cxn modelId="{DC1A1C7A-F7D5-4E1A-804D-A577E74FEAE3}" srcId="{996962C7-8437-49A5-82C9-A65B2614BE29}" destId="{CCC4DDC2-CB7D-4A6E-BEA0-FF87B2D369B2}" srcOrd="1" destOrd="0" parTransId="{8E2E49D6-5484-4055-9897-F04B6D444893}" sibTransId="{459A504E-F422-49A2-8E29-F78BB22E83E0}"/>
    <dgm:cxn modelId="{3C73E1D9-431D-4964-B92A-FD55854B61ED}" type="presParOf" srcId="{D8B44335-238C-4744-8605-771F197313B6}" destId="{0766C073-1A1A-456B-B4AB-A27EA4F644BA}" srcOrd="0" destOrd="0" presId="urn:microsoft.com/office/officeart/2005/8/layout/target2#1"/>
    <dgm:cxn modelId="{E9970D27-68E2-433F-AE4C-30412C60A9E0}" type="presParOf" srcId="{0766C073-1A1A-456B-B4AB-A27EA4F644BA}" destId="{4FD94BF0-FB59-425F-9441-8761B58ADA82}" srcOrd="0" destOrd="0" presId="urn:microsoft.com/office/officeart/2005/8/layout/target2#1"/>
    <dgm:cxn modelId="{894F0C51-2A7E-4B8A-A514-E13A0861DD1C}" type="presParOf" srcId="{0766C073-1A1A-456B-B4AB-A27EA4F644BA}" destId="{6D851DDA-85B0-4FE3-8DA4-A68CE100B776}" srcOrd="1" destOrd="0" presId="urn:microsoft.com/office/officeart/2005/8/layout/target2#1"/>
    <dgm:cxn modelId="{6C86B883-1769-49CF-A83B-12B5B0A9CCBF}" type="presParOf" srcId="{D8B44335-238C-4744-8605-771F197313B6}" destId="{7CEFC3C3-312A-41C1-AFAA-399DFD772F0B}" srcOrd="1" destOrd="0" presId="urn:microsoft.com/office/officeart/2005/8/layout/target2#1"/>
    <dgm:cxn modelId="{1F8B2A49-6B9F-43BF-8287-C63EC6C8433F}" type="presParOf" srcId="{7CEFC3C3-312A-41C1-AFAA-399DFD772F0B}" destId="{30C19FD3-EAB0-47B6-AEEA-E4530C2C3060}" srcOrd="0" destOrd="0" presId="urn:microsoft.com/office/officeart/2005/8/layout/target2#1"/>
    <dgm:cxn modelId="{754E93AA-75BA-4CA4-AA29-C344AB5079BF}" type="presParOf" srcId="{7CEFC3C3-312A-41C1-AFAA-399DFD772F0B}" destId="{9F5BCBE0-4F26-450B-802C-AAA2A1D07FAD}" srcOrd="1" destOrd="0" presId="urn:microsoft.com/office/officeart/2005/8/layout/target2#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96962C7-8437-49A5-82C9-A65B2614BE29}" type="doc">
      <dgm:prSet loTypeId="urn:microsoft.com/office/officeart/2005/8/layout/target2#1" loCatId="relationship" qsTypeId="urn:microsoft.com/office/officeart/2005/8/quickstyle/simple1#4" qsCatId="simple" csTypeId="urn:microsoft.com/office/officeart/2005/8/colors/accent1_2#5" csCatId="accent1" phldr="1"/>
      <dgm:spPr/>
      <dgm:t>
        <a:bodyPr/>
        <a:lstStyle/>
        <a:p>
          <a:endParaRPr lang="zh-CN" altLang="en-US"/>
        </a:p>
      </dgm:t>
    </dgm:pt>
    <dgm:pt modelId="{D8B44335-238C-4744-8605-771F197313B6}" type="pres">
      <dgm:prSet presAssocID="{996962C7-8437-49A5-82C9-A65B2614BE29}" presName="Name0" presStyleCnt="0">
        <dgm:presLayoutVars>
          <dgm:chMax val="3"/>
          <dgm:chPref val="1"/>
          <dgm:dir/>
          <dgm:animLvl val="lvl"/>
          <dgm:resizeHandles/>
        </dgm:presLayoutVars>
      </dgm:prSet>
      <dgm:spPr/>
    </dgm:pt>
  </dgm:ptLst>
  <dgm:cxnLst>
    <dgm:cxn modelId="{9F6A75B4-ACD0-4F3C-8E6E-5145C1383C4A}" type="presOf" srcId="{996962C7-8437-49A5-82C9-A65B2614BE29}" destId="{D8B44335-238C-4744-8605-771F197313B6}" srcOrd="0" destOrd="0" presId="urn:microsoft.com/office/officeart/2005/8/layout/targe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71073-EABD-40C6-895B-BF187AA98700}">
      <dsp:nvSpPr>
        <dsp:cNvPr id="0" name=""/>
        <dsp:cNvSpPr/>
      </dsp:nvSpPr>
      <dsp:spPr>
        <a:xfrm>
          <a:off x="375" y="72466"/>
          <a:ext cx="7747894" cy="1471898"/>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t" anchorCtr="0">
          <a:noAutofit/>
        </a:bodyPr>
        <a:lstStyle/>
        <a:p>
          <a:pPr marL="0" lvl="0" indent="0" algn="l" defTabSz="711200" eaLnBrk="1" fontAlgn="auto" latinLnBrk="0" hangingPunct="1">
            <a:lnSpc>
              <a:spcPts val="2000"/>
            </a:lnSpc>
            <a:spcBef>
              <a:spcPct val="0"/>
            </a:spcBef>
            <a:spcAft>
              <a:spcPts val="0"/>
            </a:spcAft>
            <a:buNone/>
          </a:pPr>
          <a:r>
            <a:rPr lang="zh-CN" sz="1600" b="1" kern="1200" dirty="0">
              <a:solidFill>
                <a:srgbClr val="FF0000"/>
              </a:solidFill>
              <a:latin typeface="微软雅黑" panose="020B0503020204020204" pitchFamily="34" charset="-122"/>
              <a:ea typeface="微软雅黑" panose="020B0503020204020204" pitchFamily="34" charset="-122"/>
              <a:cs typeface="+mn-cs"/>
            </a:rPr>
            <a:t>场景1：</a:t>
          </a:r>
          <a:r>
            <a:rPr sz="1600" kern="1200" dirty="0">
              <a:solidFill>
                <a:prstClr val="black"/>
              </a:solidFill>
              <a:latin typeface="等线" panose="02010600030101010101" pitchFamily="2" charset="-122"/>
              <a:ea typeface="等线" panose="02010600030101010101" pitchFamily="2" charset="-122"/>
              <a:cs typeface="+mn-cs"/>
            </a:rPr>
            <a:t>某个在线购物App需要建立用户推荐系统（user recommendation system），可以根据用户访问的节点区域、浏览的商品信息等来分析消费者的行为或购买意图，以便更加快速地将用户可能想要购买的商品推送到界面上。为了实现这一功能，就需要收集用户在App上点击的产品数据、访问的页面和访问时间等日志信息，并保存到后台的大数据平台上去进行分析和挖掘，这样的需求就可以用Flume来实现。</a:t>
          </a:r>
        </a:p>
      </dsp:txBody>
      <dsp:txXfrm>
        <a:off x="375" y="72466"/>
        <a:ext cx="7747894" cy="1471898"/>
      </dsp:txXfrm>
    </dsp:sp>
    <dsp:sp modelId="{DE4A3BF8-84B3-4B8F-A3FE-94BCB6C821D4}">
      <dsp:nvSpPr>
        <dsp:cNvPr id="0" name=""/>
        <dsp:cNvSpPr/>
      </dsp:nvSpPr>
      <dsp:spPr>
        <a:xfrm>
          <a:off x="6943" y="1770697"/>
          <a:ext cx="7737071" cy="1317111"/>
        </a:xfrm>
        <a:prstGeom prst="rect">
          <a:avLst/>
        </a:prstGeom>
        <a:solidFill>
          <a:schemeClr val="lt1"/>
        </a:solidFill>
        <a:ln w="12700" cap="flat" cmpd="sng" algn="ctr">
          <a:solidFill>
            <a:schemeClr val="accent4"/>
          </a:solidFill>
          <a:prstDash val="solid"/>
          <a:miter lim="800000"/>
        </a:ln>
        <a:effectLst>
          <a:outerShdw blurRad="50800" dist="38100" dir="2700000" algn="tl" rotWithShape="0">
            <a:prstClr val="black">
              <a:alpha val="40000"/>
            </a:prstClr>
          </a:outerShdw>
        </a:effectLst>
      </dsp:spPr>
      <dsp:style>
        <a:lnRef idx="2">
          <a:schemeClr val="accent4"/>
        </a:lnRef>
        <a:fillRef idx="1">
          <a:schemeClr val="lt1"/>
        </a:fillRef>
        <a:effectRef idx="0">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l" defTabSz="622300">
            <a:lnSpc>
              <a:spcPct val="90000"/>
            </a:lnSpc>
            <a:spcBef>
              <a:spcPct val="0"/>
            </a:spcBef>
            <a:spcAft>
              <a:spcPct val="35000"/>
            </a:spcAft>
            <a:buNone/>
          </a:pPr>
          <a:endParaRPr lang="en-US" sz="1800" b="1" kern="1200" dirty="0">
            <a:solidFill>
              <a:srgbClr val="FF0000"/>
            </a:solidFill>
            <a:latin typeface="微软雅黑" panose="020B0503020204020204" pitchFamily="34" charset="-122"/>
            <a:ea typeface="微软雅黑" panose="020B0503020204020204" pitchFamily="34" charset="-122"/>
            <a:cs typeface="+mn-cs"/>
          </a:endParaRPr>
        </a:p>
        <a:p>
          <a:pPr marL="0" lvl="0" indent="0" algn="l" defTabSz="622300">
            <a:lnSpc>
              <a:spcPct val="90000"/>
            </a:lnSpc>
            <a:spcBef>
              <a:spcPct val="0"/>
            </a:spcBef>
            <a:spcAft>
              <a:spcPct val="35000"/>
            </a:spcAft>
            <a:buNone/>
          </a:pPr>
          <a:r>
            <a:rPr lang="en-US" sz="1800" b="1" kern="1200" dirty="0">
              <a:solidFill>
                <a:srgbClr val="FF0000"/>
              </a:solidFill>
              <a:latin typeface="微软雅黑" panose="020B0503020204020204" pitchFamily="34" charset="-122"/>
              <a:ea typeface="微软雅黑" panose="020B0503020204020204" pitchFamily="34" charset="-122"/>
              <a:cs typeface="+mn-cs"/>
            </a:rPr>
            <a:t>场景2：</a:t>
          </a:r>
          <a:r>
            <a:rPr lang="zh-CN" sz="1800" b="1" kern="1200" dirty="0">
              <a:solidFill>
                <a:prstClr val="black"/>
              </a:solidFill>
              <a:latin typeface="微软雅黑" panose="020B0503020204020204" pitchFamily="34" charset="-122"/>
              <a:ea typeface="微软雅黑" panose="020B0503020204020204" pitchFamily="34" charset="-122"/>
              <a:cs typeface="+mn-cs"/>
            </a:rPr>
            <a:t> </a:t>
          </a:r>
          <a:r>
            <a:rPr lang="zh-CN" sz="1800" kern="1200" dirty="0">
              <a:solidFill>
                <a:prstClr val="black"/>
              </a:solidFill>
              <a:latin typeface="等线" panose="02010600030101010101" pitchFamily="2" charset="-122"/>
              <a:ea typeface="等线" panose="02010600030101010101" pitchFamily="2" charset="-122"/>
              <a:cs typeface="等线" panose="02010600030101010101" pitchFamily="2" charset="-122"/>
            </a:rPr>
            <a:t>目前许多新闻类App（如：今日头条、腾讯新闻等）大都具有“内容推送”、“广告定时投放”和“新闻私人订制”等功能，这需要收集用户操作的日志信息（如：用户曾经看过的新闻、视频、观看时间和IP地址等），以便使用智能推荐系统进行分析，更精准地向用户推荐可能感兴趣的内容和广告。</a:t>
          </a:r>
        </a:p>
        <a:p>
          <a:pPr marL="0" lvl="0" indent="0" algn="l" defTabSz="622300">
            <a:lnSpc>
              <a:spcPct val="90000"/>
            </a:lnSpc>
            <a:spcBef>
              <a:spcPct val="0"/>
            </a:spcBef>
            <a:spcAft>
              <a:spcPct val="35000"/>
            </a:spcAft>
            <a:buNone/>
          </a:pPr>
          <a:r>
            <a:rPr sz="1800" kern="1200" dirty="0">
              <a:solidFill>
                <a:prstClr val="black"/>
              </a:solidFill>
              <a:latin typeface="等线" panose="02010600030101010101" pitchFamily="2" charset="-122"/>
              <a:ea typeface="等线" panose="02010600030101010101" pitchFamily="2" charset="-122"/>
              <a:cs typeface="等线" panose="02010600030101010101" pitchFamily="2" charset="-122"/>
            </a:rPr>
            <a:t>        </a:t>
          </a:r>
        </a:p>
      </dsp:txBody>
      <dsp:txXfrm>
        <a:off x="6943" y="1770697"/>
        <a:ext cx="7737071" cy="13171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94BF0-FB59-425F-9441-8761B58ADA82}">
      <dsp:nvSpPr>
        <dsp:cNvPr id="0" name=""/>
        <dsp:cNvSpPr/>
      </dsp:nvSpPr>
      <dsp:spPr>
        <a:xfrm>
          <a:off x="0" y="0"/>
          <a:ext cx="2512695" cy="2493010"/>
        </a:xfrm>
        <a:prstGeom prst="roundRect">
          <a:avLst>
            <a:gd name="adj" fmla="val 8500"/>
          </a:avLst>
        </a:prstGeom>
        <a:solidFill>
          <a:srgbClr val="27499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1934853" numCol="1" spcCol="1270" anchor="t" anchorCtr="0">
          <a:noAutofit/>
        </a:bodyPr>
        <a:lstStyle/>
        <a:p>
          <a:pPr marL="0" lvl="0" indent="0" algn="l" defTabSz="800100">
            <a:lnSpc>
              <a:spcPct val="100000"/>
            </a:lnSpc>
            <a:spcBef>
              <a:spcPct val="0"/>
            </a:spcBef>
            <a:spcAft>
              <a:spcPct val="35000"/>
            </a:spcAft>
            <a:buNone/>
          </a:pPr>
          <a:r>
            <a:rPr lang="zh-CN" altLang="en-US" sz="1800" b="1" kern="1200" dirty="0">
              <a:solidFill>
                <a:srgbClr val="FFFF00"/>
              </a:solidFill>
            </a:rPr>
            <a:t>实体识别          </a:t>
          </a:r>
          <a:endParaRPr lang="zh-CN" altLang="en-US" sz="1400" kern="1200" dirty="0"/>
        </a:p>
      </dsp:txBody>
      <dsp:txXfrm>
        <a:off x="62065" y="62065"/>
        <a:ext cx="2388565" cy="2368880"/>
      </dsp:txXfrm>
    </dsp:sp>
    <dsp:sp modelId="{30C19FD3-EAB0-47B6-AEEA-E4530C2C3060}">
      <dsp:nvSpPr>
        <dsp:cNvPr id="0" name=""/>
        <dsp:cNvSpPr/>
      </dsp:nvSpPr>
      <dsp:spPr>
        <a:xfrm>
          <a:off x="62817" y="903952"/>
          <a:ext cx="2387060" cy="1202343"/>
        </a:xfrm>
        <a:prstGeom prst="roundRect">
          <a:avLst>
            <a:gd name="adj" fmla="val 10500"/>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1108143" numCol="1" spcCol="1270" anchor="t" anchorCtr="0">
          <a:noAutofit/>
        </a:bodyPr>
        <a:lstStyle/>
        <a:p>
          <a:pPr marL="0" lvl="0" indent="0" algn="l" defTabSz="622300">
            <a:lnSpc>
              <a:spcPct val="100000"/>
            </a:lnSpc>
            <a:spcBef>
              <a:spcPct val="0"/>
            </a:spcBef>
            <a:spcAft>
              <a:spcPct val="35000"/>
            </a:spcAft>
            <a:buNone/>
          </a:pPr>
          <a:r>
            <a:rPr lang="zh-CN" altLang="en-US" sz="1400" b="1" kern="1200" dirty="0">
              <a:solidFill>
                <a:schemeClr val="tx1"/>
              </a:solidFill>
            </a:rPr>
            <a:t>来自多个数据源的现实世界的实体有时并不一定是匹配的                </a:t>
          </a:r>
        </a:p>
      </dsp:txBody>
      <dsp:txXfrm>
        <a:off x="99793" y="940928"/>
        <a:ext cx="2313108" cy="11283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94BF0-FB59-425F-9441-8761B58ADA82}">
      <dsp:nvSpPr>
        <dsp:cNvPr id="0" name=""/>
        <dsp:cNvSpPr/>
      </dsp:nvSpPr>
      <dsp:spPr>
        <a:xfrm>
          <a:off x="0" y="0"/>
          <a:ext cx="2668270" cy="2493010"/>
        </a:xfrm>
        <a:prstGeom prst="roundRect">
          <a:avLst>
            <a:gd name="adj" fmla="val 8500"/>
          </a:avLst>
        </a:prstGeom>
        <a:solidFill>
          <a:srgbClr val="27499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1934853" numCol="1" spcCol="1270" anchor="t" anchorCtr="0">
          <a:noAutofit/>
        </a:bodyPr>
        <a:lstStyle/>
        <a:p>
          <a:pPr marL="0" lvl="0" indent="0" algn="l" defTabSz="800100">
            <a:lnSpc>
              <a:spcPct val="100000"/>
            </a:lnSpc>
            <a:spcBef>
              <a:spcPct val="0"/>
            </a:spcBef>
            <a:spcAft>
              <a:spcPct val="35000"/>
            </a:spcAft>
            <a:buNone/>
          </a:pPr>
          <a:r>
            <a:rPr lang="zh-CN" altLang="en-US" sz="1800" b="1" kern="1200" dirty="0">
              <a:solidFill>
                <a:srgbClr val="FFFF00"/>
              </a:solidFill>
            </a:rPr>
            <a:t>数据冗余问题                              </a:t>
          </a:r>
          <a:endParaRPr lang="zh-CN" altLang="en-US" sz="1400" kern="1200" dirty="0"/>
        </a:p>
      </dsp:txBody>
      <dsp:txXfrm>
        <a:off x="62065" y="62065"/>
        <a:ext cx="2544140" cy="2368880"/>
      </dsp:txXfrm>
    </dsp:sp>
    <dsp:sp modelId="{30C19FD3-EAB0-47B6-AEEA-E4530C2C3060}">
      <dsp:nvSpPr>
        <dsp:cNvPr id="0" name=""/>
        <dsp:cNvSpPr/>
      </dsp:nvSpPr>
      <dsp:spPr>
        <a:xfrm>
          <a:off x="66706" y="903952"/>
          <a:ext cx="2534856" cy="1202343"/>
        </a:xfrm>
        <a:prstGeom prst="roundRect">
          <a:avLst>
            <a:gd name="adj" fmla="val 10500"/>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1108143" numCol="1" spcCol="1270" anchor="t" anchorCtr="0">
          <a:noAutofit/>
        </a:bodyPr>
        <a:lstStyle/>
        <a:p>
          <a:pPr marL="0" lvl="0" indent="0" algn="l" defTabSz="622300">
            <a:lnSpc>
              <a:spcPct val="100000"/>
            </a:lnSpc>
            <a:spcBef>
              <a:spcPct val="0"/>
            </a:spcBef>
            <a:spcAft>
              <a:spcPct val="35000"/>
            </a:spcAft>
            <a:buNone/>
          </a:pPr>
          <a:r>
            <a:rPr lang="zh-CN" altLang="en-US" sz="1400" b="1" kern="1200" dirty="0">
              <a:solidFill>
                <a:schemeClr val="tx1"/>
              </a:solidFill>
            </a:rPr>
            <a:t>在一个数据集合中重复的数据称为数据冗余，产生冗余的因素有很多，比如每天备份公司的数据会产生冗余，在多个系统中存储相同的信息时，也可能最终得到冗余数据。</a:t>
          </a:r>
          <a:endParaRPr lang="zh-CN" altLang="en-US" sz="1400" kern="1200" dirty="0">
            <a:solidFill>
              <a:schemeClr val="tx1"/>
            </a:solidFill>
          </a:endParaRPr>
        </a:p>
      </dsp:txBody>
      <dsp:txXfrm>
        <a:off x="103682" y="940928"/>
        <a:ext cx="2460904" cy="11283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94BF0-FB59-425F-9441-8761B58ADA82}">
      <dsp:nvSpPr>
        <dsp:cNvPr id="0" name=""/>
        <dsp:cNvSpPr/>
      </dsp:nvSpPr>
      <dsp:spPr>
        <a:xfrm>
          <a:off x="0" y="0"/>
          <a:ext cx="2860040" cy="2347595"/>
        </a:xfrm>
        <a:prstGeom prst="roundRect">
          <a:avLst>
            <a:gd name="adj" fmla="val 8500"/>
          </a:avLst>
        </a:prstGeom>
        <a:solidFill>
          <a:srgbClr val="27499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1821995" numCol="1" spcCol="1270" anchor="t" anchorCtr="0">
          <a:noAutofit/>
        </a:bodyPr>
        <a:lstStyle/>
        <a:p>
          <a:pPr marL="0" lvl="0" indent="0" algn="l" defTabSz="800100">
            <a:lnSpc>
              <a:spcPct val="100000"/>
            </a:lnSpc>
            <a:spcBef>
              <a:spcPct val="0"/>
            </a:spcBef>
            <a:spcAft>
              <a:spcPct val="35000"/>
            </a:spcAft>
            <a:buNone/>
          </a:pPr>
          <a:r>
            <a:rPr lang="zh-CN" altLang="en-US" sz="1800" b="1" kern="1200" dirty="0">
              <a:solidFill>
                <a:srgbClr val="FFFF00"/>
              </a:solidFill>
            </a:rPr>
            <a:t>数据值冲突的检测与处理</a:t>
          </a:r>
        </a:p>
      </dsp:txBody>
      <dsp:txXfrm>
        <a:off x="58445" y="58445"/>
        <a:ext cx="2743150" cy="2230705"/>
      </dsp:txXfrm>
    </dsp:sp>
    <dsp:sp modelId="{30C19FD3-EAB0-47B6-AEEA-E4530C2C3060}">
      <dsp:nvSpPr>
        <dsp:cNvPr id="0" name=""/>
        <dsp:cNvSpPr/>
      </dsp:nvSpPr>
      <dsp:spPr>
        <a:xfrm>
          <a:off x="71501" y="851226"/>
          <a:ext cx="2717038" cy="1132212"/>
        </a:xfrm>
        <a:prstGeom prst="roundRect">
          <a:avLst>
            <a:gd name="adj" fmla="val 10500"/>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1043506" numCol="1" spcCol="1270" anchor="t" anchorCtr="0">
          <a:noAutofit/>
        </a:bodyPr>
        <a:lstStyle/>
        <a:p>
          <a:pPr marL="0" lvl="0" indent="0" algn="l" defTabSz="622300">
            <a:lnSpc>
              <a:spcPct val="100000"/>
            </a:lnSpc>
            <a:spcBef>
              <a:spcPct val="0"/>
            </a:spcBef>
            <a:spcAft>
              <a:spcPct val="35000"/>
            </a:spcAft>
            <a:buNone/>
          </a:pPr>
          <a:r>
            <a:rPr lang="zh-CN" altLang="en-US" sz="1400" b="1" kern="1200" dirty="0">
              <a:solidFill>
                <a:schemeClr val="tx1"/>
              </a:solidFill>
            </a:rPr>
            <a:t>由于编码、数据类型、单位等不同，对于同一个实体，不同数据源的属性值可能不同。例如，某实体的重量属性可能在一个系统中以公制单位存放，而在另一个系统中以英制单位存放。</a:t>
          </a:r>
        </a:p>
      </dsp:txBody>
      <dsp:txXfrm>
        <a:off x="106320" y="886045"/>
        <a:ext cx="2647400" cy="10625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1">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vertAlign" val="none"/>
      <dgm:param type="horz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vertAlign" val="none"/>
            <dgm:param type="horz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parTxLTRAlign" val="l"/>
              <dgm:param type="parTxRTLAlign" val="r"/>
              <dgm:param type="txAnchorVert" val="t"/>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vertAlign" val="none"/>
            <dgm:param type="horz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vertAlign" val="none"/>
            <dgm:param type="horz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target2#1">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vertAlign" val="none"/>
      <dgm:param type="horz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vertAlign" val="none"/>
            <dgm:param type="horz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parTxLTRAlign" val="l"/>
              <dgm:param type="parTxRTLAlign" val="r"/>
              <dgm:param type="txAnchorVert" val="t"/>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vertAlign" val="none"/>
            <dgm:param type="horz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vertAlign" val="none"/>
            <dgm:param type="horz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4.xml><?xml version="1.0" encoding="utf-8"?>
<dgm:layoutDef xmlns:dgm="http://schemas.openxmlformats.org/drawingml/2006/diagram" xmlns:a="http://schemas.openxmlformats.org/drawingml/2006/main" uniqueId="urn:microsoft.com/office/officeart/2005/8/layout/target2#1">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vertAlign" val="none"/>
      <dgm:param type="horz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vertAlign" val="none"/>
            <dgm:param type="horz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parTxLTRAlign" val="l"/>
              <dgm:param type="parTxRTLAlign" val="r"/>
              <dgm:param type="txAnchorVert" val="t"/>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vertAlign" val="none"/>
            <dgm:param type="horz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vertAlign" val="none"/>
            <dgm:param type="horz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5.xml><?xml version="1.0" encoding="utf-8"?>
<dgm:layoutDef xmlns:dgm="http://schemas.openxmlformats.org/drawingml/2006/diagram" xmlns:a="http://schemas.openxmlformats.org/drawingml/2006/main" uniqueId="urn:microsoft.com/office/officeart/2005/8/layout/target2#1">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vertAlign" val="none"/>
      <dgm:param type="horz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vertAlign" val="none"/>
            <dgm:param type="horz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parTxLTRAlign" val="l"/>
              <dgm:param type="parTxRTLAlign" val="r"/>
              <dgm:param type="txAnchorVert" val="t"/>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vertAlign" val="none"/>
            <dgm:param type="horz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vertAlign" val="none"/>
            <dgm:param type="horz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parTxLTRAlign" val="l"/>
              <dgm:param type="parTxRTLAlign" val="r"/>
              <dgm:param type="txAnchorVert" val="t"/>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3D9ACA-1782-4FCB-A0EC-B2FE70654AFE}" type="datetimeFigureOut">
              <a:rPr lang="zh-CN" altLang="en-US" smtClean="0"/>
              <a:t>2022/9/29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82627-E3EE-4561-A6E9-BC344C6B2724}"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2022/9/29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16</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22</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25</a:t>
            </a:fld>
            <a:endParaRPr lang="zh-CN" altLang="en-US"/>
          </a:p>
        </p:txBody>
      </p:sp>
    </p:spTree>
    <p:extLst>
      <p:ext uri="{BB962C8B-B14F-4D97-AF65-F5344CB8AC3E}">
        <p14:creationId xmlns:p14="http://schemas.microsoft.com/office/powerpoint/2010/main" val="2167767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29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33</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34</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35</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36</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37</a:t>
            </a:fld>
            <a:endParaRPr lang="zh-CN" altLang="en-US"/>
          </a:p>
        </p:txBody>
      </p:sp>
    </p:spTree>
    <p:extLst>
      <p:ext uri="{BB962C8B-B14F-4D97-AF65-F5344CB8AC3E}">
        <p14:creationId xmlns:p14="http://schemas.microsoft.com/office/powerpoint/2010/main" val="17790297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US" altLang="zh-CN" sz="1200" kern="1200" dirty="0">
                <a:solidFill>
                  <a:schemeClr val="tx1"/>
                </a:solidFill>
                <a:effectLst/>
                <a:latin typeface="+mn-lt"/>
                <a:ea typeface="+mn-ea"/>
                <a:cs typeface="+mn-cs"/>
              </a:rPr>
              <a:t>import </a:t>
            </a:r>
            <a:r>
              <a:rPr lang="en-US" altLang="zh-CN" sz="1200" kern="1200" dirty="0" err="1">
                <a:solidFill>
                  <a:schemeClr val="tx1"/>
                </a:solidFill>
                <a:effectLst/>
                <a:latin typeface="+mn-lt"/>
                <a:ea typeface="+mn-ea"/>
                <a:cs typeface="+mn-cs"/>
              </a:rPr>
              <a:t>numpy</a:t>
            </a:r>
            <a:r>
              <a:rPr lang="en-US" altLang="zh-CN" sz="1200" kern="1200" dirty="0">
                <a:solidFill>
                  <a:schemeClr val="tx1"/>
                </a:solidFill>
                <a:effectLst/>
                <a:latin typeface="+mn-lt"/>
                <a:ea typeface="+mn-ea"/>
                <a:cs typeface="+mn-cs"/>
              </a:rPr>
              <a:t> as np</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import pandas as pd</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from </a:t>
            </a:r>
            <a:r>
              <a:rPr lang="en-US" altLang="zh-CN" sz="1200" kern="1200" dirty="0" err="1">
                <a:solidFill>
                  <a:schemeClr val="tx1"/>
                </a:solidFill>
                <a:effectLst/>
                <a:latin typeface="+mn-lt"/>
                <a:ea typeface="+mn-ea"/>
                <a:cs typeface="+mn-cs"/>
              </a:rPr>
              <a:t>sklearn</a:t>
            </a:r>
            <a:r>
              <a:rPr lang="en-US" altLang="zh-CN" sz="1200" kern="1200" dirty="0">
                <a:solidFill>
                  <a:schemeClr val="tx1"/>
                </a:solidFill>
                <a:effectLst/>
                <a:latin typeface="+mn-lt"/>
                <a:ea typeface="+mn-ea"/>
                <a:cs typeface="+mn-cs"/>
              </a:rPr>
              <a:t> import preprocessing</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import </a:t>
            </a:r>
            <a:r>
              <a:rPr lang="en-US" altLang="zh-CN" sz="1200" kern="1200" dirty="0" err="1">
                <a:solidFill>
                  <a:schemeClr val="tx1"/>
                </a:solidFill>
                <a:effectLst/>
                <a:latin typeface="+mn-lt"/>
                <a:ea typeface="+mn-ea"/>
                <a:cs typeface="+mn-cs"/>
              </a:rPr>
              <a:t>matplotlib.pyplot</a:t>
            </a:r>
            <a:r>
              <a:rPr lang="en-US" altLang="zh-CN" sz="1200" kern="1200" dirty="0">
                <a:solidFill>
                  <a:schemeClr val="tx1"/>
                </a:solidFill>
                <a:effectLst/>
                <a:latin typeface="+mn-lt"/>
                <a:ea typeface="+mn-ea"/>
                <a:cs typeface="+mn-cs"/>
              </a:rPr>
              <a:t> as </a:t>
            </a:r>
            <a:r>
              <a:rPr lang="en-US" altLang="zh-CN" sz="1200" kern="1200" dirty="0" err="1">
                <a:solidFill>
                  <a:schemeClr val="tx1"/>
                </a:solidFill>
                <a:effectLst/>
                <a:latin typeface="+mn-lt"/>
                <a:ea typeface="+mn-ea"/>
                <a:cs typeface="+mn-cs"/>
              </a:rPr>
              <a:t>plt</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import seaborn as </a:t>
            </a:r>
            <a:r>
              <a:rPr lang="en-US" altLang="zh-CN" sz="1200" kern="1200" dirty="0" err="1">
                <a:solidFill>
                  <a:schemeClr val="tx1"/>
                </a:solidFill>
                <a:effectLst/>
                <a:latin typeface="+mn-lt"/>
                <a:ea typeface="+mn-ea"/>
                <a:cs typeface="+mn-cs"/>
              </a:rPr>
              <a:t>sns</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设置中文字体</a:t>
            </a:r>
          </a:p>
          <a:p>
            <a:pPr fontAlgn="base"/>
            <a:r>
              <a:rPr lang="en-US" altLang="zh-CN" sz="1200" kern="1200" dirty="0" err="1">
                <a:solidFill>
                  <a:schemeClr val="tx1"/>
                </a:solidFill>
                <a:effectLst/>
                <a:latin typeface="+mn-lt"/>
                <a:ea typeface="+mn-ea"/>
                <a:cs typeface="+mn-cs"/>
              </a:rPr>
              <a:t>plt.rcParams</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font.family</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SimHei</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np.random.seed</a:t>
            </a:r>
            <a:r>
              <a:rPr lang="en-US" altLang="zh-CN" sz="1200" kern="1200" dirty="0">
                <a:solidFill>
                  <a:schemeClr val="tx1"/>
                </a:solidFill>
                <a:effectLst/>
                <a:latin typeface="+mn-lt"/>
                <a:ea typeface="+mn-ea"/>
                <a:cs typeface="+mn-cs"/>
              </a:rPr>
              <a:t>(1)</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构造</a:t>
            </a:r>
            <a:r>
              <a:rPr lang="en-US" altLang="zh-CN" sz="1200" kern="1200" dirty="0">
                <a:solidFill>
                  <a:schemeClr val="tx1"/>
                </a:solidFill>
                <a:effectLst/>
                <a:latin typeface="+mn-lt"/>
                <a:ea typeface="+mn-ea"/>
                <a:cs typeface="+mn-cs"/>
              </a:rPr>
              <a:t>left</a:t>
            </a:r>
            <a:r>
              <a:rPr lang="zh-CN" altLang="zh-CN" sz="1200" kern="1200" dirty="0">
                <a:solidFill>
                  <a:schemeClr val="tx1"/>
                </a:solidFill>
                <a:effectLst/>
                <a:latin typeface="+mn-lt"/>
                <a:ea typeface="+mn-ea"/>
                <a:cs typeface="+mn-cs"/>
              </a:rPr>
              <a:t>偏分布数据。</a:t>
            </a:r>
          </a:p>
          <a:p>
            <a:pPr fontAlgn="base"/>
            <a:r>
              <a:rPr lang="en-US" altLang="zh-CN" sz="1200" kern="1200" dirty="0">
                <a:solidFill>
                  <a:schemeClr val="tx1"/>
                </a:solidFill>
                <a:effectLst/>
                <a:latin typeface="+mn-lt"/>
                <a:ea typeface="+mn-ea"/>
                <a:cs typeface="+mn-cs"/>
              </a:rPr>
              <a:t>t1 = </a:t>
            </a:r>
            <a:r>
              <a:rPr lang="en-US" altLang="zh-CN" sz="1200" kern="1200" dirty="0" err="1">
                <a:solidFill>
                  <a:schemeClr val="tx1"/>
                </a:solidFill>
                <a:effectLst/>
                <a:latin typeface="+mn-lt"/>
                <a:ea typeface="+mn-ea"/>
                <a:cs typeface="+mn-cs"/>
              </a:rPr>
              <a:t>np.random.randint</a:t>
            </a:r>
            <a:r>
              <a:rPr lang="en-US" altLang="zh-CN" sz="1200" kern="1200" dirty="0">
                <a:solidFill>
                  <a:schemeClr val="tx1"/>
                </a:solidFill>
                <a:effectLst/>
                <a:latin typeface="+mn-lt"/>
                <a:ea typeface="+mn-ea"/>
                <a:cs typeface="+mn-cs"/>
              </a:rPr>
              <a:t>(1, 11, size=500)</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t2 = </a:t>
            </a:r>
            <a:r>
              <a:rPr lang="en-US" altLang="zh-CN" sz="1200" kern="1200" dirty="0" err="1">
                <a:solidFill>
                  <a:schemeClr val="tx1"/>
                </a:solidFill>
                <a:effectLst/>
                <a:latin typeface="+mn-lt"/>
                <a:ea typeface="+mn-ea"/>
                <a:cs typeface="+mn-cs"/>
              </a:rPr>
              <a:t>np.random.randint</a:t>
            </a:r>
            <a:r>
              <a:rPr lang="en-US" altLang="zh-CN" sz="1200" kern="1200" dirty="0">
                <a:solidFill>
                  <a:schemeClr val="tx1"/>
                </a:solidFill>
                <a:effectLst/>
                <a:latin typeface="+mn-lt"/>
                <a:ea typeface="+mn-ea"/>
                <a:cs typeface="+mn-cs"/>
              </a:rPr>
              <a:t>(11, 21, size=100)</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left_skew</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np.concatenate</a:t>
            </a:r>
            <a:r>
              <a:rPr lang="en-US" altLang="zh-CN" sz="1200" kern="1200" dirty="0">
                <a:solidFill>
                  <a:schemeClr val="tx1"/>
                </a:solidFill>
                <a:effectLst/>
                <a:latin typeface="+mn-lt"/>
                <a:ea typeface="+mn-ea"/>
                <a:cs typeface="+mn-cs"/>
              </a:rPr>
              <a:t>([t1, t2])</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构造右偏分布数据。</a:t>
            </a:r>
          </a:p>
          <a:p>
            <a:pPr fontAlgn="base"/>
            <a:r>
              <a:rPr lang="en-US" altLang="zh-CN" sz="1200" kern="1200" dirty="0">
                <a:solidFill>
                  <a:schemeClr val="tx1"/>
                </a:solidFill>
                <a:effectLst/>
                <a:latin typeface="+mn-lt"/>
                <a:ea typeface="+mn-ea"/>
                <a:cs typeface="+mn-cs"/>
              </a:rPr>
              <a:t>t1 = </a:t>
            </a:r>
            <a:r>
              <a:rPr lang="en-US" altLang="zh-CN" sz="1200" kern="1200" dirty="0" err="1">
                <a:solidFill>
                  <a:schemeClr val="tx1"/>
                </a:solidFill>
                <a:effectLst/>
                <a:latin typeface="+mn-lt"/>
                <a:ea typeface="+mn-ea"/>
                <a:cs typeface="+mn-cs"/>
              </a:rPr>
              <a:t>np.random.randint</a:t>
            </a:r>
            <a:r>
              <a:rPr lang="en-US" altLang="zh-CN" sz="1200" kern="1200" dirty="0">
                <a:solidFill>
                  <a:schemeClr val="tx1"/>
                </a:solidFill>
                <a:effectLst/>
                <a:latin typeface="+mn-lt"/>
                <a:ea typeface="+mn-ea"/>
                <a:cs typeface="+mn-cs"/>
              </a:rPr>
              <a:t>(1, 11, size=100)</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t2 = </a:t>
            </a:r>
            <a:r>
              <a:rPr lang="en-US" altLang="zh-CN" sz="1200" kern="1200" dirty="0" err="1">
                <a:solidFill>
                  <a:schemeClr val="tx1"/>
                </a:solidFill>
                <a:effectLst/>
                <a:latin typeface="+mn-lt"/>
                <a:ea typeface="+mn-ea"/>
                <a:cs typeface="+mn-cs"/>
              </a:rPr>
              <a:t>np.random.randint</a:t>
            </a:r>
            <a:r>
              <a:rPr lang="en-US" altLang="zh-CN" sz="1200" kern="1200" dirty="0">
                <a:solidFill>
                  <a:schemeClr val="tx1"/>
                </a:solidFill>
                <a:effectLst/>
                <a:latin typeface="+mn-lt"/>
                <a:ea typeface="+mn-ea"/>
                <a:cs typeface="+mn-cs"/>
              </a:rPr>
              <a:t>(11, 21, size=500)</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right_skew</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np.concatenate</a:t>
            </a:r>
            <a:r>
              <a:rPr lang="en-US" altLang="zh-CN" sz="1200" kern="1200" dirty="0">
                <a:solidFill>
                  <a:schemeClr val="tx1"/>
                </a:solidFill>
                <a:effectLst/>
                <a:latin typeface="+mn-lt"/>
                <a:ea typeface="+mn-ea"/>
                <a:cs typeface="+mn-cs"/>
              </a:rPr>
              <a:t>([t1, t2])</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绘制核密度图</a:t>
            </a:r>
          </a:p>
          <a:p>
            <a:pPr fontAlgn="base"/>
            <a:r>
              <a:rPr lang="en-US" altLang="zh-CN" sz="1200" kern="1200" dirty="0" err="1">
                <a:solidFill>
                  <a:schemeClr val="tx1"/>
                </a:solidFill>
                <a:effectLst/>
                <a:latin typeface="+mn-lt"/>
                <a:ea typeface="+mn-ea"/>
                <a:cs typeface="+mn-cs"/>
              </a:rPr>
              <a:t>plt.figure</a:t>
            </a:r>
            <a:r>
              <a:rPr lang="en-US" altLang="zh-CN" sz="1200" kern="1200" dirty="0">
                <a:solidFill>
                  <a:schemeClr val="tx1"/>
                </a:solidFill>
                <a:effectLst/>
                <a:latin typeface="+mn-lt"/>
                <a:ea typeface="+mn-ea"/>
                <a:cs typeface="+mn-cs"/>
              </a:rPr>
              <a:t>(2,(12,6))</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plt.subplot</a:t>
            </a:r>
            <a:r>
              <a:rPr lang="en-US" altLang="zh-CN" sz="1200" kern="1200" dirty="0">
                <a:solidFill>
                  <a:schemeClr val="tx1"/>
                </a:solidFill>
                <a:effectLst/>
                <a:latin typeface="+mn-lt"/>
                <a:ea typeface="+mn-ea"/>
                <a:cs typeface="+mn-cs"/>
              </a:rPr>
              <a:t>(1,2,1)</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plt.title</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原始数据</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sns.kdeplot</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left_skew</a:t>
            </a:r>
            <a:r>
              <a:rPr lang="en-US" altLang="zh-CN" sz="1200" kern="1200" dirty="0">
                <a:solidFill>
                  <a:schemeClr val="tx1"/>
                </a:solidFill>
                <a:effectLst/>
                <a:latin typeface="+mn-lt"/>
                <a:ea typeface="+mn-ea"/>
                <a:cs typeface="+mn-cs"/>
              </a:rPr>
              <a:t>, shade=True, label="</a:t>
            </a:r>
            <a:r>
              <a:rPr lang="zh-CN" altLang="zh-CN" sz="1200" kern="1200" dirty="0">
                <a:solidFill>
                  <a:schemeClr val="tx1"/>
                </a:solidFill>
                <a:effectLst/>
                <a:latin typeface="+mn-lt"/>
                <a:ea typeface="+mn-ea"/>
                <a:cs typeface="+mn-cs"/>
              </a:rPr>
              <a:t>左偏</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sns.kdeplot</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right_skew</a:t>
            </a:r>
            <a:r>
              <a:rPr lang="en-US" altLang="zh-CN" sz="1200" kern="1200" dirty="0">
                <a:solidFill>
                  <a:schemeClr val="tx1"/>
                </a:solidFill>
                <a:effectLst/>
                <a:latin typeface="+mn-lt"/>
                <a:ea typeface="+mn-ea"/>
                <a:cs typeface="+mn-cs"/>
              </a:rPr>
              <a:t>, shade=True, label="</a:t>
            </a:r>
            <a:r>
              <a:rPr lang="zh-CN" altLang="zh-CN" sz="1200" kern="1200" dirty="0">
                <a:solidFill>
                  <a:schemeClr val="tx1"/>
                </a:solidFill>
                <a:effectLst/>
                <a:latin typeface="+mn-lt"/>
                <a:ea typeface="+mn-ea"/>
                <a:cs typeface="+mn-cs"/>
              </a:rPr>
              <a:t>右偏</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进行标准化处理</a:t>
            </a:r>
          </a:p>
          <a:p>
            <a:pPr fontAlgn="base"/>
            <a:r>
              <a:rPr lang="en-US" altLang="zh-CN" sz="1200" kern="1200" dirty="0" err="1">
                <a:solidFill>
                  <a:schemeClr val="tx1"/>
                </a:solidFill>
                <a:effectLst/>
                <a:latin typeface="+mn-lt"/>
                <a:ea typeface="+mn-ea"/>
                <a:cs typeface="+mn-cs"/>
              </a:rPr>
              <a:t>zscore_scaler</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preprocessing.StandardScaler</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建立</a:t>
            </a:r>
            <a:r>
              <a:rPr lang="en-US" altLang="zh-CN" sz="1200" kern="1200" dirty="0" err="1">
                <a:solidFill>
                  <a:schemeClr val="tx1"/>
                </a:solidFill>
                <a:effectLst/>
                <a:latin typeface="+mn-lt"/>
                <a:ea typeface="+mn-ea"/>
                <a:cs typeface="+mn-cs"/>
              </a:rPr>
              <a:t>StandardScaler</a:t>
            </a:r>
            <a:r>
              <a:rPr lang="zh-CN" altLang="zh-CN" sz="1200" kern="1200" dirty="0">
                <a:solidFill>
                  <a:schemeClr val="tx1"/>
                </a:solidFill>
                <a:effectLst/>
                <a:latin typeface="+mn-lt"/>
                <a:ea typeface="+mn-ea"/>
                <a:cs typeface="+mn-cs"/>
              </a:rPr>
              <a:t>对象</a:t>
            </a:r>
          </a:p>
          <a:p>
            <a:pPr fontAlgn="base"/>
            <a:r>
              <a:rPr lang="en-US" altLang="zh-CN" sz="1200" kern="1200" dirty="0" err="1">
                <a:solidFill>
                  <a:schemeClr val="tx1"/>
                </a:solidFill>
                <a:effectLst/>
                <a:latin typeface="+mn-lt"/>
                <a:ea typeface="+mn-ea"/>
                <a:cs typeface="+mn-cs"/>
              </a:rPr>
              <a:t>right_skew</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zscore_scaler.fit_transform</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right_skew.reshape</a:t>
            </a:r>
            <a:r>
              <a:rPr lang="en-US" altLang="zh-CN" sz="1200" kern="1200" dirty="0">
                <a:solidFill>
                  <a:schemeClr val="tx1"/>
                </a:solidFill>
                <a:effectLst/>
                <a:latin typeface="+mn-lt"/>
                <a:ea typeface="+mn-ea"/>
                <a:cs typeface="+mn-cs"/>
              </a:rPr>
              <a:t>(-1,1)) </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left_skew</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zscore_scaler.fit_transform</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left_skew.reshape</a:t>
            </a:r>
            <a:r>
              <a:rPr lang="en-US" altLang="zh-CN" sz="1200" kern="1200" dirty="0">
                <a:solidFill>
                  <a:schemeClr val="tx1"/>
                </a:solidFill>
                <a:effectLst/>
                <a:latin typeface="+mn-lt"/>
                <a:ea typeface="+mn-ea"/>
                <a:cs typeface="+mn-cs"/>
              </a:rPr>
              <a:t>(-1,1))</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plt.subplot</a:t>
            </a:r>
            <a:r>
              <a:rPr lang="en-US" altLang="zh-CN" sz="1200" kern="1200" dirty="0">
                <a:solidFill>
                  <a:schemeClr val="tx1"/>
                </a:solidFill>
                <a:effectLst/>
                <a:latin typeface="+mn-lt"/>
                <a:ea typeface="+mn-ea"/>
                <a:cs typeface="+mn-cs"/>
              </a:rPr>
              <a:t>(1,2,2)</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plt.title</a:t>
            </a:r>
            <a:r>
              <a:rPr lang="en-US" altLang="zh-CN" sz="1200" kern="1200" dirty="0">
                <a:solidFill>
                  <a:schemeClr val="tx1"/>
                </a:solidFill>
                <a:effectLst/>
                <a:latin typeface="+mn-lt"/>
                <a:ea typeface="+mn-ea"/>
                <a:cs typeface="+mn-cs"/>
              </a:rPr>
              <a:t>('Z-Score</a:t>
            </a:r>
            <a:r>
              <a:rPr lang="zh-CN" altLang="zh-CN" sz="1200" kern="1200" dirty="0">
                <a:solidFill>
                  <a:schemeClr val="tx1"/>
                </a:solidFill>
                <a:effectLst/>
                <a:latin typeface="+mn-lt"/>
                <a:ea typeface="+mn-ea"/>
                <a:cs typeface="+mn-cs"/>
              </a:rPr>
              <a:t>标准化</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sns.kdeplot</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left_skew.reshape</a:t>
            </a:r>
            <a:r>
              <a:rPr lang="en-US" altLang="zh-CN" sz="1200" kern="1200" dirty="0">
                <a:solidFill>
                  <a:schemeClr val="tx1"/>
                </a:solidFill>
                <a:effectLst/>
                <a:latin typeface="+mn-lt"/>
                <a:ea typeface="+mn-ea"/>
                <a:cs typeface="+mn-cs"/>
              </a:rPr>
              <a:t>(-1,), shade=True)</a:t>
            </a:r>
            <a:endParaRPr lang="zh-CN" altLang="zh-CN" sz="1200" kern="1200" dirty="0">
              <a:solidFill>
                <a:schemeClr val="tx1"/>
              </a:solidFill>
              <a:effectLst/>
              <a:latin typeface="+mn-lt"/>
              <a:ea typeface="+mn-ea"/>
              <a:cs typeface="+mn-cs"/>
            </a:endParaRPr>
          </a:p>
          <a:p>
            <a:pPr fontAlgn="base"/>
            <a:r>
              <a:rPr lang="en-US" altLang="zh-CN" sz="1200" kern="1200" dirty="0" err="1">
                <a:solidFill>
                  <a:schemeClr val="tx1"/>
                </a:solidFill>
                <a:effectLst/>
                <a:latin typeface="+mn-lt"/>
                <a:ea typeface="+mn-ea"/>
                <a:cs typeface="+mn-cs"/>
              </a:rPr>
              <a:t>sns.kdeplot</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right_skew.reshape</a:t>
            </a:r>
            <a:r>
              <a:rPr lang="en-US" altLang="zh-CN" sz="1200" kern="1200" dirty="0">
                <a:solidFill>
                  <a:schemeClr val="tx1"/>
                </a:solidFill>
                <a:effectLst/>
                <a:latin typeface="+mn-lt"/>
                <a:ea typeface="+mn-ea"/>
                <a:cs typeface="+mn-cs"/>
              </a:rPr>
              <a:t>(-1,), shade=True)</a:t>
            </a:r>
            <a:endParaRPr lang="zh-CN" altLang="zh-CN" sz="1200" kern="1200" dirty="0">
              <a:solidFill>
                <a:schemeClr val="tx1"/>
              </a:solidFill>
              <a:effectLst/>
              <a:latin typeface="+mn-lt"/>
              <a:ea typeface="+mn-ea"/>
              <a:cs typeface="+mn-cs"/>
            </a:endParaRPr>
          </a:p>
          <a:p>
            <a:pPr fontAlgn="base"/>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plt.show</a:t>
            </a:r>
            <a:r>
              <a:rPr lang="en-US"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38</a:t>
            </a:fld>
            <a:endParaRPr lang="zh-CN" altLang="en-US"/>
          </a:p>
        </p:txBody>
      </p:sp>
    </p:spTree>
    <p:extLst>
      <p:ext uri="{BB962C8B-B14F-4D97-AF65-F5344CB8AC3E}">
        <p14:creationId xmlns:p14="http://schemas.microsoft.com/office/powerpoint/2010/main" val="36589691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39</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40</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t>Big data: </a:t>
            </a:r>
            <a:r>
              <a:rPr lang="zh-CN" altLang="en-US" sz="1200" b="0" i="0" kern="120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41</a:t>
            </a:fld>
            <a:endParaRPr lang="zh-CN" altLang="en-US"/>
          </a:p>
        </p:txBody>
      </p:sp>
    </p:spTree>
    <p:extLst>
      <p:ext uri="{BB962C8B-B14F-4D97-AF65-F5344CB8AC3E}">
        <p14:creationId xmlns:p14="http://schemas.microsoft.com/office/powerpoint/2010/main" val="20787613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42</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43</a:t>
            </a:fld>
            <a:endParaRPr lang="zh-CN" altLang="en-US"/>
          </a:p>
        </p:txBody>
      </p:sp>
    </p:spTree>
    <p:extLst>
      <p:ext uri="{BB962C8B-B14F-4D97-AF65-F5344CB8AC3E}">
        <p14:creationId xmlns:p14="http://schemas.microsoft.com/office/powerpoint/2010/main" val="338868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44</a:t>
            </a:fld>
            <a:endParaRPr lang="zh-CN" altLang="en-US"/>
          </a:p>
        </p:txBody>
      </p:sp>
    </p:spTree>
    <p:extLst>
      <p:ext uri="{BB962C8B-B14F-4D97-AF65-F5344CB8AC3E}">
        <p14:creationId xmlns:p14="http://schemas.microsoft.com/office/powerpoint/2010/main" val="22119185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45</a:t>
            </a:fld>
            <a:endParaRPr lang="zh-CN" altLang="en-US"/>
          </a:p>
        </p:txBody>
      </p:sp>
    </p:spTree>
    <p:extLst>
      <p:ext uri="{BB962C8B-B14F-4D97-AF65-F5344CB8AC3E}">
        <p14:creationId xmlns:p14="http://schemas.microsoft.com/office/powerpoint/2010/main" val="29923014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46</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47</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48</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49</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50</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51</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52</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53</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54</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55</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56</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57</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58</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59</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60</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61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62</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63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五边形 7"/>
          <p:cNvSpPr/>
          <p:nvPr userDrawn="1"/>
        </p:nvSpPr>
        <p:spPr>
          <a:xfrm>
            <a:off x="0" y="217805"/>
            <a:ext cx="463486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2022/9/29</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b="1"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archive.ics.uci.edu/ml/index.php"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54.xml"/><Relationship Id="rId16" Type="http://schemas.openxmlformats.org/officeDocument/2006/relationships/diagramColors" Target="../diagrams/colors4.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8.xml"/><Relationship Id="rId5" Type="http://schemas.openxmlformats.org/officeDocument/2006/relationships/image" Target="../media/image2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3" name="图片 2"/>
          <p:cNvPicPr>
            <a:picLocks noChangeAspect="1"/>
          </p:cNvPicPr>
          <p:nvPr/>
        </p:nvPicPr>
        <p:blipFill>
          <a:blip r:embed="rId4"/>
          <a:stretch>
            <a:fillRect/>
          </a:stretch>
        </p:blipFill>
        <p:spPr>
          <a:xfrm>
            <a:off x="1563873" y="1026542"/>
            <a:ext cx="6016254" cy="3090416"/>
          </a:xfrm>
          <a:prstGeom prst="rect">
            <a:avLst/>
          </a:prstGeom>
        </p:spPr>
      </p:pic>
      <p:pic>
        <p:nvPicPr>
          <p:cNvPr id="4" name="图片 3"/>
          <p:cNvPicPr>
            <a:picLocks noChangeAspect="1"/>
          </p:cNvPicPr>
          <p:nvPr/>
        </p:nvPicPr>
        <p:blipFill>
          <a:blip r:embed="rId5"/>
          <a:stretch>
            <a:fillRect/>
          </a:stretch>
        </p:blipFill>
        <p:spPr>
          <a:xfrm>
            <a:off x="1129665" y="0"/>
            <a:ext cx="6884670" cy="4974590"/>
          </a:xfrm>
          <a:prstGeom prst="rect">
            <a:avLst/>
          </a:prstGeom>
        </p:spPr>
      </p:pic>
      <p:sp>
        <p:nvSpPr>
          <p:cNvPr id="5" name="文本框 4"/>
          <p:cNvSpPr txBox="1"/>
          <p:nvPr/>
        </p:nvSpPr>
        <p:spPr>
          <a:xfrm>
            <a:off x="1945784" y="2249468"/>
            <a:ext cx="5686172" cy="646331"/>
          </a:xfrm>
          <a:prstGeom prst="rect">
            <a:avLst/>
          </a:prstGeom>
          <a:noFill/>
        </p:spPr>
        <p:txBody>
          <a:bodyPr wrap="none" rtlCol="0">
            <a:sp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rPr>
              <a:t>第3章 大数据采集与预处理</a:t>
            </a:r>
          </a:p>
        </p:txBody>
      </p:sp>
      <p:sp>
        <p:nvSpPr>
          <p:cNvPr id="7" name="文本框 6"/>
          <p:cNvSpPr txBox="1"/>
          <p:nvPr/>
        </p:nvSpPr>
        <p:spPr>
          <a:xfrm>
            <a:off x="3653948" y="3059239"/>
            <a:ext cx="184731" cy="338554"/>
          </a:xfrm>
          <a:prstGeom prst="rect">
            <a:avLst/>
          </a:prstGeom>
          <a:noFill/>
        </p:spPr>
        <p:txBody>
          <a:bodyPr wrap="none" rtlCol="0">
            <a:spAutoFit/>
          </a:bodyPr>
          <a:lstStyle/>
          <a:p>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2000"/>
                            </p:stCondLst>
                            <p:childTnLst>
                              <p:par>
                                <p:cTn id="15" presetID="10" presetClass="entr" presetSubtype="0" fill="hold" grpId="0" nodeType="afterEffect">
                                  <p:stCondLst>
                                    <p:cond delay="0"/>
                                  </p:stCondLst>
                                  <p:iterate type="lt">
                                    <p:tmPct val="14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42" presetClass="entr" presetSubtype="0" fill="hold" grpId="0" nodeType="withEffect" nodePh="1">
                                  <p:stCondLst>
                                    <p:cond delay="0"/>
                                  </p:stCondLst>
                                  <p:endCondLst>
                                    <p:cond evt="begin" delay="0">
                                      <p:tn val="18"/>
                                    </p:cond>
                                  </p:end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25" name="组合 54"/>
          <p:cNvGrpSpPr/>
          <p:nvPr/>
        </p:nvGrpSpPr>
        <p:grpSpPr bwMode="auto">
          <a:xfrm>
            <a:off x="0" y="349949"/>
            <a:ext cx="9142645" cy="841713"/>
            <a:chOff x="256379" y="27271"/>
            <a:chExt cx="7683149" cy="841022"/>
          </a:xfrm>
        </p:grpSpPr>
        <p:grpSp>
          <p:nvGrpSpPr>
            <p:cNvPr id="26" name="组合 55"/>
            <p:cNvGrpSpPr/>
            <p:nvPr/>
          </p:nvGrpSpPr>
          <p:grpSpPr bwMode="auto">
            <a:xfrm>
              <a:off x="256379" y="27271"/>
              <a:ext cx="7683149" cy="837427"/>
              <a:chOff x="256379" y="27271"/>
              <a:chExt cx="7683149" cy="837427"/>
            </a:xfrm>
          </p:grpSpPr>
          <p:sp>
            <p:nvSpPr>
              <p:cNvPr id="28"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29"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27"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323340" y="1475740"/>
            <a:ext cx="4714240" cy="518795"/>
            <a:chOff x="903" y="3512"/>
            <a:chExt cx="7424" cy="817"/>
          </a:xfrm>
        </p:grpSpPr>
        <p:grpSp>
          <p:nvGrpSpPr>
            <p:cNvPr id="4" name="组合 3"/>
            <p:cNvGrpSpPr/>
            <p:nvPr/>
          </p:nvGrpSpPr>
          <p:grpSpPr>
            <a:xfrm>
              <a:off x="903" y="3512"/>
              <a:ext cx="7424" cy="817"/>
              <a:chOff x="1264" y="2025"/>
              <a:chExt cx="5382" cy="817"/>
            </a:xfrm>
          </p:grpSpPr>
          <p:sp>
            <p:nvSpPr>
              <p:cNvPr id="1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3" name="组合 2"/>
              <p:cNvGrpSpPr/>
              <p:nvPr/>
            </p:nvGrpSpPr>
            <p:grpSpPr>
              <a:xfrm>
                <a:off x="1264" y="2025"/>
                <a:ext cx="5382" cy="816"/>
                <a:chOff x="4471" y="2958"/>
                <a:chExt cx="5382" cy="816"/>
              </a:xfrm>
            </p:grpSpPr>
            <p:sp>
              <p:nvSpPr>
                <p:cNvPr id="9"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3.1</a:t>
                  </a:r>
                  <a:endParaRPr lang="en-US" altLang="en-US" sz="2400" b="1" dirty="0">
                    <a:solidFill>
                      <a:schemeClr val="bg1"/>
                    </a:solidFill>
                    <a:latin typeface="微软雅黑" panose="020B0503020204020204" pitchFamily="34" charset="-122"/>
                    <a:ea typeface="微软雅黑" panose="020B0503020204020204" pitchFamily="34" charset="-122"/>
                    <a:sym typeface="+mn-ea"/>
                  </a:endParaRPr>
                </a:p>
              </p:txBody>
            </p:sp>
          </p:grpSp>
        </p:grpSp>
        <p:sp>
          <p:nvSpPr>
            <p:cNvPr id="100" name="文本框 99"/>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数据采集概述</a:t>
              </a:r>
            </a:p>
          </p:txBody>
        </p:sp>
      </p:grpSp>
      <p:grpSp>
        <p:nvGrpSpPr>
          <p:cNvPr id="48" name="组合 47"/>
          <p:cNvGrpSpPr/>
          <p:nvPr/>
        </p:nvGrpSpPr>
        <p:grpSpPr>
          <a:xfrm>
            <a:off x="1323340" y="2176780"/>
            <a:ext cx="4714240" cy="518795"/>
            <a:chOff x="903" y="3512"/>
            <a:chExt cx="7424" cy="817"/>
          </a:xfrm>
        </p:grpSpPr>
        <p:grpSp>
          <p:nvGrpSpPr>
            <p:cNvPr id="49" name="组合 48"/>
            <p:cNvGrpSpPr/>
            <p:nvPr/>
          </p:nvGrpSpPr>
          <p:grpSpPr>
            <a:xfrm>
              <a:off x="903" y="3512"/>
              <a:ext cx="7424" cy="817"/>
              <a:chOff x="1264" y="2025"/>
              <a:chExt cx="5382" cy="817"/>
            </a:xfrm>
          </p:grpSpPr>
          <p:sp>
            <p:nvSpPr>
              <p:cNvPr id="5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1" name="组合 50"/>
              <p:cNvGrpSpPr/>
              <p:nvPr/>
            </p:nvGrpSpPr>
            <p:grpSpPr>
              <a:xfrm>
                <a:off x="1264" y="2025"/>
                <a:ext cx="5382" cy="816"/>
                <a:chOff x="4471" y="2958"/>
                <a:chExt cx="5382" cy="816"/>
              </a:xfrm>
            </p:grpSpPr>
            <p:sp>
              <p:nvSpPr>
                <p:cNvPr id="52"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53"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rPr>
                    <a:t>3.</a:t>
                  </a:r>
                  <a:r>
                    <a:rPr lang="en-US" sz="2400" b="1">
                      <a:solidFill>
                        <a:schemeClr val="bg1"/>
                      </a:solidFill>
                      <a:latin typeface="微软雅黑" panose="020B0503020204020204" pitchFamily="34" charset="-122"/>
                      <a:ea typeface="微软雅黑" panose="020B0503020204020204" pitchFamily="34" charset="-122"/>
                      <a:sym typeface="+mn-ea"/>
                    </a:rPr>
                    <a:t>2</a:t>
                  </a:r>
                  <a:endParaRPr lang="zh-CN" altLang="en-US" sz="2400" b="1" dirty="0">
                    <a:solidFill>
                      <a:schemeClr val="bg1"/>
                    </a:solidFill>
                    <a:latin typeface="微软雅黑" panose="020B0503020204020204" pitchFamily="34" charset="-122"/>
                  </a:endParaRPr>
                </a:p>
              </p:txBody>
            </p:sp>
          </p:grpSp>
        </p:grpSp>
        <p:sp>
          <p:nvSpPr>
            <p:cNvPr id="54" name="文本框 53"/>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常用的大数据采集工具简介</a:t>
              </a:r>
            </a:p>
          </p:txBody>
        </p:sp>
      </p:grpSp>
      <p:grpSp>
        <p:nvGrpSpPr>
          <p:cNvPr id="56" name="组合 55"/>
          <p:cNvGrpSpPr/>
          <p:nvPr/>
        </p:nvGrpSpPr>
        <p:grpSpPr>
          <a:xfrm>
            <a:off x="1322705" y="2849880"/>
            <a:ext cx="4714240" cy="518795"/>
            <a:chOff x="903" y="3512"/>
            <a:chExt cx="7424" cy="817"/>
          </a:xfrm>
        </p:grpSpPr>
        <p:grpSp>
          <p:nvGrpSpPr>
            <p:cNvPr id="57" name="组合 56"/>
            <p:cNvGrpSpPr/>
            <p:nvPr/>
          </p:nvGrpSpPr>
          <p:grpSpPr>
            <a:xfrm>
              <a:off x="903" y="3512"/>
              <a:ext cx="7424" cy="817"/>
              <a:chOff x="1264" y="2025"/>
              <a:chExt cx="5382" cy="817"/>
            </a:xfrm>
          </p:grpSpPr>
          <p:sp>
            <p:nvSpPr>
              <p:cNvPr id="58"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9" name="组合 58"/>
              <p:cNvGrpSpPr/>
              <p:nvPr/>
            </p:nvGrpSpPr>
            <p:grpSpPr>
              <a:xfrm>
                <a:off x="1264" y="2025"/>
                <a:ext cx="5382" cy="816"/>
                <a:chOff x="4471" y="2958"/>
                <a:chExt cx="5382" cy="816"/>
              </a:xfrm>
            </p:grpSpPr>
            <p:sp>
              <p:nvSpPr>
                <p:cNvPr id="60"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3.3</a:t>
                  </a:r>
                  <a:endParaRPr lang="en-US" sz="2400" b="1">
                    <a:solidFill>
                      <a:schemeClr val="bg1"/>
                    </a:solidFill>
                    <a:latin typeface="微软雅黑" panose="020B0503020204020204" pitchFamily="34" charset="-122"/>
                    <a:ea typeface="微软雅黑" panose="020B0503020204020204" pitchFamily="34" charset="-122"/>
                  </a:endParaRPr>
                </a:p>
              </p:txBody>
            </p:sp>
          </p:grpSp>
        </p:grpSp>
        <p:sp>
          <p:nvSpPr>
            <p:cNvPr id="62" name="文本框 61"/>
            <p:cNvSpPr txBox="1"/>
            <p:nvPr/>
          </p:nvSpPr>
          <p:spPr>
            <a:xfrm>
              <a:off x="2276" y="3631"/>
              <a:ext cx="6050" cy="580"/>
            </a:xfrm>
            <a:prstGeom prst="rect">
              <a:avLst/>
            </a:prstGeom>
            <a:noFill/>
            <a:ln w="9525">
              <a:noFill/>
            </a:ln>
          </p:spPr>
          <p:txBody>
            <a:bodyPr wrap="square">
              <a:spAutoFit/>
            </a:bodyPr>
            <a:lstStyle/>
            <a:p>
              <a:pPr marL="396240" indent="-396240"/>
              <a:r>
                <a:rPr lang="en-US" sz="1800" b="1">
                  <a:solidFill>
                    <a:schemeClr val="bg1"/>
                  </a:solidFill>
                  <a:latin typeface="等线 Light" panose="02010600030101010101" charset="-122"/>
                  <a:ea typeface="等线" panose="02010600030101010101" pitchFamily="2" charset="-122"/>
                </a:rPr>
                <a:t> </a:t>
              </a:r>
              <a:r>
                <a:rPr sz="1800" b="1">
                  <a:solidFill>
                    <a:schemeClr val="bg1"/>
                  </a:solidFill>
                  <a:latin typeface="等线 Light" panose="02010600030101010101" charset="-122"/>
                  <a:ea typeface="等线" panose="02010600030101010101" pitchFamily="2" charset="-122"/>
                </a:rPr>
                <a:t>数据属性的类型</a:t>
              </a:r>
            </a:p>
          </p:txBody>
        </p:sp>
      </p:grpSp>
      <p:grpSp>
        <p:nvGrpSpPr>
          <p:cNvPr id="63" name="组合 62"/>
          <p:cNvGrpSpPr/>
          <p:nvPr/>
        </p:nvGrpSpPr>
        <p:grpSpPr>
          <a:xfrm>
            <a:off x="1322705" y="3568700"/>
            <a:ext cx="4714240" cy="518795"/>
            <a:chOff x="903" y="3512"/>
            <a:chExt cx="7424" cy="817"/>
          </a:xfrm>
        </p:grpSpPr>
        <p:grpSp>
          <p:nvGrpSpPr>
            <p:cNvPr id="64" name="组合 63"/>
            <p:cNvGrpSpPr/>
            <p:nvPr/>
          </p:nvGrpSpPr>
          <p:grpSpPr>
            <a:xfrm>
              <a:off x="903" y="3512"/>
              <a:ext cx="7424" cy="817"/>
              <a:chOff x="1264" y="2025"/>
              <a:chExt cx="5382" cy="817"/>
            </a:xfrm>
          </p:grpSpPr>
          <p:sp>
            <p:nvSpPr>
              <p:cNvPr id="65"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66" name="组合 65"/>
              <p:cNvGrpSpPr/>
              <p:nvPr/>
            </p:nvGrpSpPr>
            <p:grpSpPr>
              <a:xfrm>
                <a:off x="1264" y="2025"/>
                <a:ext cx="5382" cy="816"/>
                <a:chOff x="4471" y="2958"/>
                <a:chExt cx="5382" cy="816"/>
              </a:xfrm>
            </p:grpSpPr>
            <p:sp>
              <p:nvSpPr>
                <p:cNvPr id="67"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8"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a:solidFill>
                        <a:schemeClr val="bg1"/>
                      </a:solidFill>
                      <a:latin typeface="微软雅黑" panose="020B0503020204020204" pitchFamily="34" charset="-122"/>
                      <a:ea typeface="微软雅黑" panose="020B0503020204020204" pitchFamily="34" charset="-122"/>
                      <a:sym typeface="+mn-ea"/>
                    </a:rPr>
                    <a:t>3.4</a:t>
                  </a:r>
                  <a:endParaRPr lang="zh-CN" altLang="en-US" sz="2400" b="1" dirty="0">
                    <a:solidFill>
                      <a:schemeClr val="bg1"/>
                    </a:solidFill>
                    <a:latin typeface="微软雅黑" panose="020B0503020204020204" pitchFamily="34" charset="-122"/>
                  </a:endParaRPr>
                </a:p>
              </p:txBody>
            </p:sp>
          </p:grpSp>
        </p:grpSp>
        <p:sp>
          <p:nvSpPr>
            <p:cNvPr id="69" name="文本框 68"/>
            <p:cNvSpPr txBox="1"/>
            <p:nvPr/>
          </p:nvSpPr>
          <p:spPr>
            <a:xfrm>
              <a:off x="2276" y="3631"/>
              <a:ext cx="6050" cy="580"/>
            </a:xfrm>
            <a:prstGeom prst="rect">
              <a:avLst/>
            </a:prstGeom>
            <a:noFill/>
            <a:ln w="9525">
              <a:noFill/>
            </a:ln>
          </p:spPr>
          <p:txBody>
            <a:bodyPr wrap="square">
              <a:spAutoFit/>
            </a:bodyPr>
            <a:lstStyle/>
            <a:p>
              <a:pPr marL="396240" indent="-396240" algn="l"/>
              <a:r>
                <a:rPr lang="en-US" sz="1800" b="1" dirty="0">
                  <a:solidFill>
                    <a:schemeClr val="bg1"/>
                  </a:solidFill>
                  <a:latin typeface="等线 Light" panose="02010600030101010101" charset="-122"/>
                  <a:ea typeface="等线" panose="02010600030101010101" pitchFamily="2" charset="-122"/>
                </a:rPr>
                <a:t> </a:t>
              </a:r>
              <a:r>
                <a:rPr sz="1800" b="1" dirty="0" err="1">
                  <a:solidFill>
                    <a:schemeClr val="bg1"/>
                  </a:solidFill>
                  <a:latin typeface="等线 Light" panose="02010600030101010101" charset="-122"/>
                  <a:ea typeface="等线" panose="02010600030101010101" pitchFamily="2" charset="-122"/>
                </a:rPr>
                <a:t>数据预处理</a:t>
              </a:r>
              <a:endParaRPr sz="1800" b="1" dirty="0">
                <a:solidFill>
                  <a:schemeClr val="bg1"/>
                </a:solidFill>
                <a:latin typeface="等线 Light" panose="02010600030101010101" charset="-122"/>
                <a:ea typeface="等线"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1798251" y="2372722"/>
            <a:ext cx="3284468"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4915911"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数据采集概述</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3.1</a:t>
            </a:r>
          </a:p>
        </p:txBody>
      </p:sp>
      <p:sp>
        <p:nvSpPr>
          <p:cNvPr id="4" name="文本框 3"/>
          <p:cNvSpPr txBox="1"/>
          <p:nvPr/>
        </p:nvSpPr>
        <p:spPr>
          <a:xfrm>
            <a:off x="2143717" y="2695393"/>
            <a:ext cx="2986679" cy="92202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大数据的来源</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数据容量的单位</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大数据采集的基本方法</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3.1.1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大数据的来源</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04140" y="868680"/>
            <a:ext cx="8881110" cy="4092575"/>
          </a:xfrm>
          <a:prstGeom prst="rect">
            <a:avLst/>
          </a:prstGeom>
          <a:noFill/>
          <a:ln w="9525">
            <a:noFill/>
          </a:ln>
        </p:spPr>
        <p:txBody>
          <a:bodyPr wrap="square">
            <a:spAutoFit/>
          </a:bodyPr>
          <a:lstStyle/>
          <a:p>
            <a:pPr indent="266700">
              <a:lnSpc>
                <a:spcPct val="100000"/>
              </a:lnSpc>
            </a:pPr>
            <a:r>
              <a:rPr lang="en-US" altLang="zh-CN" sz="2000" b="1" dirty="0">
                <a:latin typeface="+mn-ea"/>
              </a:rPr>
              <a:t>   </a:t>
            </a:r>
            <a:r>
              <a:rPr sz="2000">
                <a:latin typeface="等线" panose="02010600030101010101" pitchFamily="2" charset="-122"/>
                <a:ea typeface="等线" panose="02010600030101010101" pitchFamily="2" charset="-122"/>
                <a:cs typeface="等线" panose="02010600030101010101" pitchFamily="2" charset="-122"/>
              </a:rPr>
              <a:t>大数据的来源的非常广泛，如互联网、信息管理系统、物联网、科学实验和计算机系统的日志等等。按照产生数据的主体来划分，大数据主要有三个来源，它们分别是：</a:t>
            </a:r>
          </a:p>
          <a:p>
            <a:pPr indent="266700">
              <a:lnSpc>
                <a:spcPct val="100000"/>
              </a:lnSpc>
            </a:pP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1.对现实世界的测量</a:t>
            </a:r>
          </a:p>
          <a:p>
            <a:pPr indent="266700">
              <a:lnSpc>
                <a:spcPct val="100000"/>
              </a:lnSpc>
            </a:pPr>
            <a:r>
              <a:rPr sz="2000">
                <a:latin typeface="等线" panose="02010600030101010101" pitchFamily="2" charset="-122"/>
                <a:ea typeface="等线" panose="02010600030101010101" pitchFamily="2" charset="-122"/>
                <a:cs typeface="等线" panose="02010600030101010101" pitchFamily="2" charset="-122"/>
              </a:rPr>
              <a:t>通过感知设备获得的数据，这类数据包括传感器采集的数据（如环境监测、工业物联网和智能交通的传感数据），科学仪器产生的数据、摄像头的监控影像等等。</a:t>
            </a:r>
          </a:p>
          <a:p>
            <a:pPr indent="266700">
              <a:lnSpc>
                <a:spcPct val="100000"/>
              </a:lnSpc>
            </a:pP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2.人类的记录</a:t>
            </a:r>
          </a:p>
          <a:p>
            <a:pPr indent="266700">
              <a:lnSpc>
                <a:spcPct val="100000"/>
              </a:lnSpc>
            </a:pPr>
            <a:r>
              <a:rPr sz="2000">
                <a:latin typeface="等线" panose="02010600030101010101" pitchFamily="2" charset="-122"/>
                <a:ea typeface="等线" panose="02010600030101010101" pitchFamily="2" charset="-122"/>
                <a:cs typeface="等线" panose="02010600030101010101" pitchFamily="2" charset="-122"/>
              </a:rPr>
              <a:t>由人类录入计算机形成的数据，如信息管理系统、社交软件、电子商务系统、企业财务系统等产生的数据。</a:t>
            </a:r>
          </a:p>
          <a:p>
            <a:pPr indent="266700">
              <a:lnSpc>
                <a:spcPct val="100000"/>
              </a:lnSpc>
            </a:pP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3.计算机产生的数据</a:t>
            </a:r>
          </a:p>
          <a:p>
            <a:pPr indent="266700">
              <a:lnSpc>
                <a:spcPct val="100000"/>
              </a:lnSpc>
            </a:pPr>
            <a:r>
              <a:rPr sz="2000">
                <a:latin typeface="等线" panose="02010600030101010101" pitchFamily="2" charset="-122"/>
                <a:ea typeface="等线" panose="02010600030101010101" pitchFamily="2" charset="-122"/>
                <a:cs typeface="等线" panose="02010600030101010101" pitchFamily="2" charset="-122"/>
              </a:rPr>
              <a:t>由计算机程序生成的数据，如服务器的日志、计算机运算结果、软件生成的图像和视频等等。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3.1.2</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数据容量的单位</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04140" y="868680"/>
            <a:ext cx="8935720" cy="1198880"/>
          </a:xfrm>
          <a:prstGeom prst="rect">
            <a:avLst/>
          </a:prstGeom>
          <a:noFill/>
          <a:ln w="9525">
            <a:noFill/>
          </a:ln>
        </p:spPr>
        <p:txBody>
          <a:bodyPr wrap="square">
            <a:spAutoFit/>
          </a:bodyPr>
          <a:lstStyle/>
          <a:p>
            <a:pPr indent="266700">
              <a:lnSpc>
                <a:spcPct val="120000"/>
              </a:lnSpc>
            </a:pPr>
            <a:r>
              <a:rPr lang="en-US" altLang="zh-CN" sz="2000" b="1" dirty="0">
                <a:latin typeface="+mn-ea"/>
              </a:rPr>
              <a:t>    </a:t>
            </a:r>
            <a:r>
              <a:rPr sz="2000" dirty="0" err="1">
                <a:latin typeface="等线" panose="02010600030101010101" pitchFamily="2" charset="-122"/>
                <a:ea typeface="等线" panose="02010600030101010101" pitchFamily="2" charset="-122"/>
                <a:cs typeface="等线" panose="02010600030101010101" pitchFamily="2" charset="-122"/>
              </a:rPr>
              <a:t>数据容量的基本单位是bit，按容量单位从小到大的顺</a:t>
            </a:r>
            <a:r>
              <a:rPr lang="zh-CN" altLang="en-US" sz="2000" dirty="0">
                <a:latin typeface="等线" panose="02010600030101010101" pitchFamily="2" charset="-122"/>
                <a:ea typeface="等线" panose="02010600030101010101" pitchFamily="2" charset="-122"/>
                <a:cs typeface="等线" panose="02010600030101010101" pitchFamily="2" charset="-122"/>
              </a:rPr>
              <a:t>序</a:t>
            </a:r>
            <a:r>
              <a:rPr sz="2000" dirty="0" err="1">
                <a:latin typeface="等线" panose="02010600030101010101" pitchFamily="2" charset="-122"/>
                <a:ea typeface="等线" panose="02010600030101010101" pitchFamily="2" charset="-122"/>
                <a:cs typeface="等线" panose="02010600030101010101" pitchFamily="2" charset="-122"/>
              </a:rPr>
              <a:t>是：bit（位</a:t>
            </a:r>
            <a:r>
              <a:rPr sz="2000" dirty="0">
                <a:latin typeface="等线" panose="02010600030101010101" pitchFamily="2" charset="-122"/>
                <a:ea typeface="等线" panose="02010600030101010101" pitchFamily="2" charset="-122"/>
                <a:cs typeface="等线" panose="02010600030101010101" pitchFamily="2" charset="-122"/>
              </a:rPr>
              <a:t>）、</a:t>
            </a:r>
            <a:r>
              <a:rPr sz="2000" dirty="0" err="1">
                <a:latin typeface="等线" panose="02010600030101010101" pitchFamily="2" charset="-122"/>
                <a:ea typeface="等线" panose="02010600030101010101" pitchFamily="2" charset="-122"/>
                <a:cs typeface="等线" panose="02010600030101010101" pitchFamily="2" charset="-122"/>
              </a:rPr>
              <a:t>Byte（字节</a:t>
            </a:r>
            <a:r>
              <a:rPr sz="2000" dirty="0">
                <a:latin typeface="等线" panose="02010600030101010101" pitchFamily="2" charset="-122"/>
                <a:ea typeface="等线" panose="02010600030101010101" pitchFamily="2" charset="-122"/>
                <a:cs typeface="等线" panose="02010600030101010101" pitchFamily="2" charset="-122"/>
              </a:rPr>
              <a:t>）、</a:t>
            </a:r>
            <a:r>
              <a:rPr sz="2000" dirty="0" err="1">
                <a:latin typeface="等线" panose="02010600030101010101" pitchFamily="2" charset="-122"/>
                <a:ea typeface="等线" panose="02010600030101010101" pitchFamily="2" charset="-122"/>
                <a:cs typeface="等线" panose="02010600030101010101" pitchFamily="2" charset="-122"/>
              </a:rPr>
              <a:t>KB（千字节</a:t>
            </a:r>
            <a:r>
              <a:rPr sz="2000" dirty="0">
                <a:latin typeface="等线" panose="02010600030101010101" pitchFamily="2" charset="-122"/>
                <a:ea typeface="等线" panose="02010600030101010101" pitchFamily="2" charset="-122"/>
                <a:cs typeface="等线" panose="02010600030101010101" pitchFamily="2" charset="-122"/>
              </a:rPr>
              <a:t>）、</a:t>
            </a:r>
            <a:r>
              <a:rPr sz="2000" dirty="0" err="1">
                <a:latin typeface="等线" panose="02010600030101010101" pitchFamily="2" charset="-122"/>
                <a:ea typeface="等线" panose="02010600030101010101" pitchFamily="2" charset="-122"/>
                <a:cs typeface="等线" panose="02010600030101010101" pitchFamily="2" charset="-122"/>
              </a:rPr>
              <a:t>MB（兆</a:t>
            </a:r>
            <a:r>
              <a:rPr sz="2000" dirty="0">
                <a:latin typeface="等线" panose="02010600030101010101" pitchFamily="2" charset="-122"/>
                <a:ea typeface="等线" panose="02010600030101010101" pitchFamily="2" charset="-122"/>
                <a:cs typeface="等线" panose="02010600030101010101" pitchFamily="2" charset="-122"/>
              </a:rPr>
              <a:t>）、</a:t>
            </a:r>
            <a:r>
              <a:rPr sz="2000" dirty="0" err="1">
                <a:latin typeface="等线" panose="02010600030101010101" pitchFamily="2" charset="-122"/>
                <a:ea typeface="等线" panose="02010600030101010101" pitchFamily="2" charset="-122"/>
                <a:cs typeface="等线" panose="02010600030101010101" pitchFamily="2" charset="-122"/>
              </a:rPr>
              <a:t>GB（吉</a:t>
            </a:r>
            <a:r>
              <a:rPr sz="2000" dirty="0">
                <a:latin typeface="等线" panose="02010600030101010101" pitchFamily="2" charset="-122"/>
                <a:ea typeface="等线" panose="02010600030101010101" pitchFamily="2" charset="-122"/>
                <a:cs typeface="等线" panose="02010600030101010101" pitchFamily="2" charset="-122"/>
              </a:rPr>
              <a:t>）、</a:t>
            </a:r>
            <a:r>
              <a:rPr sz="2000" dirty="0" err="1">
                <a:latin typeface="等线" panose="02010600030101010101" pitchFamily="2" charset="-122"/>
                <a:ea typeface="等线" panose="02010600030101010101" pitchFamily="2" charset="-122"/>
                <a:cs typeface="等线" panose="02010600030101010101" pitchFamily="2" charset="-122"/>
              </a:rPr>
              <a:t>TB（太</a:t>
            </a:r>
            <a:r>
              <a:rPr sz="2000" dirty="0">
                <a:latin typeface="等线" panose="02010600030101010101" pitchFamily="2" charset="-122"/>
                <a:ea typeface="等线" panose="02010600030101010101" pitchFamily="2" charset="-122"/>
                <a:cs typeface="等线" panose="02010600030101010101" pitchFamily="2" charset="-122"/>
              </a:rPr>
              <a:t>）、PB、EB、ZB、YB、BB、NB、DB，它们是按照进率1024（2的十次方）来计算：</a:t>
            </a:r>
          </a:p>
        </p:txBody>
      </p:sp>
      <p:sp>
        <p:nvSpPr>
          <p:cNvPr id="4" name="文本框 3"/>
          <p:cNvSpPr txBox="1"/>
          <p:nvPr/>
        </p:nvSpPr>
        <p:spPr>
          <a:xfrm>
            <a:off x="2509520" y="2165985"/>
            <a:ext cx="3322955" cy="2306955"/>
          </a:xfrm>
          <a:prstGeom prst="rect">
            <a:avLst/>
          </a:prstGeom>
          <a:noFill/>
        </p:spPr>
        <p:txBody>
          <a:bodyPr wrap="square" rtlCol="0" anchor="t">
            <a:spAutoFit/>
          </a:bodyPr>
          <a:lstStyle/>
          <a:p>
            <a:r>
              <a:rPr lang="zh-CN" altLang="en-US" sz="1600" dirty="0">
                <a:ln>
                  <a:solidFill>
                    <a:schemeClr val="accent5"/>
                  </a:solidFill>
                </a:ln>
              </a:rPr>
              <a:t>1 Byte = 8 bit</a:t>
            </a:r>
          </a:p>
          <a:p>
            <a:r>
              <a:rPr lang="zh-CN" altLang="en-US" sz="1600" dirty="0">
                <a:ln>
                  <a:solidFill>
                    <a:schemeClr val="accent5"/>
                  </a:solidFill>
                </a:ln>
              </a:rPr>
              <a:t>1 KB = 1,024 Bytes = 8192 bit</a:t>
            </a:r>
          </a:p>
          <a:p>
            <a:r>
              <a:rPr lang="zh-CN" altLang="en-US" sz="1600" dirty="0">
                <a:ln>
                  <a:solidFill>
                    <a:schemeClr val="accent5"/>
                  </a:solidFill>
                </a:ln>
              </a:rPr>
              <a:t>1 MB = 1,024 KB = 1,048,576 Bytes</a:t>
            </a:r>
          </a:p>
          <a:p>
            <a:r>
              <a:rPr lang="zh-CN" altLang="en-US" sz="1600" dirty="0">
                <a:ln>
                  <a:solidFill>
                    <a:schemeClr val="accent5"/>
                  </a:solidFill>
                </a:ln>
              </a:rPr>
              <a:t>1 GB = 1,024 MB = 1,048,576 KB</a:t>
            </a:r>
          </a:p>
          <a:p>
            <a:r>
              <a:rPr lang="zh-CN" altLang="en-US" sz="1600" dirty="0">
                <a:ln>
                  <a:solidFill>
                    <a:schemeClr val="accent5"/>
                  </a:solidFill>
                </a:ln>
              </a:rPr>
              <a:t>1 TB = 1,024 GB = 1,048,576 MB</a:t>
            </a:r>
          </a:p>
          <a:p>
            <a:r>
              <a:rPr lang="zh-CN" altLang="en-US" sz="1600" dirty="0">
                <a:ln>
                  <a:solidFill>
                    <a:schemeClr val="accent5"/>
                  </a:solidFill>
                </a:ln>
              </a:rPr>
              <a:t>1 PB = 1,024 TB = 1,048,576 GB</a:t>
            </a:r>
          </a:p>
          <a:p>
            <a:r>
              <a:rPr lang="zh-CN" altLang="en-US" sz="1600" dirty="0">
                <a:ln>
                  <a:solidFill>
                    <a:schemeClr val="accent5"/>
                  </a:solidFill>
                </a:ln>
              </a:rPr>
              <a:t>1 EB = 1,024 PB = 1,048,576 TB</a:t>
            </a:r>
          </a:p>
          <a:p>
            <a:r>
              <a:rPr lang="zh-CN" altLang="en-US" sz="1600" dirty="0">
                <a:ln>
                  <a:solidFill>
                    <a:schemeClr val="accent5"/>
                  </a:solidFill>
                </a:ln>
              </a:rPr>
              <a:t>1 ZB = 1,024 EB = 1,048,576 PB</a:t>
            </a:r>
          </a:p>
          <a:p>
            <a:r>
              <a:rPr lang="zh-CN" altLang="en-US" sz="1600" dirty="0">
                <a:ln>
                  <a:solidFill>
                    <a:schemeClr val="accent5"/>
                  </a:solidFill>
                </a:ln>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3.1.3大数据采集的基本方法</a:t>
            </a:r>
          </a:p>
        </p:txBody>
      </p:sp>
      <p:sp>
        <p:nvSpPr>
          <p:cNvPr id="100" name="文本框 99"/>
          <p:cNvSpPr txBox="1"/>
          <p:nvPr/>
        </p:nvSpPr>
        <p:spPr>
          <a:xfrm>
            <a:off x="104140" y="868680"/>
            <a:ext cx="8935720" cy="3761864"/>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1" dirty="0">
                <a:latin typeface="+mn-ea"/>
              </a:rPr>
              <a:t>    </a:t>
            </a:r>
            <a:r>
              <a:rPr sz="2000" dirty="0" err="1">
                <a:latin typeface="等线" panose="02010600030101010101" pitchFamily="2" charset="-122"/>
                <a:ea typeface="等线" panose="02010600030101010101" pitchFamily="2" charset="-122"/>
                <a:cs typeface="等线" panose="02010600030101010101" pitchFamily="2" charset="-122"/>
              </a:rPr>
              <a:t>所谓数据采集是指从真实世界中获得原始数据的过程，它是大数据应用的基础环节，具有非常重要的作用，数据采集的手段通常有以下四种</a:t>
            </a:r>
            <a:r>
              <a:rPr sz="2000" dirty="0">
                <a:latin typeface="等线" panose="02010600030101010101" pitchFamily="2" charset="-122"/>
                <a:ea typeface="等线" panose="02010600030101010101" pitchFamily="2" charset="-122"/>
                <a:cs typeface="等线" panose="02010600030101010101" pitchFamily="2" charset="-122"/>
              </a:rPr>
              <a:t>：</a:t>
            </a:r>
          </a:p>
          <a:p>
            <a:pPr indent="266700">
              <a:lnSpc>
                <a:spcPct val="12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sz="2000" b="1" dirty="0">
                <a:latin typeface="等线" panose="02010600030101010101" pitchFamily="2" charset="-122"/>
                <a:ea typeface="等线" panose="02010600030101010101" pitchFamily="2" charset="-122"/>
                <a:cs typeface="等线" panose="02010600030101010101" pitchFamily="2" charset="-122"/>
              </a:rPr>
              <a:t>1.传感数据采集</a:t>
            </a:r>
          </a:p>
          <a:p>
            <a:pPr indent="266700">
              <a:lnSpc>
                <a:spcPct val="12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sz="2000" dirty="0">
                <a:latin typeface="等线" panose="02010600030101010101" pitchFamily="2" charset="-122"/>
                <a:ea typeface="等线" panose="02010600030101010101" pitchFamily="2" charset="-122"/>
                <a:cs typeface="等线" panose="02010600030101010101" pitchFamily="2" charset="-122"/>
              </a:rPr>
              <a:t>该方法通过传感器采集物理世界的信息，例如通过环境监测传感器、工业传感器采集的热、光、气、电、磁、声和力等数据，多媒体数据采集设备获取的图像、音频和视频数据等。</a:t>
            </a:r>
          </a:p>
          <a:p>
            <a:pPr indent="266700">
              <a:lnSpc>
                <a:spcPct val="12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lang="en-US" sz="2000" b="1" dirty="0">
                <a:latin typeface="等线" panose="02010600030101010101" pitchFamily="2" charset="-122"/>
                <a:ea typeface="等线" panose="02010600030101010101" pitchFamily="2" charset="-122"/>
                <a:cs typeface="等线" panose="02010600030101010101" pitchFamily="2" charset="-122"/>
              </a:rPr>
              <a:t>  </a:t>
            </a:r>
            <a:r>
              <a:rPr sz="2000" b="1" dirty="0">
                <a:latin typeface="等线" panose="02010600030101010101" pitchFamily="2" charset="-122"/>
                <a:ea typeface="等线" panose="02010600030101010101" pitchFamily="2" charset="-122"/>
                <a:cs typeface="等线" panose="02010600030101010101" pitchFamily="2" charset="-122"/>
              </a:rPr>
              <a:t>2.系统日志采集</a:t>
            </a:r>
          </a:p>
          <a:p>
            <a:pPr indent="266700">
              <a:lnSpc>
                <a:spcPct val="12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sz="2000" dirty="0">
                <a:latin typeface="等线" panose="02010600030101010101" pitchFamily="2" charset="-122"/>
                <a:ea typeface="等线" panose="02010600030101010101" pitchFamily="2" charset="-122"/>
                <a:cs typeface="等线" panose="02010600030101010101" pitchFamily="2" charset="-122"/>
              </a:rPr>
              <a:t>该方法主要采集数字设备和计算机系统运行状态的日志。许多数字设备和计算机系统每天都会产生大量的日志，一般为流式数据，如信息管理系统的操作日志、服务器的运行状态和搜索引擎的查询等。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3.1.3大数据采集的基本方法</a:t>
            </a:r>
          </a:p>
        </p:txBody>
      </p:sp>
      <p:sp>
        <p:nvSpPr>
          <p:cNvPr id="100" name="文本框 99"/>
          <p:cNvSpPr txBox="1"/>
          <p:nvPr/>
        </p:nvSpPr>
        <p:spPr>
          <a:xfrm>
            <a:off x="349885" y="850265"/>
            <a:ext cx="4818380" cy="3661410"/>
          </a:xfrm>
          <a:prstGeom prst="rect">
            <a:avLst/>
          </a:prstGeom>
          <a:noFill/>
          <a:ln w="9525">
            <a:noFill/>
          </a:ln>
        </p:spPr>
        <p:txBody>
          <a:bodyPr wrap="square">
            <a:spAutoFit/>
          </a:bodyPr>
          <a:lstStyle/>
          <a:p>
            <a:pPr indent="266700">
              <a:lnSpc>
                <a:spcPct val="120000"/>
              </a:lnSpc>
            </a:pPr>
            <a:r>
              <a:rPr lang="en-US" altLang="zh-CN" sz="2000" b="1" dirty="0">
                <a:latin typeface="+mn-ea"/>
              </a:rPr>
              <a:t>   </a:t>
            </a:r>
            <a:r>
              <a:rPr sz="2000" b="1" dirty="0">
                <a:latin typeface="等线" panose="02010600030101010101" pitchFamily="2" charset="-122"/>
                <a:ea typeface="等线" panose="02010600030101010101" pitchFamily="2" charset="-122"/>
                <a:cs typeface="等线" panose="02010600030101010101" pitchFamily="2" charset="-122"/>
              </a:rPr>
              <a:t>3.网络数据采集</a:t>
            </a:r>
          </a:p>
          <a:p>
            <a:pPr indent="266700">
              <a:lnSpc>
                <a:spcPct val="13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sz="2000" dirty="0" err="1">
                <a:latin typeface="等线" panose="02010600030101010101" pitchFamily="2" charset="-122"/>
                <a:ea typeface="等线" panose="02010600030101010101" pitchFamily="2" charset="-122"/>
                <a:cs typeface="等线" panose="02010600030101010101" pitchFamily="2" charset="-122"/>
              </a:rPr>
              <a:t>网络数据的采集通常可以分为网页内容采集和网络流量采集两种类型</a:t>
            </a:r>
            <a:r>
              <a:rPr sz="2000" dirty="0">
                <a:latin typeface="等线" panose="02010600030101010101" pitchFamily="2" charset="-122"/>
                <a:ea typeface="等线" panose="02010600030101010101" pitchFamily="2" charset="-122"/>
                <a:cs typeface="等线" panose="02010600030101010101" pitchFamily="2" charset="-122"/>
              </a:rPr>
              <a:t>。</a:t>
            </a:r>
          </a:p>
          <a:p>
            <a:pPr indent="266700">
              <a:lnSpc>
                <a:spcPct val="13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   </a:t>
            </a:r>
            <a:r>
              <a:rPr sz="2000" dirty="0">
                <a:latin typeface="等线" panose="02010600030101010101" pitchFamily="2" charset="-122"/>
                <a:ea typeface="等线" panose="02010600030101010101" pitchFamily="2" charset="-122"/>
                <a:cs typeface="等线" panose="02010600030101010101" pitchFamily="2" charset="-122"/>
              </a:rPr>
              <a:t>网页内容采集是指通过网络爬虫或网站公开API等方式从网站上获取数据信息，该方法可以将非结构化数据从网页中抽取出来，将其存储为统一的本地数据文件，并以结构化或非结构化的方式存储，</a:t>
            </a:r>
            <a:r>
              <a:rPr lang="zh-CN" sz="2000" dirty="0">
                <a:latin typeface="等线" panose="02010600030101010101" pitchFamily="2" charset="-122"/>
                <a:ea typeface="等线" panose="02010600030101010101" pitchFamily="2" charset="-122"/>
                <a:cs typeface="等线" panose="02010600030101010101" pitchFamily="2" charset="-122"/>
              </a:rPr>
              <a:t>右</a:t>
            </a:r>
            <a:r>
              <a:rPr sz="2000" dirty="0">
                <a:latin typeface="等线" panose="02010600030101010101" pitchFamily="2" charset="-122"/>
                <a:ea typeface="等线" panose="02010600030101010101" pitchFamily="2" charset="-122"/>
                <a:cs typeface="等线" panose="02010600030101010101" pitchFamily="2" charset="-122"/>
              </a:rPr>
              <a:t>图 </a:t>
            </a:r>
            <a:r>
              <a:rPr sz="2000" dirty="0" err="1">
                <a:latin typeface="等线" panose="02010600030101010101" pitchFamily="2" charset="-122"/>
                <a:ea typeface="等线" panose="02010600030101010101" pitchFamily="2" charset="-122"/>
                <a:cs typeface="等线" panose="02010600030101010101" pitchFamily="2" charset="-122"/>
              </a:rPr>
              <a:t>是网络爬虫的工作原理示意图</a:t>
            </a:r>
            <a:r>
              <a:rPr sz="2000" dirty="0">
                <a:latin typeface="等线" panose="02010600030101010101" pitchFamily="2" charset="-122"/>
                <a:ea typeface="等线" panose="02010600030101010101" pitchFamily="2" charset="-122"/>
                <a:cs typeface="等线" panose="02010600030101010101" pitchFamily="2" charset="-122"/>
              </a:rPr>
              <a:t>。</a:t>
            </a:r>
            <a:r>
              <a:rPr lang="en-US" sz="2000" dirty="0">
                <a:latin typeface="等线" panose="02010600030101010101" pitchFamily="2" charset="-122"/>
                <a:ea typeface="等线" panose="02010600030101010101" pitchFamily="2" charset="-122"/>
                <a:cs typeface="等线" panose="02010600030101010101" pitchFamily="2" charset="-122"/>
              </a:rPr>
              <a:t> </a:t>
            </a:r>
            <a:r>
              <a:rPr lang="en-US" sz="2000" b="1" dirty="0">
                <a:latin typeface="等线" panose="02010600030101010101" pitchFamily="2" charset="-122"/>
                <a:ea typeface="等线" panose="02010600030101010101" pitchFamily="2" charset="-122"/>
                <a:cs typeface="等线" panose="02010600030101010101" pitchFamily="2" charset="-122"/>
              </a:rPr>
              <a:t>  </a:t>
            </a:r>
            <a:endParaRPr sz="2000" dirty="0">
              <a:latin typeface="等线" panose="02010600030101010101" pitchFamily="2" charset="-122"/>
              <a:ea typeface="等线" panose="02010600030101010101" pitchFamily="2" charset="-122"/>
              <a:cs typeface="等线" panose="02010600030101010101" pitchFamily="2" charset="-122"/>
            </a:endParaRPr>
          </a:p>
        </p:txBody>
      </p:sp>
      <p:pic>
        <p:nvPicPr>
          <p:cNvPr id="3" name="图片 1"/>
          <p:cNvPicPr>
            <a:picLocks noChangeAspect="1"/>
          </p:cNvPicPr>
          <p:nvPr/>
        </p:nvPicPr>
        <p:blipFill>
          <a:blip r:embed="rId3"/>
          <a:stretch>
            <a:fillRect/>
          </a:stretch>
        </p:blipFill>
        <p:spPr>
          <a:xfrm>
            <a:off x="5283835" y="1465580"/>
            <a:ext cx="3413125" cy="2547620"/>
          </a:xfrm>
          <a:prstGeom prst="rect">
            <a:avLst/>
          </a:prstGeom>
          <a:ln>
            <a:solidFill>
              <a:srgbClr val="0070C0"/>
            </a:solidFill>
          </a:ln>
        </p:spPr>
      </p:pic>
      <p:sp>
        <p:nvSpPr>
          <p:cNvPr id="4" name="文本框 3"/>
          <p:cNvSpPr txBox="1"/>
          <p:nvPr/>
        </p:nvSpPr>
        <p:spPr>
          <a:xfrm>
            <a:off x="4450715" y="4141470"/>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网络爬虫工作原理示意图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3.1.3大数据采集的基本方法</a:t>
            </a:r>
          </a:p>
        </p:txBody>
      </p:sp>
      <p:sp>
        <p:nvSpPr>
          <p:cNvPr id="100" name="文本框 99"/>
          <p:cNvSpPr txBox="1"/>
          <p:nvPr/>
        </p:nvSpPr>
        <p:spPr>
          <a:xfrm>
            <a:off x="304800" y="868680"/>
            <a:ext cx="8615680" cy="4154170"/>
          </a:xfrm>
          <a:prstGeom prst="rect">
            <a:avLst/>
          </a:prstGeom>
          <a:noFill/>
          <a:ln w="9525">
            <a:noFill/>
          </a:ln>
        </p:spPr>
        <p:txBody>
          <a:bodyPr wrap="square">
            <a:spAutoFit/>
          </a:bodyPr>
          <a:lstStyle/>
          <a:p>
            <a:pPr indent="266700">
              <a:lnSpc>
                <a:spcPct val="120000"/>
              </a:lnSpc>
            </a:pPr>
            <a:r>
              <a:rPr lang="en-US" altLang="zh-CN" sz="2000" b="1" dirty="0">
                <a:latin typeface="+mn-ea"/>
              </a:rPr>
              <a:t>  </a:t>
            </a:r>
            <a:r>
              <a:rPr sz="2000" dirty="0" err="1">
                <a:latin typeface="等线" panose="02010600030101010101" pitchFamily="2" charset="-122"/>
                <a:ea typeface="等线" panose="02010600030101010101" pitchFamily="2" charset="-122"/>
              </a:rPr>
              <a:t>网络流量的采集可以使用DPI（Deep</a:t>
            </a:r>
            <a:r>
              <a:rPr sz="2000" dirty="0">
                <a:latin typeface="等线" panose="02010600030101010101" pitchFamily="2" charset="-122"/>
                <a:ea typeface="等线" panose="02010600030101010101" pitchFamily="2" charset="-122"/>
              </a:rPr>
              <a:t> Packet </a:t>
            </a:r>
            <a:r>
              <a:rPr sz="2000" dirty="0" err="1">
                <a:latin typeface="等线" panose="02010600030101010101" pitchFamily="2" charset="-122"/>
                <a:ea typeface="等线" panose="02010600030101010101" pitchFamily="2" charset="-122"/>
              </a:rPr>
              <a:t>Inspection，深度包检测）和DFI（Deep</a:t>
            </a:r>
            <a:r>
              <a:rPr sz="2000" dirty="0">
                <a:latin typeface="等线" panose="02010600030101010101" pitchFamily="2" charset="-122"/>
                <a:ea typeface="等线" panose="02010600030101010101" pitchFamily="2" charset="-122"/>
              </a:rPr>
              <a:t>/Dynamic Flow </a:t>
            </a:r>
            <a:r>
              <a:rPr sz="2000" dirty="0" err="1">
                <a:latin typeface="等线" panose="02010600030101010101" pitchFamily="2" charset="-122"/>
                <a:ea typeface="等线" panose="02010600030101010101" pitchFamily="2" charset="-122"/>
              </a:rPr>
              <a:t>Inspection，深度</a:t>
            </a:r>
            <a:r>
              <a:rPr sz="2000" dirty="0">
                <a:latin typeface="等线" panose="02010600030101010101" pitchFamily="2" charset="-122"/>
                <a:ea typeface="等线" panose="02010600030101010101" pitchFamily="2" charset="-122"/>
              </a:rPr>
              <a:t>/动态流检测）等带宽管理技术进行处理。DPI技术在分析包头的基础上，增加了对应用层的分析，是一种基于应用层的流量检测和控制技术。DFI仅对网络流量行为分析，因此只能对应用的类型进行笼统分类，但速度很快。</a:t>
            </a:r>
          </a:p>
          <a:p>
            <a:pPr indent="266700">
              <a:lnSpc>
                <a:spcPct val="120000"/>
              </a:lnSpc>
            </a:pPr>
            <a:r>
              <a:rPr lang="en-US" sz="2000" dirty="0"/>
              <a:t>  </a:t>
            </a:r>
            <a:r>
              <a:rPr lang="en-US" sz="2000" b="1" dirty="0"/>
              <a:t> </a:t>
            </a:r>
            <a:r>
              <a:rPr sz="2000" b="1" dirty="0"/>
              <a:t>4.外包和众包</a:t>
            </a:r>
          </a:p>
          <a:p>
            <a:pPr indent="266700">
              <a:lnSpc>
                <a:spcPct val="120000"/>
              </a:lnSpc>
            </a:pPr>
            <a:r>
              <a:rPr lang="en-US" sz="2000" dirty="0"/>
              <a:t>  </a:t>
            </a:r>
            <a:r>
              <a:rPr sz="2000" dirty="0" err="1">
                <a:latin typeface="等线" panose="02010600030101010101" pitchFamily="2" charset="-122"/>
                <a:ea typeface="等线" panose="02010600030101010101" pitchFamily="2" charset="-122"/>
              </a:rPr>
              <a:t>外包（Outsourcing）是指将所要进行的数据采集任务交付给已知的雇员去完成</a:t>
            </a:r>
            <a:r>
              <a:rPr sz="2000" dirty="0">
                <a:latin typeface="等线" panose="02010600030101010101" pitchFamily="2" charset="-122"/>
                <a:ea typeface="等线" panose="02010600030101010101" pitchFamily="2" charset="-122"/>
              </a:rPr>
              <a:t>。</a:t>
            </a:r>
          </a:p>
          <a:p>
            <a:pPr indent="266700">
              <a:lnSpc>
                <a:spcPct val="120000"/>
              </a:lnSpc>
            </a:pPr>
            <a:r>
              <a:rPr sz="2000" dirty="0">
                <a:latin typeface="等线" panose="02010600030101010101" pitchFamily="2" charset="-122"/>
                <a:ea typeface="等线" panose="02010600030101010101" pitchFamily="2" charset="-122"/>
              </a:rPr>
              <a:t>众包（Crowdsourcing）是指数据采集任务由一群不固定，通常数量很大的参与者共同协作完成，例如Wikipedia就是一个成功应用“众包”方法构建的庞大知识库。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5474136"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常用的大数据采集工具简介</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3.2</a:t>
            </a:r>
          </a:p>
        </p:txBody>
      </p:sp>
      <p:sp>
        <p:nvSpPr>
          <p:cNvPr id="4" name="文本框 3"/>
          <p:cNvSpPr txBox="1"/>
          <p:nvPr/>
        </p:nvSpPr>
        <p:spPr>
          <a:xfrm>
            <a:off x="2143760" y="2695575"/>
            <a:ext cx="4034155" cy="64516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基于Python的网页采集框架Scrapy</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日志收集工具Flume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3.2.1基于Python的网页采集框架Scrapy</a:t>
            </a:r>
            <a:endParaRPr lang="zh-CN" altLang="en-US" sz="2400" dirty="0">
              <a:solidFill>
                <a:srgbClr val="FFC000"/>
              </a:solidFill>
            </a:endParaRPr>
          </a:p>
        </p:txBody>
      </p:sp>
      <p:sp>
        <p:nvSpPr>
          <p:cNvPr id="100" name="文本框 99"/>
          <p:cNvSpPr txBox="1"/>
          <p:nvPr/>
        </p:nvSpPr>
        <p:spPr>
          <a:xfrm>
            <a:off x="424815" y="825500"/>
            <a:ext cx="8294370" cy="460375"/>
          </a:xfrm>
          <a:prstGeom prst="rect">
            <a:avLst/>
          </a:prstGeom>
          <a:noFill/>
          <a:ln w="9525">
            <a:noFill/>
          </a:ln>
        </p:spPr>
        <p:txBody>
          <a:bodyPr wrap="square">
            <a:spAutoFit/>
          </a:bodyPr>
          <a:lstStyle/>
          <a:p>
            <a:pPr marL="266700" indent="-266700"/>
            <a:r>
              <a:rPr sz="2400" b="1"/>
              <a:t>1.Scrapy简介</a:t>
            </a:r>
          </a:p>
        </p:txBody>
      </p:sp>
      <p:sp>
        <p:nvSpPr>
          <p:cNvPr id="3" name="文本框 2"/>
          <p:cNvSpPr txBox="1"/>
          <p:nvPr/>
        </p:nvSpPr>
        <p:spPr>
          <a:xfrm>
            <a:off x="231140" y="1203960"/>
            <a:ext cx="5913755" cy="3062313"/>
          </a:xfrm>
          <a:prstGeom prst="rect">
            <a:avLst/>
          </a:prstGeom>
          <a:noFill/>
          <a:ln w="9525">
            <a:noFill/>
          </a:ln>
        </p:spPr>
        <p:txBody>
          <a:bodyPr wrap="square">
            <a:spAutoFit/>
          </a:bodyPr>
          <a:lstStyle/>
          <a:p>
            <a:pPr indent="266700">
              <a:lnSpc>
                <a:spcPct val="120000"/>
              </a:lnSpc>
              <a:spcBef>
                <a:spcPts val="0"/>
              </a:spcBef>
              <a:spcAft>
                <a:spcPts val="0"/>
              </a:spcAft>
            </a:pPr>
            <a:r>
              <a:rPr lang="zh-CN" sz="1800" b="0" dirty="0">
                <a:ea typeface="等线" panose="02010600030101010101" pitchFamily="2" charset="-122"/>
                <a:cs typeface="Times New Roman" panose="02020603050405020304" pitchFamily="18" charset="0"/>
              </a:rPr>
              <a:t>Scrapy是一个Python开发的</a:t>
            </a:r>
            <a:r>
              <a:rPr lang="zh-CN" sz="1800" b="0" dirty="0">
                <a:ea typeface="等线" panose="02010600030101010101" pitchFamily="2" charset="-122"/>
              </a:rPr>
              <a:t>基于</a:t>
            </a:r>
            <a:r>
              <a:rPr lang="zh-CN" sz="1800" b="0" dirty="0">
                <a:ea typeface="等线" panose="02010600030101010101" pitchFamily="2" charset="-122"/>
                <a:cs typeface="Times New Roman" panose="02020603050405020304" pitchFamily="18" charset="0"/>
              </a:rPr>
              <a:t>twisted异步模型的web抓取框架，用于抓取网站并从页面中提取结构化数据。它</a:t>
            </a:r>
            <a:r>
              <a:rPr lang="zh-CN" sz="1800" b="0" dirty="0">
                <a:ea typeface="等线" panose="02010600030101010101" pitchFamily="2" charset="-122"/>
              </a:rPr>
              <a:t>的用途广泛，可以用于数据挖掘、监控和自动化测试等。</a:t>
            </a:r>
            <a:endParaRPr lang="zh-CN" sz="1800" b="0" dirty="0">
              <a:ea typeface="等线" panose="02010600030101010101" pitchFamily="2" charset="-122"/>
              <a:cs typeface="Times New Roman" panose="02020603050405020304" pitchFamily="18" charset="0"/>
            </a:endParaRPr>
          </a:p>
          <a:p>
            <a:pPr indent="266700">
              <a:lnSpc>
                <a:spcPct val="120000"/>
              </a:lnSpc>
              <a:spcBef>
                <a:spcPts val="0"/>
              </a:spcBef>
              <a:spcAft>
                <a:spcPts val="0"/>
              </a:spcAft>
            </a:pPr>
            <a:r>
              <a:rPr lang="zh-CN" sz="1800" b="0" dirty="0">
                <a:ea typeface="等线" panose="02010600030101010101" pitchFamily="2" charset="-122"/>
                <a:cs typeface="Times New Roman" panose="02020603050405020304" pitchFamily="18" charset="0"/>
              </a:rPr>
              <a:t>Scrapy</a:t>
            </a:r>
            <a:r>
              <a:rPr lang="zh-CN" sz="1800" b="0" dirty="0">
                <a:ea typeface="等线" panose="02010600030101010101" pitchFamily="2" charset="-122"/>
              </a:rPr>
              <a:t>是一个框架，可以根据需求方便的修改，它提供了多种类型爬虫的基类，如</a:t>
            </a:r>
            <a:r>
              <a:rPr lang="zh-CN" sz="1800" b="0" dirty="0">
                <a:ea typeface="等线" panose="02010600030101010101" pitchFamily="2" charset="-122"/>
                <a:cs typeface="Times New Roman" panose="02020603050405020304" pitchFamily="18" charset="0"/>
              </a:rPr>
              <a:t>BaseSpider、sitemap爬虫等</a:t>
            </a:r>
            <a:r>
              <a:rPr lang="zh-CN" sz="1800" b="0" dirty="0">
                <a:ea typeface="等线" panose="02010600030101010101" pitchFamily="2" charset="-122"/>
              </a:rPr>
              <a:t>。</a:t>
            </a:r>
            <a:endParaRPr lang="zh-CN" sz="1800" b="0" dirty="0">
              <a:ea typeface="等线" panose="02010600030101010101" pitchFamily="2" charset="-122"/>
              <a:cs typeface="Times New Roman" panose="02020603050405020304" pitchFamily="18" charset="0"/>
            </a:endParaRPr>
          </a:p>
          <a:p>
            <a:pPr indent="266700">
              <a:lnSpc>
                <a:spcPct val="120000"/>
              </a:lnSpc>
              <a:spcBef>
                <a:spcPts val="0"/>
              </a:spcBef>
              <a:spcAft>
                <a:spcPts val="0"/>
              </a:spcAft>
            </a:pPr>
            <a:r>
              <a:rPr lang="zh-CN" sz="1800" b="0" dirty="0">
                <a:ea typeface="等线" panose="02010600030101010101" pitchFamily="2" charset="-122"/>
                <a:cs typeface="Times New Roman" panose="02020603050405020304" pitchFamily="18" charset="0"/>
              </a:rPr>
              <a:t>Scrapy框架主要由五大组件组成，它们分别是调度器</a:t>
            </a:r>
            <a:r>
              <a:rPr lang="zh-CN" sz="1800" b="0" dirty="0">
                <a:ea typeface="等线" panose="02010600030101010101" pitchFamily="2" charset="-122"/>
              </a:rPr>
              <a:t>（</a:t>
            </a:r>
            <a:r>
              <a:rPr lang="en-US" sz="1800" b="0" dirty="0">
                <a:latin typeface="等线" panose="02010600030101010101" pitchFamily="2" charset="-122"/>
                <a:cs typeface="Times New Roman" panose="02020603050405020304" pitchFamily="18" charset="0"/>
              </a:rPr>
              <a:t>Scheduler</a:t>
            </a:r>
            <a:r>
              <a:rPr lang="zh-CN" sz="1800" b="0" dirty="0">
                <a:ea typeface="等线" panose="02010600030101010101" pitchFamily="2" charset="-122"/>
              </a:rPr>
              <a:t>）、下载器（</a:t>
            </a:r>
            <a:r>
              <a:rPr lang="en-US" sz="1800" b="0" dirty="0">
                <a:latin typeface="等线" panose="02010600030101010101" pitchFamily="2" charset="-122"/>
                <a:cs typeface="Times New Roman" panose="02020603050405020304" pitchFamily="18" charset="0"/>
              </a:rPr>
              <a:t>Downloader</a:t>
            </a:r>
            <a:r>
              <a:rPr lang="zh-CN" sz="1800" b="0" dirty="0">
                <a:ea typeface="等线" panose="02010600030101010101" pitchFamily="2" charset="-122"/>
              </a:rPr>
              <a:t>）、爬虫（</a:t>
            </a:r>
            <a:r>
              <a:rPr lang="zh-CN" sz="1800" b="0" dirty="0">
                <a:ea typeface="等线" panose="02010600030101010101" pitchFamily="2" charset="-122"/>
                <a:cs typeface="Times New Roman" panose="02020603050405020304" pitchFamily="18" charset="0"/>
              </a:rPr>
              <a:t>Spider）</a:t>
            </a:r>
            <a:r>
              <a:rPr lang="zh-CN" sz="1800" b="0" dirty="0">
                <a:ea typeface="等线" panose="02010600030101010101" pitchFamily="2" charset="-122"/>
              </a:rPr>
              <a:t>、实体管道（</a:t>
            </a:r>
            <a:r>
              <a:rPr lang="en-US" sz="1800" b="0" dirty="0">
                <a:latin typeface="等线" panose="02010600030101010101" pitchFamily="2" charset="-122"/>
                <a:cs typeface="Times New Roman" panose="02020603050405020304" pitchFamily="18" charset="0"/>
              </a:rPr>
              <a:t>Item Pipeline</a:t>
            </a:r>
            <a:r>
              <a:rPr lang="zh-CN" sz="1800" b="0" dirty="0">
                <a:ea typeface="等线" panose="02010600030101010101" pitchFamily="2" charset="-122"/>
              </a:rPr>
              <a:t>）和</a:t>
            </a:r>
            <a:r>
              <a:rPr lang="zh-CN" sz="1800" b="0" dirty="0">
                <a:ea typeface="等线" panose="02010600030101010101" pitchFamily="2" charset="-122"/>
                <a:cs typeface="Times New Roman" panose="02020603050405020304" pitchFamily="18" charset="0"/>
              </a:rPr>
              <a:t>Scrapy引擎</a:t>
            </a:r>
            <a:r>
              <a:rPr lang="zh-CN" sz="1800" b="0" dirty="0">
                <a:ea typeface="等线" panose="02010600030101010101" pitchFamily="2" charset="-122"/>
              </a:rPr>
              <a:t>（</a:t>
            </a:r>
            <a:r>
              <a:rPr lang="en-US" sz="1800" b="0" dirty="0" err="1">
                <a:latin typeface="等线" panose="02010600030101010101" pitchFamily="2" charset="-122"/>
                <a:cs typeface="Times New Roman" panose="02020603050405020304" pitchFamily="18" charset="0"/>
              </a:rPr>
              <a:t>Scrapy</a:t>
            </a:r>
            <a:r>
              <a:rPr lang="en-US" sz="1800" b="0" dirty="0">
                <a:latin typeface="等线" panose="02010600030101010101" pitchFamily="2" charset="-122"/>
                <a:cs typeface="Times New Roman" panose="02020603050405020304" pitchFamily="18" charset="0"/>
              </a:rPr>
              <a:t> Engineer</a:t>
            </a:r>
            <a:r>
              <a:rPr lang="zh-CN" sz="1800" b="0" dirty="0">
                <a:ea typeface="等线" panose="02010600030101010101" pitchFamily="2" charset="-122"/>
              </a:rPr>
              <a:t>），其整体架构如图所示。</a:t>
            </a:r>
            <a:endParaRPr lang="zh-CN" altLang="en-US" sz="1800" dirty="0"/>
          </a:p>
        </p:txBody>
      </p:sp>
      <p:pic>
        <p:nvPicPr>
          <p:cNvPr id="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191293" y="1894841"/>
            <a:ext cx="2905125" cy="1962785"/>
          </a:xfrm>
          <a:prstGeom prst="rect">
            <a:avLst/>
          </a:prstGeom>
          <a:noFill/>
          <a:ln>
            <a:solidFill>
              <a:srgbClr val="0070C0"/>
            </a:solidFill>
          </a:ln>
        </p:spPr>
      </p:pic>
      <p:sp>
        <p:nvSpPr>
          <p:cNvPr id="6" name="文本框 5"/>
          <p:cNvSpPr txBox="1"/>
          <p:nvPr/>
        </p:nvSpPr>
        <p:spPr>
          <a:xfrm>
            <a:off x="5028565" y="3968750"/>
            <a:ext cx="5080000" cy="245110"/>
          </a:xfrm>
          <a:prstGeom prst="rect">
            <a:avLst/>
          </a:prstGeom>
          <a:noFill/>
          <a:ln w="9525">
            <a:noFill/>
          </a:ln>
        </p:spPr>
        <p:txBody>
          <a:bodyPr>
            <a:spAutoFit/>
          </a:bodyPr>
          <a:lstStyle/>
          <a:p>
            <a:pPr indent="0" algn="ctr"/>
            <a:r>
              <a:rPr lang="en-US" sz="1000" b="0">
                <a:latin typeface="Cambria Math" panose="02040503050406030204" charset="0"/>
                <a:ea typeface="等线" panose="02010600030101010101" pitchFamily="2" charset="-122"/>
                <a:cs typeface="Times New Roman" panose="02020603050405020304" pitchFamily="18" charset="0"/>
              </a:rPr>
              <a:t> </a:t>
            </a:r>
            <a:r>
              <a:rPr lang="en-US" sz="1000" b="0">
                <a:latin typeface="Cambria Math" panose="02040503050406030204" charset="0"/>
                <a:ea typeface="等线" panose="02010600030101010101" pitchFamily="2" charset="-122"/>
              </a:rPr>
              <a:t>Scrapy</a:t>
            </a:r>
            <a:r>
              <a:rPr lang="zh-CN" sz="1000" b="0">
                <a:latin typeface="Cambria Math" panose="02040503050406030204" charset="0"/>
                <a:ea typeface="等线" panose="02010600030101010101" pitchFamily="2" charset="-122"/>
              </a:rPr>
              <a:t>整体架构示意图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217805"/>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3.2.1基于Python的网页采集框架Scrapy</a:t>
            </a:r>
            <a:endParaRPr lang="zh-CN" altLang="en-US" sz="2400" dirty="0">
              <a:solidFill>
                <a:srgbClr val="FFC000"/>
              </a:solidFill>
            </a:endParaRPr>
          </a:p>
        </p:txBody>
      </p:sp>
      <p:grpSp>
        <p:nvGrpSpPr>
          <p:cNvPr id="23" name="组合 22"/>
          <p:cNvGrpSpPr/>
          <p:nvPr/>
        </p:nvGrpSpPr>
        <p:grpSpPr>
          <a:xfrm>
            <a:off x="236220" y="1041400"/>
            <a:ext cx="2035810" cy="3846195"/>
            <a:chOff x="251" y="1863"/>
            <a:chExt cx="1270" cy="6106"/>
          </a:xfrm>
        </p:grpSpPr>
        <p:sp>
          <p:nvSpPr>
            <p:cNvPr id="2" name="矩形 1"/>
            <p:cNvSpPr/>
            <p:nvPr/>
          </p:nvSpPr>
          <p:spPr>
            <a:xfrm>
              <a:off x="251" y="1863"/>
              <a:ext cx="1270" cy="120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altLang="zh-CN" sz="1600" b="1">
                  <a:latin typeface="Impact" panose="020B0806030902050204" pitchFamily="34" charset="0"/>
                </a:rPr>
                <a:t>调度器（Scheduler）</a:t>
              </a:r>
            </a:p>
          </p:txBody>
        </p:sp>
        <p:sp>
          <p:nvSpPr>
            <p:cNvPr id="7" name="矩形 6"/>
            <p:cNvSpPr/>
            <p:nvPr/>
          </p:nvSpPr>
          <p:spPr>
            <a:xfrm>
              <a:off x="251" y="3247"/>
              <a:ext cx="1270" cy="78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altLang="zh-CN" sz="1600" b="1">
                  <a:latin typeface="Impact" panose="020B0806030902050204" pitchFamily="34" charset="0"/>
                </a:rPr>
                <a:t>下载</a:t>
              </a:r>
              <a:r>
                <a:rPr lang="zh-CN" altLang="en-US" sz="1600" b="1">
                  <a:latin typeface="Impact" panose="020B0806030902050204" pitchFamily="34" charset="0"/>
                </a:rPr>
                <a:t>器</a:t>
              </a:r>
              <a:r>
                <a:rPr lang="en-US" altLang="zh-CN" sz="1600" b="1">
                  <a:latin typeface="Impact" panose="020B0806030902050204" pitchFamily="34" charset="0"/>
                </a:rPr>
                <a:t>（Downloader）</a:t>
              </a:r>
            </a:p>
          </p:txBody>
        </p:sp>
        <p:sp>
          <p:nvSpPr>
            <p:cNvPr id="9" name="矩形 8"/>
            <p:cNvSpPr/>
            <p:nvPr/>
          </p:nvSpPr>
          <p:spPr>
            <a:xfrm>
              <a:off x="251" y="4219"/>
              <a:ext cx="1270" cy="157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600" b="1">
                  <a:latin typeface="Impact" panose="020B0806030902050204" pitchFamily="34" charset="0"/>
                </a:rPr>
                <a:t>爬虫（Spider）</a:t>
              </a:r>
            </a:p>
          </p:txBody>
        </p:sp>
        <p:sp>
          <p:nvSpPr>
            <p:cNvPr id="10" name="矩形 9"/>
            <p:cNvSpPr/>
            <p:nvPr/>
          </p:nvSpPr>
          <p:spPr>
            <a:xfrm>
              <a:off x="251" y="5974"/>
              <a:ext cx="1270" cy="95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600" b="1">
                  <a:latin typeface="Impact" panose="020B0806030902050204" pitchFamily="34" charset="0"/>
                </a:rPr>
                <a:t>实体管道</a:t>
              </a:r>
            </a:p>
            <a:p>
              <a:pPr algn="l"/>
              <a:r>
                <a:rPr lang="en-US" sz="1600" b="1">
                  <a:latin typeface="Impact" panose="020B0806030902050204" pitchFamily="34" charset="0"/>
                </a:rPr>
                <a:t>（Item Pipeline）</a:t>
              </a:r>
            </a:p>
          </p:txBody>
        </p:sp>
        <p:sp>
          <p:nvSpPr>
            <p:cNvPr id="8" name="矩形 7"/>
            <p:cNvSpPr/>
            <p:nvPr/>
          </p:nvSpPr>
          <p:spPr>
            <a:xfrm>
              <a:off x="251" y="7109"/>
              <a:ext cx="1270" cy="86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sz="1600" b="1">
                  <a:latin typeface="Impact" panose="020B0806030902050204" pitchFamily="34" charset="0"/>
                </a:rPr>
                <a:t>Scrapy引擎</a:t>
              </a:r>
            </a:p>
            <a:p>
              <a:pPr algn="l"/>
              <a:r>
                <a:rPr lang="en-US" sz="1600" b="1">
                  <a:latin typeface="Impact" panose="020B0806030902050204" pitchFamily="34" charset="0"/>
                </a:rPr>
                <a:t>（Scrapy Engine）</a:t>
              </a:r>
            </a:p>
          </p:txBody>
        </p:sp>
      </p:grpSp>
      <p:grpSp>
        <p:nvGrpSpPr>
          <p:cNvPr id="22" name="组合 21"/>
          <p:cNvGrpSpPr/>
          <p:nvPr/>
        </p:nvGrpSpPr>
        <p:grpSpPr>
          <a:xfrm>
            <a:off x="2425700" y="1040765"/>
            <a:ext cx="6549390" cy="3846572"/>
            <a:chOff x="1716" y="1939"/>
            <a:chExt cx="8995" cy="5239"/>
          </a:xfrm>
        </p:grpSpPr>
        <p:sp>
          <p:nvSpPr>
            <p:cNvPr id="17" name="矩形 16"/>
            <p:cNvSpPr/>
            <p:nvPr/>
          </p:nvSpPr>
          <p:spPr>
            <a:xfrm>
              <a:off x="1721" y="6541"/>
              <a:ext cx="8988" cy="63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defTabSz="914400">
                <a:lnSpc>
                  <a:spcPct val="100000"/>
                </a:lnSpc>
              </a:pPr>
              <a:r>
                <a:rPr lang="zh-CN" altLang="en-US" sz="1400" b="1" dirty="0">
                  <a:solidFill>
                    <a:schemeClr val="tx1"/>
                  </a:solidFill>
                  <a:latin typeface="+mn-ea"/>
                  <a:sym typeface="+mn-ea"/>
                </a:rPr>
                <a:t>Scrapy引擎是整个框架的核心，它用来控制调度器、下载器、爬虫的运行流程。</a:t>
              </a:r>
            </a:p>
          </p:txBody>
        </p:sp>
        <p:sp>
          <p:nvSpPr>
            <p:cNvPr id="18" name="矩形 17"/>
            <p:cNvSpPr/>
            <p:nvPr/>
          </p:nvSpPr>
          <p:spPr>
            <a:xfrm>
              <a:off x="1716" y="1939"/>
              <a:ext cx="8976" cy="100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b="1" dirty="0">
                  <a:latin typeface="+mn-ea"/>
                  <a:sym typeface="+mn-ea"/>
                </a:rPr>
                <a:t>Scrapy的调度器是一种抓取网页的网址或者说是链接的优先队列，由它来决定下一个要抓取的网址是什么，同时去除重复的网址，用户可以根据自己的需求定制调度器。</a:t>
              </a:r>
            </a:p>
          </p:txBody>
        </p:sp>
        <p:sp>
          <p:nvSpPr>
            <p:cNvPr id="19" name="矩形 18"/>
            <p:cNvSpPr/>
            <p:nvPr/>
          </p:nvSpPr>
          <p:spPr>
            <a:xfrm>
              <a:off x="1721" y="4025"/>
              <a:ext cx="8990" cy="129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sz="1400" b="1" dirty="0">
                  <a:latin typeface="+mn-ea"/>
                  <a:sym typeface="+mn-ea"/>
                </a:rPr>
                <a:t>爬虫是一种按照一定的规则，自动地抓取Web信息的程序或者脚本。用户可以定制自己的Scrapy爬虫（通过定制正则表达式等语法），用于从特定的网页中提取自己需要的信息，即所谓的实体(Item)，用户也可以从中提取出链接，让Scrapy继续抓取下一个页面。</a:t>
              </a:r>
            </a:p>
          </p:txBody>
        </p:sp>
        <p:sp>
          <p:nvSpPr>
            <p:cNvPr id="20" name="矩形 19"/>
            <p:cNvSpPr/>
            <p:nvPr/>
          </p:nvSpPr>
          <p:spPr>
            <a:xfrm>
              <a:off x="1721" y="3186"/>
              <a:ext cx="8989" cy="53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700"/>
                </a:lnSpc>
              </a:pPr>
              <a:r>
                <a:rPr sz="1400" b="1" dirty="0">
                  <a:latin typeface="+mn-ea"/>
                </a:rPr>
                <a:t>Scrapy的下载器是建立在twisted异步模型上的，用于高效地下载网络上的资源。</a:t>
              </a:r>
            </a:p>
          </p:txBody>
        </p:sp>
        <p:sp>
          <p:nvSpPr>
            <p:cNvPr id="21" name="矩形 20"/>
            <p:cNvSpPr/>
            <p:nvPr/>
          </p:nvSpPr>
          <p:spPr>
            <a:xfrm>
              <a:off x="1716" y="5565"/>
              <a:ext cx="8994" cy="71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b="1" dirty="0">
                  <a:latin typeface="+mn-ea"/>
                  <a:sym typeface="+mn-ea"/>
                </a:rPr>
                <a:t>实体管道用于处理爬虫(spider)提取的实体，主要的功能是持久化实体、验证实体的有效性、清除不需要的信息。</a:t>
              </a: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3.2.1基于Python的网页采集框架Scrapy</a:t>
            </a:r>
            <a:endParaRPr lang="zh-CN" altLang="en-US" sz="2400" dirty="0">
              <a:solidFill>
                <a:srgbClr val="FFC000"/>
              </a:solidFill>
            </a:endParaRPr>
          </a:p>
        </p:txBody>
      </p:sp>
      <p:sp>
        <p:nvSpPr>
          <p:cNvPr id="3" name="文本框 2"/>
          <p:cNvSpPr txBox="1"/>
          <p:nvPr/>
        </p:nvSpPr>
        <p:spPr>
          <a:xfrm>
            <a:off x="300990" y="807085"/>
            <a:ext cx="8678545" cy="3317831"/>
          </a:xfrm>
          <a:prstGeom prst="rect">
            <a:avLst/>
          </a:prstGeom>
          <a:noFill/>
        </p:spPr>
        <p:txBody>
          <a:bodyPr wrap="square" rtlCol="0" anchor="t">
            <a:spAutoFit/>
          </a:bodyPr>
          <a:lstStyle/>
          <a:p>
            <a:pPr>
              <a:lnSpc>
                <a:spcPct val="120000"/>
              </a:lnSpc>
              <a:spcBef>
                <a:spcPts val="0"/>
              </a:spcBef>
              <a:spcAft>
                <a:spcPts val="0"/>
              </a:spcAft>
            </a:pPr>
            <a:r>
              <a:rPr lang="en-US" altLang="zh-CN" sz="2000" b="1" dirty="0"/>
              <a:t>    </a:t>
            </a:r>
            <a:r>
              <a:rPr lang="zh-CN" altLang="en-US" sz="2000" b="1" dirty="0"/>
              <a:t>2.Scrapy框架的安装</a:t>
            </a:r>
          </a:p>
          <a:p>
            <a:pPr>
              <a:lnSpc>
                <a:spcPct val="120000"/>
              </a:lnSpc>
              <a:spcBef>
                <a:spcPts val="0"/>
              </a:spcBef>
              <a:spcAft>
                <a:spcPts val="0"/>
              </a:spcAft>
            </a:pPr>
            <a:r>
              <a:rPr lang="en-US" altLang="zh-CN" sz="2000" dirty="0"/>
              <a:t>      </a:t>
            </a:r>
            <a:r>
              <a:rPr lang="zh-CN" altLang="en-US" sz="2000" dirty="0"/>
              <a:t>Scrapy是作为Python的库形式提供的，它需要python 3.6+和CPython实现（默认）或pypy 7.2.0+实现的支持。Scrapy是用纯Python编写的，依赖于几个关键的Python包：lxml、parsel、w3lib、twisted、cryptography和pyOpenSSL。</a:t>
            </a:r>
          </a:p>
          <a:p>
            <a:pPr>
              <a:lnSpc>
                <a:spcPct val="120000"/>
              </a:lnSpc>
              <a:spcBef>
                <a:spcPts val="0"/>
              </a:spcBef>
              <a:spcAft>
                <a:spcPts val="0"/>
              </a:spcAft>
            </a:pPr>
            <a:r>
              <a:rPr lang="zh-CN" altLang="en-US" sz="2000" dirty="0"/>
              <a:t>     可以用以下命令在Python开发环境中下载并安装Scrapy库：</a:t>
            </a:r>
          </a:p>
          <a:p>
            <a:pPr lvl="1">
              <a:lnSpc>
                <a:spcPct val="120000"/>
              </a:lnSpc>
            </a:pPr>
            <a:r>
              <a:rPr lang="zh-CN" altLang="en-US" sz="1800" dirty="0"/>
              <a:t>python3 -m pip install --upgrade pip           #将pip工具更新到最新版本</a:t>
            </a:r>
          </a:p>
          <a:p>
            <a:pPr lvl="1">
              <a:lnSpc>
                <a:spcPct val="120000"/>
              </a:lnSpc>
            </a:pPr>
            <a:r>
              <a:rPr lang="zh-CN" altLang="en-US" sz="1800" dirty="0"/>
              <a:t>python3 -m pip install scrapy		</a:t>
            </a:r>
            <a:r>
              <a:rPr lang="en-US" altLang="zh-CN" sz="1800" dirty="0"/>
              <a:t> </a:t>
            </a:r>
            <a:r>
              <a:rPr lang="zh-CN" altLang="en-US" sz="1800" dirty="0"/>
              <a:t>  #安装scrapy</a:t>
            </a:r>
          </a:p>
          <a:p>
            <a:pPr>
              <a:lnSpc>
                <a:spcPct val="120000"/>
              </a:lnSpc>
              <a:spcBef>
                <a:spcPts val="0"/>
              </a:spcBef>
              <a:spcAft>
                <a:spcPts val="0"/>
              </a:spcAft>
            </a:pPr>
            <a:endParaRPr lang="en-US" altLang="zh-CN" sz="2000" b="1" dirty="0"/>
          </a:p>
          <a:p>
            <a:pPr>
              <a:lnSpc>
                <a:spcPct val="120000"/>
              </a:lnSpc>
              <a:spcBef>
                <a:spcPts val="0"/>
              </a:spcBef>
              <a:spcAft>
                <a:spcPts val="0"/>
              </a:spcAft>
            </a:pPr>
            <a:endParaRPr lang="zh-CN" altLang="en-US" sz="2000" b="1"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3.2.1基于Python的网页采集框架Scrapy</a:t>
            </a:r>
            <a:endParaRPr lang="zh-CN" altLang="en-US" sz="2400" dirty="0">
              <a:solidFill>
                <a:srgbClr val="FFC000"/>
              </a:solidFill>
            </a:endParaRPr>
          </a:p>
        </p:txBody>
      </p:sp>
      <p:sp>
        <p:nvSpPr>
          <p:cNvPr id="3" name="文本框 2"/>
          <p:cNvSpPr txBox="1"/>
          <p:nvPr/>
        </p:nvSpPr>
        <p:spPr>
          <a:xfrm>
            <a:off x="300990" y="807085"/>
            <a:ext cx="8678545" cy="1101840"/>
          </a:xfrm>
          <a:prstGeom prst="rect">
            <a:avLst/>
          </a:prstGeom>
          <a:noFill/>
        </p:spPr>
        <p:txBody>
          <a:bodyPr wrap="square" rtlCol="0" anchor="t">
            <a:spAutoFit/>
          </a:bodyPr>
          <a:lstStyle/>
          <a:p>
            <a:pPr>
              <a:lnSpc>
                <a:spcPct val="120000"/>
              </a:lnSpc>
              <a:spcBef>
                <a:spcPts val="0"/>
              </a:spcBef>
              <a:spcAft>
                <a:spcPts val="0"/>
              </a:spcAft>
            </a:pPr>
            <a:r>
              <a:rPr lang="zh-CN" altLang="en-US" sz="2000" b="1" dirty="0"/>
              <a:t>3.Scrapy项目案例（教材</a:t>
            </a:r>
            <a:r>
              <a:rPr lang="en-US" altLang="zh-CN" sz="2000" b="1" dirty="0"/>
              <a:t>P70</a:t>
            </a:r>
            <a:r>
              <a:rPr lang="zh-CN" altLang="en-US" sz="2000" b="1" dirty="0"/>
              <a:t>）</a:t>
            </a:r>
            <a:endParaRPr lang="en-US" altLang="zh-CN" sz="2000" b="1" dirty="0"/>
          </a:p>
          <a:p>
            <a:pPr lvl="1">
              <a:lnSpc>
                <a:spcPct val="120000"/>
              </a:lnSpc>
            </a:pPr>
            <a:r>
              <a:rPr lang="zh-CN" altLang="zh-CN" sz="1600" b="1" dirty="0"/>
              <a:t>案例</a:t>
            </a:r>
            <a:r>
              <a:rPr lang="en-US" altLang="zh-CN" sz="1600" b="1" dirty="0"/>
              <a:t>【3.1</a:t>
            </a:r>
            <a:r>
              <a:rPr lang="zh-CN" altLang="zh-CN" sz="1600" b="1" dirty="0"/>
              <a:t>】 使用</a:t>
            </a:r>
            <a:r>
              <a:rPr lang="en-US" altLang="zh-CN" sz="1600" b="1" dirty="0" err="1"/>
              <a:t>Scrapy</a:t>
            </a:r>
            <a:r>
              <a:rPr lang="zh-CN" altLang="zh-CN" sz="1600" b="1" dirty="0"/>
              <a:t>框架爬取当当网图书畅销榜</a:t>
            </a:r>
            <a:endParaRPr lang="zh-CN" altLang="zh-CN" sz="1600" dirty="0"/>
          </a:p>
          <a:p>
            <a:pPr>
              <a:lnSpc>
                <a:spcPct val="120000"/>
              </a:lnSpc>
              <a:spcBef>
                <a:spcPts val="0"/>
              </a:spcBef>
              <a:spcAft>
                <a:spcPts val="0"/>
              </a:spcAft>
            </a:pPr>
            <a:endParaRPr lang="zh-CN" altLang="en-US" sz="2000" b="1" dirty="0"/>
          </a:p>
        </p:txBody>
      </p:sp>
      <p:pic>
        <p:nvPicPr>
          <p:cNvPr id="5" name="图片 4">
            <a:extLst>
              <a:ext uri="{FF2B5EF4-FFF2-40B4-BE49-F238E27FC236}">
                <a16:creationId xmlns:a16="http://schemas.microsoft.com/office/drawing/2014/main" id="{363AACA9-F4F5-4371-B6AD-192DC80F8E94}"/>
              </a:ext>
            </a:extLst>
          </p:cNvPr>
          <p:cNvPicPr/>
          <p:nvPr/>
        </p:nvPicPr>
        <p:blipFill>
          <a:blip r:embed="rId2"/>
          <a:stretch>
            <a:fillRect/>
          </a:stretch>
        </p:blipFill>
        <p:spPr>
          <a:xfrm>
            <a:off x="1503187" y="1654361"/>
            <a:ext cx="4051935" cy="2556510"/>
          </a:xfrm>
          <a:prstGeom prst="rect">
            <a:avLst/>
          </a:prstGeom>
        </p:spPr>
      </p:pic>
      <p:sp>
        <p:nvSpPr>
          <p:cNvPr id="2" name="矩形 1">
            <a:extLst>
              <a:ext uri="{FF2B5EF4-FFF2-40B4-BE49-F238E27FC236}">
                <a16:creationId xmlns:a16="http://schemas.microsoft.com/office/drawing/2014/main" id="{0D68B1BE-E002-401F-A5F9-0BFBA1F82F9D}"/>
              </a:ext>
            </a:extLst>
          </p:cNvPr>
          <p:cNvSpPr/>
          <p:nvPr/>
        </p:nvSpPr>
        <p:spPr>
          <a:xfrm>
            <a:off x="2184208" y="4438434"/>
            <a:ext cx="2518638" cy="307777"/>
          </a:xfrm>
          <a:prstGeom prst="rect">
            <a:avLst/>
          </a:prstGeom>
        </p:spPr>
        <p:txBody>
          <a:bodyPr wrap="none">
            <a:spAutoFit/>
          </a:bodyPr>
          <a:lstStyle/>
          <a:p>
            <a:r>
              <a:rPr lang="zh-CN" altLang="zh-CN" sz="1400" kern="100" dirty="0">
                <a:cs typeface="Times New Roman" panose="02020603050405020304" pitchFamily="18" charset="0"/>
              </a:rPr>
              <a:t>当当网图书畅销榜网页示意图</a:t>
            </a:r>
            <a:endParaRPr lang="zh-CN" altLang="en-US" dirty="0"/>
          </a:p>
        </p:txBody>
      </p:sp>
    </p:spTree>
    <p:extLst>
      <p:ext uri="{BB962C8B-B14F-4D97-AF65-F5344CB8AC3E}">
        <p14:creationId xmlns:p14="http://schemas.microsoft.com/office/powerpoint/2010/main" val="24189237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7"/>
          <p:cNvSpPr/>
          <p:nvPr userDrawn="1"/>
        </p:nvSpPr>
        <p:spPr>
          <a:xfrm>
            <a:off x="0" y="199390"/>
            <a:ext cx="614489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4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网页是怎样构成的</a:t>
            </a:r>
            <a:endParaRPr lang="zh-CN" altLang="en-US" sz="2400" dirty="0">
              <a:solidFill>
                <a:srgbClr val="FFC000"/>
              </a:solidFill>
            </a:endParaRPr>
          </a:p>
        </p:txBody>
      </p:sp>
      <p:sp>
        <p:nvSpPr>
          <p:cNvPr id="3" name="文本框 2"/>
          <p:cNvSpPr txBox="1"/>
          <p:nvPr/>
        </p:nvSpPr>
        <p:spPr>
          <a:xfrm>
            <a:off x="297552" y="1061467"/>
            <a:ext cx="8678545" cy="3391698"/>
          </a:xfrm>
          <a:prstGeom prst="rect">
            <a:avLst/>
          </a:prstGeom>
          <a:noFill/>
        </p:spPr>
        <p:txBody>
          <a:bodyPr wrap="square" rtlCol="0" anchor="t">
            <a:spAutoFit/>
          </a:bodyPr>
          <a:lstStyle/>
          <a:p>
            <a:pPr>
              <a:lnSpc>
                <a:spcPct val="120000"/>
              </a:lnSpc>
              <a:spcBef>
                <a:spcPts val="0"/>
              </a:spcBef>
              <a:spcAft>
                <a:spcPts val="0"/>
              </a:spcAft>
            </a:pPr>
            <a:r>
              <a:rPr lang="zh-CN" altLang="en-US" sz="2000" b="1"/>
              <a:t>    网页一般由三部分组成，分别是 </a:t>
            </a:r>
            <a:r>
              <a:rPr lang="en-US" altLang="zh-CN" sz="2000" b="1"/>
              <a:t>HTML</a:t>
            </a:r>
            <a:r>
              <a:rPr lang="zh-CN" altLang="en-US" sz="2000" b="1"/>
              <a:t>（超文本标记语言）、</a:t>
            </a:r>
            <a:r>
              <a:rPr lang="en-US" altLang="zh-CN" sz="2000" b="1"/>
              <a:t>CSS</a:t>
            </a:r>
            <a:r>
              <a:rPr lang="zh-CN" altLang="en-US" sz="2000" b="1"/>
              <a:t>（层叠样式表）和 </a:t>
            </a:r>
            <a:r>
              <a:rPr lang="en-US" altLang="zh-CN" sz="2000" b="1"/>
              <a:t>JavaScript</a:t>
            </a:r>
            <a:r>
              <a:rPr lang="zh-CN" altLang="en-US" sz="2000" b="1"/>
              <a:t>（简称“</a:t>
            </a:r>
            <a:r>
              <a:rPr lang="en-US" altLang="zh-CN" sz="2000" b="1"/>
              <a:t>JS”</a:t>
            </a:r>
            <a:r>
              <a:rPr lang="zh-CN" altLang="en-US" sz="2000" b="1"/>
              <a:t>动态脚本语言），它们三者在网页中分别承担着不同的任务。</a:t>
            </a:r>
          </a:p>
          <a:p>
            <a:pPr marL="457200" indent="-457200">
              <a:lnSpc>
                <a:spcPct val="120000"/>
              </a:lnSpc>
              <a:spcBef>
                <a:spcPts val="0"/>
              </a:spcBef>
              <a:spcAft>
                <a:spcPts val="0"/>
              </a:spcAft>
              <a:buFont typeface="Arial" panose="020B0604020202020204" pitchFamily="34" charset="0"/>
              <a:buChar char="•"/>
            </a:pPr>
            <a:r>
              <a:rPr lang="en-US" altLang="zh-CN" sz="2000" b="1"/>
              <a:t>HTML </a:t>
            </a:r>
            <a:r>
              <a:rPr lang="zh-CN" altLang="en-US" sz="2000" b="1"/>
              <a:t>负责定义网页的内容</a:t>
            </a:r>
          </a:p>
          <a:p>
            <a:pPr marL="457200" indent="-457200">
              <a:lnSpc>
                <a:spcPct val="120000"/>
              </a:lnSpc>
              <a:spcBef>
                <a:spcPts val="0"/>
              </a:spcBef>
              <a:spcAft>
                <a:spcPts val="0"/>
              </a:spcAft>
              <a:buFont typeface="Arial" panose="020B0604020202020204" pitchFamily="34" charset="0"/>
              <a:buChar char="•"/>
            </a:pPr>
            <a:r>
              <a:rPr lang="en-US" altLang="zh-CN" sz="2000" b="1"/>
              <a:t>CSS </a:t>
            </a:r>
            <a:r>
              <a:rPr lang="zh-CN" altLang="en-US" sz="2000" b="1"/>
              <a:t>负责描述网页的布局</a:t>
            </a:r>
          </a:p>
          <a:p>
            <a:pPr marL="457200" indent="-457200">
              <a:lnSpc>
                <a:spcPct val="120000"/>
              </a:lnSpc>
              <a:spcBef>
                <a:spcPts val="0"/>
              </a:spcBef>
              <a:spcAft>
                <a:spcPts val="0"/>
              </a:spcAft>
              <a:buFont typeface="Arial" panose="020B0604020202020204" pitchFamily="34" charset="0"/>
              <a:buChar char="•"/>
            </a:pPr>
            <a:r>
              <a:rPr lang="en-US" altLang="zh-CN" sz="2000" b="1"/>
              <a:t>JavaScript </a:t>
            </a:r>
            <a:r>
              <a:rPr lang="zh-CN" altLang="en-US" sz="2000" b="1"/>
              <a:t>负责网页的行为</a:t>
            </a:r>
            <a:endParaRPr lang="en-US" altLang="zh-CN" sz="2000" b="1"/>
          </a:p>
          <a:p>
            <a:pPr marL="457200" indent="-457200">
              <a:lnSpc>
                <a:spcPct val="120000"/>
              </a:lnSpc>
              <a:spcBef>
                <a:spcPts val="0"/>
              </a:spcBef>
              <a:spcAft>
                <a:spcPts val="0"/>
              </a:spcAft>
              <a:buFont typeface="Arial" panose="020B0604020202020204" pitchFamily="34" charset="0"/>
              <a:buChar char="•"/>
            </a:pPr>
            <a:endParaRPr lang="en-US" altLang="zh-CN" sz="2000" b="1"/>
          </a:p>
          <a:p>
            <a:pPr>
              <a:lnSpc>
                <a:spcPct val="120000"/>
              </a:lnSpc>
              <a:spcBef>
                <a:spcPts val="0"/>
              </a:spcBef>
              <a:spcAft>
                <a:spcPts val="0"/>
              </a:spcAft>
            </a:pPr>
            <a:r>
              <a:rPr lang="zh-CN" altLang="en-US" sz="2000" b="1"/>
              <a:t>参考资料：</a:t>
            </a:r>
            <a:r>
              <a:rPr lang="en-US" altLang="zh-CN" sz="2000" b="1"/>
              <a:t>http://c.biancheng.net/python_spider/webpage.html</a:t>
            </a:r>
          </a:p>
          <a:p>
            <a:pPr marL="457200" indent="-457200">
              <a:lnSpc>
                <a:spcPct val="120000"/>
              </a:lnSpc>
              <a:spcBef>
                <a:spcPts val="0"/>
              </a:spcBef>
              <a:spcAft>
                <a:spcPts val="0"/>
              </a:spcAft>
              <a:buFont typeface="Arial" panose="020B0604020202020204" pitchFamily="34" charset="0"/>
              <a:buChar char="•"/>
            </a:pPr>
            <a:endParaRPr lang="zh-CN" altLang="en-US" sz="2000" b="1" dirty="0"/>
          </a:p>
        </p:txBody>
      </p:sp>
    </p:spTree>
    <p:extLst>
      <p:ext uri="{BB962C8B-B14F-4D97-AF65-F5344CB8AC3E}">
        <p14:creationId xmlns:p14="http://schemas.microsoft.com/office/powerpoint/2010/main" val="2986241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43535" y="1106805"/>
            <a:ext cx="8456930" cy="32918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a:latin typeface="等线" panose="02010600030101010101" pitchFamily="2" charset="-122"/>
                <a:ea typeface="等线" panose="02010600030101010101" pitchFamily="2" charset="-122"/>
                <a:cs typeface="等线" panose="02010600030101010101" pitchFamily="2" charset="-122"/>
              </a:rPr>
              <a:t>Flume是Apache的顶级项目（官方网站：http://flume.apache.org/），用于日志数据的采集。Flume提供一种分布式、可靠的服务，用于高效地收集、聚合和移动大量日志数据，它具备可调节的可靠性机制、故障转移和恢复机制，具有强大的容错能力。</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Flume支持在日志系统中定制各类数据源，可以对数据进行简单处理，并将数据输出到各种数据接受方，其设计的原理是基于将数据流（如日志数据）从各种网站服务器上汇集起来，存储到HDFS、HBase等集中存储器中。</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25755" y="961390"/>
            <a:ext cx="8538845" cy="32918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en-US" altLang="zh-CN" sz="2000" b="1" dirty="0">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1.Flume数据流模型和逻辑架构</a:t>
            </a:r>
          </a:p>
          <a:p>
            <a:pPr indent="266700">
              <a:lnSpc>
                <a:spcPct val="130000"/>
              </a:lnSpc>
              <a:spcBef>
                <a:spcPts val="0"/>
              </a:spcBef>
              <a:spcAft>
                <a:spcPts val="0"/>
              </a:spcAft>
            </a:pPr>
            <a:r>
              <a:rPr lang="en-US" sz="2000"/>
              <a:t> </a:t>
            </a: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Flume的基本数据采集单元是Agent（代理），一个Agent包含Source（数据源）、Channel（数据通道）和Sink（接收器）。Flume基本使用方法是在某个节点上配置和运行Agent以执行数据采集任务，</a:t>
            </a:r>
            <a:r>
              <a:rPr sz="2000" b="1">
                <a:latin typeface="等线" panose="02010600030101010101" pitchFamily="2" charset="-122"/>
                <a:ea typeface="等线" panose="02010600030101010101" pitchFamily="2" charset="-122"/>
                <a:cs typeface="等线" panose="02010600030101010101" pitchFamily="2" charset="-122"/>
              </a:rPr>
              <a:t>一个Agent是Source+Channel+Sink三个组件的组合</a:t>
            </a:r>
            <a:r>
              <a:rPr sz="2000">
                <a:latin typeface="等线" panose="02010600030101010101" pitchFamily="2" charset="-122"/>
                <a:ea typeface="等线" panose="02010600030101010101" pitchFamily="2" charset="-122"/>
                <a:cs typeface="等线" panose="02010600030101010101" pitchFamily="2" charset="-122"/>
              </a:rPr>
              <a:t>，以及组件间的连接方式。</a:t>
            </a:r>
          </a:p>
          <a:p>
            <a:pPr indent="266700">
              <a:lnSpc>
                <a:spcPct val="130000"/>
              </a:lnSpc>
              <a:spcBef>
                <a:spcPts val="0"/>
              </a:spcBef>
              <a:spcAft>
                <a:spcPts val="0"/>
              </a:spcAft>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Flume有一个重要的抽象概念data flow（数据流），它描述了数据从产生、传输、处理并最终写入目标的一条路径，Flume的基本数据流模型如图 3.8所示，具体描述如下：</a:t>
            </a:r>
            <a:r>
              <a:rPr lang="en-US" sz="2000">
                <a:latin typeface="等线" panose="02010600030101010101" pitchFamily="2" charset="-122"/>
                <a:ea typeface="等线" panose="02010600030101010101" pitchFamily="2" charset="-122"/>
                <a:cs typeface="等线"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11785" y="761365"/>
            <a:ext cx="5588000" cy="4154170"/>
          </a:xfrm>
          <a:prstGeom prst="rect">
            <a:avLst/>
          </a:prstGeom>
          <a:noFill/>
          <a:ln w="9525">
            <a:noFill/>
          </a:ln>
        </p:spPr>
        <p:txBody>
          <a:bodyPr wrap="square">
            <a:spAutoFit/>
          </a:bodyPr>
          <a:lstStyle/>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（1）Enxternal Source（外部数据源，如Web Server）将Flume可识别的Event（事件）发送给Flume source（Flume数据源）；</a:t>
            </a:r>
          </a:p>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（2）Flume source接收到事件后，会将其存储到一个或多个Channel（数据通道）;</a:t>
            </a:r>
          </a:p>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（3）Channel是一个被动存储，可保留Event直到被Flume Sink消耗完为止；</a:t>
            </a:r>
          </a:p>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（4）Flume Sink（接收器）从Channel中获取Event（获取后会删除之），并将其放入HDFS之类的外部存储库，或将其转发到流中下一个Flume Agent（下一跳Agent）的Flume Source。</a:t>
            </a:r>
          </a:p>
        </p:txBody>
      </p:sp>
      <p:pic>
        <p:nvPicPr>
          <p:cNvPr id="7" name="图片 7" descr="Agent component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43905" y="1808480"/>
            <a:ext cx="2826385" cy="1527175"/>
          </a:xfrm>
          <a:prstGeom prst="rect">
            <a:avLst/>
          </a:prstGeom>
          <a:noFill/>
          <a:ln>
            <a:noFill/>
          </a:ln>
        </p:spPr>
      </p:pic>
      <p:sp>
        <p:nvSpPr>
          <p:cNvPr id="2" name="文本框 1"/>
          <p:cNvSpPr txBox="1"/>
          <p:nvPr/>
        </p:nvSpPr>
        <p:spPr>
          <a:xfrm>
            <a:off x="5741035" y="3566160"/>
            <a:ext cx="3169285" cy="245110"/>
          </a:xfrm>
          <a:prstGeom prst="rect">
            <a:avLst/>
          </a:prstGeom>
          <a:noFill/>
          <a:ln w="9525">
            <a:noFill/>
          </a:ln>
        </p:spPr>
        <p:txBody>
          <a:bodyPr wrap="square">
            <a:spAutoFit/>
          </a:bodyPr>
          <a:lstStyle/>
          <a:p>
            <a:pPr indent="0" algn="ctr"/>
            <a:r>
              <a:rPr lang="en-US" sz="1000" b="0">
                <a:latin typeface="Cambria Math" panose="02040503050406030204" charset="0"/>
                <a:ea typeface="等线" panose="02010600030101010101" pitchFamily="2" charset="-122"/>
                <a:cs typeface="Times New Roman" panose="02020603050405020304" pitchFamily="18" charset="0"/>
              </a:rPr>
              <a:t>Flume</a:t>
            </a:r>
            <a:r>
              <a:rPr lang="zh-CN" sz="1000" b="0">
                <a:ea typeface="等线" panose="02010600030101010101" pitchFamily="2" charset="-122"/>
              </a:rPr>
              <a:t>基本数据流模型</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51790" y="916940"/>
            <a:ext cx="8092440" cy="409257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sz="2000" b="1" dirty="0">
                <a:latin typeface="等线" panose="02010600030101010101" pitchFamily="2" charset="-122"/>
                <a:ea typeface="等线" panose="02010600030101010101" pitchFamily="2" charset="-122"/>
                <a:cs typeface="等线" panose="02010600030101010101" pitchFamily="2" charset="-122"/>
              </a:rPr>
              <a:t>2.Flume的核心组件说明</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cs typeface="等线" panose="02010600030101010101" pitchFamily="2" charset="-122"/>
              </a:rPr>
              <a:t>（1）Event（事件）：</a:t>
            </a:r>
            <a:r>
              <a:rPr sz="2000" dirty="0" err="1">
                <a:latin typeface="等线" panose="02010600030101010101" pitchFamily="2" charset="-122"/>
                <a:ea typeface="等线" panose="02010600030101010101" pitchFamily="2" charset="-122"/>
                <a:cs typeface="等线" panose="02010600030101010101" pitchFamily="2" charset="-122"/>
              </a:rPr>
              <a:t>Flume事件被定义为具有字节有效载荷和可选字符串属性集的数据流单元</a:t>
            </a:r>
            <a:r>
              <a:rPr sz="2000" dirty="0">
                <a:latin typeface="等线" panose="02010600030101010101" pitchFamily="2" charset="-122"/>
                <a:ea typeface="等线" panose="02010600030101010101" pitchFamily="2" charset="-122"/>
                <a:cs typeface="等线" panose="02010600030101010101" pitchFamily="2" charset="-122"/>
              </a:rPr>
              <a:t>。</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cs typeface="等线" panose="02010600030101010101" pitchFamily="2" charset="-122"/>
              </a:rPr>
              <a:t>（2）Agent（代理）：Flume代理是一个JVM进程，它承载事件从外部源流向下一个目的地的组件。一个Agent包含Source、Channel、Sink和其他组件，它利用这些组件将事件从一个节点传输到另一个节点。</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cs typeface="等线" panose="02010600030101010101" pitchFamily="2" charset="-122"/>
              </a:rPr>
              <a:t>（3）Source（数据源）：</a:t>
            </a:r>
            <a:r>
              <a:rPr sz="2000" dirty="0" err="1">
                <a:latin typeface="等线" panose="02010600030101010101" pitchFamily="2" charset="-122"/>
                <a:ea typeface="等线" panose="02010600030101010101" pitchFamily="2" charset="-122"/>
                <a:cs typeface="等线" panose="02010600030101010101" pitchFamily="2" charset="-122"/>
              </a:rPr>
              <a:t>专门用来收集数据，可以处理各种类型、各种格式的日志数据，比如avro、exec、HTTP、Kafka、Spooling</a:t>
            </a:r>
            <a:r>
              <a:rPr sz="2000" dirty="0">
                <a:latin typeface="等线" panose="02010600030101010101" pitchFamily="2" charset="-122"/>
                <a:ea typeface="等线" panose="02010600030101010101" pitchFamily="2" charset="-122"/>
                <a:cs typeface="等线" panose="02010600030101010101" pitchFamily="2" charset="-122"/>
              </a:rPr>
              <a:t> </a:t>
            </a:r>
            <a:r>
              <a:rPr sz="2000" dirty="0" err="1">
                <a:latin typeface="等线" panose="02010600030101010101" pitchFamily="2" charset="-122"/>
                <a:ea typeface="等线" panose="02010600030101010101" pitchFamily="2" charset="-122"/>
                <a:cs typeface="等线" panose="02010600030101010101" pitchFamily="2" charset="-122"/>
              </a:rPr>
              <a:t>Directory等</a:t>
            </a:r>
            <a:r>
              <a:rPr sz="2000" dirty="0">
                <a:latin typeface="等线" panose="02010600030101010101" pitchFamily="2" charset="-122"/>
                <a:ea typeface="等线" panose="02010600030101010101" pitchFamily="2" charset="-122"/>
                <a:cs typeface="等线" panose="02010600030101010101" pitchFamily="2" charset="-122"/>
              </a:rPr>
              <a:t>。 </a:t>
            </a:r>
          </a:p>
          <a:p>
            <a:pPr indent="266700">
              <a:lnSpc>
                <a:spcPct val="130000"/>
              </a:lnSpc>
              <a:spcBef>
                <a:spcPts val="0"/>
              </a:spcBef>
              <a:spcAft>
                <a:spcPts val="0"/>
              </a:spcAft>
            </a:pPr>
            <a:endParaRPr sz="2000" dirty="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35915" y="1012190"/>
            <a:ext cx="8092440" cy="3291840"/>
          </a:xfrm>
          <a:prstGeom prst="rect">
            <a:avLst/>
          </a:prstGeom>
          <a:noFill/>
          <a:ln w="9525">
            <a:noFill/>
          </a:ln>
        </p:spPr>
        <p:txBody>
          <a:bodyPr wrap="square">
            <a:spAutoFit/>
          </a:bodyPr>
          <a:lstStyle/>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rPr>
              <a:t>（4）Channel（数据通道）：是一个存储Source已经接收到的数据的缓冲区，简单来说就是对Source采集到的数据进行缓存，可以缓存在内存、文件、数据库和Kafka等。</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rPr>
              <a:t>（5）Sink（接收器）：从Channel中获取数据并将数据发送到目的地，目的地可以是HDFS、Hive、HBase、ES、Kafka、Logger等，完成后将Event从Channel中删除。</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rPr>
              <a:t>（6）Client（客户）：</a:t>
            </a:r>
            <a:r>
              <a:rPr sz="2000" dirty="0" err="1">
                <a:latin typeface="等线" panose="02010600030101010101" pitchFamily="2" charset="-122"/>
                <a:ea typeface="等线" panose="02010600030101010101" pitchFamily="2" charset="-122"/>
              </a:rPr>
              <a:t>将原始日志包装成Event发送到Agent实体，它在Flume中不是必须的</a:t>
            </a:r>
            <a:r>
              <a:rPr sz="2000" dirty="0">
                <a:latin typeface="等线" panose="02010600030101010101" pitchFamily="2" charset="-122"/>
                <a:ea typeface="等线"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395470" cy="953135"/>
          </a:xfrm>
          <a:prstGeom prst="rect">
            <a:avLst/>
          </a:prstGeom>
        </p:spPr>
        <p:txBody>
          <a:bodyPr wrap="square">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a:p>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4" name="图示 3"/>
          <p:cNvGraphicFramePr/>
          <p:nvPr>
            <p:extLst>
              <p:ext uri="{D42A27DB-BD31-4B8C-83A1-F6EECF244321}">
                <p14:modId xmlns:p14="http://schemas.microsoft.com/office/powerpoint/2010/main" val="4165001963"/>
              </p:ext>
            </p:extLst>
          </p:nvPr>
        </p:nvGraphicFramePr>
        <p:xfrm>
          <a:off x="681990" y="1464875"/>
          <a:ext cx="7748270" cy="34830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a:extLst>
              <a:ext uri="{FF2B5EF4-FFF2-40B4-BE49-F238E27FC236}">
                <a16:creationId xmlns:a16="http://schemas.microsoft.com/office/drawing/2014/main" id="{6F5DD80D-4E5D-4828-8354-BD025D058F6B}"/>
              </a:ext>
            </a:extLst>
          </p:cNvPr>
          <p:cNvSpPr/>
          <p:nvPr/>
        </p:nvSpPr>
        <p:spPr>
          <a:xfrm>
            <a:off x="455368" y="969454"/>
            <a:ext cx="2637260" cy="400110"/>
          </a:xfrm>
          <a:prstGeom prst="rect">
            <a:avLst/>
          </a:prstGeom>
        </p:spPr>
        <p:txBody>
          <a:bodyPr wrap="none">
            <a:spAutoFit/>
          </a:bodyPr>
          <a:lstStyle/>
          <a:p>
            <a:r>
              <a:rPr lang="en-US" altLang="zh-CN" sz="2000" b="1" dirty="0">
                <a:latin typeface="+mn-ea"/>
              </a:rPr>
              <a:t>3</a:t>
            </a:r>
            <a:r>
              <a:rPr lang="en-US" altLang="zh-CN" sz="2000" b="1" dirty="0">
                <a:latin typeface="等线" panose="02010600030101010101" pitchFamily="2" charset="-122"/>
                <a:cs typeface="等线" panose="02010600030101010101" pitchFamily="2" charset="-122"/>
              </a:rPr>
              <a:t>.Flume</a:t>
            </a:r>
            <a:r>
              <a:rPr lang="zh-CN" altLang="en-US" sz="2000" b="1" dirty="0">
                <a:latin typeface="等线" panose="02010600030101010101" pitchFamily="2" charset="-122"/>
                <a:cs typeface="等线" panose="02010600030101010101" pitchFamily="2" charset="-122"/>
              </a:rPr>
              <a:t>应用场景示例</a:t>
            </a:r>
            <a:endParaRPr lang="zh-CN" altLang="en-US" sz="1800" dirty="0"/>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35915" y="993775"/>
            <a:ext cx="8092440" cy="2891790"/>
          </a:xfrm>
          <a:prstGeom prst="rect">
            <a:avLst/>
          </a:prstGeom>
          <a:noFill/>
          <a:ln w="9525">
            <a:noFill/>
          </a:ln>
        </p:spPr>
        <p:txBody>
          <a:bodyPr wrap="square">
            <a:spAutoFit/>
          </a:bodyPr>
          <a:lstStyle/>
          <a:p>
            <a:pPr indent="266700">
              <a:lnSpc>
                <a:spcPct val="130000"/>
              </a:lnSpc>
              <a:spcBef>
                <a:spcPts val="0"/>
              </a:spcBef>
              <a:spcAft>
                <a:spcPts val="0"/>
              </a:spcAft>
            </a:pPr>
            <a:r>
              <a:rPr sz="2000" b="1" dirty="0">
                <a:latin typeface="等线" panose="02010600030101010101" pitchFamily="2" charset="-122"/>
                <a:ea typeface="等线" panose="02010600030101010101" pitchFamily="2" charset="-122"/>
                <a:cs typeface="等线" panose="02010600030101010101" pitchFamily="2" charset="-122"/>
              </a:rPr>
              <a:t>4.在Linux中安装Flume</a:t>
            </a:r>
          </a:p>
          <a:p>
            <a:pPr indent="266700" algn="l">
              <a:lnSpc>
                <a:spcPct val="130000"/>
              </a:lnSpc>
              <a:spcBef>
                <a:spcPts val="0"/>
              </a:spcBef>
              <a:spcAft>
                <a:spcPts val="0"/>
              </a:spcAft>
              <a:buClrTx/>
              <a:buSzTx/>
              <a:buNone/>
            </a:pPr>
            <a:r>
              <a:rPr sz="2000" dirty="0" err="1">
                <a:latin typeface="等线" panose="02010600030101010101" pitchFamily="2" charset="-122"/>
                <a:ea typeface="等线" panose="02010600030101010101" pitchFamily="2" charset="-122"/>
                <a:cs typeface="等线" panose="02010600030101010101" pitchFamily="2" charset="-122"/>
              </a:rPr>
              <a:t>可以从Flume官方网站（http</a:t>
            </a:r>
            <a:r>
              <a:rPr sz="2000" dirty="0">
                <a:latin typeface="等线" panose="02010600030101010101" pitchFamily="2" charset="-122"/>
                <a:ea typeface="等线" panose="02010600030101010101" pitchFamily="2" charset="-122"/>
                <a:cs typeface="等线" panose="02010600030101010101" pitchFamily="2" charset="-122"/>
              </a:rPr>
              <a:t>://flume.apache.org/）下载Flume的安装包，如1.9.0版本的安装文件apache-flume-1.9.0-bin.tar，将其解压到Linux主机的/</a:t>
            </a:r>
            <a:r>
              <a:rPr sz="2000" dirty="0" err="1">
                <a:latin typeface="等线" panose="02010600030101010101" pitchFamily="2" charset="-122"/>
                <a:ea typeface="等线" panose="02010600030101010101" pitchFamily="2" charset="-122"/>
                <a:cs typeface="等线" panose="02010600030101010101" pitchFamily="2" charset="-122"/>
              </a:rPr>
              <a:t>usr</a:t>
            </a:r>
            <a:r>
              <a:rPr sz="2000" dirty="0">
                <a:latin typeface="等线" panose="02010600030101010101" pitchFamily="2" charset="-122"/>
                <a:ea typeface="等线" panose="02010600030101010101" pitchFamily="2" charset="-122"/>
                <a:cs typeface="等线" panose="02010600030101010101" pitchFamily="2" charset="-122"/>
              </a:rPr>
              <a:t>/local/</a:t>
            </a:r>
            <a:r>
              <a:rPr sz="2000" dirty="0" err="1">
                <a:latin typeface="等线" panose="02010600030101010101" pitchFamily="2" charset="-122"/>
                <a:ea typeface="等线" panose="02010600030101010101" pitchFamily="2" charset="-122"/>
                <a:cs typeface="等线" panose="02010600030101010101" pitchFamily="2" charset="-122"/>
              </a:rPr>
              <a:t>servers目录中</a:t>
            </a:r>
            <a:r>
              <a:rPr sz="2000" dirty="0">
                <a:latin typeface="等线" panose="02010600030101010101" pitchFamily="2" charset="-122"/>
                <a:ea typeface="等线" panose="02010600030101010101" pitchFamily="2" charset="-122"/>
                <a:cs typeface="等线" panose="02010600030101010101" pitchFamily="2" charset="-122"/>
              </a:rPr>
              <a:t>：</a:t>
            </a:r>
          </a:p>
          <a:p>
            <a:pPr lvl="1" indent="266700">
              <a:lnSpc>
                <a:spcPct val="130000"/>
              </a:lnSpc>
            </a:pPr>
            <a:r>
              <a:rPr sz="2000" dirty="0">
                <a:latin typeface="等线" panose="02010600030101010101" pitchFamily="2" charset="-122"/>
                <a:ea typeface="等线" panose="02010600030101010101" pitchFamily="2" charset="-122"/>
                <a:cs typeface="等线" panose="02010600030101010101" pitchFamily="2" charset="-122"/>
              </a:rPr>
              <a:t>$ tar -</a:t>
            </a:r>
            <a:r>
              <a:rPr sz="2000" dirty="0" err="1">
                <a:latin typeface="等线" panose="02010600030101010101" pitchFamily="2" charset="-122"/>
                <a:ea typeface="等线" panose="02010600030101010101" pitchFamily="2" charset="-122"/>
                <a:cs typeface="等线" panose="02010600030101010101" pitchFamily="2" charset="-122"/>
              </a:rPr>
              <a:t>zxvf</a:t>
            </a:r>
            <a:r>
              <a:rPr sz="2000" dirty="0">
                <a:latin typeface="等线" panose="02010600030101010101" pitchFamily="2" charset="-122"/>
                <a:ea typeface="等线" panose="02010600030101010101" pitchFamily="2" charset="-122"/>
                <a:cs typeface="等线" panose="02010600030101010101" pitchFamily="2" charset="-122"/>
              </a:rPr>
              <a:t> apache-flume-1.9.0-bin.tar.gz -C /</a:t>
            </a:r>
            <a:r>
              <a:rPr sz="2000" dirty="0" err="1">
                <a:latin typeface="等线" panose="02010600030101010101" pitchFamily="2" charset="-122"/>
                <a:ea typeface="等线" panose="02010600030101010101" pitchFamily="2" charset="-122"/>
                <a:cs typeface="等线" panose="02010600030101010101" pitchFamily="2" charset="-122"/>
              </a:rPr>
              <a:t>usr</a:t>
            </a:r>
            <a:r>
              <a:rPr sz="2000" dirty="0">
                <a:latin typeface="等线" panose="02010600030101010101" pitchFamily="2" charset="-122"/>
                <a:ea typeface="等线" panose="02010600030101010101" pitchFamily="2" charset="-122"/>
                <a:cs typeface="等线" panose="02010600030101010101" pitchFamily="2" charset="-122"/>
              </a:rPr>
              <a:t>/local/servers</a:t>
            </a:r>
          </a:p>
          <a:p>
            <a:pPr indent="266700" algn="l">
              <a:lnSpc>
                <a:spcPct val="130000"/>
              </a:lnSpc>
              <a:spcBef>
                <a:spcPts val="0"/>
              </a:spcBef>
              <a:spcAft>
                <a:spcPts val="0"/>
              </a:spcAft>
              <a:buClrTx/>
              <a:buSzTx/>
              <a:buNone/>
            </a:pPr>
            <a:r>
              <a:rPr sz="2000" dirty="0" err="1">
                <a:latin typeface="等线" panose="02010600030101010101" pitchFamily="2" charset="-122"/>
                <a:ea typeface="等线" panose="02010600030101010101" pitchFamily="2" charset="-122"/>
                <a:cs typeface="等线" panose="02010600030101010101" pitchFamily="2" charset="-122"/>
              </a:rPr>
              <a:t>为了操作方便，可以把目录重命名为</a:t>
            </a:r>
            <a:r>
              <a:rPr sz="2000" dirty="0">
                <a:latin typeface="等线" panose="02010600030101010101" pitchFamily="2" charset="-122"/>
                <a:ea typeface="等线" panose="02010600030101010101" pitchFamily="2" charset="-122"/>
                <a:cs typeface="等线" panose="02010600030101010101" pitchFamily="2" charset="-122"/>
              </a:rPr>
              <a:t>：</a:t>
            </a:r>
          </a:p>
          <a:p>
            <a:pPr lvl="1" indent="266700">
              <a:lnSpc>
                <a:spcPct val="130000"/>
              </a:lnSpc>
            </a:pPr>
            <a:r>
              <a:rPr sz="2000" dirty="0">
                <a:latin typeface="等线" panose="02010600030101010101" pitchFamily="2" charset="-122"/>
                <a:ea typeface="等线" panose="02010600030101010101" pitchFamily="2" charset="-122"/>
                <a:cs typeface="等线" panose="02010600030101010101" pitchFamily="2" charset="-122"/>
              </a:rPr>
              <a:t>$ mv apache-flume-1.9.0-bin flume     #</a:t>
            </a:r>
            <a:r>
              <a:rPr sz="2000" dirty="0" err="1">
                <a:latin typeface="等线" panose="02010600030101010101" pitchFamily="2" charset="-122"/>
                <a:ea typeface="等线" panose="02010600030101010101" pitchFamily="2" charset="-122"/>
                <a:cs typeface="等线" panose="02010600030101010101" pitchFamily="2" charset="-122"/>
              </a:rPr>
              <a:t>目录重命名为flume</a:t>
            </a:r>
            <a:endParaRPr sz="2000" dirty="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5" name="文本框 4"/>
          <p:cNvSpPr txBox="1"/>
          <p:nvPr/>
        </p:nvSpPr>
        <p:spPr>
          <a:xfrm>
            <a:off x="285750" y="1002030"/>
            <a:ext cx="5080000" cy="460375"/>
          </a:xfrm>
          <a:prstGeom prst="rect">
            <a:avLst/>
          </a:prstGeom>
          <a:noFill/>
          <a:ln w="9525">
            <a:noFill/>
          </a:ln>
        </p:spPr>
        <p:txBody>
          <a:bodyPr>
            <a:spAutoFit/>
          </a:bodyPr>
          <a:lstStyle/>
          <a:p>
            <a:pPr indent="266700"/>
            <a:r>
              <a:rPr lang="zh-CN" sz="2400">
                <a:ea typeface="等线" panose="02010600030101010101" pitchFamily="2" charset="-122"/>
              </a:rPr>
              <a:t>在</a:t>
            </a:r>
            <a:r>
              <a:rPr lang="en-US" sz="2400">
                <a:latin typeface="等线" panose="02010600030101010101" pitchFamily="2" charset="-122"/>
                <a:cs typeface="Times New Roman" panose="02020603050405020304" pitchFamily="18" charset="0"/>
              </a:rPr>
              <a:t>/</a:t>
            </a:r>
            <a:r>
              <a:rPr lang="zh-CN" sz="2400">
                <a:ea typeface="等线" panose="02010600030101010101" pitchFamily="2" charset="-122"/>
                <a:cs typeface="Times New Roman" panose="02020603050405020304" pitchFamily="18" charset="0"/>
              </a:rPr>
              <a:t>etc/profile中</a:t>
            </a:r>
            <a:r>
              <a:rPr lang="zh-CN" sz="2400">
                <a:ea typeface="等线" panose="02010600030101010101" pitchFamily="2" charset="-122"/>
              </a:rPr>
              <a:t>添加</a:t>
            </a:r>
            <a:r>
              <a:rPr lang="zh-CN" sz="2400">
                <a:ea typeface="等线" panose="02010600030101010101" pitchFamily="2" charset="-122"/>
                <a:cs typeface="Times New Roman" panose="02020603050405020304" pitchFamily="18" charset="0"/>
              </a:rPr>
              <a:t>flume环境变量</a:t>
            </a:r>
            <a:r>
              <a:rPr lang="zh-CN" sz="2400" b="0">
                <a:ea typeface="等线" panose="02010600030101010101" pitchFamily="2" charset="-122"/>
                <a:cs typeface="Times New Roman" panose="02020603050405020304" pitchFamily="18" charset="0"/>
              </a:rPr>
              <a:t>：</a:t>
            </a:r>
            <a:endParaRPr lang="zh-CN" altLang="en-US" sz="2400"/>
          </a:p>
        </p:txBody>
      </p:sp>
      <p:graphicFrame>
        <p:nvGraphicFramePr>
          <p:cNvPr id="6" name="表格 5"/>
          <p:cNvGraphicFramePr/>
          <p:nvPr>
            <p:custDataLst>
              <p:tags r:id="rId1"/>
            </p:custDataLst>
            <p:extLst>
              <p:ext uri="{D42A27DB-BD31-4B8C-83A1-F6EECF244321}">
                <p14:modId xmlns:p14="http://schemas.microsoft.com/office/powerpoint/2010/main" val="1068880018"/>
              </p:ext>
            </p:extLst>
          </p:nvPr>
        </p:nvGraphicFramePr>
        <p:xfrm>
          <a:off x="897206" y="1456877"/>
          <a:ext cx="4695759" cy="716915"/>
        </p:xfrm>
        <a:graphic>
          <a:graphicData uri="http://schemas.openxmlformats.org/drawingml/2006/table">
            <a:tbl>
              <a:tblPr firstRow="1" bandRow="1">
                <a:tableStyleId>{5940675A-B579-460E-94D1-54222C63F5DA}</a:tableStyleId>
              </a:tblPr>
              <a:tblGrid>
                <a:gridCol w="4695759">
                  <a:extLst>
                    <a:ext uri="{9D8B030D-6E8A-4147-A177-3AD203B41FA5}">
                      <a16:colId xmlns:a16="http://schemas.microsoft.com/office/drawing/2014/main" val="20000"/>
                    </a:ext>
                  </a:extLst>
                </a:gridCol>
              </a:tblGrid>
              <a:tr h="716915">
                <a:tc>
                  <a:txBody>
                    <a:bodyPr/>
                    <a:lstStyle/>
                    <a:p>
                      <a:pPr indent="0">
                        <a:buNone/>
                      </a:pPr>
                      <a:r>
                        <a:rPr lang="en-US" sz="1400" b="0" dirty="0">
                          <a:latin typeface="等线" panose="02010600030101010101" pitchFamily="2" charset="-122"/>
                          <a:ea typeface="等线" panose="02010600030101010101" pitchFamily="2" charset="-122"/>
                          <a:cs typeface="等线" panose="02010600030101010101" pitchFamily="2" charset="-122"/>
                        </a:rPr>
                        <a:t>export FLUME_HOME=/</a:t>
                      </a:r>
                      <a:r>
                        <a:rPr lang="en-US" sz="1400" b="0" dirty="0" err="1">
                          <a:latin typeface="等线" panose="02010600030101010101" pitchFamily="2" charset="-122"/>
                          <a:ea typeface="等线" panose="02010600030101010101" pitchFamily="2" charset="-122"/>
                          <a:cs typeface="等线" panose="02010600030101010101" pitchFamily="2" charset="-122"/>
                        </a:rPr>
                        <a:t>usr</a:t>
                      </a:r>
                      <a:r>
                        <a:rPr lang="en-US" sz="1400" b="0" dirty="0">
                          <a:latin typeface="等线" panose="02010600030101010101" pitchFamily="2" charset="-122"/>
                          <a:ea typeface="等线" panose="02010600030101010101" pitchFamily="2" charset="-122"/>
                          <a:cs typeface="等线" panose="02010600030101010101" pitchFamily="2" charset="-122"/>
                        </a:rPr>
                        <a:t>/local/servers</a:t>
                      </a:r>
                      <a:r>
                        <a:rPr lang="en-US" sz="1400" b="0">
                          <a:latin typeface="等线" panose="02010600030101010101" pitchFamily="2" charset="-122"/>
                          <a:ea typeface="等线" panose="02010600030101010101" pitchFamily="2" charset="-122"/>
                          <a:cs typeface="等线" panose="02010600030101010101" pitchFamily="2" charset="-122"/>
                        </a:rPr>
                        <a:t>/flume</a:t>
                      </a:r>
                    </a:p>
                    <a:p>
                      <a:pPr indent="0">
                        <a:buNone/>
                      </a:pPr>
                      <a:r>
                        <a:rPr lang="en-US" sz="1400" b="0">
                          <a:latin typeface="等线" panose="02010600030101010101" pitchFamily="2" charset="-122"/>
                          <a:ea typeface="等线" panose="02010600030101010101" pitchFamily="2" charset="-122"/>
                          <a:cs typeface="等线" panose="02010600030101010101" pitchFamily="2" charset="-122"/>
                        </a:rPr>
                        <a:t>Export FLUME</a:t>
                      </a:r>
                      <a:r>
                        <a:rPr lang="en-US" sz="1400" b="0" dirty="0">
                          <a:latin typeface="等线" panose="02010600030101010101" pitchFamily="2" charset="-122"/>
                          <a:ea typeface="等线" panose="02010600030101010101" pitchFamily="2" charset="-122"/>
                          <a:cs typeface="等线" panose="02010600030101010101" pitchFamily="2" charset="-122"/>
                        </a:rPr>
                        <a:t>_CONF_DIR=$FLUME_HOME/</a:t>
                      </a:r>
                      <a:r>
                        <a:rPr lang="en-US" sz="1400" b="0" dirty="0" err="1">
                          <a:latin typeface="等线" panose="02010600030101010101" pitchFamily="2" charset="-122"/>
                          <a:ea typeface="等线" panose="02010600030101010101" pitchFamily="2" charset="-122"/>
                          <a:cs typeface="等线" panose="02010600030101010101" pitchFamily="2" charset="-122"/>
                        </a:rPr>
                        <a:t>confexport</a:t>
                      </a:r>
                      <a:r>
                        <a:rPr lang="en-US" sz="1400" b="0" dirty="0">
                          <a:latin typeface="等线" panose="02010600030101010101" pitchFamily="2" charset="-122"/>
                          <a:ea typeface="等线" panose="02010600030101010101" pitchFamily="2" charset="-122"/>
                          <a:cs typeface="等线" panose="02010600030101010101" pitchFamily="2" charset="-122"/>
                        </a:rPr>
                        <a:t> PATH=$PATH:$FLUME_HOME/bin</a:t>
                      </a:r>
                      <a:endParaRPr lang="en-US" altLang="en-US" sz="1400" b="0" dirty="0">
                        <a:latin typeface="等线" panose="02010600030101010101" pitchFamily="2" charset="-122"/>
                        <a:ea typeface="等线" panose="02010600030101010101" pitchFamily="2" charset="-122"/>
                        <a:cs typeface="等线"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bl>
          </a:graphicData>
        </a:graphic>
      </p:graphicFrame>
      <p:sp>
        <p:nvSpPr>
          <p:cNvPr id="7" name="文本框 6"/>
          <p:cNvSpPr txBox="1"/>
          <p:nvPr/>
        </p:nvSpPr>
        <p:spPr>
          <a:xfrm>
            <a:off x="556304" y="2150940"/>
            <a:ext cx="8217535" cy="2875467"/>
          </a:xfrm>
          <a:prstGeom prst="rect">
            <a:avLst/>
          </a:prstGeom>
          <a:noFill/>
          <a:ln w="9525">
            <a:noFill/>
          </a:ln>
        </p:spPr>
        <p:txBody>
          <a:bodyPr wrap="square">
            <a:spAutoFit/>
          </a:bodyPr>
          <a:lstStyle/>
          <a:p>
            <a:pPr lvl="1">
              <a:lnSpc>
                <a:spcPct val="120000"/>
              </a:lnSpc>
            </a:pPr>
            <a:r>
              <a:rPr lang="en-US" sz="1800" dirty="0">
                <a:latin typeface="等线" panose="02010600030101010101" pitchFamily="2" charset="-122"/>
                <a:ea typeface="等线" panose="02010600030101010101" pitchFamily="2" charset="-122"/>
                <a:cs typeface="等线" panose="02010600030101010101" pitchFamily="2" charset="-122"/>
              </a:rPr>
              <a:t>$ source /</a:t>
            </a:r>
            <a:r>
              <a:rPr lang="en-US" sz="1800" dirty="0" err="1">
                <a:latin typeface="等线" panose="02010600030101010101" pitchFamily="2" charset="-122"/>
                <a:ea typeface="等线" panose="02010600030101010101" pitchFamily="2" charset="-122"/>
                <a:cs typeface="等线" panose="02010600030101010101" pitchFamily="2" charset="-122"/>
              </a:rPr>
              <a:t>etc</a:t>
            </a:r>
            <a:r>
              <a:rPr lang="en-US" sz="1800" dirty="0">
                <a:latin typeface="等线" panose="02010600030101010101" pitchFamily="2" charset="-122"/>
                <a:ea typeface="等线" panose="02010600030101010101" pitchFamily="2" charset="-122"/>
                <a:cs typeface="等线" panose="02010600030101010101" pitchFamily="2" charset="-122"/>
              </a:rPr>
              <a:t>/profile</a:t>
            </a:r>
          </a:p>
          <a:p>
            <a:pPr lvl="1">
              <a:lnSpc>
                <a:spcPct val="120000"/>
              </a:lnSpc>
            </a:pPr>
            <a:r>
              <a:rPr lang="en-US" sz="1800" dirty="0">
                <a:latin typeface="等线" panose="02010600030101010101" pitchFamily="2" charset="-122"/>
                <a:ea typeface="等线" panose="02010600030101010101" pitchFamily="2" charset="-122"/>
                <a:cs typeface="等线" panose="02010600030101010101" pitchFamily="2" charset="-122"/>
              </a:rPr>
              <a:t>$ which flume-ng 	#</a:t>
            </a:r>
            <a:r>
              <a:rPr lang="zh-CN" sz="1800" dirty="0">
                <a:latin typeface="等线" panose="02010600030101010101" pitchFamily="2" charset="-122"/>
                <a:ea typeface="等线" panose="02010600030101010101" pitchFamily="2" charset="-122"/>
                <a:cs typeface="等线" panose="02010600030101010101" pitchFamily="2" charset="-122"/>
              </a:rPr>
              <a:t>查找</a:t>
            </a:r>
            <a:r>
              <a:rPr lang="en-US" sz="1800" dirty="0">
                <a:latin typeface="等线" panose="02010600030101010101" pitchFamily="2" charset="-122"/>
                <a:ea typeface="等线" panose="02010600030101010101" pitchFamily="2" charset="-122"/>
                <a:cs typeface="等线" panose="02010600030101010101" pitchFamily="2" charset="-122"/>
              </a:rPr>
              <a:t>flume-ng</a:t>
            </a:r>
            <a:r>
              <a:rPr lang="zh-CN" sz="1800" dirty="0">
                <a:latin typeface="等线" panose="02010600030101010101" pitchFamily="2" charset="-122"/>
                <a:ea typeface="等线" panose="02010600030101010101" pitchFamily="2" charset="-122"/>
                <a:cs typeface="等线" panose="02010600030101010101" pitchFamily="2" charset="-122"/>
              </a:rPr>
              <a:t>所在路径</a:t>
            </a:r>
          </a:p>
          <a:p>
            <a:pPr indent="0">
              <a:lnSpc>
                <a:spcPct val="120000"/>
              </a:lnSpc>
              <a:spcBef>
                <a:spcPts val="0"/>
              </a:spcBef>
              <a:spcAft>
                <a:spcPts val="0"/>
              </a:spcAft>
            </a:pPr>
            <a:r>
              <a:rPr lang="zh-CN" sz="2000" dirty="0">
                <a:latin typeface="等线" panose="02010600030101010101" pitchFamily="2" charset="-122"/>
                <a:ea typeface="等线" panose="02010600030101010101" pitchFamily="2" charset="-122"/>
                <a:cs typeface="等线" panose="02010600030101010101" pitchFamily="2" charset="-122"/>
              </a:rPr>
              <a:t>如果在Linux终端上看到如下结果则表示路径设置正确：</a:t>
            </a:r>
            <a:endParaRPr lang="en-US" sz="2000" dirty="0">
              <a:latin typeface="等线" panose="02010600030101010101" pitchFamily="2" charset="-122"/>
              <a:ea typeface="等线" panose="02010600030101010101" pitchFamily="2" charset="-122"/>
              <a:cs typeface="等线" panose="02010600030101010101" pitchFamily="2" charset="-122"/>
            </a:endParaRPr>
          </a:p>
          <a:p>
            <a:pPr indent="0">
              <a:lnSpc>
                <a:spcPct val="120000"/>
              </a:lnSpc>
              <a:spcBef>
                <a:spcPts val="0"/>
              </a:spcBef>
              <a:spcAft>
                <a:spcPts val="0"/>
              </a:spcAft>
            </a:pPr>
            <a:r>
              <a:rPr lang="en-US" sz="2000" dirty="0">
                <a:latin typeface="等线" panose="02010600030101010101" pitchFamily="2" charset="-122"/>
                <a:ea typeface="等线" panose="02010600030101010101" pitchFamily="2" charset="-122"/>
                <a:cs typeface="等线" panose="02010600030101010101" pitchFamily="2" charset="-122"/>
              </a:rPr>
              <a:t>/</a:t>
            </a:r>
            <a:r>
              <a:rPr lang="en-US" sz="2000" dirty="0" err="1">
                <a:latin typeface="等线" panose="02010600030101010101" pitchFamily="2" charset="-122"/>
                <a:ea typeface="等线" panose="02010600030101010101" pitchFamily="2" charset="-122"/>
                <a:cs typeface="等线" panose="02010600030101010101" pitchFamily="2" charset="-122"/>
              </a:rPr>
              <a:t>usr</a:t>
            </a:r>
            <a:r>
              <a:rPr lang="en-US" sz="2000" dirty="0">
                <a:latin typeface="等线" panose="02010600030101010101" pitchFamily="2" charset="-122"/>
                <a:ea typeface="等线" panose="02010600030101010101" pitchFamily="2" charset="-122"/>
                <a:cs typeface="等线" panose="02010600030101010101" pitchFamily="2" charset="-122"/>
              </a:rPr>
              <a:t>/local/servers/flume/bin/flume-ng</a:t>
            </a:r>
            <a:endParaRPr lang="zh-CN" sz="2000" dirty="0">
              <a:latin typeface="等线" panose="02010600030101010101" pitchFamily="2" charset="-122"/>
              <a:ea typeface="等线" panose="02010600030101010101" pitchFamily="2" charset="-122"/>
              <a:cs typeface="等线" panose="02010600030101010101" pitchFamily="2" charset="-122"/>
            </a:endParaRPr>
          </a:p>
          <a:p>
            <a:pPr indent="0">
              <a:lnSpc>
                <a:spcPct val="120000"/>
              </a:lnSpc>
              <a:spcBef>
                <a:spcPts val="0"/>
              </a:spcBef>
              <a:spcAft>
                <a:spcPts val="0"/>
              </a:spcAft>
            </a:pPr>
            <a:r>
              <a:rPr lang="zh-CN" sz="2000" dirty="0">
                <a:latin typeface="等线" panose="02010600030101010101" pitchFamily="2" charset="-122"/>
                <a:ea typeface="等线" panose="02010600030101010101" pitchFamily="2" charset="-122"/>
                <a:cs typeface="等线" panose="02010600030101010101" pitchFamily="2" charset="-122"/>
              </a:rPr>
              <a:t>修改flume-env.sh文件：</a:t>
            </a:r>
            <a:endParaRPr lang="en-US" sz="2000" dirty="0">
              <a:latin typeface="等线" panose="02010600030101010101" pitchFamily="2" charset="-122"/>
              <a:ea typeface="等线" panose="02010600030101010101" pitchFamily="2" charset="-122"/>
              <a:cs typeface="等线" panose="02010600030101010101" pitchFamily="2" charset="-122"/>
            </a:endParaRPr>
          </a:p>
          <a:p>
            <a:pPr lvl="1">
              <a:lnSpc>
                <a:spcPct val="120000"/>
              </a:lnSpc>
            </a:pPr>
            <a:r>
              <a:rPr lang="en-US" sz="1800" dirty="0">
                <a:latin typeface="等线" panose="02010600030101010101" pitchFamily="2" charset="-122"/>
                <a:ea typeface="等线" panose="02010600030101010101" pitchFamily="2" charset="-122"/>
                <a:cs typeface="等线" panose="02010600030101010101" pitchFamily="2" charset="-122"/>
              </a:rPr>
              <a:t>$ cd /</a:t>
            </a:r>
            <a:r>
              <a:rPr lang="en-US" sz="1800" dirty="0" err="1">
                <a:latin typeface="等线" panose="02010600030101010101" pitchFamily="2" charset="-122"/>
                <a:ea typeface="等线" panose="02010600030101010101" pitchFamily="2" charset="-122"/>
                <a:cs typeface="等线" panose="02010600030101010101" pitchFamily="2" charset="-122"/>
              </a:rPr>
              <a:t>usr</a:t>
            </a:r>
            <a:r>
              <a:rPr lang="en-US" sz="1800" dirty="0">
                <a:latin typeface="等线" panose="02010600030101010101" pitchFamily="2" charset="-122"/>
                <a:ea typeface="等线" panose="02010600030101010101" pitchFamily="2" charset="-122"/>
                <a:cs typeface="等线" panose="02010600030101010101" pitchFamily="2" charset="-122"/>
              </a:rPr>
              <a:t>/local/servers/flume/conf</a:t>
            </a:r>
          </a:p>
          <a:p>
            <a:pPr lvl="1">
              <a:lnSpc>
                <a:spcPct val="120000"/>
              </a:lnSpc>
            </a:pPr>
            <a:r>
              <a:rPr lang="en-US" sz="1800" dirty="0">
                <a:latin typeface="等线" panose="02010600030101010101" pitchFamily="2" charset="-122"/>
                <a:ea typeface="等线" panose="02010600030101010101" pitchFamily="2" charset="-122"/>
                <a:cs typeface="等线" panose="02010600030101010101" pitchFamily="2" charset="-122"/>
              </a:rPr>
              <a:t>$ cp flume-</a:t>
            </a:r>
            <a:r>
              <a:rPr lang="en-US" sz="1800" dirty="0" err="1">
                <a:latin typeface="等线" panose="02010600030101010101" pitchFamily="2" charset="-122"/>
                <a:ea typeface="等线" panose="02010600030101010101" pitchFamily="2" charset="-122"/>
                <a:cs typeface="等线" panose="02010600030101010101" pitchFamily="2" charset="-122"/>
              </a:rPr>
              <a:t>env.sh.template</a:t>
            </a:r>
            <a:r>
              <a:rPr lang="en-US" sz="1800" dirty="0">
                <a:latin typeface="等线" panose="02010600030101010101" pitchFamily="2" charset="-122"/>
                <a:ea typeface="等线" panose="02010600030101010101" pitchFamily="2" charset="-122"/>
                <a:cs typeface="等线" panose="02010600030101010101" pitchFamily="2" charset="-122"/>
              </a:rPr>
              <a:t> flume-env.sh</a:t>
            </a:r>
          </a:p>
          <a:p>
            <a:pPr indent="0">
              <a:lnSpc>
                <a:spcPct val="120000"/>
              </a:lnSpc>
              <a:spcBef>
                <a:spcPts val="0"/>
              </a:spcBef>
              <a:spcAft>
                <a:spcPts val="0"/>
              </a:spcAft>
            </a:pPr>
            <a:r>
              <a:rPr lang="zh-CN" sz="2000" dirty="0">
                <a:latin typeface="等线" panose="02010600030101010101" pitchFamily="2" charset="-122"/>
                <a:ea typeface="等线" panose="02010600030101010101" pitchFamily="2" charset="-122"/>
                <a:cs typeface="等线" panose="02010600030101010101" pitchFamily="2" charset="-122"/>
              </a:rPr>
              <a:t>在</a:t>
            </a:r>
            <a:r>
              <a:rPr lang="en-US" sz="2000" dirty="0">
                <a:latin typeface="等线" panose="02010600030101010101" pitchFamily="2" charset="-122"/>
                <a:ea typeface="等线" panose="02010600030101010101" pitchFamily="2" charset="-122"/>
                <a:cs typeface="等线" panose="02010600030101010101" pitchFamily="2" charset="-122"/>
              </a:rPr>
              <a:t>flume-env.sh</a:t>
            </a:r>
            <a:r>
              <a:rPr lang="zh-CN" sz="2000" dirty="0">
                <a:latin typeface="等线" panose="02010600030101010101" pitchFamily="2" charset="-122"/>
                <a:ea typeface="等线" panose="02010600030101010101" pitchFamily="2" charset="-122"/>
                <a:cs typeface="等线" panose="02010600030101010101" pitchFamily="2" charset="-122"/>
              </a:rPr>
              <a:t>文件中添加上：</a:t>
            </a:r>
            <a:r>
              <a:rPr lang="en-US" sz="1800" dirty="0">
                <a:latin typeface="等线" panose="02010600030101010101" pitchFamily="2" charset="-122"/>
                <a:ea typeface="等线" panose="02010600030101010101" pitchFamily="2" charset="-122"/>
                <a:cs typeface="等线" panose="02010600030101010101" pitchFamily="2" charset="-122"/>
              </a:rPr>
              <a:t>$ export JAVA_HOME=${JAVA_HOME}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32105" y="956945"/>
            <a:ext cx="8611235" cy="3692525"/>
          </a:xfrm>
          <a:prstGeom prst="rect">
            <a:avLst/>
          </a:prstGeom>
          <a:noFill/>
          <a:ln w="9525">
            <a:noFill/>
          </a:ln>
        </p:spPr>
        <p:txBody>
          <a:bodyPr wrap="square">
            <a:spAutoFit/>
          </a:bodyPr>
          <a:lstStyle/>
          <a:p>
            <a:pPr indent="266700">
              <a:lnSpc>
                <a:spcPct val="130000"/>
              </a:lnSpc>
              <a:spcBef>
                <a:spcPts val="0"/>
              </a:spcBef>
              <a:spcAft>
                <a:spcPts val="0"/>
              </a:spcAft>
            </a:pPr>
            <a:r>
              <a:rPr sz="2000" b="1" dirty="0">
                <a:latin typeface="等线" panose="02010600030101010101" pitchFamily="2" charset="-122"/>
                <a:ea typeface="等线" panose="02010600030101010101" pitchFamily="2" charset="-122"/>
                <a:cs typeface="等线" panose="02010600030101010101" pitchFamily="2" charset="-122"/>
              </a:rPr>
              <a:t>5.Flume的配置与运行方法</a:t>
            </a:r>
          </a:p>
          <a:p>
            <a:pPr indent="266700">
              <a:lnSpc>
                <a:spcPct val="130000"/>
              </a:lnSpc>
              <a:spcBef>
                <a:spcPts val="0"/>
              </a:spcBef>
              <a:spcAft>
                <a:spcPts val="0"/>
              </a:spcAft>
            </a:pPr>
            <a:r>
              <a:rPr sz="2000" dirty="0" err="1">
                <a:latin typeface="等线" panose="02010600030101010101" pitchFamily="2" charset="-122"/>
                <a:ea typeface="等线" panose="02010600030101010101" pitchFamily="2" charset="-122"/>
                <a:cs typeface="等线" panose="02010600030101010101" pitchFamily="2" charset="-122"/>
              </a:rPr>
              <a:t>在某个节点上运行Flume代理进行数据采集的基本流程分可为三个步骤</a:t>
            </a:r>
            <a:r>
              <a:rPr sz="2000" dirty="0">
                <a:latin typeface="等线" panose="02010600030101010101" pitchFamily="2" charset="-122"/>
                <a:ea typeface="等线" panose="02010600030101010101" pitchFamily="2" charset="-122"/>
                <a:cs typeface="等线" panose="02010600030101010101" pitchFamily="2" charset="-122"/>
              </a:rPr>
              <a:t>：</a:t>
            </a:r>
          </a:p>
          <a:p>
            <a:pPr indent="266700">
              <a:lnSpc>
                <a:spcPct val="130000"/>
              </a:lnSpc>
              <a:spcBef>
                <a:spcPts val="0"/>
              </a:spcBef>
              <a:spcAft>
                <a:spcPts val="0"/>
              </a:spcAft>
            </a:pPr>
            <a:r>
              <a:rPr sz="2000" b="1" dirty="0">
                <a:latin typeface="等线" panose="02010600030101010101" pitchFamily="2" charset="-122"/>
                <a:ea typeface="等线" panose="02010600030101010101" pitchFamily="2" charset="-122"/>
                <a:cs typeface="等线" panose="02010600030101010101" pitchFamily="2" charset="-122"/>
              </a:rPr>
              <a:t>（1）步骤1：创建Flume </a:t>
            </a:r>
            <a:r>
              <a:rPr sz="2000" b="1" dirty="0" err="1">
                <a:latin typeface="等线" panose="02010600030101010101" pitchFamily="2" charset="-122"/>
                <a:ea typeface="等线" panose="02010600030101010101" pitchFamily="2" charset="-122"/>
                <a:cs typeface="等线" panose="02010600030101010101" pitchFamily="2" charset="-122"/>
              </a:rPr>
              <a:t>Agent配置文件</a:t>
            </a:r>
            <a:endParaRPr sz="2000" b="1" dirty="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sz="2000" dirty="0" err="1">
                <a:latin typeface="等线" panose="02010600030101010101" pitchFamily="2" charset="-122"/>
                <a:ea typeface="等线" panose="02010600030101010101" pitchFamily="2" charset="-122"/>
                <a:cs typeface="等线" panose="02010600030101010101" pitchFamily="2" charset="-122"/>
              </a:rPr>
              <a:t>在Linux主机上创建Flume</a:t>
            </a:r>
            <a:r>
              <a:rPr sz="2000" dirty="0">
                <a:latin typeface="等线" panose="02010600030101010101" pitchFamily="2" charset="-122"/>
                <a:ea typeface="等线" panose="02010600030101010101" pitchFamily="2" charset="-122"/>
                <a:cs typeface="等线" panose="02010600030101010101" pitchFamily="2" charset="-122"/>
              </a:rPr>
              <a:t> </a:t>
            </a:r>
            <a:r>
              <a:rPr sz="2000" dirty="0" err="1">
                <a:latin typeface="等线" panose="02010600030101010101" pitchFamily="2" charset="-122"/>
                <a:ea typeface="等线" panose="02010600030101010101" pitchFamily="2" charset="-122"/>
                <a:cs typeface="等线" panose="02010600030101010101" pitchFamily="2" charset="-122"/>
              </a:rPr>
              <a:t>Agent配置文件（configuration</a:t>
            </a:r>
            <a:r>
              <a:rPr sz="2000" dirty="0">
                <a:latin typeface="等线" panose="02010600030101010101" pitchFamily="2" charset="-122"/>
                <a:ea typeface="等线" panose="02010600030101010101" pitchFamily="2" charset="-122"/>
                <a:cs typeface="等线" panose="02010600030101010101" pitchFamily="2" charset="-122"/>
              </a:rPr>
              <a:t> file），</a:t>
            </a:r>
            <a:r>
              <a:rPr sz="2000" dirty="0" err="1">
                <a:latin typeface="等线" panose="02010600030101010101" pitchFamily="2" charset="-122"/>
                <a:ea typeface="等线" panose="02010600030101010101" pitchFamily="2" charset="-122"/>
                <a:cs typeface="等线" panose="02010600030101010101" pitchFamily="2" charset="-122"/>
              </a:rPr>
              <a:t>Flume的配置文件是一个遵循Java属性文件格式的文本文件，在每个配置文件中可指定一个或多个Agent</a:t>
            </a:r>
            <a:r>
              <a:rPr sz="2000" dirty="0">
                <a:latin typeface="等线" panose="02010600030101010101" pitchFamily="2" charset="-122"/>
                <a:ea typeface="等线" panose="02010600030101010101" pitchFamily="2" charset="-122"/>
                <a:cs typeface="等线" panose="02010600030101010101" pitchFamily="2" charset="-122"/>
              </a:rPr>
              <a:t>。</a:t>
            </a:r>
          </a:p>
          <a:p>
            <a:pPr indent="266700">
              <a:lnSpc>
                <a:spcPct val="130000"/>
              </a:lnSpc>
              <a:spcBef>
                <a:spcPts val="0"/>
              </a:spcBef>
              <a:spcAft>
                <a:spcPts val="0"/>
              </a:spcAft>
            </a:pPr>
            <a:r>
              <a:rPr sz="2000" b="1" dirty="0">
                <a:latin typeface="等线" panose="02010600030101010101" pitchFamily="2" charset="-122"/>
                <a:ea typeface="等线" panose="02010600030101010101" pitchFamily="2" charset="-122"/>
                <a:cs typeface="等线" panose="02010600030101010101" pitchFamily="2" charset="-122"/>
              </a:rPr>
              <a:t>（2）步骤2：为每个Agent设置组件属性和组件间连接方式</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cs typeface="等线" panose="02010600030101010101" pitchFamily="2" charset="-122"/>
              </a:rPr>
              <a:t>一个Agent包含source、sink和channel三个组件，需要为配置文件中的每个Agent设置这三个组件的属性，以及它们如何连接在一起以形成数据流。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59410" y="902335"/>
            <a:ext cx="8474075" cy="3581814"/>
          </a:xfrm>
          <a:prstGeom prst="rect">
            <a:avLst/>
          </a:prstGeom>
          <a:noFill/>
          <a:ln w="9525">
            <a:noFill/>
          </a:ln>
        </p:spPr>
        <p:txBody>
          <a:bodyPr wrap="square">
            <a:spAutoFit/>
          </a:bodyPr>
          <a:lstStyle/>
          <a:p>
            <a:pPr indent="266700">
              <a:lnSpc>
                <a:spcPct val="130000"/>
              </a:lnSpc>
              <a:spcBef>
                <a:spcPts val="0"/>
              </a:spcBef>
              <a:spcAft>
                <a:spcPts val="0"/>
              </a:spcAft>
            </a:pPr>
            <a:r>
              <a:rPr sz="2000" b="1" dirty="0">
                <a:latin typeface="等线" panose="02010600030101010101" pitchFamily="2" charset="-122"/>
                <a:ea typeface="等线" panose="02010600030101010101" pitchFamily="2" charset="-122"/>
                <a:cs typeface="等线" panose="02010600030101010101" pitchFamily="2" charset="-122"/>
              </a:rPr>
              <a:t>（3）步骤3：启动Agent</a:t>
            </a:r>
          </a:p>
          <a:p>
            <a:pPr indent="266700">
              <a:lnSpc>
                <a:spcPct val="130000"/>
              </a:lnSpc>
              <a:spcBef>
                <a:spcPts val="0"/>
              </a:spcBef>
              <a:spcAft>
                <a:spcPts val="0"/>
              </a:spcAft>
            </a:pPr>
            <a:r>
              <a:rPr sz="2000" dirty="0">
                <a:latin typeface="等线" panose="02010600030101010101" pitchFamily="2" charset="-122"/>
                <a:ea typeface="等线" panose="02010600030101010101" pitchFamily="2" charset="-122"/>
                <a:cs typeface="等线" panose="02010600030101010101" pitchFamily="2" charset="-122"/>
              </a:rPr>
              <a:t>Agent进程使用一个名为flume-ng的shell脚本启动，该脚本位于flume安装目录中的bin子目录中。您需要在命令行中指定代理名称、配置目录和配置文件：</a:t>
            </a:r>
          </a:p>
          <a:p>
            <a:pPr indent="266700">
              <a:lnSpc>
                <a:spcPct val="130000"/>
              </a:lnSpc>
              <a:spcBef>
                <a:spcPts val="0"/>
              </a:spcBef>
              <a:spcAft>
                <a:spcPts val="0"/>
              </a:spcAft>
            </a:pPr>
            <a:r>
              <a:rPr sz="1800" dirty="0">
                <a:latin typeface="等线" panose="02010600030101010101" pitchFamily="2" charset="-122"/>
                <a:ea typeface="等线" panose="02010600030101010101" pitchFamily="2" charset="-122"/>
                <a:cs typeface="等线" panose="02010600030101010101" pitchFamily="2" charset="-122"/>
              </a:rPr>
              <a:t>flume-ng agent -n </a:t>
            </a:r>
            <a:r>
              <a:rPr sz="1800" dirty="0" err="1">
                <a:latin typeface="等线" panose="02010600030101010101" pitchFamily="2" charset="-122"/>
                <a:ea typeface="等线" panose="02010600030101010101" pitchFamily="2" charset="-122"/>
                <a:cs typeface="等线" panose="02010600030101010101" pitchFamily="2" charset="-122"/>
              </a:rPr>
              <a:t>代理名</a:t>
            </a:r>
            <a:r>
              <a:rPr sz="1800" dirty="0">
                <a:latin typeface="等线" panose="02010600030101010101" pitchFamily="2" charset="-122"/>
                <a:ea typeface="等线" panose="02010600030101010101" pitchFamily="2" charset="-122"/>
                <a:cs typeface="等线" panose="02010600030101010101" pitchFamily="2" charset="-122"/>
              </a:rPr>
              <a:t> -c conf -f </a:t>
            </a:r>
            <a:r>
              <a:rPr sz="1800" dirty="0" err="1">
                <a:latin typeface="等线" panose="02010600030101010101" pitchFamily="2" charset="-122"/>
                <a:ea typeface="等线" panose="02010600030101010101" pitchFamily="2" charset="-122"/>
                <a:cs typeface="等线" panose="02010600030101010101" pitchFamily="2" charset="-122"/>
              </a:rPr>
              <a:t>配置文件名</a:t>
            </a:r>
            <a:r>
              <a:rPr sz="1800" dirty="0">
                <a:latin typeface="等线" panose="02010600030101010101" pitchFamily="2" charset="-122"/>
                <a:ea typeface="等线" panose="02010600030101010101" pitchFamily="2" charset="-122"/>
                <a:cs typeface="等线" panose="02010600030101010101" pitchFamily="2" charset="-122"/>
              </a:rPr>
              <a:t> </a:t>
            </a:r>
          </a:p>
          <a:p>
            <a:pPr indent="266700">
              <a:lnSpc>
                <a:spcPct val="130000"/>
              </a:lnSpc>
              <a:spcBef>
                <a:spcPts val="0"/>
              </a:spcBef>
              <a:spcAft>
                <a:spcPts val="0"/>
              </a:spcAft>
            </a:pPr>
            <a:r>
              <a:rPr sz="1800" dirty="0" err="1">
                <a:latin typeface="等线" panose="02010600030101010101" pitchFamily="2" charset="-122"/>
                <a:ea typeface="等线" panose="02010600030101010101" pitchFamily="2" charset="-122"/>
                <a:cs typeface="等线" panose="02010600030101010101" pitchFamily="2" charset="-122"/>
              </a:rPr>
              <a:t>或：flume-ng</a:t>
            </a:r>
            <a:r>
              <a:rPr sz="1800" dirty="0">
                <a:latin typeface="等线" panose="02010600030101010101" pitchFamily="2" charset="-122"/>
                <a:ea typeface="等线" panose="02010600030101010101" pitchFamily="2" charset="-122"/>
                <a:cs typeface="等线" panose="02010600030101010101" pitchFamily="2" charset="-122"/>
              </a:rPr>
              <a:t> agent --name </a:t>
            </a:r>
            <a:r>
              <a:rPr sz="1800" dirty="0" err="1">
                <a:latin typeface="等线" panose="02010600030101010101" pitchFamily="2" charset="-122"/>
                <a:ea typeface="等线" panose="02010600030101010101" pitchFamily="2" charset="-122"/>
                <a:cs typeface="等线" panose="02010600030101010101" pitchFamily="2" charset="-122"/>
              </a:rPr>
              <a:t>代理名</a:t>
            </a:r>
            <a:r>
              <a:rPr sz="1800" dirty="0">
                <a:latin typeface="等线" panose="02010600030101010101" pitchFamily="2" charset="-122"/>
                <a:ea typeface="等线" panose="02010600030101010101" pitchFamily="2" charset="-122"/>
                <a:cs typeface="等线" panose="02010600030101010101" pitchFamily="2" charset="-122"/>
              </a:rPr>
              <a:t> --config conf --config-file </a:t>
            </a:r>
            <a:r>
              <a:rPr sz="1800" dirty="0" err="1">
                <a:latin typeface="等线" panose="02010600030101010101" pitchFamily="2" charset="-122"/>
                <a:ea typeface="等线" panose="02010600030101010101" pitchFamily="2" charset="-122"/>
                <a:cs typeface="等线" panose="02010600030101010101" pitchFamily="2" charset="-122"/>
              </a:rPr>
              <a:t>配置文件名</a:t>
            </a:r>
            <a:endParaRPr sz="1800" dirty="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sz="2000" dirty="0" err="1">
                <a:latin typeface="等线" panose="02010600030101010101" pitchFamily="2" charset="-122"/>
                <a:ea typeface="等线" panose="02010600030101010101" pitchFamily="2" charset="-122"/>
                <a:cs typeface="等线" panose="02010600030101010101" pitchFamily="2" charset="-122"/>
              </a:rPr>
              <a:t>上述命令中</a:t>
            </a:r>
            <a:r>
              <a:rPr sz="2000" dirty="0">
                <a:latin typeface="等线" panose="02010600030101010101" pitchFamily="2" charset="-122"/>
                <a:ea typeface="等线" panose="02010600030101010101" pitchFamily="2" charset="-122"/>
                <a:cs typeface="等线" panose="02010600030101010101" pitchFamily="2" charset="-122"/>
              </a:rPr>
              <a:t>“-n </a:t>
            </a:r>
            <a:r>
              <a:rPr sz="2000" dirty="0" err="1">
                <a:latin typeface="等线" panose="02010600030101010101" pitchFamily="2" charset="-122"/>
                <a:ea typeface="等线" panose="02010600030101010101" pitchFamily="2" charset="-122"/>
                <a:cs typeface="等线" panose="02010600030101010101" pitchFamily="2" charset="-122"/>
              </a:rPr>
              <a:t>代理名</a:t>
            </a:r>
            <a:r>
              <a:rPr sz="2000" dirty="0">
                <a:latin typeface="等线" panose="02010600030101010101" pitchFamily="2" charset="-122"/>
                <a:ea typeface="等线" panose="02010600030101010101" pitchFamily="2" charset="-122"/>
                <a:cs typeface="等线" panose="02010600030101010101" pitchFamily="2" charset="-122"/>
              </a:rPr>
              <a:t>”（或“--name 代理名”）表示要启动的配置文件中的哪个Agent。在配置文件中可能有多个Agent，当启动给定的Flume进程时，要传递一个Agent名称以启动该Agent。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3.2.2日志收集工具Flume</a:t>
            </a:r>
          </a:p>
        </p:txBody>
      </p:sp>
      <p:sp>
        <p:nvSpPr>
          <p:cNvPr id="100" name="文本框 99"/>
          <p:cNvSpPr txBox="1"/>
          <p:nvPr/>
        </p:nvSpPr>
        <p:spPr>
          <a:xfrm>
            <a:off x="359410" y="902335"/>
            <a:ext cx="8474075" cy="1261179"/>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等线" panose="02010600030101010101" pitchFamily="2" charset="-122"/>
                <a:ea typeface="等线" panose="02010600030101010101" pitchFamily="2" charset="-122"/>
                <a:cs typeface="等线" panose="02010600030101010101" pitchFamily="2" charset="-122"/>
              </a:rPr>
              <a:t>6. Flume</a:t>
            </a:r>
            <a:r>
              <a:rPr lang="zh-CN" altLang="en-US" sz="2000" b="1" dirty="0">
                <a:latin typeface="等线" panose="02010600030101010101" pitchFamily="2" charset="-122"/>
                <a:ea typeface="等线" panose="02010600030101010101" pitchFamily="2" charset="-122"/>
                <a:cs typeface="等线" panose="02010600030101010101" pitchFamily="2" charset="-122"/>
              </a:rPr>
              <a:t>应用实例（教材</a:t>
            </a:r>
            <a:r>
              <a:rPr lang="en-US" altLang="zh-CN" sz="2000" b="1" dirty="0">
                <a:latin typeface="等线" panose="02010600030101010101" pitchFamily="2" charset="-122"/>
                <a:ea typeface="等线" panose="02010600030101010101" pitchFamily="2" charset="-122"/>
                <a:cs typeface="等线" panose="02010600030101010101" pitchFamily="2" charset="-122"/>
              </a:rPr>
              <a:t>P76-79</a:t>
            </a:r>
            <a:r>
              <a:rPr lang="zh-CN" altLang="en-US" sz="2000" b="1" dirty="0">
                <a:latin typeface="等线" panose="02010600030101010101" pitchFamily="2" charset="-122"/>
                <a:ea typeface="等线" panose="02010600030101010101" pitchFamily="2" charset="-122"/>
                <a:cs typeface="等线" panose="02010600030101010101" pitchFamily="2" charset="-122"/>
              </a:rPr>
              <a:t>）</a:t>
            </a:r>
            <a:endParaRPr sz="2000" b="1" dirty="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en-US" altLang="zh-CN" sz="2000" dirty="0">
                <a:latin typeface="等线" panose="02010600030101010101" pitchFamily="2" charset="-122"/>
                <a:ea typeface="等线" panose="02010600030101010101" pitchFamily="2" charset="-122"/>
                <a:cs typeface="等线" panose="02010600030101010101" pitchFamily="2" charset="-122"/>
              </a:rPr>
              <a:t>【</a:t>
            </a:r>
            <a:r>
              <a:rPr lang="zh-CN" altLang="en-US" sz="2000" dirty="0">
                <a:latin typeface="等线" panose="02010600030101010101" pitchFamily="2" charset="-122"/>
                <a:ea typeface="等线" panose="02010600030101010101" pitchFamily="2" charset="-122"/>
                <a:cs typeface="等线" panose="02010600030101010101" pitchFamily="2" charset="-122"/>
              </a:rPr>
              <a:t>例</a:t>
            </a:r>
            <a:r>
              <a:rPr lang="en-US" altLang="zh-CN" sz="2000" dirty="0">
                <a:latin typeface="等线" panose="02010600030101010101" pitchFamily="2" charset="-122"/>
                <a:ea typeface="等线" panose="02010600030101010101" pitchFamily="2" charset="-122"/>
                <a:cs typeface="等线" panose="02010600030101010101" pitchFamily="2" charset="-122"/>
              </a:rPr>
              <a:t>3.2】</a:t>
            </a:r>
            <a:r>
              <a:rPr lang="zh-CN" altLang="en-US" sz="2000">
                <a:latin typeface="等线" panose="02010600030101010101" pitchFamily="2" charset="-122"/>
                <a:ea typeface="等线" panose="02010600030101010101" pitchFamily="2" charset="-122"/>
                <a:cs typeface="等线" panose="02010600030101010101" pitchFamily="2" charset="-122"/>
              </a:rPr>
              <a:t>从网络端口采集</a:t>
            </a:r>
            <a:r>
              <a:rPr lang="zh-CN" altLang="en-US" sz="2000" dirty="0">
                <a:latin typeface="等线" panose="02010600030101010101" pitchFamily="2" charset="-122"/>
                <a:ea typeface="等线" panose="02010600030101010101" pitchFamily="2" charset="-122"/>
                <a:cs typeface="等线" panose="02010600030101010101" pitchFamily="2" charset="-122"/>
              </a:rPr>
              <a:t>数据</a:t>
            </a:r>
            <a:endParaRPr lang="en-US" altLang="zh-CN" sz="2000" dirty="0">
              <a:latin typeface="等线" panose="02010600030101010101" pitchFamily="2" charset="-122"/>
              <a:ea typeface="等线" panose="02010600030101010101" pitchFamily="2" charset="-122"/>
              <a:cs typeface="等线" panose="02010600030101010101" pitchFamily="2" charset="-122"/>
            </a:endParaRPr>
          </a:p>
          <a:p>
            <a:pPr indent="266700">
              <a:lnSpc>
                <a:spcPct val="130000"/>
              </a:lnSpc>
              <a:spcBef>
                <a:spcPts val="0"/>
              </a:spcBef>
              <a:spcAft>
                <a:spcPts val="0"/>
              </a:spcAft>
            </a:pPr>
            <a:r>
              <a:rPr lang="en-US" altLang="zh-CN" sz="2000" dirty="0">
                <a:latin typeface="等线" panose="02010600030101010101" pitchFamily="2" charset="-122"/>
                <a:ea typeface="等线" panose="02010600030101010101" pitchFamily="2" charset="-122"/>
                <a:cs typeface="等线" panose="02010600030101010101" pitchFamily="2" charset="-122"/>
              </a:rPr>
              <a:t>【</a:t>
            </a:r>
            <a:r>
              <a:rPr lang="zh-CN" altLang="en-US" sz="2000" dirty="0">
                <a:latin typeface="等线" panose="02010600030101010101" pitchFamily="2" charset="-122"/>
                <a:ea typeface="等线" panose="02010600030101010101" pitchFamily="2" charset="-122"/>
                <a:cs typeface="等线" panose="02010600030101010101" pitchFamily="2" charset="-122"/>
              </a:rPr>
              <a:t>例</a:t>
            </a:r>
            <a:r>
              <a:rPr lang="en-US" altLang="zh-CN" sz="2000" dirty="0">
                <a:latin typeface="等线" panose="02010600030101010101" pitchFamily="2" charset="-122"/>
                <a:ea typeface="等线" panose="02010600030101010101" pitchFamily="2" charset="-122"/>
                <a:cs typeface="等线" panose="02010600030101010101" pitchFamily="2" charset="-122"/>
              </a:rPr>
              <a:t>3.3】</a:t>
            </a:r>
            <a:r>
              <a:rPr lang="zh-CN" altLang="en-US" sz="2000" dirty="0">
                <a:latin typeface="等线" panose="02010600030101010101" pitchFamily="2" charset="-122"/>
                <a:cs typeface="等线" panose="02010600030101010101" pitchFamily="2" charset="-122"/>
              </a:rPr>
              <a:t>使用</a:t>
            </a:r>
            <a:r>
              <a:rPr lang="en-US" altLang="zh-CN" sz="2000" dirty="0" err="1">
                <a:latin typeface="等线" panose="02010600030101010101" pitchFamily="2" charset="-122"/>
                <a:cs typeface="等线" panose="02010600030101010101" pitchFamily="2" charset="-122"/>
              </a:rPr>
              <a:t>Taildir</a:t>
            </a:r>
            <a:r>
              <a:rPr lang="en-US" altLang="zh-CN" sz="2000" dirty="0">
                <a:latin typeface="等线" panose="02010600030101010101" pitchFamily="2" charset="-122"/>
                <a:cs typeface="等线" panose="02010600030101010101" pitchFamily="2" charset="-122"/>
              </a:rPr>
              <a:t> Source</a:t>
            </a:r>
            <a:r>
              <a:rPr lang="zh-CN" altLang="en-US" sz="2000" dirty="0">
                <a:latin typeface="等线" panose="02010600030101010101" pitchFamily="2" charset="-122"/>
                <a:cs typeface="等线" panose="02010600030101010101" pitchFamily="2" charset="-122"/>
              </a:rPr>
              <a:t>采集文件夹中的数据到</a:t>
            </a:r>
            <a:r>
              <a:rPr lang="en-US" altLang="zh-CN" sz="2000" dirty="0">
                <a:latin typeface="等线" panose="02010600030101010101" pitchFamily="2" charset="-122"/>
                <a:cs typeface="等线" panose="02010600030101010101" pitchFamily="2" charset="-122"/>
              </a:rPr>
              <a:t>HDFS</a:t>
            </a:r>
            <a:endParaRPr sz="2000" dirty="0">
              <a:latin typeface="等线" panose="02010600030101010101" pitchFamily="2" charset="-122"/>
              <a:ea typeface="等线" panose="02010600030101010101" pitchFamily="2" charset="-122"/>
              <a:cs typeface="等线" panose="02010600030101010101" pitchFamily="2" charset="-122"/>
            </a:endParaRPr>
          </a:p>
        </p:txBody>
      </p:sp>
    </p:spTree>
    <p:extLst>
      <p:ext uri="{BB962C8B-B14F-4D97-AF65-F5344CB8AC3E}">
        <p14:creationId xmlns:p14="http://schemas.microsoft.com/office/powerpoint/2010/main" val="2424194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143760" y="1677670"/>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数据属性的类型</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3.3</a:t>
            </a:r>
          </a:p>
        </p:txBody>
      </p:sp>
      <p:sp>
        <p:nvSpPr>
          <p:cNvPr id="4" name="文本框 3"/>
          <p:cNvSpPr txBox="1"/>
          <p:nvPr/>
        </p:nvSpPr>
        <p:spPr>
          <a:xfrm>
            <a:off x="2143760" y="2695575"/>
            <a:ext cx="4034155" cy="645160"/>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dirty="0">
                <a:solidFill>
                  <a:schemeClr val="bg1"/>
                </a:solidFill>
                <a:latin typeface="微软雅黑" panose="020B0503020204020204" pitchFamily="34" charset="-122"/>
                <a:ea typeface="微软雅黑" panose="020B0503020204020204" pitchFamily="34" charset="-122"/>
              </a:rPr>
              <a:t>“</a:t>
            </a:r>
            <a:r>
              <a:rPr lang="zh-CN" altLang="en-US" sz="1800" dirty="0">
                <a:solidFill>
                  <a:schemeClr val="bg1"/>
                </a:solidFill>
                <a:latin typeface="微软雅黑" panose="020B0503020204020204" pitchFamily="34" charset="-122"/>
                <a:ea typeface="微软雅黑" panose="020B0503020204020204" pitchFamily="34" charset="-122"/>
              </a:rPr>
              <a:t>属性”的类型</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属性类型的转换</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3.3.1“属性”的类型</a:t>
            </a:r>
          </a:p>
        </p:txBody>
      </p:sp>
      <p:sp>
        <p:nvSpPr>
          <p:cNvPr id="100" name="文本框 99"/>
          <p:cNvSpPr txBox="1"/>
          <p:nvPr/>
        </p:nvSpPr>
        <p:spPr>
          <a:xfrm>
            <a:off x="157480" y="840105"/>
            <a:ext cx="8986520" cy="829945"/>
          </a:xfrm>
          <a:prstGeom prst="rect">
            <a:avLst/>
          </a:prstGeom>
          <a:noFill/>
          <a:ln w="9525">
            <a:noFill/>
          </a:ln>
        </p:spPr>
        <p:txBody>
          <a:bodyPr wrap="square">
            <a:spAutoFit/>
          </a:bodyPr>
          <a:lstStyle/>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所谓“属性”（attribute）是指数据对象的特征（feature），也称为数据字段</a:t>
            </a:r>
            <a:r>
              <a:rPr lang="zh-CN" sz="2000">
                <a:latin typeface="等线" panose="02010600030101010101" pitchFamily="2" charset="-122"/>
                <a:ea typeface="等线" panose="02010600030101010101" pitchFamily="2" charset="-122"/>
                <a:cs typeface="等线" panose="02010600030101010101" pitchFamily="2" charset="-122"/>
              </a:rPr>
              <a:t>。</a:t>
            </a:r>
          </a:p>
          <a:p>
            <a:pPr indent="266700">
              <a:lnSpc>
                <a:spcPct val="120000"/>
              </a:lnSpc>
            </a:pPr>
            <a:r>
              <a:rPr sz="2000">
                <a:latin typeface="等线" panose="02010600030101010101" pitchFamily="2" charset="-122"/>
                <a:ea typeface="等线" panose="02010600030101010101" pitchFamily="2" charset="-122"/>
                <a:cs typeface="等线" panose="02010600030101010101" pitchFamily="2" charset="-122"/>
              </a:rPr>
              <a:t>常见的属性类型可以分为两大类：</a:t>
            </a:r>
            <a:r>
              <a:rPr sz="2000">
                <a:highlight>
                  <a:srgbClr val="FFFF00"/>
                </a:highlight>
                <a:latin typeface="等线" panose="02010600030101010101" pitchFamily="2" charset="-122"/>
                <a:ea typeface="等线" panose="02010600030101010101" pitchFamily="2" charset="-122"/>
                <a:cs typeface="等线" panose="02010600030101010101" pitchFamily="2" charset="-122"/>
              </a:rPr>
              <a:t>定性描述属性</a:t>
            </a:r>
            <a:r>
              <a:rPr sz="2000">
                <a:latin typeface="等线" panose="02010600030101010101" pitchFamily="2" charset="-122"/>
                <a:ea typeface="等线" panose="02010600030101010101" pitchFamily="2" charset="-122"/>
                <a:cs typeface="等线" panose="02010600030101010101" pitchFamily="2" charset="-122"/>
              </a:rPr>
              <a:t>和</a:t>
            </a:r>
            <a:r>
              <a:rPr sz="2000">
                <a:highlight>
                  <a:srgbClr val="FFFF00"/>
                </a:highlight>
                <a:latin typeface="等线" panose="02010600030101010101" pitchFamily="2" charset="-122"/>
                <a:ea typeface="等线" panose="02010600030101010101" pitchFamily="2" charset="-122"/>
                <a:cs typeface="等线" panose="02010600030101010101" pitchFamily="2" charset="-122"/>
              </a:rPr>
              <a:t>定量描述属性</a:t>
            </a:r>
            <a:r>
              <a:rPr sz="2000">
                <a:latin typeface="等线" panose="02010600030101010101" pitchFamily="2" charset="-122"/>
                <a:ea typeface="等线" panose="02010600030101010101" pitchFamily="2" charset="-122"/>
                <a:cs typeface="等线" panose="02010600030101010101" pitchFamily="2" charset="-122"/>
              </a:rPr>
              <a:t>。</a:t>
            </a:r>
          </a:p>
        </p:txBody>
      </p:sp>
      <p:grpSp>
        <p:nvGrpSpPr>
          <p:cNvPr id="16" name="组合 15"/>
          <p:cNvGrpSpPr/>
          <p:nvPr/>
        </p:nvGrpSpPr>
        <p:grpSpPr>
          <a:xfrm>
            <a:off x="720725" y="1807210"/>
            <a:ext cx="8044809" cy="3336290"/>
            <a:chOff x="576" y="2487"/>
            <a:chExt cx="10719" cy="5254"/>
          </a:xfrm>
        </p:grpSpPr>
        <p:sp>
          <p:nvSpPr>
            <p:cNvPr id="5" name="任意多边形: 形状 9"/>
            <p:cNvSpPr/>
            <p:nvPr/>
          </p:nvSpPr>
          <p:spPr>
            <a:xfrm>
              <a:off x="576" y="2487"/>
              <a:ext cx="1397" cy="1996"/>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mn-ea"/>
                  <a:ea typeface="+mn-ea"/>
                </a:rPr>
                <a:t>1</a:t>
              </a:r>
              <a:endParaRPr lang="zh-CN" altLang="en-US" sz="2800" kern="1200" dirty="0">
                <a:latin typeface="+mn-ea"/>
                <a:ea typeface="+mn-ea"/>
              </a:endParaRPr>
            </a:p>
          </p:txBody>
        </p:sp>
        <p:sp>
          <p:nvSpPr>
            <p:cNvPr id="6" name="任意多边形: 形状 10"/>
            <p:cNvSpPr/>
            <p:nvPr/>
          </p:nvSpPr>
          <p:spPr>
            <a:xfrm>
              <a:off x="1973" y="2487"/>
              <a:ext cx="9322" cy="1602"/>
            </a:xfrm>
            <a:custGeom>
              <a:avLst/>
              <a:gdLst>
                <a:gd name="connsiteX0" fmla="*/ 137353 w 824104"/>
                <a:gd name="connsiteY0" fmla="*/ 0 h 5919211"/>
                <a:gd name="connsiteX1" fmla="*/ 686751 w 824104"/>
                <a:gd name="connsiteY1" fmla="*/ 0 h 5919211"/>
                <a:gd name="connsiteX2" fmla="*/ 824104 w 824104"/>
                <a:gd name="connsiteY2" fmla="*/ 137353 h 5919211"/>
                <a:gd name="connsiteX3" fmla="*/ 824104 w 824104"/>
                <a:gd name="connsiteY3" fmla="*/ 5919211 h 5919211"/>
                <a:gd name="connsiteX4" fmla="*/ 824104 w 824104"/>
                <a:gd name="connsiteY4" fmla="*/ 5919211 h 5919211"/>
                <a:gd name="connsiteX5" fmla="*/ 0 w 824104"/>
                <a:gd name="connsiteY5" fmla="*/ 5919211 h 5919211"/>
                <a:gd name="connsiteX6" fmla="*/ 0 w 824104"/>
                <a:gd name="connsiteY6" fmla="*/ 5919211 h 5919211"/>
                <a:gd name="connsiteX7" fmla="*/ 0 w 824104"/>
                <a:gd name="connsiteY7" fmla="*/ 137353 h 5919211"/>
                <a:gd name="connsiteX8" fmla="*/ 137353 w 824104"/>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4104" h="5919211">
                  <a:moveTo>
                    <a:pt x="824104" y="986554"/>
                  </a:moveTo>
                  <a:lnTo>
                    <a:pt x="824104" y="4932657"/>
                  </a:lnTo>
                  <a:cubicBezTo>
                    <a:pt x="824104" y="5477514"/>
                    <a:pt x="815542" y="5919207"/>
                    <a:pt x="804981" y="5919207"/>
                  </a:cubicBezTo>
                  <a:lnTo>
                    <a:pt x="0" y="5919207"/>
                  </a:lnTo>
                  <a:lnTo>
                    <a:pt x="0" y="5919207"/>
                  </a:lnTo>
                  <a:lnTo>
                    <a:pt x="0" y="4"/>
                  </a:lnTo>
                  <a:lnTo>
                    <a:pt x="0" y="4"/>
                  </a:lnTo>
                  <a:lnTo>
                    <a:pt x="804981" y="4"/>
                  </a:lnTo>
                  <a:cubicBezTo>
                    <a:pt x="815542" y="4"/>
                    <a:pt x="824104" y="441697"/>
                    <a:pt x="824104" y="986554"/>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0389" rIns="50389" bIns="50390" numCol="1" spcCol="1270" anchor="ctr" anchorCtr="0">
              <a:noAutofit/>
            </a:bodyPr>
            <a:lstStyle/>
            <a:p>
              <a:pPr marL="0" lvl="1" indent="0" algn="l" defTabSz="711200">
                <a:lnSpc>
                  <a:spcPct val="110000"/>
                </a:lnSpc>
                <a:spcBef>
                  <a:spcPct val="0"/>
                </a:spcBef>
                <a:buNone/>
              </a:pPr>
              <a:r>
                <a:rPr lang="en-US" sz="1600" b="1" kern="1200" dirty="0">
                  <a:latin typeface="等线" panose="02010600030101010101" pitchFamily="2" charset="-122"/>
                  <a:ea typeface="等线" panose="02010600030101010101" pitchFamily="2" charset="-122"/>
                  <a:cs typeface="等线" panose="02010600030101010101" pitchFamily="2" charset="-122"/>
                </a:rPr>
                <a:t>标称属性(nominal attribute)：</a:t>
              </a:r>
              <a:r>
                <a:rPr lang="zh-CN" altLang="en-US" sz="1600" b="1" kern="1200" dirty="0">
                  <a:latin typeface="等线" panose="02010600030101010101" pitchFamily="2" charset="-122"/>
                  <a:ea typeface="等线" panose="02010600030101010101" pitchFamily="2" charset="-122"/>
                  <a:cs typeface="等线" panose="02010600030101010101" pitchFamily="2" charset="-122"/>
                </a:rPr>
                <a:t>：</a:t>
              </a:r>
              <a:r>
                <a:rPr sz="1600" b="1" kern="1200" dirty="0">
                  <a:latin typeface="等线" panose="02010600030101010101" pitchFamily="2" charset="-122"/>
                  <a:ea typeface="等线" panose="02010600030101010101" pitchFamily="2" charset="-122"/>
                  <a:cs typeface="等线" panose="02010600030101010101" pitchFamily="2" charset="-122"/>
                </a:rPr>
                <a:t>是一些符号或事物的名称，每个值代表某种类别、编码或状态。如：性别分类的“男”、“女”；表示颜色的“红”、“黄”、”蓝“等。标称属性也称为“名词属性”、“名义属性”、 “分类属性”等……。</a:t>
              </a:r>
            </a:p>
          </p:txBody>
        </p:sp>
        <p:sp>
          <p:nvSpPr>
            <p:cNvPr id="7" name="任意多边形: 形状 11"/>
            <p:cNvSpPr/>
            <p:nvPr/>
          </p:nvSpPr>
          <p:spPr>
            <a:xfrm>
              <a:off x="576" y="4176"/>
              <a:ext cx="1397" cy="1996"/>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mn-ea"/>
                  <a:ea typeface="+mn-ea"/>
                </a:rPr>
                <a:t>2</a:t>
              </a:r>
              <a:endParaRPr lang="zh-CN" altLang="en-US" sz="2800" kern="1200" dirty="0">
                <a:latin typeface="+mn-ea"/>
                <a:ea typeface="+mn-ea"/>
              </a:endParaRPr>
            </a:p>
          </p:txBody>
        </p:sp>
        <p:sp>
          <p:nvSpPr>
            <p:cNvPr id="8" name="任意多边形: 形状 12"/>
            <p:cNvSpPr/>
            <p:nvPr/>
          </p:nvSpPr>
          <p:spPr>
            <a:xfrm>
              <a:off x="1973" y="4297"/>
              <a:ext cx="9322" cy="1349"/>
            </a:xfrm>
            <a:custGeom>
              <a:avLst/>
              <a:gdLst>
                <a:gd name="connsiteX0" fmla="*/ 137281 w 823671"/>
                <a:gd name="connsiteY0" fmla="*/ 0 h 5919211"/>
                <a:gd name="connsiteX1" fmla="*/ 686390 w 823671"/>
                <a:gd name="connsiteY1" fmla="*/ 0 h 5919211"/>
                <a:gd name="connsiteX2" fmla="*/ 823671 w 823671"/>
                <a:gd name="connsiteY2" fmla="*/ 137281 h 5919211"/>
                <a:gd name="connsiteX3" fmla="*/ 823671 w 823671"/>
                <a:gd name="connsiteY3" fmla="*/ 5919211 h 5919211"/>
                <a:gd name="connsiteX4" fmla="*/ 823671 w 823671"/>
                <a:gd name="connsiteY4" fmla="*/ 5919211 h 5919211"/>
                <a:gd name="connsiteX5" fmla="*/ 0 w 823671"/>
                <a:gd name="connsiteY5" fmla="*/ 5919211 h 5919211"/>
                <a:gd name="connsiteX6" fmla="*/ 0 w 823671"/>
                <a:gd name="connsiteY6" fmla="*/ 5919211 h 5919211"/>
                <a:gd name="connsiteX7" fmla="*/ 0 w 823671"/>
                <a:gd name="connsiteY7" fmla="*/ 137281 h 5919211"/>
                <a:gd name="connsiteX8" fmla="*/ 137281 w 823671"/>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3671" h="5919211">
                  <a:moveTo>
                    <a:pt x="823671" y="986556"/>
                  </a:moveTo>
                  <a:lnTo>
                    <a:pt x="823671" y="4932655"/>
                  </a:lnTo>
                  <a:cubicBezTo>
                    <a:pt x="823671" y="5477512"/>
                    <a:pt x="815118" y="5919207"/>
                    <a:pt x="804568" y="5919207"/>
                  </a:cubicBezTo>
                  <a:lnTo>
                    <a:pt x="0" y="5919207"/>
                  </a:lnTo>
                  <a:lnTo>
                    <a:pt x="0" y="5919207"/>
                  </a:lnTo>
                  <a:lnTo>
                    <a:pt x="0" y="4"/>
                  </a:lnTo>
                  <a:lnTo>
                    <a:pt x="0" y="4"/>
                  </a:lnTo>
                  <a:lnTo>
                    <a:pt x="804568" y="4"/>
                  </a:lnTo>
                  <a:cubicBezTo>
                    <a:pt x="815118" y="4"/>
                    <a:pt x="823671" y="441699"/>
                    <a:pt x="823671"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2" tIns="50368" rIns="50368" bIns="50368" numCol="1" spcCol="1270" anchor="ctr" anchorCtr="0">
              <a:noAutofit/>
            </a:bodyPr>
            <a:lstStyle/>
            <a:p>
              <a:pPr marL="0" lvl="1" indent="0" algn="l" defTabSz="711200">
                <a:lnSpc>
                  <a:spcPct val="90000"/>
                </a:lnSpc>
                <a:spcBef>
                  <a:spcPct val="0"/>
                </a:spcBef>
                <a:spcAft>
                  <a:spcPct val="15000"/>
                </a:spcAft>
                <a:buNone/>
              </a:pPr>
              <a:r>
                <a:rPr sz="1600" b="1" dirty="0">
                  <a:latin typeface="等线" panose="02010600030101010101" pitchFamily="2" charset="-122"/>
                  <a:ea typeface="等线" panose="02010600030101010101" pitchFamily="2" charset="-122"/>
                  <a:cs typeface="等线" panose="02010600030101010101" pitchFamily="2" charset="-122"/>
                </a:rPr>
                <a:t>二元属性(binary attribute)：只有两个值或状态：0或1，又可以称为布尔属性（值为true 或false）。</a:t>
              </a:r>
            </a:p>
          </p:txBody>
        </p:sp>
        <p:sp>
          <p:nvSpPr>
            <p:cNvPr id="14" name="任意多边形: 形状 13"/>
            <p:cNvSpPr/>
            <p:nvPr/>
          </p:nvSpPr>
          <p:spPr>
            <a:xfrm>
              <a:off x="576" y="5964"/>
              <a:ext cx="1397" cy="1777"/>
            </a:xfrm>
            <a:custGeom>
              <a:avLst/>
              <a:gdLst>
                <a:gd name="connsiteX0" fmla="*/ 0 w 1267187"/>
                <a:gd name="connsiteY0" fmla="*/ 0 h 887030"/>
                <a:gd name="connsiteX1" fmla="*/ 823672 w 1267187"/>
                <a:gd name="connsiteY1" fmla="*/ 0 h 887030"/>
                <a:gd name="connsiteX2" fmla="*/ 1267187 w 1267187"/>
                <a:gd name="connsiteY2" fmla="*/ 443515 h 887030"/>
                <a:gd name="connsiteX3" fmla="*/ 823672 w 1267187"/>
                <a:gd name="connsiteY3" fmla="*/ 887030 h 887030"/>
                <a:gd name="connsiteX4" fmla="*/ 0 w 1267187"/>
                <a:gd name="connsiteY4" fmla="*/ 887030 h 887030"/>
                <a:gd name="connsiteX5" fmla="*/ 443515 w 1267187"/>
                <a:gd name="connsiteY5" fmla="*/ 443515 h 887030"/>
                <a:gd name="connsiteX6" fmla="*/ 0 w 1267187"/>
                <a:gd name="connsiteY6" fmla="*/ 0 h 88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7187" h="887030">
                  <a:moveTo>
                    <a:pt x="1267186" y="0"/>
                  </a:moveTo>
                  <a:lnTo>
                    <a:pt x="1267186" y="576570"/>
                  </a:lnTo>
                  <a:lnTo>
                    <a:pt x="633594" y="887030"/>
                  </a:lnTo>
                  <a:lnTo>
                    <a:pt x="1" y="576570"/>
                  </a:lnTo>
                  <a:lnTo>
                    <a:pt x="1" y="0"/>
                  </a:lnTo>
                  <a:lnTo>
                    <a:pt x="633594" y="310460"/>
                  </a:lnTo>
                  <a:lnTo>
                    <a:pt x="1267186" y="0"/>
                  </a:lnTo>
                  <a:close/>
                </a:path>
              </a:pathLst>
            </a:custGeom>
            <a:solidFill>
              <a:srgbClr val="3D89BC"/>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7781" tIns="461295" rIns="17780" bIns="461296"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latin typeface="+mn-ea"/>
                  <a:ea typeface="+mn-ea"/>
                </a:rPr>
                <a:t>3</a:t>
              </a:r>
              <a:endParaRPr lang="zh-CN" altLang="en-US" sz="2800" kern="1200" dirty="0">
                <a:latin typeface="+mn-ea"/>
                <a:ea typeface="+mn-ea"/>
              </a:endParaRPr>
            </a:p>
          </p:txBody>
        </p:sp>
        <p:sp>
          <p:nvSpPr>
            <p:cNvPr id="9" name="任意多边形: 形状 14"/>
            <p:cNvSpPr/>
            <p:nvPr/>
          </p:nvSpPr>
          <p:spPr>
            <a:xfrm>
              <a:off x="1972" y="5864"/>
              <a:ext cx="9322" cy="1497"/>
            </a:xfrm>
            <a:custGeom>
              <a:avLst/>
              <a:gdLst>
                <a:gd name="connsiteX0" fmla="*/ 158410 w 950442"/>
                <a:gd name="connsiteY0" fmla="*/ 0 h 5919211"/>
                <a:gd name="connsiteX1" fmla="*/ 792032 w 950442"/>
                <a:gd name="connsiteY1" fmla="*/ 0 h 5919211"/>
                <a:gd name="connsiteX2" fmla="*/ 950442 w 950442"/>
                <a:gd name="connsiteY2" fmla="*/ 158410 h 5919211"/>
                <a:gd name="connsiteX3" fmla="*/ 950442 w 950442"/>
                <a:gd name="connsiteY3" fmla="*/ 5919211 h 5919211"/>
                <a:gd name="connsiteX4" fmla="*/ 950442 w 950442"/>
                <a:gd name="connsiteY4" fmla="*/ 5919211 h 5919211"/>
                <a:gd name="connsiteX5" fmla="*/ 0 w 950442"/>
                <a:gd name="connsiteY5" fmla="*/ 5919211 h 5919211"/>
                <a:gd name="connsiteX6" fmla="*/ 0 w 950442"/>
                <a:gd name="connsiteY6" fmla="*/ 5919211 h 5919211"/>
                <a:gd name="connsiteX7" fmla="*/ 0 w 950442"/>
                <a:gd name="connsiteY7" fmla="*/ 158410 h 5919211"/>
                <a:gd name="connsiteX8" fmla="*/ 158410 w 950442"/>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442" h="5919211">
                  <a:moveTo>
                    <a:pt x="950442" y="986556"/>
                  </a:moveTo>
                  <a:lnTo>
                    <a:pt x="950442" y="4932655"/>
                  </a:lnTo>
                  <a:cubicBezTo>
                    <a:pt x="950442" y="5477510"/>
                    <a:pt x="939054" y="5919208"/>
                    <a:pt x="925006" y="5919208"/>
                  </a:cubicBezTo>
                  <a:lnTo>
                    <a:pt x="0" y="5919208"/>
                  </a:lnTo>
                  <a:lnTo>
                    <a:pt x="0" y="5919208"/>
                  </a:lnTo>
                  <a:lnTo>
                    <a:pt x="0" y="3"/>
                  </a:lnTo>
                  <a:lnTo>
                    <a:pt x="0" y="3"/>
                  </a:lnTo>
                  <a:lnTo>
                    <a:pt x="925006" y="3"/>
                  </a:lnTo>
                  <a:cubicBezTo>
                    <a:pt x="939054" y="3"/>
                    <a:pt x="950442" y="441701"/>
                    <a:pt x="950442" y="986556"/>
                  </a:cubicBezTo>
                  <a:close/>
                </a:path>
              </a:pathLst>
            </a:custGeom>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6557" rIns="56557" bIns="56558" numCol="1" spcCol="1270" anchor="ctr" anchorCtr="0">
              <a:noAutofit/>
            </a:bodyPr>
            <a:lstStyle/>
            <a:p>
              <a:pPr marL="0" lvl="1" indent="0" algn="l" defTabSz="711200">
                <a:lnSpc>
                  <a:spcPct val="90000"/>
                </a:lnSpc>
                <a:spcBef>
                  <a:spcPct val="0"/>
                </a:spcBef>
                <a:spcAft>
                  <a:spcPct val="15000"/>
                </a:spcAft>
                <a:buNone/>
              </a:pPr>
              <a:r>
                <a:rPr sz="1600" b="1" dirty="0">
                  <a:latin typeface="等线" panose="02010600030101010101" pitchFamily="2" charset="-122"/>
                  <a:ea typeface="等线" panose="02010600030101010101" pitchFamily="2" charset="-122"/>
                  <a:cs typeface="等线" panose="02010600030101010101" pitchFamily="2" charset="-122"/>
                </a:rPr>
                <a:t>序值属性(ordinal attribute)：其可能的值之间具有有意义的序或秩评定。如成绩｛“差”、“中”、“良”、“优”｝。</a:t>
              </a:r>
            </a:p>
          </p:txBody>
        </p:sp>
      </p:grpSp>
      <p:sp>
        <p:nvSpPr>
          <p:cNvPr id="17" name="文本框 16"/>
          <p:cNvSpPr txBox="1"/>
          <p:nvPr/>
        </p:nvSpPr>
        <p:spPr>
          <a:xfrm>
            <a:off x="217805" y="2362835"/>
            <a:ext cx="436880" cy="1938020"/>
          </a:xfrm>
          <a:prstGeom prst="rect">
            <a:avLst/>
          </a:prstGeom>
          <a:noFill/>
        </p:spPr>
        <p:txBody>
          <a:bodyPr wrap="none" rtlCol="0" anchor="t">
            <a:spAutoFit/>
          </a:bodyPr>
          <a:lstStyle/>
          <a:p>
            <a:r>
              <a:rPr sz="2000">
                <a:highlight>
                  <a:srgbClr val="FFFF00"/>
                </a:highlight>
                <a:sym typeface="+mn-ea"/>
              </a:rPr>
              <a:t>定</a:t>
            </a:r>
          </a:p>
          <a:p>
            <a:r>
              <a:rPr sz="2000">
                <a:highlight>
                  <a:srgbClr val="FFFF00"/>
                </a:highlight>
                <a:sym typeface="+mn-ea"/>
              </a:rPr>
              <a:t>性</a:t>
            </a:r>
          </a:p>
          <a:p>
            <a:r>
              <a:rPr sz="2000">
                <a:highlight>
                  <a:srgbClr val="FFFF00"/>
                </a:highlight>
                <a:sym typeface="+mn-ea"/>
              </a:rPr>
              <a:t>描</a:t>
            </a:r>
          </a:p>
          <a:p>
            <a:r>
              <a:rPr sz="2000">
                <a:highlight>
                  <a:srgbClr val="FFFF00"/>
                </a:highlight>
                <a:sym typeface="+mn-ea"/>
              </a:rPr>
              <a:t>述</a:t>
            </a:r>
          </a:p>
          <a:p>
            <a:r>
              <a:rPr sz="2000">
                <a:highlight>
                  <a:srgbClr val="FFFF00"/>
                </a:highlight>
                <a:sym typeface="+mn-ea"/>
              </a:rPr>
              <a:t>属</a:t>
            </a:r>
          </a:p>
          <a:p>
            <a:r>
              <a:rPr sz="2000">
                <a:highlight>
                  <a:srgbClr val="FFFF00"/>
                </a:highlight>
                <a:sym typeface="+mn-ea"/>
              </a:rPr>
              <a:t>性</a:t>
            </a:r>
            <a:endParaRPr lang="zh-CN" altLang="en-US" sz="2000">
              <a:highlight>
                <a:srgbClr val="FFFF00"/>
              </a:highlight>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3.3.1“属性”的类型</a:t>
            </a:r>
          </a:p>
        </p:txBody>
      </p:sp>
      <p:sp>
        <p:nvSpPr>
          <p:cNvPr id="6" name="任意多边形: 形状 10"/>
          <p:cNvSpPr/>
          <p:nvPr/>
        </p:nvSpPr>
        <p:spPr>
          <a:xfrm>
            <a:off x="624840" y="1379855"/>
            <a:ext cx="8280400" cy="2019300"/>
          </a:xfrm>
          <a:custGeom>
            <a:avLst/>
            <a:gdLst>
              <a:gd name="connsiteX0" fmla="*/ 137353 w 824104"/>
              <a:gd name="connsiteY0" fmla="*/ 0 h 5919211"/>
              <a:gd name="connsiteX1" fmla="*/ 686751 w 824104"/>
              <a:gd name="connsiteY1" fmla="*/ 0 h 5919211"/>
              <a:gd name="connsiteX2" fmla="*/ 824104 w 824104"/>
              <a:gd name="connsiteY2" fmla="*/ 137353 h 5919211"/>
              <a:gd name="connsiteX3" fmla="*/ 824104 w 824104"/>
              <a:gd name="connsiteY3" fmla="*/ 5919211 h 5919211"/>
              <a:gd name="connsiteX4" fmla="*/ 824104 w 824104"/>
              <a:gd name="connsiteY4" fmla="*/ 5919211 h 5919211"/>
              <a:gd name="connsiteX5" fmla="*/ 0 w 824104"/>
              <a:gd name="connsiteY5" fmla="*/ 5919211 h 5919211"/>
              <a:gd name="connsiteX6" fmla="*/ 0 w 824104"/>
              <a:gd name="connsiteY6" fmla="*/ 5919211 h 5919211"/>
              <a:gd name="connsiteX7" fmla="*/ 0 w 824104"/>
              <a:gd name="connsiteY7" fmla="*/ 137353 h 5919211"/>
              <a:gd name="connsiteX8" fmla="*/ 137353 w 824104"/>
              <a:gd name="connsiteY8" fmla="*/ 0 h 591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4104" h="5919211">
                <a:moveTo>
                  <a:pt x="824104" y="986554"/>
                </a:moveTo>
                <a:lnTo>
                  <a:pt x="824104" y="4932657"/>
                </a:lnTo>
                <a:cubicBezTo>
                  <a:pt x="824104" y="5477514"/>
                  <a:pt x="815542" y="5919207"/>
                  <a:pt x="804981" y="5919207"/>
                </a:cubicBezTo>
                <a:lnTo>
                  <a:pt x="0" y="5919207"/>
                </a:lnTo>
                <a:lnTo>
                  <a:pt x="0" y="5919207"/>
                </a:lnTo>
                <a:lnTo>
                  <a:pt x="0" y="4"/>
                </a:lnTo>
                <a:lnTo>
                  <a:pt x="0" y="4"/>
                </a:lnTo>
                <a:lnTo>
                  <a:pt x="804981" y="4"/>
                </a:lnTo>
                <a:cubicBezTo>
                  <a:pt x="815542" y="4"/>
                  <a:pt x="824104" y="441697"/>
                  <a:pt x="824104" y="986554"/>
                </a:cubicBezTo>
                <a:close/>
              </a:path>
            </a:pathLst>
          </a:custGeom>
          <a:noFill/>
          <a:ln>
            <a:noFill/>
          </a:ln>
          <a:extLst>
            <a:ext uri="{909E8E84-426E-40DD-AFC4-6F175D3DCCD1}">
              <a14:hiddenFill xmlns:a14="http://schemas.microsoft.com/office/drawing/2010/main">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14:hiddenFill>
            </a:ext>
          </a:extLst>
        </p:spPr>
        <p:style>
          <a:lnRef idx="1">
            <a:schemeClr val="accent1"/>
          </a:lnRef>
          <a:fillRef idx="2">
            <a:schemeClr val="accent1"/>
          </a:fillRef>
          <a:effectRef idx="1">
            <a:schemeClr val="accent1"/>
          </a:effectRef>
          <a:fontRef idx="minor">
            <a:schemeClr val="dk1">
              <a:hueOff val="0"/>
              <a:satOff val="0"/>
              <a:lumOff val="0"/>
              <a:alphaOff val="0"/>
            </a:schemeClr>
          </a:fontRef>
        </p:style>
        <p:txBody>
          <a:bodyPr spcFirstLastPara="0" vert="horz" wrap="square" lIns="113793" tIns="50389" rIns="50389" bIns="50390" numCol="1" spcCol="1270" anchor="ctr" anchorCtr="0">
            <a:noAutofit/>
          </a:bodyPr>
          <a:lstStyle/>
          <a:p>
            <a:pPr marL="0" lvl="1" indent="0" algn="l" defTabSz="711200">
              <a:lnSpc>
                <a:spcPct val="130000"/>
              </a:lnSpc>
              <a:spcBef>
                <a:spcPts val="0"/>
              </a:spcBef>
              <a:spcAft>
                <a:spcPts val="0"/>
              </a:spcAft>
              <a:buNone/>
            </a:pPr>
            <a:r>
              <a:rPr lang="en-US" sz="2000" kern="1200" dirty="0">
                <a:latin typeface="等线" panose="02010600030101010101" pitchFamily="2" charset="-122"/>
                <a:ea typeface="等线" panose="02010600030101010101" pitchFamily="2" charset="-122"/>
              </a:rPr>
              <a:t>       </a:t>
            </a:r>
            <a:r>
              <a:rPr sz="2000" dirty="0" err="1">
                <a:highlight>
                  <a:srgbClr val="FFFF00"/>
                </a:highlight>
                <a:latin typeface="等线" panose="02010600030101010101" pitchFamily="2" charset="-122"/>
                <a:ea typeface="等线" panose="02010600030101010101" pitchFamily="2" charset="-122"/>
                <a:cs typeface="等线" panose="02010600030101010101" pitchFamily="2" charset="-122"/>
                <a:sym typeface="+mn-ea"/>
              </a:rPr>
              <a:t>定量描述属性</a:t>
            </a:r>
            <a:r>
              <a:rPr sz="2000" kern="1200" dirty="0" err="1">
                <a:latin typeface="等线" panose="02010600030101010101" pitchFamily="2" charset="-122"/>
                <a:ea typeface="等线" panose="02010600030101010101" pitchFamily="2" charset="-122"/>
              </a:rPr>
              <a:t>是描述数据对象属性的数值大小，如长度、速度、半径等的数量值，定量属性有</a:t>
            </a:r>
            <a:r>
              <a:rPr sz="2000" dirty="0" err="1">
                <a:highlight>
                  <a:srgbClr val="FFFF00"/>
                </a:highlight>
                <a:latin typeface="等线" panose="02010600030101010101" pitchFamily="2" charset="-122"/>
                <a:ea typeface="等线" panose="02010600030101010101" pitchFamily="2" charset="-122"/>
              </a:rPr>
              <a:t>整数</a:t>
            </a:r>
            <a:r>
              <a:rPr sz="2000" kern="1200" dirty="0" err="1">
                <a:latin typeface="等线" panose="02010600030101010101" pitchFamily="2" charset="-122"/>
                <a:ea typeface="等线" panose="02010600030101010101" pitchFamily="2" charset="-122"/>
              </a:rPr>
              <a:t>（离散）和</a:t>
            </a:r>
            <a:r>
              <a:rPr sz="2000" dirty="0" err="1">
                <a:highlight>
                  <a:srgbClr val="FFFF00"/>
                </a:highlight>
                <a:latin typeface="等线" panose="02010600030101010101" pitchFamily="2" charset="-122"/>
                <a:ea typeface="等线" panose="02010600030101010101" pitchFamily="2" charset="-122"/>
              </a:rPr>
              <a:t>浮点数</a:t>
            </a:r>
            <a:r>
              <a:rPr sz="2000" kern="1200" dirty="0" err="1">
                <a:latin typeface="等线" panose="02010600030101010101" pitchFamily="2" charset="-122"/>
                <a:ea typeface="等线" panose="02010600030101010101" pitchFamily="2" charset="-122"/>
              </a:rPr>
              <a:t>（连续）两种形式</a:t>
            </a:r>
            <a:r>
              <a:rPr sz="2000" kern="1200" dirty="0">
                <a:latin typeface="等线" panose="02010600030101010101" pitchFamily="2" charset="-122"/>
                <a:ea typeface="等线" panose="02010600030101010101" pitchFamily="2" charset="-122"/>
              </a:rPr>
              <a:t>。</a:t>
            </a:r>
          </a:p>
          <a:p>
            <a:pPr marL="0" lvl="1" indent="0" algn="l" defTabSz="711200">
              <a:lnSpc>
                <a:spcPct val="130000"/>
              </a:lnSpc>
              <a:spcBef>
                <a:spcPts val="0"/>
              </a:spcBef>
              <a:spcAft>
                <a:spcPts val="0"/>
              </a:spcAft>
              <a:buNone/>
            </a:pPr>
            <a:r>
              <a:rPr lang="en-US" sz="2000" dirty="0">
                <a:latin typeface="等线" panose="02010600030101010101" pitchFamily="2" charset="-122"/>
                <a:ea typeface="等线" panose="02010600030101010101" pitchFamily="2" charset="-122"/>
                <a:sym typeface="+mn-ea"/>
              </a:rPr>
              <a:t>       </a:t>
            </a:r>
            <a:r>
              <a:rPr sz="2000" dirty="0">
                <a:latin typeface="等线" panose="02010600030101010101" pitchFamily="2" charset="-122"/>
                <a:ea typeface="等线" panose="02010600030101010101" pitchFamily="2" charset="-122"/>
                <a:sym typeface="+mn-ea"/>
              </a:rPr>
              <a:t>实际上，在许多真实的数据集中，对象通常是混合类型的变量，一个数据集可能包含上面列举的多种属性类型。</a:t>
            </a:r>
            <a:endParaRPr sz="2000" dirty="0">
              <a:solidFill>
                <a:schemeClr val="dk1">
                  <a:hueOff val="0"/>
                  <a:satOff val="0"/>
                  <a:lumOff val="0"/>
                  <a:alphaOff val="0"/>
                </a:schemeClr>
              </a:solidFill>
              <a:latin typeface="等线" panose="02010600030101010101" pitchFamily="2" charset="-122"/>
              <a:ea typeface="等线" panose="02010600030101010101" pitchFamily="2" charset="-122"/>
            </a:endParaRPr>
          </a:p>
          <a:p>
            <a:pPr marL="0" lvl="1" indent="0" algn="l" defTabSz="711200">
              <a:lnSpc>
                <a:spcPct val="130000"/>
              </a:lnSpc>
              <a:spcBef>
                <a:spcPts val="0"/>
              </a:spcBef>
              <a:spcAft>
                <a:spcPts val="0"/>
              </a:spcAft>
              <a:buNone/>
            </a:pPr>
            <a:endParaRPr sz="2000" kern="1200" dirty="0">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46793" y="239395"/>
            <a:ext cx="4381392"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3.3.2</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属性类型的转换</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605790" y="889000"/>
            <a:ext cx="7249795" cy="398780"/>
          </a:xfrm>
          <a:prstGeom prst="rect">
            <a:avLst/>
          </a:prstGeom>
          <a:noFill/>
          <a:ln w="9525">
            <a:noFill/>
          </a:ln>
        </p:spPr>
        <p:txBody>
          <a:bodyPr wrap="square">
            <a:spAutoFit/>
          </a:bodyPr>
          <a:lstStyle/>
          <a:p>
            <a:pPr indent="266700"/>
            <a:r>
              <a:rPr lang="en-US" altLang="zh-CN" sz="2000" b="0">
                <a:ea typeface="等线" panose="02010600030101010101" pitchFamily="2" charset="-122"/>
              </a:rPr>
              <a:t> </a:t>
            </a:r>
            <a:r>
              <a:rPr lang="zh-CN" sz="2000" b="1">
                <a:ea typeface="等线" panose="02010600030101010101" pitchFamily="2" charset="-122"/>
              </a:rPr>
              <a:t>1.标称属性(nominal attribute)的数值化编码</a:t>
            </a:r>
          </a:p>
        </p:txBody>
      </p:sp>
      <p:sp>
        <p:nvSpPr>
          <p:cNvPr id="3" name="文本框 2"/>
          <p:cNvSpPr txBox="1"/>
          <p:nvPr/>
        </p:nvSpPr>
        <p:spPr>
          <a:xfrm>
            <a:off x="700405" y="1351915"/>
            <a:ext cx="8145145" cy="2861424"/>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dirty="0">
                <a:ea typeface="等线" panose="02010600030101010101" pitchFamily="2" charset="-122"/>
              </a:rPr>
              <a:t> </a:t>
            </a:r>
            <a:r>
              <a:rPr lang="zh-CN" sz="2000" dirty="0">
                <a:ea typeface="等线" panose="02010600030101010101" pitchFamily="2" charset="-122"/>
              </a:rPr>
              <a:t>最常用的是One-Hot Encoder（热独编码）和Label Encoder（标签编码）两种编码方法。</a:t>
            </a:r>
          </a:p>
          <a:p>
            <a:pPr indent="266700">
              <a:lnSpc>
                <a:spcPct val="130000"/>
              </a:lnSpc>
              <a:spcBef>
                <a:spcPts val="0"/>
              </a:spcBef>
              <a:spcAft>
                <a:spcPts val="0"/>
              </a:spcAft>
            </a:pPr>
            <a:r>
              <a:rPr lang="zh-CN" sz="2000" dirty="0">
                <a:ea typeface="等线" panose="02010600030101010101" pitchFamily="2" charset="-122"/>
              </a:rPr>
              <a:t>One-Hot Encoder（热独编码）又称为一位有效编码，主要是采用N位状态寄存器（有0和1两个状态）来对数据的N个状态进行编码。如</a:t>
            </a:r>
            <a:r>
              <a:rPr lang="zh-CN" altLang="en-US" sz="2000" dirty="0">
                <a:ea typeface="等线" panose="02010600030101010101" pitchFamily="2" charset="-122"/>
              </a:rPr>
              <a:t>下</a:t>
            </a:r>
            <a:r>
              <a:rPr lang="zh-CN" sz="2000" dirty="0">
                <a:ea typeface="等线" panose="02010600030101010101" pitchFamily="2" charset="-122"/>
              </a:rPr>
              <a:t>表 所示，“公司名”属性的每个值被编码为3个属性值（因为该属性有3个不同的值：Toyata、Honda和VM），每个数据转换后只有一个属性为1，其他为0。</a:t>
            </a:r>
          </a:p>
        </p:txBody>
      </p:sp>
      <p:graphicFrame>
        <p:nvGraphicFramePr>
          <p:cNvPr id="5" name="表格 4">
            <a:extLst>
              <a:ext uri="{FF2B5EF4-FFF2-40B4-BE49-F238E27FC236}">
                <a16:creationId xmlns:a16="http://schemas.microsoft.com/office/drawing/2014/main" id="{4A248859-A2F5-4CFE-9AFA-28F470804428}"/>
              </a:ext>
            </a:extLst>
          </p:cNvPr>
          <p:cNvGraphicFramePr/>
          <p:nvPr>
            <p:custDataLst>
              <p:tags r:id="rId1"/>
            </p:custDataLst>
            <p:extLst>
              <p:ext uri="{D42A27DB-BD31-4B8C-83A1-F6EECF244321}">
                <p14:modId xmlns:p14="http://schemas.microsoft.com/office/powerpoint/2010/main" val="1371404539"/>
              </p:ext>
            </p:extLst>
          </p:nvPr>
        </p:nvGraphicFramePr>
        <p:xfrm>
          <a:off x="2505960" y="4163060"/>
          <a:ext cx="3175000" cy="952500"/>
        </p:xfrm>
        <a:graphic>
          <a:graphicData uri="http://schemas.openxmlformats.org/drawingml/2006/table">
            <a:tbl>
              <a:tblPr firstRow="1" bandRow="1">
                <a:tableStyleId>{5940675A-B579-460E-94D1-54222C63F5DA}</a:tableStyleId>
              </a:tblPr>
              <a:tblGrid>
                <a:gridCol w="1346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公司名</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Toyota</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Honda</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VW</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Toyota</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1</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Honda</a:t>
                      </a:r>
                      <a:endParaRPr lang="en-US" altLang="en-US" sz="1000" b="0">
                        <a:latin typeface="等线" panose="02010600030101010101" pitchFamily="2" charset="-122"/>
                        <a:ea typeface="等线" panose="02010600030101010101" pitchFamily="2" charset="-122"/>
                        <a:cs typeface="等线" panose="02010600030101010101" pitchFamily="2" charset="-122"/>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1</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VW</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indent="0" algn="ctr">
                        <a:buNone/>
                      </a:pPr>
                      <a:r>
                        <a:rPr lang="en-US" sz="900" b="0" dirty="0">
                          <a:solidFill>
                            <a:srgbClr val="000000"/>
                          </a:solidFill>
                          <a:latin typeface="Calibri" panose="020F0502020204030204" pitchFamily="34" charset="0"/>
                          <a:cs typeface="Calibri" panose="020F0502020204030204" pitchFamily="34" charset="0"/>
                        </a:rPr>
                        <a:t>1</a:t>
                      </a:r>
                      <a:endParaRPr lang="en-US" altLang="en-US" sz="9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90500">
                <a:tc>
                  <a:txBody>
                    <a:bodyPr/>
                    <a:lstStyle/>
                    <a:p>
                      <a:pPr indent="0">
                        <a:buNone/>
                      </a:pPr>
                      <a:r>
                        <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rPr>
                        <a:t>Honda</a:t>
                      </a:r>
                    </a:p>
                  </a:txBody>
                  <a:tcPr marL="7620" marR="7620" marT="7620"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rPr>
                        <a:t>0</a:t>
                      </a:r>
                      <a:endParaRPr lang="en-US" altLang="en-US" sz="9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237509417"/>
                  </a:ext>
                </a:extLst>
              </a:tr>
            </a:tbl>
          </a:graphicData>
        </a:graphic>
      </p:graphicFrame>
      <p:pic>
        <p:nvPicPr>
          <p:cNvPr id="6" name="图片 5">
            <a:extLst>
              <a:ext uri="{FF2B5EF4-FFF2-40B4-BE49-F238E27FC236}">
                <a16:creationId xmlns:a16="http://schemas.microsoft.com/office/drawing/2014/main" id="{F8093601-CDA3-410F-9ABA-92909799A03F}"/>
              </a:ext>
            </a:extLst>
          </p:cNvPr>
          <p:cNvPicPr/>
          <p:nvPr/>
        </p:nvPicPr>
        <p:blipFill>
          <a:blip r:embed="rId4"/>
          <a:stretch>
            <a:fillRect/>
          </a:stretch>
        </p:blipFill>
        <p:spPr>
          <a:xfrm>
            <a:off x="3068570" y="4614545"/>
            <a:ext cx="742950" cy="247650"/>
          </a:xfrm>
          <a:prstGeom prst="rect">
            <a:avLst/>
          </a:prstGeom>
          <a:noFill/>
          <a:ln w="9525">
            <a:noFill/>
          </a:ln>
        </p:spPr>
      </p:pic>
      <p:sp>
        <p:nvSpPr>
          <p:cNvPr id="7" name="文本框 6">
            <a:extLst>
              <a:ext uri="{FF2B5EF4-FFF2-40B4-BE49-F238E27FC236}">
                <a16:creationId xmlns:a16="http://schemas.microsoft.com/office/drawing/2014/main" id="{D3DCEBB3-29C3-40CB-8182-AA1F7D9C5BEE}"/>
              </a:ext>
            </a:extLst>
          </p:cNvPr>
          <p:cNvSpPr txBox="1"/>
          <p:nvPr/>
        </p:nvSpPr>
        <p:spPr>
          <a:xfrm>
            <a:off x="2761548" y="3930157"/>
            <a:ext cx="2543874" cy="245110"/>
          </a:xfrm>
          <a:prstGeom prst="rect">
            <a:avLst/>
          </a:prstGeom>
          <a:noFill/>
          <a:ln w="9525">
            <a:noFill/>
          </a:ln>
        </p:spPr>
        <p:txBody>
          <a:bodyPr wrap="square">
            <a:spAutoFit/>
          </a:bodyPr>
          <a:lstStyle/>
          <a:p>
            <a:pPr indent="0" algn="ctr"/>
            <a:r>
              <a:rPr lang="zh-CN" sz="1000" dirty="0">
                <a:ea typeface="等线" panose="02010600030101010101" pitchFamily="2" charset="-122"/>
              </a:rPr>
              <a:t>表</a:t>
            </a:r>
            <a:r>
              <a:rPr lang="en-US" sz="1000" dirty="0">
                <a:latin typeface="Cambria Math" panose="02040503050406030204" charset="0"/>
                <a:ea typeface="等线" panose="02010600030101010101" pitchFamily="2" charset="-122"/>
                <a:cs typeface="Times New Roman" panose="02020603050405020304" pitchFamily="18" charset="0"/>
              </a:rPr>
              <a:t> </a:t>
            </a:r>
            <a:r>
              <a:rPr lang="zh-CN" altLang="en-US" sz="1000" dirty="0">
                <a:latin typeface="Cambria Math" panose="02040503050406030204" charset="0"/>
                <a:ea typeface="等线" panose="02010600030101010101" pitchFamily="2" charset="-122"/>
                <a:cs typeface="Times New Roman" panose="02020603050405020304" pitchFamily="18" charset="0"/>
              </a:rPr>
              <a:t>：</a:t>
            </a:r>
            <a:r>
              <a:rPr lang="en-US" sz="1000" dirty="0">
                <a:latin typeface="Cambria Math" panose="02040503050406030204" charset="0"/>
                <a:ea typeface="等线" panose="02010600030101010101" pitchFamily="2" charset="-122"/>
                <a:cs typeface="Times New Roman" panose="02020603050405020304" pitchFamily="18" charset="0"/>
              </a:rPr>
              <a:t> One-Hot Encoder</a:t>
            </a:r>
            <a:r>
              <a:rPr lang="zh-CN" sz="1000" dirty="0">
                <a:ea typeface="等线" panose="02010600030101010101" pitchFamily="2" charset="-122"/>
              </a:rPr>
              <a:t>示例</a:t>
            </a:r>
            <a:endParaRPr lang="zh-CN" altLang="en-US" sz="1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3.3.2属性类型的转换</a:t>
            </a:r>
          </a:p>
        </p:txBody>
      </p:sp>
      <p:sp>
        <p:nvSpPr>
          <p:cNvPr id="3" name="文本框 2"/>
          <p:cNvSpPr txBox="1"/>
          <p:nvPr/>
        </p:nvSpPr>
        <p:spPr>
          <a:xfrm>
            <a:off x="338454" y="1076325"/>
            <a:ext cx="7985949" cy="206120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0" dirty="0">
                <a:ea typeface="等线" panose="02010600030101010101" pitchFamily="2" charset="-122"/>
              </a:rPr>
              <a:t> </a:t>
            </a:r>
            <a:r>
              <a:rPr lang="zh-CN" sz="2000" dirty="0">
                <a:ea typeface="等线" panose="02010600030101010101" pitchFamily="2" charset="-122"/>
              </a:rPr>
              <a:t>Label Encoder（标签编码）将标称属性转换成连续的数值型变量，即对不连续的数字或者文本进行编号，对于右上表中的数据运用标签编码的结果如下表 所示。</a:t>
            </a:r>
          </a:p>
          <a:p>
            <a:pPr indent="266700">
              <a:lnSpc>
                <a:spcPct val="130000"/>
              </a:lnSpc>
              <a:spcBef>
                <a:spcPts val="0"/>
              </a:spcBef>
              <a:spcAft>
                <a:spcPts val="0"/>
              </a:spcAft>
            </a:pPr>
            <a:r>
              <a:rPr lang="zh-CN" sz="2000" dirty="0">
                <a:ea typeface="等线" panose="02010600030101010101" pitchFamily="2" charset="-122"/>
              </a:rPr>
              <a:t>可以看出，Label Encoder方法将原本无序的数据变成有序的数值序列，这是Label Encoder方法的明显缺陷。</a:t>
            </a:r>
          </a:p>
        </p:txBody>
      </p:sp>
      <p:graphicFrame>
        <p:nvGraphicFramePr>
          <p:cNvPr id="10" name="表格 9"/>
          <p:cNvGraphicFramePr/>
          <p:nvPr>
            <p:custDataLst>
              <p:tags r:id="rId1"/>
            </p:custDataLst>
            <p:extLst>
              <p:ext uri="{D42A27DB-BD31-4B8C-83A1-F6EECF244321}">
                <p14:modId xmlns:p14="http://schemas.microsoft.com/office/powerpoint/2010/main" val="3622036328"/>
              </p:ext>
            </p:extLst>
          </p:nvPr>
        </p:nvGraphicFramePr>
        <p:xfrm>
          <a:off x="3046985" y="3863312"/>
          <a:ext cx="2603500" cy="762000"/>
        </p:xfrm>
        <a:graphic>
          <a:graphicData uri="http://schemas.openxmlformats.org/drawingml/2006/table">
            <a:tbl>
              <a:tblPr firstRow="1" bandRow="1">
                <a:tableStyleId>{5940675A-B579-460E-94D1-54222C63F5DA}</a:tableStyleId>
              </a:tblPr>
              <a:tblGrid>
                <a:gridCol w="13462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公司名</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公司</a:t>
                      </a:r>
                      <a:r>
                        <a:rPr lang="en-US" sz="900" b="0">
                          <a:solidFill>
                            <a:srgbClr val="000000"/>
                          </a:solidFill>
                          <a:latin typeface="宋体" panose="02010600030101010101" pitchFamily="2" charset="-122"/>
                          <a:ea typeface="宋体" panose="02010600030101010101" pitchFamily="2" charset="-122"/>
                          <a:cs typeface="宋体" panose="02010600030101010101" pitchFamily="2" charset="-122"/>
                        </a:rPr>
                        <a:t>编码</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Toyota</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0</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Honda</a:t>
                      </a:r>
                      <a:endParaRPr lang="en-US" altLang="en-US" sz="1000" b="0">
                        <a:latin typeface="等线" panose="02010600030101010101" pitchFamily="2" charset="-122"/>
                        <a:ea typeface="等线" panose="02010600030101010101" pitchFamily="2" charset="-122"/>
                        <a:cs typeface="等线" panose="02010600030101010101" pitchFamily="2" charset="-122"/>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1</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90500">
                <a:tc>
                  <a:txBody>
                    <a:bodyPr/>
                    <a:lstStyle/>
                    <a:p>
                      <a:pPr indent="0">
                        <a:buNone/>
                      </a:pPr>
                      <a:r>
                        <a:rPr lang="en-US" sz="900" b="0">
                          <a:solidFill>
                            <a:srgbClr val="000000"/>
                          </a:solidFill>
                          <a:latin typeface="Calibri" panose="020F0502020204030204" pitchFamily="34" charset="0"/>
                          <a:cs typeface="Calibri" panose="020F0502020204030204" pitchFamily="34" charset="0"/>
                        </a:rPr>
                        <a:t>VW</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indent="0" algn="ctr">
                        <a:buNone/>
                      </a:pPr>
                      <a:r>
                        <a:rPr lang="en-US" sz="900" b="0">
                          <a:solidFill>
                            <a:srgbClr val="000000"/>
                          </a:solidFill>
                          <a:latin typeface="Calibri" panose="020F0502020204030204" pitchFamily="34" charset="0"/>
                          <a:cs typeface="Calibri" panose="020F0502020204030204" pitchFamily="34" charset="0"/>
                        </a:rPr>
                        <a:t>2</a:t>
                      </a:r>
                      <a:endParaRPr lang="en-US" altLang="en-US" sz="9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pic>
        <p:nvPicPr>
          <p:cNvPr id="11" name="图片 10"/>
          <p:cNvPicPr/>
          <p:nvPr/>
        </p:nvPicPr>
        <p:blipFill>
          <a:blip r:embed="rId4"/>
          <a:stretch>
            <a:fillRect/>
          </a:stretch>
        </p:blipFill>
        <p:spPr>
          <a:xfrm>
            <a:off x="3498470" y="4228437"/>
            <a:ext cx="742950" cy="247650"/>
          </a:xfrm>
          <a:prstGeom prst="rect">
            <a:avLst/>
          </a:prstGeom>
          <a:noFill/>
          <a:ln w="9525">
            <a:noFill/>
          </a:ln>
        </p:spPr>
      </p:pic>
      <p:sp>
        <p:nvSpPr>
          <p:cNvPr id="12" name="文本框 11"/>
          <p:cNvSpPr txBox="1"/>
          <p:nvPr/>
        </p:nvSpPr>
        <p:spPr>
          <a:xfrm>
            <a:off x="3367072" y="3452490"/>
            <a:ext cx="1743170" cy="245110"/>
          </a:xfrm>
          <a:prstGeom prst="rect">
            <a:avLst/>
          </a:prstGeom>
          <a:noFill/>
          <a:ln w="9525">
            <a:noFill/>
          </a:ln>
        </p:spPr>
        <p:txBody>
          <a:bodyPr wrap="square">
            <a:spAutoFit/>
          </a:bodyPr>
          <a:lstStyle/>
          <a:p>
            <a:pPr indent="0" algn="ctr"/>
            <a:r>
              <a:rPr lang="zh-CN" sz="1000" b="0" dirty="0">
                <a:ea typeface="等线" panose="02010600030101010101" pitchFamily="2" charset="-122"/>
              </a:rPr>
              <a:t>表</a:t>
            </a:r>
            <a:r>
              <a:rPr lang="zh-CN" altLang="en-US" sz="1000" b="0" dirty="0">
                <a:latin typeface="Cambria Math" panose="02040503050406030204" charset="0"/>
                <a:ea typeface="等线" panose="02010600030101010101" pitchFamily="2" charset="-122"/>
                <a:cs typeface="Times New Roman" panose="02020603050405020304" pitchFamily="18" charset="0"/>
              </a:rPr>
              <a:t>：</a:t>
            </a:r>
            <a:r>
              <a:rPr lang="en-US" sz="1000" b="0" dirty="0">
                <a:latin typeface="Cambria Math" panose="02040503050406030204" charset="0"/>
                <a:ea typeface="等线" panose="02010600030101010101" pitchFamily="2" charset="-122"/>
                <a:cs typeface="Times New Roman" panose="02020603050405020304" pitchFamily="18" charset="0"/>
              </a:rPr>
              <a:t> Label Encoder</a:t>
            </a:r>
            <a:r>
              <a:rPr lang="zh-CN" sz="1000" b="0" dirty="0">
                <a:ea typeface="等线" panose="02010600030101010101" pitchFamily="2" charset="-122"/>
              </a:rPr>
              <a:t>示例</a:t>
            </a:r>
            <a:endParaRPr lang="zh-CN" altLang="en-US" sz="1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3.3.2属性类型的转换</a:t>
            </a:r>
          </a:p>
        </p:txBody>
      </p:sp>
      <p:sp>
        <p:nvSpPr>
          <p:cNvPr id="2" name="文本框 1"/>
          <p:cNvSpPr txBox="1"/>
          <p:nvPr/>
        </p:nvSpPr>
        <p:spPr>
          <a:xfrm>
            <a:off x="415290" y="1016635"/>
            <a:ext cx="7249795" cy="398780"/>
          </a:xfrm>
          <a:prstGeom prst="rect">
            <a:avLst/>
          </a:prstGeom>
          <a:noFill/>
          <a:ln w="9525">
            <a:noFill/>
          </a:ln>
        </p:spPr>
        <p:txBody>
          <a:bodyPr wrap="square">
            <a:spAutoFit/>
          </a:bodyPr>
          <a:lstStyle/>
          <a:p>
            <a:pPr indent="266700"/>
            <a:r>
              <a:rPr lang="en-US" altLang="zh-CN" sz="2000" b="0">
                <a:ea typeface="等线" panose="02010600030101010101" pitchFamily="2" charset="-122"/>
              </a:rPr>
              <a:t>  </a:t>
            </a:r>
            <a:r>
              <a:rPr lang="zh-CN" sz="2000" b="1">
                <a:ea typeface="等线" panose="02010600030101010101" pitchFamily="2" charset="-122"/>
              </a:rPr>
              <a:t>2.连续变量的离散化处理</a:t>
            </a:r>
          </a:p>
        </p:txBody>
      </p:sp>
      <p:sp>
        <p:nvSpPr>
          <p:cNvPr id="3" name="文本框 2"/>
          <p:cNvSpPr txBox="1"/>
          <p:nvPr/>
        </p:nvSpPr>
        <p:spPr>
          <a:xfrm>
            <a:off x="518795" y="1449070"/>
            <a:ext cx="8105775" cy="2891790"/>
          </a:xfrm>
          <a:prstGeom prst="rect">
            <a:avLst/>
          </a:prstGeom>
          <a:noFill/>
          <a:ln w="9525">
            <a:noFill/>
          </a:ln>
        </p:spPr>
        <p:txBody>
          <a:bodyPr wrap="square">
            <a:spAutoFit/>
          </a:bodyPr>
          <a:lstStyle/>
          <a:p>
            <a:pPr indent="266700">
              <a:lnSpc>
                <a:spcPct val="130000"/>
              </a:lnSpc>
              <a:spcBef>
                <a:spcPts val="0"/>
              </a:spcBef>
              <a:spcAft>
                <a:spcPts val="0"/>
              </a:spcAft>
            </a:pPr>
            <a:r>
              <a:rPr sz="2000" b="0">
                <a:latin typeface="等线" panose="02010600030101010101" pitchFamily="2" charset="-122"/>
                <a:ea typeface="等线" panose="02010600030101010101" pitchFamily="2" charset="-122"/>
                <a:cs typeface="等线" panose="02010600030101010101" pitchFamily="2" charset="-122"/>
              </a:rPr>
              <a:t>对连续变量离散化处理是把连续量转换为离散值，如某门课程的成绩可以根据分数段，将其转换为：“差”、“中”、“良”、“优”（或： “D”、“C”、“B”、“A”）等。</a:t>
            </a:r>
          </a:p>
          <a:p>
            <a:pPr indent="266700">
              <a:lnSpc>
                <a:spcPct val="130000"/>
              </a:lnSpc>
              <a:spcBef>
                <a:spcPts val="0"/>
              </a:spcBef>
              <a:spcAft>
                <a:spcPts val="0"/>
              </a:spcAft>
            </a:pPr>
            <a:r>
              <a:rPr sz="2000" b="0">
                <a:latin typeface="等线" panose="02010600030101010101" pitchFamily="2" charset="-122"/>
                <a:ea typeface="等线" panose="02010600030101010101" pitchFamily="2" charset="-122"/>
                <a:cs typeface="等线" panose="02010600030101010101" pitchFamily="2" charset="-122"/>
              </a:rPr>
              <a:t>常用的方法有：等宽法、等频法和基于聚类的分析方法等。</a:t>
            </a:r>
          </a:p>
          <a:p>
            <a:pPr indent="266700">
              <a:lnSpc>
                <a:spcPct val="130000"/>
              </a:lnSpc>
              <a:spcBef>
                <a:spcPts val="0"/>
              </a:spcBef>
              <a:spcAft>
                <a:spcPts val="0"/>
              </a:spcAft>
            </a:pPr>
            <a:r>
              <a:rPr sz="2000" b="0">
                <a:latin typeface="等线" panose="02010600030101010101" pitchFamily="2" charset="-122"/>
                <a:ea typeface="等线" panose="02010600030101010101" pitchFamily="2" charset="-122"/>
                <a:cs typeface="等线" panose="02010600030101010101" pitchFamily="2" charset="-122"/>
              </a:rPr>
              <a:t>例如有一组实数（浮点数）的数值在0.0到100.0之间，采用等宽法将数据划分为10个区间，将处于[0.0, 10.0)区间的数转换为1，[10.0, 20.0)区间的数转换为2，以此类推。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97706" y="0"/>
            <a:ext cx="9141291" cy="5143500"/>
          </a:xfrm>
          <a:prstGeom prst="rect">
            <a:avLst/>
          </a:prstGeom>
        </p:spPr>
      </p:pic>
      <p:grpSp>
        <p:nvGrpSpPr>
          <p:cNvPr id="32" name="组合 14"/>
          <p:cNvGrpSpPr/>
          <p:nvPr/>
        </p:nvGrpSpPr>
        <p:grpSpPr bwMode="auto">
          <a:xfrm>
            <a:off x="2143825"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143760" y="1677670"/>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数据预处理</a:t>
            </a:r>
          </a:p>
        </p:txBody>
      </p:sp>
      <p:sp>
        <p:nvSpPr>
          <p:cNvPr id="41" name="文本框 40"/>
          <p:cNvSpPr txBox="1">
            <a:spLocks noChangeArrowheads="1"/>
          </p:cNvSpPr>
          <p:nvPr/>
        </p:nvSpPr>
        <p:spPr bwMode="auto">
          <a:xfrm>
            <a:off x="520569" y="153937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3.4</a:t>
            </a:r>
          </a:p>
        </p:txBody>
      </p:sp>
      <p:sp>
        <p:nvSpPr>
          <p:cNvPr id="4" name="文本框 3"/>
          <p:cNvSpPr txBox="1"/>
          <p:nvPr/>
        </p:nvSpPr>
        <p:spPr>
          <a:xfrm>
            <a:off x="2143760" y="2695575"/>
            <a:ext cx="4034155" cy="119888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数据变换</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数据清洗</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使用OpenRefine清洗数据</a:t>
            </a: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数据集成</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7650"/>
            <a:ext cx="4646930" cy="521970"/>
          </a:xfrm>
          <a:prstGeom prst="rect">
            <a:avLst/>
          </a:prstGeom>
          <a:noFill/>
        </p:spPr>
        <p:txBody>
          <a:bodyPr wrap="square" rtlCol="0">
            <a:spAutoFit/>
          </a:bodyPr>
          <a:lstStyle/>
          <a:p>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3" name="文本框 2"/>
          <p:cNvSpPr txBox="1"/>
          <p:nvPr/>
        </p:nvSpPr>
        <p:spPr>
          <a:xfrm>
            <a:off x="534670" y="1343660"/>
            <a:ext cx="8074660" cy="2091690"/>
          </a:xfrm>
          <a:prstGeom prst="rect">
            <a:avLst/>
          </a:prstGeom>
          <a:noFill/>
          <a:ln w="9525">
            <a:noFill/>
          </a:ln>
        </p:spPr>
        <p:txBody>
          <a:bodyPr wrap="square">
            <a:spAutoFit/>
          </a:bodyPr>
          <a:lstStyle/>
          <a:p>
            <a:pPr indent="266700" algn="l" fontAlgn="auto">
              <a:lnSpc>
                <a:spcPct val="130000"/>
              </a:lnSpc>
              <a:spcBef>
                <a:spcPts val="0"/>
              </a:spcBef>
              <a:spcAft>
                <a:spcPts val="0"/>
              </a:spcAft>
              <a:buClrTx/>
              <a:buSzTx/>
              <a:buNone/>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数据预处理是指在数据进行分析挖掘之前，对原始数据进行变换、清洗与集成等一系列操作。通过数据预处理工作，可以使残缺的数据完整、将错误的数据纠正、多余的数据去除，有效提高数据质量。</a:t>
            </a:r>
          </a:p>
          <a:p>
            <a:pPr indent="266700" algn="l" fontAlgn="auto">
              <a:lnSpc>
                <a:spcPct val="130000"/>
              </a:lnSpc>
              <a:spcBef>
                <a:spcPts val="0"/>
              </a:spcBef>
              <a:spcAft>
                <a:spcPts val="0"/>
              </a:spcAft>
              <a:buClrTx/>
              <a:buSzTx/>
              <a:buNone/>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没有高质量的数据，就没有高质量的数据挖掘结果，低质量的数据会对许多数据挖掘算法有很大的影响，甚至“挖掘”出错误的知识。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3" name="文本框 2"/>
          <p:cNvSpPr txBox="1"/>
          <p:nvPr/>
        </p:nvSpPr>
        <p:spPr>
          <a:xfrm>
            <a:off x="699770" y="1463675"/>
            <a:ext cx="3673475" cy="1691640"/>
          </a:xfrm>
          <a:prstGeom prst="rect">
            <a:avLst/>
          </a:prstGeom>
          <a:noFill/>
          <a:ln w="9525">
            <a:noFill/>
          </a:ln>
        </p:spPr>
        <p:txBody>
          <a:bodyPr wrap="square">
            <a:spAutoFit/>
          </a:bodyPr>
          <a:lstStyle/>
          <a:p>
            <a:pPr indent="266700" algn="l" fontAlgn="auto">
              <a:lnSpc>
                <a:spcPct val="130000"/>
              </a:lnSpc>
              <a:spcBef>
                <a:spcPts val="0"/>
              </a:spcBef>
              <a:spcAft>
                <a:spcPts val="0"/>
              </a:spcAft>
              <a:buClrTx/>
              <a:buSzTx/>
              <a:buNone/>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所谓数据变换，是将数据转换成适当的形式以便更好地理解和处理，常用的数据变换方法如图所示。</a:t>
            </a:r>
          </a:p>
        </p:txBody>
      </p:sp>
      <p:pic>
        <p:nvPicPr>
          <p:cNvPr id="192" name="图片 1"/>
          <p:cNvPicPr>
            <a:picLocks noChangeAspect="1"/>
          </p:cNvPicPr>
          <p:nvPr/>
        </p:nvPicPr>
        <p:blipFill>
          <a:blip r:embed="rId3"/>
          <a:stretch>
            <a:fillRect/>
          </a:stretch>
        </p:blipFill>
        <p:spPr>
          <a:xfrm>
            <a:off x="4828223" y="1389698"/>
            <a:ext cx="2757805" cy="2362835"/>
          </a:xfrm>
          <a:prstGeom prst="rect">
            <a:avLst/>
          </a:prstGeom>
          <a:ln>
            <a:solidFill>
              <a:srgbClr val="0070C0"/>
            </a:solidFill>
          </a:ln>
        </p:spPr>
      </p:pic>
      <p:sp>
        <p:nvSpPr>
          <p:cNvPr id="100" name="文本框 99"/>
          <p:cNvSpPr txBox="1"/>
          <p:nvPr/>
        </p:nvSpPr>
        <p:spPr>
          <a:xfrm>
            <a:off x="3667760" y="385762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常用的数据变换方法</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3" name="文本框 2"/>
          <p:cNvSpPr txBox="1"/>
          <p:nvPr/>
        </p:nvSpPr>
        <p:spPr>
          <a:xfrm>
            <a:off x="497840" y="839470"/>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1.数据归一化</a:t>
            </a:r>
          </a:p>
        </p:txBody>
      </p:sp>
      <p:sp>
        <p:nvSpPr>
          <p:cNvPr id="2" name="文本框 1"/>
          <p:cNvSpPr txBox="1"/>
          <p:nvPr/>
        </p:nvSpPr>
        <p:spPr>
          <a:xfrm>
            <a:off x="497840" y="1238250"/>
            <a:ext cx="8728710" cy="3784600"/>
          </a:xfrm>
          <a:prstGeom prst="rect">
            <a:avLst/>
          </a:prstGeom>
          <a:noFill/>
          <a:ln w="9525">
            <a:noFill/>
          </a:ln>
        </p:spPr>
        <p:txBody>
          <a:bodyPr wrap="square">
            <a:spAutoFit/>
          </a:bodyPr>
          <a:lstStyle/>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数据归一化是将数据变换为[0,1]之间的小数，这样可以把有量纲数据转变为无量纲表示。</a:t>
            </a: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（1）Max-Min归一化方法</a:t>
            </a:r>
          </a:p>
          <a:p>
            <a:pPr indent="266700" fontAlgn="auto">
              <a:lnSpc>
                <a:spcPct val="100000"/>
              </a:lnSpc>
              <a:buClrTx/>
              <a:buSzTx/>
              <a:buNone/>
            </a:pPr>
            <a:r>
              <a:rPr lang="en-US" sz="2000">
                <a:latin typeface="等线" panose="02010600030101010101" pitchFamily="2" charset="-122"/>
                <a:ea typeface="等线" panose="02010600030101010101" pitchFamily="2" charset="-122"/>
                <a:cs typeface="等线" panose="02010600030101010101" pitchFamily="2" charset="-122"/>
              </a:rPr>
              <a:t>  </a:t>
            </a:r>
            <a:r>
              <a:rPr sz="2000">
                <a:latin typeface="等线" panose="02010600030101010101" pitchFamily="2" charset="-122"/>
                <a:ea typeface="等线" panose="02010600030101010101" pitchFamily="2" charset="-122"/>
                <a:cs typeface="等线" panose="02010600030101010101" pitchFamily="2" charset="-122"/>
              </a:rPr>
              <a:t>Max-Min归一化对原始数据进行线性变换，变换后的数据区间为[0,1]。</a:t>
            </a: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 </a:t>
            </a: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  这种标准化方法的适应性非常广泛，它对数据归一化的同时还能较好地保持原有数据分布结构。</a:t>
            </a: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（2）用于稀疏数据的MaxAbs</a:t>
            </a: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MaxAbs根据最大的绝对值进行标准化，变换后的数据区间为[-1,1]。</a:t>
            </a:r>
          </a:p>
          <a:p>
            <a:pPr indent="266700" fontAlgn="auto">
              <a:lnSpc>
                <a:spcPct val="100000"/>
              </a:lnSpc>
              <a:buClrTx/>
              <a:buSzTx/>
              <a:buNone/>
            </a:pPr>
            <a:endParaRPr sz="2000">
              <a:latin typeface="等线" panose="02010600030101010101" pitchFamily="2" charset="-122"/>
              <a:ea typeface="等线" panose="02010600030101010101" pitchFamily="2" charset="-122"/>
              <a:cs typeface="等线" panose="02010600030101010101" pitchFamily="2" charset="-122"/>
            </a:endParaRPr>
          </a:p>
          <a:p>
            <a:pPr indent="266700" fontAlgn="auto">
              <a:lnSpc>
                <a:spcPct val="100000"/>
              </a:lnSpc>
              <a:buClrTx/>
              <a:buSzTx/>
              <a:buNone/>
            </a:pPr>
            <a:r>
              <a:rPr sz="2000">
                <a:latin typeface="等线" panose="02010600030101010101" pitchFamily="2" charset="-122"/>
                <a:ea typeface="等线" panose="02010600030101010101" pitchFamily="2" charset="-122"/>
                <a:cs typeface="等线" panose="02010600030101010101" pitchFamily="2" charset="-122"/>
              </a:rPr>
              <a:t>MaxAbs也具有不破坏原有数据分布结构的特点，可以用于稀疏数据，或者稀疏的CSR或CSC矩阵。</a:t>
            </a:r>
          </a:p>
        </p:txBody>
      </p:sp>
      <p:pic>
        <p:nvPicPr>
          <p:cNvPr id="101" name="图片 100"/>
          <p:cNvPicPr/>
          <p:nvPr/>
        </p:nvPicPr>
        <p:blipFill>
          <a:blip r:embed="rId3"/>
          <a:stretch>
            <a:fillRect/>
          </a:stretch>
        </p:blipFill>
        <p:spPr>
          <a:xfrm>
            <a:off x="3076575" y="2450465"/>
            <a:ext cx="2990850" cy="388620"/>
          </a:xfrm>
          <a:prstGeom prst="rect">
            <a:avLst/>
          </a:prstGeom>
          <a:noFill/>
          <a:ln w="9525">
            <a:noFill/>
          </a:ln>
        </p:spPr>
      </p:pic>
      <p:pic>
        <p:nvPicPr>
          <p:cNvPr id="7" name="图片 6"/>
          <p:cNvPicPr/>
          <p:nvPr/>
        </p:nvPicPr>
        <p:blipFill>
          <a:blip r:embed="rId4"/>
          <a:stretch>
            <a:fillRect/>
          </a:stretch>
        </p:blipFill>
        <p:spPr>
          <a:xfrm>
            <a:off x="3334703" y="3980498"/>
            <a:ext cx="2085975" cy="390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3" name="文本框 2"/>
          <p:cNvSpPr txBox="1"/>
          <p:nvPr/>
        </p:nvSpPr>
        <p:spPr>
          <a:xfrm>
            <a:off x="497840" y="839470"/>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2.数据标准化</a:t>
            </a:r>
          </a:p>
        </p:txBody>
      </p:sp>
      <p:sp>
        <p:nvSpPr>
          <p:cNvPr id="2" name="文本框 1"/>
          <p:cNvSpPr txBox="1"/>
          <p:nvPr/>
        </p:nvSpPr>
        <p:spPr>
          <a:xfrm>
            <a:off x="497840" y="1238250"/>
            <a:ext cx="8728710" cy="2891790"/>
          </a:xfrm>
          <a:prstGeom prst="rect">
            <a:avLst/>
          </a:prstGeom>
          <a:noFill/>
          <a:ln w="9525">
            <a:noFill/>
          </a:ln>
        </p:spPr>
        <p:txBody>
          <a:bodyPr wrap="square">
            <a:spAutoFit/>
          </a:bodyPr>
          <a:lstStyle/>
          <a:p>
            <a:pPr indent="266700" fontAlgn="auto">
              <a:lnSpc>
                <a:spcPct val="130000"/>
              </a:lnSpc>
              <a:spcBef>
                <a:spcPts val="0"/>
              </a:spcBef>
              <a:spcAft>
                <a:spcPts val="0"/>
              </a:spcAft>
              <a:buClrTx/>
              <a:buSzTx/>
              <a:buNone/>
            </a:pPr>
            <a:r>
              <a:rPr sz="2000">
                <a:latin typeface="等线" panose="02010600030101010101" pitchFamily="2" charset="-122"/>
                <a:ea typeface="等线" panose="02010600030101010101" pitchFamily="2" charset="-122"/>
                <a:cs typeface="等线" panose="02010600030101010101" pitchFamily="2" charset="-122"/>
              </a:rPr>
              <a:t>数据标准化的目的是将不同规模和量纲的数据经过处理，缩放到相同的数据区间和范围，以减少规模、特征、分布差异等对模型的影响。</a:t>
            </a:r>
          </a:p>
          <a:p>
            <a:pPr indent="266700" fontAlgn="auto">
              <a:lnSpc>
                <a:spcPct val="130000"/>
              </a:lnSpc>
              <a:spcBef>
                <a:spcPts val="0"/>
              </a:spcBef>
              <a:spcAft>
                <a:spcPts val="0"/>
              </a:spcAft>
              <a:buClrTx/>
              <a:buSzTx/>
              <a:buNone/>
            </a:pPr>
            <a:r>
              <a:rPr sz="2000">
                <a:latin typeface="等线" panose="02010600030101010101" pitchFamily="2" charset="-122"/>
                <a:ea typeface="等线" panose="02010600030101010101" pitchFamily="2" charset="-122"/>
                <a:cs typeface="等线" panose="02010600030101010101" pitchFamily="2" charset="-122"/>
              </a:rPr>
              <a:t>Z-Score标准化可将数据转换成标准正态分布，其转换公式如下：</a:t>
            </a:r>
          </a:p>
          <a:p>
            <a:pPr indent="266700" fontAlgn="auto">
              <a:lnSpc>
                <a:spcPct val="130000"/>
              </a:lnSpc>
              <a:spcBef>
                <a:spcPts val="0"/>
              </a:spcBef>
              <a:spcAft>
                <a:spcPts val="0"/>
              </a:spcAft>
              <a:buClrTx/>
              <a:buSzTx/>
              <a:buNone/>
            </a:pPr>
            <a:endParaRPr sz="2000">
              <a:latin typeface="等线" panose="02010600030101010101" pitchFamily="2" charset="-122"/>
              <a:ea typeface="等线" panose="02010600030101010101" pitchFamily="2" charset="-122"/>
              <a:cs typeface="等线" panose="02010600030101010101" pitchFamily="2" charset="-122"/>
            </a:endParaRPr>
          </a:p>
          <a:p>
            <a:pPr indent="266700" fontAlgn="auto">
              <a:lnSpc>
                <a:spcPct val="130000"/>
              </a:lnSpc>
              <a:spcBef>
                <a:spcPts val="0"/>
              </a:spcBef>
              <a:spcAft>
                <a:spcPts val="0"/>
              </a:spcAft>
              <a:buClrTx/>
              <a:buSzTx/>
              <a:buNone/>
            </a:pPr>
            <a:r>
              <a:rPr sz="2000">
                <a:latin typeface="等线" panose="02010600030101010101" pitchFamily="2" charset="-122"/>
                <a:ea typeface="等线" panose="02010600030101010101" pitchFamily="2" charset="-122"/>
                <a:cs typeface="等线" panose="02010600030101010101" pitchFamily="2" charset="-122"/>
              </a:rPr>
              <a:t>Z-Score标准化之后的数据是以0为均值，方差为1的正态分布。但是Z-Score方法是一种中心化方法，会改变原有数据的分布结构，不适合用于对稀疏数据做处理。</a:t>
            </a:r>
          </a:p>
        </p:txBody>
      </p:sp>
      <p:pic>
        <p:nvPicPr>
          <p:cNvPr id="7" name="图片 6"/>
          <p:cNvPicPr>
            <a:picLocks noChangeAspect="1"/>
          </p:cNvPicPr>
          <p:nvPr/>
        </p:nvPicPr>
        <p:blipFill>
          <a:blip r:embed="rId3"/>
          <a:stretch>
            <a:fillRect/>
          </a:stretch>
        </p:blipFill>
        <p:spPr>
          <a:xfrm>
            <a:off x="1687195" y="2459990"/>
            <a:ext cx="5386070" cy="4997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2" name="文本框 1"/>
          <p:cNvSpPr txBox="1"/>
          <p:nvPr/>
        </p:nvSpPr>
        <p:spPr>
          <a:xfrm>
            <a:off x="448231" y="932431"/>
            <a:ext cx="8159907" cy="3394712"/>
          </a:xfrm>
          <a:prstGeom prst="rect">
            <a:avLst/>
          </a:prstGeom>
          <a:noFill/>
          <a:ln w="9525">
            <a:noFill/>
          </a:ln>
        </p:spPr>
        <p:txBody>
          <a:bodyPr wrap="square">
            <a:spAutoFit/>
          </a:bodyPr>
          <a:lstStyle/>
          <a:p>
            <a:pPr>
              <a:lnSpc>
                <a:spcPct val="120000"/>
              </a:lnSpc>
            </a:pPr>
            <a:r>
              <a:rPr lang="zh-CN" altLang="zh-CN" sz="1800" b="1" dirty="0"/>
              <a:t>【例</a:t>
            </a:r>
            <a:r>
              <a:rPr lang="en-US" altLang="zh-CN" sz="1800" b="1" dirty="0"/>
              <a:t>3.4</a:t>
            </a:r>
            <a:r>
              <a:rPr lang="zh-CN" altLang="zh-CN" sz="1800" b="1" dirty="0"/>
              <a:t>】</a:t>
            </a:r>
            <a:r>
              <a:rPr lang="en-US" altLang="zh-CN" sz="1800" b="1" dirty="0"/>
              <a:t>Z-Score</a:t>
            </a:r>
            <a:r>
              <a:rPr lang="zh-CN" altLang="zh-CN" sz="1800" b="1" dirty="0"/>
              <a:t>标准化实例</a:t>
            </a:r>
            <a:endParaRPr lang="zh-CN" altLang="zh-CN" sz="1800" dirty="0"/>
          </a:p>
          <a:p>
            <a:pPr>
              <a:lnSpc>
                <a:spcPct val="120000"/>
              </a:lnSpc>
            </a:pPr>
            <a:r>
              <a:rPr lang="en-US" altLang="zh-CN" sz="1800" dirty="0"/>
              <a:t>        Z-Score</a:t>
            </a:r>
            <a:r>
              <a:rPr lang="zh-CN" altLang="zh-CN" sz="1800" dirty="0"/>
              <a:t>的主要目的就是将不同量级的数据统一转化为同一个量级，统一用计算出的</a:t>
            </a:r>
            <a:r>
              <a:rPr lang="en-US" altLang="zh-CN" sz="1800" dirty="0"/>
              <a:t>Z-Score</a:t>
            </a:r>
            <a:r>
              <a:rPr lang="zh-CN" altLang="zh-CN" sz="1800" dirty="0"/>
              <a:t>值衡量，以保证数据之间的可比性。</a:t>
            </a:r>
          </a:p>
          <a:p>
            <a:pPr>
              <a:lnSpc>
                <a:spcPct val="120000"/>
              </a:lnSpc>
            </a:pPr>
            <a:r>
              <a:rPr lang="en-US" altLang="zh-CN" sz="1800" dirty="0"/>
              <a:t>        </a:t>
            </a:r>
            <a:r>
              <a:rPr lang="zh-CN" altLang="zh-CN" sz="1800" dirty="0"/>
              <a:t>假设两个班级考试，所采用的试卷不同：</a:t>
            </a:r>
            <a:r>
              <a:rPr lang="en-US" altLang="zh-CN" sz="1800" dirty="0"/>
              <a:t>A</a:t>
            </a:r>
            <a:r>
              <a:rPr lang="zh-CN" altLang="zh-CN" sz="1800" dirty="0"/>
              <a:t>班级的平均分是</a:t>
            </a:r>
            <a:r>
              <a:rPr lang="en-US" altLang="zh-CN" sz="1800" dirty="0"/>
              <a:t>80</a:t>
            </a:r>
            <a:r>
              <a:rPr lang="zh-CN" altLang="zh-CN" sz="1800" dirty="0"/>
              <a:t>，标准差是</a:t>
            </a:r>
            <a:r>
              <a:rPr lang="en-US" altLang="zh-CN" sz="1800" dirty="0"/>
              <a:t>10</a:t>
            </a:r>
            <a:r>
              <a:rPr lang="zh-CN" altLang="zh-CN" sz="1800" dirty="0"/>
              <a:t>，</a:t>
            </a:r>
            <a:r>
              <a:rPr lang="en-US" altLang="zh-CN" sz="1800" dirty="0"/>
              <a:t>Li</a:t>
            </a:r>
            <a:r>
              <a:rPr lang="zh-CN" altLang="zh-CN" sz="1800" dirty="0"/>
              <a:t>考了</a:t>
            </a:r>
            <a:r>
              <a:rPr lang="en-US" altLang="zh-CN" sz="1800" dirty="0"/>
              <a:t>90</a:t>
            </a:r>
            <a:r>
              <a:rPr lang="zh-CN" altLang="zh-CN" sz="1800" dirty="0"/>
              <a:t>分；</a:t>
            </a:r>
            <a:r>
              <a:rPr lang="en-US" altLang="zh-CN" sz="1800" dirty="0"/>
              <a:t>B</a:t>
            </a:r>
            <a:r>
              <a:rPr lang="zh-CN" altLang="zh-CN" sz="1800" dirty="0"/>
              <a:t>班的平均分是</a:t>
            </a:r>
            <a:r>
              <a:rPr lang="en-US" altLang="zh-CN" sz="1800" dirty="0"/>
              <a:t>400</a:t>
            </a:r>
            <a:r>
              <a:rPr lang="zh-CN" altLang="zh-CN" sz="1800" dirty="0"/>
              <a:t>，标准差是</a:t>
            </a:r>
            <a:r>
              <a:rPr lang="en-US" altLang="zh-CN" sz="1800" dirty="0"/>
              <a:t>100</a:t>
            </a:r>
            <a:r>
              <a:rPr lang="zh-CN" altLang="zh-CN" sz="1800" dirty="0"/>
              <a:t>，</a:t>
            </a:r>
            <a:r>
              <a:rPr lang="en-US" altLang="zh-CN" sz="1800" dirty="0"/>
              <a:t>Ma</a:t>
            </a:r>
            <a:r>
              <a:rPr lang="zh-CN" altLang="zh-CN" sz="1800" dirty="0"/>
              <a:t>考了</a:t>
            </a:r>
            <a:r>
              <a:rPr lang="en-US" altLang="zh-CN" sz="1800" dirty="0"/>
              <a:t>600</a:t>
            </a:r>
            <a:r>
              <a:rPr lang="zh-CN" altLang="zh-CN" sz="1800" dirty="0"/>
              <a:t>分。那么利用</a:t>
            </a:r>
            <a:r>
              <a:rPr lang="en-US" altLang="zh-CN" sz="1800" dirty="0"/>
              <a:t>Z-Score</a:t>
            </a:r>
            <a:r>
              <a:rPr lang="zh-CN" altLang="zh-CN" sz="1800" dirty="0"/>
              <a:t>计算它们的标准分数，看看谁更优秀。</a:t>
            </a:r>
          </a:p>
          <a:p>
            <a:pPr lvl="1">
              <a:lnSpc>
                <a:spcPct val="120000"/>
              </a:lnSpc>
            </a:pPr>
            <a:r>
              <a:rPr lang="zh-CN" altLang="zh-CN" sz="1800" b="1" dirty="0"/>
              <a:t>解答：</a:t>
            </a:r>
            <a:endParaRPr lang="zh-CN" altLang="zh-CN" sz="1800" dirty="0"/>
          </a:p>
          <a:p>
            <a:pPr lvl="2">
              <a:lnSpc>
                <a:spcPct val="120000"/>
              </a:lnSpc>
            </a:pPr>
            <a:r>
              <a:rPr lang="en-US" altLang="zh-CN" sz="1800" dirty="0"/>
              <a:t>Li = (90-80)/10 = 1</a:t>
            </a:r>
            <a:endParaRPr lang="zh-CN" altLang="zh-CN" sz="1800" dirty="0"/>
          </a:p>
          <a:p>
            <a:pPr lvl="2">
              <a:lnSpc>
                <a:spcPct val="120000"/>
              </a:lnSpc>
            </a:pPr>
            <a:r>
              <a:rPr lang="en-US" altLang="zh-CN" sz="1800" dirty="0"/>
              <a:t>Ma = (600-400)/100 = 2</a:t>
            </a:r>
            <a:endParaRPr lang="zh-CN" altLang="zh-CN" sz="1800" dirty="0"/>
          </a:p>
          <a:p>
            <a:pPr>
              <a:lnSpc>
                <a:spcPct val="120000"/>
              </a:lnSpc>
            </a:pPr>
            <a:r>
              <a:rPr lang="en-US" altLang="zh-CN" sz="1800" dirty="0"/>
              <a:t>	</a:t>
            </a:r>
            <a:r>
              <a:rPr lang="zh-CN" altLang="zh-CN" sz="1800" dirty="0"/>
              <a:t>因此</a:t>
            </a:r>
            <a:r>
              <a:rPr lang="en-US" altLang="zh-CN" sz="1800" dirty="0"/>
              <a:t>Ma</a:t>
            </a:r>
            <a:r>
              <a:rPr lang="zh-CN" altLang="zh-CN" sz="1800" dirty="0"/>
              <a:t>更优秀。</a:t>
            </a:r>
          </a:p>
        </p:txBody>
      </p:sp>
    </p:spTree>
    <p:extLst>
      <p:ext uri="{BB962C8B-B14F-4D97-AF65-F5344CB8AC3E}">
        <p14:creationId xmlns:p14="http://schemas.microsoft.com/office/powerpoint/2010/main" val="2474043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2" name="文本框 1"/>
          <p:cNvSpPr txBox="1"/>
          <p:nvPr/>
        </p:nvSpPr>
        <p:spPr>
          <a:xfrm>
            <a:off x="448231" y="932431"/>
            <a:ext cx="8159907" cy="1732718"/>
          </a:xfrm>
          <a:prstGeom prst="rect">
            <a:avLst/>
          </a:prstGeom>
          <a:noFill/>
          <a:ln w="9525">
            <a:noFill/>
          </a:ln>
        </p:spPr>
        <p:txBody>
          <a:bodyPr wrap="square">
            <a:spAutoFit/>
          </a:bodyPr>
          <a:lstStyle/>
          <a:p>
            <a:pPr>
              <a:lnSpc>
                <a:spcPct val="120000"/>
              </a:lnSpc>
            </a:pPr>
            <a:r>
              <a:rPr lang="zh-CN" altLang="zh-CN" sz="1800" b="1" dirty="0"/>
              <a:t>【例</a:t>
            </a:r>
            <a:r>
              <a:rPr lang="en-US" altLang="zh-CN" sz="1800" b="1" dirty="0"/>
              <a:t>3.5</a:t>
            </a:r>
            <a:r>
              <a:rPr lang="zh-CN" altLang="zh-CN" sz="1800" b="1" dirty="0"/>
              <a:t>】</a:t>
            </a:r>
            <a:r>
              <a:rPr lang="zh-CN" altLang="en-US" sz="1800" b="1" dirty="0"/>
              <a:t>用</a:t>
            </a:r>
            <a:r>
              <a:rPr lang="en-US" altLang="zh-CN" sz="1800" b="1" dirty="0"/>
              <a:t>Python </a:t>
            </a:r>
            <a:r>
              <a:rPr lang="en-US" altLang="zh-CN" sz="1800" b="1" dirty="0" err="1"/>
              <a:t>sklearn</a:t>
            </a:r>
            <a:r>
              <a:rPr lang="zh-CN" altLang="en-US" sz="1800" b="1" dirty="0"/>
              <a:t>库进行数据标准化处理</a:t>
            </a:r>
            <a:endParaRPr lang="zh-CN" altLang="zh-CN" sz="1800" dirty="0"/>
          </a:p>
          <a:p>
            <a:pPr>
              <a:lnSpc>
                <a:spcPct val="120000"/>
              </a:lnSpc>
            </a:pPr>
            <a:r>
              <a:rPr lang="zh-CN" altLang="en-US" sz="1800" dirty="0"/>
              <a:t>        本例子的</a:t>
            </a:r>
            <a:r>
              <a:rPr lang="en-US" altLang="zh-CN" sz="1800" dirty="0"/>
              <a:t>Python</a:t>
            </a:r>
            <a:r>
              <a:rPr lang="zh-CN" altLang="en-US" sz="1800" dirty="0"/>
              <a:t>程序首先构造左偏和右偏的数据，然后将生成的数据用</a:t>
            </a:r>
            <a:r>
              <a:rPr lang="en-US" altLang="zh-CN" sz="1800" dirty="0" err="1"/>
              <a:t>sklearn</a:t>
            </a:r>
            <a:r>
              <a:rPr lang="zh-CN" altLang="en-US" sz="1800" dirty="0"/>
              <a:t>库的</a:t>
            </a:r>
            <a:r>
              <a:rPr lang="en-US" altLang="zh-CN" sz="1800" dirty="0" err="1"/>
              <a:t>StandardScaler</a:t>
            </a:r>
            <a:r>
              <a:rPr lang="zh-CN" altLang="en-US" sz="1800" dirty="0"/>
              <a:t>函数进行标准化处理（也就是</a:t>
            </a:r>
            <a:r>
              <a:rPr lang="en-US" altLang="zh-CN" sz="1800" dirty="0"/>
              <a:t>Z-Score</a:t>
            </a:r>
            <a:r>
              <a:rPr lang="zh-CN" altLang="en-US" sz="1800" dirty="0"/>
              <a:t>标准化），最后画出处理前后数据的对比图。代码参考教材</a:t>
            </a:r>
            <a:r>
              <a:rPr lang="en-US" altLang="zh-CN" sz="1800" dirty="0"/>
              <a:t>P82</a:t>
            </a:r>
            <a:r>
              <a:rPr lang="zh-CN" altLang="en-US" sz="1800" dirty="0"/>
              <a:t>（教材代码中需增加一行：</a:t>
            </a:r>
            <a:r>
              <a:rPr lang="en-US" altLang="zh-CN" sz="1800" dirty="0"/>
              <a:t>from </a:t>
            </a:r>
            <a:r>
              <a:rPr lang="en-US" altLang="zh-CN" sz="1800" dirty="0" err="1"/>
              <a:t>sklearn</a:t>
            </a:r>
            <a:r>
              <a:rPr lang="en-US" altLang="zh-CN" sz="1800" dirty="0"/>
              <a:t> import preprocessing</a:t>
            </a:r>
            <a:r>
              <a:rPr lang="zh-CN" altLang="en-US" sz="1800" dirty="0"/>
              <a:t>）；源代码也在本页的备注中提供。</a:t>
            </a:r>
            <a:endParaRPr lang="zh-CN" altLang="zh-CN" sz="1800" dirty="0"/>
          </a:p>
        </p:txBody>
      </p:sp>
      <p:pic>
        <p:nvPicPr>
          <p:cNvPr id="4" name="图片 3">
            <a:extLst>
              <a:ext uri="{FF2B5EF4-FFF2-40B4-BE49-F238E27FC236}">
                <a16:creationId xmlns:a16="http://schemas.microsoft.com/office/drawing/2014/main" id="{13F1DCFE-5664-4D27-99D0-0D995CC0E9E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510777" y="2610480"/>
            <a:ext cx="3881269" cy="2041034"/>
          </a:xfrm>
          <a:prstGeom prst="rect">
            <a:avLst/>
          </a:prstGeom>
          <a:noFill/>
          <a:ln>
            <a:noFill/>
          </a:ln>
        </p:spPr>
      </p:pic>
      <p:sp>
        <p:nvSpPr>
          <p:cNvPr id="3" name="矩形 2">
            <a:extLst>
              <a:ext uri="{FF2B5EF4-FFF2-40B4-BE49-F238E27FC236}">
                <a16:creationId xmlns:a16="http://schemas.microsoft.com/office/drawing/2014/main" id="{29641C53-7A5F-4702-94E4-617B25DDBD95}"/>
              </a:ext>
            </a:extLst>
          </p:cNvPr>
          <p:cNvSpPr/>
          <p:nvPr/>
        </p:nvSpPr>
        <p:spPr>
          <a:xfrm>
            <a:off x="2921548" y="4718412"/>
            <a:ext cx="2954655" cy="276999"/>
          </a:xfrm>
          <a:prstGeom prst="rect">
            <a:avLst/>
          </a:prstGeom>
        </p:spPr>
        <p:txBody>
          <a:bodyPr wrap="none">
            <a:spAutoFit/>
          </a:bodyPr>
          <a:lstStyle/>
          <a:p>
            <a:r>
              <a:rPr lang="zh-CN" altLang="en-US" sz="1200" dirty="0"/>
              <a:t>标准化前后数据的均值与方差变化示意图</a:t>
            </a:r>
          </a:p>
        </p:txBody>
      </p:sp>
    </p:spTree>
    <p:extLst>
      <p:ext uri="{BB962C8B-B14F-4D97-AF65-F5344CB8AC3E}">
        <p14:creationId xmlns:p14="http://schemas.microsoft.com/office/powerpoint/2010/main" val="4263388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3.4.1</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数据变换</a:t>
            </a:r>
          </a:p>
        </p:txBody>
      </p:sp>
      <p:sp>
        <p:nvSpPr>
          <p:cNvPr id="3" name="文本框 2"/>
          <p:cNvSpPr txBox="1"/>
          <p:nvPr/>
        </p:nvSpPr>
        <p:spPr>
          <a:xfrm>
            <a:off x="497840" y="839470"/>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3.数据编码</a:t>
            </a:r>
          </a:p>
        </p:txBody>
      </p:sp>
      <p:sp>
        <p:nvSpPr>
          <p:cNvPr id="2" name="文本框 1"/>
          <p:cNvSpPr txBox="1"/>
          <p:nvPr/>
        </p:nvSpPr>
        <p:spPr>
          <a:xfrm>
            <a:off x="497840" y="1126490"/>
            <a:ext cx="8419465" cy="2065309"/>
          </a:xfrm>
          <a:prstGeom prst="rect">
            <a:avLst/>
          </a:prstGeom>
          <a:noFill/>
          <a:ln w="9525">
            <a:noFill/>
          </a:ln>
        </p:spPr>
        <p:txBody>
          <a:bodyPr wrap="square">
            <a:spAutoFit/>
          </a:bodyPr>
          <a:lstStyle/>
          <a:p>
            <a:pPr indent="266700" fontAlgn="auto">
              <a:lnSpc>
                <a:spcPct val="120000"/>
              </a:lnSpc>
              <a:spcBef>
                <a:spcPts val="0"/>
              </a:spcBef>
              <a:spcAft>
                <a:spcPts val="0"/>
              </a:spcAft>
              <a:buClrTx/>
              <a:buSzTx/>
              <a:buNone/>
            </a:pPr>
            <a:r>
              <a:rPr sz="1800" dirty="0">
                <a:latin typeface="等线" panose="02010600030101010101" pitchFamily="2" charset="-122"/>
                <a:ea typeface="等线" panose="02010600030101010101" pitchFamily="2" charset="-122"/>
                <a:cs typeface="等线" panose="02010600030101010101" pitchFamily="2" charset="-122"/>
              </a:rPr>
              <a:t>用统一的编码标准对信息记录进行编码，用一个编码符号代表一条信息或一串数据。运用数据编码方法可以对采集的大数据进行规范化管理、提高处理效率和精度。</a:t>
            </a:r>
          </a:p>
          <a:p>
            <a:pPr indent="266700" fontAlgn="auto">
              <a:lnSpc>
                <a:spcPct val="120000"/>
              </a:lnSpc>
              <a:spcBef>
                <a:spcPts val="0"/>
              </a:spcBef>
              <a:spcAft>
                <a:spcPts val="0"/>
              </a:spcAft>
              <a:buClrTx/>
              <a:buSzTx/>
              <a:buNone/>
            </a:pPr>
            <a:r>
              <a:rPr sz="1800" dirty="0">
                <a:latin typeface="等线" panose="02010600030101010101" pitchFamily="2" charset="-122"/>
                <a:ea typeface="等线" panose="02010600030101010101" pitchFamily="2" charset="-122"/>
                <a:cs typeface="等线" panose="02010600030101010101" pitchFamily="2" charset="-122"/>
              </a:rPr>
              <a:t>例如我国的身份证号码就是一种带有特定含义的编码方案，它可以表示某人所在省市区、出生年月、性别等，因此可以用特定的算法进行分类、校核、检索、统计和分析操作。</a:t>
            </a:r>
            <a:endParaRPr sz="2000" dirty="0">
              <a:latin typeface="等线" panose="02010600030101010101" pitchFamily="2" charset="-122"/>
              <a:ea typeface="等线" panose="02010600030101010101" pitchFamily="2" charset="-122"/>
              <a:cs typeface="等线" panose="02010600030101010101" pitchFamily="2" charset="-122"/>
            </a:endParaRPr>
          </a:p>
        </p:txBody>
      </p:sp>
      <p:sp>
        <p:nvSpPr>
          <p:cNvPr id="4" name="文本框 3"/>
          <p:cNvSpPr txBox="1"/>
          <p:nvPr/>
        </p:nvSpPr>
        <p:spPr>
          <a:xfrm>
            <a:off x="570230" y="3308985"/>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4.数据平滑</a:t>
            </a:r>
          </a:p>
        </p:txBody>
      </p:sp>
      <p:sp>
        <p:nvSpPr>
          <p:cNvPr id="6" name="文本框 5"/>
          <p:cNvSpPr txBox="1"/>
          <p:nvPr/>
        </p:nvSpPr>
        <p:spPr>
          <a:xfrm>
            <a:off x="570230" y="3598545"/>
            <a:ext cx="8419465" cy="1068113"/>
          </a:xfrm>
          <a:prstGeom prst="rect">
            <a:avLst/>
          </a:prstGeom>
          <a:noFill/>
          <a:ln w="9525">
            <a:noFill/>
          </a:ln>
        </p:spPr>
        <p:txBody>
          <a:bodyPr wrap="square">
            <a:spAutoFit/>
          </a:bodyPr>
          <a:lstStyle/>
          <a:p>
            <a:pPr indent="266700" fontAlgn="auto">
              <a:lnSpc>
                <a:spcPct val="120000"/>
              </a:lnSpc>
              <a:spcBef>
                <a:spcPts val="0"/>
              </a:spcBef>
              <a:spcAft>
                <a:spcPts val="0"/>
              </a:spcAft>
              <a:buClrTx/>
              <a:buSzTx/>
              <a:buNone/>
            </a:pPr>
            <a:r>
              <a:rPr sz="1800" dirty="0">
                <a:latin typeface="等线" panose="02010600030101010101" pitchFamily="2" charset="-122"/>
                <a:ea typeface="等线" panose="02010600030101010101" pitchFamily="2" charset="-122"/>
                <a:cs typeface="等线" panose="02010600030101010101" pitchFamily="2" charset="-122"/>
              </a:rPr>
              <a:t>在实际应用中，经常会遇到初始结果噪声数据太多的问题，如视频流中的bbox抖动的太厉害、光谱信号抖动的太厉害等。数据平滑就是为了去除数据中的噪声波动，使数据平滑，常用方法：滑动平均法、指数滑动平均法和SG滤波法等。</a:t>
            </a:r>
            <a:endParaRPr sz="2000" dirty="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3" name="文本框 2"/>
          <p:cNvSpPr txBox="1"/>
          <p:nvPr/>
        </p:nvSpPr>
        <p:spPr>
          <a:xfrm>
            <a:off x="497840" y="839470"/>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1.</a:t>
            </a:r>
            <a:r>
              <a:rPr lang="en-US" sz="2000" b="1">
                <a:latin typeface="等线" panose="02010600030101010101" pitchFamily="2" charset="-122"/>
                <a:ea typeface="等线" panose="02010600030101010101" pitchFamily="2" charset="-122"/>
                <a:cs typeface="等线" panose="02010600030101010101" pitchFamily="2" charset="-122"/>
              </a:rPr>
              <a:t> </a:t>
            </a:r>
            <a:r>
              <a:rPr sz="2000" b="1">
                <a:latin typeface="等线" panose="02010600030101010101" pitchFamily="2" charset="-122"/>
                <a:ea typeface="等线" panose="02010600030101010101" pitchFamily="2" charset="-122"/>
                <a:cs typeface="等线" panose="02010600030101010101" pitchFamily="2" charset="-122"/>
              </a:rPr>
              <a:t>缺失值填充</a:t>
            </a:r>
          </a:p>
        </p:txBody>
      </p:sp>
      <p:grpSp>
        <p:nvGrpSpPr>
          <p:cNvPr id="131" name="组合 1"/>
          <p:cNvGrpSpPr/>
          <p:nvPr/>
        </p:nvGrpSpPr>
        <p:grpSpPr>
          <a:xfrm>
            <a:off x="1026160" y="1350010"/>
            <a:ext cx="6629400" cy="979805"/>
            <a:chOff x="868930" y="1363907"/>
            <a:chExt cx="2474665" cy="3102769"/>
          </a:xfrm>
        </p:grpSpPr>
        <p:sp>
          <p:nvSpPr>
            <p:cNvPr id="132" name="矩形 25"/>
            <p:cNvSpPr>
              <a:spLocks noChangeArrowheads="1"/>
            </p:cNvSpPr>
            <p:nvPr/>
          </p:nvSpPr>
          <p:spPr bwMode="auto">
            <a:xfrm>
              <a:off x="961775" y="1963341"/>
              <a:ext cx="2273502" cy="2282428"/>
            </a:xfrm>
            <a:prstGeom prst="rect">
              <a:avLst/>
            </a:prstGeom>
            <a:noFill/>
            <a:ln w="19050">
              <a:solidFill>
                <a:schemeClr val="bg1"/>
              </a:solidFill>
            </a:ln>
          </p:spPr>
          <p:txBody>
            <a:bodyPr lIns="68562" tIns="34281" rIns="68562" bIns="34281" anchor="ctr"/>
            <a:lstStyle/>
            <a:p>
              <a:pPr algn="ctr" fontAlgn="base">
                <a:spcBef>
                  <a:spcPct val="0"/>
                </a:spcBef>
                <a:spcAft>
                  <a:spcPct val="0"/>
                </a:spcAft>
                <a:buFont typeface="Arial" panose="020B0604020202020204" pitchFamily="34" charset="0"/>
                <a:buNone/>
              </a:pPr>
              <a:endParaRPr lang="zh-CN" altLang="zh-CN">
                <a:solidFill>
                  <a:prstClr val="white"/>
                </a:solidFill>
                <a:latin typeface="宋体" panose="02010600030101010101" pitchFamily="2" charset="-122"/>
                <a:sym typeface="宋体" panose="02010600030101010101" pitchFamily="2" charset="-122"/>
              </a:endParaRPr>
            </a:p>
          </p:txBody>
        </p:sp>
        <p:sp>
          <p:nvSpPr>
            <p:cNvPr id="133" name="Rectangle 12"/>
            <p:cNvSpPr>
              <a:spLocks noChangeArrowheads="1"/>
            </p:cNvSpPr>
            <p:nvPr/>
          </p:nvSpPr>
          <p:spPr bwMode="auto">
            <a:xfrm>
              <a:off x="961848" y="1373961"/>
              <a:ext cx="2286695" cy="1057716"/>
            </a:xfrm>
            <a:prstGeom prst="rect">
              <a:avLst/>
            </a:prstGeom>
            <a:solidFill>
              <a:schemeClr val="tx1"/>
            </a:solidFill>
            <a:ln>
              <a:noFill/>
            </a:ln>
          </p:spPr>
          <p:txBody>
            <a:bodyPr lIns="51415" tIns="51415" rIns="51415" bIns="51415" anchor="ctr"/>
            <a:lstStyle/>
            <a:p>
              <a:r>
                <a:rPr lang="zh-CN" altLang="en-US" sz="1800" b="1" kern="500" spc="225" dirty="0">
                  <a:solidFill>
                    <a:prstClr val="white"/>
                  </a:solidFill>
                </a:rPr>
                <a:t>均值填充</a:t>
              </a:r>
            </a:p>
          </p:txBody>
        </p:sp>
        <p:sp>
          <p:nvSpPr>
            <p:cNvPr id="134" name="Rectangle 14"/>
            <p:cNvSpPr/>
            <p:nvPr/>
          </p:nvSpPr>
          <p:spPr bwMode="auto">
            <a:xfrm>
              <a:off x="868930" y="1363907"/>
              <a:ext cx="2474665" cy="3102769"/>
            </a:xfrm>
            <a:prstGeom prst="rect">
              <a:avLst/>
            </a:prstGeom>
            <a:noFill/>
            <a:ln w="38100" cap="flat" cmpd="sng">
              <a:solidFill>
                <a:schemeClr val="bg1">
                  <a:lumMod val="50000"/>
                </a:schemeClr>
              </a:solidFill>
              <a:bevel/>
            </a:ln>
            <a:extLst>
              <a:ext uri="{909E8E84-426E-40DD-AFC4-6F175D3DCCD1}">
                <a14:hiddenFill xmlns:a14="http://schemas.microsoft.com/office/drawing/2010/main">
                  <a:solidFill>
                    <a:srgbClr val="FFFFFF"/>
                  </a:solidFill>
                </a14:hiddenFill>
              </a:ext>
            </a:extLst>
          </p:spPr>
          <p:txBody>
            <a:bodyPr lIns="51412" tIns="25707" rIns="51412" bIns="25707" anchor="ctr"/>
            <a:lstStyle/>
            <a:p>
              <a:pPr algn="ctr" fontAlgn="base">
                <a:spcBef>
                  <a:spcPct val="0"/>
                </a:spcBef>
                <a:spcAft>
                  <a:spcPct val="0"/>
                </a:spcAft>
                <a:buFont typeface="Arial" panose="020B0604020202020204" pitchFamily="34" charset="0"/>
                <a:buNone/>
              </a:pPr>
              <a:endParaRPr lang="zh-CN" altLang="zh-CN" sz="1300">
                <a:solidFill>
                  <a:prstClr val="white"/>
                </a:solidFill>
                <a:latin typeface="Arial" panose="020B0604020202020204" pitchFamily="34" charset="0"/>
                <a:cs typeface="Segoe UI" panose="020B0502040204020203" pitchFamily="34" charset="0"/>
                <a:sym typeface="Segoe UI" panose="020B0502040204020203" pitchFamily="34" charset="0"/>
              </a:endParaRPr>
            </a:p>
          </p:txBody>
        </p:sp>
        <p:sp>
          <p:nvSpPr>
            <p:cNvPr id="135" name="矩形 1"/>
            <p:cNvSpPr>
              <a:spLocks noChangeArrowheads="1"/>
            </p:cNvSpPr>
            <p:nvPr/>
          </p:nvSpPr>
          <p:spPr bwMode="auto">
            <a:xfrm>
              <a:off x="961775" y="2605060"/>
              <a:ext cx="2285405" cy="157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2" tIns="34281" rIns="68562" bIns="34281">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indent="360045"/>
              <a:r>
                <a:rPr lang="zh-CN" altLang="zh-CN" sz="1400" b="1" dirty="0"/>
                <a:t>如果缺失值是数值型的，就根据该变量在其他所有对象取值的平均值来填充该缺失的变量值。</a:t>
              </a:r>
            </a:p>
          </p:txBody>
        </p:sp>
      </p:grpSp>
      <p:grpSp>
        <p:nvGrpSpPr>
          <p:cNvPr id="11" name="组合 1"/>
          <p:cNvGrpSpPr/>
          <p:nvPr/>
        </p:nvGrpSpPr>
        <p:grpSpPr>
          <a:xfrm>
            <a:off x="1017905" y="2673985"/>
            <a:ext cx="6703695" cy="869315"/>
            <a:chOff x="868930" y="1363907"/>
            <a:chExt cx="2474665" cy="3102769"/>
          </a:xfrm>
        </p:grpSpPr>
        <p:sp>
          <p:nvSpPr>
            <p:cNvPr id="12" name="矩形 25"/>
            <p:cNvSpPr>
              <a:spLocks noChangeArrowheads="1"/>
            </p:cNvSpPr>
            <p:nvPr/>
          </p:nvSpPr>
          <p:spPr bwMode="auto">
            <a:xfrm>
              <a:off x="961775" y="1963341"/>
              <a:ext cx="2273502" cy="2282428"/>
            </a:xfrm>
            <a:prstGeom prst="rect">
              <a:avLst/>
            </a:prstGeom>
            <a:noFill/>
            <a:ln w="19050">
              <a:solidFill>
                <a:schemeClr val="bg1"/>
              </a:solidFill>
            </a:ln>
          </p:spPr>
          <p:txBody>
            <a:bodyPr lIns="68562" tIns="34281" rIns="68562" bIns="34281" anchor="ctr"/>
            <a:lstStyle/>
            <a:p>
              <a:pPr algn="ctr" fontAlgn="base">
                <a:spcBef>
                  <a:spcPct val="0"/>
                </a:spcBef>
                <a:spcAft>
                  <a:spcPct val="0"/>
                </a:spcAft>
                <a:buFont typeface="Arial" panose="020B0604020202020204" pitchFamily="34" charset="0"/>
                <a:buNone/>
              </a:pPr>
              <a:endParaRPr lang="zh-CN" altLang="zh-CN">
                <a:solidFill>
                  <a:prstClr val="white"/>
                </a:solidFill>
                <a:latin typeface="宋体" panose="02010600030101010101" pitchFamily="2" charset="-122"/>
                <a:sym typeface="宋体" panose="02010600030101010101" pitchFamily="2" charset="-122"/>
              </a:endParaRPr>
            </a:p>
          </p:txBody>
        </p:sp>
        <p:sp>
          <p:nvSpPr>
            <p:cNvPr id="13" name="Rectangle 12"/>
            <p:cNvSpPr>
              <a:spLocks noChangeArrowheads="1"/>
            </p:cNvSpPr>
            <p:nvPr/>
          </p:nvSpPr>
          <p:spPr bwMode="auto">
            <a:xfrm>
              <a:off x="961756" y="1373611"/>
              <a:ext cx="2286434" cy="1096522"/>
            </a:xfrm>
            <a:prstGeom prst="rect">
              <a:avLst/>
            </a:prstGeom>
            <a:solidFill>
              <a:schemeClr val="tx1"/>
            </a:solidFill>
            <a:ln>
              <a:noFill/>
            </a:ln>
          </p:spPr>
          <p:txBody>
            <a:bodyPr lIns="51415" tIns="51415" rIns="51415" bIns="51415" anchor="ctr"/>
            <a:lstStyle/>
            <a:p>
              <a:r>
                <a:rPr lang="zh-CN" altLang="en-US" sz="1800" b="1" kern="500" spc="225" dirty="0">
                  <a:solidFill>
                    <a:prstClr val="white"/>
                  </a:solidFill>
                </a:rPr>
                <a:t>众数填充</a:t>
              </a:r>
              <a:endParaRPr lang="zh-CN" altLang="en-US" sz="1800" b="1" spc="225" dirty="0">
                <a:solidFill>
                  <a:prstClr val="white"/>
                </a:solidFill>
              </a:endParaRPr>
            </a:p>
          </p:txBody>
        </p:sp>
        <p:sp>
          <p:nvSpPr>
            <p:cNvPr id="14" name="Rectangle 14"/>
            <p:cNvSpPr/>
            <p:nvPr/>
          </p:nvSpPr>
          <p:spPr bwMode="auto">
            <a:xfrm>
              <a:off x="868930" y="1363907"/>
              <a:ext cx="2474665" cy="3102769"/>
            </a:xfrm>
            <a:prstGeom prst="rect">
              <a:avLst/>
            </a:prstGeom>
            <a:noFill/>
            <a:ln w="38100" cap="flat" cmpd="sng">
              <a:solidFill>
                <a:schemeClr val="bg1">
                  <a:lumMod val="50000"/>
                </a:schemeClr>
              </a:solidFill>
              <a:bevel/>
            </a:ln>
            <a:extLst>
              <a:ext uri="{909E8E84-426E-40DD-AFC4-6F175D3DCCD1}">
                <a14:hiddenFill xmlns:a14="http://schemas.microsoft.com/office/drawing/2010/main">
                  <a:solidFill>
                    <a:srgbClr val="FFFFFF"/>
                  </a:solidFill>
                </a14:hiddenFill>
              </a:ext>
            </a:extLst>
          </p:spPr>
          <p:txBody>
            <a:bodyPr lIns="51412" tIns="25707" rIns="51412" bIns="25707" anchor="ctr"/>
            <a:lstStyle/>
            <a:p>
              <a:pPr algn="ctr" fontAlgn="base">
                <a:spcBef>
                  <a:spcPct val="0"/>
                </a:spcBef>
                <a:spcAft>
                  <a:spcPct val="0"/>
                </a:spcAft>
                <a:buFont typeface="Arial" panose="020B0604020202020204" pitchFamily="34" charset="0"/>
                <a:buNone/>
              </a:pPr>
              <a:endParaRPr lang="zh-CN" altLang="zh-CN" sz="1300">
                <a:solidFill>
                  <a:prstClr val="white"/>
                </a:solidFill>
                <a:latin typeface="Arial" panose="020B0604020202020204" pitchFamily="34" charset="0"/>
                <a:cs typeface="Segoe UI" panose="020B0502040204020203" pitchFamily="34" charset="0"/>
                <a:sym typeface="Segoe UI" panose="020B0502040204020203" pitchFamily="34" charset="0"/>
              </a:endParaRPr>
            </a:p>
          </p:txBody>
        </p:sp>
        <p:sp>
          <p:nvSpPr>
            <p:cNvPr id="15" name="矩形 1"/>
            <p:cNvSpPr>
              <a:spLocks noChangeArrowheads="1"/>
            </p:cNvSpPr>
            <p:nvPr/>
          </p:nvSpPr>
          <p:spPr bwMode="auto">
            <a:xfrm>
              <a:off x="961775" y="2126476"/>
              <a:ext cx="2285405" cy="1776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2" tIns="34281" rIns="68562" bIns="34281">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indent="360045"/>
              <a:endParaRPr lang="zh-CN" altLang="zh-CN" sz="1400" b="1" dirty="0"/>
            </a:p>
            <a:p>
              <a:pPr indent="360045"/>
              <a:r>
                <a:rPr lang="zh-CN" altLang="zh-CN" sz="1400" b="1" dirty="0"/>
                <a:t>如果缺失值是非数值型的，通常使用众数来补齐该缺失的变量值。</a:t>
              </a:r>
            </a:p>
          </p:txBody>
        </p:sp>
      </p:grpSp>
      <p:grpSp>
        <p:nvGrpSpPr>
          <p:cNvPr id="16" name="组合 1"/>
          <p:cNvGrpSpPr/>
          <p:nvPr/>
        </p:nvGrpSpPr>
        <p:grpSpPr>
          <a:xfrm>
            <a:off x="1026160" y="3887470"/>
            <a:ext cx="6703695" cy="934085"/>
            <a:chOff x="868930" y="1363907"/>
            <a:chExt cx="2474665" cy="3217603"/>
          </a:xfrm>
        </p:grpSpPr>
        <p:sp>
          <p:nvSpPr>
            <p:cNvPr id="17" name="矩形 25"/>
            <p:cNvSpPr>
              <a:spLocks noChangeArrowheads="1"/>
            </p:cNvSpPr>
            <p:nvPr/>
          </p:nvSpPr>
          <p:spPr bwMode="auto">
            <a:xfrm>
              <a:off x="961775" y="1963341"/>
              <a:ext cx="2273502" cy="2282428"/>
            </a:xfrm>
            <a:prstGeom prst="rect">
              <a:avLst/>
            </a:prstGeom>
            <a:noFill/>
            <a:ln w="19050">
              <a:solidFill>
                <a:schemeClr val="bg1"/>
              </a:solidFill>
            </a:ln>
          </p:spPr>
          <p:txBody>
            <a:bodyPr lIns="68562" tIns="34281" rIns="68562" bIns="34281" anchor="ctr"/>
            <a:lstStyle/>
            <a:p>
              <a:pPr algn="ctr" fontAlgn="base">
                <a:spcBef>
                  <a:spcPct val="0"/>
                </a:spcBef>
                <a:spcAft>
                  <a:spcPct val="0"/>
                </a:spcAft>
                <a:buFont typeface="Arial" panose="020B0604020202020204" pitchFamily="34" charset="0"/>
                <a:buNone/>
              </a:pPr>
              <a:endParaRPr lang="zh-CN" altLang="zh-CN">
                <a:solidFill>
                  <a:prstClr val="white"/>
                </a:solidFill>
                <a:latin typeface="宋体" panose="02010600030101010101" pitchFamily="2" charset="-122"/>
                <a:sym typeface="宋体" panose="02010600030101010101" pitchFamily="2" charset="-122"/>
              </a:endParaRPr>
            </a:p>
          </p:txBody>
        </p:sp>
        <p:sp>
          <p:nvSpPr>
            <p:cNvPr id="18" name="Rectangle 12"/>
            <p:cNvSpPr>
              <a:spLocks noChangeArrowheads="1"/>
            </p:cNvSpPr>
            <p:nvPr/>
          </p:nvSpPr>
          <p:spPr bwMode="auto">
            <a:xfrm>
              <a:off x="961756" y="1373611"/>
              <a:ext cx="2286434" cy="1096522"/>
            </a:xfrm>
            <a:prstGeom prst="rect">
              <a:avLst/>
            </a:prstGeom>
            <a:solidFill>
              <a:schemeClr val="tx1"/>
            </a:solidFill>
            <a:ln>
              <a:noFill/>
            </a:ln>
          </p:spPr>
          <p:txBody>
            <a:bodyPr lIns="51415" tIns="51415" rIns="51415" bIns="51415" anchor="ctr"/>
            <a:lstStyle/>
            <a:p>
              <a:r>
                <a:rPr lang="zh-CN" altLang="en-US" sz="1800" b="1" kern="500" spc="225" dirty="0">
                  <a:solidFill>
                    <a:prstClr val="white"/>
                  </a:solidFill>
                </a:rPr>
                <a:t>其它填充方法</a:t>
              </a:r>
            </a:p>
          </p:txBody>
        </p:sp>
        <p:sp>
          <p:nvSpPr>
            <p:cNvPr id="19" name="Rectangle 14"/>
            <p:cNvSpPr/>
            <p:nvPr/>
          </p:nvSpPr>
          <p:spPr bwMode="auto">
            <a:xfrm>
              <a:off x="868930" y="1363907"/>
              <a:ext cx="2474665" cy="3102769"/>
            </a:xfrm>
            <a:prstGeom prst="rect">
              <a:avLst/>
            </a:prstGeom>
            <a:noFill/>
            <a:ln w="38100" cap="flat" cmpd="sng">
              <a:solidFill>
                <a:schemeClr val="bg1">
                  <a:lumMod val="50000"/>
                </a:schemeClr>
              </a:solidFill>
              <a:bevel/>
            </a:ln>
            <a:extLst>
              <a:ext uri="{909E8E84-426E-40DD-AFC4-6F175D3DCCD1}">
                <a14:hiddenFill xmlns:a14="http://schemas.microsoft.com/office/drawing/2010/main">
                  <a:solidFill>
                    <a:srgbClr val="FFFFFF"/>
                  </a:solidFill>
                </a14:hiddenFill>
              </a:ext>
            </a:extLst>
          </p:spPr>
          <p:txBody>
            <a:bodyPr lIns="51412" tIns="25707" rIns="51412" bIns="25707" anchor="ctr"/>
            <a:lstStyle/>
            <a:p>
              <a:pPr algn="ctr" fontAlgn="base">
                <a:spcBef>
                  <a:spcPct val="0"/>
                </a:spcBef>
                <a:spcAft>
                  <a:spcPct val="0"/>
                </a:spcAft>
                <a:buFont typeface="Arial" panose="020B0604020202020204" pitchFamily="34" charset="0"/>
                <a:buNone/>
              </a:pPr>
              <a:endParaRPr lang="zh-CN" altLang="zh-CN" sz="1300">
                <a:solidFill>
                  <a:prstClr val="white"/>
                </a:solidFill>
                <a:latin typeface="Arial" panose="020B0604020202020204" pitchFamily="34" charset="0"/>
                <a:cs typeface="Segoe UI" panose="020B0502040204020203" pitchFamily="34" charset="0"/>
                <a:sym typeface="Segoe UI" panose="020B0502040204020203" pitchFamily="34" charset="0"/>
              </a:endParaRPr>
            </a:p>
          </p:txBody>
        </p:sp>
        <p:sp>
          <p:nvSpPr>
            <p:cNvPr id="20" name="矩形 1"/>
            <p:cNvSpPr>
              <a:spLocks noChangeArrowheads="1"/>
            </p:cNvSpPr>
            <p:nvPr/>
          </p:nvSpPr>
          <p:spPr bwMode="auto">
            <a:xfrm>
              <a:off x="961775" y="2126476"/>
              <a:ext cx="2285405" cy="245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2" tIns="34281" rIns="68562" bIns="34281">
              <a:spAutoFit/>
            </a:bodyPr>
            <a:lstStyle>
              <a:lvl1pPr indent="4572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indent="360045"/>
              <a:endParaRPr lang="zh-CN" altLang="zh-CN" sz="1400" b="1" dirty="0"/>
            </a:p>
            <a:p>
              <a:pPr indent="360045"/>
              <a:r>
                <a:rPr lang="zh-CN" altLang="zh-CN" sz="1400" b="1" dirty="0"/>
                <a:t>其他的数据填充方法有回归填充法、热卡填充填补法、就近补齐法、极大似然估计、期望最大化法、K最近距离邻法等。</a:t>
              </a:r>
              <a:endParaRPr lang="zh-CN" altLang="zh-CN" sz="1400" dirty="0"/>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3" name="文本框 2"/>
          <p:cNvSpPr txBox="1"/>
          <p:nvPr/>
        </p:nvSpPr>
        <p:spPr>
          <a:xfrm>
            <a:off x="497840" y="839470"/>
            <a:ext cx="8646160" cy="1161857"/>
          </a:xfrm>
          <a:prstGeom prst="rect">
            <a:avLst/>
          </a:prstGeom>
          <a:noFill/>
          <a:ln w="9525">
            <a:noFill/>
          </a:ln>
        </p:spPr>
        <p:txBody>
          <a:bodyPr wrap="square">
            <a:spAutoFit/>
          </a:bodyPr>
          <a:lstStyle/>
          <a:p>
            <a:r>
              <a:rPr lang="en-US" altLang="zh-CN" sz="1400" b="1" dirty="0"/>
              <a:t>【</a:t>
            </a:r>
            <a:r>
              <a:rPr lang="zh-CN" altLang="zh-CN" sz="1400" b="1" dirty="0"/>
              <a:t>例</a:t>
            </a:r>
            <a:r>
              <a:rPr lang="en-US" altLang="zh-CN" sz="1400" b="1" dirty="0"/>
              <a:t>3.5</a:t>
            </a:r>
            <a:r>
              <a:rPr lang="zh-CN" altLang="zh-CN" sz="1400" b="1" dirty="0"/>
              <a:t>】用</a:t>
            </a:r>
            <a:r>
              <a:rPr lang="en-US" altLang="zh-CN" sz="1400" b="1" dirty="0"/>
              <a:t>Python</a:t>
            </a:r>
            <a:r>
              <a:rPr lang="zh-CN" altLang="zh-CN" sz="1400" b="1" dirty="0"/>
              <a:t>的</a:t>
            </a:r>
            <a:r>
              <a:rPr lang="en-US" altLang="zh-CN" sz="1400" b="1" dirty="0"/>
              <a:t>S</a:t>
            </a:r>
            <a:r>
              <a:rPr lang="en-AU" altLang="zh-CN" sz="1400" b="1" dirty="0" err="1"/>
              <a:t>klearn</a:t>
            </a:r>
            <a:r>
              <a:rPr lang="zh-CN" altLang="zh-CN" sz="1400" b="1" dirty="0"/>
              <a:t>库进行缺失值填充</a:t>
            </a:r>
            <a:endParaRPr lang="zh-CN" altLang="zh-CN" sz="1400" dirty="0"/>
          </a:p>
          <a:p>
            <a:r>
              <a:rPr lang="zh-CN" altLang="zh-CN" sz="1400" dirty="0"/>
              <a:t>（</a:t>
            </a:r>
            <a:r>
              <a:rPr lang="en-US" altLang="zh-CN" sz="1400" dirty="0"/>
              <a:t>1</a:t>
            </a:r>
            <a:r>
              <a:rPr lang="zh-CN" altLang="zh-CN" sz="1400" dirty="0"/>
              <a:t>）从</a:t>
            </a:r>
            <a:r>
              <a:rPr lang="en-US" altLang="zh-CN" sz="1400" dirty="0">
                <a:hlinkClick r:id="rId3"/>
              </a:rPr>
              <a:t> https://archive.ics.uci.edu/ml/index.php</a:t>
            </a:r>
            <a:r>
              <a:rPr lang="zh-CN" altLang="zh-CN" sz="1400" dirty="0"/>
              <a:t>下载数据集</a:t>
            </a:r>
            <a:r>
              <a:rPr lang="en-US" altLang="zh-CN" sz="1400" dirty="0"/>
              <a:t>labor</a:t>
            </a:r>
            <a:r>
              <a:rPr lang="zh-CN" altLang="zh-CN" sz="1400" dirty="0"/>
              <a:t>。</a:t>
            </a:r>
          </a:p>
          <a:p>
            <a:r>
              <a:rPr lang="zh-CN" altLang="zh-CN" sz="1400" dirty="0"/>
              <a:t>（</a:t>
            </a:r>
            <a:r>
              <a:rPr lang="en-US" altLang="zh-CN" sz="1400" dirty="0"/>
              <a:t>2</a:t>
            </a:r>
            <a:r>
              <a:rPr lang="zh-CN" altLang="zh-CN" sz="1400" dirty="0"/>
              <a:t>）</a:t>
            </a:r>
            <a:r>
              <a:rPr lang="en-US" altLang="zh-CN" sz="1400" dirty="0"/>
              <a:t>labor</a:t>
            </a:r>
            <a:r>
              <a:rPr lang="zh-CN" altLang="zh-CN" sz="1400" dirty="0"/>
              <a:t>数据集包含</a:t>
            </a:r>
            <a:r>
              <a:rPr lang="en-US" altLang="zh-CN" sz="1400" dirty="0"/>
              <a:t>16</a:t>
            </a:r>
            <a:r>
              <a:rPr lang="zh-CN" altLang="zh-CN" sz="1400" dirty="0"/>
              <a:t>个属性（</a:t>
            </a:r>
            <a:r>
              <a:rPr lang="en-US" altLang="zh-CN" sz="1400" dirty="0"/>
              <a:t>8</a:t>
            </a:r>
            <a:r>
              <a:rPr lang="zh-CN" altLang="zh-CN" sz="1400" dirty="0"/>
              <a:t>个数值型、</a:t>
            </a:r>
            <a:r>
              <a:rPr lang="en-US" altLang="zh-CN" sz="1400" dirty="0"/>
              <a:t>8</a:t>
            </a:r>
            <a:r>
              <a:rPr lang="zh-CN" altLang="zh-CN" sz="1400" dirty="0"/>
              <a:t>个非数值型）和一个分类标签，</a:t>
            </a:r>
            <a:r>
              <a:rPr lang="en-US" altLang="zh-CN" sz="1400" dirty="0"/>
              <a:t>16</a:t>
            </a:r>
            <a:r>
              <a:rPr lang="zh-CN" altLang="zh-CN" sz="1400" dirty="0"/>
              <a:t>个属性的数据都包含有缺失值。</a:t>
            </a:r>
          </a:p>
          <a:p>
            <a:r>
              <a:rPr lang="zh-CN" altLang="zh-CN" sz="1400" dirty="0"/>
              <a:t>（</a:t>
            </a:r>
            <a:r>
              <a:rPr lang="en-US" altLang="zh-CN" sz="1400" dirty="0"/>
              <a:t>3</a:t>
            </a:r>
            <a:r>
              <a:rPr lang="zh-CN" altLang="zh-CN" sz="1400" dirty="0"/>
              <a:t>）对</a:t>
            </a:r>
            <a:r>
              <a:rPr lang="en-US" altLang="zh-CN" sz="1400" dirty="0"/>
              <a:t>labor</a:t>
            </a:r>
            <a:r>
              <a:rPr lang="zh-CN" altLang="zh-CN" sz="1400" dirty="0"/>
              <a:t>数据的第</a:t>
            </a:r>
            <a:r>
              <a:rPr lang="en-US" altLang="zh-CN" sz="1400" dirty="0"/>
              <a:t>3</a:t>
            </a:r>
            <a:r>
              <a:rPr lang="zh-CN" altLang="zh-CN" sz="1400" dirty="0"/>
              <a:t>列缺失值进行均值填充的</a:t>
            </a:r>
            <a:r>
              <a:rPr lang="en-US" altLang="zh-CN" sz="1400" dirty="0"/>
              <a:t>Python</a:t>
            </a:r>
            <a:r>
              <a:rPr lang="zh-CN" altLang="zh-CN" sz="1400" dirty="0"/>
              <a:t>示例程序如下：</a:t>
            </a:r>
          </a:p>
        </p:txBody>
      </p:sp>
      <p:graphicFrame>
        <p:nvGraphicFramePr>
          <p:cNvPr id="5" name="表格 4">
            <a:extLst>
              <a:ext uri="{FF2B5EF4-FFF2-40B4-BE49-F238E27FC236}">
                <a16:creationId xmlns:a16="http://schemas.microsoft.com/office/drawing/2014/main" id="{5CE4268D-6351-4CA0-A0B5-98882E1F72CC}"/>
              </a:ext>
            </a:extLst>
          </p:cNvPr>
          <p:cNvGraphicFramePr>
            <a:graphicFrameLocks noGrp="1"/>
          </p:cNvGraphicFramePr>
          <p:nvPr>
            <p:extLst>
              <p:ext uri="{D42A27DB-BD31-4B8C-83A1-F6EECF244321}">
                <p14:modId xmlns:p14="http://schemas.microsoft.com/office/powerpoint/2010/main" val="262249337"/>
              </p:ext>
            </p:extLst>
          </p:nvPr>
        </p:nvGraphicFramePr>
        <p:xfrm>
          <a:off x="1011854" y="2323944"/>
          <a:ext cx="6385918" cy="2287651"/>
        </p:xfrm>
        <a:graphic>
          <a:graphicData uri="http://schemas.openxmlformats.org/drawingml/2006/table">
            <a:tbl>
              <a:tblPr firstRow="1" firstCol="1" bandRow="1">
                <a:tableStyleId>{5C22544A-7EE6-4342-B048-85BDC9FD1C3A}</a:tableStyleId>
              </a:tblPr>
              <a:tblGrid>
                <a:gridCol w="6385918">
                  <a:extLst>
                    <a:ext uri="{9D8B030D-6E8A-4147-A177-3AD203B41FA5}">
                      <a16:colId xmlns:a16="http://schemas.microsoft.com/office/drawing/2014/main" val="545914928"/>
                    </a:ext>
                  </a:extLst>
                </a:gridCol>
              </a:tblGrid>
              <a:tr h="2205241">
                <a:tc>
                  <a:txBody>
                    <a:bodyPr/>
                    <a:lstStyle/>
                    <a:p>
                      <a:pPr marL="215900" indent="266700">
                        <a:lnSpc>
                          <a:spcPct val="120000"/>
                        </a:lnSpc>
                        <a:spcAft>
                          <a:spcPts val="0"/>
                        </a:spcAft>
                      </a:pPr>
                      <a:r>
                        <a:rPr lang="en-US" sz="1400" kern="100" dirty="0">
                          <a:solidFill>
                            <a:schemeClr val="tx1"/>
                          </a:solidFill>
                          <a:effectLst/>
                        </a:rPr>
                        <a:t>#</a:t>
                      </a:r>
                      <a:r>
                        <a:rPr lang="zh-CN" sz="1400" kern="100" dirty="0">
                          <a:solidFill>
                            <a:schemeClr val="tx1"/>
                          </a:solidFill>
                          <a:effectLst/>
                        </a:rPr>
                        <a:t>数据预处理：缺失值填充</a:t>
                      </a:r>
                    </a:p>
                    <a:p>
                      <a:pPr marL="215900" indent="266700">
                        <a:lnSpc>
                          <a:spcPct val="120000"/>
                        </a:lnSpc>
                        <a:spcAft>
                          <a:spcPts val="0"/>
                        </a:spcAft>
                      </a:pPr>
                      <a:r>
                        <a:rPr lang="en-AU" sz="1400" kern="100" dirty="0">
                          <a:solidFill>
                            <a:schemeClr val="tx1"/>
                          </a:solidFill>
                          <a:effectLst/>
                        </a:rPr>
                        <a:t>import pandas as pd </a:t>
                      </a:r>
                      <a:endParaRPr lang="zh-CN" sz="1400" kern="100" dirty="0">
                        <a:solidFill>
                          <a:schemeClr val="tx1"/>
                        </a:solidFill>
                        <a:effectLst/>
                      </a:endParaRPr>
                    </a:p>
                    <a:p>
                      <a:pPr marL="215900" indent="266700">
                        <a:lnSpc>
                          <a:spcPct val="120000"/>
                        </a:lnSpc>
                        <a:spcAft>
                          <a:spcPts val="0"/>
                        </a:spcAft>
                      </a:pPr>
                      <a:r>
                        <a:rPr lang="en-AU" sz="1400" kern="100" dirty="0">
                          <a:solidFill>
                            <a:schemeClr val="tx1"/>
                          </a:solidFill>
                          <a:effectLst/>
                        </a:rPr>
                        <a:t>from </a:t>
                      </a:r>
                      <a:r>
                        <a:rPr lang="en-AU" sz="1400" kern="100" dirty="0" err="1">
                          <a:solidFill>
                            <a:schemeClr val="tx1"/>
                          </a:solidFill>
                          <a:effectLst/>
                        </a:rPr>
                        <a:t>sklearn.impute</a:t>
                      </a:r>
                      <a:r>
                        <a:rPr lang="en-AU" sz="1400" kern="100" dirty="0">
                          <a:solidFill>
                            <a:schemeClr val="tx1"/>
                          </a:solidFill>
                          <a:effectLst/>
                        </a:rPr>
                        <a:t> import </a:t>
                      </a:r>
                      <a:r>
                        <a:rPr lang="en-AU" sz="1400" kern="100" dirty="0" err="1">
                          <a:solidFill>
                            <a:schemeClr val="tx1"/>
                          </a:solidFill>
                          <a:effectLst/>
                        </a:rPr>
                        <a:t>SimpleImputer</a:t>
                      </a:r>
                      <a:endParaRPr lang="zh-CN" sz="1400" kern="100" dirty="0">
                        <a:solidFill>
                          <a:schemeClr val="tx1"/>
                        </a:solidFill>
                        <a:effectLst/>
                      </a:endParaRPr>
                    </a:p>
                    <a:p>
                      <a:pPr marL="215900" indent="266700">
                        <a:lnSpc>
                          <a:spcPct val="120000"/>
                        </a:lnSpc>
                        <a:spcAft>
                          <a:spcPts val="0"/>
                        </a:spcAft>
                      </a:pPr>
                      <a:r>
                        <a:rPr lang="en-AU" sz="1400" kern="100" dirty="0">
                          <a:solidFill>
                            <a:schemeClr val="tx1"/>
                          </a:solidFill>
                          <a:effectLst/>
                        </a:rPr>
                        <a:t>from </a:t>
                      </a:r>
                      <a:r>
                        <a:rPr lang="en-AU" sz="1400" kern="100" dirty="0" err="1">
                          <a:solidFill>
                            <a:schemeClr val="tx1"/>
                          </a:solidFill>
                          <a:effectLst/>
                        </a:rPr>
                        <a:t>numpy</a:t>
                      </a:r>
                      <a:r>
                        <a:rPr lang="en-AU" sz="1400" kern="100" dirty="0">
                          <a:solidFill>
                            <a:schemeClr val="tx1"/>
                          </a:solidFill>
                          <a:effectLst/>
                        </a:rPr>
                        <a:t> import nan as NA</a:t>
                      </a:r>
                      <a:endParaRPr lang="zh-CN" sz="1400" kern="100" dirty="0">
                        <a:solidFill>
                          <a:schemeClr val="tx1"/>
                        </a:solidFill>
                        <a:effectLst/>
                      </a:endParaRPr>
                    </a:p>
                    <a:p>
                      <a:pPr marL="215900" indent="266700">
                        <a:lnSpc>
                          <a:spcPct val="120000"/>
                        </a:lnSpc>
                        <a:spcAft>
                          <a:spcPts val="0"/>
                        </a:spcAft>
                      </a:pPr>
                      <a:r>
                        <a:rPr lang="en-AU" sz="1400" kern="100" dirty="0">
                          <a:solidFill>
                            <a:schemeClr val="tx1"/>
                          </a:solidFill>
                          <a:effectLst/>
                        </a:rPr>
                        <a:t>data = </a:t>
                      </a:r>
                      <a:r>
                        <a:rPr lang="en-AU" sz="1400" kern="100" dirty="0" err="1">
                          <a:solidFill>
                            <a:schemeClr val="tx1"/>
                          </a:solidFill>
                          <a:effectLst/>
                        </a:rPr>
                        <a:t>pd.read_csv</a:t>
                      </a:r>
                      <a:r>
                        <a:rPr lang="en-AU" sz="1400" kern="100" dirty="0">
                          <a:solidFill>
                            <a:schemeClr val="tx1"/>
                          </a:solidFill>
                          <a:effectLst/>
                        </a:rPr>
                        <a:t>('labor.csv')</a:t>
                      </a:r>
                      <a:endParaRPr lang="zh-CN" sz="1400" kern="100" dirty="0">
                        <a:solidFill>
                          <a:schemeClr val="tx1"/>
                        </a:solidFill>
                        <a:effectLst/>
                      </a:endParaRPr>
                    </a:p>
                    <a:p>
                      <a:pPr marL="215900" indent="266700">
                        <a:lnSpc>
                          <a:spcPct val="120000"/>
                        </a:lnSpc>
                        <a:spcAft>
                          <a:spcPts val="0"/>
                        </a:spcAft>
                      </a:pPr>
                      <a:r>
                        <a:rPr lang="en-AU" sz="1400" kern="100" dirty="0">
                          <a:solidFill>
                            <a:schemeClr val="tx1"/>
                          </a:solidFill>
                          <a:effectLst/>
                        </a:rPr>
                        <a:t>x = </a:t>
                      </a:r>
                      <a:r>
                        <a:rPr lang="en-AU" sz="1400" kern="100" dirty="0" err="1">
                          <a:solidFill>
                            <a:schemeClr val="tx1"/>
                          </a:solidFill>
                          <a:effectLst/>
                        </a:rPr>
                        <a:t>data.iloc</a:t>
                      </a:r>
                      <a:r>
                        <a:rPr lang="en-AU" sz="1400" kern="100" dirty="0">
                          <a:solidFill>
                            <a:schemeClr val="tx1"/>
                          </a:solidFill>
                          <a:effectLst/>
                        </a:rPr>
                        <a:t>[</a:t>
                      </a:r>
                      <a:r>
                        <a:rPr lang="en-US" sz="1400" kern="100" dirty="0">
                          <a:solidFill>
                            <a:schemeClr val="tx1"/>
                          </a:solidFill>
                          <a:effectLst/>
                        </a:rPr>
                        <a:t>:</a:t>
                      </a:r>
                      <a:r>
                        <a:rPr lang="en-AU" sz="1400" kern="100" dirty="0">
                          <a:solidFill>
                            <a:schemeClr val="tx1"/>
                          </a:solidFill>
                          <a:effectLst/>
                        </a:rPr>
                        <a:t>, 2:3]           #</a:t>
                      </a:r>
                      <a:r>
                        <a:rPr lang="zh-CN" sz="1400" kern="100" dirty="0">
                          <a:solidFill>
                            <a:schemeClr val="tx1"/>
                          </a:solidFill>
                          <a:effectLst/>
                        </a:rPr>
                        <a:t>取第</a:t>
                      </a:r>
                      <a:r>
                        <a:rPr lang="en-US" sz="1400" kern="100" dirty="0">
                          <a:solidFill>
                            <a:schemeClr val="tx1"/>
                          </a:solidFill>
                          <a:effectLst/>
                        </a:rPr>
                        <a:t>3</a:t>
                      </a:r>
                      <a:r>
                        <a:rPr lang="zh-CN" sz="1400" kern="100" dirty="0">
                          <a:solidFill>
                            <a:schemeClr val="tx1"/>
                          </a:solidFill>
                          <a:effectLst/>
                        </a:rPr>
                        <a:t>列数据</a:t>
                      </a:r>
                    </a:p>
                    <a:p>
                      <a:pPr marL="215900" indent="266700">
                        <a:lnSpc>
                          <a:spcPct val="120000"/>
                        </a:lnSpc>
                        <a:spcAft>
                          <a:spcPts val="0"/>
                        </a:spcAft>
                      </a:pPr>
                      <a:r>
                        <a:rPr lang="en-AU" sz="1400" kern="100" dirty="0" err="1">
                          <a:solidFill>
                            <a:schemeClr val="tx1"/>
                          </a:solidFill>
                          <a:effectLst/>
                        </a:rPr>
                        <a:t>imp_mean</a:t>
                      </a:r>
                      <a:r>
                        <a:rPr lang="en-AU" sz="1400" kern="100" dirty="0">
                          <a:solidFill>
                            <a:schemeClr val="tx1"/>
                          </a:solidFill>
                          <a:effectLst/>
                        </a:rPr>
                        <a:t> = </a:t>
                      </a:r>
                      <a:r>
                        <a:rPr lang="en-AU" sz="1400" kern="100" dirty="0" err="1">
                          <a:solidFill>
                            <a:schemeClr val="tx1"/>
                          </a:solidFill>
                          <a:effectLst/>
                        </a:rPr>
                        <a:t>SimpleImputer</a:t>
                      </a:r>
                      <a:r>
                        <a:rPr lang="en-AU" sz="1400" kern="100" dirty="0">
                          <a:solidFill>
                            <a:schemeClr val="tx1"/>
                          </a:solidFill>
                          <a:effectLst/>
                        </a:rPr>
                        <a:t>(</a:t>
                      </a:r>
                      <a:r>
                        <a:rPr lang="en-AU" sz="1400" kern="100" dirty="0" err="1">
                          <a:solidFill>
                            <a:schemeClr val="tx1"/>
                          </a:solidFill>
                          <a:effectLst/>
                        </a:rPr>
                        <a:t>missing_values</a:t>
                      </a:r>
                      <a:r>
                        <a:rPr lang="en-AU" sz="1400" kern="100" dirty="0">
                          <a:solidFill>
                            <a:schemeClr val="tx1"/>
                          </a:solidFill>
                          <a:effectLst/>
                        </a:rPr>
                        <a:t>=NA, strategy=‘mean’)  </a:t>
                      </a:r>
                      <a:r>
                        <a:rPr lang="en-US" sz="1400" kern="100" dirty="0">
                          <a:solidFill>
                            <a:schemeClr val="tx1"/>
                          </a:solidFill>
                          <a:effectLst/>
                        </a:rPr>
                        <a:t>#</a:t>
                      </a:r>
                      <a:r>
                        <a:rPr lang="zh-CN" sz="1400" kern="100" dirty="0">
                          <a:solidFill>
                            <a:schemeClr val="tx1"/>
                          </a:solidFill>
                          <a:effectLst/>
                        </a:rPr>
                        <a:t>均值填充</a:t>
                      </a:r>
                    </a:p>
                    <a:p>
                      <a:pPr marL="215900" indent="266700">
                        <a:lnSpc>
                          <a:spcPct val="120000"/>
                        </a:lnSpc>
                        <a:spcAft>
                          <a:spcPts val="0"/>
                        </a:spcAft>
                      </a:pPr>
                      <a:r>
                        <a:rPr lang="en-AU" sz="1400" kern="100" dirty="0" err="1">
                          <a:solidFill>
                            <a:schemeClr val="tx1"/>
                          </a:solidFill>
                          <a:effectLst/>
                        </a:rPr>
                        <a:t>imp_mean.fit</a:t>
                      </a:r>
                      <a:r>
                        <a:rPr lang="en-AU" sz="1400" kern="100" dirty="0">
                          <a:solidFill>
                            <a:schemeClr val="tx1"/>
                          </a:solidFill>
                          <a:effectLst/>
                        </a:rPr>
                        <a:t>(x)</a:t>
                      </a:r>
                      <a:endParaRPr lang="zh-CN" sz="1400" kern="100" dirty="0">
                        <a:solidFill>
                          <a:schemeClr val="tx1"/>
                        </a:solidFill>
                        <a:effectLst/>
                      </a:endParaRPr>
                    </a:p>
                    <a:p>
                      <a:pPr marL="215900" indent="266700">
                        <a:lnSpc>
                          <a:spcPct val="120000"/>
                        </a:lnSpc>
                        <a:spcAft>
                          <a:spcPts val="0"/>
                        </a:spcAft>
                      </a:pPr>
                      <a:r>
                        <a:rPr lang="en-AU" sz="1400" kern="100" dirty="0">
                          <a:solidFill>
                            <a:schemeClr val="tx1"/>
                          </a:solidFill>
                          <a:effectLst/>
                        </a:rPr>
                        <a:t>print( </a:t>
                      </a:r>
                      <a:r>
                        <a:rPr lang="en-AU" sz="1400" kern="100" dirty="0" err="1">
                          <a:solidFill>
                            <a:schemeClr val="tx1"/>
                          </a:solidFill>
                          <a:effectLst/>
                        </a:rPr>
                        <a:t>imp_mean.transform</a:t>
                      </a:r>
                      <a:r>
                        <a:rPr lang="en-AU" sz="1400" kern="100" dirty="0">
                          <a:solidFill>
                            <a:schemeClr val="tx1"/>
                          </a:solidFill>
                          <a:effectLst/>
                        </a:rPr>
                        <a:t>(x) ) </a:t>
                      </a:r>
                      <a:r>
                        <a:rPr lang="en-US" sz="1400" kern="100" dirty="0">
                          <a:solidFill>
                            <a:schemeClr val="tx1"/>
                          </a:solidFill>
                          <a:effectLst/>
                        </a:rPr>
                        <a:t>#</a:t>
                      </a:r>
                      <a:r>
                        <a:rPr lang="zh-CN" sz="1400" kern="100" dirty="0">
                          <a:solidFill>
                            <a:schemeClr val="tx1"/>
                          </a:solidFill>
                          <a:effectLst/>
                        </a:rPr>
                        <a:t>通过接口导出结果</a:t>
                      </a:r>
                      <a:endParaRPr lang="zh-CN" sz="14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2985041342"/>
                  </a:ext>
                </a:extLst>
              </a:tr>
            </a:tbl>
          </a:graphicData>
        </a:graphic>
      </p:graphicFrame>
    </p:spTree>
    <p:extLst>
      <p:ext uri="{BB962C8B-B14F-4D97-AF65-F5344CB8AC3E}">
        <p14:creationId xmlns:p14="http://schemas.microsoft.com/office/powerpoint/2010/main" val="2262465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3" name="文本框 2"/>
          <p:cNvSpPr txBox="1"/>
          <p:nvPr/>
        </p:nvSpPr>
        <p:spPr>
          <a:xfrm>
            <a:off x="497840" y="805815"/>
            <a:ext cx="3673475" cy="398780"/>
          </a:xfrm>
          <a:prstGeom prst="rect">
            <a:avLst/>
          </a:prstGeom>
          <a:noFill/>
          <a:ln w="9525">
            <a:noFill/>
          </a:ln>
        </p:spPr>
        <p:txBody>
          <a:bodyPr wrap="square">
            <a:spAutoFit/>
          </a:bodyPr>
          <a:lstStyle/>
          <a:p>
            <a:pPr indent="266700" fontAlgn="auto">
              <a:lnSpc>
                <a:spcPct val="100000"/>
              </a:lnSpc>
              <a:buClrTx/>
              <a:buSzTx/>
              <a:buNone/>
            </a:pPr>
            <a:r>
              <a:rPr sz="2000" b="1">
                <a:latin typeface="等线" panose="02010600030101010101" pitchFamily="2" charset="-122"/>
                <a:ea typeface="等线" panose="02010600030101010101" pitchFamily="2" charset="-122"/>
                <a:cs typeface="等线" panose="02010600030101010101" pitchFamily="2" charset="-122"/>
              </a:rPr>
              <a:t>2.去除噪声</a:t>
            </a:r>
          </a:p>
        </p:txBody>
      </p:sp>
      <p:sp>
        <p:nvSpPr>
          <p:cNvPr id="102" name="文本框 101"/>
          <p:cNvSpPr txBox="1"/>
          <p:nvPr/>
        </p:nvSpPr>
        <p:spPr>
          <a:xfrm>
            <a:off x="438150" y="1056005"/>
            <a:ext cx="8604250" cy="3840347"/>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2000" b="0" dirty="0">
                <a:ea typeface="等线" panose="02010600030101010101" pitchFamily="2" charset="-122"/>
              </a:rPr>
              <a:t>    </a:t>
            </a:r>
            <a:r>
              <a:rPr lang="zh-CN" sz="2000" b="0" dirty="0">
                <a:ea typeface="等线" panose="02010600030101010101" pitchFamily="2" charset="-122"/>
              </a:rPr>
              <a:t>噪声数据是指数据中存在着错误或异常的数据，这些数据对数据的分析和挖掘造成了干扰，以下是常用的预处理方法：</a:t>
            </a:r>
          </a:p>
          <a:p>
            <a:pPr indent="266700">
              <a:lnSpc>
                <a:spcPct val="120000"/>
              </a:lnSpc>
              <a:spcBef>
                <a:spcPts val="0"/>
              </a:spcBef>
              <a:spcAft>
                <a:spcPts val="0"/>
              </a:spcAft>
            </a:pPr>
            <a:r>
              <a:rPr lang="zh-CN" altLang="en-US" sz="2000" b="1" dirty="0"/>
              <a:t>（1）分箱（ Binning ）</a:t>
            </a:r>
          </a:p>
          <a:p>
            <a:pPr indent="266700">
              <a:lnSpc>
                <a:spcPct val="120000"/>
              </a:lnSpc>
              <a:spcBef>
                <a:spcPts val="0"/>
              </a:spcBef>
              <a:spcAft>
                <a:spcPts val="0"/>
              </a:spcAft>
            </a:pPr>
            <a:r>
              <a:rPr lang="zh-CN" altLang="en-US" sz="1600" dirty="0"/>
              <a:t>分箱法是指通过考察“邻居”（周围的值）来平滑存储数据的值，存储的值被分布到一些“桶”或箱中，平滑各个分箱中的数据。常用的分箱方法有</a:t>
            </a:r>
          </a:p>
          <a:p>
            <a:pPr marL="628650" lvl="1" indent="-285750">
              <a:lnSpc>
                <a:spcPct val="120000"/>
              </a:lnSpc>
              <a:buFont typeface="Wingdings" panose="05000000000000000000" pitchFamily="2" charset="2"/>
              <a:buChar char="u"/>
            </a:pPr>
            <a:r>
              <a:rPr lang="zh-CN" altLang="en-US" sz="1600" dirty="0"/>
              <a:t>等深（频）分箱法：各个箱里有相同个数的数据。</a:t>
            </a:r>
          </a:p>
          <a:p>
            <a:pPr marL="628650" lvl="1" indent="-285750">
              <a:lnSpc>
                <a:spcPct val="120000"/>
              </a:lnSpc>
              <a:buFont typeface="Wingdings" panose="05000000000000000000" pitchFamily="2" charset="2"/>
              <a:buChar char="u"/>
            </a:pPr>
            <a:r>
              <a:rPr lang="zh-CN" altLang="en-US" sz="1600" dirty="0"/>
              <a:t>等宽分箱法：各个箱的取值区间相同。</a:t>
            </a:r>
          </a:p>
          <a:p>
            <a:pPr indent="266700">
              <a:lnSpc>
                <a:spcPct val="120000"/>
              </a:lnSpc>
              <a:spcBef>
                <a:spcPts val="0"/>
              </a:spcBef>
              <a:spcAft>
                <a:spcPts val="0"/>
              </a:spcAft>
            </a:pPr>
            <a:r>
              <a:rPr lang="zh-CN" altLang="en-US" sz="1600" dirty="0"/>
              <a:t>常用的数据平滑的方法有</a:t>
            </a:r>
            <a:r>
              <a:rPr lang="en-US" altLang="zh-CN" sz="1600" dirty="0"/>
              <a:t>3</a:t>
            </a:r>
            <a:r>
              <a:rPr lang="zh-CN" altLang="en-US" sz="1600" dirty="0"/>
              <a:t>种：</a:t>
            </a:r>
          </a:p>
          <a:p>
            <a:pPr marL="628650" lvl="1" indent="-285750">
              <a:lnSpc>
                <a:spcPct val="120000"/>
              </a:lnSpc>
              <a:buFont typeface="Wingdings" panose="05000000000000000000" pitchFamily="2" charset="2"/>
              <a:buChar char="u"/>
            </a:pPr>
            <a:r>
              <a:rPr lang="zh-CN" altLang="en-US" sz="1600" dirty="0"/>
              <a:t>平均数平滑：箱中每一个值被箱的平均数替换</a:t>
            </a:r>
          </a:p>
          <a:p>
            <a:pPr marL="628650" lvl="1" indent="-285750">
              <a:lnSpc>
                <a:spcPct val="120000"/>
              </a:lnSpc>
              <a:buFont typeface="Wingdings" panose="05000000000000000000" pitchFamily="2" charset="2"/>
              <a:buChar char="u"/>
            </a:pPr>
            <a:r>
              <a:rPr lang="zh-CN" altLang="en-US" sz="1600" dirty="0"/>
              <a:t>中位数平滑：箱中每一个值被箱的中位数替换</a:t>
            </a:r>
          </a:p>
          <a:p>
            <a:pPr marL="628650" lvl="1" indent="-285750">
              <a:lnSpc>
                <a:spcPct val="120000"/>
              </a:lnSpc>
              <a:buFont typeface="Wingdings" panose="05000000000000000000" pitchFamily="2" charset="2"/>
              <a:buChar char="u"/>
            </a:pPr>
            <a:r>
              <a:rPr lang="zh-CN" altLang="en-US" sz="1600" dirty="0"/>
              <a:t>箱边界平滑：箱中每一个值被离它最近的箱边界值替换</a:t>
            </a:r>
          </a:p>
          <a:p>
            <a:pPr marL="628650" lvl="1" indent="-285750">
              <a:lnSpc>
                <a:spcPct val="120000"/>
              </a:lnSpc>
              <a:buFont typeface="Wingdings" panose="05000000000000000000" pitchFamily="2" charset="2"/>
              <a:buChar char="u"/>
            </a:pPr>
            <a:r>
              <a:rPr lang="zh-CN" altLang="en-US" sz="1600" dirty="0"/>
              <a:t>的输入数据进行平均。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102" name="文本框 101"/>
          <p:cNvSpPr txBox="1"/>
          <p:nvPr/>
        </p:nvSpPr>
        <p:spPr>
          <a:xfrm>
            <a:off x="438150" y="1056005"/>
            <a:ext cx="8604250" cy="3913635"/>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1600" dirty="0"/>
              <a:t>【</a:t>
            </a:r>
            <a:r>
              <a:rPr lang="zh-CN" altLang="en-US" sz="1600" dirty="0"/>
              <a:t>例</a:t>
            </a:r>
            <a:r>
              <a:rPr lang="en-US" altLang="zh-CN" sz="1600" dirty="0"/>
              <a:t>3.7】</a:t>
            </a:r>
            <a:r>
              <a:rPr lang="zh-CN" altLang="en-US" sz="1600" dirty="0"/>
              <a:t>假设有</a:t>
            </a:r>
            <a:r>
              <a:rPr lang="en-US" altLang="zh-CN" sz="1600" dirty="0"/>
              <a:t>8</a:t>
            </a:r>
            <a:r>
              <a:rPr lang="zh-CN" altLang="en-US" sz="1600" dirty="0"/>
              <a:t>、</a:t>
            </a:r>
            <a:r>
              <a:rPr lang="en-US" altLang="zh-CN" sz="1600" dirty="0"/>
              <a:t>24</a:t>
            </a:r>
            <a:r>
              <a:rPr lang="zh-CN" altLang="en-US" sz="1600" dirty="0"/>
              <a:t>、</a:t>
            </a:r>
            <a:r>
              <a:rPr lang="en-US" altLang="zh-CN" sz="1600" dirty="0"/>
              <a:t>15</a:t>
            </a:r>
            <a:r>
              <a:rPr lang="zh-CN" altLang="en-US" sz="1600" dirty="0"/>
              <a:t>、</a:t>
            </a:r>
            <a:r>
              <a:rPr lang="en-US" altLang="zh-CN" sz="1600" dirty="0"/>
              <a:t>41</a:t>
            </a:r>
            <a:r>
              <a:rPr lang="zh-CN" altLang="en-US" sz="1600" dirty="0"/>
              <a:t>、</a:t>
            </a:r>
            <a:r>
              <a:rPr lang="en-US" altLang="zh-CN" sz="1600" dirty="0"/>
              <a:t>6</a:t>
            </a:r>
            <a:r>
              <a:rPr lang="zh-CN" altLang="en-US" sz="1600" dirty="0"/>
              <a:t>、</a:t>
            </a:r>
            <a:r>
              <a:rPr lang="en-US" altLang="zh-CN" sz="1600" dirty="0"/>
              <a:t>10</a:t>
            </a:r>
            <a:r>
              <a:rPr lang="zh-CN" altLang="en-US" sz="1600" dirty="0"/>
              <a:t>、</a:t>
            </a:r>
            <a:r>
              <a:rPr lang="en-US" altLang="zh-CN" sz="1600" dirty="0"/>
              <a:t>18</a:t>
            </a:r>
            <a:r>
              <a:rPr lang="zh-CN" altLang="en-US" sz="1600" dirty="0"/>
              <a:t>、</a:t>
            </a:r>
            <a:r>
              <a:rPr lang="en-US" altLang="zh-CN" sz="1600" dirty="0"/>
              <a:t>50</a:t>
            </a:r>
            <a:r>
              <a:rPr lang="zh-CN" altLang="en-US" sz="1600" dirty="0"/>
              <a:t>、</a:t>
            </a:r>
            <a:r>
              <a:rPr lang="en-US" altLang="zh-CN" sz="1600" dirty="0"/>
              <a:t>25</a:t>
            </a:r>
            <a:r>
              <a:rPr lang="zh-CN" altLang="en-US" sz="1600" dirty="0"/>
              <a:t>等</a:t>
            </a:r>
            <a:r>
              <a:rPr lang="en-US" altLang="zh-CN" sz="1600" dirty="0"/>
              <a:t>9</a:t>
            </a:r>
            <a:r>
              <a:rPr lang="zh-CN" altLang="en-US" sz="1600" dirty="0"/>
              <a:t>个数，先对数进行从小到大的排序，</a:t>
            </a:r>
            <a:r>
              <a:rPr lang="en-US" altLang="zh-CN" sz="1600" dirty="0"/>
              <a:t>6</a:t>
            </a:r>
            <a:r>
              <a:rPr lang="zh-CN" altLang="en-US" sz="1600" dirty="0"/>
              <a:t>、</a:t>
            </a:r>
            <a:r>
              <a:rPr lang="en-US" altLang="zh-CN" sz="1600" dirty="0"/>
              <a:t>8</a:t>
            </a:r>
            <a:r>
              <a:rPr lang="zh-CN" altLang="en-US" sz="1600" dirty="0"/>
              <a:t>、</a:t>
            </a:r>
            <a:r>
              <a:rPr lang="en-US" altLang="zh-CN" sz="1600" dirty="0"/>
              <a:t>10</a:t>
            </a:r>
            <a:r>
              <a:rPr lang="zh-CN" altLang="en-US" sz="1600" dirty="0"/>
              <a:t>、</a:t>
            </a:r>
            <a:r>
              <a:rPr lang="en-US" altLang="zh-CN" sz="1600" dirty="0"/>
              <a:t>15</a:t>
            </a:r>
            <a:r>
              <a:rPr lang="zh-CN" altLang="en-US" sz="1600" dirty="0"/>
              <a:t>、</a:t>
            </a:r>
            <a:r>
              <a:rPr lang="en-US" altLang="zh-CN" sz="1600" dirty="0"/>
              <a:t>18</a:t>
            </a:r>
            <a:r>
              <a:rPr lang="zh-CN" altLang="en-US" sz="1600" dirty="0"/>
              <a:t>、</a:t>
            </a:r>
            <a:r>
              <a:rPr lang="en-US" altLang="zh-CN" sz="1600" dirty="0"/>
              <a:t>24</a:t>
            </a:r>
            <a:r>
              <a:rPr lang="zh-CN" altLang="en-US" sz="1600" dirty="0"/>
              <a:t>、</a:t>
            </a:r>
            <a:r>
              <a:rPr lang="en-US" altLang="zh-CN" sz="1600" dirty="0"/>
              <a:t>25</a:t>
            </a:r>
            <a:r>
              <a:rPr lang="zh-CN" altLang="en-US" sz="1600" dirty="0"/>
              <a:t>、</a:t>
            </a:r>
            <a:r>
              <a:rPr lang="en-US" altLang="zh-CN" sz="1600" dirty="0"/>
              <a:t>41</a:t>
            </a:r>
            <a:r>
              <a:rPr lang="zh-CN" altLang="en-US" sz="1600" dirty="0"/>
              <a:t>、</a:t>
            </a:r>
            <a:r>
              <a:rPr lang="en-US" altLang="zh-CN" sz="1600" dirty="0"/>
              <a:t>50</a:t>
            </a:r>
            <a:r>
              <a:rPr lang="zh-CN" altLang="en-US" sz="1600" dirty="0"/>
              <a:t>。</a:t>
            </a:r>
          </a:p>
          <a:p>
            <a:pPr indent="266700">
              <a:lnSpc>
                <a:spcPct val="120000"/>
              </a:lnSpc>
              <a:spcBef>
                <a:spcPts val="0"/>
              </a:spcBef>
              <a:spcAft>
                <a:spcPts val="0"/>
              </a:spcAft>
            </a:pPr>
            <a:r>
              <a:rPr lang="zh-CN" altLang="en-US" sz="1600" dirty="0"/>
              <a:t>按等深（频）分箱法分为</a:t>
            </a:r>
            <a:r>
              <a:rPr lang="en-US" altLang="zh-CN" sz="1600" dirty="0"/>
              <a:t>3</a:t>
            </a:r>
            <a:r>
              <a:rPr lang="zh-CN" altLang="en-US" sz="1600" dirty="0"/>
              <a:t>箱：</a:t>
            </a:r>
          </a:p>
          <a:p>
            <a:pPr indent="266700">
              <a:lnSpc>
                <a:spcPct val="120000"/>
              </a:lnSpc>
              <a:spcBef>
                <a:spcPts val="0"/>
              </a:spcBef>
              <a:spcAft>
                <a:spcPts val="0"/>
              </a:spcAft>
            </a:pPr>
            <a:r>
              <a:rPr lang="zh-CN" altLang="en-US" sz="1600" dirty="0"/>
              <a:t>箱</a:t>
            </a:r>
            <a:r>
              <a:rPr lang="en-US" altLang="zh-CN" sz="1600" dirty="0"/>
              <a:t>1</a:t>
            </a:r>
            <a:r>
              <a:rPr lang="zh-CN" altLang="en-US" sz="1600" dirty="0"/>
              <a:t>： </a:t>
            </a:r>
            <a:r>
              <a:rPr lang="en-US" altLang="zh-CN" sz="1600" dirty="0"/>
              <a:t>6</a:t>
            </a:r>
            <a:r>
              <a:rPr lang="zh-CN" altLang="en-US" sz="1600" dirty="0"/>
              <a:t>、</a:t>
            </a:r>
            <a:r>
              <a:rPr lang="en-US" altLang="zh-CN" sz="1600" dirty="0"/>
              <a:t>8</a:t>
            </a:r>
            <a:r>
              <a:rPr lang="zh-CN" altLang="en-US" sz="1600" dirty="0"/>
              <a:t>、</a:t>
            </a:r>
            <a:r>
              <a:rPr lang="en-US" altLang="zh-CN" sz="1600" dirty="0"/>
              <a:t>10</a:t>
            </a:r>
          </a:p>
          <a:p>
            <a:pPr indent="266700">
              <a:lnSpc>
                <a:spcPct val="120000"/>
              </a:lnSpc>
              <a:spcBef>
                <a:spcPts val="0"/>
              </a:spcBef>
              <a:spcAft>
                <a:spcPts val="0"/>
              </a:spcAft>
            </a:pPr>
            <a:r>
              <a:rPr lang="zh-CN" altLang="en-US" sz="1600" dirty="0"/>
              <a:t>箱</a:t>
            </a:r>
            <a:r>
              <a:rPr lang="en-US" altLang="zh-CN" sz="1600" dirty="0"/>
              <a:t>2</a:t>
            </a:r>
            <a:r>
              <a:rPr lang="zh-CN" altLang="en-US" sz="1600" dirty="0"/>
              <a:t>： </a:t>
            </a:r>
            <a:r>
              <a:rPr lang="en-US" altLang="zh-CN" sz="1600" dirty="0"/>
              <a:t>15</a:t>
            </a:r>
            <a:r>
              <a:rPr lang="zh-CN" altLang="en-US" sz="1600" dirty="0"/>
              <a:t>、</a:t>
            </a:r>
            <a:r>
              <a:rPr lang="en-US" altLang="zh-CN" sz="1600" dirty="0"/>
              <a:t>18</a:t>
            </a:r>
            <a:r>
              <a:rPr lang="zh-CN" altLang="en-US" sz="1600" dirty="0"/>
              <a:t>、</a:t>
            </a:r>
            <a:r>
              <a:rPr lang="en-US" altLang="zh-CN" sz="1600" dirty="0"/>
              <a:t>24</a:t>
            </a:r>
          </a:p>
          <a:p>
            <a:pPr indent="266700">
              <a:lnSpc>
                <a:spcPct val="120000"/>
              </a:lnSpc>
              <a:spcBef>
                <a:spcPts val="0"/>
              </a:spcBef>
              <a:spcAft>
                <a:spcPts val="0"/>
              </a:spcAft>
            </a:pPr>
            <a:r>
              <a:rPr lang="zh-CN" altLang="en-US" sz="1600" dirty="0"/>
              <a:t>箱</a:t>
            </a:r>
            <a:r>
              <a:rPr lang="en-US" altLang="zh-CN" sz="1600" dirty="0"/>
              <a:t>3</a:t>
            </a:r>
            <a:r>
              <a:rPr lang="zh-CN" altLang="en-US" sz="1600" dirty="0"/>
              <a:t>： </a:t>
            </a:r>
            <a:r>
              <a:rPr lang="en-US" altLang="zh-CN" sz="1600" dirty="0"/>
              <a:t>25</a:t>
            </a:r>
            <a:r>
              <a:rPr lang="zh-CN" altLang="en-US" sz="1600" dirty="0"/>
              <a:t>、</a:t>
            </a:r>
            <a:r>
              <a:rPr lang="en-US" altLang="zh-CN" sz="1600" dirty="0"/>
              <a:t>41</a:t>
            </a:r>
            <a:r>
              <a:rPr lang="zh-CN" altLang="en-US" sz="1600" dirty="0"/>
              <a:t>、</a:t>
            </a:r>
            <a:r>
              <a:rPr lang="en-US" altLang="zh-CN" sz="1600" dirty="0"/>
              <a:t>50</a:t>
            </a:r>
          </a:p>
          <a:p>
            <a:pPr indent="266700">
              <a:lnSpc>
                <a:spcPct val="120000"/>
              </a:lnSpc>
              <a:spcBef>
                <a:spcPts val="0"/>
              </a:spcBef>
              <a:spcAft>
                <a:spcPts val="0"/>
              </a:spcAft>
            </a:pPr>
            <a:r>
              <a:rPr lang="zh-CN" altLang="en-US" sz="1600" dirty="0"/>
              <a:t>分别用三种不同的平滑技术平滑噪声数据的值：</a:t>
            </a:r>
          </a:p>
          <a:p>
            <a:pPr marL="628650" lvl="1" indent="-285750">
              <a:lnSpc>
                <a:spcPct val="120000"/>
              </a:lnSpc>
              <a:buFont typeface="Wingdings" panose="05000000000000000000" pitchFamily="2" charset="2"/>
              <a:buChar char="u"/>
            </a:pPr>
            <a:r>
              <a:rPr lang="zh-CN" altLang="en-US" sz="1600" dirty="0"/>
              <a:t>按箱平均值求得平滑数据值：箱</a:t>
            </a:r>
            <a:r>
              <a:rPr lang="en-US" altLang="zh-CN" sz="1600" dirty="0"/>
              <a:t>1</a:t>
            </a:r>
            <a:r>
              <a:rPr lang="zh-CN" altLang="en-US" sz="1600" dirty="0"/>
              <a:t>：平均值是</a:t>
            </a:r>
            <a:r>
              <a:rPr lang="en-US" altLang="zh-CN" sz="1600" dirty="0"/>
              <a:t>8</a:t>
            </a:r>
            <a:r>
              <a:rPr lang="zh-CN" altLang="en-US" sz="1600" dirty="0"/>
              <a:t>，这样该箱中的每一个值被替换为</a:t>
            </a:r>
            <a:r>
              <a:rPr lang="en-US" altLang="zh-CN" sz="1600" dirty="0"/>
              <a:t>(8,8,8)</a:t>
            </a:r>
            <a:r>
              <a:rPr lang="zh-CN" altLang="en-US" sz="1600" dirty="0"/>
              <a:t>。</a:t>
            </a:r>
          </a:p>
          <a:p>
            <a:pPr marL="628650" lvl="1" indent="-285750">
              <a:lnSpc>
                <a:spcPct val="120000"/>
              </a:lnSpc>
              <a:buFont typeface="Wingdings" panose="05000000000000000000" pitchFamily="2" charset="2"/>
              <a:buChar char="u"/>
            </a:pPr>
            <a:r>
              <a:rPr lang="zh-CN" altLang="en-US" sz="1600" dirty="0"/>
              <a:t>按箱中值求得平滑数据值：箱</a:t>
            </a:r>
            <a:r>
              <a:rPr lang="en-US" altLang="zh-CN" sz="1600" dirty="0"/>
              <a:t>2</a:t>
            </a:r>
            <a:r>
              <a:rPr lang="zh-CN" altLang="en-US" sz="1600" dirty="0"/>
              <a:t>：中位数为</a:t>
            </a:r>
            <a:r>
              <a:rPr lang="en-US" altLang="zh-CN" sz="1600" dirty="0"/>
              <a:t>18</a:t>
            </a:r>
            <a:r>
              <a:rPr lang="zh-CN" altLang="en-US" sz="1600" dirty="0"/>
              <a:t>，可以使用按箱中值平滑，这样该箱中的每一个值被替换为</a:t>
            </a:r>
            <a:r>
              <a:rPr lang="en-US" altLang="zh-CN" sz="1600" dirty="0"/>
              <a:t>(18,18,18)</a:t>
            </a:r>
            <a:r>
              <a:rPr lang="zh-CN" altLang="en-US" sz="1600" dirty="0"/>
              <a:t>。</a:t>
            </a:r>
          </a:p>
          <a:p>
            <a:pPr marL="628650" lvl="1" indent="-285750">
              <a:lnSpc>
                <a:spcPct val="120000"/>
              </a:lnSpc>
              <a:buFont typeface="Wingdings" panose="05000000000000000000" pitchFamily="2" charset="2"/>
              <a:buChar char="u"/>
            </a:pPr>
            <a:r>
              <a:rPr lang="zh-CN" altLang="en-US" sz="1600" dirty="0"/>
              <a:t>按箱边界值求得平滑数据值： 箱</a:t>
            </a:r>
            <a:r>
              <a:rPr lang="en-US" altLang="zh-CN" sz="1600" dirty="0"/>
              <a:t>3</a:t>
            </a:r>
            <a:r>
              <a:rPr lang="zh-CN" altLang="en-US" sz="1600" dirty="0"/>
              <a:t>：</a:t>
            </a:r>
            <a:r>
              <a:rPr lang="en-US" altLang="zh-CN" sz="1600"/>
              <a:t>(25,50,50</a:t>
            </a:r>
            <a:r>
              <a:rPr lang="en-US" altLang="zh-CN" sz="1600" dirty="0"/>
              <a:t>)</a:t>
            </a:r>
            <a:r>
              <a:rPr lang="zh-CN" altLang="en-US" sz="1600" dirty="0"/>
              <a:t>，箱中的最大和最小值被视为箱边界，箱中的每一个值都被最近的边界值替换。</a:t>
            </a:r>
            <a:endParaRPr lang="en-US" altLang="zh-CN" sz="1600" dirty="0"/>
          </a:p>
          <a:p>
            <a:pPr marL="628650" lvl="1" indent="-285750">
              <a:lnSpc>
                <a:spcPct val="120000"/>
              </a:lnSpc>
              <a:buFont typeface="Wingdings" panose="05000000000000000000" pitchFamily="2" charset="2"/>
              <a:buChar char="u"/>
            </a:pPr>
            <a:endParaRPr lang="zh-CN" altLang="en-US" sz="1600" dirty="0"/>
          </a:p>
        </p:txBody>
      </p:sp>
    </p:spTree>
    <p:extLst>
      <p:ext uri="{BB962C8B-B14F-4D97-AF65-F5344CB8AC3E}">
        <p14:creationId xmlns:p14="http://schemas.microsoft.com/office/powerpoint/2010/main" val="1448203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102" name="文本框 101"/>
          <p:cNvSpPr txBox="1"/>
          <p:nvPr/>
        </p:nvSpPr>
        <p:spPr>
          <a:xfrm>
            <a:off x="438150" y="1056005"/>
            <a:ext cx="8604250" cy="1845377"/>
          </a:xfrm>
          <a:prstGeom prst="rect">
            <a:avLst/>
          </a:prstGeom>
          <a:noFill/>
          <a:ln w="9525">
            <a:noFill/>
          </a:ln>
        </p:spPr>
        <p:txBody>
          <a:bodyPr wrap="square">
            <a:spAutoFit/>
          </a:bodyPr>
          <a:lstStyle/>
          <a:p>
            <a:pPr indent="266700">
              <a:lnSpc>
                <a:spcPct val="120000"/>
              </a:lnSpc>
              <a:spcBef>
                <a:spcPts val="0"/>
              </a:spcBef>
              <a:spcAft>
                <a:spcPts val="0"/>
              </a:spcAft>
            </a:pPr>
            <a:r>
              <a:rPr lang="en-US" altLang="zh-CN" sz="1600" dirty="0"/>
              <a:t>【</a:t>
            </a:r>
            <a:r>
              <a:rPr lang="zh-CN" altLang="en-US" sz="1600" dirty="0"/>
              <a:t>例</a:t>
            </a:r>
            <a:r>
              <a:rPr lang="en-US" altLang="zh-CN" sz="1600" dirty="0"/>
              <a:t>3.7】</a:t>
            </a:r>
            <a:r>
              <a:rPr lang="zh-CN" altLang="en-US" sz="1600" dirty="0"/>
              <a:t>续</a:t>
            </a:r>
            <a:endParaRPr lang="en-US" altLang="zh-CN" sz="1600" dirty="0"/>
          </a:p>
          <a:p>
            <a:pPr indent="266700">
              <a:lnSpc>
                <a:spcPct val="120000"/>
              </a:lnSpc>
              <a:spcBef>
                <a:spcPts val="0"/>
              </a:spcBef>
              <a:spcAft>
                <a:spcPts val="0"/>
              </a:spcAft>
            </a:pPr>
            <a:r>
              <a:rPr lang="zh-CN" altLang="en-US" sz="1600" dirty="0"/>
              <a:t>按等宽分箱法（箱宽度为</a:t>
            </a:r>
            <a:r>
              <a:rPr lang="en-US" altLang="zh-CN" sz="1600" dirty="0"/>
              <a:t>10</a:t>
            </a:r>
            <a:r>
              <a:rPr lang="zh-CN" altLang="en-US" sz="1600" dirty="0"/>
              <a:t>），可分为</a:t>
            </a:r>
            <a:r>
              <a:rPr lang="en-US" altLang="zh-CN" sz="1600" dirty="0"/>
              <a:t>3</a:t>
            </a:r>
            <a:r>
              <a:rPr lang="zh-CN" altLang="en-US" sz="1600" dirty="0"/>
              <a:t>个箱：</a:t>
            </a:r>
          </a:p>
          <a:p>
            <a:pPr lvl="1" indent="266700">
              <a:lnSpc>
                <a:spcPct val="120000"/>
              </a:lnSpc>
            </a:pPr>
            <a:r>
              <a:rPr lang="zh-CN" altLang="en-US" sz="1600" dirty="0"/>
              <a:t>箱</a:t>
            </a:r>
            <a:r>
              <a:rPr lang="en-US" altLang="zh-CN" sz="1600" dirty="0"/>
              <a:t>1</a:t>
            </a:r>
            <a:r>
              <a:rPr lang="zh-CN" altLang="en-US" sz="1600" dirty="0"/>
              <a:t>： </a:t>
            </a:r>
            <a:r>
              <a:rPr lang="en-US" altLang="zh-CN" sz="1600" dirty="0"/>
              <a:t>6</a:t>
            </a:r>
            <a:r>
              <a:rPr lang="zh-CN" altLang="en-US" sz="1600" dirty="0"/>
              <a:t>、</a:t>
            </a:r>
            <a:r>
              <a:rPr lang="en-US" altLang="zh-CN" sz="1600" dirty="0"/>
              <a:t>8</a:t>
            </a:r>
            <a:r>
              <a:rPr lang="zh-CN" altLang="en-US" sz="1600" dirty="0"/>
              <a:t>、</a:t>
            </a:r>
            <a:r>
              <a:rPr lang="en-US" altLang="zh-CN" sz="1600" dirty="0"/>
              <a:t>10</a:t>
            </a:r>
            <a:r>
              <a:rPr lang="zh-CN" altLang="en-US" sz="1600" dirty="0"/>
              <a:t>、</a:t>
            </a:r>
            <a:r>
              <a:rPr lang="en-US" altLang="zh-CN" sz="1600" dirty="0"/>
              <a:t>15</a:t>
            </a:r>
          </a:p>
          <a:p>
            <a:pPr lvl="1" indent="266700">
              <a:lnSpc>
                <a:spcPct val="120000"/>
              </a:lnSpc>
            </a:pPr>
            <a:r>
              <a:rPr lang="zh-CN" altLang="en-US" sz="1600" dirty="0"/>
              <a:t>箱</a:t>
            </a:r>
            <a:r>
              <a:rPr lang="en-US" altLang="zh-CN" sz="1600" dirty="0"/>
              <a:t>2</a:t>
            </a:r>
            <a:r>
              <a:rPr lang="zh-CN" altLang="en-US" sz="1600" dirty="0"/>
              <a:t>： </a:t>
            </a:r>
            <a:r>
              <a:rPr lang="en-US" altLang="zh-CN" sz="1600" dirty="0"/>
              <a:t>18</a:t>
            </a:r>
            <a:r>
              <a:rPr lang="zh-CN" altLang="en-US" sz="1600" dirty="0"/>
              <a:t>、</a:t>
            </a:r>
            <a:r>
              <a:rPr lang="en-US" altLang="zh-CN" sz="1600" dirty="0"/>
              <a:t>24</a:t>
            </a:r>
            <a:r>
              <a:rPr lang="zh-CN" altLang="en-US" sz="1600" dirty="0"/>
              <a:t>、</a:t>
            </a:r>
            <a:r>
              <a:rPr lang="en-US" altLang="zh-CN" sz="1600" dirty="0"/>
              <a:t>25</a:t>
            </a:r>
          </a:p>
          <a:p>
            <a:pPr lvl="1" indent="266700">
              <a:lnSpc>
                <a:spcPct val="120000"/>
              </a:lnSpc>
            </a:pPr>
            <a:r>
              <a:rPr lang="zh-CN" altLang="en-US" sz="1600" dirty="0"/>
              <a:t>箱</a:t>
            </a:r>
            <a:r>
              <a:rPr lang="en-US" altLang="zh-CN" sz="1600" dirty="0"/>
              <a:t>3</a:t>
            </a:r>
            <a:r>
              <a:rPr lang="zh-CN" altLang="en-US" sz="1600" dirty="0"/>
              <a:t>： </a:t>
            </a:r>
            <a:r>
              <a:rPr lang="en-US" altLang="zh-CN" sz="1600" dirty="0"/>
              <a:t>41</a:t>
            </a:r>
            <a:r>
              <a:rPr lang="zh-CN" altLang="en-US" sz="1600" dirty="0"/>
              <a:t>、</a:t>
            </a:r>
            <a:r>
              <a:rPr lang="en-US" altLang="zh-CN" sz="1600" dirty="0"/>
              <a:t>50</a:t>
            </a:r>
          </a:p>
          <a:p>
            <a:pPr marL="628650" lvl="1" indent="-285750">
              <a:lnSpc>
                <a:spcPct val="120000"/>
              </a:lnSpc>
              <a:buFont typeface="Wingdings" panose="05000000000000000000" pitchFamily="2" charset="2"/>
              <a:buChar char="u"/>
            </a:pPr>
            <a:endParaRPr lang="zh-CN" altLang="en-US" sz="1600" dirty="0"/>
          </a:p>
        </p:txBody>
      </p:sp>
    </p:spTree>
    <p:extLst>
      <p:ext uri="{BB962C8B-B14F-4D97-AF65-F5344CB8AC3E}">
        <p14:creationId xmlns:p14="http://schemas.microsoft.com/office/powerpoint/2010/main" val="2650217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102" name="文本框 101"/>
          <p:cNvSpPr txBox="1"/>
          <p:nvPr/>
        </p:nvSpPr>
        <p:spPr>
          <a:xfrm>
            <a:off x="438150" y="1056005"/>
            <a:ext cx="8604250" cy="3764044"/>
          </a:xfrm>
          <a:prstGeom prst="rect">
            <a:avLst/>
          </a:prstGeom>
          <a:noFill/>
          <a:ln w="9525">
            <a:noFill/>
          </a:ln>
        </p:spPr>
        <p:txBody>
          <a:bodyPr wrap="square">
            <a:spAutoFit/>
          </a:bodyPr>
          <a:lstStyle/>
          <a:p>
            <a:pPr indent="266700">
              <a:lnSpc>
                <a:spcPct val="120000"/>
              </a:lnSpc>
              <a:spcBef>
                <a:spcPts val="0"/>
              </a:spcBef>
              <a:spcAft>
                <a:spcPts val="0"/>
              </a:spcAft>
            </a:pPr>
            <a:r>
              <a:rPr lang="zh-CN" altLang="en-US" sz="2000" b="1" dirty="0"/>
              <a:t>（2）移动平均</a:t>
            </a:r>
          </a:p>
          <a:p>
            <a:pPr indent="266700">
              <a:lnSpc>
                <a:spcPct val="120000"/>
              </a:lnSpc>
              <a:spcBef>
                <a:spcPts val="0"/>
              </a:spcBef>
              <a:spcAft>
                <a:spcPts val="0"/>
              </a:spcAft>
            </a:pPr>
            <a:r>
              <a:rPr lang="zh-CN" altLang="en-US" sz="1800" dirty="0"/>
              <a:t>移动平均是一种用以滤除噪声的简单数据处理方法。当接收到输入数据后，就将本次输入数据与其前若干次的输入数据进行平均。</a:t>
            </a:r>
            <a:endParaRPr lang="en-US" altLang="zh-CN" sz="1800" dirty="0"/>
          </a:p>
          <a:p>
            <a:pPr indent="266700">
              <a:lnSpc>
                <a:spcPct val="120000"/>
              </a:lnSpc>
              <a:spcBef>
                <a:spcPts val="0"/>
              </a:spcBef>
              <a:spcAft>
                <a:spcPts val="0"/>
              </a:spcAft>
            </a:pPr>
            <a:r>
              <a:rPr lang="zh-CN" altLang="el-GR" sz="1800" b="1" dirty="0"/>
              <a:t>（</a:t>
            </a:r>
            <a:r>
              <a:rPr lang="el-GR" altLang="zh-CN" sz="1800" b="1" dirty="0"/>
              <a:t>3</a:t>
            </a:r>
            <a:r>
              <a:rPr lang="zh-CN" altLang="el-GR" sz="1800" b="1" dirty="0"/>
              <a:t>）</a:t>
            </a:r>
            <a:r>
              <a:rPr lang="el-GR" altLang="zh-CN" sz="1800" b="1" dirty="0"/>
              <a:t>3σ</a:t>
            </a:r>
            <a:r>
              <a:rPr lang="zh-CN" altLang="en-US" sz="1800" b="1" dirty="0"/>
              <a:t>探测方法</a:t>
            </a:r>
          </a:p>
          <a:p>
            <a:pPr indent="266700">
              <a:lnSpc>
                <a:spcPct val="120000"/>
              </a:lnSpc>
              <a:spcBef>
                <a:spcPts val="0"/>
              </a:spcBef>
              <a:spcAft>
                <a:spcPts val="0"/>
              </a:spcAft>
            </a:pPr>
            <a:r>
              <a:rPr lang="el-GR" altLang="zh-CN" sz="1800" dirty="0"/>
              <a:t>σ </a:t>
            </a:r>
            <a:r>
              <a:rPr lang="zh-CN" altLang="en-US" sz="1800" dirty="0"/>
              <a:t>探测方法的思想来源于切比雪夫不等式，假设一组数据的均值为</a:t>
            </a:r>
            <a:r>
              <a:rPr lang="el-GR" altLang="zh-CN" sz="1800" dirty="0"/>
              <a:t>μ</a:t>
            </a:r>
            <a:r>
              <a:rPr lang="zh-CN" altLang="en-US" sz="1800" dirty="0"/>
              <a:t>标准差为</a:t>
            </a:r>
            <a:r>
              <a:rPr lang="el-GR" altLang="zh-CN" sz="1800" dirty="0"/>
              <a:t>σ</a:t>
            </a:r>
            <a:r>
              <a:rPr lang="zh-CN" altLang="el-GR" sz="1800" dirty="0"/>
              <a:t>，</a:t>
            </a:r>
            <a:r>
              <a:rPr lang="zh-CN" altLang="en-US" sz="1800" dirty="0"/>
              <a:t>一般情况下数据分布有以下特点：</a:t>
            </a:r>
          </a:p>
          <a:p>
            <a:pPr indent="266700">
              <a:lnSpc>
                <a:spcPct val="120000"/>
              </a:lnSpc>
              <a:spcBef>
                <a:spcPts val="0"/>
              </a:spcBef>
              <a:spcAft>
                <a:spcPts val="0"/>
              </a:spcAft>
            </a:pPr>
            <a:r>
              <a:rPr lang="zh-CN" altLang="en-US" sz="1800" dirty="0"/>
              <a:t>	所有数据中，数值分布在</a:t>
            </a:r>
            <a:r>
              <a:rPr lang="en-US" altLang="zh-CN" sz="1800" dirty="0"/>
              <a:t>(</a:t>
            </a:r>
            <a:r>
              <a:rPr lang="el-GR" altLang="zh-CN" sz="1800" dirty="0"/>
              <a:t>μ-σ,μ+σ)</a:t>
            </a:r>
            <a:r>
              <a:rPr lang="zh-CN" altLang="en-US" sz="1800" dirty="0"/>
              <a:t>中的概率为</a:t>
            </a:r>
            <a:r>
              <a:rPr lang="en-US" altLang="zh-CN" sz="1800" dirty="0"/>
              <a:t>0.6827</a:t>
            </a:r>
          </a:p>
          <a:p>
            <a:pPr indent="266700">
              <a:lnSpc>
                <a:spcPct val="120000"/>
              </a:lnSpc>
              <a:spcBef>
                <a:spcPts val="0"/>
              </a:spcBef>
              <a:spcAft>
                <a:spcPts val="0"/>
              </a:spcAft>
            </a:pPr>
            <a:r>
              <a:rPr lang="en-US" altLang="zh-CN" sz="1800" dirty="0"/>
              <a:t>	</a:t>
            </a:r>
            <a:r>
              <a:rPr lang="zh-CN" altLang="en-US" sz="1800" dirty="0"/>
              <a:t>所有数据中，数值分布在</a:t>
            </a:r>
            <a:r>
              <a:rPr lang="en-US" altLang="zh-CN" sz="1800" dirty="0"/>
              <a:t>(</a:t>
            </a:r>
            <a:r>
              <a:rPr lang="el-GR" altLang="zh-CN" sz="1800" dirty="0"/>
              <a:t>μ-2σ,μ+2σ)</a:t>
            </a:r>
            <a:r>
              <a:rPr lang="zh-CN" altLang="en-US" sz="1800" dirty="0"/>
              <a:t>中的概率为</a:t>
            </a:r>
            <a:r>
              <a:rPr lang="en-US" altLang="zh-CN" sz="1800" dirty="0"/>
              <a:t>0.9545</a:t>
            </a:r>
          </a:p>
          <a:p>
            <a:pPr indent="266700">
              <a:lnSpc>
                <a:spcPct val="120000"/>
              </a:lnSpc>
              <a:spcBef>
                <a:spcPts val="0"/>
              </a:spcBef>
              <a:spcAft>
                <a:spcPts val="0"/>
              </a:spcAft>
            </a:pPr>
            <a:r>
              <a:rPr lang="en-US" altLang="zh-CN" sz="1800" dirty="0"/>
              <a:t>	</a:t>
            </a:r>
            <a:r>
              <a:rPr lang="zh-CN" altLang="en-US" sz="1800" dirty="0"/>
              <a:t>所有数据中，数值分布在</a:t>
            </a:r>
            <a:r>
              <a:rPr lang="en-US" altLang="zh-CN" sz="1800" dirty="0"/>
              <a:t>(</a:t>
            </a:r>
            <a:r>
              <a:rPr lang="el-GR" altLang="zh-CN" sz="1800" dirty="0"/>
              <a:t>μ-3σ,μ+3σ)</a:t>
            </a:r>
            <a:r>
              <a:rPr lang="zh-CN" altLang="en-US" sz="1800" dirty="0"/>
              <a:t>中的概率为</a:t>
            </a:r>
            <a:r>
              <a:rPr lang="en-US" altLang="zh-CN" sz="1800" dirty="0"/>
              <a:t>0.9973</a:t>
            </a:r>
          </a:p>
          <a:p>
            <a:pPr indent="266700">
              <a:lnSpc>
                <a:spcPct val="120000"/>
              </a:lnSpc>
              <a:spcBef>
                <a:spcPts val="0"/>
              </a:spcBef>
              <a:spcAft>
                <a:spcPts val="0"/>
              </a:spcAft>
            </a:pPr>
            <a:r>
              <a:rPr lang="zh-CN" altLang="en-US" sz="1800" dirty="0"/>
              <a:t>可以认为，数据的取值几乎全部集中在</a:t>
            </a:r>
            <a:r>
              <a:rPr lang="en-US" altLang="zh-CN" sz="1800" dirty="0"/>
              <a:t>(</a:t>
            </a:r>
            <a:r>
              <a:rPr lang="el-GR" altLang="zh-CN" sz="1800" dirty="0"/>
              <a:t>μ-3σ,μ+3σ)</a:t>
            </a:r>
            <a:r>
              <a:rPr lang="zh-CN" altLang="en-US" sz="1800" dirty="0"/>
              <a:t>区间内，超出这个范围的可能性仅占不到</a:t>
            </a:r>
            <a:r>
              <a:rPr lang="en-US" altLang="zh-CN" sz="1800" dirty="0"/>
              <a:t>0.3%</a:t>
            </a:r>
            <a:r>
              <a:rPr lang="zh-CN" altLang="en-US" sz="1800" dirty="0"/>
              <a:t>。</a:t>
            </a:r>
          </a:p>
        </p:txBody>
      </p:sp>
    </p:spTree>
    <p:extLst>
      <p:ext uri="{BB962C8B-B14F-4D97-AF65-F5344CB8AC3E}">
        <p14:creationId xmlns:p14="http://schemas.microsoft.com/office/powerpoint/2010/main" val="1758212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646930"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3.4.2</a:t>
            </a:r>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数据清洗</a:t>
            </a:r>
          </a:p>
        </p:txBody>
      </p:sp>
      <p:sp>
        <p:nvSpPr>
          <p:cNvPr id="102" name="文本框 101"/>
          <p:cNvSpPr txBox="1"/>
          <p:nvPr/>
        </p:nvSpPr>
        <p:spPr>
          <a:xfrm>
            <a:off x="329565" y="1032510"/>
            <a:ext cx="5015230" cy="3692525"/>
          </a:xfrm>
          <a:prstGeom prst="rect">
            <a:avLst/>
          </a:prstGeom>
          <a:noFill/>
          <a:ln w="9525">
            <a:noFill/>
          </a:ln>
        </p:spPr>
        <p:txBody>
          <a:bodyPr wrap="square">
            <a:spAutoFit/>
          </a:bodyPr>
          <a:lstStyle/>
          <a:p>
            <a:pPr indent="266700">
              <a:lnSpc>
                <a:spcPct val="130000"/>
              </a:lnSpc>
              <a:spcBef>
                <a:spcPts val="0"/>
              </a:spcBef>
              <a:spcAft>
                <a:spcPts val="0"/>
              </a:spcAft>
            </a:pPr>
            <a:r>
              <a:rPr lang="zh-CN" sz="2000" b="1" dirty="0">
                <a:ea typeface="等线" panose="02010600030101010101" pitchFamily="2" charset="-122"/>
              </a:rPr>
              <a:t>（4）k-近邻法</a:t>
            </a:r>
          </a:p>
          <a:p>
            <a:pPr indent="266700">
              <a:lnSpc>
                <a:spcPct val="130000"/>
              </a:lnSpc>
              <a:spcBef>
                <a:spcPts val="0"/>
              </a:spcBef>
              <a:spcAft>
                <a:spcPts val="0"/>
              </a:spcAft>
            </a:pPr>
            <a:r>
              <a:rPr lang="en-US" altLang="zh-CN" sz="2000" b="0" dirty="0">
                <a:ea typeface="等线" panose="02010600030101010101" pitchFamily="2" charset="-122"/>
              </a:rPr>
              <a:t>  </a:t>
            </a:r>
            <a:r>
              <a:rPr lang="zh-CN" sz="2000" b="0" dirty="0">
                <a:ea typeface="等线" panose="02010600030101010101" pitchFamily="2" charset="-122"/>
              </a:rPr>
              <a:t>根据某种距离度量方法来确定具有缺失值数据最近的k个近邻，然后将这k个值加权（权重可取距离的比值），然后根据自定义的阈值，将距离超过阈值的当做噪声数据。</a:t>
            </a:r>
          </a:p>
          <a:p>
            <a:pPr indent="266700">
              <a:lnSpc>
                <a:spcPct val="130000"/>
              </a:lnSpc>
              <a:spcBef>
                <a:spcPts val="0"/>
              </a:spcBef>
              <a:spcAft>
                <a:spcPts val="0"/>
              </a:spcAft>
            </a:pPr>
            <a:r>
              <a:rPr lang="zh-CN" sz="2000" b="1" dirty="0">
                <a:ea typeface="等线" panose="02010600030101010101" pitchFamily="2" charset="-122"/>
              </a:rPr>
              <a:t>（5）聚类去除噪声数据</a:t>
            </a:r>
          </a:p>
          <a:p>
            <a:pPr indent="266700">
              <a:lnSpc>
                <a:spcPct val="130000"/>
              </a:lnSpc>
              <a:spcBef>
                <a:spcPts val="0"/>
              </a:spcBef>
              <a:spcAft>
                <a:spcPts val="0"/>
              </a:spcAft>
            </a:pPr>
            <a:r>
              <a:rPr lang="zh-CN" sz="2000" b="0" dirty="0">
                <a:ea typeface="等线" panose="02010600030101010101" pitchFamily="2" charset="-122"/>
              </a:rPr>
              <a:t>用某种聚类算法把相似的数据聚成一个“类簇”，落在各个类簇之外的数据可以被看成是噪声数据，如右图所示。</a:t>
            </a:r>
          </a:p>
        </p:txBody>
      </p:sp>
      <p:pic>
        <p:nvPicPr>
          <p:cNvPr id="2"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581015" y="1386840"/>
            <a:ext cx="2688590" cy="2645410"/>
          </a:xfrm>
          <a:prstGeom prst="rect">
            <a:avLst/>
          </a:prstGeom>
          <a:noFill/>
          <a:ln>
            <a:solidFill>
              <a:srgbClr val="0070C0"/>
            </a:solidFill>
          </a:ln>
        </p:spPr>
      </p:pic>
      <p:sp>
        <p:nvSpPr>
          <p:cNvPr id="4" name="文本框 3"/>
          <p:cNvSpPr txBox="1"/>
          <p:nvPr/>
        </p:nvSpPr>
        <p:spPr>
          <a:xfrm>
            <a:off x="4398010" y="417766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聚类去除噪声数据示意图</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102" name="文本框 101"/>
          <p:cNvSpPr txBox="1"/>
          <p:nvPr/>
        </p:nvSpPr>
        <p:spPr>
          <a:xfrm>
            <a:off x="410845" y="1125855"/>
            <a:ext cx="8194675" cy="2891790"/>
          </a:xfrm>
          <a:prstGeom prst="rect">
            <a:avLst/>
          </a:prstGeom>
          <a:noFill/>
          <a:ln w="9525">
            <a:noFill/>
          </a:ln>
        </p:spPr>
        <p:txBody>
          <a:bodyPr wrap="square">
            <a:spAutoFit/>
          </a:bodyPr>
          <a:lstStyle/>
          <a:p>
            <a:pPr indent="266700">
              <a:lnSpc>
                <a:spcPct val="130000"/>
              </a:lnSpc>
              <a:spcBef>
                <a:spcPts val="0"/>
              </a:spcBef>
              <a:spcAft>
                <a:spcPts val="0"/>
              </a:spcAft>
            </a:pPr>
            <a:r>
              <a:rPr lang="zh-CN" sz="2000" b="0">
                <a:ea typeface="等线" panose="02010600030101010101" pitchFamily="2" charset="-122"/>
              </a:rPr>
              <a:t>OpenRefine是一种开源软件，可以对excel、html等结构型的数据进行数据清洗、修正、分类、排序、筛选与整理，它的功能强大，使用比较简便。</a:t>
            </a:r>
          </a:p>
          <a:p>
            <a:pPr indent="266700">
              <a:lnSpc>
                <a:spcPct val="130000"/>
              </a:lnSpc>
              <a:spcBef>
                <a:spcPts val="0"/>
              </a:spcBef>
              <a:spcAft>
                <a:spcPts val="0"/>
              </a:spcAft>
            </a:pPr>
            <a:r>
              <a:rPr lang="zh-CN" sz="2000" b="0">
                <a:ea typeface="等线" panose="02010600030101010101" pitchFamily="2" charset="-122"/>
              </a:rPr>
              <a:t>OpenRefine软件的前身是Metaweb公司于2009年发布的一个开源软件，Google公司在2010年收购了Metaweb，把项目的名称从Freebase Gridworks改成了Google Refine。2012年，Google放弃了对Refine的支持，让它重新成为开源软件，名字改成了OpenRefine。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102" name="文本框 101"/>
          <p:cNvSpPr txBox="1"/>
          <p:nvPr/>
        </p:nvSpPr>
        <p:spPr>
          <a:xfrm>
            <a:off x="538480" y="1074420"/>
            <a:ext cx="8067040" cy="398780"/>
          </a:xfrm>
          <a:prstGeom prst="rect">
            <a:avLst/>
          </a:prstGeom>
          <a:noFill/>
          <a:ln w="9525">
            <a:noFill/>
          </a:ln>
        </p:spPr>
        <p:txBody>
          <a:bodyPr wrap="square">
            <a:spAutoFit/>
          </a:bodyPr>
          <a:lstStyle/>
          <a:p>
            <a:pPr indent="266700"/>
            <a:r>
              <a:rPr lang="zh-CN" sz="2000" b="1">
                <a:ea typeface="等线" panose="02010600030101010101" pitchFamily="2" charset="-122"/>
              </a:rPr>
              <a:t>1.建立OpenRefine项目</a:t>
            </a:r>
          </a:p>
        </p:txBody>
      </p:sp>
      <p:sp>
        <p:nvSpPr>
          <p:cNvPr id="2" name="文本框 1"/>
          <p:cNvSpPr txBox="1"/>
          <p:nvPr/>
        </p:nvSpPr>
        <p:spPr>
          <a:xfrm>
            <a:off x="356870" y="1541145"/>
            <a:ext cx="4134485" cy="1691640"/>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OpenRefine启动后是以本地Web服务（端口号为3333）运行的，可以用浏览器访问127.0.0.1:3333打开初始界面，如图所示。</a:t>
            </a:r>
          </a:p>
        </p:txBody>
      </p:sp>
      <p:pic>
        <p:nvPicPr>
          <p:cNvPr id="18" name="图片 18"/>
          <p:cNvPicPr>
            <a:picLocks noChangeAspect="1"/>
          </p:cNvPicPr>
          <p:nvPr/>
        </p:nvPicPr>
        <p:blipFill>
          <a:blip r:embed="rId3"/>
          <a:stretch>
            <a:fillRect/>
          </a:stretch>
        </p:blipFill>
        <p:spPr>
          <a:xfrm>
            <a:off x="4491355" y="1345248"/>
            <a:ext cx="3914140" cy="2580005"/>
          </a:xfrm>
          <a:prstGeom prst="rect">
            <a:avLst/>
          </a:prstGeom>
          <a:ln>
            <a:solidFill>
              <a:srgbClr val="0070C0"/>
            </a:solidFill>
          </a:ln>
        </p:spPr>
      </p:pic>
      <p:sp>
        <p:nvSpPr>
          <p:cNvPr id="100" name="文本框 99"/>
          <p:cNvSpPr txBox="1"/>
          <p:nvPr/>
        </p:nvSpPr>
        <p:spPr>
          <a:xfrm>
            <a:off x="3525520" y="4132580"/>
            <a:ext cx="5080000" cy="245110"/>
          </a:xfrm>
          <a:prstGeom prst="rect">
            <a:avLst/>
          </a:prstGeom>
          <a:noFill/>
          <a:ln w="9525">
            <a:noFill/>
          </a:ln>
        </p:spPr>
        <p:txBody>
          <a:bodyPr>
            <a:spAutoFit/>
          </a:bodyPr>
          <a:lstStyle/>
          <a:p>
            <a:pPr indent="0" algn="ctr"/>
            <a:r>
              <a:rPr lang="en-US" sz="1000" b="0">
                <a:latin typeface="Cambria Math" panose="02040503050406030204" charset="0"/>
                <a:ea typeface="等线" panose="02010600030101010101" pitchFamily="2" charset="-122"/>
                <a:cs typeface="Times New Roman" panose="02020603050405020304" pitchFamily="18" charset="0"/>
              </a:rPr>
              <a:t>OpenRefine</a:t>
            </a:r>
            <a:r>
              <a:rPr lang="zh-CN" sz="1000" b="0">
                <a:ea typeface="等线" panose="02010600030101010101" pitchFamily="2" charset="-122"/>
              </a:rPr>
              <a:t>初始界面</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456565" y="989965"/>
            <a:ext cx="4843145" cy="3692525"/>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在OpenRefine初始界面中点击“选择文件”按钮打开本地数据文件，接着单击“Next&gt;&gt;”按钮进入文件格式选项设置窗口。</a:t>
            </a:r>
          </a:p>
          <a:p>
            <a:pPr indent="266700">
              <a:lnSpc>
                <a:spcPct val="130000"/>
              </a:lnSpc>
              <a:spcBef>
                <a:spcPts val="0"/>
              </a:spcBef>
              <a:spcAft>
                <a:spcPts val="0"/>
              </a:spcAft>
            </a:pPr>
            <a:r>
              <a:rPr lang="zh-CN" sz="2000">
                <a:ea typeface="等线" panose="02010600030101010101" pitchFamily="2" charset="-122"/>
              </a:rPr>
              <a:t>注意：如果是CSV或Excel文件，需要在弹出的窗口下方的选择中勾选“Parse cell text into numbers, dates,…”，如图 所示，否则会将实数列作为文本处理。</a:t>
            </a:r>
          </a:p>
          <a:p>
            <a:pPr indent="266700">
              <a:lnSpc>
                <a:spcPct val="130000"/>
              </a:lnSpc>
              <a:spcBef>
                <a:spcPts val="0"/>
              </a:spcBef>
              <a:spcAft>
                <a:spcPts val="0"/>
              </a:spcAft>
            </a:pPr>
            <a:r>
              <a:rPr lang="zh-CN" sz="2000">
                <a:ea typeface="等线" panose="02010600030101010101" pitchFamily="2" charset="-122"/>
              </a:rPr>
              <a:t>输入项目名称，单击“Create Project”按钮建立OpenRefine项目。</a:t>
            </a:r>
          </a:p>
        </p:txBody>
      </p:sp>
      <p:pic>
        <p:nvPicPr>
          <p:cNvPr id="12" name="图片 12"/>
          <p:cNvPicPr>
            <a:picLocks noChangeAspect="1"/>
          </p:cNvPicPr>
          <p:nvPr/>
        </p:nvPicPr>
        <p:blipFill>
          <a:blip r:embed="rId3"/>
          <a:stretch>
            <a:fillRect/>
          </a:stretch>
        </p:blipFill>
        <p:spPr>
          <a:xfrm>
            <a:off x="5182235" y="1850073"/>
            <a:ext cx="3088640" cy="1279525"/>
          </a:xfrm>
          <a:prstGeom prst="rect">
            <a:avLst/>
          </a:prstGeom>
          <a:ln>
            <a:solidFill>
              <a:srgbClr val="0070C0"/>
            </a:solidFill>
          </a:ln>
        </p:spPr>
      </p:pic>
      <p:sp>
        <p:nvSpPr>
          <p:cNvPr id="100" name="文本框 99"/>
          <p:cNvSpPr txBox="1"/>
          <p:nvPr/>
        </p:nvSpPr>
        <p:spPr>
          <a:xfrm>
            <a:off x="4064000" y="3258185"/>
            <a:ext cx="5080000" cy="245110"/>
          </a:xfrm>
          <a:prstGeom prst="rect">
            <a:avLst/>
          </a:prstGeom>
          <a:noFill/>
          <a:ln w="9525">
            <a:noFill/>
          </a:ln>
        </p:spPr>
        <p:txBody>
          <a:bodyPr>
            <a:spAutoFit/>
          </a:bodyPr>
          <a:lstStyle/>
          <a:p>
            <a:pPr indent="0" algn="ctr"/>
            <a:r>
              <a:rPr lang="en-US" sz="1000" b="0">
                <a:latin typeface="Cambria Math" panose="02040503050406030204" charset="0"/>
                <a:ea typeface="等线" panose="02010600030101010101" pitchFamily="2" charset="-122"/>
                <a:cs typeface="Times New Roman" panose="02020603050405020304" pitchFamily="18" charset="0"/>
              </a:rPr>
              <a:t>CSV</a:t>
            </a:r>
            <a:r>
              <a:rPr lang="zh-CN" sz="1000" b="0">
                <a:ea typeface="等线" panose="02010600030101010101" pitchFamily="2" charset="-122"/>
              </a:rPr>
              <a:t>和</a:t>
            </a:r>
            <a:r>
              <a:rPr lang="en-US" sz="1000" b="0">
                <a:latin typeface="Cambria Math" panose="02040503050406030204" charset="0"/>
                <a:ea typeface="等线" panose="02010600030101010101" pitchFamily="2" charset="-122"/>
              </a:rPr>
              <a:t>Excel</a:t>
            </a:r>
            <a:r>
              <a:rPr lang="zh-CN" sz="1000" b="0">
                <a:ea typeface="等线" panose="02010600030101010101" pitchFamily="2" charset="-122"/>
              </a:rPr>
              <a:t>文件需勾选的格式选项</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102" name="文本框 101"/>
          <p:cNvSpPr txBox="1"/>
          <p:nvPr/>
        </p:nvSpPr>
        <p:spPr>
          <a:xfrm>
            <a:off x="538480" y="1074420"/>
            <a:ext cx="8067040" cy="398780"/>
          </a:xfrm>
          <a:prstGeom prst="rect">
            <a:avLst/>
          </a:prstGeom>
          <a:noFill/>
          <a:ln w="9525">
            <a:noFill/>
          </a:ln>
        </p:spPr>
        <p:txBody>
          <a:bodyPr wrap="square">
            <a:spAutoFit/>
          </a:bodyPr>
          <a:lstStyle/>
          <a:p>
            <a:pPr indent="266700"/>
            <a:r>
              <a:rPr lang="zh-CN" sz="2000" b="1">
                <a:ea typeface="等线" panose="02010600030101010101" pitchFamily="2" charset="-122"/>
              </a:rPr>
              <a:t>2.OpenRefine的数据预处理功能</a:t>
            </a:r>
          </a:p>
        </p:txBody>
      </p:sp>
      <p:sp>
        <p:nvSpPr>
          <p:cNvPr id="2" name="文本框 1"/>
          <p:cNvSpPr txBox="1"/>
          <p:nvPr/>
        </p:nvSpPr>
        <p:spPr>
          <a:xfrm>
            <a:off x="638810" y="1541145"/>
            <a:ext cx="4498975" cy="2091690"/>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选择想要处理的列，点击列标题左边的箭头出现下拉菜单，选择Facet选项，如果是文本数据则选择第一项Text facet，如果是数字数据就选择第二项Numeric facet，如图所示。</a:t>
            </a:r>
          </a:p>
        </p:txBody>
      </p:sp>
      <p:pic>
        <p:nvPicPr>
          <p:cNvPr id="19" name="图片 19"/>
          <p:cNvPicPr>
            <a:picLocks noChangeAspect="1"/>
          </p:cNvPicPr>
          <p:nvPr/>
        </p:nvPicPr>
        <p:blipFill>
          <a:blip r:embed="rId3"/>
          <a:stretch>
            <a:fillRect/>
          </a:stretch>
        </p:blipFill>
        <p:spPr>
          <a:xfrm>
            <a:off x="5466080" y="1473200"/>
            <a:ext cx="2569845" cy="1997710"/>
          </a:xfrm>
          <a:prstGeom prst="rect">
            <a:avLst/>
          </a:prstGeom>
          <a:ln>
            <a:solidFill>
              <a:srgbClr val="0070C0"/>
            </a:solidFill>
          </a:ln>
        </p:spPr>
      </p:pic>
      <p:sp>
        <p:nvSpPr>
          <p:cNvPr id="3" name="文本框 2"/>
          <p:cNvSpPr txBox="1"/>
          <p:nvPr/>
        </p:nvSpPr>
        <p:spPr>
          <a:xfrm>
            <a:off x="4211320" y="3632835"/>
            <a:ext cx="5080000" cy="245110"/>
          </a:xfrm>
          <a:prstGeom prst="rect">
            <a:avLst/>
          </a:prstGeom>
          <a:noFill/>
          <a:ln w="9525">
            <a:noFill/>
          </a:ln>
        </p:spPr>
        <p:txBody>
          <a:bodyPr>
            <a:spAutoFit/>
          </a:bodyPr>
          <a:lstStyle/>
          <a:p>
            <a:pPr indent="0" algn="ctr"/>
            <a:r>
              <a:rPr lang="zh-CN" sz="1000" b="0">
                <a:latin typeface="Cambria Math" panose="02040503050406030204" charset="0"/>
                <a:ea typeface="等线" panose="02010600030101010101" pitchFamily="2" charset="-122"/>
              </a:rPr>
              <a:t>选择数据列的</a:t>
            </a:r>
            <a:r>
              <a:rPr lang="en-US" sz="1000" b="0">
                <a:latin typeface="Cambria Math" panose="02040503050406030204" charset="0"/>
                <a:ea typeface="等线" panose="02010600030101010101" pitchFamily="2" charset="-122"/>
                <a:cs typeface="Times New Roman" panose="02020603050405020304" pitchFamily="18" charset="0"/>
              </a:rPr>
              <a:t>Facet</a:t>
            </a:r>
            <a:r>
              <a:rPr lang="zh-CN" sz="1000" b="0">
                <a:ea typeface="等线" panose="02010600030101010101" pitchFamily="2" charset="-122"/>
              </a:rPr>
              <a:t>选项</a:t>
            </a:r>
            <a:endParaRPr lang="zh-CN" altLang="en-US" sz="1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393065" y="1635760"/>
            <a:ext cx="4498975" cy="2091690"/>
          </a:xfrm>
          <a:prstGeom prst="rect">
            <a:avLst/>
          </a:prstGeom>
          <a:noFill/>
          <a:ln w="9525">
            <a:noFill/>
          </a:ln>
        </p:spPr>
        <p:txBody>
          <a:bodyPr wrap="square">
            <a:spAutoFit/>
          </a:bodyPr>
          <a:lstStyle/>
          <a:p>
            <a:pPr indent="266700" algn="l">
              <a:lnSpc>
                <a:spcPct val="130000"/>
              </a:lnSpc>
              <a:spcBef>
                <a:spcPts val="0"/>
              </a:spcBef>
              <a:spcAft>
                <a:spcPts val="0"/>
              </a:spcAft>
              <a:buClrTx/>
              <a:buSzTx/>
              <a:buFontTx/>
            </a:pPr>
            <a:r>
              <a:rPr lang="zh-CN" sz="2000">
                <a:ea typeface="等线" panose="02010600030101010101" pitchFamily="2" charset="-122"/>
              </a:rPr>
              <a:t>点击后页面的左边会出现数据透视结果，该结果是以频率图的形式显现的，从左到右按升序排列，蓝色柱形的高度表示其密集程度，下面四个选项表示数据类型，如图所示。</a:t>
            </a:r>
          </a:p>
        </p:txBody>
      </p:sp>
      <p:sp>
        <p:nvSpPr>
          <p:cNvPr id="3" name="文本框 2"/>
          <p:cNvSpPr txBox="1"/>
          <p:nvPr/>
        </p:nvSpPr>
        <p:spPr>
          <a:xfrm>
            <a:off x="4154170" y="3482340"/>
            <a:ext cx="5080000" cy="245110"/>
          </a:xfrm>
          <a:prstGeom prst="rect">
            <a:avLst/>
          </a:prstGeom>
          <a:noFill/>
          <a:ln w="9525">
            <a:noFill/>
          </a:ln>
        </p:spPr>
        <p:txBody>
          <a:bodyPr>
            <a:spAutoFit/>
          </a:bodyPr>
          <a:lstStyle/>
          <a:p>
            <a:pPr indent="0" algn="ctr"/>
            <a:r>
              <a:rPr sz="1000" b="0">
                <a:ea typeface="等线" panose="02010600030101010101" pitchFamily="2" charset="-122"/>
              </a:rPr>
              <a:t> </a:t>
            </a:r>
            <a:r>
              <a:rPr sz="1000" b="0">
                <a:latin typeface="等线" panose="02010600030101010101" pitchFamily="2" charset="-122"/>
                <a:ea typeface="等线" panose="02010600030101010101" pitchFamily="2" charset="-122"/>
              </a:rPr>
              <a:t>数据透视结果示意图</a:t>
            </a:r>
          </a:p>
        </p:txBody>
      </p:sp>
      <p:pic>
        <p:nvPicPr>
          <p:cNvPr id="4" name="图片 20"/>
          <p:cNvPicPr>
            <a:picLocks noChangeAspect="1"/>
          </p:cNvPicPr>
          <p:nvPr/>
        </p:nvPicPr>
        <p:blipFill>
          <a:blip r:embed="rId3"/>
          <a:stretch>
            <a:fillRect/>
          </a:stretch>
        </p:blipFill>
        <p:spPr>
          <a:xfrm>
            <a:off x="4892040" y="1726883"/>
            <a:ext cx="3667760" cy="1688465"/>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227965" y="1355725"/>
            <a:ext cx="4626610" cy="2799715"/>
          </a:xfrm>
          <a:prstGeom prst="rect">
            <a:avLst/>
          </a:prstGeom>
          <a:noFill/>
          <a:ln w="9525">
            <a:noFill/>
          </a:ln>
        </p:spPr>
        <p:txBody>
          <a:bodyPr wrap="square">
            <a:spAutoFit/>
          </a:bodyPr>
          <a:lstStyle/>
          <a:p>
            <a:pPr marL="342900" indent="-342900">
              <a:buFont typeface="Wingdings" panose="05000000000000000000" charset="0"/>
              <a:buChar char="u"/>
            </a:pPr>
            <a:r>
              <a:rPr lang="zh-CN" sz="2000" b="1">
                <a:ea typeface="等线" panose="02010600030101010101" pitchFamily="2" charset="-122"/>
              </a:rPr>
              <a:t>缺失值填充</a:t>
            </a:r>
          </a:p>
          <a:p>
            <a:pPr marL="342900" indent="-3429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可以从上图中看出数据集的num_critic_for_reviews列有50个缺失值。取消勾选”Numeric“，则只会显示包含缺失的行，在缺失值单元格中单击“Edit”按钮，填入想要的值（如该列数据的平均值），如图所示。</a:t>
            </a:r>
          </a:p>
        </p:txBody>
      </p:sp>
      <p:sp>
        <p:nvSpPr>
          <p:cNvPr id="3" name="文本框 2"/>
          <p:cNvSpPr txBox="1"/>
          <p:nvPr/>
        </p:nvSpPr>
        <p:spPr>
          <a:xfrm>
            <a:off x="4263390" y="3610610"/>
            <a:ext cx="5080000" cy="245110"/>
          </a:xfrm>
          <a:prstGeom prst="rect">
            <a:avLst/>
          </a:prstGeom>
          <a:noFill/>
          <a:ln w="9525">
            <a:noFill/>
          </a:ln>
        </p:spPr>
        <p:txBody>
          <a:bodyPr>
            <a:spAutoFit/>
          </a:bodyPr>
          <a:lstStyle/>
          <a:p>
            <a:pPr indent="0" algn="ctr"/>
            <a:r>
              <a:rPr sz="1000" b="0">
                <a:ea typeface="等线" panose="02010600030101010101" pitchFamily="2" charset="-122"/>
              </a:rPr>
              <a:t> </a:t>
            </a:r>
            <a:r>
              <a:rPr sz="1000" b="0">
                <a:latin typeface="等线" panose="02010600030101010101" pitchFamily="2" charset="-122"/>
                <a:ea typeface="等线" panose="02010600030101010101" pitchFamily="2" charset="-122"/>
              </a:rPr>
              <a:t>缺失值填充示意图</a:t>
            </a:r>
          </a:p>
        </p:txBody>
      </p:sp>
      <p:pic>
        <p:nvPicPr>
          <p:cNvPr id="21" name="图片 21"/>
          <p:cNvPicPr>
            <a:picLocks noChangeAspect="1"/>
          </p:cNvPicPr>
          <p:nvPr/>
        </p:nvPicPr>
        <p:blipFill>
          <a:blip r:embed="rId3"/>
          <a:stretch>
            <a:fillRect/>
          </a:stretch>
        </p:blipFill>
        <p:spPr>
          <a:xfrm>
            <a:off x="5046345" y="2101850"/>
            <a:ext cx="3670935" cy="1308100"/>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265430" y="761365"/>
            <a:ext cx="5126355" cy="4154170"/>
          </a:xfrm>
          <a:prstGeom prst="rect">
            <a:avLst/>
          </a:prstGeom>
          <a:noFill/>
          <a:ln w="9525">
            <a:noFill/>
          </a:ln>
        </p:spPr>
        <p:txBody>
          <a:bodyPr wrap="square">
            <a:spAutoFit/>
          </a:bodyPr>
          <a:lstStyle/>
          <a:p>
            <a:pPr marL="342900" indent="-342900">
              <a:lnSpc>
                <a:spcPct val="120000"/>
              </a:lnSpc>
              <a:buFont typeface="Wingdings" panose="05000000000000000000" charset="0"/>
              <a:buChar char="u"/>
            </a:pPr>
            <a:r>
              <a:rPr lang="zh-CN" sz="2000">
                <a:ea typeface="等线" panose="02010600030101010101" pitchFamily="2" charset="-122"/>
              </a:rPr>
              <a:t>数据转换</a:t>
            </a:r>
          </a:p>
          <a:p>
            <a:pPr indent="0">
              <a:lnSpc>
                <a:spcPct val="120000"/>
              </a:lnSpc>
              <a:spcBef>
                <a:spcPts val="0"/>
              </a:spcBef>
              <a:spcAft>
                <a:spcPts val="0"/>
              </a:spcAft>
              <a:buFont typeface="Wingdings" panose="05000000000000000000" charset="0"/>
              <a:buNone/>
            </a:pPr>
            <a:r>
              <a:rPr lang="en-US" altLang="zh-CN" sz="2000">
                <a:ea typeface="等线" panose="02010600030101010101" pitchFamily="2" charset="-122"/>
              </a:rPr>
              <a:t>      </a:t>
            </a:r>
            <a:r>
              <a:rPr lang="zh-CN" sz="2000">
                <a:ea typeface="等线" panose="02010600030101010101" pitchFamily="2" charset="-122"/>
              </a:rPr>
              <a:t>可以对数据进行一些必要的变换，包括英文单词大小写不统一造成的分类偏差、额外的空格、首行有空格等。</a:t>
            </a:r>
          </a:p>
          <a:p>
            <a:pPr indent="0">
              <a:lnSpc>
                <a:spcPct val="120000"/>
              </a:lnSpc>
              <a:spcBef>
                <a:spcPts val="0"/>
              </a:spcBef>
              <a:spcAft>
                <a:spcPts val="0"/>
              </a:spcAft>
              <a:buFont typeface="Wingdings" panose="05000000000000000000" charset="0"/>
              <a:buNone/>
            </a:pPr>
            <a:r>
              <a:rPr lang="zh-CN" sz="2000">
                <a:ea typeface="等线" panose="02010600030101010101" pitchFamily="2" charset="-122"/>
              </a:rPr>
              <a:t>在打开的数据集中选择某一文本列，在下拉菜单edit cells选项中选择common transform的trim leading and trailing whitespace命令则会去除该列所有的行首和行尾空格；选择to uppercase命令则将该列所有字母从小写转换到大写（选择 tolowercase转换到小写），该项操作的界面如图所示。</a:t>
            </a:r>
          </a:p>
        </p:txBody>
      </p:sp>
      <p:sp>
        <p:nvSpPr>
          <p:cNvPr id="3" name="文本框 2"/>
          <p:cNvSpPr txBox="1"/>
          <p:nvPr/>
        </p:nvSpPr>
        <p:spPr>
          <a:xfrm>
            <a:off x="4281805" y="4229100"/>
            <a:ext cx="5080000" cy="245110"/>
          </a:xfrm>
          <a:prstGeom prst="rect">
            <a:avLst/>
          </a:prstGeom>
          <a:noFill/>
          <a:ln w="9525">
            <a:noFill/>
          </a:ln>
        </p:spPr>
        <p:txBody>
          <a:bodyPr>
            <a:spAutoFit/>
          </a:bodyPr>
          <a:lstStyle/>
          <a:p>
            <a:pPr indent="0" algn="ctr"/>
            <a:r>
              <a:rPr sz="1000" b="0">
                <a:ea typeface="等线" panose="02010600030101010101" pitchFamily="2" charset="-122"/>
              </a:rPr>
              <a:t> </a:t>
            </a:r>
            <a:r>
              <a:rPr sz="1000" b="0">
                <a:latin typeface="等线" panose="02010600030101010101" pitchFamily="2" charset="-122"/>
                <a:ea typeface="等线" panose="02010600030101010101" pitchFamily="2" charset="-122"/>
              </a:rPr>
              <a:t>数据转换操作示意图</a:t>
            </a:r>
          </a:p>
        </p:txBody>
      </p:sp>
      <p:pic>
        <p:nvPicPr>
          <p:cNvPr id="22" name="图片 22"/>
          <p:cNvPicPr>
            <a:picLocks noChangeAspect="1"/>
          </p:cNvPicPr>
          <p:nvPr/>
        </p:nvPicPr>
        <p:blipFill>
          <a:blip r:embed="rId3"/>
          <a:stretch>
            <a:fillRect/>
          </a:stretch>
        </p:blipFill>
        <p:spPr>
          <a:xfrm>
            <a:off x="5464810" y="1637665"/>
            <a:ext cx="3417570" cy="2315210"/>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102" name="文本框 101"/>
          <p:cNvSpPr txBox="1"/>
          <p:nvPr/>
        </p:nvSpPr>
        <p:spPr>
          <a:xfrm>
            <a:off x="483870" y="911225"/>
            <a:ext cx="8067040" cy="398780"/>
          </a:xfrm>
          <a:prstGeom prst="rect">
            <a:avLst/>
          </a:prstGeom>
          <a:noFill/>
          <a:ln w="9525">
            <a:noFill/>
          </a:ln>
        </p:spPr>
        <p:txBody>
          <a:bodyPr wrap="square">
            <a:spAutoFit/>
          </a:bodyPr>
          <a:lstStyle/>
          <a:p>
            <a:pPr indent="266700"/>
            <a:r>
              <a:rPr lang="zh-CN" sz="2000" b="1">
                <a:ea typeface="等线" panose="02010600030101010101" pitchFamily="2" charset="-122"/>
              </a:rPr>
              <a:t>3.OpenRefine的数据分析功能</a:t>
            </a:r>
          </a:p>
        </p:txBody>
      </p:sp>
      <p:sp>
        <p:nvSpPr>
          <p:cNvPr id="2" name="文本框 1"/>
          <p:cNvSpPr txBox="1"/>
          <p:nvPr/>
        </p:nvSpPr>
        <p:spPr>
          <a:xfrm>
            <a:off x="483870" y="1459865"/>
            <a:ext cx="4498975" cy="2891790"/>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在选择数据时，有时筛选条件并不是那么严格时可能会选择好几类相似的数据，此时可以用聚类方法对相似的数据类进行聚类。下面对genres列数据进行聚类操作，点击genres列，在下拉菜单中选择edit cells 的cluster and edit选项，如图所示。</a:t>
            </a:r>
          </a:p>
        </p:txBody>
      </p:sp>
      <p:sp>
        <p:nvSpPr>
          <p:cNvPr id="3" name="文本框 2"/>
          <p:cNvSpPr txBox="1"/>
          <p:nvPr/>
        </p:nvSpPr>
        <p:spPr>
          <a:xfrm>
            <a:off x="4191000" y="3859530"/>
            <a:ext cx="5080000" cy="245110"/>
          </a:xfrm>
          <a:prstGeom prst="rect">
            <a:avLst/>
          </a:prstGeom>
          <a:noFill/>
          <a:ln w="9525">
            <a:noFill/>
          </a:ln>
        </p:spPr>
        <p:txBody>
          <a:bodyPr>
            <a:spAutoFit/>
          </a:bodyPr>
          <a:lstStyle/>
          <a:p>
            <a:pPr indent="0" algn="ctr"/>
            <a:r>
              <a:rPr sz="1000" b="0">
                <a:ea typeface="等线" panose="02010600030101010101" pitchFamily="2" charset="-122"/>
              </a:rPr>
              <a:t>对某列数据进行聚类操作</a:t>
            </a:r>
          </a:p>
        </p:txBody>
      </p:sp>
      <p:pic>
        <p:nvPicPr>
          <p:cNvPr id="24" name="图片 24"/>
          <p:cNvPicPr>
            <a:picLocks noChangeAspect="1"/>
          </p:cNvPicPr>
          <p:nvPr/>
        </p:nvPicPr>
        <p:blipFill>
          <a:blip r:embed="rId3"/>
          <a:stretch>
            <a:fillRect/>
          </a:stretch>
        </p:blipFill>
        <p:spPr>
          <a:xfrm>
            <a:off x="5011738" y="1602105"/>
            <a:ext cx="3437255" cy="2184400"/>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266065" y="1157605"/>
            <a:ext cx="4980940" cy="3199765"/>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在聚类分析界面中选择Method为“Nearest Neighbor”，采用PPM计算字符串之间的距离并进行聚类，结果如图所示。</a:t>
            </a:r>
          </a:p>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OpenRefine的特点是对于列的操作十分便利，可以进行列的隐藏、展开、转换、移动、重命名、和删除等操作，可以直观方便观察、分析和操纵数据。</a:t>
            </a:r>
          </a:p>
          <a:p>
            <a:pPr indent="266700"/>
            <a:endParaRPr lang="zh-CN" sz="2000">
              <a:ea typeface="等线" panose="02010600030101010101" pitchFamily="2" charset="-122"/>
            </a:endParaRPr>
          </a:p>
        </p:txBody>
      </p:sp>
      <p:sp>
        <p:nvSpPr>
          <p:cNvPr id="3" name="文本框 2"/>
          <p:cNvSpPr txBox="1"/>
          <p:nvPr/>
        </p:nvSpPr>
        <p:spPr>
          <a:xfrm>
            <a:off x="4425315" y="3686175"/>
            <a:ext cx="5080000" cy="245110"/>
          </a:xfrm>
          <a:prstGeom prst="rect">
            <a:avLst/>
          </a:prstGeom>
          <a:noFill/>
          <a:ln w="9525">
            <a:noFill/>
          </a:ln>
        </p:spPr>
        <p:txBody>
          <a:bodyPr>
            <a:spAutoFit/>
          </a:bodyPr>
          <a:lstStyle/>
          <a:p>
            <a:pPr indent="0" algn="ctr"/>
            <a:r>
              <a:rPr sz="1000" b="0">
                <a:ea typeface="等线" panose="02010600030101010101" pitchFamily="2" charset="-122"/>
              </a:rPr>
              <a:t> 聚类分析结果示意图</a:t>
            </a:r>
          </a:p>
        </p:txBody>
      </p:sp>
      <p:pic>
        <p:nvPicPr>
          <p:cNvPr id="25" name="图片 25"/>
          <p:cNvPicPr>
            <a:picLocks noChangeAspect="1"/>
          </p:cNvPicPr>
          <p:nvPr/>
        </p:nvPicPr>
        <p:blipFill>
          <a:blip r:embed="rId3"/>
          <a:stretch>
            <a:fillRect/>
          </a:stretch>
        </p:blipFill>
        <p:spPr>
          <a:xfrm>
            <a:off x="5247005" y="1223010"/>
            <a:ext cx="3616960" cy="2352040"/>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3.4.3使用OpenRefine清洗数据</a:t>
            </a:r>
          </a:p>
        </p:txBody>
      </p:sp>
      <p:sp>
        <p:nvSpPr>
          <p:cNvPr id="2" name="文本框 1"/>
          <p:cNvSpPr txBox="1"/>
          <p:nvPr/>
        </p:nvSpPr>
        <p:spPr>
          <a:xfrm>
            <a:off x="756920" y="1439545"/>
            <a:ext cx="7630795"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OpenRefine会在项目创建后保存所有的操作步骤，所以可以随便尝试各种变换数据，也可以将操作完成后的数据保存为csv、tsv、excel和open document格式，以及不常用的RDF格式，还可以导出Openrefine压缩包和自定义导出设置等。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3.4.4数据集成</a:t>
            </a:r>
          </a:p>
        </p:txBody>
      </p:sp>
      <p:sp>
        <p:nvSpPr>
          <p:cNvPr id="2" name="文本框 1"/>
          <p:cNvSpPr txBox="1"/>
          <p:nvPr/>
        </p:nvSpPr>
        <p:spPr>
          <a:xfrm>
            <a:off x="396875" y="1125855"/>
            <a:ext cx="8349615" cy="289179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数据集成（Data Integration）是把不同来源、格式的数据有机地集中起来， 通过一致的、 精确的表示法， 对同一种实体对象的不同数据做整合的过程。</a:t>
            </a:r>
          </a:p>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数据采集过程中，数据可能来自于不同的系统，难以确保数据的模式、模态和语言的一致性，在很多应用中要将不同来源的数据集成汇总，才能正常使用。</a:t>
            </a:r>
          </a:p>
          <a:p>
            <a:pPr indent="266700">
              <a:lnSpc>
                <a:spcPct val="130000"/>
              </a:lnSpc>
              <a:spcBef>
                <a:spcPts val="0"/>
              </a:spcBef>
              <a:spcAft>
                <a:spcPts val="0"/>
              </a:spcAft>
            </a:pPr>
            <a:r>
              <a:rPr lang="zh-CN" sz="2000">
                <a:ea typeface="等线" panose="02010600030101010101" pitchFamily="2" charset="-122"/>
              </a:rPr>
              <a:t>根据数据集成方式的不同，可以分为传统数据集成和跨域数据集成。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3.4.4数据集成</a:t>
            </a:r>
          </a:p>
        </p:txBody>
      </p:sp>
      <p:sp>
        <p:nvSpPr>
          <p:cNvPr id="2" name="文本框 1"/>
          <p:cNvSpPr txBox="1"/>
          <p:nvPr/>
        </p:nvSpPr>
        <p:spPr>
          <a:xfrm>
            <a:off x="397510" y="1062355"/>
            <a:ext cx="8349615" cy="1291590"/>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（1）传统数据集成：是将来自多个数据集的数据以统一的模式进行集成汇总，以达到数据共享的目的（如图 所示），例如将多个来源的数据存储到一个关系数据库中。</a:t>
            </a:r>
          </a:p>
        </p:txBody>
      </p:sp>
      <p:pic>
        <p:nvPicPr>
          <p:cNvPr id="197" name="图片 1"/>
          <p:cNvPicPr>
            <a:picLocks noChangeAspect="1"/>
          </p:cNvPicPr>
          <p:nvPr/>
        </p:nvPicPr>
        <p:blipFill>
          <a:blip r:embed="rId3"/>
          <a:stretch>
            <a:fillRect/>
          </a:stretch>
        </p:blipFill>
        <p:spPr>
          <a:xfrm>
            <a:off x="2212975" y="2506345"/>
            <a:ext cx="4481195" cy="1268730"/>
          </a:xfrm>
          <a:prstGeom prst="rect">
            <a:avLst/>
          </a:prstGeom>
          <a:ln>
            <a:solidFill>
              <a:srgbClr val="0070C0"/>
            </a:solidFill>
          </a:ln>
        </p:spPr>
      </p:pic>
      <p:sp>
        <p:nvSpPr>
          <p:cNvPr id="4" name="文本框 3"/>
          <p:cNvSpPr txBox="1"/>
          <p:nvPr/>
        </p:nvSpPr>
        <p:spPr>
          <a:xfrm>
            <a:off x="3712210" y="3927475"/>
            <a:ext cx="2540000" cy="245110"/>
          </a:xfrm>
          <a:prstGeom prst="rect">
            <a:avLst/>
          </a:prstGeom>
          <a:noFill/>
        </p:spPr>
        <p:txBody>
          <a:bodyPr wrap="square" rtlCol="0" anchor="t">
            <a:spAutoFit/>
          </a:bodyPr>
          <a:lstStyle/>
          <a:p>
            <a:r>
              <a:rPr lang="zh-CN" altLang="en-US" sz="1000"/>
              <a:t>传统数据集成示意图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3.4.4数据集成</a:t>
            </a:r>
          </a:p>
        </p:txBody>
      </p:sp>
      <p:sp>
        <p:nvSpPr>
          <p:cNvPr id="2" name="文本框 1"/>
          <p:cNvSpPr txBox="1"/>
          <p:nvPr/>
        </p:nvSpPr>
        <p:spPr>
          <a:xfrm>
            <a:off x="396875" y="993140"/>
            <a:ext cx="8349615" cy="891540"/>
          </a:xfrm>
          <a:prstGeom prst="rect">
            <a:avLst/>
          </a:prstGeom>
          <a:noFill/>
          <a:ln w="9525">
            <a:noFill/>
          </a:ln>
        </p:spPr>
        <p:txBody>
          <a:bodyPr wrap="square">
            <a:spAutoFit/>
          </a:bodyPr>
          <a:lstStyle/>
          <a:p>
            <a:pPr indent="266700" algn="l">
              <a:lnSpc>
                <a:spcPct val="130000"/>
              </a:lnSpc>
              <a:spcBef>
                <a:spcPts val="0"/>
              </a:spcBef>
              <a:spcAft>
                <a:spcPts val="0"/>
              </a:spcAft>
              <a:buClrTx/>
              <a:buSzTx/>
              <a:buFontTx/>
            </a:pPr>
            <a:r>
              <a:rPr lang="zh-CN" sz="2000">
                <a:ea typeface="等线" panose="02010600030101010101" pitchFamily="2" charset="-122"/>
              </a:rPr>
              <a:t>（2）跨域数据集成：是将来自不同领域的数据进行集成汇总（如图所示），例如将社交网络关系、电商和金融三个领域的数据有机整合在一起。</a:t>
            </a:r>
          </a:p>
        </p:txBody>
      </p:sp>
      <p:sp>
        <p:nvSpPr>
          <p:cNvPr id="4" name="文本框 3"/>
          <p:cNvSpPr txBox="1"/>
          <p:nvPr/>
        </p:nvSpPr>
        <p:spPr>
          <a:xfrm>
            <a:off x="3302000" y="3791585"/>
            <a:ext cx="2540000" cy="245110"/>
          </a:xfrm>
          <a:prstGeom prst="rect">
            <a:avLst/>
          </a:prstGeom>
          <a:noFill/>
        </p:spPr>
        <p:txBody>
          <a:bodyPr wrap="square" rtlCol="0" anchor="t">
            <a:spAutoFit/>
          </a:bodyPr>
          <a:lstStyle/>
          <a:p>
            <a:r>
              <a:rPr lang="zh-CN" altLang="en-US" sz="1000"/>
              <a:t>跨域数据集成示意图</a:t>
            </a:r>
          </a:p>
        </p:txBody>
      </p:sp>
      <p:pic>
        <p:nvPicPr>
          <p:cNvPr id="6" name="图片 5"/>
          <p:cNvPicPr>
            <a:picLocks noChangeAspect="1"/>
          </p:cNvPicPr>
          <p:nvPr/>
        </p:nvPicPr>
        <p:blipFill>
          <a:blip r:embed="rId3"/>
          <a:stretch>
            <a:fillRect/>
          </a:stretch>
        </p:blipFill>
        <p:spPr>
          <a:xfrm>
            <a:off x="1669733" y="2213610"/>
            <a:ext cx="4893945" cy="1249680"/>
          </a:xfrm>
          <a:prstGeom prst="rect">
            <a:avLst/>
          </a:prstGeom>
          <a:ln>
            <a:solidFill>
              <a:srgbClr val="0070C0"/>
            </a:solid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3.4.4数据集成</a:t>
            </a:r>
          </a:p>
        </p:txBody>
      </p:sp>
      <p:sp>
        <p:nvSpPr>
          <p:cNvPr id="2" name="文本框 1"/>
          <p:cNvSpPr txBox="1"/>
          <p:nvPr/>
        </p:nvSpPr>
        <p:spPr>
          <a:xfrm>
            <a:off x="312420" y="1004570"/>
            <a:ext cx="8349615" cy="891540"/>
          </a:xfrm>
          <a:prstGeom prst="rect">
            <a:avLst/>
          </a:prstGeom>
          <a:noFill/>
          <a:ln w="9525">
            <a:noFill/>
          </a:ln>
        </p:spPr>
        <p:txBody>
          <a:bodyPr wrap="square">
            <a:spAutoFit/>
          </a:bodyPr>
          <a:lstStyle/>
          <a:p>
            <a:pPr indent="266700">
              <a:lnSpc>
                <a:spcPct val="130000"/>
              </a:lnSpc>
              <a:spcBef>
                <a:spcPts val="0"/>
              </a:spcBef>
              <a:spcAft>
                <a:spcPts val="0"/>
              </a:spcAft>
            </a:pPr>
            <a:r>
              <a:rPr lang="zh-CN" sz="2000">
                <a:ea typeface="等线" panose="02010600030101010101" pitchFamily="2" charset="-122"/>
              </a:rPr>
              <a:t>数据集成解决的主要问题包括</a:t>
            </a:r>
            <a:r>
              <a:rPr lang="zh-CN" sz="2000" u="sng">
                <a:ea typeface="等线" panose="02010600030101010101" pitchFamily="2" charset="-122"/>
              </a:rPr>
              <a:t>实体识别</a:t>
            </a:r>
            <a:r>
              <a:rPr lang="zh-CN" sz="2000">
                <a:ea typeface="等线" panose="02010600030101010101" pitchFamily="2" charset="-122"/>
              </a:rPr>
              <a:t>、</a:t>
            </a:r>
            <a:r>
              <a:rPr lang="zh-CN" sz="2000" u="sng">
                <a:ea typeface="等线" panose="02010600030101010101" pitchFamily="2" charset="-122"/>
              </a:rPr>
              <a:t>数据冗余问题</a:t>
            </a:r>
            <a:r>
              <a:rPr lang="zh-CN" sz="2000">
                <a:ea typeface="等线" panose="02010600030101010101" pitchFamily="2" charset="-122"/>
              </a:rPr>
              <a:t>和</a:t>
            </a:r>
            <a:r>
              <a:rPr lang="zh-CN" sz="2000" u="sng">
                <a:ea typeface="等线" panose="02010600030101010101" pitchFamily="2" charset="-122"/>
              </a:rPr>
              <a:t>数据值冲突的检测与处理</a:t>
            </a:r>
            <a:r>
              <a:rPr lang="zh-CN" sz="2000">
                <a:ea typeface="等线" panose="02010600030101010101" pitchFamily="2" charset="-122"/>
              </a:rPr>
              <a:t>等。</a:t>
            </a:r>
          </a:p>
        </p:txBody>
      </p:sp>
      <p:graphicFrame>
        <p:nvGraphicFramePr>
          <p:cNvPr id="13" name="图示 12"/>
          <p:cNvGraphicFramePr/>
          <p:nvPr/>
        </p:nvGraphicFramePr>
        <p:xfrm>
          <a:off x="275590" y="1949450"/>
          <a:ext cx="2512695" cy="24930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图示 2"/>
          <p:cNvGraphicFramePr/>
          <p:nvPr/>
        </p:nvGraphicFramePr>
        <p:xfrm>
          <a:off x="3032125" y="1949450"/>
          <a:ext cx="2668270" cy="24930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5" name="图示 4"/>
          <p:cNvGraphicFramePr/>
          <p:nvPr/>
        </p:nvGraphicFramePr>
        <p:xfrm>
          <a:off x="5944235" y="2004060"/>
          <a:ext cx="2860040" cy="234759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88181" y="0"/>
            <a:ext cx="9141291" cy="5143500"/>
          </a:xfrm>
          <a:prstGeom prst="rect">
            <a:avLst/>
          </a:prstGeom>
        </p:spPr>
      </p:pic>
      <p:grpSp>
        <p:nvGrpSpPr>
          <p:cNvPr id="32" name="组合 14"/>
          <p:cNvGrpSpPr/>
          <p:nvPr/>
        </p:nvGrpSpPr>
        <p:grpSpPr bwMode="auto">
          <a:xfrm>
            <a:off x="1906970" y="239914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216150" y="1677670"/>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638679" y="153937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IrisUPC" panose="020B0604020202020204" pitchFamily="34" charset="-34"/>
                <a:cs typeface="IrisUPC" panose="020B0604020202020204" pitchFamily="34" charset="-34"/>
              </a:rPr>
              <a:t>3.5</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118745" y="239395"/>
            <a:ext cx="4883785" cy="521970"/>
          </a:xfrm>
          <a:prstGeom prst="rect">
            <a:avLst/>
          </a:prstGeom>
          <a:noFill/>
        </p:spPr>
        <p:txBody>
          <a:bodyPr wrap="square" rtlCol="0">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3.5</a:t>
            </a:r>
            <a:r>
              <a:rPr lang="en-US"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本章小结</a:t>
            </a:r>
          </a:p>
        </p:txBody>
      </p:sp>
      <p:sp>
        <p:nvSpPr>
          <p:cNvPr id="2" name="文本框 1"/>
          <p:cNvSpPr txBox="1"/>
          <p:nvPr/>
        </p:nvSpPr>
        <p:spPr>
          <a:xfrm>
            <a:off x="679450" y="1530985"/>
            <a:ext cx="7785100" cy="1691640"/>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a:ea typeface="等线" panose="02010600030101010101" pitchFamily="2" charset="-122"/>
              </a:rPr>
              <a:t>   </a:t>
            </a:r>
            <a:r>
              <a:rPr lang="zh-CN" sz="2000">
                <a:ea typeface="等线" panose="02010600030101010101" pitchFamily="2" charset="-122"/>
              </a:rPr>
              <a:t>本章的主要内容包括大数据采集工具的使用以及数据预处理的常用方法，首先介绍了大数据的来源和容量单位；接着讲解常用大数据采集工具的基本使用方法；最后对常用的数据预处理方法进行了简要介绍。</a:t>
            </a:r>
          </a:p>
        </p:txBody>
      </p:sp>
      <p:graphicFrame>
        <p:nvGraphicFramePr>
          <p:cNvPr id="13" name="图示 12"/>
          <p:cNvGraphicFramePr/>
          <p:nvPr/>
        </p:nvGraphicFramePr>
        <p:xfrm>
          <a:off x="275590" y="1949450"/>
          <a:ext cx="2512695" cy="24930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dirty="0">
                <a:solidFill>
                  <a:srgbClr val="FFC000"/>
                </a:solidFill>
              </a:rPr>
              <a:t> ！</a:t>
            </a:r>
            <a:r>
              <a:rPr lang="zh-CN" altLang="en-US" sz="7200" dirty="0">
                <a:solidFill>
                  <a:srgbClr val="FF0000"/>
                </a:solidFill>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331*56"/>
  <p:tag name="TABLE_ENDDRAG_RECT" val="115*106*331*56"/>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4f6bdfe9-47df-4626-9d91-b1d7f044aeee}"/>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f2f14ef1-f897-40d4-9fdd-1420bb2db5e7}"/>
</p:tagLst>
</file>

<file path=ppt/theme/theme1.xml><?xml version="1.0" encoding="utf-8"?>
<a:theme xmlns:a="http://schemas.openxmlformats.org/drawingml/2006/main" name="第一PPT，www.1ppt.com">
  <a:themeElements>
    <a:clrScheme name="自定义 11">
      <a:dk1>
        <a:sysClr val="windowText" lastClr="000000"/>
      </a:dk1>
      <a:lt1>
        <a:sysClr val="window" lastClr="FFFFFF"/>
      </a:lt1>
      <a:dk2>
        <a:srgbClr val="44546A"/>
      </a:dk2>
      <a:lt2>
        <a:srgbClr val="E7E6E6"/>
      </a:lt2>
      <a:accent1>
        <a:srgbClr val="5B9BD5"/>
      </a:accent1>
      <a:accent2>
        <a:srgbClr val="459BB3"/>
      </a:accent2>
      <a:accent3>
        <a:srgbClr val="00B0F0"/>
      </a:accent3>
      <a:accent4>
        <a:srgbClr val="00B0F0"/>
      </a:accent4>
      <a:accent5>
        <a:srgbClr val="459BB3"/>
      </a:accent5>
      <a:accent6>
        <a:srgbClr val="459BB3"/>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81</TotalTime>
  <Words>5664</Words>
  <Application>Microsoft Office PowerPoint</Application>
  <PresentationFormat>全屏显示(16:9)</PresentationFormat>
  <Paragraphs>546</Paragraphs>
  <Slides>63</Slides>
  <Notes>57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63</vt:i4>
      </vt:variant>
    </vt:vector>
  </HeadingPairs>
  <TitlesOfParts>
    <vt:vector size="77" baseType="lpstr">
      <vt:lpstr>等线</vt:lpstr>
      <vt:lpstr>等线 Light</vt:lpstr>
      <vt:lpstr>宋体</vt:lpstr>
      <vt:lpstr>微软雅黑</vt:lpstr>
      <vt:lpstr>Arial</vt:lpstr>
      <vt:lpstr>Calibri</vt:lpstr>
      <vt:lpstr>Calibri Light</vt:lpstr>
      <vt:lpstr>Cambria Math</vt:lpstr>
      <vt:lpstr>Impact</vt:lpstr>
      <vt:lpstr>IrisUPC</vt:lpstr>
      <vt:lpstr>Segoe UI</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dc:creator>
  <cp:keywords>www.1ppt.com</cp:keywords>
  <dc:description>www.1ppt.com</dc:description>
  <cp:lastModifiedBy>lenovo</cp:lastModifiedBy>
  <cp:revision>286</cp:revision>
  <dcterms:created xsi:type="dcterms:W3CDTF">2017-03-04T06:55:00Z</dcterms:created>
  <dcterms:modified xsi:type="dcterms:W3CDTF">2022-09-29T00:41:51Z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252D1EE556A7488796FAE8D3BC33E8EE</vt:lpwstr>
  </property>
</Properties>
</file>
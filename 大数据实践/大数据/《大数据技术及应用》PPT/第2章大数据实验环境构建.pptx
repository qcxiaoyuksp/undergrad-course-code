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8"/>
  </p:notesMasterIdLst>
  <p:handoutMasterIdLst>
    <p:handoutMasterId r:id="rId99"/>
  </p:handoutMasterIdLst>
  <p:sldIdLst>
    <p:sldId id="288" r:id="rId2"/>
    <p:sldId id="290" r:id="rId3"/>
    <p:sldId id="361" r:id="rId4"/>
    <p:sldId id="289" r:id="rId5"/>
    <p:sldId id="318" r:id="rId6"/>
    <p:sldId id="337" r:id="rId7"/>
    <p:sldId id="509" r:id="rId8"/>
    <p:sldId id="384" r:id="rId9"/>
    <p:sldId id="385" r:id="rId10"/>
    <p:sldId id="386" r:id="rId11"/>
    <p:sldId id="387" r:id="rId12"/>
    <p:sldId id="513" r:id="rId13"/>
    <p:sldId id="514" r:id="rId14"/>
    <p:sldId id="391" r:id="rId15"/>
    <p:sldId id="515" r:id="rId16"/>
    <p:sldId id="580" r:id="rId17"/>
    <p:sldId id="510" r:id="rId18"/>
    <p:sldId id="393" r:id="rId19"/>
    <p:sldId id="321" r:id="rId20"/>
    <p:sldId id="414" r:id="rId21"/>
    <p:sldId id="417" r:id="rId22"/>
    <p:sldId id="418" r:id="rId23"/>
    <p:sldId id="699" r:id="rId24"/>
    <p:sldId id="700" r:id="rId25"/>
    <p:sldId id="419" r:id="rId26"/>
    <p:sldId id="701" r:id="rId27"/>
    <p:sldId id="420" r:id="rId28"/>
    <p:sldId id="702" r:id="rId29"/>
    <p:sldId id="441" r:id="rId30"/>
    <p:sldId id="442" r:id="rId31"/>
    <p:sldId id="443" r:id="rId32"/>
    <p:sldId id="518" r:id="rId33"/>
    <p:sldId id="444" r:id="rId34"/>
    <p:sldId id="446" r:id="rId35"/>
    <p:sldId id="447" r:id="rId36"/>
    <p:sldId id="448" r:id="rId37"/>
    <p:sldId id="449" r:id="rId38"/>
    <p:sldId id="516" r:id="rId39"/>
    <p:sldId id="517" r:id="rId40"/>
    <p:sldId id="451" r:id="rId41"/>
    <p:sldId id="703" r:id="rId42"/>
    <p:sldId id="704" r:id="rId43"/>
    <p:sldId id="705" r:id="rId44"/>
    <p:sldId id="452" r:id="rId45"/>
    <p:sldId id="643" r:id="rId46"/>
    <p:sldId id="707" r:id="rId47"/>
    <p:sldId id="706" r:id="rId48"/>
    <p:sldId id="708" r:id="rId49"/>
    <p:sldId id="709" r:id="rId50"/>
    <p:sldId id="710" r:id="rId51"/>
    <p:sldId id="711" r:id="rId52"/>
    <p:sldId id="519" r:id="rId53"/>
    <p:sldId id="454" r:id="rId54"/>
    <p:sldId id="455" r:id="rId55"/>
    <p:sldId id="522" r:id="rId56"/>
    <p:sldId id="644" r:id="rId57"/>
    <p:sldId id="457" r:id="rId58"/>
    <p:sldId id="645" r:id="rId59"/>
    <p:sldId id="646" r:id="rId60"/>
    <p:sldId id="649" r:id="rId61"/>
    <p:sldId id="647" r:id="rId62"/>
    <p:sldId id="650" r:id="rId63"/>
    <p:sldId id="651" r:id="rId64"/>
    <p:sldId id="653" r:id="rId65"/>
    <p:sldId id="654" r:id="rId66"/>
    <p:sldId id="655" r:id="rId67"/>
    <p:sldId id="656" r:id="rId68"/>
    <p:sldId id="658" r:id="rId69"/>
    <p:sldId id="659" r:id="rId70"/>
    <p:sldId id="523" r:id="rId71"/>
    <p:sldId id="456" r:id="rId72"/>
    <p:sldId id="459" r:id="rId73"/>
    <p:sldId id="460" r:id="rId74"/>
    <p:sldId id="464" r:id="rId75"/>
    <p:sldId id="465" r:id="rId76"/>
    <p:sldId id="524" r:id="rId77"/>
    <p:sldId id="466" r:id="rId78"/>
    <p:sldId id="467" r:id="rId79"/>
    <p:sldId id="468" r:id="rId80"/>
    <p:sldId id="469" r:id="rId81"/>
    <p:sldId id="489" r:id="rId82"/>
    <p:sldId id="490" r:id="rId83"/>
    <p:sldId id="491" r:id="rId84"/>
    <p:sldId id="525" r:id="rId85"/>
    <p:sldId id="492" r:id="rId86"/>
    <p:sldId id="493" r:id="rId87"/>
    <p:sldId id="494" r:id="rId88"/>
    <p:sldId id="496" r:id="rId89"/>
    <p:sldId id="497" r:id="rId90"/>
    <p:sldId id="498" r:id="rId91"/>
    <p:sldId id="499" r:id="rId92"/>
    <p:sldId id="500" r:id="rId93"/>
    <p:sldId id="501" r:id="rId94"/>
    <p:sldId id="697" r:id="rId95"/>
    <p:sldId id="698" r:id="rId96"/>
    <p:sldId id="311" r:id="rId97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9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991"/>
    <a:srgbClr val="5B9BD5"/>
    <a:srgbClr val="0070C0"/>
    <a:srgbClr val="55375F"/>
    <a:srgbClr val="7CA82A"/>
    <a:srgbClr val="442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60" autoAdjust="0"/>
    <p:restoredTop sz="95104" autoAdjust="0"/>
  </p:normalViewPr>
  <p:slideViewPr>
    <p:cSldViewPr snapToGrid="0">
      <p:cViewPr varScale="1">
        <p:scale>
          <a:sx n="207" d="100"/>
          <a:sy n="207" d="100"/>
        </p:scale>
        <p:origin x="280" y="-8"/>
      </p:cViewPr>
      <p:guideLst>
        <p:guide orient="horz" pos="1620"/>
        <p:guide pos="2951"/>
      </p:guideLst>
    </p:cSldViewPr>
  </p:slideViewPr>
  <p:outlineViewPr>
    <p:cViewPr>
      <p:scale>
        <a:sx n="33" d="100"/>
        <a:sy n="33" d="100"/>
      </p:scale>
      <p:origin x="0" y="-1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1" d="100"/>
        <a:sy n="121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404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4CCC98-64EA-454D-9045-9EE6B4F54B10}" type="doc">
      <dgm:prSet loTypeId="urn:microsoft.com/office/officeart/2005/8/layout/process1" loCatId="process" qsTypeId="urn:microsoft.com/office/officeart/2005/8/quickstyle/simple3#1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D36E52A4-4EEA-4EE0-8438-14B6CD7B74E5}">
      <dgm:prSet custT="1"/>
      <dgm:spPr>
        <a:noFill/>
      </dgm:spPr>
      <dgm:t>
        <a:bodyPr/>
        <a:lstStyle/>
        <a:p>
          <a:endParaRPr lang="zh-CN" altLang="en-US" sz="1400" dirty="0">
            <a:solidFill>
              <a:srgbClr val="FF0000"/>
            </a:solidFill>
          </a:endParaRPr>
        </a:p>
      </dgm:t>
    </dgm:pt>
    <dgm:pt modelId="{4AF64EEA-8AB5-4F19-8B1D-17CF22A5AA36}" type="parTrans" cxnId="{E0E4F0A2-2F36-4D40-89D2-4A57E34DB991}">
      <dgm:prSet/>
      <dgm:spPr/>
      <dgm:t>
        <a:bodyPr/>
        <a:lstStyle/>
        <a:p>
          <a:endParaRPr lang="zh-CN" altLang="en-US"/>
        </a:p>
      </dgm:t>
    </dgm:pt>
    <dgm:pt modelId="{2F2D4023-8032-424A-AE18-B3974FE620E1}" type="sibTrans" cxnId="{E0E4F0A2-2F36-4D40-89D2-4A57E34DB991}">
      <dgm:prSet/>
      <dgm:spPr/>
      <dgm:t>
        <a:bodyPr/>
        <a:lstStyle/>
        <a:p>
          <a:endParaRPr lang="zh-CN" altLang="en-US"/>
        </a:p>
      </dgm:t>
    </dgm:pt>
    <dgm:pt modelId="{E25692DB-8ED8-47F7-A25B-B8C33BD4281C}" type="pres">
      <dgm:prSet presAssocID="{D64CCC98-64EA-454D-9045-9EE6B4F54B10}" presName="Name0" presStyleCnt="0">
        <dgm:presLayoutVars>
          <dgm:dir/>
          <dgm:resizeHandles val="exact"/>
        </dgm:presLayoutVars>
      </dgm:prSet>
      <dgm:spPr/>
    </dgm:pt>
    <dgm:pt modelId="{58A209C4-2BBF-4546-8723-2965DBDF7935}" type="pres">
      <dgm:prSet presAssocID="{D36E52A4-4EEA-4EE0-8438-14B6CD7B74E5}" presName="node" presStyleLbl="node1" presStyleIdx="0" presStyleCnt="1" custLinFactX="40570" custLinFactY="300000" custLinFactNeighborX="100000" custLinFactNeighborY="338383">
        <dgm:presLayoutVars>
          <dgm:bulletEnabled val="1"/>
        </dgm:presLayoutVars>
      </dgm:prSet>
      <dgm:spPr/>
    </dgm:pt>
  </dgm:ptLst>
  <dgm:cxnLst>
    <dgm:cxn modelId="{5C71A830-4104-429E-B52C-EBF2645CEC38}" type="presOf" srcId="{D36E52A4-4EEA-4EE0-8438-14B6CD7B74E5}" destId="{58A209C4-2BBF-4546-8723-2965DBDF7935}" srcOrd="0" destOrd="0" presId="urn:microsoft.com/office/officeart/2005/8/layout/process1"/>
    <dgm:cxn modelId="{E0E4F0A2-2F36-4D40-89D2-4A57E34DB991}" srcId="{D64CCC98-64EA-454D-9045-9EE6B4F54B10}" destId="{D36E52A4-4EEA-4EE0-8438-14B6CD7B74E5}" srcOrd="0" destOrd="0" parTransId="{4AF64EEA-8AB5-4F19-8B1D-17CF22A5AA36}" sibTransId="{2F2D4023-8032-424A-AE18-B3974FE620E1}"/>
    <dgm:cxn modelId="{D63AB2E0-1AA4-49F3-B5B8-9490530D9FE1}" type="presOf" srcId="{D64CCC98-64EA-454D-9045-9EE6B4F54B10}" destId="{E25692DB-8ED8-47F7-A25B-B8C33BD4281C}" srcOrd="0" destOrd="0" presId="urn:microsoft.com/office/officeart/2005/8/layout/process1"/>
    <dgm:cxn modelId="{D48071DB-3728-455D-8C32-A089E12DF41A}" type="presParOf" srcId="{E25692DB-8ED8-47F7-A25B-B8C33BD4281C}" destId="{58A209C4-2BBF-4546-8723-2965DBDF793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6962C7-8437-49A5-82C9-A65B2614BE29}" type="doc">
      <dgm:prSet loTypeId="urn:microsoft.com/office/officeart/2005/8/layout/target2#1" loCatId="relationship" qsTypeId="urn:microsoft.com/office/officeart/2005/8/quickstyle/simple1#4" qsCatId="simple" csTypeId="urn:microsoft.com/office/officeart/2005/8/colors/accent1_2#5" csCatId="accent1" phldr="1"/>
      <dgm:spPr/>
      <dgm:t>
        <a:bodyPr/>
        <a:lstStyle/>
        <a:p>
          <a:endParaRPr lang="zh-CN" altLang="en-US"/>
        </a:p>
      </dgm:t>
    </dgm:pt>
    <dgm:pt modelId="{7F287658-72BB-4194-AD55-3D0B5BCF7BD9}">
      <dgm:prSet phldr="0" custT="1"/>
      <dgm:spPr>
        <a:solidFill>
          <a:srgbClr val="274991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>
              <a:solidFill>
                <a:srgbClr val="FFFF00"/>
              </a:solidFill>
            </a:rPr>
            <a:t>yum工具</a:t>
          </a:r>
          <a:endParaRPr lang="zh-CN" altLang="en-US" sz="1400" dirty="0"/>
        </a:p>
      </dgm:t>
    </dgm:pt>
    <dgm:pt modelId="{D93ACA21-6D7D-4305-8C4D-08EC2385F94C}" type="parTrans" cxnId="{D97326F4-1DA3-49D2-82F8-DF9C9F3E8C27}">
      <dgm:prSet/>
      <dgm:spPr/>
      <dgm:t>
        <a:bodyPr/>
        <a:lstStyle/>
        <a:p>
          <a:endParaRPr lang="zh-CN" altLang="en-US"/>
        </a:p>
      </dgm:t>
    </dgm:pt>
    <dgm:pt modelId="{D407AF7D-3997-4690-B31A-A8B4E1DFD5CF}" type="sibTrans" cxnId="{D97326F4-1DA3-49D2-82F8-DF9C9F3E8C27}">
      <dgm:prSet/>
      <dgm:spPr/>
      <dgm:t>
        <a:bodyPr/>
        <a:lstStyle/>
        <a:p>
          <a:endParaRPr lang="zh-CN" altLang="en-US"/>
        </a:p>
      </dgm:t>
    </dgm:pt>
    <dgm:pt modelId="{CCC4DDC2-CB7D-4A6E-BEA0-FF87B2D369B2}">
      <dgm:prSet phldr="0" custT="1"/>
      <dgm:spPr>
        <a:solidFill>
          <a:schemeClr val="bg1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dirty="0">
              <a:solidFill>
                <a:schemeClr val="tx1"/>
              </a:solidFill>
            </a:rPr>
            <a:t>     </a:t>
          </a:r>
          <a:r>
            <a:rPr lang="zh-CN" altLang="en-US" sz="1400" b="1" dirty="0">
              <a:solidFill>
                <a:schemeClr val="tx1"/>
              </a:solidFill>
            </a:rPr>
            <a:t>CentOS系统包含一个前端软件包管理器工具yum（Yellow dog Updater, Modified），yum能够从指定的服务器自动下载 RPM 包并且安装，并可以自动处理依赖性关系，一次性完成所有依赖的软体包的下载和安装。示例如下：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>
              <a:solidFill>
                <a:schemeClr val="tx1"/>
              </a:solidFill>
            </a:rPr>
            <a:t>  </a:t>
          </a:r>
          <a:r>
            <a:rPr lang="en-US" altLang="en-US" sz="1400" b="1" dirty="0">
              <a:solidFill>
                <a:schemeClr val="tx1"/>
              </a:solidFill>
            </a:rPr>
            <a:t>$ yum install &lt;</a:t>
          </a:r>
          <a:r>
            <a:rPr lang="en-US" altLang="en-US" sz="1400" b="1" dirty="0" err="1">
              <a:solidFill>
                <a:schemeClr val="tx1"/>
              </a:solidFill>
            </a:rPr>
            <a:t>package_name</a:t>
          </a:r>
          <a:r>
            <a:rPr lang="en-US" altLang="en-US" sz="1400" b="1" dirty="0">
              <a:solidFill>
                <a:schemeClr val="tx1"/>
              </a:solidFill>
            </a:rPr>
            <a:t>&gt;     #</a:t>
          </a:r>
          <a:r>
            <a:rPr lang="zh-CN" altLang="en-US" sz="1400" b="1" dirty="0">
              <a:solidFill>
                <a:schemeClr val="tx1"/>
              </a:solidFill>
            </a:rPr>
            <a:t>安装软件包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dirty="0">
              <a:solidFill>
                <a:schemeClr val="tx1"/>
              </a:solidFill>
            </a:rPr>
            <a:t>  </a:t>
          </a:r>
          <a:r>
            <a:rPr lang="en-US" altLang="en-US" sz="1400" b="1" dirty="0">
              <a:solidFill>
                <a:schemeClr val="tx1"/>
              </a:solidFill>
            </a:rPr>
            <a:t>$ yum remove &lt;</a:t>
          </a:r>
          <a:r>
            <a:rPr lang="en-US" altLang="en-US" sz="1400" b="1" dirty="0" err="1">
              <a:solidFill>
                <a:schemeClr val="tx1"/>
              </a:solidFill>
            </a:rPr>
            <a:t>package_name</a:t>
          </a:r>
          <a:r>
            <a:rPr lang="en-US" altLang="en-US" sz="1400" b="1" dirty="0">
              <a:solidFill>
                <a:schemeClr val="tx1"/>
              </a:solidFill>
            </a:rPr>
            <a:t>&gt;  #</a:t>
          </a:r>
          <a:r>
            <a:rPr lang="zh-CN" altLang="en-US" sz="1400" b="1" dirty="0">
              <a:solidFill>
                <a:schemeClr val="tx1"/>
              </a:solidFill>
            </a:rPr>
            <a:t>删除软件包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dirty="0">
              <a:solidFill>
                <a:schemeClr val="tx1"/>
              </a:solidFill>
            </a:rPr>
            <a:t>  </a:t>
          </a:r>
          <a:r>
            <a:rPr lang="en-US" altLang="en-US" sz="1400" b="1" dirty="0">
              <a:solidFill>
                <a:schemeClr val="tx1"/>
              </a:solidFill>
            </a:rPr>
            <a:t>$ yum update &lt;</a:t>
          </a:r>
          <a:r>
            <a:rPr lang="en-US" altLang="en-US" sz="1400" b="1" dirty="0" err="1">
              <a:solidFill>
                <a:schemeClr val="tx1"/>
              </a:solidFill>
            </a:rPr>
            <a:t>package_name</a:t>
          </a:r>
          <a:r>
            <a:rPr lang="en-US" altLang="en-US" sz="1400" b="1" dirty="0">
              <a:solidFill>
                <a:schemeClr val="tx1"/>
              </a:solidFill>
            </a:rPr>
            <a:t>&gt;	  #</a:t>
          </a:r>
          <a:r>
            <a:rPr lang="zh-CN" altLang="en-US" sz="1400" b="1" dirty="0">
              <a:solidFill>
                <a:schemeClr val="tx1"/>
              </a:solidFill>
            </a:rPr>
            <a:t>升级软件包</a:t>
          </a:r>
          <a:endParaRPr lang="en-US" altLang="zh-CN" sz="1400" b="1" dirty="0">
            <a:solidFill>
              <a:schemeClr val="tx1"/>
            </a:solidFill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dirty="0">
              <a:solidFill>
                <a:schemeClr val="tx1"/>
              </a:solidFill>
            </a:rPr>
            <a:t>  $ yum list pam*  #</a:t>
          </a:r>
          <a:r>
            <a:rPr lang="zh-CN" altLang="zh-CN" sz="1400" b="1" dirty="0">
              <a:solidFill>
                <a:schemeClr val="tx1"/>
              </a:solidFill>
            </a:rPr>
            <a:t>找出以 </a:t>
          </a:r>
          <a:r>
            <a:rPr lang="en-US" altLang="zh-CN" sz="1400" b="1" dirty="0">
              <a:solidFill>
                <a:schemeClr val="tx1"/>
              </a:solidFill>
            </a:rPr>
            <a:t>pam </a:t>
          </a:r>
          <a:r>
            <a:rPr lang="zh-CN" altLang="zh-CN" sz="1400" b="1" dirty="0">
              <a:solidFill>
                <a:schemeClr val="tx1"/>
              </a:solidFill>
            </a:rPr>
            <a:t>开头的软件名称</a:t>
          </a:r>
          <a:endParaRPr lang="zh-CN" altLang="en-US" sz="1400" b="1" dirty="0">
            <a:solidFill>
              <a:schemeClr val="tx1"/>
            </a:solidFill>
          </a:endParaRPr>
        </a:p>
      </dgm:t>
    </dgm:pt>
    <dgm:pt modelId="{459A504E-F422-49A2-8E29-F78BB22E83E0}" type="sibTrans" cxnId="{66B2C9BB-565A-4174-A530-E91AC516EB3F}">
      <dgm:prSet/>
      <dgm:spPr/>
      <dgm:t>
        <a:bodyPr/>
        <a:lstStyle/>
        <a:p>
          <a:endParaRPr lang="zh-CN" altLang="en-US"/>
        </a:p>
      </dgm:t>
    </dgm:pt>
    <dgm:pt modelId="{8E2E49D6-5484-4055-9897-F04B6D444893}" type="parTrans" cxnId="{66B2C9BB-565A-4174-A530-E91AC516EB3F}">
      <dgm:prSet/>
      <dgm:spPr/>
      <dgm:t>
        <a:bodyPr/>
        <a:lstStyle/>
        <a:p>
          <a:endParaRPr lang="zh-CN" altLang="en-US"/>
        </a:p>
      </dgm:t>
    </dgm:pt>
    <dgm:pt modelId="{D8B44335-238C-4744-8605-771F197313B6}" type="pres">
      <dgm:prSet presAssocID="{996962C7-8437-49A5-82C9-A65B2614BE29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0766C073-1A1A-456B-B4AB-A27EA4F644BA}" type="pres">
      <dgm:prSet presAssocID="{996962C7-8437-49A5-82C9-A65B2614BE29}" presName="outerBox" presStyleCnt="0"/>
      <dgm:spPr/>
    </dgm:pt>
    <dgm:pt modelId="{4FD94BF0-FB59-425F-9441-8761B58ADA82}" type="pres">
      <dgm:prSet presAssocID="{996962C7-8437-49A5-82C9-A65B2614BE29}" presName="outerBoxParent" presStyleLbl="node1" presStyleIdx="0" presStyleCnt="2" custLinFactNeighborX="-4" custLinFactNeighborY="-5620"/>
      <dgm:spPr/>
    </dgm:pt>
    <dgm:pt modelId="{6D851DDA-85B0-4FE3-8DA4-A68CE100B776}" type="pres">
      <dgm:prSet presAssocID="{996962C7-8437-49A5-82C9-A65B2614BE29}" presName="outerBoxChildren" presStyleCnt="0"/>
      <dgm:spPr/>
    </dgm:pt>
    <dgm:pt modelId="{7CEFC3C3-312A-41C1-AFAA-399DFD772F0B}" type="pres">
      <dgm:prSet presAssocID="{996962C7-8437-49A5-82C9-A65B2614BE29}" presName="middleBox" presStyleCnt="0"/>
      <dgm:spPr/>
    </dgm:pt>
    <dgm:pt modelId="{30C19FD3-EAB0-47B6-AEEA-E4530C2C3060}" type="pres">
      <dgm:prSet presAssocID="{996962C7-8437-49A5-82C9-A65B2614BE29}" presName="middleBoxParent" presStyleLbl="node1" presStyleIdx="1" presStyleCnt="2" custScaleY="112695" custLinFactNeighborX="333" custLinFactNeighborY="-7712"/>
      <dgm:spPr/>
    </dgm:pt>
    <dgm:pt modelId="{9F5BCBE0-4F26-450B-802C-AAA2A1D07FAD}" type="pres">
      <dgm:prSet presAssocID="{996962C7-8437-49A5-82C9-A65B2614BE29}" presName="middleBoxChildren" presStyleCnt="0"/>
      <dgm:spPr/>
    </dgm:pt>
  </dgm:ptLst>
  <dgm:cxnLst>
    <dgm:cxn modelId="{B7D82457-7B25-456B-8588-787756935F83}" type="presOf" srcId="{CCC4DDC2-CB7D-4A6E-BEA0-FF87B2D369B2}" destId="{30C19FD3-EAB0-47B6-AEEA-E4530C2C3060}" srcOrd="0" destOrd="0" presId="urn:microsoft.com/office/officeart/2005/8/layout/target2#1"/>
    <dgm:cxn modelId="{66B2C9BB-565A-4174-A530-E91AC516EB3F}" srcId="{996962C7-8437-49A5-82C9-A65B2614BE29}" destId="{CCC4DDC2-CB7D-4A6E-BEA0-FF87B2D369B2}" srcOrd="1" destOrd="0" parTransId="{8E2E49D6-5484-4055-9897-F04B6D444893}" sibTransId="{459A504E-F422-49A2-8E29-F78BB22E83E0}"/>
    <dgm:cxn modelId="{19FE8AD9-5737-4C47-9B23-94496E2D21E2}" type="presOf" srcId="{996962C7-8437-49A5-82C9-A65B2614BE29}" destId="{D8B44335-238C-4744-8605-771F197313B6}" srcOrd="0" destOrd="0" presId="urn:microsoft.com/office/officeart/2005/8/layout/target2#1"/>
    <dgm:cxn modelId="{308877DF-9D64-4B21-8B19-875FC835F4AB}" type="presOf" srcId="{7F287658-72BB-4194-AD55-3D0B5BCF7BD9}" destId="{4FD94BF0-FB59-425F-9441-8761B58ADA82}" srcOrd="0" destOrd="0" presId="urn:microsoft.com/office/officeart/2005/8/layout/target2#1"/>
    <dgm:cxn modelId="{D97326F4-1DA3-49D2-82F8-DF9C9F3E8C27}" srcId="{996962C7-8437-49A5-82C9-A65B2614BE29}" destId="{7F287658-72BB-4194-AD55-3D0B5BCF7BD9}" srcOrd="0" destOrd="0" parTransId="{D93ACA21-6D7D-4305-8C4D-08EC2385F94C}" sibTransId="{D407AF7D-3997-4690-B31A-A8B4E1DFD5CF}"/>
    <dgm:cxn modelId="{A58C69C5-5D5C-48AD-9E71-0C121D3BAB02}" type="presParOf" srcId="{D8B44335-238C-4744-8605-771F197313B6}" destId="{0766C073-1A1A-456B-B4AB-A27EA4F644BA}" srcOrd="0" destOrd="0" presId="urn:microsoft.com/office/officeart/2005/8/layout/target2#1"/>
    <dgm:cxn modelId="{62C8EACB-D2A1-4DA3-BB8D-097195E4C8E6}" type="presParOf" srcId="{0766C073-1A1A-456B-B4AB-A27EA4F644BA}" destId="{4FD94BF0-FB59-425F-9441-8761B58ADA82}" srcOrd="0" destOrd="0" presId="urn:microsoft.com/office/officeart/2005/8/layout/target2#1"/>
    <dgm:cxn modelId="{345F0F72-420C-4C34-8289-53EF28ADAB22}" type="presParOf" srcId="{0766C073-1A1A-456B-B4AB-A27EA4F644BA}" destId="{6D851DDA-85B0-4FE3-8DA4-A68CE100B776}" srcOrd="1" destOrd="0" presId="urn:microsoft.com/office/officeart/2005/8/layout/target2#1"/>
    <dgm:cxn modelId="{2D5C4CF3-D1E4-4F27-850A-54169E6273CD}" type="presParOf" srcId="{D8B44335-238C-4744-8605-771F197313B6}" destId="{7CEFC3C3-312A-41C1-AFAA-399DFD772F0B}" srcOrd="1" destOrd="0" presId="urn:microsoft.com/office/officeart/2005/8/layout/target2#1"/>
    <dgm:cxn modelId="{FA383049-CBF5-4A59-B071-264CAABF14A1}" type="presParOf" srcId="{7CEFC3C3-312A-41C1-AFAA-399DFD772F0B}" destId="{30C19FD3-EAB0-47B6-AEEA-E4530C2C3060}" srcOrd="0" destOrd="0" presId="urn:microsoft.com/office/officeart/2005/8/layout/target2#1"/>
    <dgm:cxn modelId="{E51996C0-CEB6-4621-BB49-7A186518B998}" type="presParOf" srcId="{7CEFC3C3-312A-41C1-AFAA-399DFD772F0B}" destId="{9F5BCBE0-4F26-450B-802C-AAA2A1D07FAD}" srcOrd="1" destOrd="0" presId="urn:microsoft.com/office/officeart/2005/8/layout/target2#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C8368F-7D65-452E-9465-22523966F240}" type="doc">
      <dgm:prSet loTypeId="urn:microsoft.com/office/officeart/2005/8/layout/target2#2" loCatId="relationship" qsTypeId="urn:microsoft.com/office/officeart/2005/8/quickstyle/simple1#5" qsCatId="simple" csTypeId="urn:microsoft.com/office/officeart/2005/8/colors/accent1_2#6" csCatId="accent1" phldr="1"/>
      <dgm:spPr/>
      <dgm:t>
        <a:bodyPr/>
        <a:lstStyle/>
        <a:p>
          <a:endParaRPr lang="zh-CN" altLang="en-US"/>
        </a:p>
      </dgm:t>
    </dgm:pt>
    <dgm:pt modelId="{F467AE3D-3E52-4D65-9BBC-20D523354D85}">
      <dgm:prSet phldr="0" custT="1"/>
      <dgm:spPr>
        <a:solidFill>
          <a:srgbClr val="27499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vert="horz" wrap="square" lIns="53340" tIns="53340" rIns="53340" bIns="1955800" numCol="1" spcCol="1270" anchor="t" anchorCtr="0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>
              <a:solidFill>
                <a:srgbClr val="FFFF00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rpm工具</a:t>
          </a:r>
          <a:endParaRPr lang="zh-CN" altLang="en-US" sz="1400" kern="1200" dirty="0"/>
        </a:p>
      </dgm:t>
    </dgm:pt>
    <dgm:pt modelId="{0B8A1BA3-3D3C-482B-866A-6247D0E1066E}" type="parTrans" cxnId="{37BF080C-D7CB-4AE4-B945-F065D1C06385}">
      <dgm:prSet/>
      <dgm:spPr/>
      <dgm:t>
        <a:bodyPr/>
        <a:lstStyle/>
        <a:p>
          <a:endParaRPr lang="zh-CN" altLang="en-US"/>
        </a:p>
      </dgm:t>
    </dgm:pt>
    <dgm:pt modelId="{15D8F4FC-BEE2-4045-A46C-55B6595DB88A}" type="sibTrans" cxnId="{37BF080C-D7CB-4AE4-B945-F065D1C06385}">
      <dgm:prSet/>
      <dgm:spPr/>
      <dgm:t>
        <a:bodyPr/>
        <a:lstStyle/>
        <a:p>
          <a:endParaRPr lang="zh-CN" altLang="en-US"/>
        </a:p>
      </dgm:t>
    </dgm:pt>
    <dgm:pt modelId="{DB615FDE-3749-421A-99CA-4DC6BCC76290}">
      <dgm:prSet phldr="0" custT="1"/>
      <dgm:spPr>
        <a:solidFill>
          <a:schemeClr val="bg1"/>
        </a:solidFill>
      </dgm:spPr>
      <dgm:t>
        <a:bodyPr vert="horz" wrap="square"/>
        <a:lstStyle/>
        <a:p>
          <a:pPr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 </a:t>
          </a: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rpm是Linux中的RPM软件包管理工具，</a:t>
          </a:r>
          <a:r>
            <a:rPr lang="zh-CN" altLang="en-US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使用示例如下：</a:t>
          </a:r>
          <a:endParaRPr lang="zh-CN" sz="1400" b="1" kern="1200" dirty="0">
            <a:solidFill>
              <a:schemeClr val="tx1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$ rpm -ql &lt;package_name&gt;	#查询软件包</a:t>
          </a:r>
        </a:p>
        <a:p>
          <a:pPr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$ rpm -ivh  &lt;package_name&gt;	#安装软件包</a:t>
          </a:r>
        </a:p>
        <a:p>
          <a:pPr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$ rpm -e  &lt;package_name&gt;	#删除软件包</a:t>
          </a:r>
        </a:p>
        <a:p>
          <a:pPr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03B5A528-C2E8-488D-BD3D-C0508A3A4D6E}" type="parTrans" cxnId="{D633A28D-2A81-4544-B1F5-482D39227869}">
      <dgm:prSet/>
      <dgm:spPr/>
      <dgm:t>
        <a:bodyPr/>
        <a:lstStyle/>
        <a:p>
          <a:endParaRPr lang="zh-CN" altLang="en-US"/>
        </a:p>
      </dgm:t>
    </dgm:pt>
    <dgm:pt modelId="{DC6626DE-121B-4FB2-BB1B-423D0111EC1B}" type="sibTrans" cxnId="{D633A28D-2A81-4544-B1F5-482D39227869}">
      <dgm:prSet/>
      <dgm:spPr/>
      <dgm:t>
        <a:bodyPr/>
        <a:lstStyle/>
        <a:p>
          <a:endParaRPr lang="zh-CN" altLang="en-US"/>
        </a:p>
      </dgm:t>
    </dgm:pt>
    <dgm:pt modelId="{283802DF-FB34-4C88-8772-03C69549DB9F}" type="pres">
      <dgm:prSet presAssocID="{04C8368F-7D65-452E-9465-22523966F240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EA555CA-8C0D-444F-9535-21D16765A2DD}" type="pres">
      <dgm:prSet presAssocID="{04C8368F-7D65-452E-9465-22523966F240}" presName="outerBox" presStyleCnt="0"/>
      <dgm:spPr/>
    </dgm:pt>
    <dgm:pt modelId="{A363513F-2ABE-4A61-AF78-9899BB32F281}" type="pres">
      <dgm:prSet presAssocID="{04C8368F-7D65-452E-9465-22523966F240}" presName="outerBoxParent" presStyleLbl="node1" presStyleIdx="0" presStyleCnt="2"/>
      <dgm:spPr>
        <a:xfrm>
          <a:off x="0" y="0"/>
          <a:ext cx="3888000" cy="2520000"/>
        </a:xfrm>
        <a:prstGeom prst="roundRect">
          <a:avLst>
            <a:gd name="adj" fmla="val 8500"/>
          </a:avLst>
        </a:prstGeom>
      </dgm:spPr>
    </dgm:pt>
    <dgm:pt modelId="{0E0557E1-8F92-4C01-8680-E4829E4BBCB1}" type="pres">
      <dgm:prSet presAssocID="{04C8368F-7D65-452E-9465-22523966F240}" presName="outerBoxChildren" presStyleCnt="0"/>
      <dgm:spPr/>
    </dgm:pt>
    <dgm:pt modelId="{BE341122-3261-4694-878D-0F2A3BE65814}" type="pres">
      <dgm:prSet presAssocID="{04C8368F-7D65-452E-9465-22523966F240}" presName="middleBox" presStyleCnt="0"/>
      <dgm:spPr/>
    </dgm:pt>
    <dgm:pt modelId="{47B75A31-7BCE-401F-88BB-78BEE9B9F99A}" type="pres">
      <dgm:prSet presAssocID="{04C8368F-7D65-452E-9465-22523966F240}" presName="middleBoxParent" presStyleLbl="node1" presStyleIdx="1" presStyleCnt="2" custScaleY="106748" custLinFactNeighborX="86" custLinFactNeighborY="-6701"/>
      <dgm:spPr/>
    </dgm:pt>
    <dgm:pt modelId="{27B58FAC-C81B-468E-924B-2665849406DB}" type="pres">
      <dgm:prSet presAssocID="{04C8368F-7D65-452E-9465-22523966F240}" presName="middleBoxChildren" presStyleCnt="0"/>
      <dgm:spPr/>
    </dgm:pt>
  </dgm:ptLst>
  <dgm:cxnLst>
    <dgm:cxn modelId="{37BF080C-D7CB-4AE4-B945-F065D1C06385}" srcId="{04C8368F-7D65-452E-9465-22523966F240}" destId="{F467AE3D-3E52-4D65-9BBC-20D523354D85}" srcOrd="0" destOrd="0" parTransId="{0B8A1BA3-3D3C-482B-866A-6247D0E1066E}" sibTransId="{15D8F4FC-BEE2-4045-A46C-55B6595DB88A}"/>
    <dgm:cxn modelId="{7B46C02E-EEA8-4B40-ACB8-35F094896B5A}" type="presOf" srcId="{04C8368F-7D65-452E-9465-22523966F240}" destId="{283802DF-FB34-4C88-8772-03C69549DB9F}" srcOrd="0" destOrd="0" presId="urn:microsoft.com/office/officeart/2005/8/layout/target2#2"/>
    <dgm:cxn modelId="{1D4B1866-CDEA-401C-B36C-6DC8BC1DC80C}" type="presOf" srcId="{F467AE3D-3E52-4D65-9BBC-20D523354D85}" destId="{A363513F-2ABE-4A61-AF78-9899BB32F281}" srcOrd="0" destOrd="0" presId="urn:microsoft.com/office/officeart/2005/8/layout/target2#2"/>
    <dgm:cxn modelId="{D633A28D-2A81-4544-B1F5-482D39227869}" srcId="{04C8368F-7D65-452E-9465-22523966F240}" destId="{DB615FDE-3749-421A-99CA-4DC6BCC76290}" srcOrd="1" destOrd="0" parTransId="{03B5A528-C2E8-488D-BD3D-C0508A3A4D6E}" sibTransId="{DC6626DE-121B-4FB2-BB1B-423D0111EC1B}"/>
    <dgm:cxn modelId="{127B4BCC-5588-4394-8B6F-36DAFD3521D7}" type="presOf" srcId="{DB615FDE-3749-421A-99CA-4DC6BCC76290}" destId="{47B75A31-7BCE-401F-88BB-78BEE9B9F99A}" srcOrd="0" destOrd="0" presId="urn:microsoft.com/office/officeart/2005/8/layout/target2#2"/>
    <dgm:cxn modelId="{C891705F-731E-40ED-87C7-262545CA032D}" type="presParOf" srcId="{283802DF-FB34-4C88-8772-03C69549DB9F}" destId="{4EA555CA-8C0D-444F-9535-21D16765A2DD}" srcOrd="0" destOrd="0" presId="urn:microsoft.com/office/officeart/2005/8/layout/target2#2"/>
    <dgm:cxn modelId="{EBCFAE00-7F29-44F9-A566-091DC4F9D1F0}" type="presParOf" srcId="{4EA555CA-8C0D-444F-9535-21D16765A2DD}" destId="{A363513F-2ABE-4A61-AF78-9899BB32F281}" srcOrd="0" destOrd="0" presId="urn:microsoft.com/office/officeart/2005/8/layout/target2#2"/>
    <dgm:cxn modelId="{4C43C227-22E8-4943-AACA-CB97EEFE0209}" type="presParOf" srcId="{4EA555CA-8C0D-444F-9535-21D16765A2DD}" destId="{0E0557E1-8F92-4C01-8680-E4829E4BBCB1}" srcOrd="1" destOrd="0" presId="urn:microsoft.com/office/officeart/2005/8/layout/target2#2"/>
    <dgm:cxn modelId="{A15A8D14-CECC-4CEE-AE18-99CB381E27FB}" type="presParOf" srcId="{283802DF-FB34-4C88-8772-03C69549DB9F}" destId="{BE341122-3261-4694-878D-0F2A3BE65814}" srcOrd="1" destOrd="0" presId="urn:microsoft.com/office/officeart/2005/8/layout/target2#2"/>
    <dgm:cxn modelId="{538148FC-D1A2-48F0-817A-A03B2CE236A1}" type="presParOf" srcId="{BE341122-3261-4694-878D-0F2A3BE65814}" destId="{47B75A31-7BCE-401F-88BB-78BEE9B9F99A}" srcOrd="0" destOrd="0" presId="urn:microsoft.com/office/officeart/2005/8/layout/target2#2"/>
    <dgm:cxn modelId="{C1BFB110-A2CF-4F00-958F-5A97D832EBFA}" type="presParOf" srcId="{BE341122-3261-4694-878D-0F2A3BE65814}" destId="{27B58FAC-C81B-468E-924B-2665849406DB}" srcOrd="1" destOrd="0" presId="urn:microsoft.com/office/officeart/2005/8/layout/target2#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6962C7-8437-49A5-82C9-A65B2614BE29}" type="doc">
      <dgm:prSet loTypeId="urn:microsoft.com/office/officeart/2005/8/layout/target2#1" loCatId="relationship" qsTypeId="urn:microsoft.com/office/officeart/2005/8/quickstyle/simple1#4" qsCatId="simple" csTypeId="urn:microsoft.com/office/officeart/2005/8/colors/accent1_2#5" csCatId="accent1" phldr="1"/>
      <dgm:spPr/>
      <dgm:t>
        <a:bodyPr/>
        <a:lstStyle/>
        <a:p>
          <a:endParaRPr lang="zh-CN" altLang="en-US"/>
        </a:p>
      </dgm:t>
    </dgm:pt>
    <dgm:pt modelId="{D8B44335-238C-4744-8605-771F197313B6}" type="pres">
      <dgm:prSet presAssocID="{996962C7-8437-49A5-82C9-A65B2614BE29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</dgm:ptLst>
  <dgm:cxnLst>
    <dgm:cxn modelId="{9F6A75B4-ACD0-4F3C-8E6E-5145C1383C4A}" type="presOf" srcId="{996962C7-8437-49A5-82C9-A65B2614BE29}" destId="{D8B44335-238C-4744-8605-771F197313B6}" srcOrd="0" destOrd="0" presId="urn:microsoft.com/office/officeart/2005/8/layout/target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209C4-2BBF-4546-8723-2965DBDF7935}">
      <dsp:nvSpPr>
        <dsp:cNvPr id="0" name=""/>
        <dsp:cNvSpPr/>
      </dsp:nvSpPr>
      <dsp:spPr>
        <a:xfrm>
          <a:off x="3796" y="0"/>
          <a:ext cx="3884203" cy="577435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 dirty="0">
            <a:solidFill>
              <a:srgbClr val="FF0000"/>
            </a:solidFill>
          </a:endParaRPr>
        </a:p>
      </dsp:txBody>
      <dsp:txXfrm>
        <a:off x="20708" y="16912"/>
        <a:ext cx="3850379" cy="543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94BF0-FB59-425F-9441-8761B58ADA82}">
      <dsp:nvSpPr>
        <dsp:cNvPr id="0" name=""/>
        <dsp:cNvSpPr/>
      </dsp:nvSpPr>
      <dsp:spPr>
        <a:xfrm>
          <a:off x="0" y="0"/>
          <a:ext cx="4192905" cy="3440661"/>
        </a:xfrm>
        <a:prstGeom prst="roundRect">
          <a:avLst>
            <a:gd name="adj" fmla="val 8500"/>
          </a:avLst>
        </a:prstGeom>
        <a:solidFill>
          <a:srgbClr val="27499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2670335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rgbClr val="FFFF00"/>
              </a:solidFill>
            </a:rPr>
            <a:t>yum工具</a:t>
          </a:r>
          <a:endParaRPr lang="zh-CN" altLang="en-US" sz="1400" kern="1200" dirty="0"/>
        </a:p>
      </dsp:txBody>
      <dsp:txXfrm>
        <a:off x="85657" y="85657"/>
        <a:ext cx="4021591" cy="3269347"/>
      </dsp:txXfrm>
    </dsp:sp>
    <dsp:sp modelId="{30C19FD3-EAB0-47B6-AEEA-E4530C2C3060}">
      <dsp:nvSpPr>
        <dsp:cNvPr id="0" name=""/>
        <dsp:cNvSpPr/>
      </dsp:nvSpPr>
      <dsp:spPr>
        <a:xfrm>
          <a:off x="118086" y="521547"/>
          <a:ext cx="3983259" cy="2714217"/>
        </a:xfrm>
        <a:prstGeom prst="roundRect">
          <a:avLst>
            <a:gd name="adj" fmla="val 105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152937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chemeClr val="tx1"/>
              </a:solidFill>
            </a:rPr>
            <a:t>     </a:t>
          </a:r>
          <a:r>
            <a:rPr lang="zh-CN" altLang="en-US" sz="1400" b="1" kern="1200" dirty="0">
              <a:solidFill>
                <a:schemeClr val="tx1"/>
              </a:solidFill>
            </a:rPr>
            <a:t>CentOS系统包含一个前端软件包管理器工具yum（Yellow dog Updater, Modified），yum能够从指定的服务器自动下载 RPM 包并且安装，并可以自动处理依赖性关系，一次性完成所有依赖的软体包的下载和安装。示例如下：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  </a:t>
          </a:r>
          <a:r>
            <a:rPr lang="en-US" altLang="en-US" sz="1400" b="1" kern="1200" dirty="0">
              <a:solidFill>
                <a:schemeClr val="tx1"/>
              </a:solidFill>
            </a:rPr>
            <a:t>$ yum install &lt;</a:t>
          </a:r>
          <a:r>
            <a:rPr lang="en-US" altLang="en-US" sz="1400" b="1" kern="1200" dirty="0" err="1">
              <a:solidFill>
                <a:schemeClr val="tx1"/>
              </a:solidFill>
            </a:rPr>
            <a:t>package_name</a:t>
          </a:r>
          <a:r>
            <a:rPr lang="en-US" altLang="en-US" sz="1400" b="1" kern="1200" dirty="0">
              <a:solidFill>
                <a:schemeClr val="tx1"/>
              </a:solidFill>
            </a:rPr>
            <a:t>&gt;     #</a:t>
          </a:r>
          <a:r>
            <a:rPr lang="zh-CN" altLang="en-US" sz="1400" b="1" kern="1200" dirty="0">
              <a:solidFill>
                <a:schemeClr val="tx1"/>
              </a:solidFill>
            </a:rPr>
            <a:t>安装软件包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  </a:t>
          </a:r>
          <a:r>
            <a:rPr lang="en-US" altLang="en-US" sz="1400" b="1" kern="1200" dirty="0">
              <a:solidFill>
                <a:schemeClr val="tx1"/>
              </a:solidFill>
            </a:rPr>
            <a:t>$ yum remove &lt;</a:t>
          </a:r>
          <a:r>
            <a:rPr lang="en-US" altLang="en-US" sz="1400" b="1" kern="1200" dirty="0" err="1">
              <a:solidFill>
                <a:schemeClr val="tx1"/>
              </a:solidFill>
            </a:rPr>
            <a:t>package_name</a:t>
          </a:r>
          <a:r>
            <a:rPr lang="en-US" altLang="en-US" sz="1400" b="1" kern="1200" dirty="0">
              <a:solidFill>
                <a:schemeClr val="tx1"/>
              </a:solidFill>
            </a:rPr>
            <a:t>&gt;  #</a:t>
          </a:r>
          <a:r>
            <a:rPr lang="zh-CN" altLang="en-US" sz="1400" b="1" kern="1200" dirty="0">
              <a:solidFill>
                <a:schemeClr val="tx1"/>
              </a:solidFill>
            </a:rPr>
            <a:t>删除软件包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  </a:t>
          </a:r>
          <a:r>
            <a:rPr lang="en-US" altLang="en-US" sz="1400" b="1" kern="1200" dirty="0">
              <a:solidFill>
                <a:schemeClr val="tx1"/>
              </a:solidFill>
            </a:rPr>
            <a:t>$ yum update &lt;</a:t>
          </a:r>
          <a:r>
            <a:rPr lang="en-US" altLang="en-US" sz="1400" b="1" kern="1200" dirty="0" err="1">
              <a:solidFill>
                <a:schemeClr val="tx1"/>
              </a:solidFill>
            </a:rPr>
            <a:t>package_name</a:t>
          </a:r>
          <a:r>
            <a:rPr lang="en-US" altLang="en-US" sz="1400" b="1" kern="1200" dirty="0">
              <a:solidFill>
                <a:schemeClr val="tx1"/>
              </a:solidFill>
            </a:rPr>
            <a:t>&gt;	  #</a:t>
          </a:r>
          <a:r>
            <a:rPr lang="zh-CN" altLang="en-US" sz="1400" b="1" kern="1200" dirty="0">
              <a:solidFill>
                <a:schemeClr val="tx1"/>
              </a:solidFill>
            </a:rPr>
            <a:t>升级软件包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chemeClr val="tx1"/>
              </a:solidFill>
            </a:rPr>
            <a:t>  $ yum list pam*  #</a:t>
          </a:r>
          <a:r>
            <a:rPr lang="zh-CN" altLang="zh-CN" sz="1400" b="1" kern="1200" dirty="0">
              <a:solidFill>
                <a:schemeClr val="tx1"/>
              </a:solidFill>
            </a:rPr>
            <a:t>找出以 </a:t>
          </a:r>
          <a:r>
            <a:rPr lang="en-US" altLang="zh-CN" sz="1400" b="1" kern="1200" dirty="0">
              <a:solidFill>
                <a:schemeClr val="tx1"/>
              </a:solidFill>
            </a:rPr>
            <a:t>pam </a:t>
          </a:r>
          <a:r>
            <a:rPr lang="zh-CN" altLang="zh-CN" sz="1400" b="1" kern="1200" dirty="0">
              <a:solidFill>
                <a:schemeClr val="tx1"/>
              </a:solidFill>
            </a:rPr>
            <a:t>开头的软件名称</a:t>
          </a:r>
          <a:endParaRPr lang="zh-CN" altLang="en-US" sz="1400" b="1" kern="1200" dirty="0">
            <a:solidFill>
              <a:schemeClr val="tx1"/>
            </a:solidFill>
          </a:endParaRPr>
        </a:p>
      </dsp:txBody>
      <dsp:txXfrm>
        <a:off x="201558" y="605019"/>
        <a:ext cx="3816315" cy="25472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3513F-2ABE-4A61-AF78-9899BB32F281}">
      <dsp:nvSpPr>
        <dsp:cNvPr id="0" name=""/>
        <dsp:cNvSpPr/>
      </dsp:nvSpPr>
      <dsp:spPr>
        <a:xfrm>
          <a:off x="0" y="0"/>
          <a:ext cx="4383528" cy="3110376"/>
        </a:xfrm>
        <a:prstGeom prst="roundRect">
          <a:avLst>
            <a:gd name="adj" fmla="val 8500"/>
          </a:avLst>
        </a:prstGeom>
        <a:solidFill>
          <a:srgbClr val="274991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195580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1" kern="1200" dirty="0">
              <a:solidFill>
                <a:srgbClr val="FFFF00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rpm工具</a:t>
          </a:r>
          <a:endParaRPr lang="zh-CN" altLang="en-US" sz="1400" kern="1200" dirty="0"/>
        </a:p>
      </dsp:txBody>
      <dsp:txXfrm>
        <a:off x="77435" y="77435"/>
        <a:ext cx="4228658" cy="2955506"/>
      </dsp:txXfrm>
    </dsp:sp>
    <dsp:sp modelId="{47B75A31-7BCE-401F-88BB-78BEE9B9F99A}">
      <dsp:nvSpPr>
        <dsp:cNvPr id="0" name=""/>
        <dsp:cNvSpPr/>
      </dsp:nvSpPr>
      <dsp:spPr>
        <a:xfrm>
          <a:off x="113169" y="558234"/>
          <a:ext cx="4164351" cy="2324185"/>
        </a:xfrm>
        <a:prstGeom prst="roundRect">
          <a:avLst>
            <a:gd name="adj" fmla="val 10500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1382563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 </a:t>
          </a: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rpm是Linux中的RPM软件包管理工具，</a:t>
          </a:r>
          <a:r>
            <a:rPr lang="zh-CN" altLang="en-US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使用示例如下：</a:t>
          </a:r>
          <a:endParaRPr lang="zh-CN" sz="1400" b="1" kern="1200" dirty="0">
            <a:solidFill>
              <a:schemeClr val="tx1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$ rpm -ql &lt;package_name&gt;	#查询软件包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$ rpm -ivh  &lt;package_name&gt;	#安装软件包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1" kern="1200" dirty="0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   $ rpm -e  &lt;package_name&gt;	#删除软件包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184646" y="629711"/>
        <a:ext cx="4021397" cy="21812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2#1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vertAlign" val="none"/>
      <dgm:param type="horz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2#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vertAlign" val="none"/>
      <dgm:param type="horz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2#1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vertAlign" val="none"/>
      <dgm:param type="horz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vertAlign" val="none"/>
            <dgm:param type="horz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parTxLTRAlign" val="l"/>
              <dgm:param type="parTxRTLAlign" val="r"/>
              <dgm:param type="txAnchorVert" val="t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D9ACA-1782-4FCB-A0EC-B2FE70654AFE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82627-E3EE-4561-A6E9-BC344C6B27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8BE76-29C8-41AB-8544-889D89FA4F96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AD677-048F-409F-AACD-0A0B5EF61C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3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4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/>
              <a:t>Big data: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创新、竞争和生产力的下一个前沿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D677-048F-409F-AACD-0A0B5EF61C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/>
              <a:t>Big data: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创新、竞争和生产力的下一个前沿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D677-048F-409F-AACD-0A0B5EF61C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32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AD677-048F-409F-AACD-0A0B5EF61C8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484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52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Yarn</a:t>
            </a:r>
            <a:r>
              <a:rPr lang="zh-CN" altLang="en-US"/>
              <a:t>的核心功能在于资源调度与管理，而</a:t>
            </a:r>
            <a:r>
              <a:rPr lang="en-US" altLang="zh-CN"/>
              <a:t>ZooKeeper</a:t>
            </a:r>
            <a:r>
              <a:rPr lang="zh-CN" altLang="en-US"/>
              <a:t>的核心功能在于分布式系统中的一致性服务。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AD677-048F-409F-AACD-0A0B5EF61C8C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071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55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70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76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84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94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/>
              <a:t>Big data: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创新、竞争和生产力的下一个前沿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AD677-048F-409F-AACD-0A0B5EF61C8C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t>96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7"/>
          <p:cNvSpPr/>
          <p:nvPr userDrawn="1"/>
        </p:nvSpPr>
        <p:spPr>
          <a:xfrm>
            <a:off x="0" y="217805"/>
            <a:ext cx="4634865" cy="607695"/>
          </a:xfrm>
          <a:prstGeom prst="homePlate">
            <a:avLst/>
          </a:prstGeom>
          <a:solidFill>
            <a:schemeClr val="accent1"/>
          </a:solidFill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37975-6AF7-4301-9DC5-87C074AA59D1}" type="datetimeFigureOut">
              <a:rPr lang="zh-CN" altLang="en-US" smtClean="0"/>
              <a:t>2022/9/14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987A4-0198-42B4-AAAE-EDBADA4485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873" y="1026542"/>
            <a:ext cx="6016254" cy="309041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665" y="0"/>
            <a:ext cx="6884670" cy="49745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45784" y="2249468"/>
            <a:ext cx="5686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第2章 大数据实验环境构建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宋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4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25" name="组合 54"/>
          <p:cNvGrpSpPr/>
          <p:nvPr/>
        </p:nvGrpSpPr>
        <p:grpSpPr bwMode="auto">
          <a:xfrm>
            <a:off x="0" y="349949"/>
            <a:ext cx="9142645" cy="841713"/>
            <a:chOff x="256379" y="27271"/>
            <a:chExt cx="7683149" cy="841022"/>
          </a:xfrm>
        </p:grpSpPr>
        <p:grpSp>
          <p:nvGrpSpPr>
            <p:cNvPr id="26" name="组合 55"/>
            <p:cNvGrpSpPr/>
            <p:nvPr/>
          </p:nvGrpSpPr>
          <p:grpSpPr bwMode="auto">
            <a:xfrm>
              <a:off x="256379" y="27271"/>
              <a:ext cx="7683149" cy="837427"/>
              <a:chOff x="256379" y="27271"/>
              <a:chExt cx="7683149" cy="837427"/>
            </a:xfrm>
          </p:grpSpPr>
          <p:sp>
            <p:nvSpPr>
              <p:cNvPr id="28" name="文本框 57"/>
              <p:cNvSpPr txBox="1">
                <a:spLocks noChangeArrowheads="1"/>
              </p:cNvSpPr>
              <p:nvPr/>
            </p:nvSpPr>
            <p:spPr bwMode="auto">
              <a:xfrm>
                <a:off x="439196" y="27271"/>
                <a:ext cx="1432561" cy="584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b="1" dirty="0">
                    <a:solidFill>
                      <a:srgbClr val="FFC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 录</a:t>
                </a:r>
              </a:p>
            </p:txBody>
          </p:sp>
          <p:cxnSp>
            <p:nvCxnSpPr>
              <p:cNvPr id="29" name="直接连接符 58"/>
              <p:cNvCxnSpPr>
                <a:cxnSpLocks noChangeShapeType="1"/>
              </p:cNvCxnSpPr>
              <p:nvPr/>
            </p:nvCxnSpPr>
            <p:spPr bwMode="auto">
              <a:xfrm flipV="1">
                <a:off x="256379" y="817054"/>
                <a:ext cx="7683149" cy="47644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7" name="文本框 56"/>
            <p:cNvSpPr txBox="1">
              <a:spLocks noChangeArrowheads="1"/>
            </p:cNvSpPr>
            <p:nvPr/>
          </p:nvSpPr>
          <p:spPr bwMode="auto">
            <a:xfrm>
              <a:off x="871257" y="499264"/>
              <a:ext cx="1050505" cy="36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323340" y="1413510"/>
            <a:ext cx="4714240" cy="518795"/>
            <a:chOff x="903" y="3512"/>
            <a:chExt cx="7424" cy="817"/>
          </a:xfrm>
        </p:grpSpPr>
        <p:grpSp>
          <p:nvGrpSpPr>
            <p:cNvPr id="4" name="组合 3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10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9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2.1</a:t>
                  </a:r>
                  <a:endParaRPr lang="en-US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sp>
          <p:nvSpPr>
            <p:cNvPr id="100" name="文本框 99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</a:t>
              </a:r>
              <a:r>
                <a:rPr lang="zh-CN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在</a:t>
              </a:r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Windows</a:t>
              </a:r>
              <a:r>
                <a:rPr lang="zh-CN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中安装</a:t>
              </a:r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Linux</a:t>
              </a:r>
              <a:r>
                <a:rPr lang="zh-CN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虚拟机</a:t>
              </a:r>
              <a:endParaRPr lang="zh-CN" altLang="en-US" sz="1800" b="1">
                <a:solidFill>
                  <a:schemeClr val="bg1"/>
                </a:solidFill>
                <a:latin typeface="等线 Light" panose="02010600030101010101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323340" y="2114550"/>
            <a:ext cx="4714240" cy="518795"/>
            <a:chOff x="903" y="3512"/>
            <a:chExt cx="7424" cy="817"/>
          </a:xfrm>
        </p:grpSpPr>
        <p:grpSp>
          <p:nvGrpSpPr>
            <p:cNvPr id="49" name="组合 48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50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52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2.</a:t>
                  </a: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</a:t>
                  </a:r>
                  <a:endPara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4" name="文本框 53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 </a:t>
              </a:r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Linux操作基础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322705" y="2787650"/>
            <a:ext cx="4714240" cy="518795"/>
            <a:chOff x="903" y="3512"/>
            <a:chExt cx="7424" cy="817"/>
          </a:xfrm>
        </p:grpSpPr>
        <p:grpSp>
          <p:nvGrpSpPr>
            <p:cNvPr id="57" name="组合 56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58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60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2.3</a:t>
                  </a:r>
                  <a:endParaRPr lang="en-US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2" name="文本框 61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</a:t>
              </a:r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建立Hadoop集群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322705" y="3506470"/>
            <a:ext cx="4714240" cy="518795"/>
            <a:chOff x="903" y="3512"/>
            <a:chExt cx="7424" cy="817"/>
          </a:xfrm>
        </p:grpSpPr>
        <p:grpSp>
          <p:nvGrpSpPr>
            <p:cNvPr id="64" name="组合 63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65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67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2.4</a:t>
                  </a:r>
                  <a:endPara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9" name="文本框 68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 algn="l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</a:t>
              </a:r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Hadoop系统简介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1322070" y="4162425"/>
            <a:ext cx="4714240" cy="518795"/>
            <a:chOff x="903" y="3512"/>
            <a:chExt cx="7424" cy="817"/>
          </a:xfrm>
        </p:grpSpPr>
        <p:grpSp>
          <p:nvGrpSpPr>
            <p:cNvPr id="72" name="组合 71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73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74" name="组合 73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75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2.5</a:t>
                  </a:r>
                  <a:endParaRPr lang="en-US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77" name="文本框 76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构建Hadoop“伪分布式”集群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25" name="组合 54"/>
          <p:cNvGrpSpPr/>
          <p:nvPr/>
        </p:nvGrpSpPr>
        <p:grpSpPr bwMode="auto">
          <a:xfrm>
            <a:off x="0" y="349949"/>
            <a:ext cx="9142645" cy="841713"/>
            <a:chOff x="256379" y="27271"/>
            <a:chExt cx="7683149" cy="841022"/>
          </a:xfrm>
        </p:grpSpPr>
        <p:grpSp>
          <p:nvGrpSpPr>
            <p:cNvPr id="26" name="组合 55"/>
            <p:cNvGrpSpPr/>
            <p:nvPr/>
          </p:nvGrpSpPr>
          <p:grpSpPr bwMode="auto">
            <a:xfrm>
              <a:off x="256379" y="27271"/>
              <a:ext cx="7683149" cy="837427"/>
              <a:chOff x="256379" y="27271"/>
              <a:chExt cx="7683149" cy="837427"/>
            </a:xfrm>
          </p:grpSpPr>
          <p:sp>
            <p:nvSpPr>
              <p:cNvPr id="28" name="文本框 57"/>
              <p:cNvSpPr txBox="1">
                <a:spLocks noChangeArrowheads="1"/>
              </p:cNvSpPr>
              <p:nvPr/>
            </p:nvSpPr>
            <p:spPr bwMode="auto">
              <a:xfrm>
                <a:off x="439196" y="27271"/>
                <a:ext cx="1432561" cy="584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200" b="1" dirty="0">
                    <a:solidFill>
                      <a:srgbClr val="FFC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 录</a:t>
                </a:r>
              </a:p>
            </p:txBody>
          </p:sp>
          <p:cxnSp>
            <p:nvCxnSpPr>
              <p:cNvPr id="29" name="直接连接符 58"/>
              <p:cNvCxnSpPr>
                <a:cxnSpLocks noChangeShapeType="1"/>
              </p:cNvCxnSpPr>
              <p:nvPr/>
            </p:nvCxnSpPr>
            <p:spPr bwMode="auto">
              <a:xfrm flipV="1">
                <a:off x="256379" y="817054"/>
                <a:ext cx="7683149" cy="47644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7" name="文本框 56"/>
            <p:cNvSpPr txBox="1">
              <a:spLocks noChangeArrowheads="1"/>
            </p:cNvSpPr>
            <p:nvPr/>
          </p:nvSpPr>
          <p:spPr bwMode="auto">
            <a:xfrm>
              <a:off x="871257" y="499264"/>
              <a:ext cx="1050505" cy="369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/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287780" y="1657350"/>
            <a:ext cx="4714240" cy="518795"/>
            <a:chOff x="903" y="3512"/>
            <a:chExt cx="7424" cy="817"/>
          </a:xfrm>
        </p:grpSpPr>
        <p:grpSp>
          <p:nvGrpSpPr>
            <p:cNvPr id="4" name="组合 3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10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" name="组合 2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9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2.</a:t>
                  </a: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6</a:t>
                  </a:r>
                  <a:endParaRPr lang="en-US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00" name="文本框 99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</a:t>
              </a:r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构建“完全分布式”Hadoop集群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287780" y="2358390"/>
            <a:ext cx="4714240" cy="518795"/>
            <a:chOff x="903" y="3512"/>
            <a:chExt cx="7424" cy="817"/>
          </a:xfrm>
        </p:grpSpPr>
        <p:grpSp>
          <p:nvGrpSpPr>
            <p:cNvPr id="49" name="组合 48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50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52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2.7</a:t>
                  </a:r>
                  <a:endParaRPr lang="zh-CN" altLang="en-US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4" name="文本框 53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</a:t>
              </a:r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测试Hadoop集群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287145" y="3031490"/>
            <a:ext cx="4714240" cy="518795"/>
            <a:chOff x="903" y="3512"/>
            <a:chExt cx="7424" cy="817"/>
          </a:xfrm>
        </p:grpSpPr>
        <p:grpSp>
          <p:nvGrpSpPr>
            <p:cNvPr id="57" name="组合 56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58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60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TextBox 144"/>
                <p:cNvSpPr txBox="1"/>
                <p:nvPr/>
              </p:nvSpPr>
              <p:spPr>
                <a:xfrm>
                  <a:off x="4471" y="3015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2.8</a:t>
                  </a:r>
                  <a:endParaRPr lang="en-US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2" name="文本框 61"/>
            <p:cNvSpPr txBox="1"/>
            <p:nvPr/>
          </p:nvSpPr>
          <p:spPr>
            <a:xfrm>
              <a:off x="2276" y="3631"/>
              <a:ext cx="60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en-US"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 </a:t>
              </a:r>
              <a:r>
                <a:rPr sz="1800" b="1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安装Zookeeper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287145" y="3750310"/>
            <a:ext cx="4817745" cy="518795"/>
            <a:chOff x="903" y="3512"/>
            <a:chExt cx="7587" cy="817"/>
          </a:xfrm>
        </p:grpSpPr>
        <p:grpSp>
          <p:nvGrpSpPr>
            <p:cNvPr id="64" name="组合 63"/>
            <p:cNvGrpSpPr/>
            <p:nvPr/>
          </p:nvGrpSpPr>
          <p:grpSpPr>
            <a:xfrm>
              <a:off x="903" y="3512"/>
              <a:ext cx="7424" cy="817"/>
              <a:chOff x="1264" y="2025"/>
              <a:chExt cx="5382" cy="817"/>
            </a:xfrm>
          </p:grpSpPr>
          <p:sp>
            <p:nvSpPr>
              <p:cNvPr id="65" name="Freeform 6"/>
              <p:cNvSpPr/>
              <p:nvPr/>
            </p:nvSpPr>
            <p:spPr bwMode="auto">
              <a:xfrm>
                <a:off x="1337" y="2026"/>
                <a:ext cx="1029" cy="816"/>
              </a:xfrm>
              <a:custGeom>
                <a:avLst/>
                <a:gdLst>
                  <a:gd name="T0" fmla="*/ 2158 w 2158"/>
                  <a:gd name="T1" fmla="*/ 531 h 1996"/>
                  <a:gd name="T2" fmla="*/ 1996 w 2158"/>
                  <a:gd name="T3" fmla="*/ 397 h 1996"/>
                  <a:gd name="T4" fmla="*/ 1996 w 2158"/>
                  <a:gd name="T5" fmla="*/ 0 h 1996"/>
                  <a:gd name="T6" fmla="*/ 0 w 2158"/>
                  <a:gd name="T7" fmla="*/ 0 h 1996"/>
                  <a:gd name="T8" fmla="*/ 0 w 2158"/>
                  <a:gd name="T9" fmla="*/ 1996 h 1996"/>
                  <a:gd name="T10" fmla="*/ 1996 w 2158"/>
                  <a:gd name="T11" fmla="*/ 1996 h 1996"/>
                  <a:gd name="T12" fmla="*/ 1996 w 2158"/>
                  <a:gd name="T13" fmla="*/ 666 h 1996"/>
                  <a:gd name="T14" fmla="*/ 2158 w 2158"/>
                  <a:gd name="T15" fmla="*/ 531 h 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58" h="1996">
                    <a:moveTo>
                      <a:pt x="2158" y="531"/>
                    </a:moveTo>
                    <a:lnTo>
                      <a:pt x="1996" y="397"/>
                    </a:lnTo>
                    <a:lnTo>
                      <a:pt x="1996" y="0"/>
                    </a:lnTo>
                    <a:lnTo>
                      <a:pt x="0" y="0"/>
                    </a:lnTo>
                    <a:lnTo>
                      <a:pt x="0" y="1996"/>
                    </a:lnTo>
                    <a:lnTo>
                      <a:pt x="1996" y="1996"/>
                    </a:lnTo>
                    <a:lnTo>
                      <a:pt x="1996" y="666"/>
                    </a:lnTo>
                    <a:lnTo>
                      <a:pt x="2158" y="531"/>
                    </a:lnTo>
                    <a:close/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F8F8F8"/>
                </a:solidFill>
                <a:round/>
              </a:ln>
            </p:spPr>
            <p:txBody>
              <a:bodyPr vert="horz" wrap="square" lIns="68553" tIns="34277" rIns="68553" bIns="34277" numCol="1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kern="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1264" y="2025"/>
                <a:ext cx="5382" cy="816"/>
                <a:chOff x="4471" y="2958"/>
                <a:chExt cx="5382" cy="816"/>
              </a:xfrm>
            </p:grpSpPr>
            <p:sp>
              <p:nvSpPr>
                <p:cNvPr id="67" name="Rectangle 5"/>
                <p:cNvSpPr>
                  <a:spLocks noChangeArrowheads="1"/>
                </p:cNvSpPr>
                <p:nvPr/>
              </p:nvSpPr>
              <p:spPr bwMode="auto">
                <a:xfrm>
                  <a:off x="4544" y="2958"/>
                  <a:ext cx="5309" cy="816"/>
                </a:xfrm>
                <a:prstGeom prst="rect">
                  <a:avLst/>
                </a:prstGeom>
                <a:noFill/>
                <a:ln w="6350" cap="flat">
                  <a:solidFill>
                    <a:schemeClr val="bg1"/>
                  </a:solidFill>
                  <a:prstDash val="solid"/>
                  <a:miter lim="800000"/>
                </a:ln>
                <a:effectLst>
                  <a:outerShdw blurRad="2032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68553" tIns="34277" rIns="68553" bIns="34277" numCol="1" anchor="t" anchorCtr="0" compatLnSpc="1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ker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" name="TextBox 144"/>
                <p:cNvSpPr txBox="1"/>
                <p:nvPr/>
              </p:nvSpPr>
              <p:spPr>
                <a:xfrm>
                  <a:off x="4471" y="3002"/>
                  <a:ext cx="816" cy="687"/>
                </a:xfrm>
                <a:prstGeom prst="rect">
                  <a:avLst/>
                </a:prstGeom>
                <a:noFill/>
              </p:spPr>
              <p:txBody>
                <a:bodyPr wrap="square" lIns="68553" tIns="34277" rIns="68553" bIns="34277" rtlCol="0">
                  <a:spAutoFit/>
                </a:bodyPr>
                <a:lstStyle/>
                <a:p>
                  <a:pPr algn="ctr" fontAlgn="base"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lang="en-US" sz="2400" b="1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2.9 </a:t>
                  </a:r>
                  <a:endParaRPr lang="en-US" sz="2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9" name="文本框 68"/>
            <p:cNvSpPr txBox="1"/>
            <p:nvPr/>
          </p:nvSpPr>
          <p:spPr>
            <a:xfrm>
              <a:off x="2276" y="3631"/>
              <a:ext cx="6214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396240" indent="-396240"/>
              <a:r>
                <a:rPr lang="zh-CN" altLang="en-US" sz="1800" b="1" dirty="0">
                  <a:solidFill>
                    <a:schemeClr val="bg1"/>
                  </a:solidFill>
                  <a:latin typeface="等线 Light" panose="02010600030101010101" charset="-122"/>
                  <a:ea typeface="等线" panose="02010600030101010101" pitchFamily="2" charset="-122"/>
                </a:rPr>
                <a:t>本章小结</a:t>
              </a:r>
              <a:endParaRPr sz="1800" b="1" dirty="0">
                <a:solidFill>
                  <a:schemeClr val="bg1"/>
                </a:solidFill>
                <a:latin typeface="等线 Light" panose="02010600030101010101" charset="-122"/>
                <a:ea typeface="等线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088746" y="2399148"/>
            <a:ext cx="6076631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940560" y="1654175"/>
            <a:ext cx="65551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在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中安装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虚拟机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511044" y="1508897"/>
            <a:ext cx="1698527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</a:rPr>
              <a:t>2.1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66347" y="2731588"/>
            <a:ext cx="298667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创建虚拟机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虚拟机启动初始化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克隆虚拟机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0" y="248285"/>
            <a:ext cx="4265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2.1.1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创建虚拟机</a:t>
            </a:r>
            <a:endParaRPr lang="zh-CN" altLang="en-US" sz="2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39090" y="1205230"/>
            <a:ext cx="8466455" cy="24615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n-ea"/>
              </a:rPr>
              <a:t>    </a:t>
            </a:r>
            <a:r>
              <a:rPr lang="zh-CN" altLang="en-US" sz="2000" dirty="0">
                <a:latin typeface="+mn-ea"/>
              </a:rPr>
              <a:t>在Windows中安装Linux虚拟机通常可以用VMware Workstation、VirtualBox和Windows系统自带的Hyper-V软件，接下来以VMware Workstation和</a:t>
            </a:r>
            <a:r>
              <a:rPr lang="en-US" altLang="zh-CN" sz="2000" dirty="0">
                <a:latin typeface="+mn-ea"/>
              </a:rPr>
              <a:t>CentOS</a:t>
            </a:r>
            <a:r>
              <a:rPr lang="zh-CN" altLang="en-US" sz="2000" dirty="0">
                <a:latin typeface="+mn-ea"/>
              </a:rPr>
              <a:t>为例介绍Linux虚拟机的安装过程。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n-ea"/>
              </a:rPr>
              <a:t>    </a:t>
            </a:r>
            <a:r>
              <a:rPr lang="zh-CN" altLang="en-US" sz="2000" dirty="0">
                <a:latin typeface="+mn-ea"/>
              </a:rPr>
              <a:t>方法是使用VMware Workstation安装一台Linux虚拟机，然后使用克隆的方法创建另外两台虚拟机，最终构建一个由3台Linux主机组成的Hadoop集群。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807" y="234362"/>
            <a:ext cx="392747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2.1.1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创建虚拟机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12775" y="927100"/>
            <a:ext cx="7138035" cy="891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000" dirty="0">
                <a:latin typeface="+mn-ea"/>
              </a:rPr>
              <a:t>   首先，在Windows中安装VMware Workstation Pro中文版，运行该软件后的主界面如图所示。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1818640"/>
            <a:ext cx="4183380" cy="2886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1327150" y="4787900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 dirty="0"/>
              <a:t> VMware Workstation 1</a:t>
            </a:r>
            <a:r>
              <a:rPr lang="en-US" altLang="zh-CN" sz="1000" b="0" dirty="0"/>
              <a:t>6</a:t>
            </a:r>
            <a:r>
              <a:rPr sz="1000" b="0" dirty="0"/>
              <a:t> </a:t>
            </a:r>
            <a:r>
              <a:rPr sz="1000" b="0" dirty="0" err="1"/>
              <a:t>Pro主界面</a:t>
            </a:r>
            <a:endParaRPr sz="1000" dirty="0"/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0" y="248285"/>
            <a:ext cx="4265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2.2.1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创建虚拟机</a:t>
            </a:r>
            <a:endParaRPr lang="zh-CN" altLang="en-US" sz="2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48005" y="958850"/>
            <a:ext cx="8275320" cy="21532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latin typeface="+mn-ea"/>
              </a:rPr>
              <a:t>  </a:t>
            </a:r>
            <a:r>
              <a:rPr lang="en-US" altLang="zh-CN" sz="2000" dirty="0">
                <a:latin typeface="+mn-ea"/>
                <a:sym typeface="+mn-ea"/>
              </a:rPr>
              <a:t>在Windows中安装VMware Workstation后，Windows系统中会自动增加5项与VMware相关的服务以及两块虚拟网卡，如图所示。其中，虚拟网卡VMnet1是用于虚拟机网络服务的“仅主机模式”，VMnet8是用于“网络代理NAT模式”</a:t>
            </a:r>
            <a:r>
              <a:rPr lang="zh-CN" altLang="en-US" sz="2000" dirty="0">
                <a:latin typeface="+mn-ea"/>
                <a:sym typeface="+mn-ea"/>
              </a:rPr>
              <a:t>。</a:t>
            </a:r>
            <a:endParaRPr lang="en-US" altLang="zh-CN" sz="2000" dirty="0">
              <a:latin typeface="+mn-ea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   </a:t>
            </a:r>
            <a:endParaRPr lang="zh-CN" altLang="en-US"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93850" y="2796540"/>
            <a:ext cx="5673090" cy="1423670"/>
            <a:chOff x="2510" y="3325"/>
            <a:chExt cx="8934" cy="2242"/>
          </a:xfrm>
        </p:grpSpPr>
        <p:pic>
          <p:nvPicPr>
            <p:cNvPr id="9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0" y="3325"/>
              <a:ext cx="4025" cy="181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2" name="图片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4" y="3326"/>
              <a:ext cx="4160" cy="1813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3" name="文本框 12"/>
            <p:cNvSpPr txBox="1"/>
            <p:nvPr/>
          </p:nvSpPr>
          <p:spPr>
            <a:xfrm>
              <a:off x="2635" y="5181"/>
              <a:ext cx="3870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sz="1000" b="0"/>
                <a:t>(a）Windows系统中增加的VMware服务</a:t>
              </a:r>
              <a:endParaRPr lang="zh-CN" altLang="en-US" sz="1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875" y="5181"/>
              <a:ext cx="4085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228600" algn="ctr">
                <a:buClrTx/>
                <a:buSzTx/>
                <a:buFontTx/>
              </a:pPr>
              <a:r>
                <a:rPr sz="1000" b="0"/>
                <a:t>（b）Windows中增加的虚拟网卡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772920" y="4452620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200" b="0"/>
              <a:t> VMware 在Windows系统中增加的服务项和虚拟网卡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807" y="234362"/>
            <a:ext cx="392747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2.1.1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创建虚拟机</a:t>
            </a:r>
          </a:p>
        </p:txBody>
      </p:sp>
      <p:pic>
        <p:nvPicPr>
          <p:cNvPr id="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85" y="1351915"/>
            <a:ext cx="3204845" cy="30295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3794125" y="4512310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lang="en-US" sz="900" b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000" b="0"/>
              <a:t>设置虚拟机操作系统类型和版本</a:t>
            </a:r>
            <a:endParaRPr sz="1000"/>
          </a:p>
        </p:txBody>
      </p:sp>
      <p:sp>
        <p:nvSpPr>
          <p:cNvPr id="100" name="文本框 99"/>
          <p:cNvSpPr txBox="1"/>
          <p:nvPr/>
        </p:nvSpPr>
        <p:spPr>
          <a:xfrm>
            <a:off x="594360" y="1220470"/>
            <a:ext cx="3907790" cy="32918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0">
                <a:ea typeface="等线" panose="02010600030101010101" pitchFamily="2" charset="-122"/>
              </a:rPr>
              <a:t>     </a:t>
            </a:r>
            <a:r>
              <a:rPr lang="en-US" altLang="zh-CN" sz="2000" b="0" dirty="0">
                <a:latin typeface="+mn-ea"/>
              </a:rPr>
              <a:t>接着，在VMware Workstation主界面中单击“创建新的虚拟机”按钮，启动“新建虚拟机向导”，使用默认安装方式连续点击“下一步”按钮，进入到“选择客户机操作系统”界面，选择要安装的操作系统为“Linux”、版本为“CentOS 64位”，如图所示。</a:t>
            </a:r>
            <a:endParaRPr lang="en-US" altLang="zh-CN" sz="2000" dirty="0">
              <a:latin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807" y="234362"/>
            <a:ext cx="392747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2.1.1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创建虚拟机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74650" y="2637790"/>
            <a:ext cx="8735060" cy="2433320"/>
            <a:chOff x="-334" y="4056"/>
            <a:chExt cx="13756" cy="3832"/>
          </a:xfrm>
        </p:grpSpPr>
        <p:sp>
          <p:nvSpPr>
            <p:cNvPr id="8" name="文本框 7"/>
            <p:cNvSpPr txBox="1"/>
            <p:nvPr/>
          </p:nvSpPr>
          <p:spPr>
            <a:xfrm>
              <a:off x="5422" y="7502"/>
              <a:ext cx="8000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indent="228600" algn="ctr"/>
              <a:r>
                <a:rPr sz="1000" b="0"/>
                <a:t> 虚拟机处理器配置窗口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-334" y="7502"/>
              <a:ext cx="8000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indent="228600" algn="ctr"/>
              <a:r>
                <a:rPr sz="900" b="0"/>
                <a:t> </a:t>
              </a:r>
              <a:r>
                <a:rPr sz="1000" b="0"/>
                <a:t>命名虚拟机和存放位置窗口</a:t>
              </a:r>
            </a:p>
          </p:txBody>
        </p:sp>
        <p:pic>
          <p:nvPicPr>
            <p:cNvPr id="39" name="图片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7" y="4056"/>
              <a:ext cx="4153" cy="344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37" name="图片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6" y="4056"/>
              <a:ext cx="4301" cy="33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100" name="文本框 99"/>
          <p:cNvSpPr txBox="1"/>
          <p:nvPr/>
        </p:nvSpPr>
        <p:spPr>
          <a:xfrm>
            <a:off x="336550" y="838835"/>
            <a:ext cx="8627745" cy="19697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lang="en-US" altLang="zh-CN" sz="2000" b="0" dirty="0" err="1">
                <a:latin typeface="+mn-ea"/>
              </a:rPr>
              <a:t>接着点击“下一步”按钮，在“命名虚拟机”窗口（如下左图所示）中设置虚拟机名称</a:t>
            </a:r>
            <a:r>
              <a:rPr lang="zh-CN" altLang="en-US" sz="2000" b="0" dirty="0">
                <a:latin typeface="+mn-ea"/>
              </a:rPr>
              <a:t>（如：“</a:t>
            </a:r>
            <a:r>
              <a:rPr lang="en-US" altLang="zh-CN" sz="2000" b="0" dirty="0">
                <a:latin typeface="+mn-ea"/>
              </a:rPr>
              <a:t>Node01</a:t>
            </a:r>
            <a:r>
              <a:rPr lang="zh-CN" altLang="en-US" sz="2000" b="0" dirty="0">
                <a:latin typeface="+mn-ea"/>
              </a:rPr>
              <a:t>”）和</a:t>
            </a:r>
            <a:r>
              <a:rPr lang="en-US" altLang="zh-CN" sz="2000" b="0" dirty="0" err="1">
                <a:latin typeface="+mn-ea"/>
              </a:rPr>
              <a:t>存放位置</a:t>
            </a:r>
            <a:r>
              <a:rPr lang="en-US" altLang="zh-CN" sz="2000" b="0" dirty="0">
                <a:latin typeface="+mn-ea"/>
              </a:rPr>
              <a:t>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+mn-ea"/>
                <a:sym typeface="+mn-ea"/>
              </a:rPr>
              <a:t>  </a:t>
            </a:r>
            <a:r>
              <a:rPr lang="en-US" altLang="zh-CN" sz="2000" dirty="0" err="1">
                <a:latin typeface="+mn-ea"/>
                <a:sym typeface="+mn-ea"/>
              </a:rPr>
              <a:t>完成虚拟机命名后</a:t>
            </a:r>
            <a:r>
              <a:rPr lang="en-US" altLang="zh-CN" sz="2000" dirty="0">
                <a:latin typeface="+mn-ea"/>
                <a:sym typeface="+mn-ea"/>
              </a:rPr>
              <a:t>，</a:t>
            </a:r>
            <a:r>
              <a:rPr lang="zh-CN" altLang="en-US" sz="2000" dirty="0">
                <a:latin typeface="+mn-ea"/>
                <a:sym typeface="+mn-ea"/>
              </a:rPr>
              <a:t>进行</a:t>
            </a:r>
            <a:r>
              <a:rPr lang="en-US" altLang="zh-CN" sz="2000" dirty="0">
                <a:latin typeface="+mn-ea"/>
                <a:sym typeface="+mn-ea"/>
              </a:rPr>
              <a:t>“</a:t>
            </a:r>
            <a:r>
              <a:rPr lang="en-US" altLang="zh-CN" sz="2000" dirty="0" err="1">
                <a:latin typeface="+mn-ea"/>
                <a:sym typeface="+mn-ea"/>
              </a:rPr>
              <a:t>处理器配置</a:t>
            </a:r>
            <a:r>
              <a:rPr lang="en-US" altLang="zh-CN" sz="2000" dirty="0">
                <a:latin typeface="+mn-ea"/>
                <a:sym typeface="+mn-ea"/>
              </a:rPr>
              <a:t>”，根据电脑的硬件配置设置虚拟机的“处理器数量”和“每个处理器内核数量“，如下右图所示。</a:t>
            </a:r>
            <a:endParaRPr lang="en-US" altLang="zh-CN" sz="2000" dirty="0">
              <a:latin typeface="+mn-ea"/>
            </a:endParaRPr>
          </a:p>
          <a:p>
            <a:pPr indent="266700"/>
            <a:endParaRPr lang="zh-CN" altLang="en-US"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807" y="234362"/>
            <a:ext cx="392747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2.1.1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创建虚拟机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536575" y="1263650"/>
            <a:ext cx="4142740" cy="286161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完成虚拟机处理器配置后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再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设置虚拟机内存大小，如图所示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endParaRPr lang="en-US" altLang="zh-CN" sz="20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一般设置1024 MB到4096MB之间，由于Node01是作为Hadoop集群的</a:t>
            </a:r>
            <a:r>
              <a:rPr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主节点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，因此可以分配较大的内存，其他两台主机Node02和Node03可以分配较小的内存容量。</a:t>
            </a:r>
          </a:p>
        </p:txBody>
      </p:sp>
      <p:pic>
        <p:nvPicPr>
          <p:cNvPr id="31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300" y="1397000"/>
            <a:ext cx="3045460" cy="28790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3923030" y="441261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设置虚拟机内存容量窗口</a:t>
            </a:r>
            <a:endParaRPr sz="1000"/>
          </a:p>
        </p:txBody>
      </p:sp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807" y="234362"/>
            <a:ext cx="3927476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2.1.1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创建虚拟机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75920" y="1094105"/>
            <a:ext cx="4681855" cy="32918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设置虚拟机内存容量后，点击“下一步”按钮，进入到设置“网络类型“窗口，如图所示，选择默认的“</a:t>
            </a:r>
            <a:r>
              <a:rPr sz="2000" b="1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网络地址转换</a:t>
            </a:r>
            <a:r>
              <a:rPr sz="20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(NAT)”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模式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设置好网络类型后，连续点击“下一步”按钮，完成虚拟机的创建。接下来，还需要对所创建的虚拟机进行初始化和Linux操作系统的安装。</a:t>
            </a:r>
          </a:p>
        </p:txBody>
      </p:sp>
      <p:pic>
        <p:nvPicPr>
          <p:cNvPr id="24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5" y="1243965"/>
            <a:ext cx="3166110" cy="29927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4100830" y="438594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设置网络类型</a:t>
            </a:r>
            <a:endParaRPr sz="10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9779132-23A9-482F-BDE6-0E5853F73A21}"/>
              </a:ext>
            </a:extLst>
          </p:cNvPr>
          <p:cNvSpPr/>
          <p:nvPr/>
        </p:nvSpPr>
        <p:spPr>
          <a:xfrm>
            <a:off x="5024613" y="2370100"/>
            <a:ext cx="3166110" cy="5474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35546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2.1.2</a:t>
            </a:r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虚拟机启动初始化</a:t>
            </a:r>
            <a:endParaRPr sz="2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75240" y="991163"/>
            <a:ext cx="4681855" cy="40619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创建虚拟机“Node01”后，接着使用Centos 8.2安装光盘完成Linux系统的安装和初始化。</a:t>
            </a:r>
            <a:endParaRPr lang="en-US" altLang="zh-CN" sz="20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在VMware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Workstation主窗口中右击“Node01”，在菜单中选择“设置”项，在弹出的“虚拟机设置”窗口中选择“CD/DVD(IDE)”，</a:t>
            </a:r>
            <a:r>
              <a:rPr lang="zh-CN" alt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再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选择“使用ISO镜像文件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(M)”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项，单</a:t>
            </a:r>
            <a:r>
              <a:rPr lang="zh-CN" alt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击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“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浏览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(B)”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按钮，设置CentOS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8.2安装光盘镜像文件的位置，如图所示。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75125" y="461327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指定CentOS 8.2安装光盘镜像文件</a:t>
            </a:r>
          </a:p>
        </p:txBody>
      </p:sp>
      <p:pic>
        <p:nvPicPr>
          <p:cNvPr id="4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310" y="1180465"/>
            <a:ext cx="3888740" cy="32746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35546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2.1.2虚拟机启动初始化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38125" y="807720"/>
            <a:ext cx="8533130" cy="2091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接下来点击“启动此虚拟机操作系统”按钮，进行CentOS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8.2的初始化安装，安装过程中的语言可以选择中文简体。“安装目的地”的设置只需要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择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使用自动方式即可，如图所示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在CentOS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8.2的安装过程花费的时间较长，期间需要进行一些项目的配置，例如账户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和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密码等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428" y="2950528"/>
            <a:ext cx="2271395" cy="1702435"/>
          </a:xfrm>
          <a:prstGeom prst="rect">
            <a:avLst/>
          </a:prstGeom>
        </p:spPr>
      </p:pic>
      <p:pic>
        <p:nvPicPr>
          <p:cNvPr id="35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338" y="2950528"/>
            <a:ext cx="2271395" cy="170243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5935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2.1.3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克隆虚拟机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522605" y="1017905"/>
            <a:ext cx="442341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安装好一台Linux主机后，利用VMware提供的克隆虚拟机功能，从原始虚拟机Node01克隆出另外两台虚拟机，分别命名为Node02和Node03。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首先关闭虚拟机Node01，在VMware主界面左侧系统资源库中右击Node01，选择“管理”菜单下的“克隆”命令（如</a:t>
            </a:r>
            <a:r>
              <a:rPr lang="zh-CN" alt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右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图所示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），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弹出克隆虚拟机向导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10000"/>
              </a:lnSpc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endParaRPr sz="20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pic>
        <p:nvPicPr>
          <p:cNvPr id="1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963" y="963295"/>
            <a:ext cx="2693035" cy="3580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5249863" y="4598035"/>
            <a:ext cx="2409190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>
                <a:sym typeface="+mn-ea"/>
              </a:rPr>
              <a:t>在VMware Workstation中克隆虚拟机</a:t>
            </a:r>
            <a:endParaRPr sz="1000"/>
          </a:p>
        </p:txBody>
      </p:sp>
    </p:spTree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5935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2.1.3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克隆虚拟机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737235" y="1202055"/>
            <a:ext cx="3679825" cy="32918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在“克隆虚拟机向导”窗口中连续点击“下一步”按钮，当出现“克隆类型”窗口时，选择“创建完整克隆”选项（如</a:t>
            </a:r>
            <a:r>
              <a:rPr lang="zh-CN" alt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右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图所示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），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对原始虚拟机进行完全独立的一个复制，不与原始虚拟机共享资源，可以独立使用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</a:p>
        </p:txBody>
      </p:sp>
      <p:pic>
        <p:nvPicPr>
          <p:cNvPr id="16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045" y="1473835"/>
            <a:ext cx="3070225" cy="23660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5518468" y="4024630"/>
            <a:ext cx="1480820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>
                <a:sym typeface="+mn-ea"/>
              </a:rPr>
              <a:t>指定克隆类型”窗口</a:t>
            </a:r>
            <a:endParaRPr lang="zh-CN" altLang="en-US" sz="1000"/>
          </a:p>
        </p:txBody>
      </p:sp>
    </p:spTree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5935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2.1.3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克隆虚拟机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774065" y="1525905"/>
            <a:ext cx="3881120" cy="2091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接着指定新虚拟机的名称和存放位置，如</a:t>
            </a:r>
            <a:r>
              <a:rPr lang="zh-CN" alt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右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图所示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通过克隆虚拟机操作，生成另外两台Linux虚拟机，分别命名为Node02和Node03。</a:t>
            </a:r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290" y="1761490"/>
            <a:ext cx="2149475" cy="18561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4655185" y="3726180"/>
            <a:ext cx="3068320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/>
              <a:t>虚拟</a:t>
            </a:r>
            <a:r>
              <a:rPr sz="1000" b="0"/>
              <a:t>机命名和指定存放位置</a:t>
            </a:r>
            <a:endParaRPr sz="1000"/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4167679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305050" y="1485265"/>
            <a:ext cx="65551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操作基础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  <a:sym typeface="+mn-ea"/>
              </a:rPr>
              <a:t>2.2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30780" y="2485390"/>
            <a:ext cx="35147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软件包管理工具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目录和文件操作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用户和权限管理命令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修改文件的访问权限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压缩和解压缩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网络配置命令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系统服务命令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查找命令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5935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Linux操作基础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18053" y="919480"/>
            <a:ext cx="8629098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0" dirty="0">
                <a:ea typeface="等线" panose="02010600030101010101" pitchFamily="2" charset="-122"/>
              </a:rPr>
              <a:t>   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Linux是免费开源的操作系统，目前常用的版有CentOS、Ubuntu、RedHat和Debian等，CentOS比Ubuntu更新较慢但更稳定，适合作为服务器操作系统使用，而Ubuntu的版本更新更快，适合于作为桌面操作系统使用。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本书使用CentOS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+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Hadoop来构建大数据平台，为了更好地在CentOS中进行大数据环境的配置和实验，本节以CentOS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8.2为例，介绍一些常用的Linux基本操作命令。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Linux中命令的用法可以使用以下方式获得帮助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命令名称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--help</a:t>
            </a:r>
            <a:endParaRPr sz="20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例如输入“cd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--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help”命令，Linux系统会给出cd命令详细的用法说明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endParaRPr lang="zh-CN" altLang="en-US" sz="2000" dirty="0"/>
          </a:p>
        </p:txBody>
      </p:sp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6040" y="263559"/>
            <a:ext cx="314515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软件包管理工具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129378" y="920733"/>
          <a:ext cx="3888000" cy="577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2356817337"/>
              </p:ext>
            </p:extLst>
          </p:nvPr>
        </p:nvGraphicFramePr>
        <p:xfrm>
          <a:off x="129540" y="1391284"/>
          <a:ext cx="4192905" cy="344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矩形 7"/>
          <p:cNvSpPr/>
          <p:nvPr/>
        </p:nvSpPr>
        <p:spPr>
          <a:xfrm>
            <a:off x="4382127" y="1810768"/>
            <a:ext cx="3613785" cy="5029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4" name="图示 13"/>
          <p:cNvGraphicFramePr/>
          <p:nvPr>
            <p:extLst>
              <p:ext uri="{D42A27DB-BD31-4B8C-83A1-F6EECF244321}">
                <p14:modId xmlns:p14="http://schemas.microsoft.com/office/powerpoint/2010/main" val="3718189399"/>
              </p:ext>
            </p:extLst>
          </p:nvPr>
        </p:nvGraphicFramePr>
        <p:xfrm>
          <a:off x="4458847" y="1391285"/>
          <a:ext cx="4383528" cy="3110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6675" y="234315"/>
            <a:ext cx="459359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2.2.2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目录和文件操作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10845" y="95186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zh-CN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1．</a:t>
            </a:r>
            <a:r>
              <a:rPr lang="en-US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zh-CN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目录操作命令</a:t>
            </a:r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60345" y="1713230"/>
            <a:ext cx="2174240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sz="1000" b="0" dirty="0" err="1"/>
              <a:t>常用的目录操作命令</a:t>
            </a:r>
            <a:endParaRPr sz="1000" dirty="0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512570" y="1959610"/>
          <a:ext cx="4555490" cy="920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命令</a:t>
                      </a:r>
                      <a:endParaRPr lang="en-US" altLang="en-US" sz="900" b="1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功能</a:t>
                      </a:r>
                      <a:endParaRPr lang="en-US" altLang="en-US" sz="900" b="1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cd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切换目录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37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mkdir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创建目录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rmdir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删除一个空的目录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pwd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显示目录</a:t>
                      </a:r>
                      <a:endParaRPr lang="en-US" altLang="en-US" sz="9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62330" y="1373823"/>
            <a:ext cx="36645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1800" dirty="0">
                <a:ea typeface="等线" panose="02010600030101010101" pitchFamily="2" charset="-122"/>
                <a:sym typeface="+mn-ea"/>
              </a:rPr>
              <a:t>下表是</a:t>
            </a:r>
            <a:r>
              <a:rPr lang="en-US" sz="18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Linux</a:t>
            </a:r>
            <a:r>
              <a:rPr lang="zh-CN" sz="1800" dirty="0">
                <a:ea typeface="等线" panose="02010600030101010101" pitchFamily="2" charset="-122"/>
                <a:sym typeface="+mn-ea"/>
              </a:rPr>
              <a:t>常用的目录操作命令：</a:t>
            </a:r>
            <a:endParaRPr lang="zh-CN" altLang="en-US" sz="1800" dirty="0"/>
          </a:p>
        </p:txBody>
      </p:sp>
      <p:sp>
        <p:nvSpPr>
          <p:cNvPr id="10" name="文本框 9"/>
          <p:cNvSpPr txBox="1"/>
          <p:nvPr/>
        </p:nvSpPr>
        <p:spPr>
          <a:xfrm>
            <a:off x="410845" y="288163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28600" indent="-228600"/>
            <a:r>
              <a:rPr lang="en-US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zh-CN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2．文件操作命令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60755" y="3281997"/>
            <a:ext cx="5080000" cy="1600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/>
            <a:endParaRPr lang="en-US" sz="1800" b="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indent="266700"/>
            <a:r>
              <a:rPr lang="en-US" sz="1600" b="0" dirty="0">
                <a:latin typeface="Wingdings" panose="05000000000000000000" charset="0"/>
                <a:ea typeface="等线" panose="02010600030101010101" pitchFamily="2" charset="-122"/>
              </a:rPr>
              <a:t>l 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ls</a:t>
            </a:r>
            <a:r>
              <a:rPr lang="zh-CN" sz="1600" dirty="0">
                <a:ea typeface="等线" panose="02010600030101010101" pitchFamily="2" charset="-122"/>
              </a:rPr>
              <a:t>：查看目录中的文件列表</a:t>
            </a:r>
            <a:endParaRPr lang="en-US" sz="160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indent="266700"/>
            <a:r>
              <a:rPr lang="en-US" sz="1600" dirty="0">
                <a:latin typeface="Wingdings" panose="05000000000000000000" charset="0"/>
                <a:ea typeface="等线" panose="02010600030101010101" pitchFamily="2" charset="-122"/>
              </a:rPr>
              <a:t>l 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zh-CN" sz="1600" dirty="0">
                <a:ea typeface="等线" panose="02010600030101010101" pitchFamily="2" charset="-122"/>
              </a:rPr>
              <a:t>：复制文件</a:t>
            </a:r>
            <a:endParaRPr lang="en-US" sz="160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indent="266700"/>
            <a:r>
              <a:rPr lang="en-US" sz="1600" dirty="0">
                <a:latin typeface="Wingdings" panose="05000000000000000000" charset="0"/>
                <a:ea typeface="等线" panose="02010600030101010101" pitchFamily="2" charset="-122"/>
              </a:rPr>
              <a:t>l </a:t>
            </a:r>
            <a:r>
              <a:rPr lang="en-US" sz="1600" dirty="0">
                <a:latin typeface="等线" panose="02010600030101010101" pitchFamily="2" charset="-122"/>
              </a:rPr>
              <a:t>m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sz="1600" dirty="0">
                <a:ea typeface="等线" panose="02010600030101010101" pitchFamily="2" charset="-122"/>
              </a:rPr>
              <a:t>：移动文件</a:t>
            </a:r>
            <a:endParaRPr lang="en-US" sz="160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indent="266700"/>
            <a:r>
              <a:rPr lang="en-US" sz="1600" dirty="0">
                <a:latin typeface="Wingdings" panose="05000000000000000000" charset="0"/>
                <a:ea typeface="等线" panose="02010600030101010101" pitchFamily="2" charset="-122"/>
              </a:rPr>
              <a:t>l 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rm</a:t>
            </a:r>
            <a:r>
              <a:rPr lang="zh-CN" sz="1600" dirty="0">
                <a:ea typeface="等线" panose="02010600030101010101" pitchFamily="2" charset="-122"/>
              </a:rPr>
              <a:t>：删除文件</a:t>
            </a:r>
            <a:endParaRPr lang="en-US" sz="160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indent="266700"/>
            <a:r>
              <a:rPr lang="en-US" sz="1600" dirty="0">
                <a:latin typeface="Wingdings" panose="05000000000000000000" charset="0"/>
                <a:ea typeface="等线" panose="02010600030101010101" pitchFamily="2" charset="-122"/>
              </a:rPr>
              <a:t>l </a:t>
            </a:r>
            <a:r>
              <a:rPr lang="en-US" sz="1600" dirty="0">
                <a:latin typeface="等线" panose="02010600030101010101" pitchFamily="2" charset="-122"/>
              </a:rPr>
              <a:t>c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at</a:t>
            </a:r>
            <a:r>
              <a:rPr lang="zh-CN" sz="1600" dirty="0">
                <a:ea typeface="等线" panose="02010600030101010101" pitchFamily="2" charset="-122"/>
              </a:rPr>
              <a:t>、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more</a:t>
            </a:r>
            <a:r>
              <a:rPr lang="zh-CN" sz="1600" dirty="0">
                <a:ea typeface="等线" panose="02010600030101010101" pitchFamily="2" charset="-122"/>
              </a:rPr>
              <a:t>和</a:t>
            </a:r>
            <a:r>
              <a:rPr lang="en-US" sz="1600" dirty="0">
                <a:latin typeface="等线" panose="02010600030101010101" pitchFamily="2" charset="-122"/>
                <a:cs typeface="Times New Roman" panose="02020603050405020304" pitchFamily="18" charset="0"/>
              </a:rPr>
              <a:t>tac</a:t>
            </a:r>
            <a:r>
              <a:rPr lang="zh-CN" sz="1600" dirty="0">
                <a:ea typeface="等线" panose="02010600030101010101" pitchFamily="2" charset="-122"/>
              </a:rPr>
              <a:t>：查看文件内容</a:t>
            </a:r>
            <a:endParaRPr lang="zh-CN" alt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80110" y="3280410"/>
            <a:ext cx="2468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1800" dirty="0">
                <a:ea typeface="等线" panose="02010600030101010101" pitchFamily="2" charset="-122"/>
                <a:sym typeface="+mn-ea"/>
              </a:rPr>
              <a:t>常用的文件操作命令：</a:t>
            </a:r>
            <a:endParaRPr lang="zh-CN" altLang="en-US" sz="1800" dirty="0"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2.2.3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用户和权限管理命令</a:t>
            </a:r>
            <a:endParaRPr lang="zh-CN" altLang="en-US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81050" y="1005840"/>
            <a:ext cx="1471295" cy="3936377"/>
            <a:chOff x="251" y="1863"/>
            <a:chExt cx="1270" cy="6314"/>
          </a:xfrm>
        </p:grpSpPr>
        <p:sp>
          <p:nvSpPr>
            <p:cNvPr id="4" name="矩形 3"/>
            <p:cNvSpPr/>
            <p:nvPr/>
          </p:nvSpPr>
          <p:spPr>
            <a:xfrm>
              <a:off x="251" y="1863"/>
              <a:ext cx="1270" cy="9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b="1">
                  <a:latin typeface="Impact" panose="020B0806030902050204" pitchFamily="34" charset="0"/>
                </a:rPr>
                <a:t>新建用户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251" y="3158"/>
              <a:ext cx="1270" cy="65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b="1">
                  <a:latin typeface="Impact" panose="020B0806030902050204" pitchFamily="34" charset="0"/>
                </a:rPr>
                <a:t>新建用户组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251" y="4171"/>
              <a:ext cx="1270" cy="127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b="1">
                  <a:latin typeface="Impact" panose="020B0806030902050204" pitchFamily="34" charset="0"/>
                </a:rPr>
                <a:t>删除用户</a:t>
              </a:r>
            </a:p>
            <a:p>
              <a:pPr algn="l"/>
              <a:r>
                <a:rPr lang="en-US" sz="1600" b="1">
                  <a:latin typeface="Impact" panose="020B0806030902050204" pitchFamily="34" charset="0"/>
                </a:rPr>
                <a:t>或用户组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51" y="5802"/>
              <a:ext cx="1270" cy="95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b="1">
                  <a:latin typeface="Impact" panose="020B0806030902050204" pitchFamily="34" charset="0"/>
                </a:rPr>
                <a:t>为用户分配所属的用户组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51" y="7109"/>
              <a:ext cx="1270" cy="10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b="1">
                  <a:latin typeface="Impact" panose="020B0806030902050204" pitchFamily="34" charset="0"/>
                </a:rPr>
                <a:t>切换当前用户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461260" y="1005205"/>
            <a:ext cx="5711190" cy="3919726"/>
            <a:chOff x="1716" y="1939"/>
            <a:chExt cx="8994" cy="5717"/>
          </a:xfrm>
        </p:grpSpPr>
        <p:sp>
          <p:nvSpPr>
            <p:cNvPr id="17" name="矩形 16"/>
            <p:cNvSpPr/>
            <p:nvPr/>
          </p:nvSpPr>
          <p:spPr>
            <a:xfrm>
              <a:off x="1721" y="6806"/>
              <a:ext cx="8988" cy="85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sym typeface="+mn-ea"/>
                </a:rPr>
                <a:t>$ su roo	#切换当前用户为root</a:t>
              </a:r>
            </a:p>
            <a:p>
              <a:pPr defTabSz="914400"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sym typeface="+mn-ea"/>
                </a:rPr>
                <a:t>$ su - root#参数“-”不但切换用户，而且改变环境变量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716" y="1939"/>
              <a:ext cx="8976" cy="85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+mn-ea"/>
                  <a:sym typeface="+mn-ea"/>
                </a:rPr>
                <a:t>$ useradd user1	#创建用户user1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+mn-ea"/>
                  <a:sym typeface="+mn-ea"/>
                </a:rPr>
                <a:t>$ passwd user1</a:t>
              </a:r>
              <a:r>
                <a:rPr lang="en-US" altLang="zh-CN" sz="1600" b="1" dirty="0">
                  <a:latin typeface="+mn-ea"/>
                  <a:sym typeface="+mn-ea"/>
                </a:rPr>
                <a:t>       </a:t>
              </a:r>
              <a:r>
                <a:rPr lang="zh-CN" altLang="en-US" sz="1600" b="1" dirty="0">
                  <a:latin typeface="+mn-ea"/>
                  <a:sym typeface="+mn-ea"/>
                </a:rPr>
                <a:t>#设置用户user1的密码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1716" y="4087"/>
              <a:ext cx="8990" cy="12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sz="1600" b="1" dirty="0">
                  <a:latin typeface="+mn-ea"/>
                  <a:sym typeface="+mn-ea"/>
                </a:rPr>
                <a:t>$ userdel  username</a:t>
              </a:r>
              <a:r>
                <a:rPr lang="en-US" sz="1600" b="1" dirty="0">
                  <a:latin typeface="+mn-ea"/>
                  <a:sym typeface="+mn-ea"/>
                </a:rPr>
                <a:t>          </a:t>
              </a:r>
              <a:r>
                <a:rPr sz="1600" b="1" dirty="0">
                  <a:latin typeface="+mn-ea"/>
                  <a:sym typeface="+mn-ea"/>
                </a:rPr>
                <a:t>#删除用户</a:t>
              </a:r>
            </a:p>
            <a:p>
              <a:pPr>
                <a:lnSpc>
                  <a:spcPct val="100000"/>
                </a:lnSpc>
              </a:pPr>
              <a:r>
                <a:rPr sz="1600" b="1" dirty="0">
                  <a:latin typeface="+mn-ea"/>
                  <a:sym typeface="+mn-ea"/>
                </a:rPr>
                <a:t>$ groupdel  </a:t>
              </a:r>
              <a:r>
                <a:rPr sz="1600" b="1" dirty="0" err="1">
                  <a:latin typeface="+mn-ea"/>
                  <a:sym typeface="+mn-ea"/>
                </a:rPr>
                <a:t>groupname</a:t>
              </a:r>
              <a:r>
                <a:rPr lang="en-US" sz="1600" b="1" dirty="0">
                  <a:latin typeface="+mn-ea"/>
                  <a:sym typeface="+mn-ea"/>
                </a:rPr>
                <a:t>     </a:t>
              </a:r>
              <a:r>
                <a:rPr sz="1600" b="1" dirty="0">
                  <a:latin typeface="+mn-ea"/>
                  <a:sym typeface="+mn-ea"/>
                </a:rPr>
                <a:t>#删除用户组</a:t>
              </a:r>
            </a:p>
            <a:p>
              <a:pPr>
                <a:lnSpc>
                  <a:spcPct val="100000"/>
                </a:lnSpc>
              </a:pPr>
              <a:r>
                <a:rPr sz="1600" b="1" dirty="0">
                  <a:latin typeface="+mn-ea"/>
                  <a:sym typeface="+mn-ea"/>
                </a:rPr>
                <a:t>$ userdel -f username</a:t>
              </a:r>
              <a:r>
                <a:rPr lang="en-US" sz="1600" b="1" dirty="0">
                  <a:latin typeface="+mn-ea"/>
                  <a:sym typeface="+mn-ea"/>
                </a:rPr>
                <a:t>        </a:t>
              </a:r>
              <a:r>
                <a:rPr sz="1600" b="1" dirty="0">
                  <a:latin typeface="+mn-ea"/>
                  <a:sym typeface="+mn-ea"/>
                </a:rPr>
                <a:t>#删除用户的主目录和邮件池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1721" y="3120"/>
              <a:ext cx="8989" cy="63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700"/>
                </a:lnSpc>
              </a:pPr>
              <a:r>
                <a:rPr sz="1600" b="1" dirty="0">
                  <a:latin typeface="+mn-ea"/>
                </a:rPr>
                <a:t>$ groupadd   group1</a:t>
              </a:r>
              <a:r>
                <a:rPr lang="en-US" sz="1600" b="1" dirty="0">
                  <a:latin typeface="+mn-ea"/>
                </a:rPr>
                <a:t>  </a:t>
              </a:r>
              <a:r>
                <a:rPr sz="1600" b="1" dirty="0">
                  <a:latin typeface="+mn-ea"/>
                </a:rPr>
                <a:t>#创建用户组group1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1716" y="5626"/>
              <a:ext cx="8994" cy="85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+mn-ea"/>
                  <a:sym typeface="+mn-ea"/>
                </a:rPr>
                <a:t>$ usermod -G  groupname  username#将用户分配到用户组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latin typeface="+mn-ea"/>
                  <a:sym typeface="+mn-ea"/>
                </a:rPr>
                <a:t>$ groups  username       #查看用户隶属的所有组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2.2.4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修改文件的访问权限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89255" y="919480"/>
            <a:ext cx="8365490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dirty="0">
                <a:ea typeface="等线" panose="02010600030101010101" pitchFamily="2" charset="-122"/>
              </a:rPr>
              <a:t>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为了保护系统的安全性，Linux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系统对不同的用户访问同一文件（包括目录文件）的权限做了不同的规定。文件被创建后，文件的创建者自动拥有对该文件的读、写和可执行权限，而其他用户需要通过权限设置来获得对该用文件的访问权限，首先通过例子来理解文件的用户访问权限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（1）查看文件的访问权限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可以用以下命令显示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sysconfig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/network-scripts目录下ifcfg-ens33文件的访问权限：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$ cd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sysconfig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/network-scripts        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$ ls -l ifcfg-ens33			#查看ifcfg-ens33详细信息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2.2.4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修改文件的访问权限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89255" y="919480"/>
            <a:ext cx="8365490" cy="4607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zh-CN" altLang="en-US" sz="2000" dirty="0"/>
              <a:t>显示结果如下图 所示：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59AF2F-5B3A-431E-97F8-9BF9BB48F6FE}"/>
              </a:ext>
            </a:extLst>
          </p:cNvPr>
          <p:cNvSpPr/>
          <p:nvPr/>
        </p:nvSpPr>
        <p:spPr>
          <a:xfrm>
            <a:off x="1772223" y="1432796"/>
            <a:ext cx="4572000" cy="3341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zh-CN" sz="1400" kern="100" dirty="0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400" kern="100" dirty="0" err="1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rw</a:t>
            </a:r>
            <a:r>
              <a:rPr lang="en-US" altLang="zh-CN" sz="1400" kern="100" dirty="0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-r--r--. 1 root </a:t>
            </a:r>
            <a:r>
              <a:rPr lang="en-US" altLang="zh-CN" sz="1400" kern="100" dirty="0" err="1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en-US" altLang="zh-CN" sz="1400" kern="100" dirty="0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 403 11</a:t>
            </a:r>
            <a:r>
              <a:rPr lang="zh-CN" altLang="zh-CN" sz="1400" kern="100" dirty="0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sz="1400" kern="100" dirty="0">
                <a:solidFill>
                  <a:srgbClr val="FFFFFF"/>
                </a:solidFill>
                <a:highlight>
                  <a:srgbClr val="000000"/>
                </a:highlight>
                <a:latin typeface="等线" panose="02010600030101010101" pitchFamily="2" charset="-122"/>
                <a:cs typeface="Times New Roman" panose="02020603050405020304" pitchFamily="18" charset="0"/>
              </a:rPr>
              <a:t> 10 09:18 ifcfg-ens33</a:t>
            </a: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387F06-DB86-4777-B16B-478D1EA27066}"/>
              </a:ext>
            </a:extLst>
          </p:cNvPr>
          <p:cNvSpPr/>
          <p:nvPr/>
        </p:nvSpPr>
        <p:spPr>
          <a:xfrm>
            <a:off x="802776" y="2061571"/>
            <a:ext cx="7365659" cy="2065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/>
              <a:t>上图中第</a:t>
            </a:r>
            <a:r>
              <a:rPr lang="en-US" altLang="zh-CN" sz="1800" dirty="0"/>
              <a:t>1</a:t>
            </a:r>
            <a:r>
              <a:rPr lang="zh-CN" altLang="en-US" sz="1800" dirty="0"/>
              <a:t>位“</a:t>
            </a:r>
            <a:r>
              <a:rPr lang="en-US" altLang="zh-CN" sz="1800" dirty="0"/>
              <a:t>-“</a:t>
            </a:r>
            <a:r>
              <a:rPr lang="zh-CN" altLang="en-US" sz="1800" dirty="0"/>
              <a:t>表示文件类型，接着的</a:t>
            </a:r>
            <a:r>
              <a:rPr lang="en-US" altLang="zh-CN" sz="1800" dirty="0"/>
              <a:t>9</a:t>
            </a:r>
            <a:r>
              <a:rPr lang="zh-CN" altLang="en-US" sz="1800" dirty="0"/>
              <a:t>位字符是文件的访问权限：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800" dirty="0"/>
              <a:t>头</a:t>
            </a:r>
            <a:r>
              <a:rPr lang="en-US" altLang="zh-CN" sz="1800" dirty="0"/>
              <a:t>3</a:t>
            </a:r>
            <a:r>
              <a:rPr lang="zh-CN" altLang="en-US" sz="1800" dirty="0"/>
              <a:t>位“</a:t>
            </a:r>
            <a:r>
              <a:rPr lang="en-US" altLang="zh-CN" sz="1800" dirty="0" err="1"/>
              <a:t>rw</a:t>
            </a:r>
            <a:r>
              <a:rPr lang="en-US" altLang="zh-CN" sz="1800" dirty="0"/>
              <a:t>-”</a:t>
            </a:r>
            <a:r>
              <a:rPr lang="zh-CN" altLang="en-US" sz="1800" dirty="0"/>
              <a:t>表示文件所有者（</a:t>
            </a:r>
            <a:r>
              <a:rPr lang="en-US" altLang="zh-CN" sz="1800" dirty="0"/>
              <a:t>user</a:t>
            </a:r>
            <a:r>
              <a:rPr lang="zh-CN" altLang="en-US" sz="1800" dirty="0"/>
              <a:t>）拥有的权限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800" dirty="0"/>
              <a:t>中间</a:t>
            </a:r>
            <a:r>
              <a:rPr lang="en-US" altLang="zh-CN" sz="1800" dirty="0"/>
              <a:t>3</a:t>
            </a:r>
            <a:r>
              <a:rPr lang="zh-CN" altLang="en-US" sz="1800" dirty="0"/>
              <a:t>位“</a:t>
            </a:r>
            <a:r>
              <a:rPr lang="en-US" altLang="zh-CN" sz="1800" dirty="0"/>
              <a:t>r--”</a:t>
            </a:r>
            <a:r>
              <a:rPr lang="zh-CN" altLang="en-US" sz="1800" dirty="0"/>
              <a:t>表示文件所隶属的组（</a:t>
            </a:r>
            <a:r>
              <a:rPr lang="en-US" altLang="zh-CN" sz="1800" dirty="0"/>
              <a:t>group</a:t>
            </a:r>
            <a:r>
              <a:rPr lang="zh-CN" altLang="en-US" sz="1800" dirty="0"/>
              <a:t>）的用户拥有的权限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800" dirty="0"/>
              <a:t>后</a:t>
            </a:r>
            <a:r>
              <a:rPr lang="en-US" altLang="zh-CN" sz="1800" dirty="0"/>
              <a:t>3</a:t>
            </a:r>
            <a:r>
              <a:rPr lang="zh-CN" altLang="en-US" sz="1800" dirty="0"/>
              <a:t>位“</a:t>
            </a:r>
            <a:r>
              <a:rPr lang="en-US" altLang="zh-CN" sz="1800" dirty="0"/>
              <a:t>r--”</a:t>
            </a:r>
            <a:r>
              <a:rPr lang="zh-CN" altLang="en-US" sz="1800" dirty="0"/>
              <a:t>表示其他人（</a:t>
            </a:r>
            <a:r>
              <a:rPr lang="en-US" altLang="zh-CN" sz="1800" dirty="0"/>
              <a:t>others</a:t>
            </a:r>
            <a:r>
              <a:rPr lang="zh-CN" altLang="en-US" sz="1800" dirty="0"/>
              <a:t>）拥有的权限</a:t>
            </a:r>
          </a:p>
          <a:p>
            <a:pPr>
              <a:lnSpc>
                <a:spcPct val="120000"/>
              </a:lnSpc>
            </a:pPr>
            <a:r>
              <a:rPr lang="zh-CN" altLang="en-US" sz="1800" dirty="0"/>
              <a:t>接下来的“</a:t>
            </a:r>
            <a:r>
              <a:rPr lang="en-US" altLang="zh-CN" sz="1800" dirty="0"/>
              <a:t>1”</a:t>
            </a:r>
            <a:r>
              <a:rPr lang="zh-CN" altLang="en-US" sz="1800" dirty="0"/>
              <a:t>表示连接数；“</a:t>
            </a:r>
            <a:r>
              <a:rPr lang="en-US" altLang="zh-CN" sz="1800" dirty="0"/>
              <a:t>root”</a:t>
            </a:r>
            <a:r>
              <a:rPr lang="zh-CN" altLang="en-US" sz="1800" dirty="0"/>
              <a:t>表示文件的拥有者为</a:t>
            </a:r>
            <a:r>
              <a:rPr lang="en-US" altLang="zh-CN" sz="1800" dirty="0"/>
              <a:t>root</a:t>
            </a:r>
            <a:r>
              <a:rPr lang="zh-CN" altLang="en-US" sz="1800" dirty="0"/>
              <a:t>，第</a:t>
            </a:r>
            <a:r>
              <a:rPr lang="en-US" altLang="zh-CN" sz="1800" dirty="0"/>
              <a:t>2</a:t>
            </a:r>
            <a:r>
              <a:rPr lang="zh-CN" altLang="en-US" sz="1800" dirty="0"/>
              <a:t>个“</a:t>
            </a:r>
            <a:r>
              <a:rPr lang="en-US" altLang="zh-CN" sz="1800" dirty="0"/>
              <a:t>root“</a:t>
            </a:r>
            <a:r>
              <a:rPr lang="zh-CN" altLang="en-US" sz="1800" dirty="0"/>
              <a:t>表示文件的隶属组为</a:t>
            </a:r>
            <a:r>
              <a:rPr lang="en-US" altLang="zh-CN" sz="1800" dirty="0"/>
              <a:t>root</a:t>
            </a:r>
            <a:r>
              <a:rPr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5384084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2.2.4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修改文件的访问权限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126309" y="1115204"/>
            <a:ext cx="3638386" cy="4607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zh-CN" altLang="en-US" sz="2000" dirty="0"/>
              <a:t>文件权限信息和含义表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BEF6B14-57E8-402C-835F-427A83593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020872"/>
              </p:ext>
            </p:extLst>
          </p:nvPr>
        </p:nvGraphicFramePr>
        <p:xfrm>
          <a:off x="440380" y="1788065"/>
          <a:ext cx="7602670" cy="10650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4397">
                  <a:extLst>
                    <a:ext uri="{9D8B030D-6E8A-4147-A177-3AD203B41FA5}">
                      <a16:colId xmlns:a16="http://schemas.microsoft.com/office/drawing/2014/main" val="1523786627"/>
                    </a:ext>
                  </a:extLst>
                </a:gridCol>
                <a:gridCol w="1246285">
                  <a:extLst>
                    <a:ext uri="{9D8B030D-6E8A-4147-A177-3AD203B41FA5}">
                      <a16:colId xmlns:a16="http://schemas.microsoft.com/office/drawing/2014/main" val="3044780892"/>
                    </a:ext>
                  </a:extLst>
                </a:gridCol>
                <a:gridCol w="737025">
                  <a:extLst>
                    <a:ext uri="{9D8B030D-6E8A-4147-A177-3AD203B41FA5}">
                      <a16:colId xmlns:a16="http://schemas.microsoft.com/office/drawing/2014/main" val="1398892691"/>
                    </a:ext>
                  </a:extLst>
                </a:gridCol>
                <a:gridCol w="499362">
                  <a:extLst>
                    <a:ext uri="{9D8B030D-6E8A-4147-A177-3AD203B41FA5}">
                      <a16:colId xmlns:a16="http://schemas.microsoft.com/office/drawing/2014/main" val="3251599849"/>
                    </a:ext>
                  </a:extLst>
                </a:gridCol>
                <a:gridCol w="579403">
                  <a:extLst>
                    <a:ext uri="{9D8B030D-6E8A-4147-A177-3AD203B41FA5}">
                      <a16:colId xmlns:a16="http://schemas.microsoft.com/office/drawing/2014/main" val="1488642347"/>
                    </a:ext>
                  </a:extLst>
                </a:gridCol>
                <a:gridCol w="433982">
                  <a:extLst>
                    <a:ext uri="{9D8B030D-6E8A-4147-A177-3AD203B41FA5}">
                      <a16:colId xmlns:a16="http://schemas.microsoft.com/office/drawing/2014/main" val="1658239824"/>
                    </a:ext>
                  </a:extLst>
                </a:gridCol>
                <a:gridCol w="433982">
                  <a:extLst>
                    <a:ext uri="{9D8B030D-6E8A-4147-A177-3AD203B41FA5}">
                      <a16:colId xmlns:a16="http://schemas.microsoft.com/office/drawing/2014/main" val="3578068581"/>
                    </a:ext>
                  </a:extLst>
                </a:gridCol>
                <a:gridCol w="1071708">
                  <a:extLst>
                    <a:ext uri="{9D8B030D-6E8A-4147-A177-3AD203B41FA5}">
                      <a16:colId xmlns:a16="http://schemas.microsoft.com/office/drawing/2014/main" val="2850282599"/>
                    </a:ext>
                  </a:extLst>
                </a:gridCol>
                <a:gridCol w="470962">
                  <a:extLst>
                    <a:ext uri="{9D8B030D-6E8A-4147-A177-3AD203B41FA5}">
                      <a16:colId xmlns:a16="http://schemas.microsoft.com/office/drawing/2014/main" val="3695352763"/>
                    </a:ext>
                  </a:extLst>
                </a:gridCol>
                <a:gridCol w="409798">
                  <a:extLst>
                    <a:ext uri="{9D8B030D-6E8A-4147-A177-3AD203B41FA5}">
                      <a16:colId xmlns:a16="http://schemas.microsoft.com/office/drawing/2014/main" val="1994472115"/>
                    </a:ext>
                  </a:extLst>
                </a:gridCol>
                <a:gridCol w="565766">
                  <a:extLst>
                    <a:ext uri="{9D8B030D-6E8A-4147-A177-3AD203B41FA5}">
                      <a16:colId xmlns:a16="http://schemas.microsoft.com/office/drawing/2014/main" val="3990976466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marL="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文件属性项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文件类型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文件所有者权限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文件所属组用户权限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其他用户权限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96238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algn="just" defTabSz="6858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字符表示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d/-/l/b/c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r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x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x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w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x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7493314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0" algn="just" defTabSz="6858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数字表示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4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4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2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4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2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6725956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0" algn="just" defTabSz="6858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d:</a:t>
                      </a:r>
                      <a:r>
                        <a:rPr lang="zh-CN" sz="1400" kern="100">
                          <a:effectLst/>
                        </a:rPr>
                        <a:t>目录</a:t>
                      </a:r>
                      <a:r>
                        <a:rPr lang="en-US" sz="1400" kern="100">
                          <a:effectLst/>
                        </a:rPr>
                        <a:t>, -:</a:t>
                      </a:r>
                      <a:r>
                        <a:rPr lang="zh-CN" sz="1400" kern="100">
                          <a:effectLst/>
                        </a:rPr>
                        <a:t>文件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读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写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执行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读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写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执行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读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写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执行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1901977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F75DFF88-6D2F-4338-A1C0-E86803AD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81" y="3107690"/>
            <a:ext cx="20193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459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2.2.4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修改文件的访问权限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833120"/>
            <a:ext cx="9058275" cy="2107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ea typeface="等线" panose="02010600030101010101" pitchFamily="2" charset="-122"/>
              </a:rPr>
              <a:t>（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2）修改文件的访问权限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要修改文件的访问权限可以使用chmod命令，有两种设置方法，一种是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数字法，一种是符号法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marL="457200" lvl="2"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 err="1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数字法</a:t>
            </a:r>
            <a:endParaRPr sz="2000" dirty="0"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 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chmod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777 ifcfg-ens33     #将ifcfg-ens33改为所有用户可读、写和执行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chmod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764 ifcfg-ens33     #将ifcfg-ens33文件修改为“rwxrw-r–”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权限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97DD18-981A-4F6F-ACAC-BFAFA2583EF5}"/>
              </a:ext>
            </a:extLst>
          </p:cNvPr>
          <p:cNvSpPr/>
          <p:nvPr/>
        </p:nvSpPr>
        <p:spPr>
          <a:xfrm>
            <a:off x="2940740" y="3242637"/>
            <a:ext cx="2613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800" kern="100" dirty="0">
                <a:cs typeface="Times New Roman" panose="02020603050405020304" pitchFamily="18" charset="0"/>
              </a:rPr>
              <a:t>其中数字</a:t>
            </a:r>
            <a:r>
              <a:rPr lang="en-US" altLang="zh-CN" sz="1800" kern="100" dirty="0">
                <a:cs typeface="Times New Roman" panose="02020603050405020304" pitchFamily="18" charset="0"/>
              </a:rPr>
              <a:t>764</a:t>
            </a:r>
            <a:r>
              <a:rPr lang="zh-CN" altLang="zh-CN" sz="1800" kern="100" dirty="0">
                <a:cs typeface="Times New Roman" panose="02020603050405020304" pitchFamily="18" charset="0"/>
              </a:rPr>
              <a:t>的含义如下</a:t>
            </a:r>
            <a:endParaRPr lang="zh-CN" altLang="en-US" sz="18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F968ABB-E473-446C-BC8E-4BB32CEEF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32717"/>
              </p:ext>
            </p:extLst>
          </p:nvPr>
        </p:nvGraphicFramePr>
        <p:xfrm>
          <a:off x="3427269" y="3685148"/>
          <a:ext cx="1640158" cy="8588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0158">
                  <a:extLst>
                    <a:ext uri="{9D8B030D-6E8A-4147-A177-3AD203B41FA5}">
                      <a16:colId xmlns:a16="http://schemas.microsoft.com/office/drawing/2014/main" val="2627810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rwx</a:t>
                      </a:r>
                      <a:r>
                        <a:rPr lang="en-US" sz="1600" kern="100" dirty="0">
                          <a:effectLst/>
                        </a:rPr>
                        <a:t>   </a:t>
                      </a:r>
                      <a:r>
                        <a:rPr lang="en-US" sz="1600" kern="100" dirty="0" err="1">
                          <a:effectLst/>
                        </a:rPr>
                        <a:t>rw</a:t>
                      </a:r>
                      <a:r>
                        <a:rPr lang="en-US" sz="1600" kern="100" dirty="0">
                          <a:effectLst/>
                        </a:rPr>
                        <a:t>-   r–	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111   110   100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7        6       4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140675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2.2.4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修改文件的访问权限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833120"/>
            <a:ext cx="9058275" cy="4138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lvl="2"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 err="1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字符法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 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chmod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a+rwx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ifcfg-ens33   	#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对所有用户添加读、写和执行权限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注：a：所有用户，u：用户，g：组用户，o：其他用户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sz="2000" dirty="0" err="1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修改文件的属主和属组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修改文件的属主和属组用chown命令，用法为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chown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[-R]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属主名:属组名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文件名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10000"/>
              </a:lnSpc>
            </a:pP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例如：</a:t>
            </a:r>
          </a:p>
          <a:p>
            <a:pPr indent="266700">
              <a:lnSpc>
                <a:spcPct val="110000"/>
              </a:lnSpc>
            </a:pP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		$ </a:t>
            </a:r>
            <a:r>
              <a:rPr lang="en-US"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chown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ifcfg-ens33   #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修改文件的属主为</a:t>
            </a:r>
            <a:r>
              <a:rPr lang="en-US"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505159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2.2.5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压缩和解压缩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74345" y="873760"/>
            <a:ext cx="8066405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b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Linux中的tar命令（tape archive）用于对文件进行压缩和解压，tar可以处理*.tar、*.tar.gz、*.tar.bz2等文件类型。主要的参数有：</a:t>
            </a:r>
          </a:p>
          <a:p>
            <a:pPr indent="266700">
              <a:lnSpc>
                <a:spcPct val="120000"/>
              </a:lnSpc>
            </a:pPr>
            <a:r>
              <a:rPr sz="2000" b="0">
                <a:ea typeface="等线" panose="02010600030101010101" pitchFamily="2" charset="-122"/>
              </a:rPr>
              <a:t>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582295" y="1796845"/>
            <a:ext cx="1626235" cy="2504010"/>
            <a:chOff x="251" y="1980"/>
            <a:chExt cx="1270" cy="2899"/>
          </a:xfrm>
        </p:grpSpPr>
        <p:sp>
          <p:nvSpPr>
            <p:cNvPr id="4" name="矩形 3"/>
            <p:cNvSpPr/>
            <p:nvPr/>
          </p:nvSpPr>
          <p:spPr>
            <a:xfrm>
              <a:off x="251" y="1992"/>
              <a:ext cx="1270" cy="67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b="1">
                  <a:latin typeface="Impact" panose="020B0806030902050204" pitchFamily="34" charset="0"/>
                </a:rPr>
                <a:t>必选参数：-f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251" y="2828"/>
              <a:ext cx="1270" cy="91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b="1">
                  <a:latin typeface="Impact" panose="020B0806030902050204" pitchFamily="34" charset="0"/>
                </a:rPr>
                <a:t>5个独立的参数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251" y="3915"/>
              <a:ext cx="1270" cy="9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b="1">
                  <a:latin typeface="Impact" panose="020B0806030902050204" pitchFamily="34" charset="0"/>
                </a:rPr>
                <a:t>可选</a:t>
              </a:r>
              <a:r>
                <a:rPr lang="en-US" sz="1600" b="1">
                  <a:latin typeface="Impact" panose="020B0806030902050204" pitchFamily="34" charset="0"/>
                  <a:sym typeface="+mn-ea"/>
                </a:rPr>
                <a:t>参数</a:t>
              </a:r>
              <a:endParaRPr lang="en-US" sz="1600" b="1">
                <a:latin typeface="Impact" panose="020B0806030902050204" pitchFamily="34" charset="0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251" y="1980"/>
              <a:ext cx="1270" cy="67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600" b="1">
                  <a:latin typeface="Impact" panose="020B0806030902050204" pitchFamily="34" charset="0"/>
                </a:rPr>
                <a:t>必选参数：</a:t>
              </a:r>
              <a:r>
                <a:rPr lang="en-US" altLang="zh-CN" sz="1600" b="1">
                  <a:latin typeface="+mn-ea"/>
                </a:rPr>
                <a:t>-f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398814" y="1840415"/>
            <a:ext cx="6437211" cy="2460552"/>
            <a:chOff x="1716" y="2060"/>
            <a:chExt cx="8990" cy="2558"/>
          </a:xfrm>
        </p:grpSpPr>
        <p:sp>
          <p:nvSpPr>
            <p:cNvPr id="18" name="矩形 17"/>
            <p:cNvSpPr/>
            <p:nvPr/>
          </p:nvSpPr>
          <p:spPr>
            <a:xfrm>
              <a:off x="1729" y="2060"/>
              <a:ext cx="8976" cy="607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CN" altLang="en-US" sz="1600" b="1" dirty="0">
                  <a:latin typeface="+mn-ea"/>
                  <a:sym typeface="+mn-ea"/>
                </a:rPr>
                <a:t>-f: 指定备份文件名（该参数是最后一个参数，后面只能接档案名）</a:t>
              </a:r>
            </a:p>
            <a:p>
              <a:pPr>
                <a:lnSpc>
                  <a:spcPct val="100000"/>
                </a:lnSpc>
              </a:pPr>
              <a:endParaRPr lang="zh-CN" altLang="en-US" sz="1600" b="1" dirty="0">
                <a:latin typeface="+mn-ea"/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716" y="3755"/>
              <a:ext cx="8990" cy="8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sz="1600" b="1" dirty="0">
                  <a:latin typeface="+mn-ea"/>
                  <a:sym typeface="+mn-ea"/>
                </a:rPr>
                <a:t>-z：有gzip属性的</a:t>
              </a:r>
              <a:r>
                <a:rPr lang="en-US" sz="1600" b="1" dirty="0">
                  <a:latin typeface="+mn-ea"/>
                  <a:sym typeface="+mn-ea"/>
                </a:rPr>
                <a:t>    </a:t>
              </a:r>
              <a:r>
                <a:rPr sz="1600" b="1" dirty="0">
                  <a:latin typeface="+mn-ea"/>
                  <a:sym typeface="+mn-ea"/>
                </a:rPr>
                <a:t>-j：有bz2属性的</a:t>
              </a:r>
              <a:r>
                <a:rPr lang="en-US" sz="1600" b="1" dirty="0">
                  <a:latin typeface="+mn-ea"/>
                  <a:sym typeface="+mn-ea"/>
                </a:rPr>
                <a:t>      </a:t>
              </a:r>
              <a:r>
                <a:rPr sz="1600" b="1" dirty="0">
                  <a:latin typeface="+mn-ea"/>
                  <a:sym typeface="+mn-ea"/>
                </a:rPr>
                <a:t>-Z：有compress属性的</a:t>
              </a:r>
            </a:p>
            <a:p>
              <a:pPr>
                <a:lnSpc>
                  <a:spcPct val="100000"/>
                </a:lnSpc>
              </a:pPr>
              <a:r>
                <a:rPr sz="1600" b="1" dirty="0">
                  <a:latin typeface="+mn-ea"/>
                  <a:sym typeface="+mn-ea"/>
                </a:rPr>
                <a:t>-v：显示所有过程</a:t>
              </a:r>
              <a:r>
                <a:rPr lang="en-US" sz="1600" b="1" dirty="0">
                  <a:latin typeface="+mn-ea"/>
                  <a:sym typeface="+mn-ea"/>
                </a:rPr>
                <a:t>    </a:t>
              </a:r>
              <a:r>
                <a:rPr sz="1600" b="1" dirty="0">
                  <a:latin typeface="+mn-ea"/>
                  <a:sym typeface="+mn-ea"/>
                </a:rPr>
                <a:t>-O：将文件解压到标准输出</a:t>
              </a:r>
            </a:p>
            <a:p>
              <a:pPr>
                <a:lnSpc>
                  <a:spcPct val="100000"/>
                </a:lnSpc>
              </a:pPr>
              <a:r>
                <a:rPr sz="1600" b="1" dirty="0">
                  <a:latin typeface="+mn-ea"/>
                  <a:sym typeface="+mn-ea"/>
                </a:rPr>
                <a:t>-C：指定解压的目的目录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1717" y="2804"/>
              <a:ext cx="8989" cy="81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700"/>
                </a:lnSpc>
              </a:pPr>
              <a:r>
                <a:rPr sz="1600" b="1" dirty="0">
                  <a:latin typeface="+mn-ea"/>
                </a:rPr>
                <a:t>-c: 建立压缩文件</a:t>
              </a:r>
              <a:r>
                <a:rPr lang="en-US" sz="1600" b="1" dirty="0">
                  <a:latin typeface="+mn-ea"/>
                </a:rPr>
                <a:t>        </a:t>
              </a:r>
              <a:r>
                <a:rPr sz="1600" b="1" dirty="0">
                  <a:latin typeface="+mn-ea"/>
                </a:rPr>
                <a:t>-x：解压</a:t>
              </a:r>
              <a:r>
                <a:rPr lang="en-US" sz="1600" b="1" dirty="0">
                  <a:latin typeface="+mn-ea"/>
                </a:rPr>
                <a:t>       </a:t>
              </a:r>
              <a:r>
                <a:rPr sz="1600" b="1" dirty="0">
                  <a:latin typeface="+mn-ea"/>
                </a:rPr>
                <a:t>-t：查看内容</a:t>
              </a:r>
              <a:r>
                <a:rPr lang="en-US" sz="1600" b="1" dirty="0">
                  <a:latin typeface="+mn-ea"/>
                </a:rPr>
                <a:t>  </a:t>
              </a:r>
            </a:p>
            <a:p>
              <a:pPr>
                <a:lnSpc>
                  <a:spcPts val="2700"/>
                </a:lnSpc>
              </a:pPr>
              <a:r>
                <a:rPr sz="1600" b="1" dirty="0">
                  <a:latin typeface="+mn-ea"/>
                </a:rPr>
                <a:t>-r：向压缩文件末尾追加文件</a:t>
              </a:r>
              <a:r>
                <a:rPr lang="en-US" sz="1600" b="1" dirty="0">
                  <a:latin typeface="+mn-ea"/>
                </a:rPr>
                <a:t>      </a:t>
              </a:r>
              <a:r>
                <a:rPr sz="1600" b="1" dirty="0">
                  <a:latin typeface="+mn-ea"/>
                </a:rPr>
                <a:t>-u：更新原压缩包中的文件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2.2.6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网络配置命令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19760" y="909955"/>
            <a:ext cx="7983220" cy="281461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en-US" sz="2000" b="1" dirty="0">
                <a:latin typeface="等线" panose="02010600030101010101" pitchFamily="2" charset="-122"/>
                <a:cs typeface="等线" panose="02010600030101010101" pitchFamily="2" charset="-122"/>
              </a:rPr>
              <a:t>举例如下：</a:t>
            </a:r>
            <a:endParaRPr lang="en-US" altLang="zh-CN" sz="2000" b="1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tar -</a:t>
            </a:r>
            <a:r>
              <a:rPr lang="en-US"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cf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all.tar *.jpg    #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将所有</a:t>
            </a:r>
            <a:r>
              <a:rPr lang="en-US" altLang="zh-CN" sz="1600" dirty="0">
                <a:latin typeface="等线" panose="02010600030101010101" pitchFamily="2" charset="-122"/>
                <a:cs typeface="等线" panose="02010600030101010101" pitchFamily="2" charset="-122"/>
              </a:rPr>
              <a:t>.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jpg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文件压缩成名为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all.tar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的包（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表示建立压缩文档，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指定压缩包文件名）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>
                <a:latin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tar -</a:t>
            </a:r>
            <a:r>
              <a:rPr lang="en-US"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xvf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all.tar    	  #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解出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all.tar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包中所有文件。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表示解压，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表示显示整个过程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>
                <a:latin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tar -</a:t>
            </a:r>
            <a:r>
              <a:rPr lang="en-US"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xzvf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file1.tar.gz    	#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解压一个</a:t>
            </a:r>
            <a:r>
              <a:rPr lang="en-US"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gz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包。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z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表示解压或压缩*</a:t>
            </a:r>
            <a:r>
              <a:rPr lang="en-US" altLang="zh-CN" sz="1600" dirty="0">
                <a:latin typeface="等线" panose="02010600030101010101" pitchFamily="2" charset="-122"/>
                <a:cs typeface="等线" panose="02010600030101010101" pitchFamily="2" charset="-122"/>
              </a:rPr>
              <a:t>.</a:t>
            </a:r>
            <a:r>
              <a:rPr lang="en-US"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gz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文件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>
                <a:latin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tar -</a:t>
            </a:r>
            <a:r>
              <a:rPr lang="en-US"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xjvf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file1.tar.bz2 -C /home      #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把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file1.gar.bz2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解压到</a:t>
            </a:r>
            <a:r>
              <a:rPr lang="en-US" altLang="zh-CN" sz="1600" dirty="0">
                <a:latin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home/</a:t>
            </a:r>
            <a:r>
              <a:rPr lang="zh-CN" altLang="en-US" sz="1600" dirty="0">
                <a:latin typeface="等线" panose="02010600030101010101" pitchFamily="2" charset="-122"/>
                <a:cs typeface="等线" panose="02010600030101010101" pitchFamily="2" charset="-122"/>
              </a:rPr>
              <a:t>目录下</a:t>
            </a:r>
          </a:p>
          <a:p>
            <a:pPr indent="266700">
              <a:lnSpc>
                <a:spcPct val="150000"/>
              </a:lnSpc>
            </a:pPr>
            <a:endParaRPr sz="2000" b="0" dirty="0"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597264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2.2.6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网络配置命令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19760" y="909955"/>
            <a:ext cx="7983220" cy="33925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20000"/>
              </a:lnSpc>
            </a:pPr>
            <a:r>
              <a:rPr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1.netstat命令</a:t>
            </a:r>
          </a:p>
          <a:p>
            <a:pPr indent="266700">
              <a:lnSpc>
                <a:spcPct val="120000"/>
              </a:lnSpc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netstat命令用于查看当前计算机开放的端口，从而判断当前计算</a:t>
            </a: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机启动了哪些服务。</a:t>
            </a:r>
          </a:p>
          <a:p>
            <a:pPr indent="266700">
              <a:lnSpc>
                <a:spcPct val="120000"/>
              </a:lnSpc>
            </a:pPr>
            <a:r>
              <a:rPr lang="en-US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 </a:t>
            </a:r>
            <a:r>
              <a:rPr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ifconfig命令</a:t>
            </a:r>
          </a:p>
          <a:p>
            <a:pPr indent="266700">
              <a:lnSpc>
                <a:spcPct val="120000"/>
              </a:lnSpc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ifconfig命令用于查看与配置网络状态，</a:t>
            </a:r>
          </a:p>
          <a:p>
            <a:pPr indent="266700">
              <a:lnSpc>
                <a:spcPct val="120000"/>
              </a:lnSpc>
            </a:pPr>
            <a:r>
              <a:rPr lang="en-US"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3.</a:t>
            </a:r>
            <a:r>
              <a:rPr sz="2000" b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nmcli命令</a:t>
            </a:r>
            <a:endParaRPr sz="200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20000"/>
              </a:lnSpc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CentOS中的nmcli网络命令行工具（Network Manager Command Tools）比传统的ifconfig的功能更为强大，该命令的语法为：</a:t>
            </a:r>
          </a:p>
          <a:p>
            <a:pPr indent="266700">
              <a:lnSpc>
                <a:spcPct val="120000"/>
              </a:lnSpc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nmcli [OPTIONS] OBJECT {COMMAND | help}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2.2.7系统服务命令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54635" y="818515"/>
            <a:ext cx="8757421" cy="41451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1.系统服务管理命令systemctl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Systemctl命令是系统服务管理器指令，主要负责控制systemd系统和服务管理器，常用的功能包括：查看所有服务状态，启动、重启、停止、重载服务，激活服务，开机启动或禁用服务等。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2.显示当前进程状态命令ps（process status）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该命令可以查看有哪些进程正在运行和运行的状态、进程是否结束、进程有没有僵尸、哪些进程占用了过多的资源等信息。举例如下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ps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1085	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#查看1085号进程信息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3.强制结束进程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Linux中用“kill”命令结束进程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kill -9 1085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#彻底杀死编号为1085的进程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2.2.8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查找命令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58420" y="705485"/>
            <a:ext cx="9312910" cy="426200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1.文本查找命令grep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例如</a:t>
            </a: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ps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ef命令用于查找所有进程</a:t>
            </a: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如果在所有显示的进程中找到sshd进程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我们可以使用以下命令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ps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ef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| grep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sshd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	   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查找sshd进程，命令中|表示管道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在文件中查找文本示例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grep -n ‘hello’ file1.txt	   #在文件file1.txt中查找文本hello，并显示行号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2.目录中搜索文件命令find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Linux的find命令用来在指定目录下查找文件，举例如下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find . -name "*.log"	    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在当前目录中查找以.log结尾的文件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fine /home/ -perm 777 	    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查找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/home目录中权限为777的文件</a:t>
            </a:r>
          </a:p>
          <a:p>
            <a:pPr marL="0" lvl="1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find . -size +100M  	    #查找当前目录中大于100M的文件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4167679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305050" y="1485265"/>
            <a:ext cx="65551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建立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</a:rPr>
              <a:t>Hadoop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集群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2.3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44090" y="2583180"/>
            <a:ext cx="45802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VMware Workstation的网络模式简介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集群规划和网络设置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配置虚拟机的网络参数系统服务命令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关闭防火墙和SELinux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SSH免密登录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建立Hadoop集群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61950" y="969645"/>
            <a:ext cx="8420735" cy="1291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用于Hadoop的集群由三台Linux虚拟机组成，一主（Master）二副（Slaver），一台作为Hadoop的NameNode和ResourceManager，另两台作为DataNode，其结构如图所示。</a:t>
            </a:r>
          </a:p>
        </p:txBody>
      </p:sp>
      <p:pic>
        <p:nvPicPr>
          <p:cNvPr id="2" name="图片 -2147482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25" y="2339340"/>
            <a:ext cx="4146550" cy="18516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032635" y="426910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lang="en-US" sz="900" b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000" b="0"/>
              <a:t>三台Linux虚拟机组成的Hadoop集群示意图</a:t>
            </a:r>
            <a:endParaRPr sz="1000"/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7"/>
          <p:cNvSpPr/>
          <p:nvPr userDrawn="1"/>
        </p:nvSpPr>
        <p:spPr>
          <a:xfrm>
            <a:off x="0" y="227330"/>
            <a:ext cx="5445125" cy="607695"/>
          </a:xfrm>
          <a:prstGeom prst="homePlate">
            <a:avLst/>
          </a:prstGeom>
          <a:solidFill>
            <a:schemeClr val="accent1"/>
          </a:solidFill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-35560" y="331470"/>
            <a:ext cx="5516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Tx/>
              <a:buSzTx/>
              <a:buFontTx/>
            </a:pP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2.3.1 VMware Workstation的网络模式简介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1315" y="915035"/>
            <a:ext cx="8521065" cy="2704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在VMware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Workstation中，虚拟机的联网可以设置为3种模式：“桥接”、“网络代理(NAT)”和“仅主机”模式，以下分别介绍这3种网络模式。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1．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桥接模式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桥接模式是把虚拟出来的网卡直接连接到局域网中，就好像是局域网络中增加了一台真正的计算机一样，虚拟机的网络地址使用的是局域网中的IP地址，因此可以直接访问外网，虚拟机之间也能相互访问，其他的外部计算机也能访问虚拟机。</a:t>
            </a: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下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图是桥接模式的示意图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  <p:graphicFrame>
        <p:nvGraphicFramePr>
          <p:cNvPr id="2" name="对象 -2147482623"/>
          <p:cNvGraphicFramePr>
            <a:graphicFrameLocks noChangeAspect="1"/>
          </p:cNvGraphicFramePr>
          <p:nvPr/>
        </p:nvGraphicFramePr>
        <p:xfrm>
          <a:off x="2673350" y="3695065"/>
          <a:ext cx="4281170" cy="126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r:id="rId3" imgW="5793105" imgH="1704975" progId="Visio.Drawing.15">
                  <p:embed/>
                </p:oleObj>
              </mc:Choice>
              <mc:Fallback>
                <p:oleObj r:id="rId3" imgW="5793105" imgH="170497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3350" y="3695065"/>
                        <a:ext cx="4281170" cy="1261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731645" y="4857115"/>
            <a:ext cx="47256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桥接模式示意图</a:t>
            </a:r>
          </a:p>
          <a:p>
            <a:pPr indent="228600" algn="ctr">
              <a:buClrTx/>
              <a:buSzTx/>
              <a:buFontTx/>
            </a:pPr>
            <a:endParaRPr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7"/>
          <p:cNvSpPr/>
          <p:nvPr userDrawn="1"/>
        </p:nvSpPr>
        <p:spPr>
          <a:xfrm>
            <a:off x="0" y="227330"/>
            <a:ext cx="5445125" cy="607695"/>
          </a:xfrm>
          <a:prstGeom prst="homePlate">
            <a:avLst/>
          </a:prstGeom>
          <a:solidFill>
            <a:schemeClr val="accent1"/>
          </a:solidFill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-35560" y="331470"/>
            <a:ext cx="5516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Tx/>
              <a:buSzTx/>
              <a:buFontTx/>
            </a:pP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2.3.1 VMware Workstation的网络模式简介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1950" y="969645"/>
            <a:ext cx="8420735" cy="17698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20000"/>
              </a:lnSpc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2．NAT模式（网络代理模式）</a:t>
            </a:r>
          </a:p>
          <a:p>
            <a:pPr indent="266700">
              <a:lnSpc>
                <a:spcPct val="12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NAT模式是在宿主机中创建一个虚拟子网，把虚拟机中加入该虚拟子网，子网中有一个N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AT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服务（网络代理服务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），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虚拟机可以通过该网络代理访问外网，同时宿主机与虚拟机之间、虚拟机与虚拟机之间均可互相访问，但其他外部计算机无法访问虚拟机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是NAT模式的示意图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  <p:graphicFrame>
        <p:nvGraphicFramePr>
          <p:cNvPr id="2" name="对象 -2147482622"/>
          <p:cNvGraphicFramePr>
            <a:graphicFrameLocks noChangeAspect="1"/>
          </p:cNvGraphicFramePr>
          <p:nvPr/>
        </p:nvGraphicFramePr>
        <p:xfrm>
          <a:off x="2446973" y="3041968"/>
          <a:ext cx="4559935" cy="1265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r:id="rId3" imgW="5760720" imgH="1593850" progId="Visio.Drawing.15">
                  <p:embed/>
                </p:oleObj>
              </mc:Choice>
              <mc:Fallback>
                <p:oleObj r:id="rId3" imgW="5760720" imgH="1593850" progId="Visio.Drawing.15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6973" y="3041968"/>
                        <a:ext cx="4559935" cy="1265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667510" y="4307840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NAT模式示意图</a:t>
            </a:r>
            <a:endParaRPr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7"/>
          <p:cNvSpPr/>
          <p:nvPr userDrawn="1"/>
        </p:nvSpPr>
        <p:spPr>
          <a:xfrm>
            <a:off x="0" y="227330"/>
            <a:ext cx="5445125" cy="607695"/>
          </a:xfrm>
          <a:prstGeom prst="homePlate">
            <a:avLst/>
          </a:prstGeom>
          <a:solidFill>
            <a:schemeClr val="accent1"/>
          </a:solidFill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-35560" y="331470"/>
            <a:ext cx="5516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ClrTx/>
              <a:buSzTx/>
              <a:buFontTx/>
            </a:pP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2.3.1 VMware Workstation的网络模式简介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1950" y="969645"/>
            <a:ext cx="8420735" cy="158440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3．仅主机模式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仅主机模式是在宿主机中创建一个虚拟子网，把虚拟机中加入该子网，子网中没有Nat服务，虚拟机之间可以互相访问，宿主机与虚拟机之间也能互相访问，但虚拟机不能访问外网。下图是仅主机模式的示意图。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graphicFrame>
        <p:nvGraphicFramePr>
          <p:cNvPr id="2" name="对象 -2147482621"/>
          <p:cNvGraphicFramePr>
            <a:graphicFrameLocks noChangeAspect="1"/>
          </p:cNvGraphicFramePr>
          <p:nvPr/>
        </p:nvGraphicFramePr>
        <p:xfrm>
          <a:off x="2450783" y="2795905"/>
          <a:ext cx="3076575" cy="126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r:id="rId3" imgW="3729355" imgH="1528445" progId="Visio.Drawing.15">
                  <p:embed/>
                </p:oleObj>
              </mc:Choice>
              <mc:Fallback>
                <p:oleObj r:id="rId3" imgW="3729355" imgH="152844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783" y="2795905"/>
                        <a:ext cx="3076575" cy="1261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312545" y="419163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lang="en-US" sz="1000" b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000" b="0"/>
              <a:t>仅主机模式示意图</a:t>
            </a:r>
            <a:endParaRPr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2.3.2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集群规划和网络设置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58750" y="879475"/>
            <a:ext cx="4842510" cy="366183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我们采用“NAT模式”来构建Linux集群，“NAT模式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”下虚拟机可以连接外网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，同时加入该虚拟子网的所有虚拟机与宿主机均可互相访问，便于将文件从宿主机拷贝到虚拟机中。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打开VMware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workstation的虚拟网络编辑器窗口，如图所示，其中名为“VMnet8”的虚拟网卡是用于配置VMware的NAT网络服务。</a:t>
            </a:r>
          </a:p>
        </p:txBody>
      </p:sp>
      <p:pic>
        <p:nvPicPr>
          <p:cNvPr id="51" name="图片 5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73980" y="1226185"/>
            <a:ext cx="2950210" cy="26904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4064000" y="402272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sz="1000" b="0">
                <a:ea typeface="等线" panose="02010600030101010101" pitchFamily="2" charset="-122"/>
              </a:rPr>
              <a:t>虚拟网卡编辑器窗口示意图</a:t>
            </a:r>
            <a:endParaRPr lang="zh-CN" altLang="en-US" sz="1000"/>
          </a:p>
        </p:txBody>
      </p:sp>
    </p:spTree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2.3.2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集群规划和网络设置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40665" y="1334135"/>
            <a:ext cx="44221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在“虚拟网络编辑器”窗口中点击“更改设置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(C)”按钮，再选择名为“VMnet8”的虚拟网卡，设置其NAT虚拟子网的地址，如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右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图所示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2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pic>
        <p:nvPicPr>
          <p:cNvPr id="49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878" y="1192530"/>
            <a:ext cx="3188335" cy="27584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4850130" y="4025265"/>
            <a:ext cx="2540000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>
                <a:sym typeface="+mn-ea"/>
              </a:rPr>
              <a:t>设置虚拟网卡VMnet8的NAT子网IP地址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2.3.2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集群规划和网络设置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64490" y="1121410"/>
            <a:ext cx="4167505" cy="2491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再点击“DHCP设置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(p)”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按钮，从弹出的“DHCP设置”窗口（如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右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图所示）中看出DHCP服务自动分配的虚拟机IP地址范围是192.168.18.128~192.168.18.254（可以人工修改）。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81120" y="3859530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zh-CN" sz="1000" b="0">
                <a:ea typeface="等线" panose="02010600030101010101" pitchFamily="2" charset="-122"/>
              </a:rPr>
              <a:t>设置虚拟网卡</a:t>
            </a:r>
            <a:r>
              <a:rPr lang="zh-CN" sz="1000" b="0">
                <a:ea typeface="等线" panose="02010600030101010101" pitchFamily="2" charset="-122"/>
                <a:cs typeface="Times New Roman" panose="02020603050405020304" pitchFamily="18" charset="0"/>
              </a:rPr>
              <a:t>VMnet8的NAT子网IP地址</a:t>
            </a:r>
            <a:endParaRPr lang="zh-CN" altLang="en-US" sz="10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EB7671-5E29-46AF-9BAB-A56C76F726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06264" y="955740"/>
            <a:ext cx="3073484" cy="2780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281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2.3.3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配置虚拟机的网络参数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03908" y="955793"/>
            <a:ext cx="6208395" cy="4609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1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配置主机名</a:t>
            </a:r>
            <a:endParaRPr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06FEE9-82FF-4E12-BABE-EEBA1E094859}"/>
              </a:ext>
            </a:extLst>
          </p:cNvPr>
          <p:cNvSpPr/>
          <p:nvPr/>
        </p:nvSpPr>
        <p:spPr>
          <a:xfrm>
            <a:off x="1074956" y="1473980"/>
            <a:ext cx="7114888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        首先修改</a:t>
            </a:r>
            <a:r>
              <a:rPr lang="en-US" altLang="zh-CN" sz="1800" dirty="0"/>
              <a:t>Linux</a:t>
            </a:r>
            <a:r>
              <a:rPr lang="zh-CN" altLang="en-US" sz="1800" dirty="0"/>
              <a:t>虚拟机的主机名，使用</a:t>
            </a:r>
            <a:r>
              <a:rPr lang="en-US" altLang="zh-CN" sz="1800" dirty="0"/>
              <a:t>vim</a:t>
            </a:r>
            <a:r>
              <a:rPr lang="zh-CN" altLang="en-US" sz="1800" dirty="0"/>
              <a:t>命令打开</a:t>
            </a:r>
            <a:r>
              <a:rPr lang="en-US" altLang="zh-CN" sz="1800" dirty="0"/>
              <a:t>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/hostname</a:t>
            </a:r>
            <a:r>
              <a:rPr lang="zh-CN" altLang="en-US" sz="1800" dirty="0"/>
              <a:t>文件，修改主机名（分别命名为</a:t>
            </a:r>
            <a:r>
              <a:rPr lang="en-US" altLang="zh-CN" sz="1800" dirty="0"/>
              <a:t>Node01</a:t>
            </a:r>
            <a:r>
              <a:rPr lang="zh-CN" altLang="en-US" sz="1800" dirty="0"/>
              <a:t>、</a:t>
            </a:r>
            <a:r>
              <a:rPr lang="en-US" altLang="zh-CN" sz="1800" dirty="0"/>
              <a:t>Node02</a:t>
            </a:r>
            <a:r>
              <a:rPr lang="zh-CN" altLang="en-US" sz="1800" dirty="0"/>
              <a:t>和</a:t>
            </a:r>
            <a:r>
              <a:rPr lang="en-US" altLang="zh-CN" sz="1800" dirty="0"/>
              <a:t>Node03</a:t>
            </a:r>
            <a:r>
              <a:rPr lang="zh-CN" altLang="en-US" sz="1800" dirty="0"/>
              <a:t>）。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/>
              <a:t>$ vim 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/hostname</a:t>
            </a:r>
          </a:p>
        </p:txBody>
      </p:sp>
    </p:spTree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281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2.3.3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配置虚拟机的网络参数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47020" y="952736"/>
            <a:ext cx="6208395" cy="4609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.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1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配置虚拟机的网络参数</a:t>
            </a:r>
            <a:endParaRPr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6D43FA-2869-4CBB-A9F7-7424BD546FDA}"/>
              </a:ext>
            </a:extLst>
          </p:cNvPr>
          <p:cNvSpPr/>
          <p:nvPr/>
        </p:nvSpPr>
        <p:spPr>
          <a:xfrm>
            <a:off x="769134" y="1413696"/>
            <a:ext cx="7179111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/>
              <a:t>        CentOS 8.2</a:t>
            </a:r>
            <a:r>
              <a:rPr lang="zh-CN" altLang="en-US" sz="1800" dirty="0"/>
              <a:t>的网络配置文件存放在</a:t>
            </a:r>
            <a:r>
              <a:rPr lang="en-US" altLang="zh-CN" sz="1800" dirty="0"/>
              <a:t>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</a:t>
            </a:r>
            <a:r>
              <a:rPr lang="en-US" altLang="zh-CN" sz="1800" dirty="0" err="1"/>
              <a:t>sysconfig</a:t>
            </a:r>
            <a:r>
              <a:rPr lang="en-US" altLang="zh-CN" sz="1800" dirty="0"/>
              <a:t>/network-scripts/</a:t>
            </a:r>
            <a:r>
              <a:rPr lang="zh-CN" altLang="en-US" sz="1800" dirty="0"/>
              <a:t>目录中，用以下命令进入该目录：</a:t>
            </a:r>
          </a:p>
          <a:p>
            <a:pPr>
              <a:lnSpc>
                <a:spcPct val="150000"/>
              </a:lnSpc>
            </a:pPr>
            <a:r>
              <a:rPr lang="en-US" altLang="zh-CN" sz="1800" dirty="0"/>
              <a:t>	$ cd 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</a:t>
            </a:r>
            <a:r>
              <a:rPr lang="en-US" altLang="zh-CN" sz="1800" dirty="0" err="1"/>
              <a:t>sysconfig</a:t>
            </a:r>
            <a:r>
              <a:rPr lang="en-US" altLang="zh-CN" sz="1800" dirty="0"/>
              <a:t>/network-scripts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619A69-D1EA-433E-8EBF-BB4E476ED575}"/>
              </a:ext>
            </a:extLst>
          </p:cNvPr>
          <p:cNvSpPr/>
          <p:nvPr/>
        </p:nvSpPr>
        <p:spPr>
          <a:xfrm>
            <a:off x="838710" y="2687877"/>
            <a:ext cx="7203575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用</a:t>
            </a:r>
            <a:r>
              <a:rPr lang="en-US" altLang="zh-CN" sz="1800" dirty="0"/>
              <a:t>vim</a:t>
            </a:r>
            <a:r>
              <a:rPr lang="zh-CN" altLang="en-US" sz="1800" dirty="0"/>
              <a:t>编辑器打开 “</a:t>
            </a:r>
            <a:r>
              <a:rPr lang="en-US" altLang="zh-CN" sz="1800" dirty="0"/>
              <a:t>ifcfg-ens33” </a:t>
            </a:r>
            <a:r>
              <a:rPr lang="zh-CN" altLang="en-US" sz="1800" dirty="0"/>
              <a:t>文件，对其进行编辑。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/>
              <a:t>	$ vim ifcfg-ens33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8A5AE4-71CD-408C-BDDB-9B24F3901880}"/>
              </a:ext>
            </a:extLst>
          </p:cNvPr>
          <p:cNvSpPr/>
          <p:nvPr/>
        </p:nvSpPr>
        <p:spPr>
          <a:xfrm>
            <a:off x="769133" y="3746115"/>
            <a:ext cx="8105745" cy="88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        把“</a:t>
            </a:r>
            <a:r>
              <a:rPr lang="en-US" altLang="zh-CN" sz="1800" dirty="0"/>
              <a:t>BOOTPROTO”</a:t>
            </a:r>
            <a:r>
              <a:rPr lang="zh-CN" altLang="en-US" sz="1800" dirty="0"/>
              <a:t>项由</a:t>
            </a:r>
            <a:r>
              <a:rPr lang="en-US" altLang="zh-CN" sz="1800" dirty="0"/>
              <a:t>DHCP</a:t>
            </a:r>
            <a:r>
              <a:rPr lang="zh-CN" altLang="en-US" sz="1800" dirty="0"/>
              <a:t>更改为</a:t>
            </a:r>
            <a:r>
              <a:rPr lang="en-US" altLang="zh-CN" sz="1800" dirty="0"/>
              <a:t>static</a:t>
            </a:r>
            <a:r>
              <a:rPr lang="zh-CN" altLang="en-US" sz="1800" dirty="0"/>
              <a:t>（即采用静态</a:t>
            </a:r>
            <a:r>
              <a:rPr lang="en-US" altLang="zh-CN" sz="1800" dirty="0"/>
              <a:t>IP</a:t>
            </a:r>
            <a:r>
              <a:rPr lang="zh-CN" altLang="en-US" sz="1800" dirty="0"/>
              <a:t>地址，</a:t>
            </a:r>
            <a:r>
              <a:rPr lang="en-US" altLang="zh-CN" sz="1800" dirty="0"/>
              <a:t>ONBOOT</a:t>
            </a:r>
            <a:r>
              <a:rPr lang="zh-CN" altLang="en-US" sz="1800" dirty="0"/>
              <a:t>项由</a:t>
            </a:r>
            <a:r>
              <a:rPr lang="en-US" altLang="zh-CN" sz="1800" dirty="0"/>
              <a:t>no</a:t>
            </a:r>
            <a:r>
              <a:rPr lang="zh-CN" altLang="en-US" sz="1800" dirty="0"/>
              <a:t>更改为</a:t>
            </a:r>
            <a:r>
              <a:rPr lang="en-US" altLang="zh-CN" sz="1800" dirty="0"/>
              <a:t>yes</a:t>
            </a:r>
            <a:r>
              <a:rPr lang="zh-CN" altLang="en-US" sz="1800" dirty="0"/>
              <a:t>，并增加</a:t>
            </a:r>
            <a:r>
              <a:rPr lang="en-US" altLang="zh-CN" sz="1800" dirty="0"/>
              <a:t>IPADDR</a:t>
            </a:r>
            <a:r>
              <a:rPr lang="zh-CN" altLang="en-US" sz="1800" dirty="0"/>
              <a:t>、</a:t>
            </a:r>
            <a:r>
              <a:rPr lang="en-US" altLang="zh-CN" sz="1800" dirty="0"/>
              <a:t>NETMASK</a:t>
            </a:r>
            <a:r>
              <a:rPr lang="zh-CN" altLang="en-US" sz="1800" dirty="0"/>
              <a:t>、</a:t>
            </a:r>
            <a:r>
              <a:rPr lang="en-US" altLang="zh-CN" sz="1800" dirty="0"/>
              <a:t>GATEWAY</a:t>
            </a:r>
            <a:r>
              <a:rPr lang="zh-CN" altLang="en-US" sz="1800" dirty="0"/>
              <a:t>、</a:t>
            </a:r>
            <a:r>
              <a:rPr lang="en-US" altLang="zh-CN" sz="1800" dirty="0"/>
              <a:t>HWADDR</a:t>
            </a:r>
            <a:r>
              <a:rPr lang="zh-CN" altLang="en-US" sz="1800" dirty="0"/>
              <a:t>和</a:t>
            </a:r>
            <a:r>
              <a:rPr lang="en-US" altLang="zh-CN" sz="1800" dirty="0"/>
              <a:t>DNS1</a:t>
            </a:r>
            <a:r>
              <a:rPr lang="zh-CN" altLang="en-US" sz="1800" dirty="0"/>
              <a:t>等项目。</a:t>
            </a:r>
          </a:p>
        </p:txBody>
      </p:sp>
    </p:spTree>
    <p:extLst>
      <p:ext uri="{BB962C8B-B14F-4D97-AF65-F5344CB8AC3E}">
        <p14:creationId xmlns:p14="http://schemas.microsoft.com/office/powerpoint/2010/main" val="1334906316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281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2.3.3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配置虚拟机的网络参数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88618" y="1062831"/>
            <a:ext cx="6208395" cy="4609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.映射主机名与IP地址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CBA219-17C6-4686-B58B-3A237B7E9E42}"/>
              </a:ext>
            </a:extLst>
          </p:cNvPr>
          <p:cNvSpPr/>
          <p:nvPr/>
        </p:nvSpPr>
        <p:spPr>
          <a:xfrm>
            <a:off x="1013791" y="1684997"/>
            <a:ext cx="6668392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/>
              <a:t>        CentOS</a:t>
            </a:r>
            <a:r>
              <a:rPr lang="zh-CN" altLang="en-US" sz="1800" dirty="0"/>
              <a:t>主机名与</a:t>
            </a:r>
            <a:r>
              <a:rPr lang="en-US" altLang="zh-CN" sz="1800" dirty="0"/>
              <a:t>IP</a:t>
            </a:r>
            <a:r>
              <a:rPr lang="zh-CN" altLang="en-US" sz="1800" dirty="0"/>
              <a:t>地址的映射文件为</a:t>
            </a:r>
            <a:r>
              <a:rPr lang="en-US" altLang="zh-CN" sz="1800" dirty="0"/>
              <a:t>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/hosts</a:t>
            </a:r>
            <a:r>
              <a:rPr lang="zh-CN" altLang="en-US" sz="1800" dirty="0"/>
              <a:t>，对</a:t>
            </a:r>
            <a:r>
              <a:rPr lang="en-US" altLang="zh-CN" sz="1800" dirty="0"/>
              <a:t>3</a:t>
            </a:r>
            <a:r>
              <a:rPr lang="zh-CN" altLang="en-US" sz="1800" dirty="0"/>
              <a:t>台虚拟机分别用命令“</a:t>
            </a:r>
            <a:r>
              <a:rPr lang="en-US" altLang="zh-CN" sz="1800" dirty="0"/>
              <a:t>vim /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/hosts”</a:t>
            </a:r>
            <a:r>
              <a:rPr lang="zh-CN" altLang="en-US" sz="1800" dirty="0"/>
              <a:t>编辑该文件，输入如下图所示的内容。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3CFAEB-C6FF-467F-A87A-AB6245303C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22279" y="2733916"/>
            <a:ext cx="3836438" cy="152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94528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281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2.3.3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配置虚拟机的网络参数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29591" y="831676"/>
            <a:ext cx="6208395" cy="4609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4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.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1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配置效果验证</a:t>
            </a:r>
            <a:endParaRPr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834CFE-FEB4-49C7-AF0D-3DF30B9EA81D}"/>
              </a:ext>
            </a:extLst>
          </p:cNvPr>
          <p:cNvSpPr/>
          <p:nvPr/>
        </p:nvSpPr>
        <p:spPr>
          <a:xfrm>
            <a:off x="680449" y="1329631"/>
            <a:ext cx="7965065" cy="1296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        配置好网络参数，重新启动</a:t>
            </a:r>
            <a:r>
              <a:rPr lang="en-US" altLang="zh-CN" sz="1800" dirty="0"/>
              <a:t>CentOS</a:t>
            </a:r>
            <a:r>
              <a:rPr lang="zh-CN" altLang="en-US" sz="1800" dirty="0"/>
              <a:t>（或使用</a:t>
            </a:r>
            <a:r>
              <a:rPr lang="en-US" altLang="zh-CN" sz="1800" dirty="0" err="1"/>
              <a:t>nmcli</a:t>
            </a:r>
            <a:r>
              <a:rPr lang="en-US" altLang="zh-CN" sz="1800" dirty="0"/>
              <a:t> c reload</a:t>
            </a:r>
            <a:r>
              <a:rPr lang="zh-CN" altLang="en-US" sz="1800" dirty="0"/>
              <a:t>重启</a:t>
            </a:r>
            <a:r>
              <a:rPr lang="en-US" altLang="zh-CN" sz="1800" dirty="0"/>
              <a:t>Linux</a:t>
            </a:r>
            <a:r>
              <a:rPr lang="zh-CN" altLang="en-US" sz="1800" dirty="0"/>
              <a:t>的网络服务），可以用</a:t>
            </a:r>
            <a:r>
              <a:rPr lang="en-US" altLang="zh-CN" sz="1800" dirty="0"/>
              <a:t>ifconfig</a:t>
            </a:r>
            <a:r>
              <a:rPr lang="zh-CN" altLang="en-US" sz="1800" dirty="0"/>
              <a:t>命令查看网络参数，并验证宿主机及</a:t>
            </a:r>
            <a:r>
              <a:rPr lang="en-US" altLang="zh-CN" sz="1800" dirty="0"/>
              <a:t>3</a:t>
            </a:r>
            <a:r>
              <a:rPr lang="zh-CN" altLang="en-US" sz="1800" dirty="0"/>
              <a:t>台虚拟机是否可以相互</a:t>
            </a:r>
            <a:r>
              <a:rPr lang="en-US" altLang="zh-CN" sz="1800" dirty="0"/>
              <a:t>ping</a:t>
            </a:r>
            <a:r>
              <a:rPr lang="zh-CN" altLang="en-US" sz="1800" dirty="0"/>
              <a:t>通。</a:t>
            </a:r>
            <a:r>
              <a:rPr lang="zh-CN" altLang="zh-CN" sz="1800" dirty="0"/>
              <a:t>此外，还可以使用</a:t>
            </a:r>
            <a:r>
              <a:rPr lang="en-US" altLang="zh-CN" sz="1800" dirty="0"/>
              <a:t>CentOS 8.2</a:t>
            </a:r>
            <a:r>
              <a:rPr lang="zh-CN" altLang="zh-CN" sz="1800" dirty="0"/>
              <a:t>提供的图形界面配置其网络参数</a:t>
            </a:r>
            <a:r>
              <a:rPr lang="zh-CN" altLang="en-US" sz="1800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84642A-D7F8-4805-A7FB-78D177D7A6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42847" y="2700066"/>
            <a:ext cx="3405044" cy="230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8290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49" y="245110"/>
            <a:ext cx="43398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2.3.4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关闭防火墙和SELinux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46496" y="909401"/>
            <a:ext cx="8966835" cy="413356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1.关闭防火墙</a:t>
            </a:r>
          </a:p>
          <a:p>
            <a:pPr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由于Linux防火墙会给远程访问和FTP带来一些意想不到的问题，为了方便学习，可以关闭3台虚拟机的防火墙，使用以下命令关闭防火墙，并禁止开机启动：</a:t>
            </a:r>
          </a:p>
          <a:p>
            <a:pPr lvl="1"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systemctl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status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firewalld.service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    </a:t>
            </a:r>
            <a:r>
              <a:rPr lang="en-US" altLang="zh-CN"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查看状态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systemctl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stop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firewalld.service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		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关闭防火墙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systemctl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disable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firewalld.service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	</a:t>
            </a:r>
            <a:r>
              <a:rPr lang="en-US"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禁止开机启动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2.关闭SElinux</a:t>
            </a:r>
          </a:p>
          <a:p>
            <a:pPr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SELinux是Linux的一种安全子系统，主要作用是最大限度地减小系统中服务进程可访问的资源（最小权限原则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）。如果开启SELinux，需要进行较多配置，为了方便学习，一般不必使用SELinux。可以用以下命令打开SELinux的配置文件：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</a:p>
          <a:p>
            <a:pPr indent="2667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vim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selinux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/config</a:t>
            </a:r>
            <a:endParaRPr lang="en-US" altLang="zh-CN"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20000"/>
              </a:lnSpc>
            </a:pPr>
            <a:r>
              <a:rPr lang="zh-CN" altLang="zh-CN" sz="1800" dirty="0"/>
              <a:t>在</a:t>
            </a:r>
            <a:r>
              <a:rPr lang="zh-CN" altLang="en-US" sz="1800" dirty="0"/>
              <a:t>该</a:t>
            </a:r>
            <a:r>
              <a:rPr lang="zh-CN" altLang="zh-CN" sz="1800" dirty="0"/>
              <a:t>文件中将</a:t>
            </a:r>
            <a:r>
              <a:rPr lang="en-US" altLang="zh-CN" sz="1800" dirty="0"/>
              <a:t>SELINUX=disabled </a:t>
            </a:r>
            <a:r>
              <a:rPr lang="zh-CN" altLang="en-US" sz="1800" dirty="0"/>
              <a:t>。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409798" y="833755"/>
            <a:ext cx="8244891" cy="176606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17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7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SSH它是一种专门为远程登录话和其他网络服务提供安全的协议</a:t>
            </a:r>
            <a:r>
              <a:rPr lang="zh-CN" altLang="en-US" sz="17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</a:t>
            </a:r>
            <a:r>
              <a:rPr sz="17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可实现两个功能</a:t>
            </a:r>
            <a:r>
              <a:rPr sz="17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>
              <a:lnSpc>
                <a:spcPct val="130000"/>
              </a:lnSpc>
            </a:pPr>
            <a:r>
              <a:rPr sz="17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（1）通过终端仿真软件远程连接Linux主机，以更方便执行Linux命令和传输文件。</a:t>
            </a:r>
          </a:p>
          <a:p>
            <a:pPr indent="266700">
              <a:lnSpc>
                <a:spcPct val="130000"/>
              </a:lnSpc>
            </a:pPr>
            <a:r>
              <a:rPr sz="17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（2）在集群开发中，实现多台Linux主机间的免密登录，避免在各个节点相互频繁访问时重复输入用户名和密码。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594000-4E7C-46D4-927B-7AA99A7EEE1D}"/>
              </a:ext>
            </a:extLst>
          </p:cNvPr>
          <p:cNvSpPr/>
          <p:nvPr/>
        </p:nvSpPr>
        <p:spPr>
          <a:xfrm>
            <a:off x="836416" y="2556353"/>
            <a:ext cx="7861088" cy="2127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/>
              <a:t>1.  SSH</a:t>
            </a:r>
            <a:r>
              <a:rPr lang="zh-CN" altLang="en-US" sz="1800" b="1" dirty="0"/>
              <a:t>服务远程登录配置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          安装</a:t>
            </a:r>
            <a:r>
              <a:rPr lang="en-US" altLang="zh-CN" sz="1800" dirty="0"/>
              <a:t>CentOS</a:t>
            </a:r>
            <a:r>
              <a:rPr lang="zh-CN" altLang="en-US" sz="1800" dirty="0"/>
              <a:t>后，系统会自动安装和启动</a:t>
            </a:r>
            <a:r>
              <a:rPr lang="en-US" altLang="zh-CN" sz="1800" dirty="0"/>
              <a:t>SSH</a:t>
            </a:r>
            <a:r>
              <a:rPr lang="zh-CN" altLang="en-US" sz="1800" dirty="0"/>
              <a:t>服务，可以使用以下命令查看是否安装和启动了</a:t>
            </a:r>
            <a:r>
              <a:rPr lang="en-US" altLang="zh-CN" sz="1800" dirty="0"/>
              <a:t>SSH</a:t>
            </a:r>
            <a:r>
              <a:rPr lang="zh-CN" altLang="en-US" sz="1800" dirty="0"/>
              <a:t>协议。</a:t>
            </a:r>
          </a:p>
          <a:p>
            <a:pPr>
              <a:lnSpc>
                <a:spcPct val="150000"/>
              </a:lnSpc>
            </a:pPr>
            <a:r>
              <a:rPr lang="en-US" altLang="zh-CN" sz="1800" dirty="0"/>
              <a:t>	$ rpm -</a:t>
            </a:r>
            <a:r>
              <a:rPr lang="en-US" altLang="zh-CN" sz="1800" dirty="0" err="1"/>
              <a:t>qa</a:t>
            </a:r>
            <a:r>
              <a:rPr lang="en-US" altLang="zh-CN" sz="1800" dirty="0"/>
              <a:t> | grep </a:t>
            </a:r>
            <a:r>
              <a:rPr lang="en-US" altLang="zh-CN" sz="1800" dirty="0" err="1"/>
              <a:t>ssh</a:t>
            </a:r>
            <a:r>
              <a:rPr lang="en-US" altLang="zh-CN" sz="1800" dirty="0"/>
              <a:t>		#</a:t>
            </a:r>
            <a:r>
              <a:rPr lang="zh-CN" altLang="en-US" sz="1800" dirty="0"/>
              <a:t>查看是否安装</a:t>
            </a:r>
            <a:r>
              <a:rPr lang="en-US" altLang="zh-CN" sz="1800" dirty="0"/>
              <a:t>SSH</a:t>
            </a:r>
            <a:r>
              <a:rPr lang="zh-CN" altLang="en-US" sz="1800" dirty="0"/>
              <a:t>服务</a:t>
            </a:r>
          </a:p>
          <a:p>
            <a:pPr>
              <a:lnSpc>
                <a:spcPct val="150000"/>
              </a:lnSpc>
            </a:pPr>
            <a:r>
              <a:rPr lang="en-US" altLang="zh-CN" sz="1800" dirty="0"/>
              <a:t>	$ </a:t>
            </a:r>
            <a:r>
              <a:rPr lang="en-US" altLang="zh-CN" sz="1800" dirty="0" err="1"/>
              <a:t>ps</a:t>
            </a:r>
            <a:r>
              <a:rPr lang="en-US" altLang="zh-CN" sz="1800" dirty="0"/>
              <a:t> -e | grep </a:t>
            </a:r>
            <a:r>
              <a:rPr lang="en-US" altLang="zh-CN" sz="1800" dirty="0" err="1"/>
              <a:t>ssh</a:t>
            </a:r>
            <a:r>
              <a:rPr lang="en-US" altLang="zh-CN" sz="1800" dirty="0"/>
              <a:t>		#</a:t>
            </a:r>
            <a:r>
              <a:rPr lang="zh-CN" altLang="en-US" sz="1800" dirty="0"/>
              <a:t>查看是否启动</a:t>
            </a:r>
            <a:r>
              <a:rPr lang="en-US" altLang="zh-CN" sz="1800" dirty="0"/>
              <a:t>SSH</a:t>
            </a:r>
            <a:r>
              <a:rPr lang="zh-CN" altLang="en-US" sz="1800" dirty="0"/>
              <a:t>服务</a:t>
            </a:r>
          </a:p>
        </p:txBody>
      </p:sp>
    </p:spTree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418973" y="1026489"/>
            <a:ext cx="6006294" cy="4056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17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SecureCRT</a:t>
            </a:r>
            <a:r>
              <a:rPr lang="zh-CN" altLang="en-US" sz="1700" dirty="0">
                <a:latin typeface="等线" panose="02010600030101010101" pitchFamily="2" charset="-122"/>
                <a:cs typeface="等线" panose="02010600030101010101" pitchFamily="2" charset="-122"/>
              </a:rPr>
              <a:t>创建新连接和登录</a:t>
            </a:r>
            <a:r>
              <a:rPr lang="en-US" sz="17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Linux</a:t>
            </a:r>
            <a:r>
              <a:rPr lang="zh-CN" altLang="en-US" sz="1700" dirty="0">
                <a:latin typeface="等线" panose="02010600030101010101" pitchFamily="2" charset="-122"/>
                <a:cs typeface="等线" panose="02010600030101010101" pitchFamily="2" charset="-122"/>
              </a:rPr>
              <a:t>主机的界面示意图</a:t>
            </a:r>
            <a:endParaRPr sz="17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01E273-3346-405C-973F-615028EBE9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1702" y="1626897"/>
            <a:ext cx="3768725" cy="22872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C3333A6-822D-4465-9E03-CF6E6011815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60273" y="1860899"/>
            <a:ext cx="3696970" cy="193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15173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74930" y="833755"/>
            <a:ext cx="8993505" cy="298793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altLang="zh-CN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2.  SSH</a:t>
            </a:r>
            <a:r>
              <a:rPr lang="zh-CN" altLang="en-US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免密登录配置</a:t>
            </a:r>
            <a:endParaRPr lang="en-US" altLang="zh-CN" sz="1800" b="1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Hadoop集群中的主节点需要启动从节点，需要主节点登录到从节点，如果每次都输入密码，则非常麻烦。可以使用SSH协议来配置免密登录，SSH免密登录的工作原理如下（假设A主机要免密登录B主机）：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（1）在B主机上存储A主机的公钥；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（2）A主机请求登录B主机；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（3）B主机使用A主机的公钥加密一段随机文本；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（4）A主机使用私钥解密，并发回B主机；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（5）B主机验证文本是否正确。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F5D8152-6BBF-4FA8-A1F2-63ED7C1BC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807" y="3672891"/>
            <a:ext cx="4976687" cy="1127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0990024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55364" y="839871"/>
            <a:ext cx="5922188" cy="4240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altLang="zh-CN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SSH</a:t>
            </a:r>
            <a:r>
              <a:rPr lang="zh-CN" altLang="en-US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免密登录在</a:t>
            </a:r>
            <a:r>
              <a:rPr lang="en-US" altLang="zh-CN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3</a:t>
            </a:r>
            <a:r>
              <a:rPr lang="zh-CN" altLang="en-US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台虚拟机上的操作步骤：</a:t>
            </a:r>
            <a:endParaRPr sz="16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4D0676-3519-4AAC-B4B9-06E9BD7CBD05}"/>
              </a:ext>
            </a:extLst>
          </p:cNvPr>
          <p:cNvSpPr/>
          <p:nvPr/>
        </p:nvSpPr>
        <p:spPr>
          <a:xfrm>
            <a:off x="603993" y="1263961"/>
            <a:ext cx="7044550" cy="959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）步骤</a:t>
            </a:r>
            <a:r>
              <a:rPr lang="en-US" altLang="zh-CN" sz="1600" dirty="0"/>
              <a:t>1</a:t>
            </a:r>
            <a:r>
              <a:rPr lang="zh-CN" altLang="en-US" sz="1600" dirty="0"/>
              <a:t>：生成公钥和私钥</a:t>
            </a:r>
          </a:p>
          <a:p>
            <a:pPr>
              <a:lnSpc>
                <a:spcPct val="120000"/>
              </a:lnSpc>
            </a:pPr>
            <a:r>
              <a:rPr lang="zh-CN" altLang="en-US" sz="1600" dirty="0"/>
              <a:t>分别在</a:t>
            </a:r>
            <a:r>
              <a:rPr lang="en-US" altLang="zh-CN" sz="1600" dirty="0"/>
              <a:t>3</a:t>
            </a:r>
            <a:r>
              <a:rPr lang="zh-CN" altLang="en-US" sz="1600" dirty="0"/>
              <a:t>台虚拟机上执行下面的命令生成公钥和私钥：</a:t>
            </a:r>
          </a:p>
          <a:p>
            <a:pPr>
              <a:lnSpc>
                <a:spcPct val="120000"/>
              </a:lnSpc>
            </a:pPr>
            <a:r>
              <a:rPr lang="en-US" altLang="zh-CN" sz="1600" dirty="0"/>
              <a:t>	$ </a:t>
            </a:r>
            <a:r>
              <a:rPr lang="en-US" altLang="zh-CN" sz="1600" dirty="0" err="1"/>
              <a:t>ssh</a:t>
            </a:r>
            <a:r>
              <a:rPr lang="en-US" altLang="zh-CN" sz="1600" dirty="0"/>
              <a:t>-keygen -t </a:t>
            </a:r>
            <a:r>
              <a:rPr lang="en-US" altLang="zh-CN" sz="1600" dirty="0" err="1"/>
              <a:t>rsa</a:t>
            </a:r>
            <a:r>
              <a:rPr lang="en-US" altLang="zh-CN" sz="1600" dirty="0"/>
              <a:t>     #</a:t>
            </a:r>
            <a:r>
              <a:rPr lang="zh-CN" altLang="en-US" sz="1600" dirty="0"/>
              <a:t>生成</a:t>
            </a:r>
            <a:r>
              <a:rPr lang="en-US" altLang="zh-CN" sz="1600" dirty="0" err="1"/>
              <a:t>ssh</a:t>
            </a:r>
            <a:r>
              <a:rPr lang="zh-CN" altLang="en-US" sz="1600" dirty="0"/>
              <a:t>密钥对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1A3E9F-E201-4949-B527-64D8F6F4231E}"/>
              </a:ext>
            </a:extLst>
          </p:cNvPr>
          <p:cNvSpPr/>
          <p:nvPr/>
        </p:nvSpPr>
        <p:spPr>
          <a:xfrm>
            <a:off x="655981" y="2314984"/>
            <a:ext cx="7585851" cy="959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）步骤</a:t>
            </a:r>
            <a:r>
              <a:rPr lang="en-US" altLang="zh-CN" sz="1600" dirty="0"/>
              <a:t>2</a:t>
            </a:r>
            <a:r>
              <a:rPr lang="zh-CN" altLang="en-US" sz="1600" dirty="0"/>
              <a:t>：将</a:t>
            </a:r>
            <a:r>
              <a:rPr lang="en-US" altLang="zh-CN" sz="1600" dirty="0"/>
              <a:t>3</a:t>
            </a:r>
            <a:r>
              <a:rPr lang="zh-CN" altLang="en-US" sz="1600" dirty="0"/>
              <a:t>台虚拟机的公钥拷贝到</a:t>
            </a:r>
            <a:r>
              <a:rPr lang="en-US" altLang="zh-CN" sz="1600" dirty="0"/>
              <a:t>Node01</a:t>
            </a:r>
            <a:r>
              <a:rPr lang="zh-CN" altLang="en-US" sz="1600" dirty="0"/>
              <a:t>上</a:t>
            </a:r>
          </a:p>
          <a:p>
            <a:pPr>
              <a:lnSpc>
                <a:spcPct val="120000"/>
              </a:lnSpc>
            </a:pPr>
            <a:r>
              <a:rPr lang="en-US" altLang="zh-CN" sz="1600" dirty="0"/>
              <a:t>	$ </a:t>
            </a:r>
            <a:r>
              <a:rPr lang="en-US" altLang="zh-CN" sz="1600" dirty="0" err="1"/>
              <a:t>ssh</a:t>
            </a:r>
            <a:r>
              <a:rPr lang="en-US" altLang="zh-CN" sz="1600" dirty="0"/>
              <a:t>-copy-id Node01</a:t>
            </a:r>
          </a:p>
          <a:p>
            <a:pPr>
              <a:lnSpc>
                <a:spcPct val="120000"/>
              </a:lnSpc>
            </a:pPr>
            <a:r>
              <a:rPr lang="en-US" altLang="zh-CN" sz="1600" dirty="0"/>
              <a:t>	</a:t>
            </a:r>
            <a:r>
              <a:rPr lang="zh-CN" altLang="en-US" sz="1600" dirty="0"/>
              <a:t>（注：需要在</a:t>
            </a:r>
            <a:r>
              <a:rPr lang="en-US" altLang="zh-CN" sz="1600" dirty="0"/>
              <a:t>Node01</a:t>
            </a:r>
            <a:r>
              <a:rPr lang="zh-CN" altLang="en-US" sz="1600" dirty="0"/>
              <a:t>、</a:t>
            </a:r>
            <a:r>
              <a:rPr lang="en-US" altLang="zh-CN" sz="1600" dirty="0"/>
              <a:t>Node02</a:t>
            </a:r>
            <a:r>
              <a:rPr lang="zh-CN" altLang="en-US" sz="1600" dirty="0"/>
              <a:t>和</a:t>
            </a:r>
            <a:r>
              <a:rPr lang="en-US" altLang="zh-CN" sz="1600" dirty="0"/>
              <a:t>Node03</a:t>
            </a:r>
            <a:r>
              <a:rPr lang="zh-CN" altLang="en-US" sz="1600" dirty="0"/>
              <a:t>上都执行此命令。）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1BC018-981D-48F6-B250-68C96F5C4779}"/>
              </a:ext>
            </a:extLst>
          </p:cNvPr>
          <p:cNvSpPr/>
          <p:nvPr/>
        </p:nvSpPr>
        <p:spPr>
          <a:xfrm>
            <a:off x="689622" y="3330201"/>
            <a:ext cx="6432912" cy="95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）步骤</a:t>
            </a:r>
            <a:r>
              <a:rPr lang="en-US" altLang="zh-CN" sz="1600" dirty="0"/>
              <a:t>3</a:t>
            </a:r>
            <a:r>
              <a:rPr lang="zh-CN" altLang="en-US" sz="1600" dirty="0"/>
              <a:t>：从</a:t>
            </a:r>
            <a:r>
              <a:rPr lang="en-US" altLang="zh-CN" sz="1600" dirty="0"/>
              <a:t>Node01</a:t>
            </a:r>
            <a:r>
              <a:rPr lang="zh-CN" altLang="en-US" sz="1600" dirty="0"/>
              <a:t>复制公钥到</a:t>
            </a:r>
            <a:r>
              <a:rPr lang="en-US" altLang="zh-CN" sz="1600" dirty="0"/>
              <a:t>Node02</a:t>
            </a:r>
            <a:r>
              <a:rPr lang="zh-CN" altLang="en-US" sz="1600" dirty="0"/>
              <a:t>和</a:t>
            </a:r>
            <a:r>
              <a:rPr lang="en-US" altLang="zh-CN" sz="1600" dirty="0"/>
              <a:t>Node03</a:t>
            </a:r>
          </a:p>
          <a:p>
            <a:pPr>
              <a:lnSpc>
                <a:spcPct val="120000"/>
              </a:lnSpc>
            </a:pPr>
            <a:r>
              <a:rPr lang="en-US" altLang="zh-CN" sz="1600" dirty="0"/>
              <a:t>	$ </a:t>
            </a:r>
            <a:r>
              <a:rPr lang="en-US" altLang="zh-CN" sz="1600" dirty="0" err="1"/>
              <a:t>scp</a:t>
            </a:r>
            <a:r>
              <a:rPr lang="en-US" altLang="zh-CN" sz="1600" dirty="0"/>
              <a:t> /root/.</a:t>
            </a:r>
            <a:r>
              <a:rPr lang="en-US" altLang="zh-CN" sz="1600" dirty="0" err="1"/>
              <a:t>ssh</a:t>
            </a:r>
            <a:r>
              <a:rPr lang="en-US" altLang="zh-CN" sz="1600" dirty="0"/>
              <a:t>/</a:t>
            </a:r>
            <a:r>
              <a:rPr lang="en-US" altLang="zh-CN" sz="1600" dirty="0" err="1"/>
              <a:t>authorized_keys</a:t>
            </a:r>
            <a:r>
              <a:rPr lang="en-US" altLang="zh-CN" sz="1600" dirty="0"/>
              <a:t> Node02:/root/.</a:t>
            </a:r>
            <a:r>
              <a:rPr lang="en-US" altLang="zh-CN" sz="1600" dirty="0" err="1"/>
              <a:t>ssh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en-US" altLang="zh-CN" sz="1600" dirty="0"/>
              <a:t>	$ </a:t>
            </a:r>
            <a:r>
              <a:rPr lang="en-US" altLang="zh-CN" sz="1600" dirty="0" err="1"/>
              <a:t>scp</a:t>
            </a:r>
            <a:r>
              <a:rPr lang="en-US" altLang="zh-CN" sz="1600" dirty="0"/>
              <a:t> /root/.</a:t>
            </a:r>
            <a:r>
              <a:rPr lang="en-US" altLang="zh-CN" sz="1600" dirty="0" err="1"/>
              <a:t>ssh</a:t>
            </a:r>
            <a:r>
              <a:rPr lang="en-US" altLang="zh-CN" sz="1600" dirty="0"/>
              <a:t>/</a:t>
            </a:r>
            <a:r>
              <a:rPr lang="en-US" altLang="zh-CN" sz="1600" dirty="0" err="1"/>
              <a:t>authorized_keys</a:t>
            </a:r>
            <a:r>
              <a:rPr lang="en-US" altLang="zh-CN" sz="1600" dirty="0"/>
              <a:t> Node03:/root/.</a:t>
            </a:r>
            <a:r>
              <a:rPr lang="en-US" altLang="zh-CN" sz="1600" dirty="0" err="1"/>
              <a:t>ssh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891171926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77695" y="951640"/>
            <a:ext cx="8065982" cy="11442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完成上述操作后，在</a:t>
            </a: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Node01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上输入</a:t>
            </a:r>
            <a:r>
              <a:rPr lang="en-US" altLang="zh-CN" sz="1800" dirty="0" err="1">
                <a:latin typeface="等线" panose="02010600030101010101" pitchFamily="2" charset="-122"/>
                <a:cs typeface="等线" panose="02010600030101010101" pitchFamily="2" charset="-122"/>
              </a:rPr>
              <a:t>ssh</a:t>
            </a: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 Node02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命令访问</a:t>
            </a: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Node02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主机时就不需要输入密码了。下图是在</a:t>
            </a:r>
            <a:r>
              <a:rPr lang="en-US" altLang="zh-CN" sz="1800" dirty="0" err="1">
                <a:latin typeface="等线" panose="02010600030101010101" pitchFamily="2" charset="-122"/>
                <a:cs typeface="等线" panose="02010600030101010101" pitchFamily="2" charset="-122"/>
              </a:rPr>
              <a:t>SecureCRT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中从</a:t>
            </a: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Node01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免密登录</a:t>
            </a: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Node02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和</a:t>
            </a: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Node03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的示意图。</a:t>
            </a:r>
            <a:endParaRPr sz="16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8E9AEC-01F2-40E4-9B9D-44EE12E29F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12153" y="2262614"/>
            <a:ext cx="4114329" cy="208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0087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77695" y="951640"/>
            <a:ext cx="8065982" cy="37850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altLang="zh-CN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3. </a:t>
            </a:r>
            <a:r>
              <a:rPr lang="zh-CN" altLang="en-US" sz="1800" b="1" dirty="0">
                <a:latin typeface="等线" panose="02010600030101010101" pitchFamily="2" charset="-122"/>
                <a:cs typeface="等线" panose="02010600030101010101" pitchFamily="2" charset="-122"/>
              </a:rPr>
              <a:t>时间同步</a:t>
            </a:r>
            <a:endParaRPr lang="en-US" altLang="zh-CN" sz="1800" b="1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在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CentOS 8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中设置系统时间同步使用的是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工具（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CentOS 7 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以下使用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ntp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工具），具体操作方法如下：</a:t>
            </a:r>
          </a:p>
          <a:p>
            <a:pPr indent="266700">
              <a:lnSpc>
                <a:spcPct val="130000"/>
              </a:lnSpc>
            </a:pPr>
            <a:r>
              <a:rPr lang="en-US" altLang="zh-CN" sz="1500" dirty="0">
                <a:latin typeface="等线" panose="02010600030101010101" pitchFamily="2" charset="-122"/>
                <a:cs typeface="等线" panose="02010600030101010101" pitchFamily="2" charset="-122"/>
              </a:rPr>
              <a:t>	$ 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yum install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	#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安装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</a:t>
            </a:r>
            <a:endParaRPr lang="en-US" sz="15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$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systemctl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start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chronyd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sz="15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             #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启动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</a:t>
            </a:r>
            <a:endParaRPr lang="en-US" sz="15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$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systemctl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enable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chronyd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#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设为系统自动启动</a:t>
            </a:r>
          </a:p>
          <a:p>
            <a:pPr indent="266700">
              <a:lnSpc>
                <a:spcPct val="130000"/>
              </a:lnSpc>
            </a:pP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编辑配置文件</a:t>
            </a:r>
            <a:r>
              <a:rPr lang="en-US" altLang="zh-CN" sz="1500" dirty="0">
                <a:latin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chrony.conf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>
              <a:lnSpc>
                <a:spcPct val="130000"/>
              </a:lnSpc>
            </a:pP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$ vim /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chrony.conf</a:t>
            </a:r>
            <a:endParaRPr lang="en-US" sz="15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在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chrony.conf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文件中注释掉“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pool 2.centos.pool.ntp.org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iburst</a:t>
            </a: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”，</a:t>
            </a:r>
            <a:r>
              <a:rPr lang="zh-CN" altLang="en-US" sz="1500" dirty="0">
                <a:latin typeface="等线" panose="02010600030101010101" pitchFamily="2" charset="-122"/>
                <a:cs typeface="等线" panose="02010600030101010101" pitchFamily="2" charset="-122"/>
              </a:rPr>
              <a:t>并输入以下内容：</a:t>
            </a:r>
          </a:p>
          <a:p>
            <a:pPr indent="266700">
              <a:lnSpc>
                <a:spcPct val="130000"/>
              </a:lnSpc>
            </a:pP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server ntp.aliyun.com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iburst</a:t>
            </a:r>
            <a:endParaRPr lang="en-US" sz="15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sz="15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server cn.ntp.org.cn </a:t>
            </a:r>
            <a:r>
              <a:rPr lang="en-US" sz="15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iburst</a:t>
            </a:r>
            <a:endParaRPr lang="en-US" sz="15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1551176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58750" y="24511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2.3.5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77695" y="951640"/>
            <a:ext cx="8065982" cy="15043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接着重新加载</a:t>
            </a:r>
            <a:r>
              <a:rPr lang="en-US"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chronyd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服务</a:t>
            </a:r>
          </a:p>
          <a:p>
            <a:pPr indent="266700">
              <a:lnSpc>
                <a:spcPct val="130000"/>
              </a:lnSpc>
            </a:pPr>
            <a:r>
              <a:rPr lang="en-US" altLang="zh-CN" sz="1500">
                <a:latin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1800">
                <a:latin typeface="等线" panose="02010600030101010101" pitchFamily="2" charset="-122"/>
                <a:ea typeface="等线" panose="02010600030101010101" pitchFamily="2" charset="-122"/>
              </a:rPr>
              <a:t>$ </a:t>
            </a:r>
            <a:r>
              <a:rPr lang="en-US" sz="1800">
                <a:latin typeface="等线" panose="02010600030101010101" pitchFamily="2" charset="-122"/>
                <a:ea typeface="等线" panose="02010600030101010101" pitchFamily="2" charset="-122"/>
              </a:rPr>
              <a:t>systemctl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sz="1800">
                <a:latin typeface="等线" panose="02010600030101010101" pitchFamily="2" charset="-122"/>
                <a:ea typeface="等线" panose="02010600030101010101" pitchFamily="2" charset="-122"/>
              </a:rPr>
              <a:t>restart </a:t>
            </a:r>
            <a:r>
              <a:rPr lang="en-US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chronyd</a:t>
            </a:r>
            <a:r>
              <a:rPr lang="en-US" sz="1800" err="1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en-US" sz="1800">
                <a:latin typeface="等线" panose="02010600030101010101" pitchFamily="2" charset="-122"/>
                <a:ea typeface="等线" panose="02010600030101010101" pitchFamily="2" charset="-122"/>
              </a:rPr>
              <a:t>service</a:t>
            </a:r>
            <a:endParaRPr lang="en-US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zh-CN" altLang="en-US" sz="1800">
                <a:latin typeface="等线" panose="02010600030101010101" pitchFamily="2" charset="-122"/>
                <a:cs typeface="等线" panose="02010600030101010101" pitchFamily="2" charset="-122"/>
              </a:rPr>
              <a:t>查看</a:t>
            </a:r>
            <a:r>
              <a:rPr lang="zh-CN" altLang="en-US" sz="1800" dirty="0">
                <a:latin typeface="等线" panose="02010600030101010101" pitchFamily="2" charset="-122"/>
                <a:cs typeface="等线" panose="02010600030101010101" pitchFamily="2" charset="-122"/>
              </a:rPr>
              <a:t>时间服务器源是否更新成功：</a:t>
            </a:r>
          </a:p>
          <a:p>
            <a:pPr indent="266700">
              <a:lnSpc>
                <a:spcPct val="130000"/>
              </a:lnSpc>
            </a:pPr>
            <a:r>
              <a:rPr lang="en-US" altLang="zh-CN" sz="1800" dirty="0">
                <a:latin typeface="等线" panose="02010600030101010101" pitchFamily="2" charset="-122"/>
                <a:cs typeface="等线" panose="02010600030101010101" pitchFamily="2" charset="-122"/>
              </a:rPr>
              <a:t>	$ </a:t>
            </a:r>
            <a:r>
              <a:rPr lang="en-US"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chronyc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sources -v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6396C0-642D-4B2C-A444-3E215477AD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23471" y="2571750"/>
            <a:ext cx="4531995" cy="206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77148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4167679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305050" y="1485265"/>
            <a:ext cx="65551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系统简介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  <a:sym typeface="+mn-ea"/>
              </a:rPr>
              <a:t>2.4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44090" y="2583180"/>
            <a:ext cx="4580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Hadoop的生态系统简介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Hadoop集群的类型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5400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2.4.1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Hadoop的生态系统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02260" y="852170"/>
            <a:ext cx="8538845" cy="1291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随着Hadoop平台的发展，其生态系统越来越完善， </a:t>
            </a:r>
            <a:r>
              <a:rPr lang="zh-CN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下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图是Hadoop生成系统示意图，主要包括底层分布式文件系统HDFS、分布式数据库系统HBase、分布式计算框架MapReduce和分布式协作服务管理器Zookeeper等。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095" y="2419350"/>
            <a:ext cx="3667125" cy="2000250"/>
          </a:xfrm>
          <a:prstGeom prst="rect">
            <a:avLst/>
          </a:prstGeom>
        </p:spPr>
      </p:pic>
      <p:sp>
        <p:nvSpPr>
          <p:cNvPr id="101" name="文本框 100"/>
          <p:cNvSpPr txBox="1"/>
          <p:nvPr/>
        </p:nvSpPr>
        <p:spPr>
          <a:xfrm>
            <a:off x="1485900" y="451040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 Hadoop生态系统示意图</a:t>
            </a:r>
            <a:endParaRPr sz="1000"/>
          </a:p>
        </p:txBody>
      </p:sp>
    </p:spTree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54000"/>
            <a:ext cx="40106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2.4.2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Hadoop集群的类型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29235" y="970280"/>
            <a:ext cx="8842375" cy="3610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平台部署在由多台Linux主机组成的Hadoop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 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集群上，Hadoop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集群包含一个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NameNode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和多个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DataNode。NameNode负责管理文件系统命名空间和控制外部客户机的访问。DataNode响应来自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NameNode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的创建、删除和复制块的命令，以及来自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HDFS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客户机的读写请求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30000"/>
              </a:lnSpc>
            </a:pP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6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 </a:t>
            </a:r>
            <a:r>
              <a:rPr sz="1600" b="1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集群分为三种，分别简介如下</a:t>
            </a:r>
            <a:r>
              <a:rPr sz="16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（1）独立模式（Pseudo-Distributed Mode）：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也就是单机模式，该模式下所有程序只在一台主机的单个JVM（Java虚拟机）上执行，适合于在学习阶段或开发调试阶段使用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（2）伪分布模式（Pseudo-Distributed Mode）：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就是假的分布式，只用一台主机模拟Hadoop集群的分布式任务的执行过程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 </a:t>
            </a:r>
          </a:p>
          <a:p>
            <a:pPr indent="266700">
              <a:lnSpc>
                <a:spcPct val="130000"/>
              </a:lnSpc>
            </a:pP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（3）完全分布模式（Fully-Distributed Mode）：由多台主机构成Hadoop集群，Hadoop的守护进程真实运行在多台主机上，在实际工作中，通常使用该模式构建企业级的Hadoop系统。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4688085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50110" y="1485265"/>
            <a:ext cx="496324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构建“伪分布式”集群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IrisUPC" panose="020B0604020202020204" pitchFamily="34" charset="-34"/>
                <a:cs typeface="IrisUPC" panose="020B0604020202020204" pitchFamily="34" charset="-34"/>
                <a:sym typeface="+mn-ea"/>
              </a:rPr>
              <a:t>2.5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50110" y="2543175"/>
            <a:ext cx="4580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安装JDK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安装Hadoop软件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配置SSH免密登录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</a:p>
          <a:p>
            <a:pPr indent="0">
              <a:buFont typeface="Wingdings" panose="05000000000000000000" pitchFamily="2" charset="2"/>
              <a:buNone/>
            </a:pP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</a:t>
            </a:r>
            <a:r>
              <a:rPr lang="en-US" altLang="zh-CN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构建Hadoop“伪分布式”集群</a:t>
            </a:r>
            <a:endParaRPr sz="2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92735" y="1024890"/>
            <a:ext cx="8331835" cy="2891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Hadoop“完全分布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式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”集群的安装与配置过程比较复杂，对学习者的操作技能要求较高。为了让某些初学者可以只用一台虚拟机来模拟Hadoop集群，本节介绍“伪分布式”（Pseudo-Distributed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Mode）Hadoop集群的安装和配置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所谓“伪分布式”，就是只用一台主机来模拟执行Hadoop集群的分布式任务，因此更为简单，但其并不是真正的分布式系统，只适用于初学者的学习，以及调试分布式程序。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安装JDK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92735" y="1024890"/>
            <a:ext cx="8331835" cy="286161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由于Hadoop是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用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Java语言开发的，因此Hadoop的运行依赖于Java环境，Hadoop-3要求JDK（Java Development Kit）版本不低于1.8，首先在Linux虚拟机中安装JDK 1.8。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首先查询系统中是否已经安装了JDK，如果已经安装了，则需要先卸载，然后再安装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rpm -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qa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| grep java      	#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查看系统中是否已经安装JDK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rpm -e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package_name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	#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卸载已经安装的软件包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安装JDK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36525" y="768985"/>
            <a:ext cx="8943975" cy="126117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步骤1：下载和上传JDK安装包</a:t>
            </a:r>
            <a:endParaRPr lang="en-US" altLang="zh-CN"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  可以在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Windows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中使用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WinSCP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软件连接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Linux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主机，进行文件上传和下载，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WinSCP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的界面如下图所示。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F23582-E849-4AD4-A359-51B9435AA092}"/>
              </a:ext>
            </a:extLst>
          </p:cNvPr>
          <p:cNvSpPr/>
          <p:nvPr/>
        </p:nvSpPr>
        <p:spPr>
          <a:xfrm>
            <a:off x="3500091" y="4586804"/>
            <a:ext cx="2029111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WinSCP</a:t>
            </a:r>
            <a:r>
              <a:rPr lang="zh-CN" altLang="en-US" dirty="0"/>
              <a:t>软件界面示意图</a:t>
            </a:r>
          </a:p>
        </p:txBody>
      </p:sp>
      <p:pic>
        <p:nvPicPr>
          <p:cNvPr id="10241" name="图片 41">
            <a:extLst>
              <a:ext uri="{FF2B5EF4-FFF2-40B4-BE49-F238E27FC236}">
                <a16:creationId xmlns:a16="http://schemas.microsoft.com/office/drawing/2014/main" id="{038D2F97-AFBE-4F26-9429-DE519F61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63" y="2102731"/>
            <a:ext cx="4273696" cy="246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C30EABB-0C31-4633-9A5E-DC29FF2CD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260" y="3051114"/>
            <a:ext cx="768350" cy="5619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本地目录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2DEDF8C-BD1B-45FB-A8E5-F59419EBA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4456" y="3165413"/>
            <a:ext cx="936625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目录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2FF7E-65C9-4093-8A4B-7C4B99B9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117" y="151948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B78B105-38CB-45AF-93C8-0B0705B14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817" y="19766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A356DB6-171F-4661-97CA-618F7AF8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817" y="42499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安装JDK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97485" y="1125855"/>
            <a:ext cx="8749665" cy="26615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步骤2：解压安装JDK安装包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将jdk-8u212-linux-x64.tar.gz解压到/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servsers目录中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tar -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zxvf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jdk-8u212-linux-x64.tar.gz -C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解压完JDK安装包后，进入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servers目录，可以看到JDK子目录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例如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/local/servers/jdk1.8.0_212，为了操作方便，可以把目录重命名：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mv jdk1.8.0_212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jdk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   #将jdk1.8.0_212目录重命名为jdk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安装JDK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97485" y="996950"/>
            <a:ext cx="8749665" cy="1291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步骤3：配置运行JDK的环境变量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安装完JDK后，需要配置JDK的环境变量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，“/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profile”是CentOS系统用于设置环境变量的文件，使用vim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profile文件，在文件中添加以下内容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0745" y="2713355"/>
            <a:ext cx="6927753" cy="15252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安装JDK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8295" y="1100455"/>
            <a:ext cx="869632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000" b="1">
                <a:ea typeface="等线" panose="02010600030101010101" pitchFamily="2" charset="-122"/>
              </a:rPr>
              <a:t>步骤</a:t>
            </a:r>
            <a:r>
              <a:rPr lang="zh-CN" sz="2000" b="1">
                <a:ea typeface="等线" panose="02010600030101010101" pitchFamily="2" charset="-122"/>
                <a:cs typeface="Times New Roman" panose="02020603050405020304" pitchFamily="18" charset="0"/>
              </a:rPr>
              <a:t>4：验证是否设置成功</a:t>
            </a:r>
            <a:endParaRPr lang="en-US" sz="2000" b="1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sz="2000">
                <a:latin typeface="等线" panose="02010600030101010101" pitchFamily="2" charset="-122"/>
                <a:cs typeface="Times New Roman" panose="02020603050405020304" pitchFamily="18" charset="0"/>
              </a:rPr>
              <a:t>       $ source /etc/profile		#</a:t>
            </a:r>
            <a:r>
              <a:rPr lang="zh-CN" sz="2000">
                <a:ea typeface="等线" panose="02010600030101010101" pitchFamily="2" charset="-122"/>
              </a:rPr>
              <a:t>让设置的环境变量生效</a:t>
            </a:r>
            <a:endParaRPr lang="en-US" sz="200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sz="2000">
                <a:latin typeface="等线" panose="02010600030101010101" pitchFamily="2" charset="-122"/>
                <a:cs typeface="Times New Roman" panose="02020603050405020304" pitchFamily="18" charset="0"/>
              </a:rPr>
              <a:t>       $ java -version			#</a:t>
            </a:r>
            <a:r>
              <a:rPr lang="zh-CN" sz="2000">
                <a:ea typeface="等线" panose="02010600030101010101" pitchFamily="2" charset="-122"/>
              </a:rPr>
              <a:t>查看</a:t>
            </a:r>
            <a:r>
              <a:rPr lang="zh-CN" sz="2000">
                <a:ea typeface="等线" panose="02010600030101010101" pitchFamily="2" charset="-122"/>
                <a:cs typeface="Times New Roman" panose="02020603050405020304" pitchFamily="18" charset="0"/>
              </a:rPr>
              <a:t>jdk版本</a:t>
            </a:r>
            <a:endParaRPr lang="zh-CN" sz="2000">
              <a:ea typeface="等线" panose="02010600030101010101" pitchFamily="2" charset="-122"/>
            </a:endParaRPr>
          </a:p>
          <a:p>
            <a:pPr indent="266700"/>
            <a:r>
              <a:rPr lang="zh-CN" sz="2000" b="0">
                <a:ea typeface="等线" panose="02010600030101010101" pitchFamily="2" charset="-122"/>
              </a:rPr>
              <a:t>如果正确安装和配置</a:t>
            </a:r>
            <a:r>
              <a:rPr lang="en-US" sz="2000" b="0">
                <a:latin typeface="等线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sz="2000" b="0">
                <a:ea typeface="等线" panose="02010600030101010101" pitchFamily="2" charset="-122"/>
              </a:rPr>
              <a:t>运行环境，则会出现如图所示的</a:t>
            </a:r>
            <a:r>
              <a:rPr lang="en-US" sz="2000" b="0">
                <a:latin typeface="等线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sz="2000" b="0">
                <a:ea typeface="等线" panose="02010600030101010101" pitchFamily="2" charset="-122"/>
              </a:rPr>
              <a:t>版本号等信息。</a:t>
            </a:r>
            <a:endParaRPr lang="zh-CN" altLang="en-US" sz="2000"/>
          </a:p>
        </p:txBody>
      </p:sp>
      <p:pic>
        <p:nvPicPr>
          <p:cNvPr id="44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583" y="2656523"/>
            <a:ext cx="4759417" cy="15897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41783" y="4301477"/>
            <a:ext cx="3129826" cy="245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en-US" sz="900" b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sz="1000" b="0">
                <a:ea typeface="等线" panose="02010600030101010101" pitchFamily="2" charset="-122"/>
              </a:rPr>
              <a:t>安装、配置和查看</a:t>
            </a:r>
            <a:r>
              <a:rPr lang="en-US" sz="1000" b="0">
                <a:latin typeface="等线" panose="02010600030101010101" pitchFamily="2" charset="-122"/>
                <a:cs typeface="Times New Roman" panose="02020603050405020304" pitchFamily="18" charset="0"/>
              </a:rPr>
              <a:t>JDK</a:t>
            </a:r>
            <a:r>
              <a:rPr lang="zh-CN" sz="1000" b="0">
                <a:ea typeface="等线" panose="02010600030101010101" pitchFamily="2" charset="-122"/>
              </a:rPr>
              <a:t>版本信息</a:t>
            </a:r>
            <a:endParaRPr lang="zh-CN" altLang="en-US" sz="1000"/>
          </a:p>
        </p:txBody>
      </p:sp>
    </p:spTree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2.5.2安装Hadoop软件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6685" y="943610"/>
            <a:ext cx="8487410" cy="30376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000" b="1" dirty="0">
                <a:ea typeface="等线" panose="02010600030101010101" pitchFamily="2" charset="-122"/>
              </a:rPr>
              <a:t>1.下载和安装Hadoop软件</a:t>
            </a:r>
          </a:p>
          <a:p>
            <a:pPr indent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  </a:t>
            </a:r>
            <a:r>
              <a:rPr lang="zh-CN" sz="1800" dirty="0">
                <a:ea typeface="等线" panose="02010600030101010101" pitchFamily="2" charset="-122"/>
              </a:rPr>
              <a:t>可以从Apache官网：https://archive.apache.org/dist/hadoop/common/下载hadoop安装包，本</a:t>
            </a:r>
            <a:r>
              <a:rPr lang="zh-CN" sz="1800">
                <a:ea typeface="等线" panose="02010600030101010101" pitchFamily="2" charset="-122"/>
              </a:rPr>
              <a:t>书以Hadoop </a:t>
            </a:r>
            <a:r>
              <a:rPr lang="zh-CN" sz="1800" dirty="0">
                <a:ea typeface="等线" panose="02010600030101010101" pitchFamily="2" charset="-122"/>
              </a:rPr>
              <a:t>3.3.0版本为例，介绍Hadoop安装的详细过程。</a:t>
            </a:r>
          </a:p>
          <a:p>
            <a:pPr indent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  </a:t>
            </a:r>
            <a:r>
              <a:rPr lang="zh-CN" sz="1800" dirty="0">
                <a:ea typeface="等线" panose="02010600030101010101" pitchFamily="2" charset="-122"/>
              </a:rPr>
              <a:t>将下载的hadoop-3.3.0.tar.gz文件上传到Linux虚拟机的/usr/local/uploads，然后将文件解压到/usr/local/servers目录，并且为了操作方便，把安装目录更名为hadoop：</a:t>
            </a:r>
          </a:p>
          <a:p>
            <a:pPr indent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   	</a:t>
            </a:r>
            <a:r>
              <a:rPr lang="zh-CN" sz="1800" dirty="0">
                <a:ea typeface="等线" panose="02010600030101010101" pitchFamily="2" charset="-122"/>
              </a:rPr>
              <a:t>$ tar -zxvf /usr/local/uploads/hadoop-3.3.0.tar.gz -C /usr/local/servers</a:t>
            </a:r>
          </a:p>
          <a:p>
            <a:pPr indent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  </a:t>
            </a:r>
            <a:r>
              <a:rPr lang="zh-CN" sz="1800" dirty="0">
                <a:ea typeface="等线" panose="02010600030101010101" pitchFamily="2" charset="-122"/>
              </a:rPr>
              <a:t>进入/usr/local/servers目录，输入以下命令：</a:t>
            </a:r>
          </a:p>
          <a:p>
            <a:pPr indent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   	</a:t>
            </a:r>
            <a:r>
              <a:rPr lang="zh-CN" sz="1800" dirty="0">
                <a:ea typeface="等线" panose="02010600030101010101" pitchFamily="2" charset="-122"/>
              </a:rPr>
              <a:t>$ mv hadoop-3.3.0 hadoop		#将hadoop-3.3.0目录重命名为hadoop</a:t>
            </a:r>
          </a:p>
          <a:p>
            <a:pPr indent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    </a:t>
            </a:r>
            <a:r>
              <a:rPr lang="zh-CN" sz="1800" dirty="0">
                <a:ea typeface="等线" panose="02010600030101010101" pitchFamily="2" charset="-122"/>
              </a:rPr>
              <a:t>Hadoop的安装目录即为/usr/local/servers/hadoop。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2.5.2安装Hadoop软件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820" y="977265"/>
            <a:ext cx="8487410" cy="33209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ea typeface="等线" panose="02010600030101010101" pitchFamily="2" charset="-122"/>
              </a:rPr>
              <a:t>2.配置环境变量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 </a:t>
            </a:r>
            <a:r>
              <a:rPr lang="zh-CN" sz="1800" dirty="0">
                <a:ea typeface="等线" panose="02010600030101010101" pitchFamily="2" charset="-122"/>
              </a:rPr>
              <a:t>接着配置运行Hadoop的环境变量，用vim /etc/profile命令编辑profile文件，在文件尾部添加以下内容：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	</a:t>
            </a:r>
            <a:r>
              <a:rPr lang="zh-CN" sz="1800" dirty="0">
                <a:ea typeface="等线" panose="02010600030101010101" pitchFamily="2" charset="-122"/>
              </a:rPr>
              <a:t>export HADOOP_HOME=/usr/local/servers/hadoop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	</a:t>
            </a:r>
            <a:r>
              <a:rPr lang="zh-CN" sz="1800" dirty="0">
                <a:ea typeface="等线" panose="02010600030101010101" pitchFamily="2" charset="-122"/>
              </a:rPr>
              <a:t>export PATH=$PATH:$HADOOP_HOME/bin:$HADOOP_HOME/sbin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ea typeface="等线" panose="02010600030101010101" pitchFamily="2" charset="-122"/>
              </a:rPr>
              <a:t>接着验证安装配置是否成功：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	</a:t>
            </a:r>
            <a:r>
              <a:rPr lang="zh-CN" sz="1800" dirty="0">
                <a:ea typeface="等线" panose="02010600030101010101" pitchFamily="2" charset="-122"/>
              </a:rPr>
              <a:t>$ source /etc/profile			#让刚设置的环境变量生效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ea typeface="等线" panose="02010600030101010101" pitchFamily="2" charset="-122"/>
              </a:rPr>
              <a:t>	</a:t>
            </a:r>
            <a:r>
              <a:rPr lang="zh-CN" sz="1800" dirty="0">
                <a:ea typeface="等线" panose="02010600030101010101" pitchFamily="2" charset="-122"/>
              </a:rPr>
              <a:t>$ hadoop version		</a:t>
            </a:r>
            <a:r>
              <a:rPr lang="zh-CN" sz="1800">
                <a:ea typeface="等线" panose="02010600030101010101" pitchFamily="2" charset="-122"/>
              </a:rPr>
              <a:t>	#</a:t>
            </a:r>
            <a:r>
              <a:rPr lang="zh-CN" sz="1800" dirty="0">
                <a:ea typeface="等线" panose="02010600030101010101" pitchFamily="2" charset="-122"/>
              </a:rPr>
              <a:t>查看Hadoop版本</a:t>
            </a:r>
          </a:p>
          <a:p>
            <a:pPr indent="266700"/>
            <a:endParaRPr lang="zh-CN" sz="2000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2.5.2安装Hadoop软件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0345" y="849630"/>
            <a:ext cx="848741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000" b="1">
                <a:ea typeface="等线" panose="02010600030101010101" pitchFamily="2" charset="-122"/>
              </a:rPr>
              <a:t>3.Hadoop的目录结构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20345" y="1338580"/>
            <a:ext cx="8622030" cy="256070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Wingdings" panose="05000000000000000000" charset="0"/>
                <a:ea typeface="等线" panose="02010600030101010101" pitchFamily="2" charset="-122"/>
              </a:rPr>
              <a:t>	l </a:t>
            </a:r>
            <a:r>
              <a:rPr lang="zh-CN" sz="1800" b="0" dirty="0">
                <a:ea typeface="等线" panose="02010600030101010101" pitchFamily="2" charset="-122"/>
                <a:cs typeface="Times New Roman" panose="02020603050405020304" pitchFamily="18" charset="0"/>
              </a:rPr>
              <a:t>bin：是Hadoop最基本的管理脚本和使用脚本所在的目录，这些脚本是sbin目录下管理脚本的基础实现，用户可以直接使用这些脚本管理和使用Hadoop</a:t>
            </a:r>
            <a:r>
              <a:rPr lang="zh-CN" sz="1800" b="0" dirty="0">
                <a:ea typeface="等线" panose="02010600030101010101" pitchFamily="2" charset="-122"/>
              </a:rPr>
              <a:t>。</a:t>
            </a:r>
            <a:endParaRPr lang="en-US" sz="1800" b="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Wingdings" panose="05000000000000000000" charset="0"/>
                <a:ea typeface="等线" panose="02010600030101010101" pitchFamily="2" charset="-122"/>
              </a:rPr>
              <a:t>	l </a:t>
            </a:r>
            <a:r>
              <a:rPr lang="zh-CN" sz="1800" b="0" dirty="0">
                <a:ea typeface="等线" panose="02010600030101010101" pitchFamily="2" charset="-122"/>
                <a:cs typeface="Times New Roman" panose="02020603050405020304" pitchFamily="18" charset="0"/>
              </a:rPr>
              <a:t>etc：Hadoop配置文件所在的目录，包括：core-site.xml、hdfs-site.xml、mapred-site.xml和yarn-site.xml等配置文件。</a:t>
            </a:r>
            <a:endParaRPr lang="en-US" sz="1800" b="0" dirty="0">
              <a:latin typeface="Wingdings" panose="05000000000000000000" charset="0"/>
              <a:ea typeface="等线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Wingdings" panose="05000000000000000000" charset="0"/>
                <a:ea typeface="等线" panose="02010600030101010101" pitchFamily="2" charset="-122"/>
              </a:rPr>
              <a:t>	l </a:t>
            </a:r>
            <a:r>
              <a:rPr lang="zh-CN" sz="1800" b="0" dirty="0">
                <a:ea typeface="等线" panose="02010600030101010101" pitchFamily="2" charset="-122"/>
                <a:cs typeface="Times New Roman" panose="02020603050405020304" pitchFamily="18" charset="0"/>
              </a:rPr>
              <a:t>include：对外提供的编程库头文件（具体的动态库和静态库在lib目录中），这些文件都是用C++定义的，通常用于C++程序访问HDFS或者编写MapReduce程序。</a:t>
            </a:r>
            <a:endParaRPr lang="en-US" sz="1800" b="0" dirty="0">
              <a:latin typeface="Wingdings" panose="05000000000000000000" charset="0"/>
              <a:ea typeface="等线" panose="02010600030101010101" pitchFamily="2" charset="-122"/>
            </a:endParaRPr>
          </a:p>
          <a:p>
            <a:endParaRPr lang="zh-CN" alt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2.5.2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安装Hadoop软件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1930" y="1056640"/>
            <a:ext cx="8740140" cy="3340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Wingdings" panose="05000000000000000000" charset="0"/>
                <a:ea typeface="等线" panose="02010600030101010101" pitchFamily="2" charset="-122"/>
                <a:sym typeface="+mn-ea"/>
              </a:rPr>
              <a:t>	l 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lib：包含了Hadoop对外提供的编程动态库和静态库，与include目录中的头文件结合使用。</a:t>
            </a:r>
            <a:endParaRPr lang="en-US" sz="1800" dirty="0">
              <a:latin typeface="Wingdings" panose="05000000000000000000" charset="0"/>
              <a:ea typeface="等线" panose="02010600030101010101" pitchFamily="2" charset="-122"/>
              <a:sym typeface="+mn-ea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Wingdings" panose="05000000000000000000" charset="0"/>
                <a:ea typeface="等线" panose="02010600030101010101" pitchFamily="2" charset="-122"/>
                <a:sym typeface="+mn-ea"/>
              </a:rPr>
              <a:t>	l 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libexec：各个服务对应的shell配置文件所在的目录，可用于配置日志输出目录、启动参数（比如JVM参数）等基本信息。</a:t>
            </a:r>
            <a:endParaRPr lang="en-US" sz="1800" dirty="0">
              <a:latin typeface="Wingdings" panose="05000000000000000000" charset="0"/>
              <a:ea typeface="等线" panose="02010600030101010101" pitchFamily="2" charset="-122"/>
              <a:sym typeface="+mn-ea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Wingdings" panose="05000000000000000000" charset="0"/>
                <a:ea typeface="等线" panose="02010600030101010101" pitchFamily="2" charset="-122"/>
                <a:sym typeface="+mn-ea"/>
              </a:rPr>
              <a:t>	l 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sbin：Hadoop管理脚本所在目录，主要包含HDFS和YARN中各类服务启动/关闭的脚本。</a:t>
            </a:r>
            <a:endParaRPr lang="en-US" sz="1800" dirty="0">
              <a:latin typeface="Wingdings" panose="05000000000000000000" charset="0"/>
              <a:ea typeface="等线" panose="02010600030101010101" pitchFamily="2" charset="-122"/>
              <a:sym typeface="+mn-ea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Wingdings" panose="05000000000000000000" charset="0"/>
                <a:ea typeface="等线" panose="02010600030101010101" pitchFamily="2" charset="-122"/>
                <a:sym typeface="+mn-ea"/>
              </a:rPr>
              <a:t>	l 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share：Hadoop各个模块编译后的Jar包所在目录，这个目录中也包含了Hadoop文档</a:t>
            </a:r>
            <a:r>
              <a:rPr lang="zh-CN" sz="1800" dirty="0">
                <a:ea typeface="等线" panose="02010600030101010101" pitchFamily="2" charset="-122"/>
                <a:sym typeface="+mn-ea"/>
              </a:rPr>
              <a:t>和官方案例。</a:t>
            </a:r>
            <a:endParaRPr lang="zh-CN" altLang="en-US" sz="1800" dirty="0"/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2.5.3配置SSH免密登录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47345" y="1311910"/>
            <a:ext cx="8449310" cy="150419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Wingdings" panose="05000000000000000000" charset="0"/>
                <a:ea typeface="等线" panose="02010600030101010101" pitchFamily="2" charset="-122"/>
              </a:rPr>
              <a:t>  </a:t>
            </a:r>
            <a:r>
              <a:rPr sz="1800" dirty="0" err="1">
                <a:ea typeface="等线" panose="02010600030101010101" pitchFamily="2" charset="-122"/>
                <a:sym typeface="+mn-ea"/>
              </a:rPr>
              <a:t>在“伪分布模式“下虽然只有一台主机，但也需要配置SSH免密登录</a:t>
            </a:r>
            <a:r>
              <a:rPr sz="1800" dirty="0">
                <a:ea typeface="等线" panose="02010600030101010101" pitchFamily="2" charset="-122"/>
                <a:sym typeface="+mn-ea"/>
              </a:rPr>
              <a:t>。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a typeface="等线" panose="02010600030101010101" pitchFamily="2" charset="-122"/>
                <a:sym typeface="+mn-ea"/>
              </a:rPr>
              <a:t>            </a:t>
            </a:r>
            <a:r>
              <a:rPr sz="1800" dirty="0">
                <a:ea typeface="等线" panose="02010600030101010101" pitchFamily="2" charset="-122"/>
                <a:sym typeface="+mn-ea"/>
              </a:rPr>
              <a:t>$ </a:t>
            </a:r>
            <a:r>
              <a:rPr sz="1800" dirty="0" err="1">
                <a:ea typeface="等线" panose="02010600030101010101" pitchFamily="2" charset="-122"/>
                <a:sym typeface="+mn-ea"/>
              </a:rPr>
              <a:t>ssh</a:t>
            </a:r>
            <a:r>
              <a:rPr sz="1800" dirty="0">
                <a:ea typeface="等线" panose="02010600030101010101" pitchFamily="2" charset="-122"/>
                <a:sym typeface="+mn-ea"/>
              </a:rPr>
              <a:t>-keygen -t </a:t>
            </a:r>
            <a:r>
              <a:rPr sz="1800" dirty="0" err="1">
                <a:ea typeface="等线" panose="02010600030101010101" pitchFamily="2" charset="-122"/>
                <a:sym typeface="+mn-ea"/>
              </a:rPr>
              <a:t>rsa</a:t>
            </a:r>
            <a:endParaRPr sz="1800" dirty="0">
              <a:ea typeface="等线" panose="02010600030101010101" pitchFamily="2" charset="-122"/>
              <a:sym typeface="+mn-ea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a typeface="等线" panose="02010600030101010101" pitchFamily="2" charset="-122"/>
                <a:sym typeface="+mn-ea"/>
              </a:rPr>
              <a:t>            </a:t>
            </a:r>
            <a:r>
              <a:rPr sz="1800" dirty="0">
                <a:ea typeface="等线" panose="02010600030101010101" pitchFamily="2" charset="-122"/>
                <a:sym typeface="+mn-ea"/>
              </a:rPr>
              <a:t>$ </a:t>
            </a:r>
            <a:r>
              <a:rPr sz="1800" dirty="0" err="1">
                <a:ea typeface="等线" panose="02010600030101010101" pitchFamily="2" charset="-122"/>
                <a:sym typeface="+mn-ea"/>
              </a:rPr>
              <a:t>ssh</a:t>
            </a:r>
            <a:r>
              <a:rPr sz="1800" dirty="0">
                <a:ea typeface="等线" panose="02010600030101010101" pitchFamily="2" charset="-122"/>
                <a:sym typeface="+mn-ea"/>
              </a:rPr>
              <a:t>-copy-id localhost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a typeface="等线" panose="02010600030101010101" pitchFamily="2" charset="-122"/>
                <a:sym typeface="+mn-ea"/>
              </a:rPr>
              <a:t>     </a:t>
            </a:r>
            <a:r>
              <a:rPr sz="1800" dirty="0" err="1">
                <a:ea typeface="等线" panose="02010600030101010101" pitchFamily="2" charset="-122"/>
                <a:sym typeface="+mn-ea"/>
              </a:rPr>
              <a:t>执行完上述两条命令后，输入“SSH</a:t>
            </a:r>
            <a:r>
              <a:rPr sz="1800" dirty="0">
                <a:ea typeface="等线" panose="02010600030101010101" pitchFamily="2" charset="-122"/>
                <a:sym typeface="+mn-ea"/>
              </a:rPr>
              <a:t> </a:t>
            </a:r>
            <a:r>
              <a:rPr sz="1800" dirty="0" err="1">
                <a:ea typeface="等线" panose="02010600030101010101" pitchFamily="2" charset="-122"/>
                <a:sym typeface="+mn-ea"/>
              </a:rPr>
              <a:t>localhost”测试是否可以免密登录成功</a:t>
            </a:r>
            <a:r>
              <a:rPr sz="1800" dirty="0">
                <a:ea typeface="等线" panose="02010600030101010101" pitchFamily="2" charset="-122"/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2.5.4配置Hadoop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-62230" y="1010920"/>
            <a:ext cx="8942070" cy="7841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在Hadoop安装目录下的etc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hadoop子目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（$HADOOP_HOME/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/hadoop）中存放Hadoop的配置文件，主要涉及7个配置文件，</a:t>
            </a:r>
            <a:r>
              <a:rPr lang="zh-CN"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下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表是相关的配置文件及功能简介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20470" y="1795109"/>
            <a:ext cx="5080000" cy="3077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en-US" sz="1400" b="0" dirty="0">
                <a:latin typeface="等线" panose="02010600030101010101" pitchFamily="2" charset="-122"/>
              </a:rPr>
              <a:t>Had</a:t>
            </a:r>
            <a:r>
              <a:rPr lang="en-US" sz="1400" b="0" dirty="0">
                <a:latin typeface="等线" panose="02010600030101010101" pitchFamily="2" charset="-122"/>
                <a:cs typeface="Times New Roman" panose="02020603050405020304" pitchFamily="18" charset="0"/>
              </a:rPr>
              <a:t>oop</a:t>
            </a:r>
            <a:r>
              <a:rPr lang="zh-CN" sz="1400" b="0" dirty="0">
                <a:ea typeface="等线" panose="02010600030101010101" pitchFamily="2" charset="-122"/>
              </a:rPr>
              <a:t>主要配置文件</a:t>
            </a:r>
            <a:endParaRPr lang="zh-CN" altLang="en-US" sz="1400" dirty="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5824274"/>
              </p:ext>
            </p:extLst>
          </p:nvPr>
        </p:nvGraphicFramePr>
        <p:xfrm>
          <a:off x="1153795" y="2140249"/>
          <a:ext cx="5853430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3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57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配置文件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功能简介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hadoop-env.sh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配置Hadoop运行所需的环境变量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core-site.xml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Hadoop核心全局配置文件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hdfs-site.xml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HDFS配置文件，继承core-site.xml配置文件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mapred-site.xml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MapReduce配置文件，继承core-site.xml配置文件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yarn-site.xml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Yarn配置文件，继承core-site.xml配置文件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yarn-env.h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配置YARN运行所需的环境变量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workers</a:t>
                      </a:r>
                      <a:endParaRPr lang="en-US" altLang="en-US" sz="1400" b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 dirty="0" err="1">
                          <a:latin typeface="等线" panose="02010600030101010101" pitchFamily="2" charset="-122"/>
                          <a:ea typeface="等线" panose="02010600030101010101" pitchFamily="2" charset="-122"/>
                          <a:cs typeface="等线" panose="02010600030101010101" pitchFamily="2" charset="-122"/>
                        </a:rPr>
                        <a:t>配置在Hadoop中有哪些DataNode节点</a:t>
                      </a:r>
                      <a:endParaRPr lang="en-US" altLang="en-US" sz="1400" b="0" dirty="0">
                        <a:latin typeface="等线" panose="02010600030101010101" pitchFamily="2" charset="-122"/>
                        <a:ea typeface="等线" panose="02010600030101010101" pitchFamily="2" charset="-122"/>
                        <a:cs typeface="等线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35305" y="3910290"/>
            <a:ext cx="7868920" cy="10679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266700" algn="l">
              <a:lnSpc>
                <a:spcPct val="120000"/>
              </a:lnSpc>
            </a:pPr>
            <a:r>
              <a:rPr lang="zh-CN" sz="1800" dirty="0">
                <a:ea typeface="等线" panose="02010600030101010101" pitchFamily="2" charset="-122"/>
                <a:sym typeface="+mn-ea"/>
              </a:rPr>
              <a:t>在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“伪分布模式“下，需要修改h</a:t>
            </a:r>
            <a:r>
              <a:rPr lang="en-US" sz="18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adoop-env.sh</a:t>
            </a:r>
            <a:r>
              <a:rPr lang="zh-CN" sz="1800" dirty="0">
                <a:ea typeface="等线" panose="02010600030101010101" pitchFamily="2" charset="-122"/>
                <a:sym typeface="+mn-ea"/>
              </a:rPr>
              <a:t>、</a:t>
            </a:r>
            <a:r>
              <a:rPr lang="en-US" sz="18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core</a:t>
            </a:r>
            <a:r>
              <a:rPr lang="en-US" sz="1800" dirty="0">
                <a:latin typeface="等线" panose="02010600030101010101" pitchFamily="2" charset="-122"/>
                <a:sym typeface="+mn-ea"/>
              </a:rPr>
              <a:t>-</a:t>
            </a:r>
            <a:r>
              <a:rPr lang="en-US" sz="18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site.xml</a:t>
            </a:r>
            <a:r>
              <a:rPr lang="zh-CN" sz="1800" dirty="0">
                <a:ea typeface="等线" panose="02010600030101010101" pitchFamily="2" charset="-122"/>
                <a:sym typeface="+mn-ea"/>
              </a:rPr>
              <a:t>、</a:t>
            </a:r>
          </a:p>
          <a:p>
            <a:pPr indent="266700" algn="l">
              <a:lnSpc>
                <a:spcPct val="120000"/>
              </a:lnSpc>
            </a:pPr>
            <a:r>
              <a:rPr lang="en-US" sz="18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hdfs-site.xml</a:t>
            </a:r>
            <a:r>
              <a:rPr lang="zh-CN" sz="1800" dirty="0">
                <a:ea typeface="等线" panose="02010600030101010101" pitchFamily="2" charset="-122"/>
                <a:sym typeface="+mn-ea"/>
              </a:rPr>
              <a:t>、</a:t>
            </a:r>
            <a:r>
              <a:rPr lang="en-US" sz="1800" dirty="0">
                <a:latin typeface="等线" panose="02010600030101010101" pitchFamily="2" charset="-122"/>
                <a:cs typeface="Times New Roman" panose="02020603050405020304" pitchFamily="18" charset="0"/>
                <a:sym typeface="+mn-ea"/>
              </a:rPr>
              <a:t>mapred-site.xml</a:t>
            </a:r>
            <a:r>
              <a:rPr lang="zh-CN" sz="1800" dirty="0">
                <a:ea typeface="等线" panose="02010600030101010101" pitchFamily="2" charset="-122"/>
                <a:sym typeface="+mn-ea"/>
              </a:rPr>
              <a:t>和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yarn-site.xml五个配置文件</a:t>
            </a:r>
            <a:r>
              <a:rPr lang="zh-CN" altLang="en-US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，具体配置方法参看教材</a:t>
            </a:r>
            <a:r>
              <a:rPr lang="en-US" alt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2.5.4</a:t>
            </a:r>
            <a:r>
              <a:rPr lang="zh-CN" altLang="en-US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节</a:t>
            </a:r>
            <a:r>
              <a:rPr lang="zh-CN" sz="1800" dirty="0"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800" dirty="0"/>
          </a:p>
        </p:txBody>
      </p:sp>
    </p:spTree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启动Hadoop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01930" y="943610"/>
            <a:ext cx="8740140" cy="34217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latin typeface="Wingdings" panose="05000000000000000000" charset="0"/>
                <a:ea typeface="等线" panose="02010600030101010101" pitchFamily="2" charset="-122"/>
              </a:rPr>
              <a:t>  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1.格式化NameNode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首次启动HDFS系统时，必须对主节点进行格式化处理，命令如下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hdfs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namenode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-format 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2.启动Hadoop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	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start-dfs.sh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	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start-yarn.sh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(</a:t>
            </a:r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提示：也可以使用start-all.sh命令一次性启动HDFS和YARN集群，以及使用stop-all.sh命令关闭集群</a:t>
            </a:r>
            <a:r>
              <a:rPr sz="18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</a:t>
            </a: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</a:t>
            </a:r>
            <a:endParaRPr sz="20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99085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2.5.5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启动Hadoop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01930" y="943610"/>
            <a:ext cx="8740140" cy="37049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latin typeface="Wingdings" panose="05000000000000000000" charset="0"/>
                <a:ea typeface="等线" panose="02010600030101010101" pitchFamily="2" charset="-122"/>
              </a:rPr>
              <a:t>  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3.执行 </a:t>
            </a:r>
            <a:r>
              <a:rPr sz="2000" b="1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jps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r>
              <a:rPr sz="2000" b="1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验证集群是否启动成功</a:t>
            </a:r>
            <a:endParaRPr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	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执行jps后，如果显示以下几个进程，说明启动成功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DataNode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SecondaryNameNode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NameNode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NodeManager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800100" lvl="1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ResourceManager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（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提示：如果Hadoop集群启动失败，可以查看hadoop安装目录下的logs目录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（/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/local/servers/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logs）中的日志文件，分析失败的原因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。）</a:t>
            </a:r>
            <a:endParaRPr sz="18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 </a:t>
            </a:r>
            <a:endParaRPr sz="2000" b="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5149150" cy="13831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50110" y="1485265"/>
            <a:ext cx="54857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构建“完全分布式” 集群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  <a:sym typeface="+mn-ea"/>
              </a:rPr>
              <a:t>2.6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50110" y="2543175"/>
            <a:ext cx="5253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配置Hadoop集群的主节点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将配置文件发送到从节点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2.6</a:t>
            </a:r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构建“完全分布式”Hadoop集群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92735" y="1198245"/>
            <a:ext cx="8331835" cy="2891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lang="en-US" sz="200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“完全分布模式”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（Fully-Distributed Mode）的Hadoop集群的结构如2.3节的图 “三台Linux虚拟机组成的Hadoop集群示意图”所示。</a:t>
            </a:r>
          </a:p>
          <a:p>
            <a:pPr indent="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为了在多台Linux主机组成的Hadoop集群上协调运行Hadoop系统，需要对相关的配置文件进行较为复杂的修改，可以参考Apache官网上Hadoop 3配置的参考文档：http://hadoop.apache.org/docs/current3/hadoop-project-dist/hadoop-common/ClusterSetup.html。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2.6.1</a:t>
            </a:r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配置Hadoop集群的主节点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29235" y="889000"/>
            <a:ext cx="8331835" cy="262469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我们将虚拟机Node01作为Hadoop集群的主节点（Master），将Node02和Node03作为从节点（Slaver），首先在主节点Node01上进行Hadoop的配置，然后把配置文件拷贝到从节点中。</a:t>
            </a:r>
          </a:p>
          <a:p>
            <a:pPr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在Node01上首先要安装和配置JDK和Hadoop软件，方法与2.5节中“伪分布模式”下的安装与配置方法完成一样，不再赘述。</a:t>
            </a:r>
          </a:p>
          <a:p>
            <a:pPr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修改Hadoop-env.sh文件</a:t>
            </a:r>
          </a:p>
          <a:p>
            <a:pPr indent="266700" algn="l">
              <a:lnSpc>
                <a:spcPct val="130000"/>
              </a:lnSpc>
              <a:buClrTx/>
              <a:buSzTx/>
              <a:buFontTx/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在“完全分布”模式下，Hadoop-env.sh文件的内容与“伪分布”模式相同</a:t>
            </a: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2.6.1</a:t>
            </a:r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配置Hadoop集群的主节点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10820" y="897890"/>
            <a:ext cx="8331835" cy="366183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2.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修改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core-site.xml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文件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</a:p>
          <a:p>
            <a:pPr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3.修改hdfs-site.xml文件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4.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修改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yarn-site.xml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文件</a:t>
            </a:r>
            <a:endParaRPr lang="en-US" altLang="zh-CN" sz="2000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5.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修改</a:t>
            </a:r>
            <a:r>
              <a:rPr lang="en-US" altLang="zh-CN" sz="2000" dirty="0">
                <a:latin typeface="等线" panose="02010600030101010101" pitchFamily="2" charset="-122"/>
                <a:cs typeface="等线" panose="02010600030101010101" pitchFamily="2" charset="-122"/>
              </a:rPr>
              <a:t>mapred-site.xml</a:t>
            </a:r>
            <a:r>
              <a:rPr lang="zh-CN" altLang="en-US" sz="2000" dirty="0">
                <a:latin typeface="等线" panose="02010600030101010101" pitchFamily="2" charset="-122"/>
                <a:cs typeface="等线" panose="02010600030101010101" pitchFamily="2" charset="-122"/>
              </a:rPr>
              <a:t>文件</a:t>
            </a:r>
            <a:endParaRPr lang="en-US" altLang="zh-CN" sz="2000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endParaRPr lang="en-US" altLang="zh-CN" sz="2000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zh-CN" altLang="en-US" sz="2000" dirty="0">
                <a:cs typeface="Times New Roman" panose="02020603050405020304" pitchFamily="18" charset="0"/>
                <a:sym typeface="+mn-ea"/>
              </a:rPr>
              <a:t>由于文件的内容较多，具体细节可参看教材</a:t>
            </a:r>
            <a:r>
              <a:rPr lang="en-US" altLang="zh-CN" sz="2000" dirty="0">
                <a:cs typeface="Times New Roman" panose="02020603050405020304" pitchFamily="18" charset="0"/>
                <a:sym typeface="+mn-ea"/>
              </a:rPr>
              <a:t>2.5.5</a:t>
            </a:r>
            <a:r>
              <a:rPr lang="zh-CN" altLang="en-US" sz="2000" dirty="0">
                <a:cs typeface="Times New Roman" panose="02020603050405020304" pitchFamily="18" charset="0"/>
                <a:sym typeface="+mn-ea"/>
              </a:rPr>
              <a:t>节</a:t>
            </a:r>
            <a:r>
              <a:rPr lang="zh-CN" altLang="zh-CN" sz="2000" dirty="0"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000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endParaRPr lang="zh-CN" altLang="en-US" sz="2000" b="1" dirty="0">
              <a:latin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endParaRPr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 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2.6.1</a:t>
            </a:r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配置Hadoop集群的主节点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01930" y="853440"/>
            <a:ext cx="8331835" cy="41050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6.修改workers文件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该文件用于配置在Hadoop中有哪些DataNode节点（在“完全分布”模式下有三个DataNode节点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），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编辑该文件并输入以下内容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>
              <a:lnSpc>
                <a:spcPct val="130000"/>
              </a:lnSpc>
            </a:pPr>
            <a:r>
              <a:rPr sz="16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Node01</a:t>
            </a:r>
            <a:endParaRPr lang="en-US" sz="160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16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Node02</a:t>
            </a:r>
            <a:endParaRPr lang="en-US" sz="160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16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Node03</a:t>
            </a:r>
            <a:endParaRPr sz="16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7.创建配置文件中相关的文件夹</a:t>
            </a:r>
          </a:p>
          <a:p>
            <a:pPr lvl="1"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用“mkdir”命令创建相关的文件夹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tmp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tmp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nndata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tmp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dndata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2.6.2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将配置文件发送到从节点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9565" y="1125855"/>
            <a:ext cx="8331835" cy="2891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完成主节点Node01的配置后，将已经安装的JDK、Hadoop文件和配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置文件发送到从节点Node02和Node03中，命令如下：</a:t>
            </a:r>
          </a:p>
          <a:p>
            <a:pPr lvl="1"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scp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/profile Node02:/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/profile</a:t>
            </a:r>
          </a:p>
          <a:p>
            <a:pPr lvl="1"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scp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/profile Node03:/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/profile</a:t>
            </a:r>
          </a:p>
          <a:p>
            <a:pPr lvl="1"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scp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-r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Node02:/</a:t>
            </a:r>
            <a:r>
              <a:rPr lang="en-US" sz="200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endParaRPr sz="20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scp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-r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 </a:t>
            </a:r>
            <a:r>
              <a:rPr sz="20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Node03:/</a:t>
            </a:r>
            <a:r>
              <a:rPr lang="en-US" sz="200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endParaRPr sz="20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拷贝完成后，分别在Node02和Node03上执行“source /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/profile”。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4167679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50110" y="1485265"/>
            <a:ext cx="6818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测试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集群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  <a:sym typeface="+mn-ea"/>
              </a:rPr>
              <a:t>2.7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50110" y="2543175"/>
            <a:ext cx="5253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测试HDFS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测试WordCount程序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测试HDFS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0" y="842010"/>
            <a:ext cx="9079230" cy="366497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1"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1.格式化HDFS文件系统</a:t>
            </a:r>
          </a:p>
          <a:p>
            <a:pPr lvl="1"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首次启动HDFS系统时，必须对主节点进行格式化处理，命令如下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lvl="1" indent="266700">
              <a:lnSpc>
                <a:spcPct val="130000"/>
              </a:lnSpc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hdfs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namenode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-format</a:t>
            </a:r>
          </a:p>
          <a:p>
            <a:pPr lvl="1"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2.启动Hadoop集群</a:t>
            </a:r>
          </a:p>
          <a:p>
            <a:pPr lvl="1"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start-dfs.sh</a:t>
            </a: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</a:p>
          <a:p>
            <a:pPr lvl="1" indent="266700">
              <a:lnSpc>
                <a:spcPct val="130000"/>
              </a:lnSpc>
            </a:pPr>
            <a:r>
              <a:rPr lang="en-US" altLang="zh-CN"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start-yarn.sh</a:t>
            </a: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(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提示：也可以使用start-all.sh命令一次性启动HDFS和YARN集群，以及使用stop-all.sh命令关闭集群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）</a:t>
            </a: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启动成功后，在主节点Node01中使用jps命令可以看到启动了NodeManager、DataNode、ResourceManager和NameNode进程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，如下左图所示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测试HDFS</a:t>
            </a:r>
          </a:p>
        </p:txBody>
      </p:sp>
      <p:pic>
        <p:nvPicPr>
          <p:cNvPr id="26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66" y="1121410"/>
            <a:ext cx="4062344" cy="21932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8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274" y="1112521"/>
            <a:ext cx="3868061" cy="21932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1" name="文本框 100"/>
          <p:cNvSpPr txBox="1"/>
          <p:nvPr/>
        </p:nvSpPr>
        <p:spPr>
          <a:xfrm>
            <a:off x="835025" y="3494405"/>
            <a:ext cx="3067684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en-US" sz="1200" b="0" dirty="0">
                <a:latin typeface="等线" panose="02010600030101010101" pitchFamily="2" charset="-122"/>
              </a:rPr>
              <a:t>H</a:t>
            </a:r>
            <a:r>
              <a:rPr lang="en-US" sz="1200" b="0" dirty="0">
                <a:latin typeface="等线" panose="02010600030101010101" pitchFamily="2" charset="-122"/>
                <a:cs typeface="Times New Roman" panose="02020603050405020304" pitchFamily="18" charset="0"/>
              </a:rPr>
              <a:t>adoop</a:t>
            </a:r>
            <a:r>
              <a:rPr lang="zh-CN" sz="1200" b="0" dirty="0">
                <a:ea typeface="等线" panose="02010600030101010101" pitchFamily="2" charset="-122"/>
              </a:rPr>
              <a:t>集群启动信息示意图</a:t>
            </a:r>
            <a:endParaRPr lang="zh-CN" altLang="en-US" sz="1200" dirty="0"/>
          </a:p>
        </p:txBody>
      </p:sp>
      <p:sp>
        <p:nvSpPr>
          <p:cNvPr id="2" name="文本框 1"/>
          <p:cNvSpPr txBox="1"/>
          <p:nvPr/>
        </p:nvSpPr>
        <p:spPr>
          <a:xfrm>
            <a:off x="5559425" y="3494405"/>
            <a:ext cx="3016250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en-US" sz="1100" b="0" dirty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sz="1200" b="0" dirty="0">
                <a:ea typeface="等线" panose="02010600030101010101" pitchFamily="2" charset="-122"/>
              </a:rPr>
              <a:t>从节点启动的</a:t>
            </a:r>
            <a:r>
              <a:rPr lang="en-US" sz="1200" b="0" dirty="0">
                <a:latin typeface="等线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sz="1200" b="0" dirty="0">
                <a:ea typeface="等线" panose="02010600030101010101" pitchFamily="2" charset="-122"/>
              </a:rPr>
              <a:t>进程示意图</a:t>
            </a:r>
            <a:endParaRPr lang="zh-CN" altLang="en-US" sz="1200" dirty="0"/>
          </a:p>
        </p:txBody>
      </p:sp>
      <p:sp>
        <p:nvSpPr>
          <p:cNvPr id="3" name="文本框 2"/>
          <p:cNvSpPr txBox="1"/>
          <p:nvPr/>
        </p:nvSpPr>
        <p:spPr>
          <a:xfrm>
            <a:off x="283845" y="3880485"/>
            <a:ext cx="8695690" cy="118096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ea typeface="等线" panose="02010600030101010101" pitchFamily="2" charset="-122"/>
              </a:rPr>
              <a:t> </a:t>
            </a:r>
            <a:r>
              <a:rPr lang="zh-CN" sz="1800" b="0" dirty="0">
                <a:ea typeface="等线" panose="02010600030101010101" pitchFamily="2" charset="-122"/>
              </a:rPr>
              <a:t>与此同时，在从节点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Node02</a:t>
            </a:r>
            <a:r>
              <a:rPr lang="zh-CN" sz="1800" b="0" dirty="0">
                <a:ea typeface="等线" panose="02010600030101010101" pitchFamily="2" charset="-122"/>
              </a:rPr>
              <a:t>和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Node03</a:t>
            </a:r>
            <a:r>
              <a:rPr lang="zh-CN" sz="1800" b="0" dirty="0">
                <a:ea typeface="等线" panose="02010600030101010101" pitchFamily="2" charset="-122"/>
              </a:rPr>
              <a:t>会自动启动</a:t>
            </a:r>
            <a:r>
              <a:rPr lang="en-US" sz="18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zh-CN" sz="1800" b="0" dirty="0">
                <a:ea typeface="等线" panose="02010600030101010101" pitchFamily="2" charset="-122"/>
              </a:rPr>
              <a:t>、</a:t>
            </a:r>
            <a:r>
              <a:rPr lang="en-US" sz="18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NodeManager</a:t>
            </a:r>
            <a:r>
              <a:rPr lang="zh-CN" sz="1800" b="0" dirty="0">
                <a:ea typeface="等线" panose="02010600030101010101" pitchFamily="2" charset="-122"/>
              </a:rPr>
              <a:t>进程，而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Node02</a:t>
            </a:r>
            <a:r>
              <a:rPr lang="zh-CN" sz="1800" b="0" dirty="0">
                <a:ea typeface="等线" panose="02010600030101010101" pitchFamily="2" charset="-122"/>
              </a:rPr>
              <a:t>主机比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Node0</a:t>
            </a:r>
            <a:r>
              <a:rPr lang="zh-CN" sz="1800" b="0" dirty="0">
                <a:ea typeface="等线" panose="02010600030101010101" pitchFamily="2" charset="-122"/>
              </a:rPr>
              <a:t>3会多启动一个</a:t>
            </a:r>
            <a:r>
              <a:rPr lang="en-US" sz="18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SecondaryNameNode</a:t>
            </a:r>
            <a:r>
              <a:rPr lang="zh-CN" sz="1800" b="0" dirty="0">
                <a:ea typeface="等线" panose="02010600030101010101" pitchFamily="2" charset="-122"/>
              </a:rPr>
              <a:t>进程，在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Node02</a:t>
            </a:r>
            <a:r>
              <a:rPr lang="zh-CN" sz="1800" b="0" dirty="0">
                <a:ea typeface="等线" panose="02010600030101010101" pitchFamily="2" charset="-122"/>
              </a:rPr>
              <a:t>上执行</a:t>
            </a:r>
            <a:r>
              <a:rPr lang="en-US" sz="18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jps</a:t>
            </a:r>
            <a:r>
              <a:rPr lang="zh-CN" sz="1800" b="0" dirty="0">
                <a:ea typeface="等线" panose="02010600030101010101" pitchFamily="2" charset="-122"/>
              </a:rPr>
              <a:t>命令后的结果如上右图所示</a:t>
            </a:r>
            <a:r>
              <a:rPr lang="zh-CN" sz="2000" b="0" dirty="0">
                <a:ea typeface="等线" panose="02010600030101010101" pitchFamily="2" charset="-122"/>
              </a:rPr>
              <a:t>。</a:t>
            </a:r>
            <a:endParaRPr lang="zh-CN" alt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测试HDFS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4770" y="864167"/>
            <a:ext cx="9079230" cy="170758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3.通过浏览器查看Hadoop运行状态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Hadoop集群启动成功后，可以用浏览器访问主节点Node01的9870和8088两个端口，分别查看HDFS集群和YARN集群的运行状态。（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提示：必须关闭Linux主机的防火墙，参考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2.3.4节）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6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通过http</a:t>
            </a:r>
            <a:r>
              <a:rPr sz="16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://192.168.18.201:9870和http://192.168.18.201:8088，可以看到HDFS集群和YARN集群的UI窗口。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FBD26A-B824-4231-9C88-4869B90657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85030" y="2777558"/>
            <a:ext cx="4184015" cy="19595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1ED56A-A944-4A08-A83F-94D99D3C845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1875" y="2524125"/>
            <a:ext cx="3178175" cy="24542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2.7.1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测试HDFS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09855" y="1122045"/>
            <a:ext cx="3452495" cy="1864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4.测试HDFS文件操作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HDFS文件操作命令格式为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hdfs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dfs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&lt;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参数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&gt;，</a:t>
            </a:r>
          </a:p>
          <a:p>
            <a:pPr indent="266700">
              <a:lnSpc>
                <a:spcPct val="130000"/>
              </a:lnSpc>
            </a:pP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右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表是HDFS文件操作命令示例和相关说明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4685030" y="822960"/>
            <a:ext cx="1915795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en-US" sz="1100" b="0" dirty="0">
                <a:latin typeface="等线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sz="1100" b="0" dirty="0">
                <a:ea typeface="等线" panose="02010600030101010101" pitchFamily="2" charset="-122"/>
              </a:rPr>
              <a:t>文件操作命令示例</a:t>
            </a:r>
            <a:endParaRPr lang="zh-CN" altLang="en-US" sz="11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310" y="1122045"/>
            <a:ext cx="6459855" cy="38957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2.7.2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测试WordCount程序</a:t>
            </a:r>
            <a:endParaRPr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85750" y="1221740"/>
            <a:ext cx="3437890" cy="2249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Hadoop自带的MapReduce示例程序保存在Hadoop安装目录中的share/hadoop/mapreduce目录中。进入该目录，可以看到该目录下有若干个用java语言编写的示例程序，如图所示。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505" y="1365885"/>
            <a:ext cx="4381500" cy="2105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3342640" y="3567430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lang="en-US" sz="1000" b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000" b="0"/>
              <a:t>Hadoop官方示例程序</a:t>
            </a:r>
            <a:endParaRPr sz="1000"/>
          </a:p>
        </p:txBody>
      </p:sp>
    </p:spTree>
  </p:cSld>
  <p:clrMapOvr>
    <a:masterClrMapping/>
  </p:clrMapOvr>
  <p:transition spd="slow">
    <p:push dir="u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2.7.2测试WordCount程序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4770" y="1069975"/>
            <a:ext cx="9079230" cy="33286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使用hadoop-mapreduce-examples-3.3.0.jar程序进行单词个数统计的演示。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（1）运行hadoop-mapreduce-examples-3.3.0.jar程序：</a:t>
            </a:r>
          </a:p>
          <a:p>
            <a:pPr lvl="1"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cd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/share/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mapreduce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hadoop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jar hadoop-mapreduce-examples-3.3.0.jar wordcount /in /output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说明：HDFS的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/in目录中已经有test1.txt和test2.txt两个文件，执行上面的命令，会自动读取这两个文件作为程序的输入，执行完成后的结果存放在HDFS的/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output目录中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（2）验证运行结果</a:t>
            </a:r>
          </a:p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运行MapReduce示例程序成功后，可以看到HDFS文件系统中多了一个目录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“/output”，保存有单词统计结果文件“part-r-00000”，以及执行标识文件_SUCCESS，如</a:t>
            </a:r>
            <a:r>
              <a:rPr 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下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图所示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2.7.2测试WordCount程序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5860" y="2962910"/>
            <a:ext cx="5080000" cy="27699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en-US" sz="1200" b="0" dirty="0">
                <a:latin typeface="等线" panose="02010600030101010101" pitchFamily="2" charset="-122"/>
              </a:rPr>
              <a:t>Ma</a:t>
            </a:r>
            <a:r>
              <a:rPr lang="en-US" sz="1200" b="0" dirty="0">
                <a:latin typeface="等线" panose="02010600030101010101" pitchFamily="2" charset="-122"/>
                <a:cs typeface="Times New Roman" panose="02020603050405020304" pitchFamily="18" charset="0"/>
              </a:rPr>
              <a:t>pReduce</a:t>
            </a:r>
            <a:r>
              <a:rPr lang="zh-CN" sz="1200" b="0" dirty="0">
                <a:ea typeface="等线" panose="02010600030101010101" pitchFamily="2" charset="-122"/>
              </a:rPr>
              <a:t>示例程序运行结果示意图</a:t>
            </a:r>
            <a:endParaRPr lang="zh-CN" altLang="en-US" sz="1200" dirty="0"/>
          </a:p>
        </p:txBody>
      </p:sp>
      <p:sp>
        <p:nvSpPr>
          <p:cNvPr id="3" name="文本框 2"/>
          <p:cNvSpPr txBox="1"/>
          <p:nvPr/>
        </p:nvSpPr>
        <p:spPr>
          <a:xfrm>
            <a:off x="530225" y="3362325"/>
            <a:ext cx="7848600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1800" b="0" dirty="0">
                <a:ea typeface="等线" panose="02010600030101010101" pitchFamily="2" charset="-122"/>
              </a:rPr>
              <a:t>输入命令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sz="1800" b="0" dirty="0">
                <a:latin typeface="等线" panose="02010600030101010101" pitchFamily="2" charset="-122"/>
                <a:cs typeface="Times New Roman" panose="02020603050405020304" pitchFamily="18" charset="0"/>
              </a:rPr>
              <a:t> -cat /output/part-r-00000</a:t>
            </a:r>
            <a:r>
              <a:rPr lang="zh-CN" sz="1800" b="0" dirty="0">
                <a:ea typeface="等线" panose="02010600030101010101" pitchFamily="2" charset="-122"/>
              </a:rPr>
              <a:t>”，可以看到该文件内容为：</a:t>
            </a:r>
            <a:endParaRPr lang="zh-CN" altLang="en-US" sz="1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3826510"/>
            <a:ext cx="5581650" cy="971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85" y="972185"/>
            <a:ext cx="4552950" cy="19907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87425" y="4659560"/>
            <a:ext cx="6299835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1200" b="1" dirty="0">
                <a:ea typeface="等线" panose="02010600030101010101" pitchFamily="2" charset="-122"/>
              </a:rPr>
              <a:t>提示：</a:t>
            </a:r>
            <a:r>
              <a:rPr lang="zh-CN" sz="1200" b="0" dirty="0">
                <a:ea typeface="等线" panose="02010600030101010101" pitchFamily="2" charset="-122"/>
              </a:rPr>
              <a:t>如果想再次运行上述的</a:t>
            </a:r>
            <a:r>
              <a:rPr lang="en-US" sz="1200" b="0" dirty="0">
                <a:latin typeface="等线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lang="zh-CN" sz="1200" b="0" dirty="0">
                <a:ea typeface="等线" panose="02010600030101010101" pitchFamily="2" charset="-122"/>
              </a:rPr>
              <a:t>程序，需要先删除</a:t>
            </a:r>
            <a:r>
              <a:rPr lang="en-US" sz="1200" b="0" dirty="0">
                <a:latin typeface="等线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sz="1200" b="0" dirty="0">
                <a:ea typeface="等线" panose="02010600030101010101" pitchFamily="2" charset="-122"/>
              </a:rPr>
              <a:t>中的</a:t>
            </a:r>
            <a:r>
              <a:rPr lang="en-US" sz="1200" b="0" dirty="0">
                <a:latin typeface="等线" panose="02010600030101010101" pitchFamily="2" charset="-122"/>
                <a:cs typeface="Times New Roman" panose="02020603050405020304" pitchFamily="18" charset="0"/>
              </a:rPr>
              <a:t>“/output</a:t>
            </a:r>
            <a:r>
              <a:rPr lang="en-US" sz="1200" b="0" dirty="0">
                <a:latin typeface="等线" panose="02010600030101010101" pitchFamily="2" charset="-122"/>
              </a:rPr>
              <a:t>”</a:t>
            </a:r>
            <a:r>
              <a:rPr lang="zh-CN" sz="1200" b="0" dirty="0">
                <a:solidFill>
                  <a:srgbClr val="000000"/>
                </a:solidFill>
                <a:latin typeface="Helvetica" charset="0"/>
                <a:ea typeface="等线" panose="02010600030101010101" pitchFamily="2" charset="-122"/>
              </a:rPr>
              <a:t>目录。</a:t>
            </a:r>
            <a:endParaRPr lang="zh-CN" alt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229550" y="2306438"/>
            <a:ext cx="4167679" cy="124642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50110" y="1485265"/>
            <a:ext cx="6818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安装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Zookeeper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723900" y="1346835"/>
            <a:ext cx="15081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5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2.8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50110" y="2543175"/>
            <a:ext cx="5253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在“伪分布”模式下安装Zookeeper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在“完全分布”模式下安装Zookeeper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  <p:bldP spid="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安装Zookeeper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83540" y="1078865"/>
            <a:ext cx="8523605" cy="2249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Apache ZooKeeper是Hadoop与Hbase的重要组件，是一个为分布式应用提供一致性协调服务的软件。ZooKeeper提供配置维护、域名服务、分布式同步、组服务等功能，其目标是封装好复杂易出错的关键服务，将简单易用的接口和性能高效、功能稳定的系统提供给用户。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需要提醒的是，ZooKeeper是用Java语言编写的，运行在Java环境上，因此在部署的节点上需要安装好Java的运行环境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2.8.1在“伪分布”模式下安装Zookeeper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01295" y="805180"/>
            <a:ext cx="9434195" cy="43851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1.下载Zookeeper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可以从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 https://zookeeper.apache.org/releases.html 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下载ZooKeeper，本书使用的是Zookeeper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3.6.2版本，文件名为apache-zookeeper-3.6.2-bin.tar.gz。</a:t>
            </a:r>
          </a:p>
          <a:p>
            <a:pPr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2.解压Zookeeper软件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将Zookeeper软件压缩包解压到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servers目录中，并将目录改为zookeeper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tar -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zxvf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apache-zookeeper-3.6.2-bin.tar.gz -C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   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解压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mv apache-zookeeper-3.6.2-bin zookeeper        #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重命名目录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3.配置环境变量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编辑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profile文件，增加以下内容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export ZK_HOME=/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/local/servers/zookeeper</a:t>
            </a:r>
          </a:p>
          <a:p>
            <a:pPr lvl="1"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export PATH=$PATH:$ZK_HOME/bin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输入以下命令，让配置的环境变量生效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：$ source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etc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/profile		</a:t>
            </a:r>
          </a:p>
        </p:txBody>
      </p:sp>
    </p:spTree>
  </p:cSld>
  <p:clrMapOvr>
    <a:masterClrMapping/>
  </p:clrMapOvr>
  <p:transition spd="slow">
    <p:push dir="u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2.8.1在“伪分布”模式下安装Zookeeper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01295" y="805180"/>
            <a:ext cx="9434195" cy="378186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4.配置Zookeeper运行参数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进入zookeeper的conf子目录，创建zookeeper的配置文件zoo.cfg，可复制conf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zoo_sample.cfg作为配置文件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  <a:p>
            <a:pPr lvl="1" indent="266700">
              <a:lnSpc>
                <a:spcPct val="130000"/>
              </a:lnSpc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cp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zoo_sample.cfg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zoo.cfg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创建数据文件目录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lvl="1" indent="266700">
              <a:lnSpc>
                <a:spcPct val="130000"/>
              </a:lnSpc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/local/servers/zookeeper/data	</a:t>
            </a:r>
          </a:p>
          <a:p>
            <a:pPr lvl="1"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创建日志文件目录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：</a:t>
            </a:r>
          </a:p>
          <a:p>
            <a:pPr lvl="1" indent="266700">
              <a:lnSpc>
                <a:spcPct val="130000"/>
              </a:lnSpc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/local/servers/zookeeper/logs		</a:t>
            </a:r>
          </a:p>
          <a:p>
            <a:pPr lvl="1"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编辑配置文件zoo.cfg，内容如下表所示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</a:p>
          <a:p>
            <a:pPr indent="266700">
              <a:lnSpc>
                <a:spcPct val="130000"/>
              </a:lnSpc>
            </a:pP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2.8.1在“伪分布”模式下安装Zookeeper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69" y="1065529"/>
            <a:ext cx="6295053" cy="3344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3425" y="4340225"/>
            <a:ext cx="6877050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1400" b="0" dirty="0">
                <a:ea typeface="等线" panose="02010600030101010101" pitchFamily="2" charset="-122"/>
              </a:rPr>
              <a:t>说明：</a:t>
            </a:r>
            <a:r>
              <a:rPr lang="en-US" sz="1400" b="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admin.serverPort</a:t>
            </a:r>
            <a:r>
              <a:rPr lang="zh-CN" sz="1400" b="0" dirty="0">
                <a:ea typeface="等线" panose="02010600030101010101" pitchFamily="2" charset="-122"/>
              </a:rPr>
              <a:t>的默认端口是</a:t>
            </a:r>
            <a:r>
              <a:rPr lang="zh-CN" sz="1400" b="0" dirty="0">
                <a:ea typeface="等线" panose="02010600030101010101" pitchFamily="2" charset="-122"/>
                <a:cs typeface="Times New Roman" panose="02020603050405020304" pitchFamily="18" charset="0"/>
              </a:rPr>
              <a:t>8088，为防止被其他应用占用，设为9</a:t>
            </a:r>
            <a:r>
              <a:rPr lang="en-US" sz="1400" b="0" dirty="0">
                <a:latin typeface="等线" panose="02010600030101010101" pitchFamily="2" charset="-122"/>
                <a:cs typeface="Times New Roman" panose="02020603050405020304" pitchFamily="18" charset="0"/>
              </a:rPr>
              <a:t>099</a:t>
            </a:r>
            <a:r>
              <a:rPr lang="zh-CN" sz="1400" b="0" dirty="0">
                <a:ea typeface="等线" panose="02010600030101010101" pitchFamily="2" charset="-122"/>
              </a:rPr>
              <a:t>。</a:t>
            </a:r>
            <a:endParaRPr lang="zh-CN" alt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6850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2.8.1在“伪分布”模式下安装Zookeeper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0490" y="1105535"/>
            <a:ext cx="9434195" cy="2781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5.</a:t>
            </a: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启动Zookeeper</a:t>
            </a:r>
            <a:endParaRPr sz="20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进入zookeeper的bin子目录，运行zkServer.sh脚本文件，启动zookeeper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$ cd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/local/servers/zookeeper/bin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$ ./zkServer.sh start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启动成功后，输入jps命令，可以看到在Linux中启动了QuorumPeerMain进程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	</a:t>
            </a: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indent="266700">
              <a:lnSpc>
                <a:spcPct val="130000"/>
              </a:lnSpc>
            </a:pPr>
            <a:endParaRPr sz="20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22224" y="308610"/>
            <a:ext cx="486346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2.8.2</a:t>
            </a:r>
            <a:r>
              <a:rPr lang="en-US" altLang="zh-CN"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8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在“完全分布”模式下安装Zookeeper</a:t>
            </a:r>
            <a:endParaRPr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1295" y="805180"/>
            <a:ext cx="9159875" cy="43851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在“完全分布”模式下，Zookeeper集群的部署是由2n+1台服务器组成（即集群中主机的数量为奇数），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以保证选举Leader机制能够通过半数以上服务器选举支持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</a:t>
            </a:r>
          </a:p>
          <a:p>
            <a:pPr indent="266700">
              <a:lnSpc>
                <a:spcPct val="130000"/>
              </a:lnSpc>
            </a:pPr>
            <a:r>
              <a:rPr sz="18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1.配置“完全分布”模式下Zookeeper运行参数</a:t>
            </a:r>
          </a:p>
          <a:p>
            <a:pPr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（1）创建数据文件目录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 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在集群中的三台Linux主机上创建数据目录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：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/local/servers/zookeeper/data	</a:t>
            </a:r>
          </a:p>
          <a:p>
            <a:pPr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（2）创建myid文件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在/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/local/servers/zookeeper/data目录下创建名为“myid”的文本文件，对Node01、Node02和Node03三个节点的myid文件分别输入内容1、2和3。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创建日志文件目录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  <a:sym typeface="+mn-ea"/>
            </a:endParaRP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 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$ 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mkdir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/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usr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/local/servers/zookeeper/logs		</a:t>
            </a:r>
          </a:p>
          <a:p>
            <a:pPr indent="266700">
              <a:lnSpc>
                <a:spcPct val="130000"/>
              </a:lnSpc>
            </a:pP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（4）编辑zoo.</a:t>
            </a:r>
            <a:r>
              <a:rPr sz="180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cfg配置文件</a:t>
            </a:r>
            <a:endParaRPr sz="1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-34926" y="308610"/>
            <a:ext cx="492061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2.8.2</a:t>
            </a:r>
            <a:r>
              <a:rPr lang="en-US" altLang="zh-CN"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8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在“完全分布”模式下安装Zookeeper</a:t>
            </a:r>
            <a:endParaRPr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1295" y="741045"/>
            <a:ext cx="9159875" cy="19044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2.启动Zookeeper</a:t>
            </a:r>
          </a:p>
          <a:p>
            <a:pPr indent="266700">
              <a:lnSpc>
                <a:spcPct val="130000"/>
              </a:lnSpc>
            </a:pPr>
            <a:r>
              <a:rPr 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依次在Node01、Node02和Node03三个节点启动zookeeper：</a:t>
            </a:r>
          </a:p>
          <a:p>
            <a:pPr indent="266700">
              <a:lnSpc>
                <a:spcPct val="130000"/>
              </a:lnSpc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	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$ /usr/local/servers/zookeeper/bin/zkServer.sh start</a:t>
            </a:r>
          </a:p>
          <a:p>
            <a:pPr indent="266700">
              <a:lnSpc>
                <a:spcPct val="130000"/>
              </a:lnSpc>
            </a:pP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启动完成后用jps命令，可以看到已经启动了QuorumPeerMain进程，这说明zookeeper可以正常运行了，如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下</a:t>
            </a:r>
            <a:r>
              <a:rPr sz="18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图所示</a:t>
            </a:r>
            <a:r>
              <a:rPr sz="1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713" y="2832735"/>
            <a:ext cx="3880457" cy="15824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1585595" y="4415155"/>
            <a:ext cx="5080000" cy="30777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400" b="0" dirty="0" err="1"/>
              <a:t>验证zookeeper是否正常运行</a:t>
            </a:r>
            <a:endParaRPr sz="1400" dirty="0"/>
          </a:p>
        </p:txBody>
      </p:sp>
    </p:spTree>
  </p:cSld>
  <p:clrMapOvr>
    <a:masterClrMapping/>
  </p:clrMapOvr>
  <p:transition spd="slow">
    <p:push dir="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308610"/>
            <a:ext cx="488569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2.8.2</a:t>
            </a:r>
            <a:r>
              <a:rPr lang="en-US" altLang="zh-CN"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8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在“完全分布”模式下安装Zookeeper</a:t>
            </a:r>
            <a:endParaRPr sz="1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46685" y="1125855"/>
            <a:ext cx="4186555" cy="2891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sz="2000" b="1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3.查看Zookeeper运行状态</a:t>
            </a:r>
          </a:p>
          <a:p>
            <a:pPr indent="266700"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在Node01运行以下命令，查看zookeeper的运行状态。</a:t>
            </a:r>
          </a:p>
          <a:p>
            <a:pPr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$/usr/local/servers/zookeeper/bin/zkServer.sh status</a:t>
            </a:r>
          </a:p>
          <a:p>
            <a:pPr indent="266700">
              <a:lnSpc>
                <a:spcPct val="130000"/>
              </a:lnSpc>
            </a:pP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可以看出Node01在集群中是处于“leader”状态，如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右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图所示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05" y="1355090"/>
            <a:ext cx="4211320" cy="20688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5146357" y="3636645"/>
            <a:ext cx="3448368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sz="1400" b="0" dirty="0">
                <a:latin typeface="等线 Light" panose="02010600030101010101" charset="-122"/>
                <a:ea typeface="黑体" panose="02010609060101010101" charset="-122"/>
              </a:rPr>
              <a:t>在</a:t>
            </a:r>
            <a:r>
              <a:rPr lang="en-US" sz="1400" b="0" dirty="0">
                <a:latin typeface="等线 Light" panose="02010600030101010101" charset="-122"/>
                <a:ea typeface="黑体" panose="02010609060101010101" charset="-122"/>
              </a:rPr>
              <a:t>leader</a:t>
            </a:r>
            <a:r>
              <a:rPr lang="zh-CN" sz="1400" b="0" dirty="0">
                <a:latin typeface="等线 Light" panose="02010600030101010101" charset="-122"/>
                <a:ea typeface="黑体" panose="02010609060101010101" charset="-122"/>
              </a:rPr>
              <a:t>节点查看</a:t>
            </a:r>
            <a:r>
              <a:rPr lang="en-US" sz="1400" b="0" dirty="0">
                <a:latin typeface="等线 Light" panose="02010600030101010101" charset="-122"/>
                <a:ea typeface="黑体" panose="02010609060101010101" charset="-122"/>
              </a:rPr>
              <a:t>zookeeper</a:t>
            </a:r>
            <a:r>
              <a:rPr lang="zh-CN" sz="1400" b="0" dirty="0">
                <a:latin typeface="等线 Light" panose="02010600030101010101" charset="-122"/>
                <a:ea typeface="黑体" panose="02010609060101010101" charset="-122"/>
              </a:rPr>
              <a:t>运行状态</a:t>
            </a:r>
            <a:endParaRPr lang="zh-CN" alt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-109220" y="308610"/>
            <a:ext cx="499491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2.8.2在“完全分布”模式下安装Zookeeper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54965" y="996315"/>
            <a:ext cx="8731250" cy="891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   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如果在Node02和Node03上运行上述命令，则会发现这两个节点在在集群中是处于“follower”状态，如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下</a:t>
            </a:r>
            <a:r>
              <a:rPr sz="200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图所示</a:t>
            </a:r>
            <a:r>
              <a:rPr sz="20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  <a:sym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85" y="2089785"/>
            <a:ext cx="3676650" cy="1219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1522095" y="351091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28600" algn="ctr">
              <a:buClrTx/>
              <a:buSzTx/>
              <a:buFontTx/>
            </a:pPr>
            <a:r>
              <a:rPr sz="1000" b="0"/>
              <a:t>在follower节点查看zookeeper运行状态</a:t>
            </a:r>
            <a:endParaRPr sz="1000"/>
          </a:p>
        </p:txBody>
      </p:sp>
      <p:sp>
        <p:nvSpPr>
          <p:cNvPr id="6" name="文本框 5"/>
          <p:cNvSpPr txBox="1"/>
          <p:nvPr/>
        </p:nvSpPr>
        <p:spPr>
          <a:xfrm>
            <a:off x="447040" y="3957955"/>
            <a:ext cx="86391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sz="18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说明：具体由哪个节点担任leader，是与各节点启动zookeeper的顺序相</a:t>
            </a:r>
            <a:r>
              <a:rPr sz="2000" b="0" dirty="0" err="1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关</a:t>
            </a:r>
            <a:r>
              <a:rPr sz="2000" b="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181" y="0"/>
            <a:ext cx="9141291" cy="5143500"/>
          </a:xfrm>
          <a:prstGeom prst="rect">
            <a:avLst/>
          </a:prstGeom>
        </p:spPr>
      </p:pic>
      <p:grpSp>
        <p:nvGrpSpPr>
          <p:cNvPr id="32" name="组合 14"/>
          <p:cNvGrpSpPr/>
          <p:nvPr/>
        </p:nvGrpSpPr>
        <p:grpSpPr bwMode="auto">
          <a:xfrm>
            <a:off x="2635177" y="2364223"/>
            <a:ext cx="3023805" cy="105927"/>
            <a:chOff x="3649980" y="3375660"/>
            <a:chExt cx="4638285" cy="10800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3734134" y="3429660"/>
              <a:ext cx="4495132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3649980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205448" y="3375660"/>
              <a:ext cx="82817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778125" y="1642882"/>
            <a:ext cx="2463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 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UPC" panose="020B0604020202020204" pitchFamily="34" charset="-34"/>
                <a:ea typeface="微软雅黑" panose="020B0503020204020204" pitchFamily="34" charset="-122"/>
                <a:cs typeface="IrisUPC" panose="020B0604020202020204" pitchFamily="34" charset="-34"/>
              </a:rPr>
              <a:t>本章小结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1366886" y="1504452"/>
            <a:ext cx="1698527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IrisUPC" panose="020B0604020202020204" pitchFamily="34" charset="-34"/>
              </a:rPr>
              <a:t>2.9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/>
          <p:cNvSpPr txBox="1"/>
          <p:nvPr/>
        </p:nvSpPr>
        <p:spPr>
          <a:xfrm>
            <a:off x="-118745" y="239395"/>
            <a:ext cx="4883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 </a:t>
            </a:r>
            <a:r>
              <a:rPr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本章小结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79450" y="1325880"/>
            <a:ext cx="7785100" cy="2491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ea typeface="等线" panose="02010600030101010101" pitchFamily="2" charset="-122"/>
              </a:rPr>
              <a:t>    </a:t>
            </a:r>
            <a:r>
              <a:rPr lang="zh-CN" sz="2000">
                <a:ea typeface="等线" panose="02010600030101010101" pitchFamily="2" charset="-122"/>
              </a:rPr>
              <a:t>本章主要介绍在Windows系统中安装Linux虚拟机以及构建Hadoop分布式集群的方法。首先对Linux虚拟机的安装和网络规划、配置进行讲解；接着介绍常用的Linux命令；然后对Hadoop集群的安装与配置进行详细介绍；最后对搭建好的Hadoop集群进行测试。本章还简要介绍了“伪分布式”Hadoop集群的配置，以及如何使用Ambari工具项目进行Hadoop集群的构建和管理。</a:t>
            </a:r>
          </a:p>
        </p:txBody>
      </p:sp>
      <p:graphicFrame>
        <p:nvGraphicFramePr>
          <p:cNvPr id="13" name="图示 12"/>
          <p:cNvGraphicFramePr/>
          <p:nvPr/>
        </p:nvGraphicFramePr>
        <p:xfrm>
          <a:off x="275590" y="1949450"/>
          <a:ext cx="2512695" cy="2493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32698" y="4816947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www.1ppt.com/excel/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www.1ppt.com/kejian/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www.1ppt.com/shiti/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www.1ppt.com/jiaoan/  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www.1ppt.com/ziti/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307" y="294089"/>
            <a:ext cx="6260074" cy="45228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226" y="1047394"/>
            <a:ext cx="2804652" cy="28170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文本框 7"/>
          <p:cNvSpPr txBox="1"/>
          <p:nvPr/>
        </p:nvSpPr>
        <p:spPr>
          <a:xfrm>
            <a:off x="312528" y="294089"/>
            <a:ext cx="39484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FFC000"/>
                </a:solidFill>
              </a:rPr>
              <a:t>谢</a:t>
            </a:r>
            <a:endParaRPr lang="en-US" altLang="zh-CN" sz="7200" dirty="0">
              <a:solidFill>
                <a:srgbClr val="FFC000"/>
              </a:solidFill>
            </a:endParaRPr>
          </a:p>
          <a:p>
            <a:r>
              <a:rPr lang="zh-CN" altLang="en-US" sz="7200" dirty="0">
                <a:solidFill>
                  <a:srgbClr val="FFC000"/>
                </a:solidFill>
              </a:rPr>
              <a:t>  谢</a:t>
            </a:r>
            <a:endParaRPr lang="en-US" altLang="zh-CN" sz="7200" dirty="0">
              <a:solidFill>
                <a:srgbClr val="FFC000"/>
              </a:solidFill>
            </a:endParaRPr>
          </a:p>
          <a:p>
            <a:r>
              <a:rPr lang="zh-CN" altLang="en-US" sz="7200" dirty="0">
                <a:solidFill>
                  <a:srgbClr val="FFC000"/>
                </a:solidFill>
              </a:rPr>
              <a:t> ！</a:t>
            </a:r>
            <a:r>
              <a:rPr lang="zh-CN" altLang="en-US" sz="7200" dirty="0">
                <a:solidFill>
                  <a:srgbClr val="FF0000"/>
                </a:solidFill>
              </a:rPr>
              <a:t>      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989d913-7738-4685-b2d7-ba75596f301b}"/>
  <p:tag name="TABLE_ENDDRAG_ORIGIN_RECT" val="358*72"/>
  <p:tag name="TABLE_ENDDRAG_RECT" val="139*164*358*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739,&quot;width&quot;:41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965,&quot;width&quot;:89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693685b-ada9-463b-8493-a128d4d459ec}"/>
  <p:tag name="TABLE_ENDDRAG_ORIGIN_RECT" val="371*97"/>
  <p:tag name="TABLE_ENDDRAG_RECT" val="133*189*371*97"/>
</p:tagLst>
</file>

<file path=ppt/theme/theme1.xml><?xml version="1.0" encoding="utf-8"?>
<a:theme xmlns:a="http://schemas.openxmlformats.org/drawingml/2006/main" name="第一PPT，www.1ppt.com">
  <a:themeElements>
    <a:clrScheme name="自定义 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459BB3"/>
      </a:accent2>
      <a:accent3>
        <a:srgbClr val="00B0F0"/>
      </a:accent3>
      <a:accent4>
        <a:srgbClr val="00B0F0"/>
      </a:accent4>
      <a:accent5>
        <a:srgbClr val="459BB3"/>
      </a:accent5>
      <a:accent6>
        <a:srgbClr val="459BB3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296</TotalTime>
  <Words>4601</Words>
  <Application>Microsoft Office PowerPoint</Application>
  <PresentationFormat>全屏显示(16:9)</PresentationFormat>
  <Paragraphs>679</Paragraphs>
  <Slides>96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12" baseType="lpstr">
      <vt:lpstr>等线</vt:lpstr>
      <vt:lpstr>等线 Light</vt:lpstr>
      <vt:lpstr>黑体</vt:lpstr>
      <vt:lpstr>华文宋体</vt:lpstr>
      <vt:lpstr>宋体</vt:lpstr>
      <vt:lpstr>微软雅黑</vt:lpstr>
      <vt:lpstr>Arial</vt:lpstr>
      <vt:lpstr>Calibri</vt:lpstr>
      <vt:lpstr>Calibri Light</vt:lpstr>
      <vt:lpstr>Helvetica</vt:lpstr>
      <vt:lpstr>Impact</vt:lpstr>
      <vt:lpstr>IrisUPC</vt:lpstr>
      <vt:lpstr>Times New Roman</vt:lpstr>
      <vt:lpstr>Wingdings</vt:lpstr>
      <vt:lpstr>第一PPT，www.1ppt.com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</dc:creator>
  <cp:keywords>www.1ppt.com</cp:keywords>
  <dc:description>www.1ppt.com</dc:description>
  <cp:lastModifiedBy>lenovo</cp:lastModifiedBy>
  <cp:revision>311</cp:revision>
  <dcterms:created xsi:type="dcterms:W3CDTF">2017-03-04T06:55:00Z</dcterms:created>
  <dcterms:modified xsi:type="dcterms:W3CDTF">2022-09-14T01:53:18Z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252D1EE556A7488796FAE8D3BC33E8EE</vt:lpwstr>
  </property>
</Properties>
</file>
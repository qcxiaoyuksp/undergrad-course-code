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sldIdLst>
    <p:sldId id="256" r:id="rId2"/>
    <p:sldId id="330" r:id="rId3"/>
    <p:sldId id="290" r:id="rId4"/>
    <p:sldId id="312" r:id="rId5"/>
    <p:sldId id="303" r:id="rId6"/>
    <p:sldId id="348" r:id="rId7"/>
    <p:sldId id="351" r:id="rId8"/>
    <p:sldId id="352" r:id="rId9"/>
    <p:sldId id="353" r:id="rId10"/>
    <p:sldId id="354" r:id="rId11"/>
    <p:sldId id="356" r:id="rId12"/>
    <p:sldId id="357" r:id="rId13"/>
    <p:sldId id="361" r:id="rId14"/>
    <p:sldId id="349" r:id="rId15"/>
    <p:sldId id="358" r:id="rId16"/>
    <p:sldId id="359" r:id="rId17"/>
    <p:sldId id="360" r:id="rId18"/>
    <p:sldId id="350" r:id="rId19"/>
    <p:sldId id="362" r:id="rId20"/>
    <p:sldId id="363" r:id="rId21"/>
    <p:sldId id="364" r:id="rId22"/>
    <p:sldId id="365" r:id="rId23"/>
    <p:sldId id="448" r:id="rId24"/>
    <p:sldId id="449" r:id="rId25"/>
    <p:sldId id="347" r:id="rId26"/>
    <p:sldId id="331" r:id="rId27"/>
    <p:sldId id="332" r:id="rId28"/>
    <p:sldId id="371" r:id="rId29"/>
    <p:sldId id="368" r:id="rId30"/>
    <p:sldId id="369" r:id="rId31"/>
    <p:sldId id="370" r:id="rId32"/>
    <p:sldId id="366" r:id="rId33"/>
    <p:sldId id="373" r:id="rId34"/>
    <p:sldId id="372" r:id="rId35"/>
    <p:sldId id="374" r:id="rId36"/>
    <p:sldId id="375" r:id="rId37"/>
    <p:sldId id="367" r:id="rId38"/>
    <p:sldId id="337" r:id="rId39"/>
    <p:sldId id="338" r:id="rId40"/>
    <p:sldId id="384" r:id="rId41"/>
    <p:sldId id="385" r:id="rId42"/>
    <p:sldId id="386" r:id="rId43"/>
    <p:sldId id="387" r:id="rId44"/>
    <p:sldId id="339" r:id="rId45"/>
    <p:sldId id="340" r:id="rId46"/>
    <p:sldId id="391" r:id="rId47"/>
    <p:sldId id="451" r:id="rId48"/>
    <p:sldId id="392" r:id="rId49"/>
    <p:sldId id="393" r:id="rId50"/>
    <p:sldId id="394" r:id="rId51"/>
    <p:sldId id="454" r:id="rId52"/>
    <p:sldId id="389" r:id="rId53"/>
    <p:sldId id="390" r:id="rId54"/>
    <p:sldId id="395" r:id="rId55"/>
    <p:sldId id="396" r:id="rId56"/>
    <p:sldId id="455" r:id="rId57"/>
    <p:sldId id="341" r:id="rId58"/>
    <p:sldId id="342" r:id="rId59"/>
    <p:sldId id="405" r:id="rId60"/>
    <p:sldId id="406" r:id="rId61"/>
    <p:sldId id="397" r:id="rId62"/>
    <p:sldId id="407" r:id="rId63"/>
    <p:sldId id="452" r:id="rId64"/>
    <p:sldId id="408" r:id="rId65"/>
    <p:sldId id="453" r:id="rId66"/>
    <p:sldId id="400" r:id="rId67"/>
    <p:sldId id="410" r:id="rId68"/>
    <p:sldId id="409" r:id="rId69"/>
    <p:sldId id="398" r:id="rId70"/>
    <p:sldId id="411" r:id="rId71"/>
    <p:sldId id="412" r:id="rId72"/>
    <p:sldId id="401" r:id="rId73"/>
    <p:sldId id="413" r:id="rId74"/>
    <p:sldId id="415" r:id="rId75"/>
    <p:sldId id="416" r:id="rId76"/>
    <p:sldId id="417" r:id="rId77"/>
    <p:sldId id="402" r:id="rId78"/>
    <p:sldId id="399" r:id="rId79"/>
    <p:sldId id="418" r:id="rId80"/>
    <p:sldId id="419" r:id="rId81"/>
    <p:sldId id="424" r:id="rId82"/>
    <p:sldId id="425" r:id="rId83"/>
    <p:sldId id="426" r:id="rId84"/>
    <p:sldId id="427" r:id="rId85"/>
    <p:sldId id="428" r:id="rId86"/>
    <p:sldId id="403" r:id="rId87"/>
    <p:sldId id="420" r:id="rId88"/>
    <p:sldId id="421" r:id="rId89"/>
    <p:sldId id="429" r:id="rId90"/>
    <p:sldId id="404" r:id="rId91"/>
    <p:sldId id="343" r:id="rId92"/>
    <p:sldId id="344" r:id="rId93"/>
    <p:sldId id="440" r:id="rId94"/>
    <p:sldId id="430" r:id="rId95"/>
    <p:sldId id="434" r:id="rId96"/>
    <p:sldId id="435" r:id="rId97"/>
    <p:sldId id="436" r:id="rId98"/>
    <p:sldId id="437" r:id="rId99"/>
    <p:sldId id="438" r:id="rId100"/>
    <p:sldId id="439" r:id="rId101"/>
    <p:sldId id="431" r:id="rId102"/>
    <p:sldId id="442" r:id="rId103"/>
    <p:sldId id="441" r:id="rId104"/>
    <p:sldId id="443" r:id="rId105"/>
    <p:sldId id="444" r:id="rId106"/>
    <p:sldId id="432" r:id="rId107"/>
    <p:sldId id="445" r:id="rId108"/>
    <p:sldId id="446" r:id="rId109"/>
    <p:sldId id="447" r:id="rId110"/>
    <p:sldId id="433" r:id="rId111"/>
    <p:sldId id="345" r:id="rId112"/>
    <p:sldId id="346" r:id="rId113"/>
    <p:sldId id="326" r:id="rId114"/>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638" autoAdjust="0"/>
  </p:normalViewPr>
  <p:slideViewPr>
    <p:cSldViewPr>
      <p:cViewPr varScale="1">
        <p:scale>
          <a:sx n="148" d="100"/>
          <a:sy n="148" d="100"/>
        </p:scale>
        <p:origin x="1245" y="79"/>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9959E0-9653-4E01-B050-18B859E9663F}" type="datetimeFigureOut">
              <a:rPr lang="zh-CN" altLang="en-US" smtClean="0"/>
              <a:t>2022/12/1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579405-0C40-48BA-99C8-403F46F30A6E}" type="slidenum">
              <a:rPr lang="zh-CN" altLang="en-US" smtClean="0"/>
              <a:t>‹#›</a:t>
            </a:fld>
            <a:endParaRPr lang="zh-CN" altLang="en-US"/>
          </a:p>
        </p:txBody>
      </p:sp>
    </p:spTree>
    <p:extLst>
      <p:ext uri="{BB962C8B-B14F-4D97-AF65-F5344CB8AC3E}">
        <p14:creationId xmlns:p14="http://schemas.microsoft.com/office/powerpoint/2010/main" val="867528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csdn.net/so/search?q=shuffle&amp;spm=1001.2101.3001.7020"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so.csdn.net/so/search?q=reduce&amp;spm=1001.2101.3001.7020"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579405-0C40-48BA-99C8-403F46F30A6E}" type="slidenum">
              <a:rPr lang="zh-CN" altLang="en-US" smtClean="0"/>
              <a:t>3</a:t>
            </a:fld>
            <a:endParaRPr lang="zh-CN" altLang="en-US"/>
          </a:p>
        </p:txBody>
      </p:sp>
    </p:spTree>
    <p:extLst>
      <p:ext uri="{BB962C8B-B14F-4D97-AF65-F5344CB8AC3E}">
        <p14:creationId xmlns:p14="http://schemas.microsoft.com/office/powerpoint/2010/main" val="1871805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a:solidFill>
                  <a:schemeClr val="tx1"/>
                </a:solidFill>
                <a:effectLst/>
                <a:latin typeface="+mn-lt"/>
                <a:ea typeface="+mn-ea"/>
                <a:cs typeface="+mn-cs"/>
              </a:rPr>
              <a:t>MR</a:t>
            </a:r>
            <a:r>
              <a:rPr lang="zh-CN" altLang="en-US" sz="1200" b="1" i="0" kern="1200">
                <a:solidFill>
                  <a:schemeClr val="tx1"/>
                </a:solidFill>
                <a:effectLst/>
                <a:latin typeface="+mn-lt"/>
                <a:ea typeface="+mn-ea"/>
                <a:cs typeface="+mn-cs"/>
              </a:rPr>
              <a:t>中</a:t>
            </a:r>
            <a:r>
              <a:rPr lang="en-US" altLang="zh-CN" sz="1200" b="0" i="0" u="none" strike="noStrike" kern="1200">
                <a:solidFill>
                  <a:schemeClr val="tx1"/>
                </a:solidFill>
                <a:effectLst/>
                <a:latin typeface="+mn-lt"/>
                <a:ea typeface="+mn-ea"/>
                <a:cs typeface="+mn-cs"/>
                <a:hlinkClick r:id="rId3"/>
              </a:rPr>
              <a:t>shuffle</a:t>
            </a:r>
            <a:r>
              <a:rPr lang="zh-CN" altLang="en-US" sz="1200" b="1" i="0" kern="1200">
                <a:solidFill>
                  <a:schemeClr val="tx1"/>
                </a:solidFill>
                <a:effectLst/>
                <a:latin typeface="+mn-lt"/>
                <a:ea typeface="+mn-ea"/>
                <a:cs typeface="+mn-cs"/>
              </a:rPr>
              <a:t>机制</a:t>
            </a:r>
          </a:p>
          <a:p>
            <a:r>
              <a:rPr lang="zh-CN" altLang="en-US"/>
              <a:t>●</a:t>
            </a:r>
            <a:r>
              <a:rPr lang="en-US" altLang="zh-CN"/>
              <a:t>mapreduce</a:t>
            </a:r>
            <a:r>
              <a:rPr lang="zh-CN" altLang="en-US"/>
              <a:t>中，</a:t>
            </a:r>
            <a:r>
              <a:rPr lang="en-US" altLang="zh-CN"/>
              <a:t>map</a:t>
            </a:r>
            <a:r>
              <a:rPr lang="zh-CN" altLang="en-US"/>
              <a:t>阶段处理的数据如何传递给</a:t>
            </a:r>
            <a:r>
              <a:rPr lang="en-US" altLang="zh-CN"/>
              <a:t>reduce</a:t>
            </a:r>
            <a:r>
              <a:rPr lang="zh-CN" altLang="en-US"/>
              <a:t>阶段，是</a:t>
            </a:r>
            <a:r>
              <a:rPr lang="en-US" altLang="zh-CN"/>
              <a:t>mapreduce</a:t>
            </a:r>
            <a:r>
              <a:rPr lang="zh-CN" altLang="en-US"/>
              <a:t>框架中最关键的一个流程，这个流程就叫</a:t>
            </a:r>
            <a:r>
              <a:rPr lang="en-US" altLang="zh-CN"/>
              <a:t>shuffle</a:t>
            </a:r>
            <a:r>
              <a:rPr lang="zh-CN" altLang="en-US"/>
              <a:t>；</a:t>
            </a:r>
            <a:endParaRPr lang="en-US" altLang="zh-CN"/>
          </a:p>
          <a:p>
            <a:r>
              <a:rPr lang="zh-CN" altLang="en-US"/>
              <a:t>●</a:t>
            </a:r>
            <a:r>
              <a:rPr lang="en-US" altLang="zh-CN"/>
              <a:t>shuffle: </a:t>
            </a:r>
            <a:r>
              <a:rPr lang="zh-CN" altLang="en-US"/>
              <a:t>洗牌、发牌</a:t>
            </a:r>
            <a:r>
              <a:rPr lang="en-US" altLang="zh-CN"/>
              <a:t>——</a:t>
            </a:r>
            <a:r>
              <a:rPr lang="zh-CN" altLang="en-US"/>
              <a:t>（核心机制：数据分区，排序，缓存）</a:t>
            </a:r>
            <a:endParaRPr lang="en-US" altLang="zh-CN"/>
          </a:p>
          <a:p>
            <a:r>
              <a:rPr lang="zh-CN" altLang="en-US"/>
              <a:t>●具体来说：就是将</a:t>
            </a:r>
            <a:r>
              <a:rPr lang="en-US" altLang="zh-CN"/>
              <a:t>maptask</a:t>
            </a:r>
            <a:r>
              <a:rPr lang="zh-CN" altLang="en-US"/>
              <a:t>输出的处理结果数据，分发给</a:t>
            </a:r>
            <a:r>
              <a:rPr lang="en-US" altLang="zh-CN"/>
              <a:t>reducetask</a:t>
            </a:r>
            <a:r>
              <a:rPr lang="zh-CN" altLang="en-US"/>
              <a:t>，并在分发的过程中，对数据按</a:t>
            </a:r>
            <a:r>
              <a:rPr lang="en-US" altLang="zh-CN"/>
              <a:t>key</a:t>
            </a:r>
            <a:r>
              <a:rPr lang="zh-CN" altLang="en-US"/>
              <a:t>进行了分区和排序；</a:t>
            </a:r>
            <a:endParaRPr lang="en-US" altLang="zh-CN"/>
          </a:p>
          <a:p>
            <a:endParaRPr lang="en-US" altLang="zh-CN"/>
          </a:p>
          <a:p>
            <a:r>
              <a:rPr lang="zh-CN" altLang="en-US" sz="1200" b="0" i="0" kern="1200">
                <a:solidFill>
                  <a:schemeClr val="tx1"/>
                </a:solidFill>
                <a:effectLst/>
                <a:latin typeface="+mn-lt"/>
                <a:ea typeface="+mn-ea"/>
                <a:cs typeface="+mn-cs"/>
              </a:rPr>
              <a:t>主要流程</a:t>
            </a:r>
            <a:br>
              <a:rPr lang="zh-CN" altLang="en-US" sz="1200" b="0" i="0" kern="1200">
                <a:solidFill>
                  <a:schemeClr val="tx1"/>
                </a:solidFill>
                <a:effectLst/>
                <a:latin typeface="+mn-lt"/>
                <a:ea typeface="+mn-ea"/>
                <a:cs typeface="+mn-cs"/>
              </a:rPr>
            </a:br>
            <a:r>
              <a:rPr lang="en-US" altLang="zh-CN" sz="1200" b="0" i="0" kern="1200">
                <a:solidFill>
                  <a:schemeClr val="tx1"/>
                </a:solidFill>
                <a:effectLst/>
                <a:latin typeface="+mn-lt"/>
                <a:ea typeface="+mn-ea"/>
                <a:cs typeface="+mn-cs"/>
              </a:rPr>
              <a:t>shuffle</a:t>
            </a:r>
            <a:r>
              <a:rPr lang="zh-CN" altLang="en-US" sz="1200" b="0" i="0" kern="1200">
                <a:solidFill>
                  <a:schemeClr val="tx1"/>
                </a:solidFill>
                <a:effectLst/>
                <a:latin typeface="+mn-lt"/>
                <a:ea typeface="+mn-ea"/>
                <a:cs typeface="+mn-cs"/>
              </a:rPr>
              <a:t>是</a:t>
            </a:r>
            <a:r>
              <a:rPr lang="en-US" altLang="zh-CN" sz="1200" b="0" i="0" kern="1200">
                <a:solidFill>
                  <a:schemeClr val="tx1"/>
                </a:solidFill>
                <a:effectLst/>
                <a:latin typeface="+mn-lt"/>
                <a:ea typeface="+mn-ea"/>
                <a:cs typeface="+mn-cs"/>
              </a:rPr>
              <a:t>MR</a:t>
            </a:r>
            <a:r>
              <a:rPr lang="zh-CN" altLang="en-US" sz="1200" b="0" i="0" kern="1200">
                <a:solidFill>
                  <a:schemeClr val="tx1"/>
                </a:solidFill>
                <a:effectLst/>
                <a:latin typeface="+mn-lt"/>
                <a:ea typeface="+mn-ea"/>
                <a:cs typeface="+mn-cs"/>
              </a:rPr>
              <a:t>处理流程中的一个过程，它的每一个处理步骤是分散在各个</a:t>
            </a:r>
            <a:r>
              <a:rPr lang="en-US" altLang="zh-CN" sz="1200" b="0" i="0" kern="1200">
                <a:solidFill>
                  <a:schemeClr val="tx1"/>
                </a:solidFill>
                <a:effectLst/>
                <a:latin typeface="+mn-lt"/>
                <a:ea typeface="+mn-ea"/>
                <a:cs typeface="+mn-cs"/>
              </a:rPr>
              <a:t>map task</a:t>
            </a:r>
            <a:r>
              <a:rPr lang="zh-CN" altLang="en-US" sz="1200" b="0" i="0" kern="1200">
                <a:solidFill>
                  <a:schemeClr val="tx1"/>
                </a:solidFill>
                <a:effectLst/>
                <a:latin typeface="+mn-lt"/>
                <a:ea typeface="+mn-ea"/>
                <a:cs typeface="+mn-cs"/>
              </a:rPr>
              <a:t>和</a:t>
            </a:r>
            <a:r>
              <a:rPr lang="en-US" altLang="zh-CN" sz="1200" b="0" i="0" u="none" strike="noStrike" kern="1200">
                <a:solidFill>
                  <a:schemeClr val="tx1"/>
                </a:solidFill>
                <a:effectLst/>
                <a:latin typeface="+mn-lt"/>
                <a:ea typeface="+mn-ea"/>
                <a:cs typeface="+mn-cs"/>
                <a:hlinkClick r:id="rId4"/>
              </a:rPr>
              <a:t>reduce</a:t>
            </a:r>
            <a:r>
              <a:rPr lang="en-US" altLang="zh-CN" sz="1200" b="0" i="0" kern="1200">
                <a:solidFill>
                  <a:schemeClr val="tx1"/>
                </a:solidFill>
                <a:effectLst/>
                <a:latin typeface="+mn-lt"/>
                <a:ea typeface="+mn-ea"/>
                <a:cs typeface="+mn-cs"/>
              </a:rPr>
              <a:t> task</a:t>
            </a:r>
            <a:r>
              <a:rPr lang="zh-CN" altLang="en-US" sz="1200" b="0" i="0" kern="1200">
                <a:solidFill>
                  <a:schemeClr val="tx1"/>
                </a:solidFill>
                <a:effectLst/>
                <a:latin typeface="+mn-lt"/>
                <a:ea typeface="+mn-ea"/>
                <a:cs typeface="+mn-cs"/>
              </a:rPr>
              <a:t>节点上完成的，整体来看，分为</a:t>
            </a:r>
            <a:r>
              <a:rPr lang="en-US" altLang="zh-CN" sz="1200" b="0" i="0" kern="1200">
                <a:solidFill>
                  <a:schemeClr val="tx1"/>
                </a:solidFill>
                <a:effectLst/>
                <a:latin typeface="+mn-lt"/>
                <a:ea typeface="+mn-ea"/>
                <a:cs typeface="+mn-cs"/>
              </a:rPr>
              <a:t>3</a:t>
            </a:r>
            <a:r>
              <a:rPr lang="zh-CN" altLang="en-US" sz="1200" b="0" i="0" kern="1200">
                <a:solidFill>
                  <a:schemeClr val="tx1"/>
                </a:solidFill>
                <a:effectLst/>
                <a:latin typeface="+mn-lt"/>
                <a:ea typeface="+mn-ea"/>
                <a:cs typeface="+mn-cs"/>
              </a:rPr>
              <a:t>个操作：</a:t>
            </a:r>
          </a:p>
          <a:p>
            <a:r>
              <a:rPr lang="en-US" altLang="zh-CN" sz="1200" b="0" i="0" kern="1200">
                <a:solidFill>
                  <a:schemeClr val="tx1"/>
                </a:solidFill>
                <a:effectLst/>
                <a:latin typeface="+mn-lt"/>
                <a:ea typeface="+mn-ea"/>
                <a:cs typeface="+mn-cs"/>
              </a:rPr>
              <a:t>1</a:t>
            </a:r>
            <a:r>
              <a:rPr lang="zh-CN" altLang="en-US" sz="1200" b="0" i="0" kern="1200">
                <a:solidFill>
                  <a:schemeClr val="tx1"/>
                </a:solidFill>
                <a:effectLst/>
                <a:latin typeface="+mn-lt"/>
                <a:ea typeface="+mn-ea"/>
                <a:cs typeface="+mn-cs"/>
              </a:rPr>
              <a:t>、分区</a:t>
            </a:r>
            <a:r>
              <a:rPr lang="en-US" altLang="zh-CN" sz="1200" b="0" i="0" kern="1200">
                <a:solidFill>
                  <a:schemeClr val="tx1"/>
                </a:solidFill>
                <a:effectLst/>
                <a:latin typeface="+mn-lt"/>
                <a:ea typeface="+mn-ea"/>
                <a:cs typeface="+mn-cs"/>
              </a:rPr>
              <a:t>partition</a:t>
            </a:r>
            <a:br>
              <a:rPr lang="en-US" altLang="zh-CN" sz="1200" b="0" i="0" kern="1200">
                <a:solidFill>
                  <a:schemeClr val="tx1"/>
                </a:solidFill>
                <a:effectLst/>
                <a:latin typeface="+mn-lt"/>
                <a:ea typeface="+mn-ea"/>
                <a:cs typeface="+mn-cs"/>
              </a:rPr>
            </a:br>
            <a:r>
              <a:rPr lang="en-US" altLang="zh-CN" sz="1200" b="0" i="0" kern="1200">
                <a:solidFill>
                  <a:schemeClr val="tx1"/>
                </a:solidFill>
                <a:effectLst/>
                <a:latin typeface="+mn-lt"/>
                <a:ea typeface="+mn-ea"/>
                <a:cs typeface="+mn-cs"/>
              </a:rPr>
              <a:t>2</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Sort</a:t>
            </a:r>
            <a:r>
              <a:rPr lang="zh-CN" altLang="en-US" sz="1200" b="0" i="0" kern="1200">
                <a:solidFill>
                  <a:schemeClr val="tx1"/>
                </a:solidFill>
                <a:effectLst/>
                <a:latin typeface="+mn-lt"/>
                <a:ea typeface="+mn-ea"/>
                <a:cs typeface="+mn-cs"/>
              </a:rPr>
              <a:t>根据</a:t>
            </a:r>
            <a:r>
              <a:rPr lang="en-US" altLang="zh-CN" sz="1200" b="0" i="0" kern="1200">
                <a:solidFill>
                  <a:schemeClr val="tx1"/>
                </a:solidFill>
                <a:effectLst/>
                <a:latin typeface="+mn-lt"/>
                <a:ea typeface="+mn-ea"/>
                <a:cs typeface="+mn-cs"/>
              </a:rPr>
              <a:t>key</a:t>
            </a:r>
            <a:r>
              <a:rPr lang="zh-CN" altLang="en-US" sz="1200" b="0" i="0" kern="1200">
                <a:solidFill>
                  <a:schemeClr val="tx1"/>
                </a:solidFill>
                <a:effectLst/>
                <a:latin typeface="+mn-lt"/>
                <a:ea typeface="+mn-ea"/>
                <a:cs typeface="+mn-cs"/>
              </a:rPr>
              <a:t>排序</a:t>
            </a:r>
            <a:br>
              <a:rPr lang="zh-CN" altLang="en-US" sz="1200" b="0" i="0" kern="1200">
                <a:solidFill>
                  <a:schemeClr val="tx1"/>
                </a:solidFill>
                <a:effectLst/>
                <a:latin typeface="+mn-lt"/>
                <a:ea typeface="+mn-ea"/>
                <a:cs typeface="+mn-cs"/>
              </a:rPr>
            </a:br>
            <a:r>
              <a:rPr lang="en-US" altLang="zh-CN" sz="1200" b="0" i="0" kern="1200">
                <a:solidFill>
                  <a:schemeClr val="tx1"/>
                </a:solidFill>
                <a:effectLst/>
                <a:latin typeface="+mn-lt"/>
                <a:ea typeface="+mn-ea"/>
                <a:cs typeface="+mn-cs"/>
              </a:rPr>
              <a:t>3</a:t>
            </a:r>
            <a:r>
              <a:rPr lang="zh-CN" altLang="en-US" sz="1200" b="0" i="0" kern="1200">
                <a:solidFill>
                  <a:schemeClr val="tx1"/>
                </a:solidFill>
                <a:effectLst/>
                <a:latin typeface="+mn-lt"/>
                <a:ea typeface="+mn-ea"/>
                <a:cs typeface="+mn-cs"/>
              </a:rPr>
              <a:t>、</a:t>
            </a:r>
            <a:r>
              <a:rPr lang="en-US" altLang="zh-CN" sz="1200" b="0" i="0" kern="1200">
                <a:solidFill>
                  <a:schemeClr val="tx1"/>
                </a:solidFill>
                <a:effectLst/>
                <a:latin typeface="+mn-lt"/>
                <a:ea typeface="+mn-ea"/>
                <a:cs typeface="+mn-cs"/>
              </a:rPr>
              <a:t>Combiner</a:t>
            </a:r>
            <a:r>
              <a:rPr lang="zh-CN" altLang="en-US" sz="1200" b="0" i="0" kern="1200">
                <a:solidFill>
                  <a:schemeClr val="tx1"/>
                </a:solidFill>
                <a:effectLst/>
                <a:latin typeface="+mn-lt"/>
                <a:ea typeface="+mn-ea"/>
                <a:cs typeface="+mn-cs"/>
              </a:rPr>
              <a:t>进行局部</a:t>
            </a:r>
            <a:r>
              <a:rPr lang="en-US" altLang="zh-CN" sz="1200" b="0" i="0" kern="1200">
                <a:solidFill>
                  <a:schemeClr val="tx1"/>
                </a:solidFill>
                <a:effectLst/>
                <a:latin typeface="+mn-lt"/>
                <a:ea typeface="+mn-ea"/>
                <a:cs typeface="+mn-cs"/>
              </a:rPr>
              <a:t>value</a:t>
            </a:r>
            <a:r>
              <a:rPr lang="zh-CN" altLang="en-US" sz="1200" b="0" i="0" kern="1200">
                <a:solidFill>
                  <a:schemeClr val="tx1"/>
                </a:solidFill>
                <a:effectLst/>
                <a:latin typeface="+mn-lt"/>
                <a:ea typeface="+mn-ea"/>
                <a:cs typeface="+mn-cs"/>
              </a:rPr>
              <a:t>的合并</a:t>
            </a:r>
          </a:p>
          <a:p>
            <a:endParaRPr lang="zh-CN" altLang="en-US"/>
          </a:p>
        </p:txBody>
      </p:sp>
      <p:sp>
        <p:nvSpPr>
          <p:cNvPr id="4" name="灯片编号占位符 3"/>
          <p:cNvSpPr>
            <a:spLocks noGrp="1"/>
          </p:cNvSpPr>
          <p:nvPr>
            <p:ph type="sldNum" sz="quarter" idx="5"/>
          </p:nvPr>
        </p:nvSpPr>
        <p:spPr/>
        <p:txBody>
          <a:bodyPr/>
          <a:lstStyle/>
          <a:p>
            <a:fld id="{3D579405-0C40-48BA-99C8-403F46F30A6E}" type="slidenum">
              <a:rPr lang="zh-CN" altLang="en-US" smtClean="0"/>
              <a:t>13</a:t>
            </a:fld>
            <a:endParaRPr lang="zh-CN" altLang="en-US"/>
          </a:p>
        </p:txBody>
      </p:sp>
    </p:spTree>
    <p:extLst>
      <p:ext uri="{BB962C8B-B14F-4D97-AF65-F5344CB8AC3E}">
        <p14:creationId xmlns:p14="http://schemas.microsoft.com/office/powerpoint/2010/main" val="48396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579405-0C40-48BA-99C8-403F46F30A6E}" type="slidenum">
              <a:rPr lang="zh-CN" altLang="en-US" smtClean="0"/>
              <a:t>18</a:t>
            </a:fld>
            <a:endParaRPr lang="zh-CN" altLang="en-US"/>
          </a:p>
        </p:txBody>
      </p:sp>
    </p:spTree>
    <p:extLst>
      <p:ext uri="{BB962C8B-B14F-4D97-AF65-F5344CB8AC3E}">
        <p14:creationId xmlns:p14="http://schemas.microsoft.com/office/powerpoint/2010/main" val="2461420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26</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45292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38</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741205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44</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730214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579405-0C40-48BA-99C8-403F46F30A6E}" type="slidenum">
              <a:rPr lang="zh-CN" altLang="en-US" smtClean="0"/>
              <a:t>55</a:t>
            </a:fld>
            <a:endParaRPr lang="zh-CN" altLang="en-US"/>
          </a:p>
        </p:txBody>
      </p:sp>
    </p:spTree>
    <p:extLst>
      <p:ext uri="{BB962C8B-B14F-4D97-AF65-F5344CB8AC3E}">
        <p14:creationId xmlns:p14="http://schemas.microsoft.com/office/powerpoint/2010/main" val="1664300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57</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209934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91</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567494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111</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587281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113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44016" y="231490"/>
            <a:ext cx="7668344" cy="540060"/>
          </a:xfrm>
          <a:noFill/>
        </p:spPr>
        <p:txBody>
          <a:bodyPr>
            <a:normAutofit/>
          </a:bodyPr>
          <a:lstStyle>
            <a:lvl1pPr algn="l">
              <a:defRPr sz="32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五边形 7"/>
          <p:cNvSpPr/>
          <p:nvPr userDrawn="1"/>
        </p:nvSpPr>
        <p:spPr>
          <a:xfrm>
            <a:off x="0" y="195486"/>
            <a:ext cx="4139952" cy="648072"/>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0" y="0"/>
            <a:ext cx="9144000" cy="1059582"/>
          </a:xfrm>
          <a:prstGeom prst="rect">
            <a:avLst/>
          </a:prstGeom>
          <a:solidFill>
            <a:schemeClr val="accent1">
              <a:lumMod val="75000"/>
            </a:schemeClr>
          </a:solidFill>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2022/12/1</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354" y="0"/>
            <a:ext cx="9141291" cy="5143500"/>
          </a:xfrm>
          <a:prstGeom prst="rect">
            <a:avLst/>
          </a:prstGeom>
        </p:spPr>
      </p:pic>
      <p:pic>
        <p:nvPicPr>
          <p:cNvPr id="5" name="图片 4"/>
          <p:cNvPicPr>
            <a:picLocks noChangeAspect="1"/>
          </p:cNvPicPr>
          <p:nvPr/>
        </p:nvPicPr>
        <p:blipFill>
          <a:blip r:embed="rId3"/>
          <a:stretch>
            <a:fillRect/>
          </a:stretch>
        </p:blipFill>
        <p:spPr>
          <a:xfrm>
            <a:off x="1441962" y="417200"/>
            <a:ext cx="6260074" cy="4522858"/>
          </a:xfrm>
          <a:prstGeom prst="rect">
            <a:avLst/>
          </a:prstGeom>
        </p:spPr>
      </p:pic>
      <p:pic>
        <p:nvPicPr>
          <p:cNvPr id="6" name="图片 5"/>
          <p:cNvPicPr>
            <a:picLocks noChangeAspect="1"/>
          </p:cNvPicPr>
          <p:nvPr/>
        </p:nvPicPr>
        <p:blipFill>
          <a:blip r:embed="rId4"/>
          <a:stretch>
            <a:fillRect/>
          </a:stretch>
        </p:blipFill>
        <p:spPr>
          <a:xfrm>
            <a:off x="1563873" y="1026542"/>
            <a:ext cx="6016254" cy="3090416"/>
          </a:xfrm>
          <a:prstGeom prst="rect">
            <a:avLst/>
          </a:prstGeom>
        </p:spPr>
      </p:pic>
      <p:sp>
        <p:nvSpPr>
          <p:cNvPr id="2" name="标题 1"/>
          <p:cNvSpPr>
            <a:spLocks noGrp="1"/>
          </p:cNvSpPr>
          <p:nvPr>
            <p:ph type="ctrTitle"/>
          </p:nvPr>
        </p:nvSpPr>
        <p:spPr>
          <a:xfrm>
            <a:off x="1979712" y="1923678"/>
            <a:ext cx="5184576" cy="1512168"/>
          </a:xfrm>
          <a:noFill/>
        </p:spPr>
        <p:txBody>
          <a:bodyPr>
            <a:noAutofit/>
          </a:bodyPr>
          <a:lstStyle/>
          <a:p>
            <a:r>
              <a:rPr lang="zh-CN" altLang="en-US"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a:t>
            </a:r>
            <a:r>
              <a:rPr lang="en-US" altLang="zh-CN"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a:t>
            </a:r>
            <a:r>
              <a:rPr lang="zh-CN" altLang="en-US"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分布式</a:t>
            </a:r>
            <a:r>
              <a:rPr lang="zh-CN" altLang="en-US"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计算框架</a:t>
            </a:r>
            <a:r>
              <a:rPr lang="en-US" altLang="zh-CN"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MapReduce</a:t>
            </a:r>
            <a:endParaRPr lang="zh-CN" altLang="en-US" sz="20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3892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E967BF-1A5D-4C0C-9F7B-F3401B9FC3E8}"/>
              </a:ext>
            </a:extLst>
          </p:cNvPr>
          <p:cNvSpPr>
            <a:spLocks noGrp="1"/>
          </p:cNvSpPr>
          <p:nvPr>
            <p:ph type="title"/>
          </p:nvPr>
        </p:nvSpPr>
        <p:spPr/>
        <p:txBody>
          <a:bodyPr>
            <a:normAutofit fontScale="90000"/>
          </a:bodyPr>
          <a:lstStyle/>
          <a:p>
            <a:r>
              <a:rPr lang="zh-CN" altLang="en-US" dirty="0"/>
              <a:t>本章学习目标</a:t>
            </a:r>
          </a:p>
        </p:txBody>
      </p:sp>
      <p:sp>
        <p:nvSpPr>
          <p:cNvPr id="3" name="内容占位符 2">
            <a:extLst>
              <a:ext uri="{FF2B5EF4-FFF2-40B4-BE49-F238E27FC236}">
                <a16:creationId xmlns:a16="http://schemas.microsoft.com/office/drawing/2014/main" id="{FA34CA97-F3D0-4D11-A78B-05A905A057F1}"/>
              </a:ext>
            </a:extLst>
          </p:cNvPr>
          <p:cNvSpPr>
            <a:spLocks noGrp="1"/>
          </p:cNvSpPr>
          <p:nvPr>
            <p:ph idx="1"/>
          </p:nvPr>
        </p:nvSpPr>
        <p:spPr/>
        <p:txBody>
          <a:bodyPr>
            <a:normAutofit fontScale="77500" lnSpcReduction="20000"/>
          </a:bodyPr>
          <a:lstStyle/>
          <a:p>
            <a:r>
              <a:rPr lang="zh-CN" altLang="en-US" dirty="0"/>
              <a:t>掌握</a:t>
            </a:r>
            <a:r>
              <a:rPr lang="en-US" altLang="zh-CN" dirty="0"/>
              <a:t>MapReduce</a:t>
            </a:r>
            <a:r>
              <a:rPr lang="zh-CN" altLang="en-US" dirty="0"/>
              <a:t>的基本工作原理；</a:t>
            </a:r>
          </a:p>
          <a:p>
            <a:r>
              <a:rPr lang="zh-CN" altLang="en-US" dirty="0"/>
              <a:t>掌握</a:t>
            </a:r>
            <a:r>
              <a:rPr lang="en-US" altLang="zh-CN" dirty="0"/>
              <a:t>MapReduce</a:t>
            </a:r>
            <a:r>
              <a:rPr lang="zh-CN" altLang="en-US" dirty="0"/>
              <a:t>各步骤输入</a:t>
            </a:r>
            <a:r>
              <a:rPr lang="en-US" altLang="zh-CN" dirty="0"/>
              <a:t>/</a:t>
            </a:r>
            <a:r>
              <a:rPr lang="zh-CN" altLang="en-US" dirty="0"/>
              <a:t>输出的衔接关系；</a:t>
            </a:r>
          </a:p>
          <a:p>
            <a:r>
              <a:rPr lang="zh-CN" altLang="en-US"/>
              <a:t>掌握</a:t>
            </a:r>
            <a:r>
              <a:rPr lang="zh-CN" altLang="en-US" dirty="0"/>
              <a:t>利用</a:t>
            </a:r>
            <a:r>
              <a:rPr lang="en-US" altLang="zh-CN" dirty="0"/>
              <a:t>Hadoop Streaming</a:t>
            </a:r>
            <a:r>
              <a:rPr lang="zh-CN" altLang="en-US" dirty="0"/>
              <a:t>进行代码测试的基本思路与方法；</a:t>
            </a:r>
          </a:p>
          <a:p>
            <a:r>
              <a:rPr lang="zh-CN" altLang="en-US" dirty="0"/>
              <a:t>掌握利用</a:t>
            </a:r>
            <a:r>
              <a:rPr lang="en-US" altLang="zh-CN" dirty="0"/>
              <a:t>Python</a:t>
            </a:r>
            <a:r>
              <a:rPr lang="zh-CN" altLang="en-US" dirty="0"/>
              <a:t>设计</a:t>
            </a:r>
            <a:r>
              <a:rPr lang="en-US" altLang="zh-CN" dirty="0"/>
              <a:t>MapReduce</a:t>
            </a:r>
            <a:r>
              <a:rPr lang="zh-CN" altLang="en-US" dirty="0"/>
              <a:t>程序的思路和方法；</a:t>
            </a:r>
          </a:p>
          <a:p>
            <a:r>
              <a:rPr lang="zh-CN" altLang="en-US" dirty="0"/>
              <a:t>掌握</a:t>
            </a:r>
            <a:r>
              <a:rPr lang="en-US" altLang="zh-CN" dirty="0"/>
              <a:t>MapReduce</a:t>
            </a:r>
            <a:r>
              <a:rPr lang="zh-CN" altLang="en-US" dirty="0"/>
              <a:t>程序设计模式的基本概念，以及理解常见的几种设计模式；</a:t>
            </a:r>
          </a:p>
          <a:p>
            <a:r>
              <a:rPr lang="zh-CN" altLang="en-US" dirty="0"/>
              <a:t>理解</a:t>
            </a:r>
            <a:r>
              <a:rPr lang="en-US" altLang="zh-CN" dirty="0" err="1"/>
              <a:t>MRJob</a:t>
            </a:r>
            <a:r>
              <a:rPr lang="zh-CN" altLang="en-US" dirty="0"/>
              <a:t>的工作原理，并能够进行简单的</a:t>
            </a:r>
            <a:r>
              <a:rPr lang="en-US" altLang="zh-CN" dirty="0" err="1"/>
              <a:t>MRJob</a:t>
            </a:r>
            <a:r>
              <a:rPr lang="zh-CN" altLang="en-US" dirty="0"/>
              <a:t>程序设计应用。</a:t>
            </a:r>
          </a:p>
          <a:p>
            <a:endParaRPr lang="zh-CN" altLang="en-US" dirty="0"/>
          </a:p>
        </p:txBody>
      </p:sp>
    </p:spTree>
    <p:extLst>
      <p:ext uri="{BB962C8B-B14F-4D97-AF65-F5344CB8AC3E}">
        <p14:creationId xmlns:p14="http://schemas.microsoft.com/office/powerpoint/2010/main" val="2694713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3"/>
          <a:stretch>
            <a:fillRect/>
          </a:stretch>
        </p:blipFill>
        <p:spPr>
          <a:xfrm>
            <a:off x="1354" y="0"/>
            <a:ext cx="9141291" cy="5143500"/>
          </a:xfrm>
          <a:prstGeom prst="rect">
            <a:avLst/>
          </a:prstGeom>
        </p:spPr>
      </p:pic>
      <p:sp>
        <p:nvSpPr>
          <p:cNvPr id="6" name="Rectangle 5"/>
          <p:cNvSpPr>
            <a:spLocks noChangeArrowheads="1"/>
          </p:cNvSpPr>
          <p:nvPr/>
        </p:nvSpPr>
        <p:spPr bwMode="auto">
          <a:xfrm>
            <a:off x="788426" y="1439525"/>
            <a:ext cx="335152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7" name="Freeform 6"/>
          <p:cNvSpPr/>
          <p:nvPr/>
        </p:nvSpPr>
        <p:spPr bwMode="auto">
          <a:xfrm>
            <a:off x="226650" y="1439525"/>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8" name="TextBox 144"/>
          <p:cNvSpPr txBox="1"/>
          <p:nvPr/>
        </p:nvSpPr>
        <p:spPr>
          <a:xfrm>
            <a:off x="294124" y="1479194"/>
            <a:ext cx="686700" cy="438691"/>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01</a:t>
            </a:r>
            <a:endParaRPr lang="zh-CN" altLang="en-US" sz="2400" b="1" dirty="0">
              <a:solidFill>
                <a:schemeClr val="bg1"/>
              </a:solidFill>
              <a:latin typeface="微软雅黑" panose="020B0503020204020204" pitchFamily="34" charset="-122"/>
            </a:endParaRPr>
          </a:p>
        </p:txBody>
      </p:sp>
      <p:sp>
        <p:nvSpPr>
          <p:cNvPr id="9" name="TextBox 145"/>
          <p:cNvSpPr txBox="1"/>
          <p:nvPr/>
        </p:nvSpPr>
        <p:spPr>
          <a:xfrm>
            <a:off x="1045168" y="1538941"/>
            <a:ext cx="3094784"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MapReduce</a:t>
            </a:r>
            <a:r>
              <a:rPr lang="zh-CN" altLang="en-US" sz="2400" b="1" dirty="0">
                <a:solidFill>
                  <a:schemeClr val="bg1"/>
                </a:solidFill>
                <a:latin typeface="微软雅黑" panose="020B0503020204020204" pitchFamily="34" charset="-122"/>
                <a:ea typeface="微软雅黑" panose="020B0503020204020204" pitchFamily="34" charset="-122"/>
              </a:rPr>
              <a:t>概述</a:t>
            </a:r>
          </a:p>
        </p:txBody>
      </p:sp>
      <p:sp>
        <p:nvSpPr>
          <p:cNvPr id="10" name="Rectangle 5"/>
          <p:cNvSpPr>
            <a:spLocks noChangeArrowheads="1"/>
          </p:cNvSpPr>
          <p:nvPr/>
        </p:nvSpPr>
        <p:spPr bwMode="auto">
          <a:xfrm>
            <a:off x="788426" y="2149466"/>
            <a:ext cx="335152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11" name="Freeform 6"/>
          <p:cNvSpPr/>
          <p:nvPr/>
        </p:nvSpPr>
        <p:spPr bwMode="auto">
          <a:xfrm>
            <a:off x="226650" y="2149466"/>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12" name="TextBox 152"/>
          <p:cNvSpPr txBox="1"/>
          <p:nvPr/>
        </p:nvSpPr>
        <p:spPr>
          <a:xfrm>
            <a:off x="294124" y="2189134"/>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02</a:t>
            </a:r>
            <a:endParaRPr lang="zh-CN" altLang="en-US" sz="2400" b="1" dirty="0">
              <a:solidFill>
                <a:schemeClr val="bg1"/>
              </a:solidFill>
              <a:latin typeface="微软雅黑" panose="020B0503020204020204" pitchFamily="34" charset="-122"/>
            </a:endParaRPr>
          </a:p>
        </p:txBody>
      </p:sp>
      <p:sp>
        <p:nvSpPr>
          <p:cNvPr id="13" name="TextBox 153"/>
          <p:cNvSpPr txBox="1"/>
          <p:nvPr/>
        </p:nvSpPr>
        <p:spPr>
          <a:xfrm>
            <a:off x="1045167" y="2189133"/>
            <a:ext cx="3609447"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err="1">
                <a:solidFill>
                  <a:schemeClr val="bg1"/>
                </a:solidFill>
                <a:latin typeface="微软雅黑" panose="020B0503020204020204" pitchFamily="34" charset="-122"/>
                <a:ea typeface="微软雅黑" panose="020B0503020204020204" pitchFamily="34" charset="-122"/>
              </a:rPr>
              <a:t>WordCount</a:t>
            </a:r>
            <a:r>
              <a:rPr lang="zh-CN" altLang="en-US" sz="2400" b="1" dirty="0">
                <a:solidFill>
                  <a:schemeClr val="bg1"/>
                </a:solidFill>
                <a:latin typeface="微软雅黑" panose="020B0503020204020204" pitchFamily="34" charset="-122"/>
                <a:ea typeface="微软雅黑" panose="020B0503020204020204" pitchFamily="34" charset="-122"/>
              </a:rPr>
              <a:t>实例详解</a:t>
            </a:r>
          </a:p>
        </p:txBody>
      </p:sp>
      <p:grpSp>
        <p:nvGrpSpPr>
          <p:cNvPr id="14" name="组合 54"/>
          <p:cNvGrpSpPr/>
          <p:nvPr/>
        </p:nvGrpSpPr>
        <p:grpSpPr bwMode="auto">
          <a:xfrm>
            <a:off x="0" y="349949"/>
            <a:ext cx="9142645" cy="841713"/>
            <a:chOff x="256379" y="27271"/>
            <a:chExt cx="7683149" cy="841022"/>
          </a:xfrm>
        </p:grpSpPr>
        <p:grpSp>
          <p:nvGrpSpPr>
            <p:cNvPr id="15" name="组合 55"/>
            <p:cNvGrpSpPr/>
            <p:nvPr/>
          </p:nvGrpSpPr>
          <p:grpSpPr bwMode="auto">
            <a:xfrm>
              <a:off x="256379" y="27271"/>
              <a:ext cx="7683149" cy="837427"/>
              <a:chOff x="256379" y="27271"/>
              <a:chExt cx="7683149" cy="837427"/>
            </a:xfrm>
          </p:grpSpPr>
          <p:sp>
            <p:nvSpPr>
              <p:cNvPr id="17" name="文本框 57"/>
              <p:cNvSpPr txBox="1">
                <a:spLocks noChangeArrowheads="1"/>
              </p:cNvSpPr>
              <p:nvPr/>
            </p:nvSpPr>
            <p:spPr bwMode="auto">
              <a:xfrm>
                <a:off x="439196" y="27271"/>
                <a:ext cx="1432561" cy="584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3200" b="1" dirty="0">
                    <a:solidFill>
                      <a:srgbClr val="FFC000"/>
                    </a:solidFill>
                    <a:latin typeface="微软雅黑" panose="020B0503020204020204" pitchFamily="34" charset="-122"/>
                    <a:ea typeface="微软雅黑" panose="020B0503020204020204" pitchFamily="34" charset="-122"/>
                  </a:rPr>
                  <a:t>目 录</a:t>
                </a:r>
              </a:p>
            </p:txBody>
          </p:sp>
          <p:cxnSp>
            <p:nvCxnSpPr>
              <p:cNvPr id="18" name="直接连接符 58"/>
              <p:cNvCxnSpPr>
                <a:cxnSpLocks noChangeShapeType="1"/>
              </p:cNvCxnSpPr>
              <p:nvPr/>
            </p:nvCxnSpPr>
            <p:spPr bwMode="auto">
              <a:xfrm flipV="1">
                <a:off x="256379" y="817054"/>
                <a:ext cx="7683149" cy="47644"/>
              </a:xfrm>
              <a:prstGeom prst="line">
                <a:avLst/>
              </a:prstGeom>
              <a:noFill/>
              <a:ln w="6350">
                <a:solidFill>
                  <a:schemeClr val="bg1"/>
                </a:solidFill>
                <a:round/>
              </a:ln>
              <a:extLst>
                <a:ext uri="{909E8E84-426E-40DD-AFC4-6F175D3DCCD1}">
                  <a14:hiddenFill xmlns:a14="http://schemas.microsoft.com/office/drawing/2010/main">
                    <a:noFill/>
                  </a14:hiddenFill>
                </a:ext>
              </a:extLst>
            </p:spPr>
          </p:cxnSp>
        </p:grpSp>
        <p:sp>
          <p:nvSpPr>
            <p:cNvPr id="16" name="文本框 56"/>
            <p:cNvSpPr txBox="1">
              <a:spLocks noChangeArrowheads="1"/>
            </p:cNvSpPr>
            <p:nvPr/>
          </p:nvSpPr>
          <p:spPr bwMode="auto">
            <a:xfrm>
              <a:off x="871257" y="499264"/>
              <a:ext cx="1050505" cy="36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hangingPunct="1"/>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sp>
        <p:nvSpPr>
          <p:cNvPr id="60" name="Rectangle 5"/>
          <p:cNvSpPr>
            <a:spLocks noChangeArrowheads="1"/>
          </p:cNvSpPr>
          <p:nvPr/>
        </p:nvSpPr>
        <p:spPr bwMode="auto">
          <a:xfrm>
            <a:off x="788426" y="2985592"/>
            <a:ext cx="3358390"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1" name="Freeform 6"/>
          <p:cNvSpPr/>
          <p:nvPr/>
        </p:nvSpPr>
        <p:spPr bwMode="auto">
          <a:xfrm>
            <a:off x="226650" y="2985592"/>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62" name="TextBox 152"/>
          <p:cNvSpPr txBox="1"/>
          <p:nvPr/>
        </p:nvSpPr>
        <p:spPr>
          <a:xfrm>
            <a:off x="294124" y="3025260"/>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a:solidFill>
                  <a:schemeClr val="bg1"/>
                </a:solidFill>
                <a:latin typeface="微软雅黑" panose="020B0503020204020204" pitchFamily="34" charset="-122"/>
              </a:rPr>
              <a:t>03</a:t>
            </a:r>
            <a:endParaRPr lang="zh-CN" altLang="en-US" sz="2400" b="1" dirty="0">
              <a:solidFill>
                <a:schemeClr val="bg1"/>
              </a:solidFill>
              <a:latin typeface="微软雅黑" panose="020B0503020204020204" pitchFamily="34" charset="-122"/>
            </a:endParaRPr>
          </a:p>
        </p:txBody>
      </p:sp>
      <p:sp>
        <p:nvSpPr>
          <p:cNvPr id="63" name="TextBox 153"/>
          <p:cNvSpPr txBox="1"/>
          <p:nvPr/>
        </p:nvSpPr>
        <p:spPr>
          <a:xfrm>
            <a:off x="1141970" y="3023237"/>
            <a:ext cx="2774696"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rPr>
              <a:t>Python</a:t>
            </a:r>
            <a:r>
              <a:rPr lang="zh-CN" altLang="en-US" sz="2400" b="1" dirty="0">
                <a:solidFill>
                  <a:schemeClr val="bg1"/>
                </a:solidFill>
                <a:latin typeface="微软雅黑" panose="020B0503020204020204" pitchFamily="34" charset="-122"/>
                <a:ea typeface="微软雅黑" panose="020B0503020204020204" pitchFamily="34" charset="-122"/>
              </a:rPr>
              <a:t>代码测试</a:t>
            </a:r>
          </a:p>
        </p:txBody>
      </p:sp>
      <p:sp>
        <p:nvSpPr>
          <p:cNvPr id="28" name="Rectangle 5"/>
          <p:cNvSpPr>
            <a:spLocks noChangeArrowheads="1"/>
          </p:cNvSpPr>
          <p:nvPr/>
        </p:nvSpPr>
        <p:spPr bwMode="auto">
          <a:xfrm>
            <a:off x="4905854" y="1419622"/>
            <a:ext cx="4058635" cy="851319"/>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9" name="Freeform 6"/>
          <p:cNvSpPr/>
          <p:nvPr/>
        </p:nvSpPr>
        <p:spPr bwMode="auto">
          <a:xfrm>
            <a:off x="4303208" y="1419622"/>
            <a:ext cx="653155" cy="851319"/>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30" name="TextBox 144"/>
          <p:cNvSpPr txBox="1"/>
          <p:nvPr/>
        </p:nvSpPr>
        <p:spPr>
          <a:xfrm>
            <a:off x="4370682" y="1459291"/>
            <a:ext cx="516754" cy="438555"/>
          </a:xfrm>
          <a:prstGeom prst="rect">
            <a:avLst/>
          </a:prstGeom>
          <a:noFill/>
        </p:spPr>
        <p:txBody>
          <a:bodyPr wrap="non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a:solidFill>
                  <a:schemeClr val="bg1"/>
                </a:solidFill>
                <a:latin typeface="微软雅黑" panose="020B0503020204020204" pitchFamily="34" charset="-122"/>
              </a:rPr>
              <a:t>04</a:t>
            </a:r>
            <a:endParaRPr lang="zh-CN" altLang="en-US" sz="2400" b="1" dirty="0">
              <a:solidFill>
                <a:schemeClr val="bg1"/>
              </a:solidFill>
              <a:latin typeface="微软雅黑" panose="020B0503020204020204" pitchFamily="34" charset="-122"/>
            </a:endParaRPr>
          </a:p>
        </p:txBody>
      </p:sp>
      <p:sp>
        <p:nvSpPr>
          <p:cNvPr id="31" name="TextBox 145"/>
          <p:cNvSpPr txBox="1"/>
          <p:nvPr/>
        </p:nvSpPr>
        <p:spPr>
          <a:xfrm>
            <a:off x="5162596" y="1463054"/>
            <a:ext cx="3793872" cy="807887"/>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利用</a:t>
            </a:r>
            <a:r>
              <a:rPr lang="en-US" altLang="zh-CN" sz="2400" b="1" dirty="0">
                <a:solidFill>
                  <a:schemeClr val="bg1"/>
                </a:solidFill>
                <a:latin typeface="微软雅黑" panose="020B0503020204020204" pitchFamily="34" charset="-122"/>
                <a:ea typeface="微软雅黑" panose="020B0503020204020204" pitchFamily="34" charset="-122"/>
              </a:rPr>
              <a:t>Python</a:t>
            </a:r>
            <a:r>
              <a:rPr lang="zh-CN" altLang="en-US" sz="2400" b="1" dirty="0">
                <a:solidFill>
                  <a:schemeClr val="bg1"/>
                </a:solidFill>
                <a:latin typeface="微软雅黑" panose="020B0503020204020204" pitchFamily="34" charset="-122"/>
                <a:ea typeface="微软雅黑" panose="020B0503020204020204" pitchFamily="34" charset="-122"/>
              </a:rPr>
              <a:t>的迭代器和生成器优化</a:t>
            </a:r>
            <a:r>
              <a:rPr lang="en-US" altLang="zh-CN" sz="2400" b="1" dirty="0" err="1">
                <a:solidFill>
                  <a:schemeClr val="bg1"/>
                </a:solidFill>
                <a:latin typeface="微软雅黑" panose="020B0503020204020204" pitchFamily="34" charset="-122"/>
                <a:ea typeface="微软雅黑" panose="020B0503020204020204" pitchFamily="34" charset="-122"/>
              </a:rPr>
              <a:t>wordCount</a:t>
            </a:r>
            <a:r>
              <a:rPr lang="zh-CN" altLang="en-US" sz="2400" b="1" dirty="0">
                <a:solidFill>
                  <a:schemeClr val="bg1"/>
                </a:solidFill>
                <a:latin typeface="微软雅黑" panose="020B0503020204020204" pitchFamily="34" charset="-122"/>
                <a:ea typeface="微软雅黑" panose="020B0503020204020204" pitchFamily="34" charset="-122"/>
              </a:rPr>
              <a:t>程序</a:t>
            </a:r>
          </a:p>
        </p:txBody>
      </p:sp>
      <p:sp>
        <p:nvSpPr>
          <p:cNvPr id="32" name="Rectangle 5"/>
          <p:cNvSpPr>
            <a:spLocks noChangeArrowheads="1"/>
          </p:cNvSpPr>
          <p:nvPr/>
        </p:nvSpPr>
        <p:spPr bwMode="auto">
          <a:xfrm>
            <a:off x="4905855" y="2499742"/>
            <a:ext cx="4058634"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33" name="Freeform 6"/>
          <p:cNvSpPr/>
          <p:nvPr/>
        </p:nvSpPr>
        <p:spPr bwMode="auto">
          <a:xfrm>
            <a:off x="4303208" y="2499742"/>
            <a:ext cx="65315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34" name="TextBox 152"/>
          <p:cNvSpPr txBox="1"/>
          <p:nvPr/>
        </p:nvSpPr>
        <p:spPr>
          <a:xfrm>
            <a:off x="4370682" y="2539410"/>
            <a:ext cx="516754" cy="438555"/>
          </a:xfrm>
          <a:prstGeom prst="rect">
            <a:avLst/>
          </a:prstGeom>
          <a:noFill/>
        </p:spPr>
        <p:txBody>
          <a:bodyPr wrap="non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a:solidFill>
                  <a:schemeClr val="bg1"/>
                </a:solidFill>
                <a:latin typeface="微软雅黑" panose="020B0503020204020204" pitchFamily="34" charset="-122"/>
              </a:rPr>
              <a:t>05</a:t>
            </a:r>
            <a:endParaRPr lang="zh-CN" altLang="en-US" sz="2400" b="1" dirty="0">
              <a:solidFill>
                <a:schemeClr val="bg1"/>
              </a:solidFill>
              <a:latin typeface="微软雅黑" panose="020B0503020204020204" pitchFamily="34" charset="-122"/>
            </a:endParaRPr>
          </a:p>
        </p:txBody>
      </p:sp>
      <p:sp>
        <p:nvSpPr>
          <p:cNvPr id="35" name="TextBox 153"/>
          <p:cNvSpPr txBox="1"/>
          <p:nvPr/>
        </p:nvSpPr>
        <p:spPr>
          <a:xfrm>
            <a:off x="5162596" y="2539409"/>
            <a:ext cx="4433079"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rPr>
              <a:t>MapReduce</a:t>
            </a:r>
            <a:r>
              <a:rPr lang="zh-CN" altLang="en-US" sz="2400" b="1" dirty="0">
                <a:solidFill>
                  <a:schemeClr val="bg1"/>
                </a:solidFill>
                <a:latin typeface="微软雅黑" panose="020B0503020204020204" pitchFamily="34" charset="-122"/>
                <a:ea typeface="微软雅黑" panose="020B0503020204020204" pitchFamily="34" charset="-122"/>
              </a:rPr>
              <a:t>程序设计模式</a:t>
            </a:r>
          </a:p>
        </p:txBody>
      </p:sp>
      <p:sp>
        <p:nvSpPr>
          <p:cNvPr id="36" name="Rectangle 5"/>
          <p:cNvSpPr>
            <a:spLocks noChangeArrowheads="1"/>
          </p:cNvSpPr>
          <p:nvPr/>
        </p:nvSpPr>
        <p:spPr bwMode="auto">
          <a:xfrm>
            <a:off x="4905855" y="3220251"/>
            <a:ext cx="4058634" cy="859403"/>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37" name="Freeform 6"/>
          <p:cNvSpPr/>
          <p:nvPr/>
        </p:nvSpPr>
        <p:spPr bwMode="auto">
          <a:xfrm>
            <a:off x="4303208" y="3220251"/>
            <a:ext cx="653155" cy="877720"/>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38" name="TextBox 144"/>
          <p:cNvSpPr txBox="1"/>
          <p:nvPr/>
        </p:nvSpPr>
        <p:spPr>
          <a:xfrm>
            <a:off x="4396237" y="3455526"/>
            <a:ext cx="516754" cy="438555"/>
          </a:xfrm>
          <a:prstGeom prst="rect">
            <a:avLst/>
          </a:prstGeom>
          <a:noFill/>
        </p:spPr>
        <p:txBody>
          <a:bodyPr wrap="non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a:solidFill>
                  <a:schemeClr val="bg1"/>
                </a:solidFill>
                <a:latin typeface="微软雅黑" panose="020B0503020204020204" pitchFamily="34" charset="-122"/>
              </a:rPr>
              <a:t>06</a:t>
            </a:r>
            <a:endParaRPr lang="zh-CN" altLang="en-US" sz="2400" b="1" dirty="0">
              <a:solidFill>
                <a:schemeClr val="bg1"/>
              </a:solidFill>
              <a:latin typeface="微软雅黑" panose="020B0503020204020204" pitchFamily="34" charset="-122"/>
            </a:endParaRPr>
          </a:p>
        </p:txBody>
      </p:sp>
      <p:sp>
        <p:nvSpPr>
          <p:cNvPr id="39" name="TextBox 145"/>
          <p:cNvSpPr txBox="1"/>
          <p:nvPr/>
        </p:nvSpPr>
        <p:spPr>
          <a:xfrm>
            <a:off x="5135935" y="3271767"/>
            <a:ext cx="3713941" cy="807887"/>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用</a:t>
            </a:r>
            <a:r>
              <a:rPr lang="en-US" altLang="zh-CN" sz="2400" b="1" dirty="0" err="1">
                <a:solidFill>
                  <a:schemeClr val="bg1"/>
                </a:solidFill>
                <a:latin typeface="微软雅黑" panose="020B0503020204020204" pitchFamily="34" charset="-122"/>
                <a:ea typeface="微软雅黑" panose="020B0503020204020204" pitchFamily="34" charset="-122"/>
              </a:rPr>
              <a:t>MRJob</a:t>
            </a:r>
            <a:r>
              <a:rPr lang="zh-CN" altLang="en-US" sz="2400" b="1" dirty="0">
                <a:solidFill>
                  <a:schemeClr val="bg1"/>
                </a:solidFill>
                <a:latin typeface="微软雅黑" panose="020B0503020204020204" pitchFamily="34" charset="-122"/>
                <a:ea typeface="微软雅黑" panose="020B0503020204020204" pitchFamily="34" charset="-122"/>
              </a:rPr>
              <a:t>库编写</a:t>
            </a:r>
            <a:r>
              <a:rPr lang="en-US" altLang="zh-CN" sz="2400" b="1" dirty="0">
                <a:solidFill>
                  <a:schemeClr val="bg1"/>
                </a:solidFill>
                <a:latin typeface="微软雅黑" panose="020B0503020204020204" pitchFamily="34" charset="-122"/>
                <a:ea typeface="微软雅黑" panose="020B0503020204020204" pitchFamily="34" charset="-122"/>
              </a:rPr>
              <a:t>MapReduce</a:t>
            </a:r>
            <a:r>
              <a:rPr lang="zh-CN" altLang="en-US" sz="2400" b="1" dirty="0">
                <a:solidFill>
                  <a:schemeClr val="bg1"/>
                </a:solidFill>
                <a:latin typeface="微软雅黑" panose="020B0503020204020204" pitchFamily="34" charset="-122"/>
                <a:ea typeface="微软雅黑" panose="020B0503020204020204" pitchFamily="34" charset="-122"/>
              </a:rPr>
              <a:t>程序</a:t>
            </a:r>
          </a:p>
        </p:txBody>
      </p:sp>
      <p:sp>
        <p:nvSpPr>
          <p:cNvPr id="40" name="Rectangle 5"/>
          <p:cNvSpPr>
            <a:spLocks noChangeArrowheads="1"/>
          </p:cNvSpPr>
          <p:nvPr/>
        </p:nvSpPr>
        <p:spPr bwMode="auto">
          <a:xfrm>
            <a:off x="4905855" y="4299942"/>
            <a:ext cx="4058634"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41" name="Freeform 6"/>
          <p:cNvSpPr/>
          <p:nvPr/>
        </p:nvSpPr>
        <p:spPr bwMode="auto">
          <a:xfrm>
            <a:off x="4303208" y="4299942"/>
            <a:ext cx="65315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42" name="TextBox 152"/>
          <p:cNvSpPr txBox="1"/>
          <p:nvPr/>
        </p:nvSpPr>
        <p:spPr>
          <a:xfrm>
            <a:off x="4370682" y="4339610"/>
            <a:ext cx="516754" cy="438555"/>
          </a:xfrm>
          <a:prstGeom prst="rect">
            <a:avLst/>
          </a:prstGeom>
          <a:noFill/>
        </p:spPr>
        <p:txBody>
          <a:bodyPr wrap="non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a:solidFill>
                  <a:schemeClr val="bg1"/>
                </a:solidFill>
                <a:latin typeface="微软雅黑" panose="020B0503020204020204" pitchFamily="34" charset="-122"/>
              </a:rPr>
              <a:t>07</a:t>
            </a:r>
            <a:endParaRPr lang="zh-CN" altLang="en-US" sz="2400" b="1" dirty="0">
              <a:solidFill>
                <a:schemeClr val="bg1"/>
              </a:solidFill>
              <a:latin typeface="微软雅黑" panose="020B0503020204020204" pitchFamily="34" charset="-122"/>
            </a:endParaRPr>
          </a:p>
        </p:txBody>
      </p:sp>
      <p:sp>
        <p:nvSpPr>
          <p:cNvPr id="43" name="TextBox 153"/>
          <p:cNvSpPr txBox="1"/>
          <p:nvPr/>
        </p:nvSpPr>
        <p:spPr>
          <a:xfrm>
            <a:off x="5162596" y="4339609"/>
            <a:ext cx="4036983" cy="438555"/>
          </a:xfrm>
          <a:prstGeom prst="rect">
            <a:avLst/>
          </a:prstGeom>
          <a:noFill/>
        </p:spPr>
        <p:txBody>
          <a:bodyPr wrap="square" lIns="68553" tIns="34277" rIns="68553" bIns="34277" rtlCol="0">
            <a:spAutoFit/>
          </a:bodyPr>
          <a:lstStyle/>
          <a:p>
            <a:pPr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rPr>
              <a:t>本章小结</a:t>
            </a:r>
          </a:p>
        </p:txBody>
      </p:sp>
    </p:spTree>
    <p:extLst>
      <p:ext uri="{BB962C8B-B14F-4D97-AF65-F5344CB8AC3E}">
        <p14:creationId xmlns:p14="http://schemas.microsoft.com/office/powerpoint/2010/main" val="318531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000"/>
                            </p:stCondLst>
                            <p:childTnLst>
                              <p:par>
                                <p:cTn id="21" presetID="2" presetClass="entr" presetSubtype="2"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par>
                          <p:cTn id="36" fill="hold">
                            <p:stCondLst>
                              <p:cond delay="2000"/>
                            </p:stCondLst>
                            <p:childTnLst>
                              <p:par>
                                <p:cTn id="37" presetID="2" presetClass="entr" presetSubtype="2" fill="hold" grpId="0" nodeType="after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additive="base">
                                        <p:cTn id="39" dur="500" fill="hold"/>
                                        <p:tgtEl>
                                          <p:spTgt spid="60"/>
                                        </p:tgtEl>
                                        <p:attrNameLst>
                                          <p:attrName>ppt_x</p:attrName>
                                        </p:attrNameLst>
                                      </p:cBhvr>
                                      <p:tavLst>
                                        <p:tav tm="0">
                                          <p:val>
                                            <p:strVal val="1+#ppt_w/2"/>
                                          </p:val>
                                        </p:tav>
                                        <p:tav tm="100000">
                                          <p:val>
                                            <p:strVal val="#ppt_x"/>
                                          </p:val>
                                        </p:tav>
                                      </p:tavLst>
                                    </p:anim>
                                    <p:anim calcmode="lin" valueType="num">
                                      <p:cBhvr additive="base">
                                        <p:cTn id="40" dur="500" fill="hold"/>
                                        <p:tgtEl>
                                          <p:spTgt spid="6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 calcmode="lin" valueType="num">
                                      <p:cBhvr additive="base">
                                        <p:cTn id="43" dur="500" fill="hold"/>
                                        <p:tgtEl>
                                          <p:spTgt spid="61"/>
                                        </p:tgtEl>
                                        <p:attrNameLst>
                                          <p:attrName>ppt_x</p:attrName>
                                        </p:attrNameLst>
                                      </p:cBhvr>
                                      <p:tavLst>
                                        <p:tav tm="0">
                                          <p:val>
                                            <p:strVal val="0-#ppt_w/2"/>
                                          </p:val>
                                        </p:tav>
                                        <p:tav tm="100000">
                                          <p:val>
                                            <p:strVal val="#ppt_x"/>
                                          </p:val>
                                        </p:tav>
                                      </p:tavLst>
                                    </p:anim>
                                    <p:anim calcmode="lin" valueType="num">
                                      <p:cBhvr additive="base">
                                        <p:cTn id="44" dur="500" fill="hold"/>
                                        <p:tgtEl>
                                          <p:spTgt spid="61"/>
                                        </p:tgtEl>
                                        <p:attrNameLst>
                                          <p:attrName>ppt_y</p:attrName>
                                        </p:attrNameLst>
                                      </p:cBhvr>
                                      <p:tavLst>
                                        <p:tav tm="0">
                                          <p:val>
                                            <p:strVal val="#ppt_y"/>
                                          </p:val>
                                        </p:tav>
                                        <p:tav tm="100000">
                                          <p:val>
                                            <p:strVal val="#ppt_y"/>
                                          </p:val>
                                        </p:tav>
                                      </p:tavLst>
                                    </p:anim>
                                  </p:childTnLst>
                                </p:cTn>
                              </p:par>
                            </p:childTnLst>
                          </p:cTn>
                        </p:par>
                        <p:par>
                          <p:cTn id="45" fill="hold">
                            <p:stCondLst>
                              <p:cond delay="2500"/>
                            </p:stCondLst>
                            <p:childTnLst>
                              <p:par>
                                <p:cTn id="46" presetID="22" presetClass="entr" presetSubtype="8" fill="hold" grpId="0" nodeType="after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wipe(left)">
                                      <p:cBhvr>
                                        <p:cTn id="48" dur="500"/>
                                        <p:tgtEl>
                                          <p:spTgt spid="62"/>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wipe(left)">
                                      <p:cBhvr>
                                        <p:cTn id="51" dur="500"/>
                                        <p:tgtEl>
                                          <p:spTgt spid="63"/>
                                        </p:tgtEl>
                                      </p:cBhvr>
                                    </p:animEffect>
                                  </p:childTnLst>
                                </p:cTn>
                              </p:par>
                            </p:childTnLst>
                          </p:cTn>
                        </p:par>
                        <p:par>
                          <p:cTn id="52" fill="hold">
                            <p:stCondLst>
                              <p:cond delay="3000"/>
                            </p:stCondLst>
                            <p:childTnLst>
                              <p:par>
                                <p:cTn id="53" presetID="2" presetClass="entr" presetSubtype="2" fill="hold" grpId="0" nodeType="afterEffect">
                                  <p:stCondLst>
                                    <p:cond delay="0"/>
                                  </p:stCondLst>
                                  <p:childTnLst>
                                    <p:set>
                                      <p:cBhvr>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1+#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 calcmode="lin" valueType="num">
                                      <p:cBhvr additive="base">
                                        <p:cTn id="59" dur="500" fill="hold"/>
                                        <p:tgtEl>
                                          <p:spTgt spid="29"/>
                                        </p:tgtEl>
                                        <p:attrNameLst>
                                          <p:attrName>ppt_x</p:attrName>
                                        </p:attrNameLst>
                                      </p:cBhvr>
                                      <p:tavLst>
                                        <p:tav tm="0">
                                          <p:val>
                                            <p:strVal val="0-#ppt_w/2"/>
                                          </p:val>
                                        </p:tav>
                                        <p:tav tm="100000">
                                          <p:val>
                                            <p:strVal val="#ppt_x"/>
                                          </p:val>
                                        </p:tav>
                                      </p:tavLst>
                                    </p:anim>
                                    <p:anim calcmode="lin" valueType="num">
                                      <p:cBhvr additive="base">
                                        <p:cTn id="60" dur="500" fill="hold"/>
                                        <p:tgtEl>
                                          <p:spTgt spid="29"/>
                                        </p:tgtEl>
                                        <p:attrNameLst>
                                          <p:attrName>ppt_y</p:attrName>
                                        </p:attrNameLst>
                                      </p:cBhvr>
                                      <p:tavLst>
                                        <p:tav tm="0">
                                          <p:val>
                                            <p:strVal val="#ppt_y"/>
                                          </p:val>
                                        </p:tav>
                                        <p:tav tm="100000">
                                          <p:val>
                                            <p:strVal val="#ppt_y"/>
                                          </p:val>
                                        </p:tav>
                                      </p:tavLst>
                                    </p:anim>
                                  </p:childTnLst>
                                </p:cTn>
                              </p:par>
                            </p:childTnLst>
                          </p:cTn>
                        </p:par>
                        <p:par>
                          <p:cTn id="61" fill="hold">
                            <p:stCondLst>
                              <p:cond delay="3500"/>
                            </p:stCondLst>
                            <p:childTnLst>
                              <p:par>
                                <p:cTn id="62" presetID="22" presetClass="entr" presetSubtype="8" fill="hold" grpId="0" nodeType="after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wipe(left)">
                                      <p:cBhvr>
                                        <p:cTn id="64" dur="500"/>
                                        <p:tgtEl>
                                          <p:spTgt spid="30"/>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left)">
                                      <p:cBhvr>
                                        <p:cTn id="67" dur="500"/>
                                        <p:tgtEl>
                                          <p:spTgt spid="31"/>
                                        </p:tgtEl>
                                      </p:cBhvr>
                                    </p:animEffect>
                                  </p:childTnLst>
                                </p:cTn>
                              </p:par>
                            </p:childTnLst>
                          </p:cTn>
                        </p:par>
                        <p:par>
                          <p:cTn id="68" fill="hold">
                            <p:stCondLst>
                              <p:cond delay="4000"/>
                            </p:stCondLst>
                            <p:childTnLst>
                              <p:par>
                                <p:cTn id="69" presetID="2" presetClass="entr" presetSubtype="2"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additive="base">
                                        <p:cTn id="71" dur="500" fill="hold"/>
                                        <p:tgtEl>
                                          <p:spTgt spid="32"/>
                                        </p:tgtEl>
                                        <p:attrNameLst>
                                          <p:attrName>ppt_x</p:attrName>
                                        </p:attrNameLst>
                                      </p:cBhvr>
                                      <p:tavLst>
                                        <p:tav tm="0">
                                          <p:val>
                                            <p:strVal val="1+#ppt_w/2"/>
                                          </p:val>
                                        </p:tav>
                                        <p:tav tm="100000">
                                          <p:val>
                                            <p:strVal val="#ppt_x"/>
                                          </p:val>
                                        </p:tav>
                                      </p:tavLst>
                                    </p:anim>
                                    <p:anim calcmode="lin" valueType="num">
                                      <p:cBhvr additive="base">
                                        <p:cTn id="72" dur="500" fill="hold"/>
                                        <p:tgtEl>
                                          <p:spTgt spid="32"/>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anim calcmode="lin" valueType="num">
                                      <p:cBhvr additive="base">
                                        <p:cTn id="75" dur="500" fill="hold"/>
                                        <p:tgtEl>
                                          <p:spTgt spid="33"/>
                                        </p:tgtEl>
                                        <p:attrNameLst>
                                          <p:attrName>ppt_x</p:attrName>
                                        </p:attrNameLst>
                                      </p:cBhvr>
                                      <p:tavLst>
                                        <p:tav tm="0">
                                          <p:val>
                                            <p:strVal val="0-#ppt_w/2"/>
                                          </p:val>
                                        </p:tav>
                                        <p:tav tm="100000">
                                          <p:val>
                                            <p:strVal val="#ppt_x"/>
                                          </p:val>
                                        </p:tav>
                                      </p:tavLst>
                                    </p:anim>
                                    <p:anim calcmode="lin" valueType="num">
                                      <p:cBhvr additive="base">
                                        <p:cTn id="76" dur="500" fill="hold"/>
                                        <p:tgtEl>
                                          <p:spTgt spid="33"/>
                                        </p:tgtEl>
                                        <p:attrNameLst>
                                          <p:attrName>ppt_y</p:attrName>
                                        </p:attrNameLst>
                                      </p:cBhvr>
                                      <p:tavLst>
                                        <p:tav tm="0">
                                          <p:val>
                                            <p:strVal val="#ppt_y"/>
                                          </p:val>
                                        </p:tav>
                                        <p:tav tm="100000">
                                          <p:val>
                                            <p:strVal val="#ppt_y"/>
                                          </p:val>
                                        </p:tav>
                                      </p:tavLst>
                                    </p:anim>
                                  </p:childTnLst>
                                </p:cTn>
                              </p:par>
                            </p:childTnLst>
                          </p:cTn>
                        </p:par>
                        <p:par>
                          <p:cTn id="77" fill="hold">
                            <p:stCondLst>
                              <p:cond delay="4500"/>
                            </p:stCondLst>
                            <p:childTnLst>
                              <p:par>
                                <p:cTn id="78" presetID="22" presetClass="entr" presetSubtype="8" fill="hold" grpId="0" nodeType="after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wipe(left)">
                                      <p:cBhvr>
                                        <p:cTn id="80" dur="500"/>
                                        <p:tgtEl>
                                          <p:spTgt spid="34"/>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left)">
                                      <p:cBhvr>
                                        <p:cTn id="83" dur="500"/>
                                        <p:tgtEl>
                                          <p:spTgt spid="35"/>
                                        </p:tgtEl>
                                      </p:cBhvr>
                                    </p:animEffect>
                                  </p:childTnLst>
                                </p:cTn>
                              </p:par>
                            </p:childTnLst>
                          </p:cTn>
                        </p:par>
                        <p:par>
                          <p:cTn id="84" fill="hold">
                            <p:stCondLst>
                              <p:cond delay="5000"/>
                            </p:stCondLst>
                            <p:childTnLst>
                              <p:par>
                                <p:cTn id="85" presetID="2" presetClass="entr" presetSubtype="2" fill="hold" grpId="0" nodeType="afterEffect">
                                  <p:stCondLst>
                                    <p:cond delay="0"/>
                                  </p:stCondLst>
                                  <p:childTnLst>
                                    <p:set>
                                      <p:cBhvr>
                                        <p:cTn id="86" dur="1" fill="hold">
                                          <p:stCondLst>
                                            <p:cond delay="0"/>
                                          </p:stCondLst>
                                        </p:cTn>
                                        <p:tgtEl>
                                          <p:spTgt spid="36"/>
                                        </p:tgtEl>
                                        <p:attrNameLst>
                                          <p:attrName>style.visibility</p:attrName>
                                        </p:attrNameLst>
                                      </p:cBhvr>
                                      <p:to>
                                        <p:strVal val="visible"/>
                                      </p:to>
                                    </p:set>
                                    <p:anim calcmode="lin" valueType="num">
                                      <p:cBhvr additive="base">
                                        <p:cTn id="87" dur="500" fill="hold"/>
                                        <p:tgtEl>
                                          <p:spTgt spid="36"/>
                                        </p:tgtEl>
                                        <p:attrNameLst>
                                          <p:attrName>ppt_x</p:attrName>
                                        </p:attrNameLst>
                                      </p:cBhvr>
                                      <p:tavLst>
                                        <p:tav tm="0">
                                          <p:val>
                                            <p:strVal val="1+#ppt_w/2"/>
                                          </p:val>
                                        </p:tav>
                                        <p:tav tm="100000">
                                          <p:val>
                                            <p:strVal val="#ppt_x"/>
                                          </p:val>
                                        </p:tav>
                                      </p:tavLst>
                                    </p:anim>
                                    <p:anim calcmode="lin" valueType="num">
                                      <p:cBhvr additive="base">
                                        <p:cTn id="88" dur="500" fill="hold"/>
                                        <p:tgtEl>
                                          <p:spTgt spid="36"/>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37"/>
                                        </p:tgtEl>
                                        <p:attrNameLst>
                                          <p:attrName>style.visibility</p:attrName>
                                        </p:attrNameLst>
                                      </p:cBhvr>
                                      <p:to>
                                        <p:strVal val="visible"/>
                                      </p:to>
                                    </p:set>
                                    <p:anim calcmode="lin" valueType="num">
                                      <p:cBhvr additive="base">
                                        <p:cTn id="91" dur="500" fill="hold"/>
                                        <p:tgtEl>
                                          <p:spTgt spid="37"/>
                                        </p:tgtEl>
                                        <p:attrNameLst>
                                          <p:attrName>ppt_x</p:attrName>
                                        </p:attrNameLst>
                                      </p:cBhvr>
                                      <p:tavLst>
                                        <p:tav tm="0">
                                          <p:val>
                                            <p:strVal val="0-#ppt_w/2"/>
                                          </p:val>
                                        </p:tav>
                                        <p:tav tm="100000">
                                          <p:val>
                                            <p:strVal val="#ppt_x"/>
                                          </p:val>
                                        </p:tav>
                                      </p:tavLst>
                                    </p:anim>
                                    <p:anim calcmode="lin" valueType="num">
                                      <p:cBhvr additive="base">
                                        <p:cTn id="92" dur="500" fill="hold"/>
                                        <p:tgtEl>
                                          <p:spTgt spid="37"/>
                                        </p:tgtEl>
                                        <p:attrNameLst>
                                          <p:attrName>ppt_y</p:attrName>
                                        </p:attrNameLst>
                                      </p:cBhvr>
                                      <p:tavLst>
                                        <p:tav tm="0">
                                          <p:val>
                                            <p:strVal val="#ppt_y"/>
                                          </p:val>
                                        </p:tav>
                                        <p:tav tm="100000">
                                          <p:val>
                                            <p:strVal val="#ppt_y"/>
                                          </p:val>
                                        </p:tav>
                                      </p:tavLst>
                                    </p:anim>
                                  </p:childTnLst>
                                </p:cTn>
                              </p:par>
                            </p:childTnLst>
                          </p:cTn>
                        </p:par>
                        <p:par>
                          <p:cTn id="93" fill="hold">
                            <p:stCondLst>
                              <p:cond delay="5500"/>
                            </p:stCondLst>
                            <p:childTnLst>
                              <p:par>
                                <p:cTn id="94" presetID="22" presetClass="entr" presetSubtype="8" fill="hold" grpId="0" nodeType="after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wipe(left)">
                                      <p:cBhvr>
                                        <p:cTn id="96" dur="500"/>
                                        <p:tgtEl>
                                          <p:spTgt spid="38"/>
                                        </p:tgtEl>
                                      </p:cBhvr>
                                    </p:animEffect>
                                  </p:childTnLst>
                                </p:cTn>
                              </p:par>
                              <p:par>
                                <p:cTn id="97" presetID="22" presetClass="entr" presetSubtype="8"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wipe(left)">
                                      <p:cBhvr>
                                        <p:cTn id="99" dur="500"/>
                                        <p:tgtEl>
                                          <p:spTgt spid="39"/>
                                        </p:tgtEl>
                                      </p:cBhvr>
                                    </p:animEffect>
                                  </p:childTnLst>
                                </p:cTn>
                              </p:par>
                            </p:childTnLst>
                          </p:cTn>
                        </p:par>
                        <p:par>
                          <p:cTn id="100" fill="hold">
                            <p:stCondLst>
                              <p:cond delay="6000"/>
                            </p:stCondLst>
                            <p:childTnLst>
                              <p:par>
                                <p:cTn id="101" presetID="2" presetClass="entr" presetSubtype="2" fill="hold" grpId="0" nodeType="afterEffect">
                                  <p:stCondLst>
                                    <p:cond delay="0"/>
                                  </p:stCondLst>
                                  <p:childTnLst>
                                    <p:set>
                                      <p:cBhvr>
                                        <p:cTn id="102" dur="1" fill="hold">
                                          <p:stCondLst>
                                            <p:cond delay="0"/>
                                          </p:stCondLst>
                                        </p:cTn>
                                        <p:tgtEl>
                                          <p:spTgt spid="40"/>
                                        </p:tgtEl>
                                        <p:attrNameLst>
                                          <p:attrName>style.visibility</p:attrName>
                                        </p:attrNameLst>
                                      </p:cBhvr>
                                      <p:to>
                                        <p:strVal val="visible"/>
                                      </p:to>
                                    </p:set>
                                    <p:anim calcmode="lin" valueType="num">
                                      <p:cBhvr additive="base">
                                        <p:cTn id="103" dur="500" fill="hold"/>
                                        <p:tgtEl>
                                          <p:spTgt spid="40"/>
                                        </p:tgtEl>
                                        <p:attrNameLst>
                                          <p:attrName>ppt_x</p:attrName>
                                        </p:attrNameLst>
                                      </p:cBhvr>
                                      <p:tavLst>
                                        <p:tav tm="0">
                                          <p:val>
                                            <p:strVal val="1+#ppt_w/2"/>
                                          </p:val>
                                        </p:tav>
                                        <p:tav tm="100000">
                                          <p:val>
                                            <p:strVal val="#ppt_x"/>
                                          </p:val>
                                        </p:tav>
                                      </p:tavLst>
                                    </p:anim>
                                    <p:anim calcmode="lin" valueType="num">
                                      <p:cBhvr additive="base">
                                        <p:cTn id="104" dur="500" fill="hold"/>
                                        <p:tgtEl>
                                          <p:spTgt spid="40"/>
                                        </p:tgtEl>
                                        <p:attrNameLst>
                                          <p:attrName>ppt_y</p:attrName>
                                        </p:attrNameLst>
                                      </p:cBhvr>
                                      <p:tavLst>
                                        <p:tav tm="0">
                                          <p:val>
                                            <p:strVal val="#ppt_y"/>
                                          </p:val>
                                        </p:tav>
                                        <p:tav tm="100000">
                                          <p:val>
                                            <p:strVal val="#ppt_y"/>
                                          </p:val>
                                        </p:tav>
                                      </p:tavLst>
                                    </p:anim>
                                  </p:childTnLst>
                                </p:cTn>
                              </p:par>
                              <p:par>
                                <p:cTn id="105" presetID="2" presetClass="entr" presetSubtype="8"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 calcmode="lin" valueType="num">
                                      <p:cBhvr additive="base">
                                        <p:cTn id="107" dur="500" fill="hold"/>
                                        <p:tgtEl>
                                          <p:spTgt spid="41"/>
                                        </p:tgtEl>
                                        <p:attrNameLst>
                                          <p:attrName>ppt_x</p:attrName>
                                        </p:attrNameLst>
                                      </p:cBhvr>
                                      <p:tavLst>
                                        <p:tav tm="0">
                                          <p:val>
                                            <p:strVal val="0-#ppt_w/2"/>
                                          </p:val>
                                        </p:tav>
                                        <p:tav tm="100000">
                                          <p:val>
                                            <p:strVal val="#ppt_x"/>
                                          </p:val>
                                        </p:tav>
                                      </p:tavLst>
                                    </p:anim>
                                    <p:anim calcmode="lin" valueType="num">
                                      <p:cBhvr additive="base">
                                        <p:cTn id="108" dur="500" fill="hold"/>
                                        <p:tgtEl>
                                          <p:spTgt spid="41"/>
                                        </p:tgtEl>
                                        <p:attrNameLst>
                                          <p:attrName>ppt_y</p:attrName>
                                        </p:attrNameLst>
                                      </p:cBhvr>
                                      <p:tavLst>
                                        <p:tav tm="0">
                                          <p:val>
                                            <p:strVal val="#ppt_y"/>
                                          </p:val>
                                        </p:tav>
                                        <p:tav tm="100000">
                                          <p:val>
                                            <p:strVal val="#ppt_y"/>
                                          </p:val>
                                        </p:tav>
                                      </p:tavLst>
                                    </p:anim>
                                  </p:childTnLst>
                                </p:cTn>
                              </p:par>
                            </p:childTnLst>
                          </p:cTn>
                        </p:par>
                        <p:par>
                          <p:cTn id="109" fill="hold">
                            <p:stCondLst>
                              <p:cond delay="6500"/>
                            </p:stCondLst>
                            <p:childTnLst>
                              <p:par>
                                <p:cTn id="110" presetID="22" presetClass="entr" presetSubtype="8" fill="hold" grpId="0" nodeType="afterEffect">
                                  <p:stCondLst>
                                    <p:cond delay="0"/>
                                  </p:stCondLst>
                                  <p:childTnLst>
                                    <p:set>
                                      <p:cBhvr>
                                        <p:cTn id="111" dur="1" fill="hold">
                                          <p:stCondLst>
                                            <p:cond delay="0"/>
                                          </p:stCondLst>
                                        </p:cTn>
                                        <p:tgtEl>
                                          <p:spTgt spid="42"/>
                                        </p:tgtEl>
                                        <p:attrNameLst>
                                          <p:attrName>style.visibility</p:attrName>
                                        </p:attrNameLst>
                                      </p:cBhvr>
                                      <p:to>
                                        <p:strVal val="visible"/>
                                      </p:to>
                                    </p:set>
                                    <p:animEffect transition="in" filter="wipe(left)">
                                      <p:cBhvr>
                                        <p:cTn id="112" dur="500"/>
                                        <p:tgtEl>
                                          <p:spTgt spid="42"/>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43"/>
                                        </p:tgtEl>
                                        <p:attrNameLst>
                                          <p:attrName>style.visibility</p:attrName>
                                        </p:attrNameLst>
                                      </p:cBhvr>
                                      <p:to>
                                        <p:strVal val="visible"/>
                                      </p:to>
                                    </p:set>
                                    <p:animEffect transition="in" filter="wipe(left)">
                                      <p:cBhvr>
                                        <p:cTn id="11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60" grpId="0" animBg="1"/>
      <p:bldP spid="61" grpId="0" animBg="1"/>
      <p:bldP spid="62" grpId="0"/>
      <p:bldP spid="63" grpId="0"/>
      <p:bldP spid="28" grpId="0" animBg="1"/>
      <p:bldP spid="29" grpId="0" animBg="1"/>
      <p:bldP spid="30" grpId="0"/>
      <p:bldP spid="31" grpId="0"/>
      <p:bldP spid="32" grpId="0" animBg="1"/>
      <p:bldP spid="33" grpId="0" animBg="1"/>
      <p:bldP spid="34" grpId="0"/>
      <p:bldP spid="35" grpId="0"/>
      <p:bldP spid="36" grpId="0" animBg="1"/>
      <p:bldP spid="37" grpId="0" animBg="1"/>
      <p:bldP spid="38" grpId="0"/>
      <p:bldP spid="39" grpId="0"/>
      <p:bldP spid="40" grpId="0" animBg="1"/>
      <p:bldP spid="41" grpId="0" animBg="1"/>
      <p:bldP spid="42"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4441513"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MapReduce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概述</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01</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5343046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MapReduce</a:t>
            </a:r>
            <a:r>
              <a:rPr lang="zh-CN" altLang="en-US" dirty="0"/>
              <a:t>概述</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r>
              <a:rPr lang="en-US" altLang="zh-CN" sz="2800" dirty="0"/>
              <a:t>Hadoop MapReduce</a:t>
            </a:r>
            <a:r>
              <a:rPr lang="zh-CN" altLang="en-US" sz="2800" dirty="0"/>
              <a:t>是一个计算框架，目的是为了方便编写具有高可靠性、高容错性的，能在大型集群（数千个节点）上并行地处理大量数据（数</a:t>
            </a:r>
            <a:r>
              <a:rPr lang="en-US" altLang="zh-CN" sz="2800" dirty="0"/>
              <a:t>TB</a:t>
            </a:r>
            <a:r>
              <a:rPr lang="zh-CN" altLang="en-US" sz="2800" dirty="0"/>
              <a:t>的数据集</a:t>
            </a:r>
            <a:r>
              <a:rPr lang="zh-CN" altLang="en-US" sz="2800"/>
              <a:t>）的</a:t>
            </a:r>
            <a:r>
              <a:rPr lang="zh-CN" altLang="en-US" sz="2800" b="1">
                <a:solidFill>
                  <a:srgbClr val="FF0000"/>
                </a:solidFill>
              </a:rPr>
              <a:t>分布式应用程序</a:t>
            </a:r>
            <a:r>
              <a:rPr lang="zh-CN" altLang="en-US" sz="2800"/>
              <a:t>。</a:t>
            </a:r>
            <a:endParaRPr lang="en-US" altLang="zh-CN" sz="2800"/>
          </a:p>
          <a:p>
            <a:r>
              <a:rPr lang="zh-CN" altLang="en-US" sz="2800"/>
              <a:t>该</a:t>
            </a:r>
            <a:r>
              <a:rPr lang="zh-CN" altLang="en-US" sz="2800" dirty="0"/>
              <a:t>计算框架管理数据传递的所有细节，如发起任务、验证任务完成情况以及在节点之间复制数据等。</a:t>
            </a:r>
          </a:p>
        </p:txBody>
      </p:sp>
    </p:spTree>
    <p:extLst>
      <p:ext uri="{BB962C8B-B14F-4D97-AF65-F5344CB8AC3E}">
        <p14:creationId xmlns:p14="http://schemas.microsoft.com/office/powerpoint/2010/main" val="1339460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zh-CN" altLang="en-US" dirty="0"/>
              <a:t>第一个</a:t>
            </a:r>
            <a:r>
              <a:rPr lang="en-US" altLang="zh-CN" dirty="0"/>
              <a:t>MapReduce</a:t>
            </a:r>
            <a:r>
              <a:rPr lang="zh-CN" altLang="en-US" dirty="0"/>
              <a:t>的</a:t>
            </a:r>
            <a:r>
              <a:rPr lang="en-US" altLang="zh-CN" dirty="0"/>
              <a:t>Python</a:t>
            </a:r>
            <a:r>
              <a:rPr lang="zh-CN" altLang="en-US" dirty="0"/>
              <a:t>程序</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a:xfrm>
            <a:off x="457200" y="1200151"/>
            <a:ext cx="8229600" cy="2811759"/>
          </a:xfrm>
        </p:spPr>
        <p:txBody>
          <a:bodyPr>
            <a:normAutofit/>
          </a:bodyPr>
          <a:lstStyle/>
          <a:p>
            <a:r>
              <a:rPr lang="en-US" altLang="zh-CN" sz="2400" dirty="0"/>
              <a:t>Hadoop</a:t>
            </a:r>
            <a:r>
              <a:rPr lang="zh-CN" altLang="en-US" sz="2400" dirty="0"/>
              <a:t>自带有计算圆周率</a:t>
            </a:r>
            <a:r>
              <a:rPr lang="en-US" altLang="zh-CN" sz="2400" dirty="0"/>
              <a:t>PI</a:t>
            </a:r>
            <a:r>
              <a:rPr lang="zh-CN" altLang="en-US" sz="2400" dirty="0"/>
              <a:t>的示例</a:t>
            </a:r>
            <a:r>
              <a:rPr lang="en-US" altLang="zh-CN" sz="2400" dirty="0"/>
              <a:t>jar</a:t>
            </a:r>
            <a:r>
              <a:rPr lang="zh-CN" altLang="en-US" sz="2400" dirty="0"/>
              <a:t>包，程序用随机数的方式计算</a:t>
            </a:r>
            <a:r>
              <a:rPr lang="en-US" altLang="zh-CN" sz="2400" dirty="0"/>
              <a:t>PI</a:t>
            </a:r>
            <a:r>
              <a:rPr lang="zh-CN" altLang="en-US" sz="2400" dirty="0"/>
              <a:t>值，该程序是一个</a:t>
            </a:r>
            <a:r>
              <a:rPr lang="en-US" altLang="zh-CN" sz="2400" dirty="0"/>
              <a:t>java</a:t>
            </a:r>
            <a:r>
              <a:rPr lang="zh-CN" altLang="en-US" sz="2400" dirty="0"/>
              <a:t>程序，通过执行以下命令调用集群进行计算：</a:t>
            </a:r>
            <a:endParaRPr lang="en-US" altLang="zh-CN" sz="2400" dirty="0"/>
          </a:p>
          <a:p>
            <a:r>
              <a:rPr lang="en-US" altLang="zh-CN" sz="2000"/>
              <a:t>hadoop jar $HADOOP_HOME/share/hadoop/mapreduce/hadoop-mapreduce-examples-3.3.0.jar pi 10 10</a:t>
            </a:r>
            <a:endParaRPr lang="en-US" altLang="zh-CN" sz="2000" dirty="0"/>
          </a:p>
          <a:p>
            <a:r>
              <a:rPr lang="zh-CN" altLang="en-US" sz="2400" dirty="0"/>
              <a:t>输出结果如下：</a:t>
            </a:r>
            <a:endParaRPr lang="en-US" altLang="zh-CN" sz="2400" dirty="0"/>
          </a:p>
          <a:p>
            <a:endParaRPr lang="zh-CN" altLang="en-US" dirty="0"/>
          </a:p>
        </p:txBody>
      </p:sp>
      <p:pic>
        <p:nvPicPr>
          <p:cNvPr id="7" name="图片 6">
            <a:extLst>
              <a:ext uri="{FF2B5EF4-FFF2-40B4-BE49-F238E27FC236}">
                <a16:creationId xmlns:a16="http://schemas.microsoft.com/office/drawing/2014/main" id="{BD4F5CF4-59D2-45D7-8920-90FCBE438342}"/>
              </a:ext>
            </a:extLst>
          </p:cNvPr>
          <p:cNvPicPr>
            <a:picLocks noChangeAspect="1"/>
          </p:cNvPicPr>
          <p:nvPr/>
        </p:nvPicPr>
        <p:blipFill>
          <a:blip r:embed="rId2"/>
          <a:stretch>
            <a:fillRect/>
          </a:stretch>
        </p:blipFill>
        <p:spPr>
          <a:xfrm>
            <a:off x="163659" y="3651870"/>
            <a:ext cx="9144000" cy="1043066"/>
          </a:xfrm>
          <a:prstGeom prst="rect">
            <a:avLst/>
          </a:prstGeom>
        </p:spPr>
      </p:pic>
    </p:spTree>
    <p:extLst>
      <p:ext uri="{BB962C8B-B14F-4D97-AF65-F5344CB8AC3E}">
        <p14:creationId xmlns:p14="http://schemas.microsoft.com/office/powerpoint/2010/main" val="1731484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zh-CN" altLang="en-US" dirty="0"/>
              <a:t>第一个</a:t>
            </a:r>
            <a:r>
              <a:rPr lang="en-US" altLang="zh-CN" dirty="0"/>
              <a:t>MapReduce</a:t>
            </a:r>
            <a:r>
              <a:rPr lang="zh-CN" altLang="en-US" dirty="0"/>
              <a:t>的</a:t>
            </a:r>
            <a:r>
              <a:rPr lang="en-US" altLang="zh-CN" dirty="0"/>
              <a:t>Python</a:t>
            </a:r>
            <a:r>
              <a:rPr lang="zh-CN" altLang="en-US" dirty="0"/>
              <a:t>程序</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lstStyle/>
          <a:p>
            <a:r>
              <a:rPr lang="zh-CN" altLang="en-US" dirty="0"/>
              <a:t>第一个</a:t>
            </a:r>
            <a:r>
              <a:rPr lang="en-US" altLang="zh-CN"/>
              <a:t>Python</a:t>
            </a:r>
            <a:r>
              <a:rPr lang="zh-CN" altLang="en-US"/>
              <a:t>程序也是</a:t>
            </a:r>
            <a:r>
              <a:rPr lang="zh-CN" altLang="en-US" dirty="0"/>
              <a:t>实现</a:t>
            </a:r>
            <a:r>
              <a:rPr lang="en-US" altLang="zh-CN" dirty="0"/>
              <a:t>PI</a:t>
            </a:r>
            <a:r>
              <a:rPr lang="zh-CN" altLang="en-US" dirty="0"/>
              <a:t>的计算。</a:t>
            </a:r>
          </a:p>
        </p:txBody>
      </p:sp>
      <p:pic>
        <p:nvPicPr>
          <p:cNvPr id="6" name="图片 5">
            <a:extLst>
              <a:ext uri="{FF2B5EF4-FFF2-40B4-BE49-F238E27FC236}">
                <a16:creationId xmlns:a16="http://schemas.microsoft.com/office/drawing/2014/main" id="{D83FF156-D44F-41B0-A108-9FD5BB41EDA3}"/>
              </a:ext>
            </a:extLst>
          </p:cNvPr>
          <p:cNvPicPr>
            <a:picLocks noChangeAspect="1"/>
          </p:cNvPicPr>
          <p:nvPr/>
        </p:nvPicPr>
        <p:blipFill>
          <a:blip r:embed="rId2"/>
          <a:stretch>
            <a:fillRect/>
          </a:stretch>
        </p:blipFill>
        <p:spPr>
          <a:xfrm>
            <a:off x="1115616" y="1707654"/>
            <a:ext cx="6586667" cy="3394472"/>
          </a:xfrm>
          <a:prstGeom prst="rect">
            <a:avLst/>
          </a:prstGeom>
        </p:spPr>
      </p:pic>
    </p:spTree>
    <p:extLst>
      <p:ext uri="{BB962C8B-B14F-4D97-AF65-F5344CB8AC3E}">
        <p14:creationId xmlns:p14="http://schemas.microsoft.com/office/powerpoint/2010/main" val="2695430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zh-CN" altLang="en-US" dirty="0"/>
              <a:t>第一个</a:t>
            </a:r>
            <a:r>
              <a:rPr lang="en-US" altLang="zh-CN" dirty="0"/>
              <a:t>MapReduce</a:t>
            </a:r>
            <a:r>
              <a:rPr lang="zh-CN" altLang="en-US" dirty="0"/>
              <a:t>的</a:t>
            </a:r>
            <a:r>
              <a:rPr lang="en-US" altLang="zh-CN" dirty="0"/>
              <a:t>Python</a:t>
            </a:r>
            <a:r>
              <a:rPr lang="zh-CN" altLang="en-US" dirty="0"/>
              <a:t>程序</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56A3EF2C-309C-4D2E-B55F-A5BBF058F9BC}"/>
              </a:ext>
            </a:extLst>
          </p:cNvPr>
          <p:cNvPicPr>
            <a:picLocks noChangeAspect="1"/>
          </p:cNvPicPr>
          <p:nvPr/>
        </p:nvPicPr>
        <p:blipFill>
          <a:blip r:embed="rId2"/>
          <a:stretch>
            <a:fillRect/>
          </a:stretch>
        </p:blipFill>
        <p:spPr>
          <a:xfrm>
            <a:off x="965507" y="856724"/>
            <a:ext cx="6839503" cy="4286776"/>
          </a:xfrm>
          <a:prstGeom prst="rect">
            <a:avLst/>
          </a:prstGeom>
        </p:spPr>
      </p:pic>
    </p:spTree>
    <p:extLst>
      <p:ext uri="{BB962C8B-B14F-4D97-AF65-F5344CB8AC3E}">
        <p14:creationId xmlns:p14="http://schemas.microsoft.com/office/powerpoint/2010/main" val="4270530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zh-CN" altLang="en-US" dirty="0"/>
              <a:t>第一个</a:t>
            </a:r>
            <a:r>
              <a:rPr lang="en-US" altLang="zh-CN" dirty="0"/>
              <a:t>MapReduce</a:t>
            </a:r>
            <a:r>
              <a:rPr lang="zh-CN" altLang="en-US" dirty="0"/>
              <a:t>的</a:t>
            </a:r>
            <a:r>
              <a:rPr lang="en-US" altLang="zh-CN" dirty="0"/>
              <a:t>Python</a:t>
            </a:r>
            <a:r>
              <a:rPr lang="zh-CN" altLang="en-US" dirty="0"/>
              <a:t>程序</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normAutofit/>
          </a:bodyPr>
          <a:lstStyle/>
          <a:p>
            <a:r>
              <a:rPr lang="zh-CN" altLang="en-US" sz="2800" dirty="0"/>
              <a:t>在</a:t>
            </a:r>
            <a:r>
              <a:rPr lang="en-US" altLang="zh-CN" sz="2800" dirty="0"/>
              <a:t>HDFS</a:t>
            </a:r>
            <a:r>
              <a:rPr lang="zh-CN" altLang="en-US" sz="2800" dirty="0"/>
              <a:t>上创建一个空的文件，之后以该空文件作为输入文件便可以运行计算</a:t>
            </a:r>
            <a:r>
              <a:rPr lang="en-US" altLang="zh-CN" sz="2800" dirty="0"/>
              <a:t>PI</a:t>
            </a:r>
            <a:r>
              <a:rPr lang="zh-CN" altLang="en-US" sz="2800" dirty="0"/>
              <a:t>的程序了。运行完成后，可以在</a:t>
            </a:r>
            <a:r>
              <a:rPr lang="en-US" altLang="zh-CN" sz="2800" dirty="0"/>
              <a:t>HDFS</a:t>
            </a:r>
            <a:r>
              <a:rPr lang="zh-CN" altLang="en-US" sz="2800" dirty="0"/>
              <a:t>文件系统中查看输出文件</a:t>
            </a:r>
            <a:r>
              <a:rPr lang="zh-CN" altLang="en-US" sz="2800"/>
              <a:t>内容。</a:t>
            </a:r>
            <a:endParaRPr lang="en-US" altLang="zh-CN" sz="2800"/>
          </a:p>
          <a:p>
            <a:r>
              <a:rPr lang="zh-CN" altLang="en-US" sz="2800"/>
              <a:t>假设</a:t>
            </a:r>
            <a:r>
              <a:rPr lang="zh-CN" altLang="en-US" sz="2800" dirty="0"/>
              <a:t>把程序对应的</a:t>
            </a:r>
            <a:r>
              <a:rPr lang="en-US" altLang="zh-CN" sz="2800" dirty="0"/>
              <a:t>mapper</a:t>
            </a:r>
            <a:r>
              <a:rPr lang="zh-CN" altLang="en-US" sz="2800" dirty="0"/>
              <a:t>和</a:t>
            </a:r>
            <a:r>
              <a:rPr lang="en-US" altLang="zh-CN" sz="2800" dirty="0"/>
              <a:t>reducer</a:t>
            </a:r>
            <a:r>
              <a:rPr lang="zh-CN" altLang="en-US" sz="2800" dirty="0"/>
              <a:t>存放在“</a:t>
            </a:r>
            <a:r>
              <a:rPr lang="en-US" altLang="zh-CN" sz="2800" dirty="0"/>
              <a:t>/codes</a:t>
            </a:r>
            <a:r>
              <a:rPr lang="en-US" altLang="zh-CN" sz="2800"/>
              <a:t>/Pi”</a:t>
            </a:r>
            <a:r>
              <a:rPr lang="zh-CN" altLang="en-US" sz="2800"/>
              <a:t>文件夹</a:t>
            </a:r>
            <a:r>
              <a:rPr lang="zh-CN" altLang="en-US" sz="2800" dirty="0"/>
              <a:t>中，</a:t>
            </a:r>
            <a:r>
              <a:rPr lang="en-US" altLang="zh-CN" sz="2800" dirty="0"/>
              <a:t>HDFS</a:t>
            </a:r>
            <a:r>
              <a:rPr lang="zh-CN" altLang="en-US" sz="2800" dirty="0"/>
              <a:t>系统上用作输入的数据存放于</a:t>
            </a:r>
            <a:r>
              <a:rPr lang="en-US" altLang="zh-CN" sz="2800" dirty="0"/>
              <a:t>HDFS</a:t>
            </a:r>
            <a:r>
              <a:rPr lang="zh-CN" altLang="en-US" sz="2800" dirty="0"/>
              <a:t>的“</a:t>
            </a:r>
            <a:r>
              <a:rPr lang="en-US" altLang="zh-CN" sz="2800" dirty="0"/>
              <a:t>/data”</a:t>
            </a:r>
            <a:r>
              <a:rPr lang="zh-CN" altLang="en-US" sz="2800" dirty="0"/>
              <a:t>文件夹，输出存放于“</a:t>
            </a:r>
            <a:r>
              <a:rPr lang="en-US" altLang="zh-CN" sz="2800" dirty="0"/>
              <a:t>/</a:t>
            </a:r>
            <a:r>
              <a:rPr lang="en-US" altLang="zh-CN" sz="2800" dirty="0" err="1"/>
              <a:t>data_rlt</a:t>
            </a:r>
            <a:r>
              <a:rPr lang="en-US" altLang="zh-CN" sz="2800" dirty="0"/>
              <a:t>”</a:t>
            </a:r>
            <a:r>
              <a:rPr lang="zh-CN" altLang="en-US" sz="2800" dirty="0"/>
              <a:t>。其操作步骤具体如下：</a:t>
            </a:r>
          </a:p>
        </p:txBody>
      </p:sp>
    </p:spTree>
    <p:extLst>
      <p:ext uri="{BB962C8B-B14F-4D97-AF65-F5344CB8AC3E}">
        <p14:creationId xmlns:p14="http://schemas.microsoft.com/office/powerpoint/2010/main" val="1109942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zh-CN" altLang="en-US" dirty="0"/>
              <a:t>第一个</a:t>
            </a:r>
            <a:r>
              <a:rPr lang="en-US" altLang="zh-CN" dirty="0"/>
              <a:t>MapReduce</a:t>
            </a:r>
            <a:r>
              <a:rPr lang="zh-CN" altLang="en-US" dirty="0"/>
              <a:t>的</a:t>
            </a:r>
            <a:r>
              <a:rPr lang="en-US" altLang="zh-CN" dirty="0"/>
              <a:t>Python</a:t>
            </a:r>
            <a:r>
              <a:rPr lang="zh-CN" altLang="en-US" dirty="0"/>
              <a:t>程序</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C22A4CC6-E010-472C-A1BC-10675C1FCC08}"/>
              </a:ext>
            </a:extLst>
          </p:cNvPr>
          <p:cNvPicPr>
            <a:picLocks noChangeAspect="1"/>
          </p:cNvPicPr>
          <p:nvPr/>
        </p:nvPicPr>
        <p:blipFill rotWithShape="1">
          <a:blip r:embed="rId2"/>
          <a:srcRect b="19188"/>
          <a:stretch/>
        </p:blipFill>
        <p:spPr>
          <a:xfrm>
            <a:off x="35496" y="1200495"/>
            <a:ext cx="9144000" cy="2742854"/>
          </a:xfrm>
          <a:prstGeom prst="rect">
            <a:avLst/>
          </a:prstGeom>
        </p:spPr>
      </p:pic>
      <p:sp>
        <p:nvSpPr>
          <p:cNvPr id="5" name="矩形 4">
            <a:extLst>
              <a:ext uri="{FF2B5EF4-FFF2-40B4-BE49-F238E27FC236}">
                <a16:creationId xmlns:a16="http://schemas.microsoft.com/office/drawing/2014/main" id="{F51C94BF-770E-4E04-9B6C-711B52754856}"/>
              </a:ext>
            </a:extLst>
          </p:cNvPr>
          <p:cNvSpPr/>
          <p:nvPr/>
        </p:nvSpPr>
        <p:spPr>
          <a:xfrm>
            <a:off x="755576" y="4083918"/>
            <a:ext cx="5688632" cy="506934"/>
          </a:xfrm>
          <a:prstGeom prst="rect">
            <a:avLst/>
          </a:prstGeom>
        </p:spPr>
        <p:txBody>
          <a:bodyPr wrap="square">
            <a:spAutoFit/>
          </a:bodyPr>
          <a:lstStyle/>
          <a:p>
            <a:pPr marL="266700" indent="266700" algn="just">
              <a:lnSpc>
                <a:spcPct val="120000"/>
              </a:lnSpc>
              <a:spcAft>
                <a:spcPts val="0"/>
              </a:spcAft>
            </a:pPr>
            <a:r>
              <a:rPr lang="en-US" altLang="zh-CN" sz="2400" kern="100">
                <a:latin typeface="等线" panose="02010600030101010101" pitchFamily="2" charset="-122"/>
                <a:ea typeface="等线" panose="02010600030101010101" pitchFamily="2" charset="-122"/>
                <a:cs typeface="Times New Roman" panose="02020603050405020304" pitchFamily="18" charset="0"/>
              </a:rPr>
              <a:t>chmod +x /codes/Pi/*.*</a:t>
            </a:r>
            <a:endParaRPr lang="zh-CN" altLang="zh-CN" sz="3200" kern="10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53068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10AA84-0186-4CB7-8984-564618125532}"/>
              </a:ext>
            </a:extLst>
          </p:cNvPr>
          <p:cNvSpPr>
            <a:spLocks noGrp="1"/>
          </p:cNvSpPr>
          <p:nvPr>
            <p:ph type="title"/>
          </p:nvPr>
        </p:nvSpPr>
        <p:spPr/>
        <p:txBody>
          <a:bodyPr>
            <a:normAutofit fontScale="90000"/>
          </a:bodyPr>
          <a:lstStyle/>
          <a:p>
            <a:r>
              <a:rPr lang="zh-CN" altLang="en-US" dirty="0"/>
              <a:t>第一个</a:t>
            </a:r>
            <a:r>
              <a:rPr lang="en-US" altLang="zh-CN" dirty="0"/>
              <a:t>MapReduce</a:t>
            </a:r>
            <a:r>
              <a:rPr lang="zh-CN" altLang="en-US" dirty="0"/>
              <a:t>的</a:t>
            </a:r>
            <a:r>
              <a:rPr lang="en-US" altLang="zh-CN" dirty="0"/>
              <a:t>Python</a:t>
            </a:r>
            <a:r>
              <a:rPr lang="zh-CN" altLang="en-US" dirty="0"/>
              <a:t>程序</a:t>
            </a:r>
          </a:p>
        </p:txBody>
      </p:sp>
      <p:sp>
        <p:nvSpPr>
          <p:cNvPr id="3" name="内容占位符 2">
            <a:extLst>
              <a:ext uri="{FF2B5EF4-FFF2-40B4-BE49-F238E27FC236}">
                <a16:creationId xmlns:a16="http://schemas.microsoft.com/office/drawing/2014/main" id="{74A02B1D-DCE1-4407-A6D5-B3FF0DF1D091}"/>
              </a:ext>
            </a:extLst>
          </p:cNvPr>
          <p:cNvSpPr>
            <a:spLocks noGrp="1"/>
          </p:cNvSpPr>
          <p:nvPr>
            <p:ph idx="1"/>
          </p:nvPr>
        </p:nvSpPr>
        <p:spPr>
          <a:xfrm>
            <a:off x="457200" y="985149"/>
            <a:ext cx="8229600" cy="3609474"/>
          </a:xfrm>
        </p:spPr>
        <p:txBody>
          <a:bodyPr>
            <a:normAutofit/>
          </a:bodyPr>
          <a:lstStyle/>
          <a:p>
            <a:r>
              <a:rPr lang="zh-CN" altLang="en-US" sz="2400" dirty="0"/>
              <a:t>利用如下命令运行</a:t>
            </a:r>
            <a:r>
              <a:rPr lang="zh-CN" altLang="en-US" sz="2400"/>
              <a:t>该程序</a:t>
            </a:r>
            <a:endParaRPr lang="en-US" altLang="zh-CN" sz="2400"/>
          </a:p>
          <a:p>
            <a:endParaRPr lang="en-US" altLang="zh-CN" sz="2400"/>
          </a:p>
          <a:p>
            <a:endParaRPr lang="en-US" altLang="zh-CN" sz="2400"/>
          </a:p>
          <a:p>
            <a:r>
              <a:rPr lang="zh-CN" altLang="en-US" sz="2400"/>
              <a:t>运行结果如下：</a:t>
            </a:r>
            <a:endParaRPr lang="en-US" altLang="zh-CN" sz="2400"/>
          </a:p>
        </p:txBody>
      </p:sp>
      <p:sp>
        <p:nvSpPr>
          <p:cNvPr id="4" name="矩形 3">
            <a:extLst>
              <a:ext uri="{FF2B5EF4-FFF2-40B4-BE49-F238E27FC236}">
                <a16:creationId xmlns:a16="http://schemas.microsoft.com/office/drawing/2014/main" id="{AE09D91B-2D3E-400D-B620-1D9C33FEB55A}"/>
              </a:ext>
            </a:extLst>
          </p:cNvPr>
          <p:cNvSpPr/>
          <p:nvPr/>
        </p:nvSpPr>
        <p:spPr>
          <a:xfrm>
            <a:off x="611560" y="1419622"/>
            <a:ext cx="7920880" cy="707886"/>
          </a:xfrm>
          <a:prstGeom prst="rect">
            <a:avLst/>
          </a:prstGeom>
        </p:spPr>
        <p:txBody>
          <a:bodyPr wrap="square">
            <a:spAutoFit/>
          </a:bodyPr>
          <a:lstStyle/>
          <a:p>
            <a:r>
              <a:rPr lang="en-US" altLang="zh-CN" sz="2000" b="1">
                <a:solidFill>
                  <a:srgbClr val="FF0000"/>
                </a:solidFill>
              </a:rPr>
              <a:t>mapred streaming </a:t>
            </a:r>
            <a:r>
              <a:rPr lang="en-US" altLang="zh-CN" sz="2000"/>
              <a:t>-input /data/tmp.txt -output /data_rlt -mapper /codes/pi/pi_mapper.py -reducer /codes/pi/pi_reducer.py</a:t>
            </a:r>
            <a:endParaRPr lang="zh-CN" altLang="en-US" sz="2000"/>
          </a:p>
        </p:txBody>
      </p:sp>
      <p:pic>
        <p:nvPicPr>
          <p:cNvPr id="5" name="图片 4">
            <a:extLst>
              <a:ext uri="{FF2B5EF4-FFF2-40B4-BE49-F238E27FC236}">
                <a16:creationId xmlns:a16="http://schemas.microsoft.com/office/drawing/2014/main" id="{D0CCAA7C-2951-4382-BACF-36D36AEB77FE}"/>
              </a:ext>
            </a:extLst>
          </p:cNvPr>
          <p:cNvPicPr>
            <a:picLocks noChangeAspect="1"/>
          </p:cNvPicPr>
          <p:nvPr/>
        </p:nvPicPr>
        <p:blipFill>
          <a:blip r:embed="rId2"/>
          <a:stretch>
            <a:fillRect/>
          </a:stretch>
        </p:blipFill>
        <p:spPr>
          <a:xfrm>
            <a:off x="683568" y="2801229"/>
            <a:ext cx="7092280" cy="2125641"/>
          </a:xfrm>
          <a:prstGeom prst="rect">
            <a:avLst/>
          </a:prstGeom>
        </p:spPr>
      </p:pic>
    </p:spTree>
    <p:extLst>
      <p:ext uri="{BB962C8B-B14F-4D97-AF65-F5344CB8AC3E}">
        <p14:creationId xmlns:p14="http://schemas.microsoft.com/office/powerpoint/2010/main" val="170086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C55BD6-27D3-46D9-A743-D5473B083996}"/>
              </a:ext>
            </a:extLst>
          </p:cNvPr>
          <p:cNvSpPr>
            <a:spLocks noGrp="1"/>
          </p:cNvSpPr>
          <p:nvPr>
            <p:ph type="title"/>
          </p:nvPr>
        </p:nvSpPr>
        <p:spPr/>
        <p:txBody>
          <a:bodyPr>
            <a:normAutofit fontScale="90000"/>
          </a:bodyPr>
          <a:lstStyle/>
          <a:p>
            <a:r>
              <a:rPr lang="zh-CN" altLang="en-US" dirty="0"/>
              <a:t>第一个</a:t>
            </a:r>
            <a:r>
              <a:rPr lang="en-US" altLang="zh-CN" dirty="0"/>
              <a:t>MapReduce</a:t>
            </a:r>
            <a:r>
              <a:rPr lang="zh-CN" altLang="en-US" dirty="0"/>
              <a:t>的</a:t>
            </a:r>
            <a:r>
              <a:rPr lang="en-US" altLang="zh-CN" dirty="0"/>
              <a:t>Python</a:t>
            </a:r>
            <a:r>
              <a:rPr lang="zh-CN" altLang="en-US" dirty="0"/>
              <a:t>程序</a:t>
            </a:r>
          </a:p>
        </p:txBody>
      </p:sp>
      <p:sp>
        <p:nvSpPr>
          <p:cNvPr id="3" name="内容占位符 2">
            <a:extLst>
              <a:ext uri="{FF2B5EF4-FFF2-40B4-BE49-F238E27FC236}">
                <a16:creationId xmlns:a16="http://schemas.microsoft.com/office/drawing/2014/main" id="{797BE9DD-100F-457C-B590-95C0A79C0AF2}"/>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87FD2EAD-E27D-4FA0-BB15-0E830DE06CB2}"/>
              </a:ext>
            </a:extLst>
          </p:cNvPr>
          <p:cNvPicPr>
            <a:picLocks noChangeAspect="1"/>
          </p:cNvPicPr>
          <p:nvPr/>
        </p:nvPicPr>
        <p:blipFill>
          <a:blip r:embed="rId2"/>
          <a:stretch>
            <a:fillRect/>
          </a:stretch>
        </p:blipFill>
        <p:spPr>
          <a:xfrm>
            <a:off x="17104" y="1569647"/>
            <a:ext cx="9144000" cy="3056765"/>
          </a:xfrm>
          <a:prstGeom prst="rect">
            <a:avLst/>
          </a:prstGeom>
        </p:spPr>
      </p:pic>
    </p:spTree>
    <p:extLst>
      <p:ext uri="{BB962C8B-B14F-4D97-AF65-F5344CB8AC3E}">
        <p14:creationId xmlns:p14="http://schemas.microsoft.com/office/powerpoint/2010/main" val="531072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工作原理</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lstStyle/>
          <a:p>
            <a:r>
              <a:rPr lang="en-US" altLang="zh-CN" sz="2800" dirty="0"/>
              <a:t>MapReduce</a:t>
            </a:r>
            <a:r>
              <a:rPr lang="zh-CN" altLang="en-US" sz="2800" dirty="0"/>
              <a:t>程序分三个阶段执行，即</a:t>
            </a:r>
            <a:r>
              <a:rPr lang="en-US" altLang="zh-CN" sz="2800" dirty="0"/>
              <a:t>map</a:t>
            </a:r>
            <a:r>
              <a:rPr lang="zh-CN" altLang="en-US" sz="2800" dirty="0"/>
              <a:t>阶段、</a:t>
            </a:r>
            <a:r>
              <a:rPr lang="en-US" altLang="zh-CN" sz="2800" dirty="0"/>
              <a:t>shuffle</a:t>
            </a:r>
            <a:r>
              <a:rPr lang="zh-CN" altLang="en-US" sz="2800" dirty="0"/>
              <a:t>阶段和</a:t>
            </a:r>
            <a:r>
              <a:rPr lang="en-US" altLang="zh-CN" sz="2800"/>
              <a:t>reduce</a:t>
            </a:r>
            <a:r>
              <a:rPr lang="zh-CN" altLang="en-US" sz="2800"/>
              <a:t>阶段</a:t>
            </a:r>
            <a:endParaRPr lang="en-US" altLang="zh-CN" sz="2800"/>
          </a:p>
          <a:p>
            <a:r>
              <a:rPr lang="zh-CN" altLang="en-US" sz="2800"/>
              <a:t>其中</a:t>
            </a:r>
            <a:r>
              <a:rPr lang="en-US" altLang="zh-CN" sz="2800" dirty="0"/>
              <a:t>shuffle</a:t>
            </a:r>
            <a:r>
              <a:rPr lang="zh-CN" altLang="en-US" sz="2800" dirty="0"/>
              <a:t>可以由</a:t>
            </a:r>
            <a:r>
              <a:rPr lang="en-US" altLang="zh-CN" sz="2800" dirty="0"/>
              <a:t>MapReduce</a:t>
            </a:r>
            <a:r>
              <a:rPr lang="zh-CN" altLang="en-US" sz="2800" dirty="0"/>
              <a:t>框架自动</a:t>
            </a:r>
            <a:r>
              <a:rPr lang="zh-CN" altLang="en-US" sz="2800"/>
              <a:t>完成。</a:t>
            </a:r>
            <a:endParaRPr lang="en-US" altLang="zh-CN" sz="2800"/>
          </a:p>
          <a:p>
            <a:r>
              <a:rPr lang="zh-CN" altLang="en-US" sz="2800"/>
              <a:t>因此</a:t>
            </a:r>
            <a:r>
              <a:rPr lang="zh-CN" altLang="en-US" sz="2800" dirty="0"/>
              <a:t>，多数情况下，</a:t>
            </a:r>
            <a:r>
              <a:rPr lang="en-US" altLang="zh-CN" sz="2800" dirty="0"/>
              <a:t>MapReduce</a:t>
            </a:r>
            <a:r>
              <a:rPr lang="zh-CN" altLang="en-US" sz="2800" dirty="0"/>
              <a:t>算法主要包括两个任务：</a:t>
            </a:r>
            <a:r>
              <a:rPr lang="en-US" altLang="zh-CN" sz="2800" dirty="0"/>
              <a:t>Map</a:t>
            </a:r>
            <a:r>
              <a:rPr lang="zh-CN" altLang="en-US" sz="2800" dirty="0"/>
              <a:t>和</a:t>
            </a:r>
            <a:r>
              <a:rPr lang="en-US" altLang="zh-CN" sz="2800" dirty="0"/>
              <a:t>Reduce</a:t>
            </a:r>
            <a:r>
              <a:rPr lang="zh-CN" altLang="en-US" sz="2800" dirty="0"/>
              <a:t>。</a:t>
            </a:r>
            <a:endParaRPr lang="zh-CN" altLang="en-US" dirty="0"/>
          </a:p>
        </p:txBody>
      </p:sp>
    </p:spTree>
    <p:extLst>
      <p:ext uri="{BB962C8B-B14F-4D97-AF65-F5344CB8AC3E}">
        <p14:creationId xmlns:p14="http://schemas.microsoft.com/office/powerpoint/2010/main" val="2764875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工作原理</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normAutofit/>
          </a:bodyPr>
          <a:lstStyle/>
          <a:p>
            <a:r>
              <a:rPr lang="en-US" altLang="zh-CN" sz="2800" dirty="0"/>
              <a:t>1</a:t>
            </a:r>
            <a:r>
              <a:rPr lang="zh-CN" altLang="en-US" sz="2800" dirty="0"/>
              <a:t>．</a:t>
            </a:r>
            <a:r>
              <a:rPr lang="en-US" altLang="zh-CN" sz="2800" dirty="0"/>
              <a:t>Map</a:t>
            </a:r>
            <a:r>
              <a:rPr lang="zh-CN" altLang="en-US" sz="2800" dirty="0"/>
              <a:t>阶段</a:t>
            </a:r>
          </a:p>
          <a:p>
            <a:pPr lvl="1"/>
            <a:r>
              <a:rPr lang="en-US" altLang="zh-CN" sz="2400" dirty="0"/>
              <a:t>Map</a:t>
            </a:r>
            <a:r>
              <a:rPr lang="zh-CN" altLang="en-US" sz="2400" dirty="0"/>
              <a:t>的任务是对输入数据进行处理，通常情况下，</a:t>
            </a:r>
            <a:r>
              <a:rPr lang="en-US" altLang="zh-CN" sz="2400" dirty="0"/>
              <a:t>MapReduce</a:t>
            </a:r>
            <a:r>
              <a:rPr lang="zh-CN" altLang="en-US" sz="2400" dirty="0"/>
              <a:t>作业的输入和输出都存储在文件系统中，</a:t>
            </a:r>
            <a:r>
              <a:rPr lang="en-US" altLang="zh-CN" sz="2400" dirty="0"/>
              <a:t>MapReduce</a:t>
            </a:r>
            <a:r>
              <a:rPr lang="zh-CN" altLang="en-US" sz="2400" dirty="0"/>
              <a:t>作业将输入数据集拆分为独立的块，这些块由</a:t>
            </a:r>
            <a:r>
              <a:rPr lang="en-US" altLang="zh-CN" sz="2400" dirty="0"/>
              <a:t>Map</a:t>
            </a:r>
            <a:r>
              <a:rPr lang="zh-CN" altLang="en-US" sz="2400" dirty="0"/>
              <a:t>任务以完全并行的方式处理，并转换为一种（</a:t>
            </a:r>
            <a:r>
              <a:rPr lang="en-US" altLang="zh-CN" sz="2400" dirty="0"/>
              <a:t>key, value</a:t>
            </a:r>
            <a:r>
              <a:rPr lang="zh-CN" altLang="en-US" sz="2400" dirty="0"/>
              <a:t>）的数据模式。</a:t>
            </a:r>
          </a:p>
          <a:p>
            <a:endParaRPr lang="zh-CN" altLang="en-US" dirty="0"/>
          </a:p>
        </p:txBody>
      </p:sp>
    </p:spTree>
    <p:extLst>
      <p:ext uri="{BB962C8B-B14F-4D97-AF65-F5344CB8AC3E}">
        <p14:creationId xmlns:p14="http://schemas.microsoft.com/office/powerpoint/2010/main" val="3646514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工作原理</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normAutofit/>
          </a:bodyPr>
          <a:lstStyle/>
          <a:p>
            <a:r>
              <a:rPr lang="en-US" altLang="zh-CN" sz="2800" dirty="0"/>
              <a:t>2</a:t>
            </a:r>
            <a:r>
              <a:rPr lang="zh-CN" altLang="en-US" sz="2800" dirty="0"/>
              <a:t>．</a:t>
            </a:r>
            <a:r>
              <a:rPr lang="en-US" altLang="zh-CN" sz="2800" dirty="0"/>
              <a:t>Reduce</a:t>
            </a:r>
            <a:r>
              <a:rPr lang="zh-CN" altLang="en-US" sz="2800" dirty="0"/>
              <a:t>阶段</a:t>
            </a:r>
          </a:p>
          <a:p>
            <a:pPr lvl="1"/>
            <a:r>
              <a:rPr lang="zh-CN" altLang="en-US" sz="2400" dirty="0"/>
              <a:t>该阶段包括</a:t>
            </a:r>
            <a:r>
              <a:rPr lang="en-US" altLang="zh-CN" sz="2400" dirty="0"/>
              <a:t>shuffle</a:t>
            </a:r>
            <a:r>
              <a:rPr lang="zh-CN" altLang="en-US" sz="2400" dirty="0"/>
              <a:t>和</a:t>
            </a:r>
            <a:r>
              <a:rPr lang="en-US" altLang="zh-CN" sz="2400" dirty="0"/>
              <a:t>reduce</a:t>
            </a:r>
            <a:r>
              <a:rPr lang="zh-CN" altLang="en-US" sz="2400" dirty="0"/>
              <a:t>，</a:t>
            </a:r>
            <a:r>
              <a:rPr lang="en-US" altLang="zh-CN" sz="2400" dirty="0"/>
              <a:t>Reducer</a:t>
            </a:r>
            <a:r>
              <a:rPr lang="zh-CN" altLang="en-US" sz="2400" dirty="0"/>
              <a:t>的任务是把</a:t>
            </a:r>
            <a:r>
              <a:rPr lang="en-US" altLang="zh-CN" sz="2400" dirty="0"/>
              <a:t>Mapper</a:t>
            </a:r>
            <a:r>
              <a:rPr lang="zh-CN" altLang="en-US" sz="2400" dirty="0"/>
              <a:t>生成的（</a:t>
            </a:r>
            <a:r>
              <a:rPr lang="en-US" altLang="zh-CN" sz="2400" dirty="0"/>
              <a:t>key, value</a:t>
            </a:r>
            <a:r>
              <a:rPr lang="zh-CN" altLang="en-US" sz="2400" dirty="0"/>
              <a:t>）集整合处理，并输出最终结果到</a:t>
            </a:r>
            <a:r>
              <a:rPr lang="en-US" altLang="zh-CN" sz="2400" dirty="0"/>
              <a:t>HDFS</a:t>
            </a:r>
            <a:r>
              <a:rPr lang="zh-CN" altLang="en-US" sz="2400"/>
              <a:t>中。</a:t>
            </a:r>
            <a:endParaRPr lang="en-US" altLang="zh-CN" sz="2400"/>
          </a:p>
          <a:p>
            <a:pPr lvl="1"/>
            <a:r>
              <a:rPr lang="zh-CN" altLang="en-US" sz="2400"/>
              <a:t>系统对</a:t>
            </a:r>
            <a:r>
              <a:rPr lang="en-US" altLang="zh-CN" sz="2400"/>
              <a:t>map</a:t>
            </a:r>
            <a:r>
              <a:rPr lang="zh-CN" altLang="en-US" sz="2400"/>
              <a:t>任务的输出执行排序和转换，并映射为</a:t>
            </a:r>
            <a:r>
              <a:rPr lang="en-US" altLang="zh-CN" sz="2400"/>
              <a:t>reduce</a:t>
            </a:r>
            <a:r>
              <a:rPr lang="zh-CN" altLang="en-US" sz="2400"/>
              <a:t>任务的输入，此过程就是</a:t>
            </a:r>
            <a:r>
              <a:rPr lang="en-US" altLang="zh-CN" sz="2400"/>
              <a:t>Shuffle</a:t>
            </a:r>
            <a:r>
              <a:rPr lang="zh-CN" altLang="en-US" sz="2400"/>
              <a:t>。</a:t>
            </a:r>
            <a:endParaRPr lang="en-US" altLang="zh-CN" sz="2400"/>
          </a:p>
          <a:p>
            <a:pPr lvl="1"/>
            <a:r>
              <a:rPr lang="zh-CN" altLang="en-US" sz="2400"/>
              <a:t>两</a:t>
            </a:r>
            <a:r>
              <a:rPr lang="zh-CN" altLang="en-US" sz="2400" dirty="0"/>
              <a:t>阶段任务完成后，集群收集并缩减数据以形成最后结果，并将其发送回</a:t>
            </a:r>
            <a:r>
              <a:rPr lang="en-US" altLang="zh-CN" sz="2400" dirty="0"/>
              <a:t>Hadoop</a:t>
            </a:r>
            <a:r>
              <a:rPr lang="zh-CN" altLang="en-US" sz="2400" dirty="0"/>
              <a:t>服务器。</a:t>
            </a:r>
          </a:p>
          <a:p>
            <a:endParaRPr lang="zh-CN" altLang="en-US" dirty="0"/>
          </a:p>
        </p:txBody>
      </p:sp>
    </p:spTree>
    <p:extLst>
      <p:ext uri="{BB962C8B-B14F-4D97-AF65-F5344CB8AC3E}">
        <p14:creationId xmlns:p14="http://schemas.microsoft.com/office/powerpoint/2010/main" val="1979053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工作原理</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lstStyle/>
          <a:p>
            <a:r>
              <a:rPr lang="en-US" altLang="zh-CN" sz="2800" dirty="0"/>
              <a:t>Combiner</a:t>
            </a:r>
          </a:p>
          <a:p>
            <a:pPr lvl="1"/>
            <a:r>
              <a:rPr lang="en-US" altLang="zh-CN" sz="2400" dirty="0"/>
              <a:t>MapReduce</a:t>
            </a:r>
            <a:r>
              <a:rPr lang="zh-CN" altLang="en-US" sz="2400" dirty="0"/>
              <a:t>程序还可以包含</a:t>
            </a:r>
            <a:r>
              <a:rPr lang="en-US" altLang="zh-CN" sz="2400" dirty="0"/>
              <a:t>combiner</a:t>
            </a:r>
            <a:r>
              <a:rPr lang="zh-CN" altLang="en-US" sz="2400" dirty="0"/>
              <a:t>，</a:t>
            </a:r>
            <a:r>
              <a:rPr lang="en-US" altLang="zh-CN" sz="2400" dirty="0"/>
              <a:t>combiner</a:t>
            </a:r>
            <a:r>
              <a:rPr lang="zh-CN" altLang="en-US" sz="2400" dirty="0"/>
              <a:t>在</a:t>
            </a:r>
            <a:r>
              <a:rPr lang="en-US" altLang="zh-CN" sz="2400" dirty="0"/>
              <a:t>Map</a:t>
            </a:r>
            <a:r>
              <a:rPr lang="zh-CN" altLang="en-US" sz="2400" dirty="0"/>
              <a:t>之后执行，通常情况下实现对</a:t>
            </a:r>
            <a:r>
              <a:rPr lang="en-US" altLang="zh-CN" sz="2400" dirty="0"/>
              <a:t>Map</a:t>
            </a:r>
            <a:r>
              <a:rPr lang="zh-CN" altLang="en-US" sz="2400" dirty="0"/>
              <a:t>输出数据的简单归纳，从而减少数据传输。在多数应用中，</a:t>
            </a:r>
            <a:r>
              <a:rPr lang="en-US" altLang="zh-CN" sz="2400" dirty="0"/>
              <a:t>combiner</a:t>
            </a:r>
            <a:r>
              <a:rPr lang="zh-CN" altLang="en-US" sz="2400" dirty="0"/>
              <a:t>都是能够大幅提高程序效率的关键步骤。</a:t>
            </a:r>
          </a:p>
          <a:p>
            <a:endParaRPr lang="zh-CN" altLang="en-US" dirty="0"/>
          </a:p>
        </p:txBody>
      </p:sp>
    </p:spTree>
    <p:extLst>
      <p:ext uri="{BB962C8B-B14F-4D97-AF65-F5344CB8AC3E}">
        <p14:creationId xmlns:p14="http://schemas.microsoft.com/office/powerpoint/2010/main" val="1745605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工作原理</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normAutofit lnSpcReduction="10000"/>
          </a:bodyPr>
          <a:lstStyle/>
          <a:p>
            <a:r>
              <a:rPr lang="en-US" altLang="zh-CN" sz="2800" dirty="0"/>
              <a:t>Hadoop</a:t>
            </a:r>
            <a:r>
              <a:rPr lang="zh-CN" altLang="en-US" sz="2800" dirty="0"/>
              <a:t>框架是用</a:t>
            </a:r>
            <a:r>
              <a:rPr lang="en-US" altLang="zh-CN" sz="2800" dirty="0"/>
              <a:t>Java</a:t>
            </a:r>
            <a:r>
              <a:rPr lang="zh-CN" altLang="en-US" sz="2800" dirty="0"/>
              <a:t>实现的，</a:t>
            </a:r>
            <a:r>
              <a:rPr lang="en-US" altLang="zh-CN" sz="2800" dirty="0"/>
              <a:t>MapReduce</a:t>
            </a:r>
            <a:r>
              <a:rPr lang="zh-CN" altLang="en-US" sz="2800" dirty="0"/>
              <a:t>应用程序却可以不用</a:t>
            </a:r>
            <a:r>
              <a:rPr lang="en-US" altLang="zh-CN" sz="2800" dirty="0"/>
              <a:t>Java</a:t>
            </a:r>
            <a:r>
              <a:rPr lang="zh-CN" altLang="en-US" sz="2800"/>
              <a:t>编写。</a:t>
            </a:r>
            <a:endParaRPr lang="en-US" altLang="zh-CN" sz="2800"/>
          </a:p>
          <a:p>
            <a:r>
              <a:rPr lang="en-US" altLang="zh-CN" sz="2800"/>
              <a:t>Hadoop</a:t>
            </a:r>
            <a:r>
              <a:rPr lang="zh-CN" altLang="en-US" sz="2800" dirty="0"/>
              <a:t>流（</a:t>
            </a:r>
            <a:r>
              <a:rPr lang="en-US" altLang="zh-CN" sz="2800" dirty="0"/>
              <a:t>Hadoop Streaming</a:t>
            </a:r>
            <a:r>
              <a:rPr lang="zh-CN" altLang="en-US" sz="2800" dirty="0"/>
              <a:t>）是一个工具应用程序（</a:t>
            </a:r>
            <a:r>
              <a:rPr lang="en-US" altLang="zh-CN" sz="2800" dirty="0"/>
              <a:t>Utility</a:t>
            </a:r>
            <a:r>
              <a:rPr lang="zh-CN" altLang="en-US" sz="2800" dirty="0"/>
              <a:t>），它允许用户使用任何可</a:t>
            </a:r>
            <a:r>
              <a:rPr lang="zh-CN" altLang="en-US" sz="2800"/>
              <a:t>执行文件作为</a:t>
            </a:r>
            <a:r>
              <a:rPr lang="en-US" altLang="zh-CN" sz="2800" dirty="0"/>
              <a:t>mapper</a:t>
            </a:r>
            <a:r>
              <a:rPr lang="zh-CN" altLang="en-US" sz="2800" dirty="0"/>
              <a:t>或</a:t>
            </a:r>
            <a:r>
              <a:rPr lang="en-US" altLang="zh-CN" sz="2800" dirty="0"/>
              <a:t>reducer</a:t>
            </a:r>
            <a:r>
              <a:rPr lang="zh-CN" altLang="en-US" sz="2800" dirty="0"/>
              <a:t>来创建和运行</a:t>
            </a:r>
            <a:r>
              <a:rPr lang="zh-CN" altLang="en-US" sz="2800"/>
              <a:t>作业；</a:t>
            </a:r>
            <a:endParaRPr lang="en-US" altLang="zh-CN" sz="2800"/>
          </a:p>
          <a:p>
            <a:r>
              <a:rPr lang="zh-CN" altLang="en-US" sz="2800"/>
              <a:t>此外</a:t>
            </a:r>
            <a:r>
              <a:rPr lang="zh-CN" altLang="en-US" sz="2800" dirty="0"/>
              <a:t>，</a:t>
            </a:r>
            <a:r>
              <a:rPr lang="en-US" altLang="zh-CN" sz="2800" dirty="0"/>
              <a:t>Hadoop</a:t>
            </a:r>
            <a:r>
              <a:rPr lang="zh-CN" altLang="en-US" sz="2800" dirty="0"/>
              <a:t>管道（</a:t>
            </a:r>
            <a:r>
              <a:rPr lang="en-US" altLang="zh-CN" sz="2800" dirty="0"/>
              <a:t>Hadoop Pipes</a:t>
            </a:r>
            <a:r>
              <a:rPr lang="zh-CN" altLang="en-US" sz="2800" dirty="0"/>
              <a:t>）是一种</a:t>
            </a:r>
            <a:r>
              <a:rPr lang="en-US" altLang="zh-CN" sz="2800" dirty="0"/>
              <a:t>SWIG</a:t>
            </a:r>
            <a:r>
              <a:rPr lang="zh-CN" altLang="en-US" sz="2800" dirty="0"/>
              <a:t>兼容的</a:t>
            </a:r>
            <a:r>
              <a:rPr lang="en-US" altLang="zh-CN" sz="2800" dirty="0"/>
              <a:t>C++ API</a:t>
            </a:r>
            <a:r>
              <a:rPr lang="zh-CN" altLang="en-US" sz="2800" dirty="0"/>
              <a:t>，他可以支持编写非</a:t>
            </a:r>
            <a:r>
              <a:rPr lang="en-US" altLang="zh-CN" sz="2800" dirty="0"/>
              <a:t>JNI</a:t>
            </a:r>
            <a:r>
              <a:rPr lang="zh-CN" altLang="en-US" sz="2800" dirty="0"/>
              <a:t>（</a:t>
            </a:r>
            <a:r>
              <a:rPr lang="en-US" altLang="zh-CN" sz="2800" dirty="0"/>
              <a:t>Java Native Interface</a:t>
            </a:r>
            <a:r>
              <a:rPr lang="zh-CN" altLang="en-US" sz="2800" dirty="0"/>
              <a:t>）的</a:t>
            </a:r>
            <a:r>
              <a:rPr lang="en-US" altLang="zh-CN" sz="2800" dirty="0"/>
              <a:t>MapReduce</a:t>
            </a:r>
            <a:r>
              <a:rPr lang="zh-CN" altLang="en-US" sz="2800" dirty="0"/>
              <a:t>应用程序。</a:t>
            </a:r>
          </a:p>
        </p:txBody>
      </p:sp>
    </p:spTree>
    <p:extLst>
      <p:ext uri="{BB962C8B-B14F-4D97-AF65-F5344CB8AC3E}">
        <p14:creationId xmlns:p14="http://schemas.microsoft.com/office/powerpoint/2010/main" val="3269941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作业的工作流程</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lstStyle/>
          <a:p>
            <a:endParaRPr lang="zh-CN" altLang="en-US" dirty="0"/>
          </a:p>
        </p:txBody>
      </p:sp>
      <p:pic>
        <p:nvPicPr>
          <p:cNvPr id="58" name="图片 57">
            <a:extLst>
              <a:ext uri="{FF2B5EF4-FFF2-40B4-BE49-F238E27FC236}">
                <a16:creationId xmlns:a16="http://schemas.microsoft.com/office/drawing/2014/main" id="{3C922133-56DA-4FA8-BF1F-20D685F15512}"/>
              </a:ext>
            </a:extLst>
          </p:cNvPr>
          <p:cNvPicPr>
            <a:picLocks noChangeAspect="1"/>
          </p:cNvPicPr>
          <p:nvPr/>
        </p:nvPicPr>
        <p:blipFill>
          <a:blip r:embed="rId3"/>
          <a:stretch>
            <a:fillRect/>
          </a:stretch>
        </p:blipFill>
        <p:spPr>
          <a:xfrm>
            <a:off x="683568" y="987574"/>
            <a:ext cx="7673106" cy="4116253"/>
          </a:xfrm>
          <a:prstGeom prst="rect">
            <a:avLst/>
          </a:prstGeom>
        </p:spPr>
      </p:pic>
    </p:spTree>
    <p:extLst>
      <p:ext uri="{BB962C8B-B14F-4D97-AF65-F5344CB8AC3E}">
        <p14:creationId xmlns:p14="http://schemas.microsoft.com/office/powerpoint/2010/main" val="298837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作业的工作流程</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a:xfrm>
            <a:off x="467544" y="987574"/>
            <a:ext cx="8229600" cy="3747863"/>
          </a:xfrm>
        </p:spPr>
        <p:txBody>
          <a:bodyPr>
            <a:normAutofit/>
          </a:bodyPr>
          <a:lstStyle/>
          <a:p>
            <a:r>
              <a:rPr lang="zh-CN" altLang="en-US" sz="2400" dirty="0"/>
              <a:t>用户程序中</a:t>
            </a:r>
            <a:r>
              <a:rPr lang="zh-CN" altLang="en-US" sz="2400"/>
              <a:t>的</a:t>
            </a:r>
            <a:r>
              <a:rPr lang="en-US" altLang="zh-CN" sz="2400"/>
              <a:t>MapReduce</a:t>
            </a:r>
            <a:r>
              <a:rPr lang="zh-CN" altLang="en-US" sz="2400"/>
              <a:t>库首先</a:t>
            </a:r>
            <a:r>
              <a:rPr lang="zh-CN" altLang="en-US" sz="2400" dirty="0"/>
              <a:t>将输入文件划分为</a:t>
            </a:r>
            <a:r>
              <a:rPr lang="en-US" altLang="zh-CN" sz="2400" dirty="0"/>
              <a:t>M</a:t>
            </a:r>
            <a:r>
              <a:rPr lang="zh-CN" altLang="en-US" sz="2400" dirty="0"/>
              <a:t>片，每片大小一般在</a:t>
            </a:r>
            <a:r>
              <a:rPr lang="en-US" altLang="zh-CN" sz="2400" dirty="0"/>
              <a:t>16M</a:t>
            </a:r>
            <a:r>
              <a:rPr lang="zh-CN" altLang="en-US" sz="2400" dirty="0"/>
              <a:t>到</a:t>
            </a:r>
            <a:r>
              <a:rPr lang="en-US" altLang="zh-CN" sz="2400" dirty="0"/>
              <a:t>64M</a:t>
            </a:r>
            <a:r>
              <a:rPr lang="zh-CN" altLang="en-US" sz="2400" dirty="0"/>
              <a:t>之间（</a:t>
            </a:r>
            <a:r>
              <a:rPr lang="zh-CN" altLang="en-US" sz="2400"/>
              <a:t>可由参数指定），然后</a:t>
            </a:r>
            <a:r>
              <a:rPr lang="zh-CN" altLang="en-US" sz="2400" dirty="0"/>
              <a:t>，它在集群多台机器上启动相同的程序复制。</a:t>
            </a:r>
          </a:p>
          <a:p>
            <a:r>
              <a:rPr lang="zh-CN" altLang="en-US" sz="2400" dirty="0"/>
              <a:t>其中一个复制程序为</a:t>
            </a:r>
            <a:r>
              <a:rPr lang="en-US" altLang="zh-CN" sz="2400" dirty="0"/>
              <a:t>master(</a:t>
            </a:r>
            <a:r>
              <a:rPr lang="zh-CN" altLang="en-US" sz="2400" dirty="0"/>
              <a:t>主模块</a:t>
            </a:r>
            <a:r>
              <a:rPr lang="en-US" altLang="zh-CN" sz="2400" dirty="0"/>
              <a:t>)</a:t>
            </a:r>
            <a:r>
              <a:rPr lang="zh-CN" altLang="en-US" sz="2400" dirty="0"/>
              <a:t>，其余的都是</a:t>
            </a:r>
            <a:r>
              <a:rPr lang="en-US" altLang="zh-CN" sz="2400" dirty="0"/>
              <a:t>worker(</a:t>
            </a:r>
            <a:r>
              <a:rPr lang="zh-CN" altLang="en-US" sz="2400" dirty="0"/>
              <a:t>分模块</a:t>
            </a:r>
            <a:r>
              <a:rPr lang="en-US" altLang="zh-CN" sz="2400"/>
              <a:t>)</a:t>
            </a:r>
            <a:r>
              <a:rPr lang="zh-CN" altLang="en-US" sz="2400"/>
              <a:t>。</a:t>
            </a:r>
            <a:endParaRPr lang="en-US" altLang="zh-CN" sz="2400"/>
          </a:p>
          <a:p>
            <a:r>
              <a:rPr lang="en-US" altLang="zh-CN" sz="2400"/>
              <a:t>worker</a:t>
            </a:r>
            <a:r>
              <a:rPr lang="zh-CN" altLang="en-US" sz="2400" dirty="0"/>
              <a:t>接收</a:t>
            </a:r>
            <a:r>
              <a:rPr lang="en-US" altLang="zh-CN" sz="2400" dirty="0"/>
              <a:t>master</a:t>
            </a:r>
            <a:r>
              <a:rPr lang="zh-CN" altLang="en-US" sz="2400" dirty="0"/>
              <a:t>分配</a:t>
            </a:r>
            <a:r>
              <a:rPr lang="zh-CN" altLang="en-US" sz="2400"/>
              <a:t>的任务，其中</a:t>
            </a:r>
            <a:r>
              <a:rPr lang="zh-CN" altLang="en-US" sz="2400" dirty="0"/>
              <a:t>有</a:t>
            </a:r>
            <a:r>
              <a:rPr lang="en-US" altLang="zh-CN" sz="2400" dirty="0"/>
              <a:t>M</a:t>
            </a:r>
            <a:r>
              <a:rPr lang="zh-CN" altLang="en-US" sz="2400" dirty="0"/>
              <a:t>个</a:t>
            </a:r>
            <a:r>
              <a:rPr lang="en-US" altLang="zh-CN" sz="2400" dirty="0"/>
              <a:t>Map</a:t>
            </a:r>
            <a:r>
              <a:rPr lang="zh-CN" altLang="en-US" sz="2400" dirty="0"/>
              <a:t>任务和</a:t>
            </a:r>
            <a:r>
              <a:rPr lang="en-US" altLang="zh-CN" sz="2400" dirty="0"/>
              <a:t>R</a:t>
            </a:r>
            <a:r>
              <a:rPr lang="zh-CN" altLang="en-US" sz="2400" dirty="0"/>
              <a:t>个</a:t>
            </a:r>
            <a:r>
              <a:rPr lang="en-US" altLang="zh-CN" sz="2400" dirty="0"/>
              <a:t>Reduce</a:t>
            </a:r>
            <a:r>
              <a:rPr lang="zh-CN" altLang="en-US" sz="2400" dirty="0"/>
              <a:t>任务要</a:t>
            </a:r>
            <a:r>
              <a:rPr lang="zh-CN" altLang="en-US" sz="2400"/>
              <a:t>分配。</a:t>
            </a:r>
            <a:endParaRPr lang="en-US" altLang="zh-CN" sz="2400"/>
          </a:p>
          <a:p>
            <a:r>
              <a:rPr lang="en-US" altLang="zh-CN" sz="2400"/>
              <a:t>master</a:t>
            </a:r>
            <a:r>
              <a:rPr lang="zh-CN" altLang="en-US" sz="2400" dirty="0"/>
              <a:t>挑选一个空闲的</a:t>
            </a:r>
            <a:r>
              <a:rPr lang="en-US" altLang="zh-CN" sz="2400" dirty="0"/>
              <a:t>worker</a:t>
            </a:r>
            <a:r>
              <a:rPr lang="zh-CN" altLang="en-US" sz="2400" dirty="0"/>
              <a:t>并为其分配一个</a:t>
            </a:r>
            <a:r>
              <a:rPr lang="en-US" altLang="zh-CN" sz="2400" dirty="0"/>
              <a:t>map</a:t>
            </a:r>
            <a:r>
              <a:rPr lang="zh-CN" altLang="en-US" sz="2400" dirty="0"/>
              <a:t>任务或者</a:t>
            </a:r>
            <a:r>
              <a:rPr lang="en-US" altLang="zh-CN" sz="2400" dirty="0"/>
              <a:t>reduce</a:t>
            </a:r>
            <a:r>
              <a:rPr lang="zh-CN" altLang="en-US" sz="2400" dirty="0"/>
              <a:t>任务。</a:t>
            </a:r>
          </a:p>
          <a:p>
            <a:endParaRPr lang="zh-CN" altLang="en-US" sz="2400" dirty="0"/>
          </a:p>
        </p:txBody>
      </p:sp>
    </p:spTree>
    <p:extLst>
      <p:ext uri="{BB962C8B-B14F-4D97-AF65-F5344CB8AC3E}">
        <p14:creationId xmlns:p14="http://schemas.microsoft.com/office/powerpoint/2010/main" val="1115090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作业的工作流程</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normAutofit/>
          </a:bodyPr>
          <a:lstStyle/>
          <a:p>
            <a:r>
              <a:rPr lang="zh-CN" altLang="en-US" sz="2400" dirty="0"/>
              <a:t>被分配到</a:t>
            </a:r>
            <a:r>
              <a:rPr lang="en-US" altLang="zh-CN" sz="2400" dirty="0"/>
              <a:t>Map</a:t>
            </a:r>
            <a:r>
              <a:rPr lang="zh-CN" altLang="en-US" sz="2400" dirty="0"/>
              <a:t>任务的</a:t>
            </a:r>
            <a:r>
              <a:rPr lang="en-US" altLang="zh-CN" sz="2400" dirty="0"/>
              <a:t>worker</a:t>
            </a:r>
            <a:r>
              <a:rPr lang="zh-CN" altLang="en-US" sz="2400" dirty="0"/>
              <a:t>会去读取相应的输入块的内容。它从输入文件中解析出键值对并且将每个键值对传送给用户定义的</a:t>
            </a:r>
            <a:r>
              <a:rPr lang="en-US" altLang="zh-CN" sz="2400" dirty="0"/>
              <a:t>Map</a:t>
            </a:r>
            <a:r>
              <a:rPr lang="zh-CN" altLang="en-US" sz="2400" dirty="0"/>
              <a:t>函数。由</a:t>
            </a:r>
            <a:r>
              <a:rPr lang="en-US" altLang="zh-CN" sz="2400" dirty="0"/>
              <a:t>Map</a:t>
            </a:r>
            <a:r>
              <a:rPr lang="zh-CN" altLang="en-US" sz="2400" dirty="0"/>
              <a:t>函数产生的中间键值对则缓存在内存中。</a:t>
            </a:r>
          </a:p>
          <a:p>
            <a:r>
              <a:rPr lang="zh-CN" altLang="en-US" sz="2400" dirty="0"/>
              <a:t>被缓存的键值对会阶段性地写回本地磁盘，并且被划分函数分割成</a:t>
            </a:r>
            <a:r>
              <a:rPr lang="en-US" altLang="zh-CN" sz="2400" dirty="0"/>
              <a:t>R</a:t>
            </a:r>
            <a:r>
              <a:rPr lang="zh-CN" altLang="en-US" sz="2400" dirty="0"/>
              <a:t>份。这些缓存在磁盘上的数据位置会被回传给</a:t>
            </a:r>
            <a:r>
              <a:rPr lang="en-US" altLang="zh-CN" sz="2400" dirty="0"/>
              <a:t>master(</a:t>
            </a:r>
            <a:r>
              <a:rPr lang="zh-CN" altLang="en-US" sz="2400" dirty="0"/>
              <a:t>主模块</a:t>
            </a:r>
            <a:r>
              <a:rPr lang="en-US" altLang="zh-CN" sz="2400" dirty="0"/>
              <a:t>)</a:t>
            </a:r>
            <a:r>
              <a:rPr lang="zh-CN" altLang="en-US" sz="2400" dirty="0"/>
              <a:t>，</a:t>
            </a:r>
            <a:r>
              <a:rPr lang="en-US" altLang="zh-CN" sz="2400" dirty="0"/>
              <a:t>master</a:t>
            </a:r>
            <a:r>
              <a:rPr lang="zh-CN" altLang="en-US" sz="2400" dirty="0"/>
              <a:t>再负责将这些位置转发给</a:t>
            </a:r>
            <a:r>
              <a:rPr lang="en-US" altLang="zh-CN" sz="2400" dirty="0"/>
              <a:t>Reduce </a:t>
            </a:r>
            <a:r>
              <a:rPr lang="en-US" altLang="zh-CN" sz="2400"/>
              <a:t>worker</a:t>
            </a:r>
            <a:r>
              <a:rPr lang="zh-CN" altLang="en-US" sz="2400"/>
              <a:t>。</a:t>
            </a:r>
            <a:endParaRPr lang="zh-CN" altLang="en-US" sz="2400" dirty="0"/>
          </a:p>
        </p:txBody>
      </p:sp>
    </p:spTree>
    <p:extLst>
      <p:ext uri="{BB962C8B-B14F-4D97-AF65-F5344CB8AC3E}">
        <p14:creationId xmlns:p14="http://schemas.microsoft.com/office/powerpoint/2010/main" val="1882700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作业的工作流程</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a:xfrm>
            <a:off x="323528" y="1131590"/>
            <a:ext cx="8352928" cy="3780420"/>
          </a:xfrm>
        </p:spPr>
        <p:txBody>
          <a:bodyPr>
            <a:normAutofit/>
          </a:bodyPr>
          <a:lstStyle/>
          <a:p>
            <a:r>
              <a:rPr lang="zh-CN" altLang="en-US" sz="2400" dirty="0"/>
              <a:t>当</a:t>
            </a:r>
            <a:r>
              <a:rPr lang="en-US" altLang="zh-CN" sz="2400" dirty="0"/>
              <a:t>Reduce worker(Reduce</a:t>
            </a:r>
            <a:r>
              <a:rPr lang="zh-CN" altLang="en-US" sz="2400" dirty="0"/>
              <a:t>分模块</a:t>
            </a:r>
            <a:r>
              <a:rPr lang="en-US" altLang="zh-CN" sz="2400" dirty="0"/>
              <a:t>)</a:t>
            </a:r>
            <a:r>
              <a:rPr lang="zh-CN" altLang="en-US" sz="2400" dirty="0"/>
              <a:t>从</a:t>
            </a:r>
            <a:r>
              <a:rPr lang="en-US" altLang="zh-CN" sz="2400" dirty="0"/>
              <a:t>master(</a:t>
            </a:r>
            <a:r>
              <a:rPr lang="zh-CN" altLang="en-US" sz="2400" dirty="0"/>
              <a:t>主模块</a:t>
            </a:r>
            <a:r>
              <a:rPr lang="en-US" altLang="zh-CN" sz="2400" dirty="0"/>
              <a:t>)</a:t>
            </a:r>
            <a:r>
              <a:rPr lang="zh-CN" altLang="en-US" sz="2400" dirty="0"/>
              <a:t>那里接收到这些位置信息时，它会使用远程过程调用从</a:t>
            </a:r>
            <a:r>
              <a:rPr lang="en-US" altLang="zh-CN" sz="2400" dirty="0"/>
              <a:t>Map worker</a:t>
            </a:r>
            <a:r>
              <a:rPr lang="zh-CN" altLang="en-US" sz="2400" dirty="0"/>
              <a:t>的本地磁盘中获取缓存的</a:t>
            </a:r>
            <a:r>
              <a:rPr lang="zh-CN" altLang="en-US" sz="2400"/>
              <a:t>数据。</a:t>
            </a:r>
            <a:endParaRPr lang="en-US" altLang="zh-CN" sz="2400"/>
          </a:p>
          <a:p>
            <a:r>
              <a:rPr lang="zh-CN" altLang="en-US" sz="2400"/>
              <a:t>当</a:t>
            </a:r>
            <a:r>
              <a:rPr lang="en-US" altLang="zh-CN" sz="2400" dirty="0"/>
              <a:t>Reduce worker</a:t>
            </a:r>
            <a:r>
              <a:rPr lang="zh-CN" altLang="en-US" sz="2400" dirty="0"/>
              <a:t>读入全部的中间数据之后，将根据中间键对进行排序，这样所有具有相同键的键值对就都聚集在一起。因为要把具有相同键的键值对映射到同一个</a:t>
            </a:r>
            <a:r>
              <a:rPr lang="en-US" altLang="zh-CN" sz="2400" dirty="0"/>
              <a:t>reduce task</a:t>
            </a:r>
            <a:r>
              <a:rPr lang="zh-CN" altLang="en-US" sz="2400" dirty="0"/>
              <a:t>中，所以需要对中间键值对进行</a:t>
            </a:r>
            <a:r>
              <a:rPr lang="zh-CN" altLang="en-US" sz="2400"/>
              <a:t>排序。</a:t>
            </a:r>
            <a:endParaRPr lang="en-US" altLang="zh-CN" sz="2400"/>
          </a:p>
        </p:txBody>
      </p:sp>
    </p:spTree>
    <p:extLst>
      <p:ext uri="{BB962C8B-B14F-4D97-AF65-F5344CB8AC3E}">
        <p14:creationId xmlns:p14="http://schemas.microsoft.com/office/powerpoint/2010/main" val="220382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作业的工作流程</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a:xfrm>
            <a:off x="395536" y="987574"/>
            <a:ext cx="8229600" cy="3960440"/>
          </a:xfrm>
        </p:spPr>
        <p:txBody>
          <a:bodyPr>
            <a:noAutofit/>
          </a:bodyPr>
          <a:lstStyle/>
          <a:p>
            <a:r>
              <a:rPr lang="en-US" altLang="zh-CN" sz="2400"/>
              <a:t>Reduce worker</a:t>
            </a:r>
            <a:r>
              <a:rPr lang="zh-CN" altLang="en-US" sz="2400"/>
              <a:t>遍历已经排好序的中间数据，每当遇到一个新的中间键，它会将</a:t>
            </a:r>
            <a:r>
              <a:rPr lang="en-US" altLang="zh-CN" sz="2400"/>
              <a:t>key</a:t>
            </a:r>
            <a:r>
              <a:rPr lang="zh-CN" altLang="en-US" sz="2400"/>
              <a:t>和相应的中间值传递给</a:t>
            </a:r>
            <a:r>
              <a:rPr lang="en-US" altLang="zh-CN" sz="2400"/>
              <a:t>Reduce</a:t>
            </a:r>
            <a:r>
              <a:rPr lang="zh-CN" altLang="en-US" sz="2400"/>
              <a:t>函数。</a:t>
            </a:r>
            <a:r>
              <a:rPr lang="en-US" altLang="zh-CN" sz="2400"/>
              <a:t>Reduce</a:t>
            </a:r>
            <a:r>
              <a:rPr lang="zh-CN" altLang="en-US" sz="2400"/>
              <a:t>函数的输出会被添加到这个</a:t>
            </a:r>
            <a:r>
              <a:rPr lang="en-US" altLang="zh-CN" sz="2400"/>
              <a:t>Reduce</a:t>
            </a:r>
            <a:r>
              <a:rPr lang="zh-CN" altLang="en-US" sz="2400"/>
              <a:t>部分的输出文件中。</a:t>
            </a:r>
          </a:p>
          <a:p>
            <a:r>
              <a:rPr lang="zh-CN" altLang="en-US" sz="2400"/>
              <a:t>当</a:t>
            </a:r>
            <a:r>
              <a:rPr lang="zh-CN" altLang="en-US" sz="2400" dirty="0"/>
              <a:t>所有的</a:t>
            </a:r>
            <a:r>
              <a:rPr lang="en-US" altLang="zh-CN" sz="2400" dirty="0"/>
              <a:t>Map tasks</a:t>
            </a:r>
            <a:r>
              <a:rPr lang="zh-CN" altLang="en-US" sz="2400" dirty="0"/>
              <a:t>和</a:t>
            </a:r>
            <a:r>
              <a:rPr lang="en-US" altLang="zh-CN" sz="2400" dirty="0"/>
              <a:t>Reduce tasks</a:t>
            </a:r>
            <a:r>
              <a:rPr lang="zh-CN" altLang="en-US" sz="2400" dirty="0"/>
              <a:t>都完成时</a:t>
            </a:r>
            <a:r>
              <a:rPr lang="zh-CN" altLang="en-US" sz="2400"/>
              <a:t>，</a:t>
            </a:r>
            <a:r>
              <a:rPr lang="en-US" altLang="zh-CN" sz="2400"/>
              <a:t>master</a:t>
            </a:r>
            <a:r>
              <a:rPr lang="zh-CN" altLang="en-US" sz="2400"/>
              <a:t>将</a:t>
            </a:r>
            <a:r>
              <a:rPr lang="zh-CN" altLang="en-US" sz="2400" dirty="0"/>
              <a:t>唤醒用户程序。至此，用户代码中的</a:t>
            </a:r>
            <a:r>
              <a:rPr lang="en-US" altLang="zh-CN" sz="2400" dirty="0"/>
              <a:t>MapReduce</a:t>
            </a:r>
            <a:r>
              <a:rPr lang="zh-CN" altLang="en-US" sz="2400" dirty="0"/>
              <a:t>调用</a:t>
            </a:r>
            <a:r>
              <a:rPr lang="zh-CN" altLang="en-US" sz="2400"/>
              <a:t>返回。</a:t>
            </a:r>
            <a:endParaRPr lang="zh-CN" altLang="en-US" sz="2400" dirty="0"/>
          </a:p>
        </p:txBody>
      </p:sp>
    </p:spTree>
    <p:extLst>
      <p:ext uri="{BB962C8B-B14F-4D97-AF65-F5344CB8AC3E}">
        <p14:creationId xmlns:p14="http://schemas.microsoft.com/office/powerpoint/2010/main" val="1821491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作业的工作流程</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a:xfrm>
            <a:off x="395536" y="1059582"/>
            <a:ext cx="8229600" cy="3024336"/>
          </a:xfrm>
        </p:spPr>
        <p:txBody>
          <a:bodyPr>
            <a:noAutofit/>
          </a:bodyPr>
          <a:lstStyle/>
          <a:p>
            <a:r>
              <a:rPr lang="zh-CN" altLang="en-US" sz="2400"/>
              <a:t>执行</a:t>
            </a:r>
            <a:r>
              <a:rPr lang="zh-CN" altLang="en-US" sz="2400" dirty="0"/>
              <a:t>完后，</a:t>
            </a:r>
            <a:r>
              <a:rPr lang="en-US" altLang="zh-CN" sz="2400" dirty="0"/>
              <a:t>MapReduce</a:t>
            </a:r>
            <a:r>
              <a:rPr lang="zh-CN" altLang="en-US" sz="2400" dirty="0"/>
              <a:t>的执行结果被存放在</a:t>
            </a:r>
            <a:r>
              <a:rPr lang="en-US" altLang="zh-CN" sz="2400" dirty="0"/>
              <a:t>R</a:t>
            </a:r>
            <a:r>
              <a:rPr lang="zh-CN" altLang="en-US" sz="2400" dirty="0"/>
              <a:t>个输出文件中（每个</a:t>
            </a:r>
            <a:r>
              <a:rPr lang="en-US" altLang="zh-CN" sz="2400" dirty="0"/>
              <a:t>Reduce task</a:t>
            </a:r>
            <a:r>
              <a:rPr lang="zh-CN" altLang="en-US" sz="2400" dirty="0"/>
              <a:t>对应一个，文件名由用户指定</a:t>
            </a:r>
            <a:r>
              <a:rPr lang="zh-CN" altLang="en-US" sz="2400"/>
              <a:t>）。</a:t>
            </a:r>
            <a:endParaRPr lang="en-US" altLang="zh-CN" sz="2400"/>
          </a:p>
          <a:p>
            <a:r>
              <a:rPr lang="zh-CN" altLang="en-US" sz="2400"/>
              <a:t>因为</a:t>
            </a:r>
            <a:r>
              <a:rPr lang="zh-CN" altLang="en-US" sz="2400" dirty="0"/>
              <a:t>这些输出文件经常作为另一个</a:t>
            </a:r>
            <a:r>
              <a:rPr lang="en-US" altLang="zh-CN" sz="2400" dirty="0"/>
              <a:t>MapReduce</a:t>
            </a:r>
            <a:r>
              <a:rPr lang="zh-CN" altLang="en-US" sz="2400" dirty="0"/>
              <a:t>调用的输入，或者将它们用于另外一个能够以多个文件作为输入的分布式应用，所以，用户并不需要将</a:t>
            </a:r>
            <a:r>
              <a:rPr lang="en-US" altLang="zh-CN" sz="2400" dirty="0"/>
              <a:t>R</a:t>
            </a:r>
            <a:r>
              <a:rPr lang="zh-CN" altLang="en-US" sz="2400" dirty="0"/>
              <a:t>个输出文件归并成一个。</a:t>
            </a:r>
          </a:p>
          <a:p>
            <a:endParaRPr lang="zh-CN" altLang="en-US" sz="2400" dirty="0"/>
          </a:p>
        </p:txBody>
      </p:sp>
    </p:spTree>
    <p:extLst>
      <p:ext uri="{BB962C8B-B14F-4D97-AF65-F5344CB8AC3E}">
        <p14:creationId xmlns:p14="http://schemas.microsoft.com/office/powerpoint/2010/main" val="1731972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作业的工作流程</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a:xfrm>
            <a:off x="395536" y="1059582"/>
            <a:ext cx="8229600" cy="3024336"/>
          </a:xfrm>
        </p:spPr>
        <p:txBody>
          <a:bodyPr>
            <a:noAutofit/>
          </a:bodyPr>
          <a:lstStyle/>
          <a:p>
            <a:endParaRPr lang="zh-CN" altLang="en-US" sz="2400" dirty="0"/>
          </a:p>
        </p:txBody>
      </p:sp>
      <p:pic>
        <p:nvPicPr>
          <p:cNvPr id="1026" name="Picture 2" descr="https://img-blog.csdn.net/20150108150752507?watermark/2/text/aHR0cDovL2Jsb2cuY3Nkbi5uZXQvcGF0X2RhdGFtaW5l/font/5a6L5L2T/fontsize/400/fill/I0JBQkFCMA==/dissolve/70/gravity/Center">
            <a:extLst>
              <a:ext uri="{FF2B5EF4-FFF2-40B4-BE49-F238E27FC236}">
                <a16:creationId xmlns:a16="http://schemas.microsoft.com/office/drawing/2014/main" id="{C28EDFB3-5DA0-4A47-9B23-5B05AB1D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987574"/>
            <a:ext cx="4740573" cy="3693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927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222E0-163E-4FC2-8417-B9C7107B2306}"/>
              </a:ext>
            </a:extLst>
          </p:cNvPr>
          <p:cNvSpPr>
            <a:spLocks noGrp="1"/>
          </p:cNvSpPr>
          <p:nvPr>
            <p:ph type="title"/>
          </p:nvPr>
        </p:nvSpPr>
        <p:spPr/>
        <p:txBody>
          <a:bodyPr>
            <a:normAutofit fontScale="90000"/>
          </a:bodyPr>
          <a:lstStyle/>
          <a:p>
            <a:r>
              <a:rPr lang="en-US" altLang="zh-CN" dirty="0"/>
              <a:t>MapReduce</a:t>
            </a:r>
            <a:r>
              <a:rPr lang="zh-CN" altLang="en-US" dirty="0"/>
              <a:t>的输入</a:t>
            </a:r>
            <a:r>
              <a:rPr lang="en-US" altLang="zh-CN" dirty="0"/>
              <a:t>/</a:t>
            </a:r>
            <a:r>
              <a:rPr lang="zh-CN" altLang="en-US" dirty="0"/>
              <a:t>输出</a:t>
            </a:r>
          </a:p>
        </p:txBody>
      </p:sp>
      <p:sp>
        <p:nvSpPr>
          <p:cNvPr id="3" name="内容占位符 2">
            <a:extLst>
              <a:ext uri="{FF2B5EF4-FFF2-40B4-BE49-F238E27FC236}">
                <a16:creationId xmlns:a16="http://schemas.microsoft.com/office/drawing/2014/main" id="{9553B14B-FF86-4981-A8A8-B9F03A880F2C}"/>
              </a:ext>
            </a:extLst>
          </p:cNvPr>
          <p:cNvSpPr>
            <a:spLocks noGrp="1"/>
          </p:cNvSpPr>
          <p:nvPr>
            <p:ph idx="1"/>
          </p:nvPr>
        </p:nvSpPr>
        <p:spPr/>
        <p:txBody>
          <a:bodyPr>
            <a:normAutofit/>
          </a:bodyPr>
          <a:lstStyle/>
          <a:p>
            <a:r>
              <a:rPr lang="en-US" altLang="zh-CN" sz="2400" dirty="0"/>
              <a:t>MapReduce</a:t>
            </a:r>
            <a:r>
              <a:rPr lang="zh-CN" altLang="en-US" sz="2400" dirty="0"/>
              <a:t>框架只对</a:t>
            </a:r>
            <a:r>
              <a:rPr lang="en-US" altLang="zh-CN" sz="2400" dirty="0"/>
              <a:t>&lt;key</a:t>
            </a:r>
            <a:r>
              <a:rPr lang="zh-CN" altLang="en-US" sz="2400" dirty="0"/>
              <a:t>，</a:t>
            </a:r>
            <a:r>
              <a:rPr lang="en-US" altLang="zh-CN" sz="2400" dirty="0"/>
              <a:t>value&gt;</a:t>
            </a:r>
            <a:r>
              <a:rPr lang="zh-CN" altLang="en-US" sz="2400" dirty="0"/>
              <a:t>（键值对）进行操作，该框架将作业的输入视为一组</a:t>
            </a:r>
            <a:r>
              <a:rPr lang="en-US" altLang="zh-CN" sz="2400" dirty="0"/>
              <a:t>&lt;key</a:t>
            </a:r>
            <a:r>
              <a:rPr lang="zh-CN" altLang="en-US" sz="2400" dirty="0"/>
              <a:t>，</a:t>
            </a:r>
            <a:r>
              <a:rPr lang="en-US" altLang="zh-CN" sz="2400" dirty="0"/>
              <a:t>value&gt;</a:t>
            </a:r>
            <a:r>
              <a:rPr lang="zh-CN" altLang="en-US" sz="2400" dirty="0"/>
              <a:t>，并生成</a:t>
            </a:r>
            <a:r>
              <a:rPr lang="en-US" altLang="zh-CN" sz="2400" dirty="0"/>
              <a:t>&lt;key</a:t>
            </a:r>
            <a:r>
              <a:rPr lang="zh-CN" altLang="en-US" sz="2400" dirty="0"/>
              <a:t>，</a:t>
            </a:r>
            <a:r>
              <a:rPr lang="en-US" altLang="zh-CN" sz="2400" dirty="0"/>
              <a:t>value&gt;</a:t>
            </a:r>
            <a:r>
              <a:rPr lang="zh-CN" altLang="en-US" sz="2400" dirty="0"/>
              <a:t>作为作业的输出。</a:t>
            </a:r>
            <a:endParaRPr lang="en-US" altLang="zh-CN" sz="2400" dirty="0"/>
          </a:p>
          <a:p>
            <a:r>
              <a:rPr lang="zh-CN" altLang="en-US" sz="2400" dirty="0"/>
              <a:t>与</a:t>
            </a:r>
            <a:r>
              <a:rPr lang="en-US" altLang="zh-CN" sz="2400" dirty="0"/>
              <a:t>Java</a:t>
            </a:r>
            <a:r>
              <a:rPr lang="zh-CN" altLang="en-US" sz="2400" dirty="0"/>
              <a:t>程序不同，</a:t>
            </a:r>
            <a:r>
              <a:rPr lang="en-US" altLang="zh-CN" sz="2400" dirty="0"/>
              <a:t>Python</a:t>
            </a:r>
            <a:r>
              <a:rPr lang="zh-CN" altLang="en-US" sz="2400" dirty="0"/>
              <a:t>的</a:t>
            </a:r>
            <a:r>
              <a:rPr lang="en-US" altLang="zh-CN" sz="2400" dirty="0"/>
              <a:t>Map</a:t>
            </a:r>
            <a:r>
              <a:rPr lang="zh-CN" altLang="en-US" sz="2400" dirty="0"/>
              <a:t>程序输入</a:t>
            </a:r>
            <a:r>
              <a:rPr lang="en-US" altLang="zh-CN" sz="2400" dirty="0"/>
              <a:t>/</a:t>
            </a:r>
            <a:r>
              <a:rPr lang="zh-CN" altLang="en-US" sz="2400" dirty="0"/>
              <a:t>输出流为标准输入</a:t>
            </a:r>
            <a:r>
              <a:rPr lang="en-US" altLang="zh-CN" sz="2400" dirty="0"/>
              <a:t>/</a:t>
            </a:r>
            <a:r>
              <a:rPr lang="zh-CN" altLang="en-US" sz="2400" dirty="0"/>
              <a:t>输出，</a:t>
            </a:r>
            <a:r>
              <a:rPr lang="en-US" altLang="zh-CN" sz="2400" dirty="0"/>
              <a:t>STDIN</a:t>
            </a:r>
            <a:r>
              <a:rPr lang="zh-CN" altLang="en-US" sz="2400" dirty="0"/>
              <a:t>和</a:t>
            </a:r>
            <a:r>
              <a:rPr lang="en-US" altLang="zh-CN" sz="2400" dirty="0"/>
              <a:t>STDOUT</a:t>
            </a:r>
            <a:r>
              <a:rPr lang="zh-CN" altLang="en-US" sz="2400" dirty="0"/>
              <a:t>，</a:t>
            </a:r>
            <a:r>
              <a:rPr lang="en-US" altLang="zh-CN" sz="2400" dirty="0"/>
              <a:t>mapper</a:t>
            </a:r>
            <a:r>
              <a:rPr lang="zh-CN" altLang="en-US" sz="2400" dirty="0"/>
              <a:t>输入从</a:t>
            </a:r>
            <a:r>
              <a:rPr lang="en-US" altLang="zh-CN" sz="2400" dirty="0"/>
              <a:t>STDIN</a:t>
            </a:r>
            <a:r>
              <a:rPr lang="zh-CN" altLang="en-US" sz="2400" dirty="0"/>
              <a:t>中接收数据，</a:t>
            </a:r>
            <a:r>
              <a:rPr lang="en-US" altLang="zh-CN" sz="2400" dirty="0"/>
              <a:t>reducer</a:t>
            </a:r>
            <a:r>
              <a:rPr lang="zh-CN" altLang="en-US" sz="2400" dirty="0"/>
              <a:t>输出结果到</a:t>
            </a:r>
            <a:r>
              <a:rPr lang="en-US" altLang="zh-CN" sz="2400" dirty="0"/>
              <a:t>STDOUT</a:t>
            </a:r>
            <a:r>
              <a:rPr lang="zh-CN" altLang="en-US" sz="2400" dirty="0"/>
              <a:t>；在</a:t>
            </a:r>
            <a:r>
              <a:rPr lang="en-US" altLang="zh-CN" sz="2400" dirty="0"/>
              <a:t>mapper</a:t>
            </a:r>
            <a:r>
              <a:rPr lang="zh-CN" altLang="en-US" sz="2400" dirty="0"/>
              <a:t>和</a:t>
            </a:r>
            <a:r>
              <a:rPr lang="en-US" altLang="zh-CN" sz="2400" dirty="0"/>
              <a:t>reducer</a:t>
            </a:r>
            <a:r>
              <a:rPr lang="zh-CN" altLang="en-US" sz="2400" dirty="0"/>
              <a:t>之间的数据也是通过标准输入</a:t>
            </a:r>
            <a:r>
              <a:rPr lang="en-US" altLang="zh-CN" sz="2400" dirty="0"/>
              <a:t>/</a:t>
            </a:r>
            <a:r>
              <a:rPr lang="zh-CN" altLang="en-US" sz="2400" dirty="0"/>
              <a:t>输出进行关联。至于他们之间的数据流关系则交由</a:t>
            </a:r>
            <a:r>
              <a:rPr lang="en-US" altLang="zh-CN" sz="2400" dirty="0" err="1"/>
              <a:t>hadoop</a:t>
            </a:r>
            <a:r>
              <a:rPr lang="en-US" altLang="zh-CN" sz="2400" dirty="0"/>
              <a:t> Streaming</a:t>
            </a:r>
            <a:r>
              <a:rPr lang="zh-CN" altLang="en-US" sz="2400" dirty="0"/>
              <a:t>处理。</a:t>
            </a:r>
          </a:p>
        </p:txBody>
      </p:sp>
    </p:spTree>
    <p:extLst>
      <p:ext uri="{BB962C8B-B14F-4D97-AF65-F5344CB8AC3E}">
        <p14:creationId xmlns:p14="http://schemas.microsoft.com/office/powerpoint/2010/main" val="1534325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5308453" cy="646331"/>
          </a:xfrm>
          <a:prstGeom prst="rect">
            <a:avLst/>
          </a:prstGeom>
          <a:noFill/>
        </p:spPr>
        <p:txBody>
          <a:bodyPr wrap="square">
            <a:spAutoFit/>
          </a:bodyPr>
          <a:lstStyle/>
          <a:p>
            <a:r>
              <a:rPr lang="en-US" altLang="zh-CN" sz="3600" b="1" dirty="0" err="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WordCount</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实例详解</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02</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9890896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WordCount</a:t>
            </a:r>
            <a:r>
              <a:rPr lang="zh-CN" altLang="en-US" dirty="0"/>
              <a:t>程序源码</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r>
              <a:rPr lang="zh-CN" altLang="en-US" sz="2400" dirty="0"/>
              <a:t>使用</a:t>
            </a:r>
            <a:r>
              <a:rPr lang="en-US" altLang="zh-CN" sz="2400" dirty="0"/>
              <a:t>Python</a:t>
            </a:r>
            <a:r>
              <a:rPr lang="zh-CN" altLang="en-US" sz="2400" dirty="0"/>
              <a:t>编写</a:t>
            </a:r>
            <a:r>
              <a:rPr lang="en-US" altLang="zh-CN" sz="2400" dirty="0"/>
              <a:t>MapReduce</a:t>
            </a:r>
            <a:r>
              <a:rPr lang="zh-CN" altLang="en-US" sz="2400" dirty="0"/>
              <a:t>的要点在于利用</a:t>
            </a:r>
            <a:r>
              <a:rPr lang="en-US" altLang="zh-CN" sz="2400" dirty="0"/>
              <a:t>Hadoop</a:t>
            </a:r>
            <a:r>
              <a:rPr lang="zh-CN" altLang="en-US" sz="2400" dirty="0"/>
              <a:t>流的</a:t>
            </a:r>
            <a:r>
              <a:rPr lang="en-US" altLang="zh-CN" sz="2400" dirty="0"/>
              <a:t>API</a:t>
            </a:r>
            <a:r>
              <a:rPr lang="zh-CN" altLang="en-US" sz="2400" dirty="0"/>
              <a:t>，通过</a:t>
            </a:r>
            <a:r>
              <a:rPr lang="en-US" altLang="zh-CN" sz="2400" dirty="0"/>
              <a:t>STDIN(</a:t>
            </a:r>
            <a:r>
              <a:rPr lang="zh-CN" altLang="en-US" sz="2400" dirty="0"/>
              <a:t>标准输入</a:t>
            </a:r>
            <a:r>
              <a:rPr lang="en-US" altLang="zh-CN" sz="2400" dirty="0"/>
              <a:t>)</a:t>
            </a:r>
            <a:r>
              <a:rPr lang="zh-CN" altLang="en-US" sz="2400" dirty="0"/>
              <a:t>、</a:t>
            </a:r>
            <a:r>
              <a:rPr lang="en-US" altLang="zh-CN" sz="2400" dirty="0"/>
              <a:t>STDOUT(</a:t>
            </a:r>
            <a:r>
              <a:rPr lang="zh-CN" altLang="en-US" sz="2400" dirty="0"/>
              <a:t>标准输出</a:t>
            </a:r>
            <a:r>
              <a:rPr lang="en-US" altLang="zh-CN" sz="2400" dirty="0"/>
              <a:t>)</a:t>
            </a:r>
            <a:r>
              <a:rPr lang="zh-CN" altLang="en-US" sz="2400" dirty="0"/>
              <a:t>在</a:t>
            </a:r>
            <a:r>
              <a:rPr lang="en-US" altLang="zh-CN" sz="2400" dirty="0"/>
              <a:t>Map</a:t>
            </a:r>
            <a:r>
              <a:rPr lang="zh-CN" altLang="en-US" sz="2400" dirty="0"/>
              <a:t>函数和</a:t>
            </a:r>
            <a:r>
              <a:rPr lang="en-US" altLang="zh-CN" sz="2400" dirty="0"/>
              <a:t>Reduce</a:t>
            </a:r>
            <a:r>
              <a:rPr lang="zh-CN" altLang="en-US" sz="2400" dirty="0"/>
              <a:t>函数之间传递数据。我们需要做的是利用</a:t>
            </a:r>
            <a:r>
              <a:rPr lang="en-US" altLang="zh-CN" sz="2400" dirty="0"/>
              <a:t>Python</a:t>
            </a:r>
            <a:r>
              <a:rPr lang="zh-CN" altLang="en-US" sz="2400" dirty="0"/>
              <a:t>的</a:t>
            </a:r>
            <a:r>
              <a:rPr lang="en-US" altLang="zh-CN" sz="2400" dirty="0" err="1"/>
              <a:t>sys.stdin</a:t>
            </a:r>
            <a:r>
              <a:rPr lang="zh-CN" altLang="en-US" sz="2400" dirty="0"/>
              <a:t>读取输入数据，并把输出传送给</a:t>
            </a:r>
            <a:r>
              <a:rPr lang="en-US" altLang="zh-CN" sz="2400" dirty="0" err="1"/>
              <a:t>sys.stdout</a:t>
            </a:r>
            <a:r>
              <a:rPr lang="zh-CN" altLang="en-US" sz="2400" dirty="0"/>
              <a:t>。</a:t>
            </a:r>
            <a:r>
              <a:rPr lang="en-US" altLang="zh-CN" sz="2400" dirty="0"/>
              <a:t>Hadoop</a:t>
            </a:r>
            <a:r>
              <a:rPr lang="zh-CN" altLang="en-US" sz="2400" dirty="0"/>
              <a:t>流将会帮助我们处理中间的过程。</a:t>
            </a:r>
            <a:endParaRPr lang="en-US" altLang="zh-CN" sz="2400" dirty="0"/>
          </a:p>
          <a:p>
            <a:r>
              <a:rPr lang="en-US" altLang="zh-CN" sz="2400" dirty="0" err="1"/>
              <a:t>WordCount</a:t>
            </a:r>
            <a:r>
              <a:rPr lang="zh-CN" altLang="en-US" sz="2400" dirty="0"/>
              <a:t>程序一共包含两个部分，分布式</a:t>
            </a:r>
            <a:r>
              <a:rPr lang="en-US" altLang="zh-CN" sz="2400" dirty="0"/>
              <a:t>map</a:t>
            </a:r>
            <a:r>
              <a:rPr lang="zh-CN" altLang="en-US" sz="2400" dirty="0"/>
              <a:t>阶段程序</a:t>
            </a:r>
            <a:r>
              <a:rPr lang="en-US" altLang="zh-CN" sz="2400" dirty="0"/>
              <a:t>wordCount_mapper.py</a:t>
            </a:r>
            <a:r>
              <a:rPr lang="zh-CN" altLang="en-US" sz="2400" dirty="0"/>
              <a:t>和</a:t>
            </a:r>
            <a:r>
              <a:rPr lang="en-US" altLang="zh-CN" sz="2400" dirty="0"/>
              <a:t>reduce</a:t>
            </a:r>
            <a:r>
              <a:rPr lang="zh-CN" altLang="en-US" sz="2400" dirty="0"/>
              <a:t>阶段程序</a:t>
            </a:r>
            <a:r>
              <a:rPr lang="en-US" altLang="zh-CN" sz="2400" dirty="0"/>
              <a:t>wordCount_reducer.py</a:t>
            </a:r>
            <a:r>
              <a:rPr lang="zh-CN" altLang="en-US" sz="2400" dirty="0"/>
              <a:t>，分别如下所示。</a:t>
            </a:r>
          </a:p>
        </p:txBody>
      </p:sp>
    </p:spTree>
    <p:extLst>
      <p:ext uri="{BB962C8B-B14F-4D97-AF65-F5344CB8AC3E}">
        <p14:creationId xmlns:p14="http://schemas.microsoft.com/office/powerpoint/2010/main" val="3434081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F28B40-72F6-46AF-8EFD-F3AA936B792F}"/>
              </a:ext>
            </a:extLst>
          </p:cNvPr>
          <p:cNvSpPr>
            <a:spLocks noGrp="1"/>
          </p:cNvSpPr>
          <p:nvPr>
            <p:ph type="title"/>
          </p:nvPr>
        </p:nvSpPr>
        <p:spPr/>
        <p:txBody>
          <a:bodyPr>
            <a:normAutofit fontScale="90000"/>
          </a:bodyPr>
          <a:lstStyle/>
          <a:p>
            <a:r>
              <a:rPr lang="en-US" altLang="zh-CN" dirty="0" err="1"/>
              <a:t>WordCount</a:t>
            </a:r>
            <a:r>
              <a:rPr lang="zh-CN" altLang="en-US" dirty="0"/>
              <a:t>程序源码</a:t>
            </a:r>
          </a:p>
        </p:txBody>
      </p:sp>
      <p:sp>
        <p:nvSpPr>
          <p:cNvPr id="3" name="内容占位符 2">
            <a:extLst>
              <a:ext uri="{FF2B5EF4-FFF2-40B4-BE49-F238E27FC236}">
                <a16:creationId xmlns:a16="http://schemas.microsoft.com/office/drawing/2014/main" id="{AF77E95F-2894-49B8-85EF-69EB8845590F}"/>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20213A6D-DD74-40C7-80BB-E0F332B3C1E7}"/>
              </a:ext>
            </a:extLst>
          </p:cNvPr>
          <p:cNvPicPr>
            <a:picLocks noChangeAspect="1"/>
          </p:cNvPicPr>
          <p:nvPr/>
        </p:nvPicPr>
        <p:blipFill>
          <a:blip r:embed="rId2"/>
          <a:stretch>
            <a:fillRect/>
          </a:stretch>
        </p:blipFill>
        <p:spPr>
          <a:xfrm>
            <a:off x="899592" y="990372"/>
            <a:ext cx="7251592" cy="3947330"/>
          </a:xfrm>
          <a:prstGeom prst="rect">
            <a:avLst/>
          </a:prstGeom>
        </p:spPr>
      </p:pic>
    </p:spTree>
    <p:extLst>
      <p:ext uri="{BB962C8B-B14F-4D97-AF65-F5344CB8AC3E}">
        <p14:creationId xmlns:p14="http://schemas.microsoft.com/office/powerpoint/2010/main" val="2269763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F28B40-72F6-46AF-8EFD-F3AA936B792F}"/>
              </a:ext>
            </a:extLst>
          </p:cNvPr>
          <p:cNvSpPr>
            <a:spLocks noGrp="1"/>
          </p:cNvSpPr>
          <p:nvPr>
            <p:ph type="title"/>
          </p:nvPr>
        </p:nvSpPr>
        <p:spPr/>
        <p:txBody>
          <a:bodyPr>
            <a:normAutofit fontScale="90000"/>
          </a:bodyPr>
          <a:lstStyle/>
          <a:p>
            <a:r>
              <a:rPr lang="en-US" altLang="zh-CN" dirty="0" err="1"/>
              <a:t>WordCount</a:t>
            </a:r>
            <a:r>
              <a:rPr lang="zh-CN" altLang="en-US" dirty="0"/>
              <a:t>程序源码</a:t>
            </a:r>
          </a:p>
        </p:txBody>
      </p:sp>
      <p:sp>
        <p:nvSpPr>
          <p:cNvPr id="3" name="内容占位符 2">
            <a:extLst>
              <a:ext uri="{FF2B5EF4-FFF2-40B4-BE49-F238E27FC236}">
                <a16:creationId xmlns:a16="http://schemas.microsoft.com/office/drawing/2014/main" id="{AF77E95F-2894-49B8-85EF-69EB8845590F}"/>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B2964559-EEB3-43EF-A3F8-7E492A41B1DC}"/>
              </a:ext>
            </a:extLst>
          </p:cNvPr>
          <p:cNvPicPr>
            <a:picLocks noChangeAspect="1"/>
          </p:cNvPicPr>
          <p:nvPr/>
        </p:nvPicPr>
        <p:blipFill>
          <a:blip r:embed="rId2"/>
          <a:stretch>
            <a:fillRect/>
          </a:stretch>
        </p:blipFill>
        <p:spPr>
          <a:xfrm>
            <a:off x="464795" y="908974"/>
            <a:ext cx="8100392" cy="4037194"/>
          </a:xfrm>
          <a:prstGeom prst="rect">
            <a:avLst/>
          </a:prstGeom>
        </p:spPr>
      </p:pic>
    </p:spTree>
    <p:extLst>
      <p:ext uri="{BB962C8B-B14F-4D97-AF65-F5344CB8AC3E}">
        <p14:creationId xmlns:p14="http://schemas.microsoft.com/office/powerpoint/2010/main" val="24684609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F28B40-72F6-46AF-8EFD-F3AA936B792F}"/>
              </a:ext>
            </a:extLst>
          </p:cNvPr>
          <p:cNvSpPr>
            <a:spLocks noGrp="1"/>
          </p:cNvSpPr>
          <p:nvPr>
            <p:ph type="title"/>
          </p:nvPr>
        </p:nvSpPr>
        <p:spPr/>
        <p:txBody>
          <a:bodyPr>
            <a:normAutofit fontScale="90000"/>
          </a:bodyPr>
          <a:lstStyle/>
          <a:p>
            <a:r>
              <a:rPr lang="en-US" altLang="zh-CN" dirty="0" err="1"/>
              <a:t>WordCount</a:t>
            </a:r>
            <a:r>
              <a:rPr lang="zh-CN" altLang="en-US" dirty="0"/>
              <a:t>程序源码</a:t>
            </a:r>
          </a:p>
        </p:txBody>
      </p:sp>
      <p:sp>
        <p:nvSpPr>
          <p:cNvPr id="3" name="内容占位符 2">
            <a:extLst>
              <a:ext uri="{FF2B5EF4-FFF2-40B4-BE49-F238E27FC236}">
                <a16:creationId xmlns:a16="http://schemas.microsoft.com/office/drawing/2014/main" id="{AF77E95F-2894-49B8-85EF-69EB8845590F}"/>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AD5D75D0-A538-4F61-8552-606A0A6E2EA4}"/>
              </a:ext>
            </a:extLst>
          </p:cNvPr>
          <p:cNvPicPr>
            <a:picLocks noChangeAspect="1"/>
          </p:cNvPicPr>
          <p:nvPr/>
        </p:nvPicPr>
        <p:blipFill>
          <a:blip r:embed="rId2"/>
          <a:stretch>
            <a:fillRect/>
          </a:stretch>
        </p:blipFill>
        <p:spPr>
          <a:xfrm>
            <a:off x="382818" y="987574"/>
            <a:ext cx="8378364" cy="4107442"/>
          </a:xfrm>
          <a:prstGeom prst="rect">
            <a:avLst/>
          </a:prstGeom>
        </p:spPr>
      </p:pic>
    </p:spTree>
    <p:extLst>
      <p:ext uri="{BB962C8B-B14F-4D97-AF65-F5344CB8AC3E}">
        <p14:creationId xmlns:p14="http://schemas.microsoft.com/office/powerpoint/2010/main" val="2192369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F28B40-72F6-46AF-8EFD-F3AA936B792F}"/>
              </a:ext>
            </a:extLst>
          </p:cNvPr>
          <p:cNvSpPr>
            <a:spLocks noGrp="1"/>
          </p:cNvSpPr>
          <p:nvPr>
            <p:ph type="title"/>
          </p:nvPr>
        </p:nvSpPr>
        <p:spPr/>
        <p:txBody>
          <a:bodyPr>
            <a:normAutofit fontScale="90000"/>
          </a:bodyPr>
          <a:lstStyle/>
          <a:p>
            <a:r>
              <a:rPr lang="en-US" altLang="zh-CN" dirty="0" err="1"/>
              <a:t>WordCount</a:t>
            </a:r>
            <a:r>
              <a:rPr lang="zh-CN" altLang="en-US" dirty="0"/>
              <a:t>程序源码</a:t>
            </a:r>
          </a:p>
        </p:txBody>
      </p:sp>
      <p:sp>
        <p:nvSpPr>
          <p:cNvPr id="3" name="内容占位符 2">
            <a:extLst>
              <a:ext uri="{FF2B5EF4-FFF2-40B4-BE49-F238E27FC236}">
                <a16:creationId xmlns:a16="http://schemas.microsoft.com/office/drawing/2014/main" id="{AF77E95F-2894-49B8-85EF-69EB8845590F}"/>
              </a:ext>
            </a:extLst>
          </p:cNvPr>
          <p:cNvSpPr>
            <a:spLocks noGrp="1"/>
          </p:cNvSpPr>
          <p:nvPr>
            <p:ph idx="1"/>
          </p:nvPr>
        </p:nvSpPr>
        <p:spPr/>
        <p:txBody>
          <a:bodyPr>
            <a:normAutofit fontScale="92500" lnSpcReduction="10000"/>
          </a:bodyPr>
          <a:lstStyle/>
          <a:p>
            <a:endParaRPr lang="en-US" altLang="zh-CN" dirty="0"/>
          </a:p>
          <a:p>
            <a:endParaRPr lang="en-US" altLang="zh-CN" dirty="0"/>
          </a:p>
          <a:p>
            <a:endParaRPr lang="en-US" altLang="zh-CN" dirty="0"/>
          </a:p>
          <a:p>
            <a:r>
              <a:rPr lang="zh-CN" altLang="en-US" sz="2600" dirty="0"/>
              <a:t>编写完代码，并把他们分别存储在文件</a:t>
            </a:r>
            <a:r>
              <a:rPr lang="en-US" altLang="zh-CN" sz="2600" dirty="0"/>
              <a:t>wordCount_mapper.py</a:t>
            </a:r>
            <a:r>
              <a:rPr lang="zh-CN" altLang="en-US" sz="2600" dirty="0"/>
              <a:t>和</a:t>
            </a:r>
            <a:r>
              <a:rPr lang="en-US" altLang="zh-CN" sz="2600" dirty="0"/>
              <a:t>wordCount_reducer.</a:t>
            </a:r>
            <a:r>
              <a:rPr lang="en-US" altLang="zh-CN" sz="2600"/>
              <a:t>py</a:t>
            </a:r>
            <a:r>
              <a:rPr lang="zh-CN" altLang="en-US" sz="2600"/>
              <a:t>。</a:t>
            </a:r>
            <a:endParaRPr lang="en-US" altLang="zh-CN" sz="2600"/>
          </a:p>
          <a:p>
            <a:r>
              <a:rPr lang="zh-CN" altLang="en-US" sz="2600"/>
              <a:t>检查</a:t>
            </a:r>
            <a:r>
              <a:rPr lang="zh-CN" altLang="en-US" sz="2600" dirty="0"/>
              <a:t>上述文件是否具有可执行权限，若没有，可以通过</a:t>
            </a:r>
            <a:r>
              <a:rPr lang="en-US" altLang="zh-CN" sz="2600" dirty="0" err="1"/>
              <a:t>chmod</a:t>
            </a:r>
            <a:r>
              <a:rPr lang="zh-CN" altLang="en-US" sz="2600" dirty="0"/>
              <a:t>命令设置两个文件的执行权限，如“</a:t>
            </a:r>
            <a:r>
              <a:rPr lang="en-US" altLang="zh-CN" sz="2600" dirty="0" err="1"/>
              <a:t>chmod</a:t>
            </a:r>
            <a:r>
              <a:rPr lang="en-US" altLang="zh-CN" sz="2600" dirty="0"/>
              <a:t> +x ./</a:t>
            </a:r>
            <a:r>
              <a:rPr lang="en-US" altLang="zh-CN" sz="2600" dirty="0" err="1"/>
              <a:t>wordCounter</a:t>
            </a:r>
            <a:r>
              <a:rPr lang="en-US" altLang="zh-CN" sz="2600" dirty="0"/>
              <a:t>/mapper</a:t>
            </a:r>
            <a:r>
              <a:rPr lang="en-US" altLang="zh-CN" sz="2600"/>
              <a:t>.py</a:t>
            </a:r>
            <a:r>
              <a:rPr lang="zh-CN" altLang="en-US" sz="2600"/>
              <a:t>”。</a:t>
            </a:r>
            <a:endParaRPr lang="zh-CN" altLang="en-US" sz="2600" dirty="0"/>
          </a:p>
        </p:txBody>
      </p:sp>
      <p:pic>
        <p:nvPicPr>
          <p:cNvPr id="4" name="图片 3">
            <a:extLst>
              <a:ext uri="{FF2B5EF4-FFF2-40B4-BE49-F238E27FC236}">
                <a16:creationId xmlns:a16="http://schemas.microsoft.com/office/drawing/2014/main" id="{AB305B83-1A2B-4777-9162-BE6B2F2C411A}"/>
              </a:ext>
            </a:extLst>
          </p:cNvPr>
          <p:cNvPicPr>
            <a:picLocks noChangeAspect="1"/>
          </p:cNvPicPr>
          <p:nvPr/>
        </p:nvPicPr>
        <p:blipFill>
          <a:blip r:embed="rId2"/>
          <a:stretch>
            <a:fillRect/>
          </a:stretch>
        </p:blipFill>
        <p:spPr>
          <a:xfrm>
            <a:off x="0" y="1218911"/>
            <a:ext cx="9144000" cy="1129962"/>
          </a:xfrm>
          <a:prstGeom prst="rect">
            <a:avLst/>
          </a:prstGeom>
        </p:spPr>
      </p:pic>
    </p:spTree>
    <p:extLst>
      <p:ext uri="{BB962C8B-B14F-4D97-AF65-F5344CB8AC3E}">
        <p14:creationId xmlns:p14="http://schemas.microsoft.com/office/powerpoint/2010/main" val="2127968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88716-0D26-4B46-ACE0-95CC5C0571D9}"/>
              </a:ext>
            </a:extLst>
          </p:cNvPr>
          <p:cNvSpPr>
            <a:spLocks noGrp="1"/>
          </p:cNvSpPr>
          <p:nvPr>
            <p:ph type="title"/>
          </p:nvPr>
        </p:nvSpPr>
        <p:spPr/>
        <p:txBody>
          <a:bodyPr>
            <a:normAutofit fontScale="90000"/>
          </a:bodyPr>
          <a:lstStyle/>
          <a:p>
            <a:r>
              <a:rPr lang="en-US" altLang="zh-CN" dirty="0" err="1"/>
              <a:t>WordCount</a:t>
            </a:r>
            <a:r>
              <a:rPr lang="zh-CN" altLang="en-US" dirty="0"/>
              <a:t>程序执行</a:t>
            </a:r>
          </a:p>
        </p:txBody>
      </p:sp>
      <p:sp>
        <p:nvSpPr>
          <p:cNvPr id="3" name="内容占位符 2">
            <a:extLst>
              <a:ext uri="{FF2B5EF4-FFF2-40B4-BE49-F238E27FC236}">
                <a16:creationId xmlns:a16="http://schemas.microsoft.com/office/drawing/2014/main" id="{7F417D83-DB78-4682-8376-02D231EB34EF}"/>
              </a:ext>
            </a:extLst>
          </p:cNvPr>
          <p:cNvSpPr>
            <a:spLocks noGrp="1"/>
          </p:cNvSpPr>
          <p:nvPr>
            <p:ph idx="1"/>
          </p:nvPr>
        </p:nvSpPr>
        <p:spPr>
          <a:xfrm>
            <a:off x="395536" y="1131590"/>
            <a:ext cx="8229600" cy="3394472"/>
          </a:xfrm>
        </p:spPr>
        <p:txBody>
          <a:bodyPr>
            <a:normAutofit/>
          </a:bodyPr>
          <a:lstStyle/>
          <a:p>
            <a:r>
              <a:rPr lang="zh-CN" altLang="en-US" sz="2800" dirty="0"/>
              <a:t>利用</a:t>
            </a:r>
            <a:r>
              <a:rPr lang="en-US" altLang="zh-CN" sz="2800" dirty="0"/>
              <a:t>Hadoop Streaming</a:t>
            </a:r>
            <a:r>
              <a:rPr lang="zh-CN" altLang="en-US" sz="2800" dirty="0"/>
              <a:t>执行一个</a:t>
            </a:r>
            <a:r>
              <a:rPr lang="en-US" altLang="zh-CN" sz="2800" dirty="0"/>
              <a:t>MapReduce</a:t>
            </a:r>
            <a:r>
              <a:rPr lang="zh-CN" altLang="en-US" sz="2800" dirty="0"/>
              <a:t>任务的调用方法如下所示。</a:t>
            </a:r>
            <a:endParaRPr lang="en-US" altLang="zh-CN" sz="2800" dirty="0"/>
          </a:p>
          <a:p>
            <a:pPr lvl="1"/>
            <a:r>
              <a:rPr lang="en-US" altLang="zh-CN" sz="2400"/>
              <a:t>hadoop-streaming</a:t>
            </a:r>
            <a:r>
              <a:rPr lang="en-US" altLang="zh-CN" sz="2400" dirty="0"/>
              <a:t>.jar</a:t>
            </a:r>
            <a:r>
              <a:rPr lang="zh-CN" altLang="en-US" sz="2400" dirty="0"/>
              <a:t>通常命名为</a:t>
            </a:r>
            <a:r>
              <a:rPr lang="en-US" altLang="zh-CN" sz="2400" dirty="0"/>
              <a:t>hadoop-streaming-x.x.x.jar</a:t>
            </a:r>
            <a:r>
              <a:rPr lang="zh-CN" altLang="en-US" sz="2400" dirty="0"/>
              <a:t>，其中</a:t>
            </a:r>
            <a:r>
              <a:rPr lang="en-US" altLang="zh-CN" sz="2400" dirty="0" err="1"/>
              <a:t>x.x.x</a:t>
            </a:r>
            <a:r>
              <a:rPr lang="zh-CN" altLang="en-US" sz="2400" dirty="0"/>
              <a:t>为具体版本号（例如对应</a:t>
            </a:r>
            <a:r>
              <a:rPr lang="en-US" altLang="zh-CN" sz="2400" dirty="0"/>
              <a:t>hadoop3.3.0</a:t>
            </a:r>
            <a:r>
              <a:rPr lang="zh-CN" altLang="en-US" sz="2400" dirty="0"/>
              <a:t>版的文件名为</a:t>
            </a:r>
            <a:r>
              <a:rPr lang="en-US" altLang="zh-CN" sz="2400" dirty="0"/>
              <a:t>hadoop-streaming-3.3.0.jar</a:t>
            </a:r>
            <a:r>
              <a:rPr lang="zh-CN" altLang="en-US" sz="2400"/>
              <a:t>）。</a:t>
            </a:r>
            <a:endParaRPr lang="en-US" altLang="zh-CN" sz="2400" dirty="0"/>
          </a:p>
        </p:txBody>
      </p:sp>
    </p:spTree>
    <p:extLst>
      <p:ext uri="{BB962C8B-B14F-4D97-AF65-F5344CB8AC3E}">
        <p14:creationId xmlns:p14="http://schemas.microsoft.com/office/powerpoint/2010/main" val="764552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88716-0D26-4B46-ACE0-95CC5C0571D9}"/>
              </a:ext>
            </a:extLst>
          </p:cNvPr>
          <p:cNvSpPr>
            <a:spLocks noGrp="1"/>
          </p:cNvSpPr>
          <p:nvPr>
            <p:ph type="title"/>
          </p:nvPr>
        </p:nvSpPr>
        <p:spPr>
          <a:xfrm>
            <a:off x="144016" y="231490"/>
            <a:ext cx="3923928" cy="540060"/>
          </a:xfrm>
        </p:spPr>
        <p:txBody>
          <a:bodyPr>
            <a:normAutofit fontScale="90000"/>
          </a:bodyPr>
          <a:lstStyle/>
          <a:p>
            <a:r>
              <a:rPr lang="en-US" altLang="zh-CN" dirty="0" err="1"/>
              <a:t>WordCount</a:t>
            </a:r>
            <a:r>
              <a:rPr lang="zh-CN" altLang="en-US" dirty="0"/>
              <a:t>程序执行</a:t>
            </a:r>
          </a:p>
        </p:txBody>
      </p:sp>
      <p:sp>
        <p:nvSpPr>
          <p:cNvPr id="3" name="内容占位符 2">
            <a:extLst>
              <a:ext uri="{FF2B5EF4-FFF2-40B4-BE49-F238E27FC236}">
                <a16:creationId xmlns:a16="http://schemas.microsoft.com/office/drawing/2014/main" id="{7F417D83-DB78-4682-8376-02D231EB34EF}"/>
              </a:ext>
            </a:extLst>
          </p:cNvPr>
          <p:cNvSpPr>
            <a:spLocks noGrp="1"/>
          </p:cNvSpPr>
          <p:nvPr>
            <p:ph idx="1"/>
          </p:nvPr>
        </p:nvSpPr>
        <p:spPr/>
        <p:txBody>
          <a:bodyPr>
            <a:normAutofit/>
          </a:bodyPr>
          <a:lstStyle/>
          <a:p>
            <a:r>
              <a:rPr lang="zh-CN" altLang="en-US" sz="2800"/>
              <a:t>（</a:t>
            </a:r>
            <a:r>
              <a:rPr lang="en-US" altLang="zh-CN" sz="2800"/>
              <a:t>1</a:t>
            </a:r>
            <a:r>
              <a:rPr lang="zh-CN" altLang="en-US" sz="2800"/>
              <a:t>）数据</a:t>
            </a:r>
            <a:r>
              <a:rPr lang="zh-CN" altLang="en-US" sz="2800" dirty="0"/>
              <a:t>准备（路径可能会因个人不同）</a:t>
            </a:r>
            <a:endParaRPr lang="en-US" altLang="zh-CN" sz="2800" dirty="0"/>
          </a:p>
          <a:p>
            <a:pPr lvl="1"/>
            <a:r>
              <a:rPr lang="zh-CN" altLang="en-US" sz="2400"/>
              <a:t>后</a:t>
            </a:r>
            <a:r>
              <a:rPr lang="zh-CN" altLang="en-US" sz="2400" dirty="0"/>
              <a:t>在</a:t>
            </a:r>
            <a:r>
              <a:rPr lang="en-US" altLang="zh-CN" sz="2400" dirty="0"/>
              <a:t>HDFS</a:t>
            </a:r>
            <a:r>
              <a:rPr lang="zh-CN" altLang="en-US" sz="2400" dirty="0"/>
              <a:t>上创建“</a:t>
            </a:r>
            <a:r>
              <a:rPr lang="en-US" altLang="zh-CN" sz="2400" dirty="0"/>
              <a:t>/</a:t>
            </a:r>
            <a:r>
              <a:rPr lang="en-US" altLang="zh-CN" sz="2400" dirty="0" err="1"/>
              <a:t>wordCountData</a:t>
            </a:r>
            <a:r>
              <a:rPr lang="en-US" altLang="zh-CN" sz="2400" dirty="0"/>
              <a:t>”</a:t>
            </a:r>
            <a:r>
              <a:rPr lang="zh-CN" altLang="en-US" sz="2400" dirty="0"/>
              <a:t>文件夹，并把</a:t>
            </a:r>
            <a:r>
              <a:rPr lang="zh-CN" altLang="en-US" sz="2400"/>
              <a:t>数据文件（文本文件）上</a:t>
            </a:r>
            <a:r>
              <a:rPr lang="zh-CN" altLang="en-US" sz="2400" dirty="0"/>
              <a:t>传到</a:t>
            </a:r>
            <a:r>
              <a:rPr lang="zh-CN" altLang="en-US" sz="2400"/>
              <a:t>该文件夹；</a:t>
            </a:r>
            <a:endParaRPr lang="zh-CN" altLang="en-US" sz="2400" dirty="0"/>
          </a:p>
        </p:txBody>
      </p:sp>
    </p:spTree>
    <p:extLst>
      <p:ext uri="{BB962C8B-B14F-4D97-AF65-F5344CB8AC3E}">
        <p14:creationId xmlns:p14="http://schemas.microsoft.com/office/powerpoint/2010/main" val="3874879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88716-0D26-4B46-ACE0-95CC5C0571D9}"/>
              </a:ext>
            </a:extLst>
          </p:cNvPr>
          <p:cNvSpPr>
            <a:spLocks noGrp="1"/>
          </p:cNvSpPr>
          <p:nvPr>
            <p:ph type="title"/>
          </p:nvPr>
        </p:nvSpPr>
        <p:spPr/>
        <p:txBody>
          <a:bodyPr>
            <a:normAutofit fontScale="90000"/>
          </a:bodyPr>
          <a:lstStyle/>
          <a:p>
            <a:r>
              <a:rPr lang="en-US" altLang="zh-CN" dirty="0" err="1"/>
              <a:t>WordCount</a:t>
            </a:r>
            <a:r>
              <a:rPr lang="zh-CN" altLang="en-US" dirty="0"/>
              <a:t>程序执行</a:t>
            </a:r>
          </a:p>
        </p:txBody>
      </p:sp>
      <p:sp>
        <p:nvSpPr>
          <p:cNvPr id="3" name="内容占位符 2">
            <a:extLst>
              <a:ext uri="{FF2B5EF4-FFF2-40B4-BE49-F238E27FC236}">
                <a16:creationId xmlns:a16="http://schemas.microsoft.com/office/drawing/2014/main" id="{7F417D83-DB78-4682-8376-02D231EB34EF}"/>
              </a:ext>
            </a:extLst>
          </p:cNvPr>
          <p:cNvSpPr>
            <a:spLocks noGrp="1"/>
          </p:cNvSpPr>
          <p:nvPr>
            <p:ph idx="1"/>
          </p:nvPr>
        </p:nvSpPr>
        <p:spPr/>
        <p:txBody>
          <a:bodyPr>
            <a:normAutofit/>
          </a:bodyPr>
          <a:lstStyle/>
          <a:p>
            <a:r>
              <a:rPr lang="zh-CN" altLang="en-US" sz="2800"/>
              <a:t>（</a:t>
            </a:r>
            <a:r>
              <a:rPr lang="en-US" altLang="zh-CN" sz="2800"/>
              <a:t>2</a:t>
            </a:r>
            <a:r>
              <a:rPr lang="zh-CN" altLang="en-US" sz="2800"/>
              <a:t>）执行命令如下（当</a:t>
            </a:r>
            <a:r>
              <a:rPr lang="zh-CN" altLang="en-US" sz="2800" dirty="0"/>
              <a:t>命令在一行中写不下时，可以使用</a:t>
            </a:r>
            <a:r>
              <a:rPr lang="en-US" altLang="zh-CN" sz="2800"/>
              <a:t>“\”</a:t>
            </a:r>
            <a:r>
              <a:rPr lang="zh-CN" altLang="en-US" sz="2800"/>
              <a:t>换行）</a:t>
            </a:r>
            <a:endParaRPr lang="zh-CN" altLang="en-US" sz="2800" dirty="0"/>
          </a:p>
        </p:txBody>
      </p:sp>
      <p:sp>
        <p:nvSpPr>
          <p:cNvPr id="6" name="矩形 5">
            <a:extLst>
              <a:ext uri="{FF2B5EF4-FFF2-40B4-BE49-F238E27FC236}">
                <a16:creationId xmlns:a16="http://schemas.microsoft.com/office/drawing/2014/main" id="{F9F4191C-E4B3-47B3-9F03-2B007E90199F}"/>
              </a:ext>
            </a:extLst>
          </p:cNvPr>
          <p:cNvSpPr/>
          <p:nvPr/>
        </p:nvSpPr>
        <p:spPr>
          <a:xfrm>
            <a:off x="838034" y="2283718"/>
            <a:ext cx="7406374" cy="1938992"/>
          </a:xfrm>
          <a:prstGeom prst="rect">
            <a:avLst/>
          </a:prstGeom>
        </p:spPr>
        <p:txBody>
          <a:bodyPr wrap="square">
            <a:spAutoFit/>
          </a:bodyPr>
          <a:lstStyle/>
          <a:p>
            <a:r>
              <a:rPr lang="zh-CN" altLang="en-US" sz="2400" b="1">
                <a:solidFill>
                  <a:srgbClr val="FF0000"/>
                </a:solidFill>
              </a:rPr>
              <a:t>mapred streaming </a:t>
            </a:r>
            <a:r>
              <a:rPr lang="zh-CN" altLang="en-US" sz="2400"/>
              <a:t>\</a:t>
            </a:r>
          </a:p>
          <a:p>
            <a:r>
              <a:rPr lang="zh-CN" altLang="en-US" sz="2400"/>
              <a:t> -input /wordCountData \</a:t>
            </a:r>
          </a:p>
          <a:p>
            <a:r>
              <a:rPr lang="zh-CN" altLang="en-US" sz="2400"/>
              <a:t> -output /wordCount_rlt \</a:t>
            </a:r>
          </a:p>
          <a:p>
            <a:r>
              <a:rPr lang="zh-CN" altLang="en-US" sz="2400"/>
              <a:t> -mapper "/codes/wordCount/wordCount_mapper.py" \</a:t>
            </a:r>
          </a:p>
          <a:p>
            <a:r>
              <a:rPr lang="zh-CN" altLang="en-US" sz="2400"/>
              <a:t> -reducer "/codes/wordCount/wordCount_reducer.py"</a:t>
            </a:r>
          </a:p>
        </p:txBody>
      </p:sp>
    </p:spTree>
    <p:extLst>
      <p:ext uri="{BB962C8B-B14F-4D97-AF65-F5344CB8AC3E}">
        <p14:creationId xmlns:p14="http://schemas.microsoft.com/office/powerpoint/2010/main" val="694480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88716-0D26-4B46-ACE0-95CC5C0571D9}"/>
              </a:ext>
            </a:extLst>
          </p:cNvPr>
          <p:cNvSpPr>
            <a:spLocks noGrp="1"/>
          </p:cNvSpPr>
          <p:nvPr>
            <p:ph type="title"/>
          </p:nvPr>
        </p:nvSpPr>
        <p:spPr/>
        <p:txBody>
          <a:bodyPr>
            <a:normAutofit fontScale="90000"/>
          </a:bodyPr>
          <a:lstStyle/>
          <a:p>
            <a:r>
              <a:rPr lang="en-US" altLang="zh-CN" dirty="0" err="1"/>
              <a:t>WordCount</a:t>
            </a:r>
            <a:r>
              <a:rPr lang="zh-CN" altLang="en-US" dirty="0"/>
              <a:t>程序执行</a:t>
            </a:r>
          </a:p>
        </p:txBody>
      </p:sp>
      <p:sp>
        <p:nvSpPr>
          <p:cNvPr id="3" name="内容占位符 2">
            <a:extLst>
              <a:ext uri="{FF2B5EF4-FFF2-40B4-BE49-F238E27FC236}">
                <a16:creationId xmlns:a16="http://schemas.microsoft.com/office/drawing/2014/main" id="{7F417D83-DB78-4682-8376-02D231EB34EF}"/>
              </a:ext>
            </a:extLst>
          </p:cNvPr>
          <p:cNvSpPr>
            <a:spLocks noGrp="1"/>
          </p:cNvSpPr>
          <p:nvPr>
            <p:ph idx="1"/>
          </p:nvPr>
        </p:nvSpPr>
        <p:spPr/>
        <p:txBody>
          <a:bodyPr>
            <a:normAutofit/>
          </a:bodyPr>
          <a:lstStyle/>
          <a:p>
            <a:r>
              <a:rPr lang="zh-CN" altLang="en-US" sz="2800"/>
              <a:t>（</a:t>
            </a:r>
            <a:r>
              <a:rPr lang="en-US" altLang="zh-CN" sz="2800"/>
              <a:t>3</a:t>
            </a:r>
            <a:r>
              <a:rPr lang="zh-CN" altLang="en-US" sz="2800"/>
              <a:t>）运行</a:t>
            </a:r>
            <a:r>
              <a:rPr lang="zh-CN" altLang="en-US" sz="2800" dirty="0"/>
              <a:t>完成后，查看文件夹“</a:t>
            </a:r>
            <a:r>
              <a:rPr lang="en-US" altLang="zh-CN" sz="2800" dirty="0"/>
              <a:t>/</a:t>
            </a:r>
            <a:r>
              <a:rPr lang="en-US" altLang="zh-CN" sz="2800" dirty="0" err="1"/>
              <a:t>wordCount_rlt</a:t>
            </a:r>
            <a:r>
              <a:rPr lang="en-US" altLang="zh-CN" sz="2800" dirty="0"/>
              <a:t>”</a:t>
            </a:r>
            <a:r>
              <a:rPr lang="zh-CN" altLang="en-US" sz="2800" dirty="0"/>
              <a:t>中的文件，可以通过</a:t>
            </a:r>
            <a:r>
              <a:rPr lang="en-US" altLang="zh-CN" sz="2800" dirty="0"/>
              <a:t>cat</a:t>
            </a:r>
            <a:r>
              <a:rPr lang="zh-CN" altLang="en-US" sz="2800" dirty="0"/>
              <a:t>直接查看</a:t>
            </a:r>
          </a:p>
        </p:txBody>
      </p:sp>
      <p:pic>
        <p:nvPicPr>
          <p:cNvPr id="4" name="图片 3">
            <a:extLst>
              <a:ext uri="{FF2B5EF4-FFF2-40B4-BE49-F238E27FC236}">
                <a16:creationId xmlns:a16="http://schemas.microsoft.com/office/drawing/2014/main" id="{35A9BF00-B006-44A4-A674-E8AD0EF0EE6B}"/>
              </a:ext>
            </a:extLst>
          </p:cNvPr>
          <p:cNvPicPr>
            <a:picLocks noChangeAspect="1"/>
          </p:cNvPicPr>
          <p:nvPr/>
        </p:nvPicPr>
        <p:blipFill>
          <a:blip r:embed="rId2"/>
          <a:stretch>
            <a:fillRect/>
          </a:stretch>
        </p:blipFill>
        <p:spPr>
          <a:xfrm>
            <a:off x="0" y="2499742"/>
            <a:ext cx="9144000" cy="1536192"/>
          </a:xfrm>
          <a:prstGeom prst="rect">
            <a:avLst/>
          </a:prstGeom>
        </p:spPr>
      </p:pic>
    </p:spTree>
    <p:extLst>
      <p:ext uri="{BB962C8B-B14F-4D97-AF65-F5344CB8AC3E}">
        <p14:creationId xmlns:p14="http://schemas.microsoft.com/office/powerpoint/2010/main" val="24158172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4C3903-FB65-4BA6-BB86-918D1C3D6067}"/>
              </a:ext>
            </a:extLst>
          </p:cNvPr>
          <p:cNvSpPr>
            <a:spLocks noGrp="1"/>
          </p:cNvSpPr>
          <p:nvPr>
            <p:ph type="title"/>
          </p:nvPr>
        </p:nvSpPr>
        <p:spPr/>
        <p:txBody>
          <a:bodyPr>
            <a:normAutofit fontScale="90000"/>
          </a:bodyPr>
          <a:lstStyle/>
          <a:p>
            <a:r>
              <a:rPr lang="en-US" altLang="zh-CN" dirty="0" err="1"/>
              <a:t>WordCount</a:t>
            </a:r>
            <a:r>
              <a:rPr lang="zh-CN" altLang="en-US" dirty="0"/>
              <a:t>程序原理</a:t>
            </a:r>
          </a:p>
        </p:txBody>
      </p:sp>
      <p:sp>
        <p:nvSpPr>
          <p:cNvPr id="3" name="内容占位符 2">
            <a:extLst>
              <a:ext uri="{FF2B5EF4-FFF2-40B4-BE49-F238E27FC236}">
                <a16:creationId xmlns:a16="http://schemas.microsoft.com/office/drawing/2014/main" id="{1572202A-189D-4FDA-AF61-8A7FE70E3BCA}"/>
              </a:ext>
            </a:extLst>
          </p:cNvPr>
          <p:cNvSpPr>
            <a:spLocks noGrp="1"/>
          </p:cNvSpPr>
          <p:nvPr>
            <p:ph idx="1"/>
          </p:nvPr>
        </p:nvSpPr>
        <p:spPr>
          <a:xfrm>
            <a:off x="457200" y="1200151"/>
            <a:ext cx="8291264" cy="3531839"/>
          </a:xfrm>
        </p:spPr>
        <p:txBody>
          <a:bodyPr>
            <a:normAutofit fontScale="85000" lnSpcReduction="20000"/>
          </a:bodyPr>
          <a:lstStyle/>
          <a:p>
            <a:r>
              <a:rPr lang="zh-CN" altLang="en-US" sz="2800" dirty="0"/>
              <a:t>将文件拆分成多片段（</a:t>
            </a:r>
            <a:r>
              <a:rPr lang="en-US" altLang="zh-CN" sz="2800" dirty="0"/>
              <a:t>splits</a:t>
            </a:r>
            <a:r>
              <a:rPr lang="zh-CN" altLang="en-US" sz="2800" dirty="0"/>
              <a:t>），由于测试用的文件较小，所以每个文件为一个</a:t>
            </a:r>
            <a:r>
              <a:rPr lang="en-US" altLang="zh-CN" sz="2800" dirty="0"/>
              <a:t>split</a:t>
            </a:r>
            <a:r>
              <a:rPr lang="zh-CN" altLang="en-US" sz="2800" dirty="0"/>
              <a:t>，并将文件形成标准输入流，这一步由</a:t>
            </a:r>
            <a:r>
              <a:rPr lang="en-US" altLang="zh-CN" sz="2800" dirty="0"/>
              <a:t>MapReduce</a:t>
            </a:r>
            <a:r>
              <a:rPr lang="zh-CN" altLang="en-US" sz="2800" dirty="0"/>
              <a:t>框架自动完成；</a:t>
            </a:r>
          </a:p>
          <a:p>
            <a:r>
              <a:rPr lang="zh-CN" altLang="en-US" sz="2800" dirty="0"/>
              <a:t>在</a:t>
            </a:r>
            <a:r>
              <a:rPr lang="en-US" altLang="zh-CN" sz="2800" dirty="0"/>
              <a:t>mapper</a:t>
            </a:r>
            <a:r>
              <a:rPr lang="zh-CN" altLang="en-US" sz="2800" dirty="0"/>
              <a:t>中按行读取标准输入数据，并对单词进行分割形成</a:t>
            </a:r>
            <a:r>
              <a:rPr lang="en-US" altLang="zh-CN" sz="2800" dirty="0"/>
              <a:t>&lt;</a:t>
            </a:r>
            <a:r>
              <a:rPr lang="en-US" altLang="zh-CN" sz="2800" dirty="0" err="1"/>
              <a:t>key,value</a:t>
            </a:r>
            <a:r>
              <a:rPr lang="en-US" altLang="zh-CN" sz="2800" dirty="0"/>
              <a:t>&gt;</a:t>
            </a:r>
            <a:r>
              <a:rPr lang="zh-CN" altLang="en-US" sz="2800" dirty="0"/>
              <a:t>，其中</a:t>
            </a:r>
            <a:r>
              <a:rPr lang="en-US" altLang="zh-CN" sz="2800" dirty="0"/>
              <a:t>key</a:t>
            </a:r>
            <a:r>
              <a:rPr lang="zh-CN" altLang="en-US" sz="2800" dirty="0"/>
              <a:t>为单词，</a:t>
            </a:r>
            <a:r>
              <a:rPr lang="en-US" altLang="zh-CN" sz="2800" dirty="0"/>
              <a:t>value</a:t>
            </a:r>
            <a:r>
              <a:rPr lang="zh-CN" altLang="en-US" sz="2800" dirty="0"/>
              <a:t>为该单词出现次数，这里没有对单词进行统计，所以</a:t>
            </a:r>
            <a:r>
              <a:rPr lang="en-US" altLang="zh-CN" sz="2800" dirty="0"/>
              <a:t>value</a:t>
            </a:r>
            <a:r>
              <a:rPr lang="zh-CN" altLang="en-US" sz="2800" dirty="0"/>
              <a:t>都是</a:t>
            </a:r>
            <a:r>
              <a:rPr lang="en-US" altLang="zh-CN" sz="2800" dirty="0"/>
              <a:t>1</a:t>
            </a:r>
            <a:r>
              <a:rPr lang="zh-CN" altLang="en-US" sz="2800" dirty="0"/>
              <a:t>；</a:t>
            </a:r>
          </a:p>
          <a:p>
            <a:r>
              <a:rPr lang="zh-CN" altLang="en-US" sz="2800" dirty="0"/>
              <a:t>得到</a:t>
            </a:r>
            <a:r>
              <a:rPr lang="en-US" altLang="zh-CN" sz="2800" dirty="0"/>
              <a:t>map</a:t>
            </a:r>
            <a:r>
              <a:rPr lang="zh-CN" altLang="en-US" sz="2800" dirty="0"/>
              <a:t>方法输出的</a:t>
            </a:r>
            <a:r>
              <a:rPr lang="en-US" altLang="zh-CN" sz="2800" dirty="0"/>
              <a:t>&lt;</a:t>
            </a:r>
            <a:r>
              <a:rPr lang="en-US" altLang="zh-CN" sz="2800" dirty="0" err="1"/>
              <a:t>key,value</a:t>
            </a:r>
            <a:r>
              <a:rPr lang="en-US" altLang="zh-CN" sz="2800" dirty="0"/>
              <a:t>&gt;</a:t>
            </a:r>
            <a:r>
              <a:rPr lang="zh-CN" altLang="en-US" sz="2800" dirty="0"/>
              <a:t>集后，</a:t>
            </a:r>
            <a:r>
              <a:rPr lang="en-US" altLang="zh-CN" sz="2800" dirty="0"/>
              <a:t>shuffle</a:t>
            </a:r>
            <a:r>
              <a:rPr lang="zh-CN" altLang="en-US" sz="2800" dirty="0"/>
              <a:t>将它们按照</a:t>
            </a:r>
            <a:r>
              <a:rPr lang="en-US" altLang="zh-CN" sz="2800" dirty="0"/>
              <a:t>key</a:t>
            </a:r>
            <a:r>
              <a:rPr lang="zh-CN" altLang="en-US" sz="2800" dirty="0"/>
              <a:t>值进行排序，并作为</a:t>
            </a:r>
            <a:r>
              <a:rPr lang="en-US" altLang="zh-CN" sz="2800" dirty="0"/>
              <a:t>reduce</a:t>
            </a:r>
            <a:r>
              <a:rPr lang="zh-CN" altLang="en-US" sz="2800" dirty="0"/>
              <a:t>的输入数据；</a:t>
            </a:r>
          </a:p>
          <a:p>
            <a:r>
              <a:rPr lang="zh-CN" altLang="en-US" sz="2800" dirty="0"/>
              <a:t>得到排过序的键值对后，利用自定义的</a:t>
            </a:r>
            <a:r>
              <a:rPr lang="en-US" altLang="zh-CN" sz="2800" dirty="0"/>
              <a:t>reduce</a:t>
            </a:r>
            <a:r>
              <a:rPr lang="zh-CN" altLang="en-US" sz="2800" dirty="0"/>
              <a:t>方法进行处理，得到新的</a:t>
            </a:r>
            <a:r>
              <a:rPr lang="en-US" altLang="zh-CN" sz="2800" dirty="0"/>
              <a:t>&lt;</a:t>
            </a:r>
            <a:r>
              <a:rPr lang="en-US" altLang="zh-CN" sz="2800" dirty="0" err="1"/>
              <a:t>key,value</a:t>
            </a:r>
            <a:r>
              <a:rPr lang="en-US" altLang="zh-CN" sz="2800" dirty="0"/>
              <a:t>&gt;</a:t>
            </a:r>
            <a:r>
              <a:rPr lang="zh-CN" altLang="en-US" sz="2800" dirty="0"/>
              <a:t>对，并作为</a:t>
            </a:r>
            <a:r>
              <a:rPr lang="en-US" altLang="zh-CN" sz="2800" dirty="0" err="1"/>
              <a:t>WordCount</a:t>
            </a:r>
            <a:r>
              <a:rPr lang="zh-CN" altLang="en-US" sz="2800" dirty="0"/>
              <a:t>的输出结果。</a:t>
            </a:r>
          </a:p>
          <a:p>
            <a:endParaRPr lang="zh-CN" altLang="en-US" dirty="0"/>
          </a:p>
        </p:txBody>
      </p:sp>
    </p:spTree>
    <p:extLst>
      <p:ext uri="{BB962C8B-B14F-4D97-AF65-F5344CB8AC3E}">
        <p14:creationId xmlns:p14="http://schemas.microsoft.com/office/powerpoint/2010/main" val="182776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4C3903-FB65-4BA6-BB86-918D1C3D6067}"/>
              </a:ext>
            </a:extLst>
          </p:cNvPr>
          <p:cNvSpPr>
            <a:spLocks noGrp="1"/>
          </p:cNvSpPr>
          <p:nvPr>
            <p:ph type="title"/>
          </p:nvPr>
        </p:nvSpPr>
        <p:spPr/>
        <p:txBody>
          <a:bodyPr>
            <a:normAutofit fontScale="90000"/>
          </a:bodyPr>
          <a:lstStyle/>
          <a:p>
            <a:r>
              <a:rPr lang="en-US" altLang="zh-CN" dirty="0" err="1"/>
              <a:t>WordCount</a:t>
            </a:r>
            <a:r>
              <a:rPr lang="zh-CN" altLang="en-US" dirty="0"/>
              <a:t>程序原理</a:t>
            </a:r>
          </a:p>
        </p:txBody>
      </p:sp>
      <p:sp>
        <p:nvSpPr>
          <p:cNvPr id="3" name="内容占位符 2">
            <a:extLst>
              <a:ext uri="{FF2B5EF4-FFF2-40B4-BE49-F238E27FC236}">
                <a16:creationId xmlns:a16="http://schemas.microsoft.com/office/drawing/2014/main" id="{1572202A-189D-4FDA-AF61-8A7FE70E3BCA}"/>
              </a:ext>
            </a:extLst>
          </p:cNvPr>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ABFAB61D-9019-4EEA-8EFC-AC80A854B471}"/>
              </a:ext>
            </a:extLst>
          </p:cNvPr>
          <p:cNvPicPr>
            <a:picLocks noChangeAspect="1"/>
          </p:cNvPicPr>
          <p:nvPr/>
        </p:nvPicPr>
        <p:blipFill>
          <a:blip r:embed="rId2"/>
          <a:stretch>
            <a:fillRect/>
          </a:stretch>
        </p:blipFill>
        <p:spPr>
          <a:xfrm>
            <a:off x="0" y="0"/>
            <a:ext cx="9143999" cy="5143500"/>
          </a:xfrm>
          <a:prstGeom prst="rect">
            <a:avLst/>
          </a:prstGeom>
        </p:spPr>
      </p:pic>
    </p:spTree>
    <p:extLst>
      <p:ext uri="{BB962C8B-B14F-4D97-AF65-F5344CB8AC3E}">
        <p14:creationId xmlns:p14="http://schemas.microsoft.com/office/powerpoint/2010/main" val="2498328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178404"/>
            <a:ext cx="5308453" cy="1200329"/>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MapReduce Python</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代码的测试</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a:solidFill>
                  <a:srgbClr val="00B0F0"/>
                </a:solidFill>
                <a:latin typeface="IrisUPC" panose="020B0604020202020204" pitchFamily="34" charset="-34"/>
                <a:cs typeface="IrisUPC" panose="020B0604020202020204" pitchFamily="34" charset="-34"/>
              </a:rPr>
              <a:t>03</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192958704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MapReduce Python</a:t>
            </a:r>
            <a:r>
              <a:rPr lang="zh-CN" altLang="en-US" dirty="0"/>
              <a:t>代码的测试</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lnSpcReduction="10000"/>
          </a:bodyPr>
          <a:lstStyle/>
          <a:p>
            <a:r>
              <a:rPr lang="zh-CN" altLang="en-US" sz="2800" dirty="0"/>
              <a:t>使用</a:t>
            </a:r>
            <a:r>
              <a:rPr lang="en-US" altLang="zh-CN" sz="2800" dirty="0"/>
              <a:t>Python</a:t>
            </a:r>
            <a:r>
              <a:rPr lang="zh-CN" altLang="en-US" sz="2800" dirty="0"/>
              <a:t>编写完成的</a:t>
            </a:r>
            <a:r>
              <a:rPr lang="en-US" altLang="zh-CN" sz="2800" dirty="0"/>
              <a:t>MapReduce</a:t>
            </a:r>
            <a:r>
              <a:rPr lang="zh-CN" altLang="en-US" sz="2800" dirty="0"/>
              <a:t>程序，通常需要进行调试、测试，以排除隐藏的逻辑问题。对运行于分布式环境的</a:t>
            </a:r>
            <a:r>
              <a:rPr lang="en-US" altLang="zh-CN" sz="2800" dirty="0"/>
              <a:t>MapReduce</a:t>
            </a:r>
            <a:r>
              <a:rPr lang="zh-CN" altLang="en-US" sz="2800" dirty="0"/>
              <a:t>程序而言，其运行的整个过程由</a:t>
            </a:r>
            <a:r>
              <a:rPr lang="en-US" altLang="zh-CN" sz="2800" dirty="0" err="1"/>
              <a:t>mapReduce</a:t>
            </a:r>
            <a:r>
              <a:rPr lang="zh-CN" altLang="en-US" sz="2800" dirty="0"/>
              <a:t>框架自动管理，在这种情况下要通过一遍遍运行查找程序，再在输出的日志中发现逻辑错误、甚至语法问题将是非常耗时且烦琐的。因此，我们需要通过使用一些工具和方法来协助程序代码的调试。</a:t>
            </a:r>
          </a:p>
        </p:txBody>
      </p:sp>
    </p:spTree>
    <p:extLst>
      <p:ext uri="{BB962C8B-B14F-4D97-AF65-F5344CB8AC3E}">
        <p14:creationId xmlns:p14="http://schemas.microsoft.com/office/powerpoint/2010/main" val="4050311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MapReduce Python</a:t>
            </a:r>
            <a:r>
              <a:rPr lang="zh-CN" altLang="en-US" dirty="0"/>
              <a:t>代码的测试</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r>
              <a:rPr lang="en-US" altLang="zh-CN" sz="2400" dirty="0"/>
              <a:t>Python</a:t>
            </a:r>
            <a:r>
              <a:rPr lang="zh-CN" altLang="en-US" sz="2400" dirty="0"/>
              <a:t>程序的运行是通过</a:t>
            </a:r>
            <a:r>
              <a:rPr lang="en-US" altLang="zh-CN" sz="2400" dirty="0"/>
              <a:t>Hadoop Streaming</a:t>
            </a:r>
            <a:r>
              <a:rPr lang="zh-CN" altLang="en-US" sz="2400" dirty="0"/>
              <a:t>工具进行数据流的控制，并且</a:t>
            </a:r>
            <a:r>
              <a:rPr lang="en-US" altLang="zh-CN" sz="2400" dirty="0"/>
              <a:t>Python</a:t>
            </a:r>
            <a:r>
              <a:rPr lang="zh-CN" altLang="en-US" sz="2400" dirty="0"/>
              <a:t>的</a:t>
            </a:r>
            <a:r>
              <a:rPr lang="en-US" altLang="zh-CN" sz="2400" dirty="0"/>
              <a:t>Map</a:t>
            </a:r>
            <a:r>
              <a:rPr lang="zh-CN" altLang="en-US" sz="2400" dirty="0"/>
              <a:t>程序是通过标准输入</a:t>
            </a:r>
            <a:r>
              <a:rPr lang="en-US" altLang="zh-CN" sz="2400" dirty="0"/>
              <a:t>STDIN</a:t>
            </a:r>
            <a:r>
              <a:rPr lang="zh-CN" altLang="en-US" sz="2400" dirty="0"/>
              <a:t>接收输入数据的，所以可以通过构造标准输出作为</a:t>
            </a:r>
            <a:r>
              <a:rPr lang="en-US" altLang="zh-CN" sz="2400" dirty="0"/>
              <a:t>map</a:t>
            </a:r>
            <a:r>
              <a:rPr lang="zh-CN" altLang="en-US" sz="2400" dirty="0"/>
              <a:t>程序的输入，然后利用</a:t>
            </a:r>
            <a:r>
              <a:rPr lang="en-US" altLang="zh-CN" sz="2400" dirty="0" err="1"/>
              <a:t>linux</a:t>
            </a:r>
            <a:r>
              <a:rPr lang="zh-CN" altLang="en-US" sz="2400" dirty="0"/>
              <a:t>的管道把</a:t>
            </a:r>
            <a:r>
              <a:rPr lang="en-US" altLang="zh-CN" sz="2400" dirty="0"/>
              <a:t>map</a:t>
            </a:r>
            <a:r>
              <a:rPr lang="zh-CN" altLang="en-US" sz="2400" dirty="0"/>
              <a:t>输出到</a:t>
            </a:r>
            <a:r>
              <a:rPr lang="en-US" altLang="zh-CN" sz="2400" dirty="0"/>
              <a:t>sort</a:t>
            </a:r>
            <a:r>
              <a:rPr lang="zh-CN" altLang="en-US" sz="2400" dirty="0"/>
              <a:t>工具实现排序；排序完成后的数据再通过管道输出到</a:t>
            </a:r>
            <a:r>
              <a:rPr lang="en-US" altLang="zh-CN" sz="2400" dirty="0"/>
              <a:t>reduce</a:t>
            </a:r>
            <a:r>
              <a:rPr lang="zh-CN" altLang="en-US" sz="2400" dirty="0"/>
              <a:t>程序，从而实现简单测试环境的构建。而</a:t>
            </a:r>
            <a:r>
              <a:rPr lang="en-US" altLang="zh-CN" sz="2400" dirty="0"/>
              <a:t>reduce</a:t>
            </a:r>
            <a:r>
              <a:rPr lang="zh-CN" altLang="en-US" sz="2400" dirty="0"/>
              <a:t>的最终输出结果，则可以通过重定向标准输出到文件的方式实现结果的输出和存储。</a:t>
            </a:r>
          </a:p>
        </p:txBody>
      </p:sp>
    </p:spTree>
    <p:extLst>
      <p:ext uri="{BB962C8B-B14F-4D97-AF65-F5344CB8AC3E}">
        <p14:creationId xmlns:p14="http://schemas.microsoft.com/office/powerpoint/2010/main" val="42810508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MapReduce Python</a:t>
            </a:r>
            <a:r>
              <a:rPr lang="zh-CN" altLang="en-US" dirty="0"/>
              <a:t>代码的测试</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endParaRPr lang="zh-CN" altLang="en-US" dirty="0"/>
          </a:p>
        </p:txBody>
      </p:sp>
      <p:pic>
        <p:nvPicPr>
          <p:cNvPr id="3" name="图片 2">
            <a:extLst>
              <a:ext uri="{FF2B5EF4-FFF2-40B4-BE49-F238E27FC236}">
                <a16:creationId xmlns:a16="http://schemas.microsoft.com/office/drawing/2014/main" id="{55B3F41E-22E1-4A09-BB5B-E06BEBE13EF3}"/>
              </a:ext>
            </a:extLst>
          </p:cNvPr>
          <p:cNvPicPr>
            <a:picLocks noChangeAspect="1"/>
          </p:cNvPicPr>
          <p:nvPr/>
        </p:nvPicPr>
        <p:blipFill>
          <a:blip r:embed="rId2"/>
          <a:stretch>
            <a:fillRect/>
          </a:stretch>
        </p:blipFill>
        <p:spPr>
          <a:xfrm>
            <a:off x="0" y="1851670"/>
            <a:ext cx="9144000" cy="1699651"/>
          </a:xfrm>
          <a:prstGeom prst="rect">
            <a:avLst/>
          </a:prstGeom>
        </p:spPr>
      </p:pic>
    </p:spTree>
    <p:extLst>
      <p:ext uri="{BB962C8B-B14F-4D97-AF65-F5344CB8AC3E}">
        <p14:creationId xmlns:p14="http://schemas.microsoft.com/office/powerpoint/2010/main" val="2775107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MapReduce Python</a:t>
            </a:r>
            <a:r>
              <a:rPr lang="zh-CN" altLang="en-US" dirty="0"/>
              <a:t>代码的测试</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a:xfrm>
            <a:off x="457200" y="1200151"/>
            <a:ext cx="8229600" cy="1875655"/>
          </a:xfrm>
        </p:spPr>
        <p:txBody>
          <a:bodyPr>
            <a:normAutofit/>
          </a:bodyPr>
          <a:lstStyle/>
          <a:p>
            <a:r>
              <a:rPr lang="zh-CN" altLang="en-US" sz="2400" dirty="0"/>
              <a:t>以前面的</a:t>
            </a:r>
            <a:r>
              <a:rPr lang="en-US" altLang="zh-CN" sz="2400" dirty="0" err="1"/>
              <a:t>wordCount</a:t>
            </a:r>
            <a:r>
              <a:rPr lang="zh-CN" altLang="en-US" sz="2400" dirty="0"/>
              <a:t>程序为例，可以先把输入文件之一复制到与</a:t>
            </a:r>
            <a:r>
              <a:rPr lang="en-US" altLang="zh-CN" sz="2400" dirty="0"/>
              <a:t>mapper</a:t>
            </a:r>
            <a:r>
              <a:rPr lang="zh-CN" altLang="en-US" sz="2400" dirty="0"/>
              <a:t>和</a:t>
            </a:r>
            <a:r>
              <a:rPr lang="en-US" altLang="zh-CN" sz="2400" dirty="0"/>
              <a:t>reducer</a:t>
            </a:r>
            <a:r>
              <a:rPr lang="zh-CN" altLang="en-US" sz="2400" dirty="0"/>
              <a:t>同一文件夹中，此时，该文件夹包含</a:t>
            </a:r>
            <a:r>
              <a:rPr lang="en-US" altLang="zh-CN" sz="2400" dirty="0"/>
              <a:t>wordCount_mapper.py</a:t>
            </a:r>
            <a:r>
              <a:rPr lang="zh-CN" altLang="en-US" sz="2400" dirty="0"/>
              <a:t>、</a:t>
            </a:r>
            <a:r>
              <a:rPr lang="en-US" altLang="zh-CN" sz="2400" dirty="0"/>
              <a:t>wordCount_reducer.py</a:t>
            </a:r>
            <a:r>
              <a:rPr lang="zh-CN" altLang="en-US" sz="2400" dirty="0"/>
              <a:t>两个程序文件，运行如下命令</a:t>
            </a:r>
            <a:r>
              <a:rPr lang="zh-CN" altLang="en-US" dirty="0"/>
              <a:t>：</a:t>
            </a:r>
            <a:endParaRPr lang="en-US" altLang="zh-CN" dirty="0"/>
          </a:p>
          <a:p>
            <a:endParaRPr lang="en-US" altLang="zh-CN" dirty="0"/>
          </a:p>
        </p:txBody>
      </p:sp>
      <p:pic>
        <p:nvPicPr>
          <p:cNvPr id="3" name="图片 2">
            <a:extLst>
              <a:ext uri="{FF2B5EF4-FFF2-40B4-BE49-F238E27FC236}">
                <a16:creationId xmlns:a16="http://schemas.microsoft.com/office/drawing/2014/main" id="{DACFD3B3-BBF5-4079-87D6-9D3F2F51CD23}"/>
              </a:ext>
            </a:extLst>
          </p:cNvPr>
          <p:cNvPicPr>
            <a:picLocks noChangeAspect="1"/>
          </p:cNvPicPr>
          <p:nvPr/>
        </p:nvPicPr>
        <p:blipFill>
          <a:blip r:embed="rId2"/>
          <a:stretch>
            <a:fillRect/>
          </a:stretch>
        </p:blipFill>
        <p:spPr>
          <a:xfrm>
            <a:off x="0" y="3147814"/>
            <a:ext cx="9144000" cy="544210"/>
          </a:xfrm>
          <a:prstGeom prst="rect">
            <a:avLst/>
          </a:prstGeom>
        </p:spPr>
      </p:pic>
    </p:spTree>
    <p:extLst>
      <p:ext uri="{BB962C8B-B14F-4D97-AF65-F5344CB8AC3E}">
        <p14:creationId xmlns:p14="http://schemas.microsoft.com/office/powerpoint/2010/main" val="32658591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MapReduce Python</a:t>
            </a:r>
            <a:r>
              <a:rPr lang="zh-CN" altLang="en-US" dirty="0"/>
              <a:t>代码的测试</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a:xfrm>
            <a:off x="457200" y="1200151"/>
            <a:ext cx="8229600" cy="1947663"/>
          </a:xfrm>
        </p:spPr>
        <p:txBody>
          <a:bodyPr>
            <a:normAutofit/>
          </a:bodyPr>
          <a:lstStyle/>
          <a:p>
            <a:r>
              <a:rPr lang="zh-CN" altLang="en-US" sz="2400" dirty="0"/>
              <a:t>还可以把上述节点分开。例如，可以首先把</a:t>
            </a:r>
            <a:r>
              <a:rPr lang="en-US" altLang="zh-CN" sz="2400" dirty="0"/>
              <a:t>mapper</a:t>
            </a:r>
            <a:r>
              <a:rPr lang="zh-CN" altLang="en-US" sz="2400" dirty="0"/>
              <a:t>的输出重定向到</a:t>
            </a:r>
            <a:r>
              <a:rPr lang="en-US" altLang="zh-CN" sz="2400" dirty="0"/>
              <a:t>tmp.txt</a:t>
            </a:r>
            <a:r>
              <a:rPr lang="zh-CN" altLang="en-US" sz="2400" dirty="0"/>
              <a:t>文件中，以便查看</a:t>
            </a:r>
            <a:r>
              <a:rPr lang="en-US" altLang="zh-CN" sz="2400" dirty="0"/>
              <a:t>mapper</a:t>
            </a:r>
            <a:r>
              <a:rPr lang="zh-CN" altLang="en-US" sz="2400" dirty="0"/>
              <a:t>阶段的运行结果。然后再把中间结果作为</a:t>
            </a:r>
            <a:r>
              <a:rPr lang="en-US" altLang="zh-CN" sz="2400" dirty="0"/>
              <a:t>reducer</a:t>
            </a:r>
            <a:r>
              <a:rPr lang="zh-CN" altLang="en-US" sz="2400" dirty="0"/>
              <a:t>的输入便可以分步查看两个阶段的运行结果。运行命令如下：</a:t>
            </a:r>
          </a:p>
        </p:txBody>
      </p:sp>
      <p:sp>
        <p:nvSpPr>
          <p:cNvPr id="4" name="矩形 3">
            <a:extLst>
              <a:ext uri="{FF2B5EF4-FFF2-40B4-BE49-F238E27FC236}">
                <a16:creationId xmlns:a16="http://schemas.microsoft.com/office/drawing/2014/main" id="{C859AA42-110B-4C9B-8F55-34D2809EAD2E}"/>
              </a:ext>
            </a:extLst>
          </p:cNvPr>
          <p:cNvSpPr/>
          <p:nvPr/>
        </p:nvSpPr>
        <p:spPr>
          <a:xfrm>
            <a:off x="1331640" y="2859782"/>
            <a:ext cx="6318448" cy="369332"/>
          </a:xfrm>
          <a:prstGeom prst="rect">
            <a:avLst/>
          </a:prstGeom>
        </p:spPr>
        <p:txBody>
          <a:bodyPr wrap="square">
            <a:spAutoFit/>
          </a:bodyPr>
          <a:lstStyle/>
          <a:p>
            <a:r>
              <a:rPr lang="en-US" altLang="zh-CN"/>
              <a:t>cat input.txt | ./wordCount_mapper.py &gt; tmp.txt</a:t>
            </a:r>
            <a:endParaRPr lang="zh-CN" altLang="en-US"/>
          </a:p>
        </p:txBody>
      </p:sp>
      <p:sp>
        <p:nvSpPr>
          <p:cNvPr id="5" name="矩形 4">
            <a:extLst>
              <a:ext uri="{FF2B5EF4-FFF2-40B4-BE49-F238E27FC236}">
                <a16:creationId xmlns:a16="http://schemas.microsoft.com/office/drawing/2014/main" id="{F19B866E-AA67-48A6-8511-91F0AAF4EA1B}"/>
              </a:ext>
            </a:extLst>
          </p:cNvPr>
          <p:cNvSpPr/>
          <p:nvPr/>
        </p:nvSpPr>
        <p:spPr>
          <a:xfrm>
            <a:off x="827584" y="3374757"/>
            <a:ext cx="7704856" cy="403316"/>
          </a:xfrm>
          <a:prstGeom prst="rect">
            <a:avLst/>
          </a:prstGeom>
        </p:spPr>
        <p:txBody>
          <a:bodyPr wrap="square">
            <a:spAutoFit/>
          </a:bodyPr>
          <a:lstStyle/>
          <a:p>
            <a:pPr marL="266700" indent="266700" algn="just">
              <a:lnSpc>
                <a:spcPct val="120000"/>
              </a:lnSpc>
              <a:spcAft>
                <a:spcPts val="0"/>
              </a:spcAft>
            </a:pPr>
            <a:r>
              <a:rPr lang="en-US" altLang="zh-CN"/>
              <a:t>cat tmp.txt |sort -k1,1| ./wordCount_reducer.py &gt; rlt.txt</a:t>
            </a:r>
            <a:endParaRPr lang="zh-CN" altLang="zh-CN"/>
          </a:p>
        </p:txBody>
      </p:sp>
    </p:spTree>
    <p:extLst>
      <p:ext uri="{BB962C8B-B14F-4D97-AF65-F5344CB8AC3E}">
        <p14:creationId xmlns:p14="http://schemas.microsoft.com/office/powerpoint/2010/main" val="2171802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218897"/>
            <a:ext cx="5596485" cy="1200329"/>
          </a:xfrm>
          <a:prstGeom prst="rect">
            <a:avLst/>
          </a:prstGeom>
          <a:noFill/>
        </p:spPr>
        <p:txBody>
          <a:bodyPr wrap="square">
            <a:spAutoFit/>
          </a:bodyPr>
          <a:lstStyle/>
          <a:p>
            <a:r>
              <a:rPr lang="zh-CN" altLang="en-US" sz="36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利用迭代</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器和生成器优化</a:t>
            </a:r>
            <a:r>
              <a:rPr lang="en-US" altLang="zh-CN" sz="3600" b="1" dirty="0" err="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wordCount</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程序</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a:solidFill>
                  <a:srgbClr val="00B0F0"/>
                </a:solidFill>
                <a:latin typeface="IrisUPC" panose="020B0604020202020204" pitchFamily="34" charset="-34"/>
                <a:cs typeface="IrisUPC" panose="020B0604020202020204" pitchFamily="34" charset="-34"/>
              </a:rPr>
              <a:t>04</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41023204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Python</a:t>
            </a:r>
            <a:r>
              <a:rPr lang="zh-CN" altLang="en-US" dirty="0"/>
              <a:t>中的迭代器</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r>
              <a:rPr lang="zh-CN" altLang="en-US" sz="2800" dirty="0"/>
              <a:t>迭代器是访问集合元素的一种</a:t>
            </a:r>
            <a:r>
              <a:rPr lang="zh-CN" altLang="en-US" sz="2800"/>
              <a:t>方式，它提供</a:t>
            </a:r>
            <a:r>
              <a:rPr lang="zh-CN" altLang="en-US" sz="2800" dirty="0"/>
              <a:t>了一个统一的访问集合的</a:t>
            </a:r>
            <a:r>
              <a:rPr lang="zh-CN" altLang="en-US" sz="2800"/>
              <a:t>接口。</a:t>
            </a:r>
            <a:endParaRPr lang="en-US" altLang="zh-CN" sz="2800"/>
          </a:p>
          <a:p>
            <a:r>
              <a:rPr lang="zh-CN" altLang="en-US" sz="2800"/>
              <a:t>迭代</a:t>
            </a:r>
            <a:r>
              <a:rPr lang="zh-CN" altLang="en-US" sz="2800" dirty="0"/>
              <a:t>器对象从集合的第一个元素开始访问，直到访问完所有的元素</a:t>
            </a:r>
            <a:r>
              <a:rPr lang="zh-CN" altLang="en-US" sz="2800"/>
              <a:t>结束。</a:t>
            </a:r>
            <a:endParaRPr lang="en-US" altLang="zh-CN" sz="2800"/>
          </a:p>
          <a:p>
            <a:r>
              <a:rPr lang="zh-CN" altLang="en-US" sz="2800"/>
              <a:t>迭代</a:t>
            </a:r>
            <a:r>
              <a:rPr lang="zh-CN" altLang="en-US" sz="2800" dirty="0"/>
              <a:t>器只提供了</a:t>
            </a:r>
            <a:r>
              <a:rPr lang="en-US" altLang="zh-CN" sz="2800" dirty="0"/>
              <a:t>next</a:t>
            </a:r>
            <a:r>
              <a:rPr lang="zh-CN" altLang="en-US" sz="2800" dirty="0"/>
              <a:t>方法，所以只能往前不会</a:t>
            </a:r>
            <a:r>
              <a:rPr lang="zh-CN" altLang="en-US" sz="2800"/>
              <a:t>后退。</a:t>
            </a:r>
            <a:endParaRPr lang="en-US" altLang="zh-CN" sz="2800" dirty="0"/>
          </a:p>
        </p:txBody>
      </p:sp>
    </p:spTree>
    <p:extLst>
      <p:ext uri="{BB962C8B-B14F-4D97-AF65-F5344CB8AC3E}">
        <p14:creationId xmlns:p14="http://schemas.microsoft.com/office/powerpoint/2010/main" val="16096943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3CC971-E1E4-4C4D-94B8-F2519163C082}"/>
              </a:ext>
            </a:extLst>
          </p:cNvPr>
          <p:cNvSpPr>
            <a:spLocks noGrp="1"/>
          </p:cNvSpPr>
          <p:nvPr>
            <p:ph type="title"/>
          </p:nvPr>
        </p:nvSpPr>
        <p:spPr/>
        <p:txBody>
          <a:bodyPr>
            <a:normAutofit fontScale="90000"/>
          </a:bodyPr>
          <a:lstStyle/>
          <a:p>
            <a:r>
              <a:rPr lang="en-US" altLang="zh-CN" dirty="0"/>
              <a:t>Python</a:t>
            </a:r>
            <a:r>
              <a:rPr lang="zh-CN" altLang="en-US" dirty="0"/>
              <a:t>中的迭代器</a:t>
            </a:r>
          </a:p>
        </p:txBody>
      </p:sp>
      <p:sp>
        <p:nvSpPr>
          <p:cNvPr id="3" name="内容占位符 2">
            <a:extLst>
              <a:ext uri="{FF2B5EF4-FFF2-40B4-BE49-F238E27FC236}">
                <a16:creationId xmlns:a16="http://schemas.microsoft.com/office/drawing/2014/main" id="{CC59F50C-F1E9-4BEA-9EF1-DC1922616A72}"/>
              </a:ext>
            </a:extLst>
          </p:cNvPr>
          <p:cNvSpPr>
            <a:spLocks noGrp="1"/>
          </p:cNvSpPr>
          <p:nvPr>
            <p:ph idx="1"/>
          </p:nvPr>
        </p:nvSpPr>
        <p:spPr>
          <a:xfrm>
            <a:off x="457200" y="1203598"/>
            <a:ext cx="8229600" cy="3394472"/>
          </a:xfrm>
        </p:spPr>
        <p:txBody>
          <a:bodyPr/>
          <a:lstStyle/>
          <a:p>
            <a:r>
              <a:rPr lang="zh-CN" altLang="en-US" dirty="0"/>
              <a:t>一个简单的迭代器及使用</a:t>
            </a:r>
          </a:p>
        </p:txBody>
      </p:sp>
      <p:pic>
        <p:nvPicPr>
          <p:cNvPr id="4" name="图片 3">
            <a:extLst>
              <a:ext uri="{FF2B5EF4-FFF2-40B4-BE49-F238E27FC236}">
                <a16:creationId xmlns:a16="http://schemas.microsoft.com/office/drawing/2014/main" id="{3BB0BB02-0272-45C5-9024-0B86F3ED5496}"/>
              </a:ext>
            </a:extLst>
          </p:cNvPr>
          <p:cNvPicPr>
            <a:picLocks noChangeAspect="1"/>
          </p:cNvPicPr>
          <p:nvPr/>
        </p:nvPicPr>
        <p:blipFill>
          <a:blip r:embed="rId2"/>
          <a:stretch>
            <a:fillRect/>
          </a:stretch>
        </p:blipFill>
        <p:spPr>
          <a:xfrm>
            <a:off x="107504" y="1721276"/>
            <a:ext cx="4156766" cy="3325411"/>
          </a:xfrm>
          <a:prstGeom prst="rect">
            <a:avLst/>
          </a:prstGeom>
        </p:spPr>
      </p:pic>
      <p:pic>
        <p:nvPicPr>
          <p:cNvPr id="5" name="图片 4">
            <a:extLst>
              <a:ext uri="{FF2B5EF4-FFF2-40B4-BE49-F238E27FC236}">
                <a16:creationId xmlns:a16="http://schemas.microsoft.com/office/drawing/2014/main" id="{DDAF2DC4-BE01-4DB0-9528-D0D9BE22CF2C}"/>
              </a:ext>
            </a:extLst>
          </p:cNvPr>
          <p:cNvPicPr>
            <a:picLocks noChangeAspect="1"/>
          </p:cNvPicPr>
          <p:nvPr/>
        </p:nvPicPr>
        <p:blipFill>
          <a:blip r:embed="rId3"/>
          <a:stretch>
            <a:fillRect/>
          </a:stretch>
        </p:blipFill>
        <p:spPr>
          <a:xfrm>
            <a:off x="4295233" y="2427734"/>
            <a:ext cx="4848767" cy="1590897"/>
          </a:xfrm>
          <a:prstGeom prst="rect">
            <a:avLst/>
          </a:prstGeom>
        </p:spPr>
      </p:pic>
    </p:spTree>
    <p:extLst>
      <p:ext uri="{BB962C8B-B14F-4D97-AF65-F5344CB8AC3E}">
        <p14:creationId xmlns:p14="http://schemas.microsoft.com/office/powerpoint/2010/main" val="1851346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C5B147-6274-4E11-85BA-803FF679E489}"/>
              </a:ext>
            </a:extLst>
          </p:cNvPr>
          <p:cNvSpPr>
            <a:spLocks noGrp="1"/>
          </p:cNvSpPr>
          <p:nvPr>
            <p:ph type="title"/>
          </p:nvPr>
        </p:nvSpPr>
        <p:spPr/>
        <p:txBody>
          <a:bodyPr>
            <a:normAutofit fontScale="90000"/>
          </a:bodyPr>
          <a:lstStyle/>
          <a:p>
            <a:r>
              <a:rPr lang="en-US" altLang="zh-CN"/>
              <a:t>Python</a:t>
            </a:r>
            <a:r>
              <a:rPr lang="zh-CN" altLang="en-US"/>
              <a:t>中的迭代器</a:t>
            </a:r>
          </a:p>
        </p:txBody>
      </p:sp>
      <p:sp>
        <p:nvSpPr>
          <p:cNvPr id="3" name="内容占位符 2">
            <a:extLst>
              <a:ext uri="{FF2B5EF4-FFF2-40B4-BE49-F238E27FC236}">
                <a16:creationId xmlns:a16="http://schemas.microsoft.com/office/drawing/2014/main" id="{D57A638F-8769-42EB-AF3A-3C0EDD5EE8FD}"/>
              </a:ext>
            </a:extLst>
          </p:cNvPr>
          <p:cNvSpPr>
            <a:spLocks noGrp="1"/>
          </p:cNvSpPr>
          <p:nvPr>
            <p:ph idx="1"/>
          </p:nvPr>
        </p:nvSpPr>
        <p:spPr/>
        <p:txBody>
          <a:bodyPr/>
          <a:lstStyle/>
          <a:p>
            <a:r>
              <a:rPr lang="zh-CN" altLang="en-US"/>
              <a:t>把一个类作为一个迭代器使用需要在类中实现两个方法 </a:t>
            </a:r>
            <a:r>
              <a:rPr lang="en-US" altLang="zh-CN"/>
              <a:t>__iter__() </a:t>
            </a:r>
            <a:r>
              <a:rPr lang="zh-CN" altLang="en-US"/>
              <a:t>与 </a:t>
            </a:r>
            <a:r>
              <a:rPr lang="en-US" altLang="zh-CN"/>
              <a:t>__next__()</a:t>
            </a:r>
            <a:endParaRPr lang="zh-CN" altLang="en-US"/>
          </a:p>
        </p:txBody>
      </p:sp>
    </p:spTree>
    <p:extLst>
      <p:ext uri="{BB962C8B-B14F-4D97-AF65-F5344CB8AC3E}">
        <p14:creationId xmlns:p14="http://schemas.microsoft.com/office/powerpoint/2010/main" val="35563091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3CC971-E1E4-4C4D-94B8-F2519163C082}"/>
              </a:ext>
            </a:extLst>
          </p:cNvPr>
          <p:cNvSpPr>
            <a:spLocks noGrp="1"/>
          </p:cNvSpPr>
          <p:nvPr>
            <p:ph type="title"/>
          </p:nvPr>
        </p:nvSpPr>
        <p:spPr/>
        <p:txBody>
          <a:bodyPr>
            <a:normAutofit fontScale="90000"/>
          </a:bodyPr>
          <a:lstStyle/>
          <a:p>
            <a:r>
              <a:rPr lang="en-US" altLang="zh-CN" dirty="0"/>
              <a:t>Python</a:t>
            </a:r>
            <a:r>
              <a:rPr lang="zh-CN" altLang="en-US" dirty="0"/>
              <a:t>中的生成器</a:t>
            </a:r>
          </a:p>
        </p:txBody>
      </p:sp>
      <p:sp>
        <p:nvSpPr>
          <p:cNvPr id="3" name="内容占位符 2">
            <a:extLst>
              <a:ext uri="{FF2B5EF4-FFF2-40B4-BE49-F238E27FC236}">
                <a16:creationId xmlns:a16="http://schemas.microsoft.com/office/drawing/2014/main" id="{CC59F50C-F1E9-4BEA-9EF1-DC1922616A72}"/>
              </a:ext>
            </a:extLst>
          </p:cNvPr>
          <p:cNvSpPr>
            <a:spLocks noGrp="1"/>
          </p:cNvSpPr>
          <p:nvPr>
            <p:ph idx="1"/>
          </p:nvPr>
        </p:nvSpPr>
        <p:spPr/>
        <p:txBody>
          <a:bodyPr/>
          <a:lstStyle/>
          <a:p>
            <a:r>
              <a:rPr lang="zh-CN" altLang="en-US" dirty="0"/>
              <a:t>带有 </a:t>
            </a:r>
            <a:r>
              <a:rPr lang="en-US" altLang="zh-CN" dirty="0"/>
              <a:t>yield </a:t>
            </a:r>
            <a:r>
              <a:rPr lang="zh-CN" altLang="en-US" dirty="0"/>
              <a:t>的函数在 </a:t>
            </a:r>
            <a:r>
              <a:rPr lang="en-US" altLang="zh-CN" dirty="0"/>
              <a:t>Python </a:t>
            </a:r>
            <a:r>
              <a:rPr lang="zh-CN" altLang="en-US" dirty="0"/>
              <a:t>中被称为</a:t>
            </a:r>
            <a:r>
              <a:rPr lang="en-US" altLang="zh-CN" dirty="0"/>
              <a:t>generator</a:t>
            </a:r>
            <a:r>
              <a:rPr lang="zh-CN" altLang="en-US" dirty="0"/>
              <a:t>（生成器），生成器是迭代器的一种。</a:t>
            </a:r>
            <a:endParaRPr lang="en-US" altLang="zh-CN" dirty="0"/>
          </a:p>
          <a:p>
            <a:r>
              <a:rPr lang="zh-CN" altLang="en-US" dirty="0"/>
              <a:t>例如：</a:t>
            </a:r>
          </a:p>
        </p:txBody>
      </p:sp>
      <p:pic>
        <p:nvPicPr>
          <p:cNvPr id="4" name="图片 3">
            <a:extLst>
              <a:ext uri="{FF2B5EF4-FFF2-40B4-BE49-F238E27FC236}">
                <a16:creationId xmlns:a16="http://schemas.microsoft.com/office/drawing/2014/main" id="{31696168-B7F2-4BA0-A738-7129E7CCE95F}"/>
              </a:ext>
            </a:extLst>
          </p:cNvPr>
          <p:cNvPicPr>
            <a:picLocks noChangeAspect="1"/>
          </p:cNvPicPr>
          <p:nvPr/>
        </p:nvPicPr>
        <p:blipFill>
          <a:blip r:embed="rId2"/>
          <a:stretch>
            <a:fillRect/>
          </a:stretch>
        </p:blipFill>
        <p:spPr>
          <a:xfrm>
            <a:off x="3275856" y="2352014"/>
            <a:ext cx="3456384" cy="2671210"/>
          </a:xfrm>
          <a:prstGeom prst="rect">
            <a:avLst/>
          </a:prstGeom>
        </p:spPr>
      </p:pic>
    </p:spTree>
    <p:extLst>
      <p:ext uri="{BB962C8B-B14F-4D97-AF65-F5344CB8AC3E}">
        <p14:creationId xmlns:p14="http://schemas.microsoft.com/office/powerpoint/2010/main" val="31813149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3CC971-E1E4-4C4D-94B8-F2519163C082}"/>
              </a:ext>
            </a:extLst>
          </p:cNvPr>
          <p:cNvSpPr>
            <a:spLocks noGrp="1"/>
          </p:cNvSpPr>
          <p:nvPr>
            <p:ph type="title"/>
          </p:nvPr>
        </p:nvSpPr>
        <p:spPr/>
        <p:txBody>
          <a:bodyPr>
            <a:normAutofit fontScale="90000"/>
          </a:bodyPr>
          <a:lstStyle/>
          <a:p>
            <a:r>
              <a:rPr lang="en-US" altLang="zh-CN" dirty="0"/>
              <a:t>Python</a:t>
            </a:r>
            <a:r>
              <a:rPr lang="zh-CN" altLang="en-US" dirty="0"/>
              <a:t>中的生成器</a:t>
            </a:r>
          </a:p>
        </p:txBody>
      </p:sp>
      <p:sp>
        <p:nvSpPr>
          <p:cNvPr id="3" name="内容占位符 2">
            <a:extLst>
              <a:ext uri="{FF2B5EF4-FFF2-40B4-BE49-F238E27FC236}">
                <a16:creationId xmlns:a16="http://schemas.microsoft.com/office/drawing/2014/main" id="{CC59F50C-F1E9-4BEA-9EF1-DC1922616A72}"/>
              </a:ext>
            </a:extLst>
          </p:cNvPr>
          <p:cNvSpPr>
            <a:spLocks noGrp="1"/>
          </p:cNvSpPr>
          <p:nvPr>
            <p:ph idx="1"/>
          </p:nvPr>
        </p:nvSpPr>
        <p:spPr/>
        <p:txBody>
          <a:bodyPr>
            <a:normAutofit fontScale="92500" lnSpcReduction="20000"/>
          </a:bodyPr>
          <a:lstStyle/>
          <a:p>
            <a:r>
              <a:rPr lang="zh-CN" altLang="en-US" dirty="0"/>
              <a:t>简单而言，</a:t>
            </a:r>
            <a:r>
              <a:rPr lang="en-US" altLang="zh-CN" dirty="0"/>
              <a:t>yield </a:t>
            </a:r>
            <a:r>
              <a:rPr lang="zh-CN" altLang="en-US" dirty="0"/>
              <a:t>的作用就是把一个函数变成一个</a:t>
            </a:r>
            <a:r>
              <a:rPr lang="en-US" altLang="zh-CN" dirty="0"/>
              <a:t>generator</a:t>
            </a:r>
          </a:p>
          <a:p>
            <a:r>
              <a:rPr lang="zh-CN" altLang="en-US" dirty="0"/>
              <a:t>生成器常被用于数据文件读取，生成器可以根据需要读取数据。如果直接对文件对象调用 </a:t>
            </a:r>
            <a:r>
              <a:rPr lang="en-US" altLang="zh-CN" dirty="0"/>
              <a:t>read()</a:t>
            </a:r>
            <a:r>
              <a:rPr lang="zh-CN" altLang="en-US" dirty="0"/>
              <a:t>方法，会导致不可预测的内存占用。使用</a:t>
            </a:r>
            <a:r>
              <a:rPr lang="en-US" altLang="zh-CN" dirty="0"/>
              <a:t>yield</a:t>
            </a:r>
            <a:r>
              <a:rPr lang="zh-CN" altLang="en-US" dirty="0"/>
              <a:t>利用固定长度的缓冲区来不断读取文件内容，我们无须编写读文件的迭代类，就可以轻松实现文件读取。</a:t>
            </a:r>
          </a:p>
        </p:txBody>
      </p:sp>
    </p:spTree>
    <p:extLst>
      <p:ext uri="{BB962C8B-B14F-4D97-AF65-F5344CB8AC3E}">
        <p14:creationId xmlns:p14="http://schemas.microsoft.com/office/powerpoint/2010/main" val="25645665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6F02FF-DCE8-4C82-851B-952D0B111181}"/>
              </a:ext>
            </a:extLst>
          </p:cNvPr>
          <p:cNvSpPr>
            <a:spLocks noGrp="1"/>
          </p:cNvSpPr>
          <p:nvPr>
            <p:ph type="title"/>
          </p:nvPr>
        </p:nvSpPr>
        <p:spPr/>
        <p:txBody>
          <a:bodyPr>
            <a:normAutofit fontScale="90000"/>
          </a:bodyPr>
          <a:lstStyle/>
          <a:p>
            <a:r>
              <a:rPr lang="en-US" altLang="zh-CN" dirty="0"/>
              <a:t>Python</a:t>
            </a:r>
            <a:r>
              <a:rPr lang="zh-CN" altLang="en-US" dirty="0"/>
              <a:t>中的生成器</a:t>
            </a:r>
          </a:p>
        </p:txBody>
      </p:sp>
      <p:sp>
        <p:nvSpPr>
          <p:cNvPr id="3" name="内容占位符 2">
            <a:extLst>
              <a:ext uri="{FF2B5EF4-FFF2-40B4-BE49-F238E27FC236}">
                <a16:creationId xmlns:a16="http://schemas.microsoft.com/office/drawing/2014/main" id="{D70840C4-5832-4313-9F77-2D94711CC9D5}"/>
              </a:ext>
            </a:extLst>
          </p:cNvPr>
          <p:cNvSpPr>
            <a:spLocks noGrp="1"/>
          </p:cNvSpPr>
          <p:nvPr>
            <p:ph idx="1"/>
          </p:nvPr>
        </p:nvSpPr>
        <p:spPr>
          <a:xfrm>
            <a:off x="457200" y="1057858"/>
            <a:ext cx="8229600" cy="795535"/>
          </a:xfrm>
        </p:spPr>
        <p:txBody>
          <a:bodyPr>
            <a:normAutofit fontScale="92500"/>
          </a:bodyPr>
          <a:lstStyle/>
          <a:p>
            <a:r>
              <a:rPr lang="zh-CN" altLang="en-US" dirty="0"/>
              <a:t>读取文件的生成器，每次读取</a:t>
            </a:r>
            <a:r>
              <a:rPr lang="en-US" altLang="zh-CN" dirty="0"/>
              <a:t>BLOCK_SIZE</a:t>
            </a:r>
            <a:r>
              <a:rPr lang="zh-CN" altLang="en-US" dirty="0"/>
              <a:t>大小</a:t>
            </a:r>
          </a:p>
        </p:txBody>
      </p:sp>
      <p:pic>
        <p:nvPicPr>
          <p:cNvPr id="4" name="图片 3">
            <a:extLst>
              <a:ext uri="{FF2B5EF4-FFF2-40B4-BE49-F238E27FC236}">
                <a16:creationId xmlns:a16="http://schemas.microsoft.com/office/drawing/2014/main" id="{0483DF8F-0CDA-4C2C-9927-4B03B1DCB236}"/>
              </a:ext>
            </a:extLst>
          </p:cNvPr>
          <p:cNvPicPr>
            <a:picLocks noChangeAspect="1"/>
          </p:cNvPicPr>
          <p:nvPr/>
        </p:nvPicPr>
        <p:blipFill>
          <a:blip r:embed="rId2"/>
          <a:stretch>
            <a:fillRect/>
          </a:stretch>
        </p:blipFill>
        <p:spPr>
          <a:xfrm>
            <a:off x="1043608" y="1749027"/>
            <a:ext cx="6768752" cy="3244453"/>
          </a:xfrm>
          <a:prstGeom prst="rect">
            <a:avLst/>
          </a:prstGeom>
        </p:spPr>
      </p:pic>
    </p:spTree>
    <p:extLst>
      <p:ext uri="{BB962C8B-B14F-4D97-AF65-F5344CB8AC3E}">
        <p14:creationId xmlns:p14="http://schemas.microsoft.com/office/powerpoint/2010/main" val="12879996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itertools</a:t>
            </a:r>
            <a:r>
              <a:rPr lang="zh-CN" altLang="en-US" dirty="0"/>
              <a:t>模块</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r>
              <a:rPr lang="en-US" altLang="zh-CN" sz="3000" dirty="0" err="1"/>
              <a:t>itertools</a:t>
            </a:r>
            <a:r>
              <a:rPr lang="zh-CN" altLang="en-US" sz="3000" dirty="0"/>
              <a:t>是</a:t>
            </a:r>
            <a:r>
              <a:rPr lang="en-US" altLang="zh-CN" sz="3000" dirty="0"/>
              <a:t>Python</a:t>
            </a:r>
            <a:r>
              <a:rPr lang="zh-CN" altLang="en-US" sz="3000" dirty="0"/>
              <a:t>内置的模块，</a:t>
            </a:r>
            <a:r>
              <a:rPr lang="en-US" altLang="zh-CN" sz="3000" dirty="0" err="1"/>
              <a:t>itertools</a:t>
            </a:r>
            <a:r>
              <a:rPr lang="zh-CN" altLang="en-US" sz="3000" dirty="0"/>
              <a:t>包提供了更加灵活的生成循环器的工具，其使用简单且功能</a:t>
            </a:r>
            <a:r>
              <a:rPr lang="zh-CN" altLang="en-US" sz="3000"/>
              <a:t>强大。</a:t>
            </a:r>
            <a:endParaRPr lang="en-US" altLang="zh-CN" sz="3000"/>
          </a:p>
          <a:p>
            <a:r>
              <a:rPr lang="zh-CN" altLang="en-US"/>
              <a:t>该</a:t>
            </a:r>
            <a:r>
              <a:rPr lang="zh-CN" altLang="en-US" dirty="0"/>
              <a:t>模块中的</a:t>
            </a:r>
            <a:r>
              <a:rPr lang="zh-CN" altLang="en-US"/>
              <a:t>部分内容</a:t>
            </a:r>
            <a:r>
              <a:rPr lang="zh-CN" altLang="en-US" dirty="0"/>
              <a:t>，可以参考教材</a:t>
            </a:r>
            <a:r>
              <a:rPr lang="en-US" altLang="zh-CN"/>
              <a:t>7.6.3.</a:t>
            </a:r>
          </a:p>
          <a:p>
            <a:r>
              <a:rPr lang="zh-CN" altLang="en-US"/>
              <a:t>其中，</a:t>
            </a:r>
            <a:r>
              <a:rPr lang="en-US" altLang="zh-CN"/>
              <a:t>gropby()</a:t>
            </a:r>
            <a:r>
              <a:rPr lang="zh-CN" altLang="en-US"/>
              <a:t>迭代器</a:t>
            </a:r>
            <a:r>
              <a:rPr lang="zh-CN" altLang="zh-CN"/>
              <a:t>能够把可迭代的输入数据按关键字进行分组后输出</a:t>
            </a:r>
            <a:r>
              <a:rPr lang="zh-CN" altLang="en-US"/>
              <a:t>，例如：</a:t>
            </a:r>
            <a:endParaRPr lang="zh-CN" altLang="en-US" dirty="0"/>
          </a:p>
        </p:txBody>
      </p:sp>
    </p:spTree>
    <p:extLst>
      <p:ext uri="{BB962C8B-B14F-4D97-AF65-F5344CB8AC3E}">
        <p14:creationId xmlns:p14="http://schemas.microsoft.com/office/powerpoint/2010/main" val="36277511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itertools</a:t>
            </a:r>
            <a:r>
              <a:rPr lang="zh-CN" altLang="en-US" dirty="0"/>
              <a:t>模块</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a:xfrm>
            <a:off x="395536" y="1059582"/>
            <a:ext cx="8496944" cy="3394472"/>
          </a:xfrm>
        </p:spPr>
        <p:txBody>
          <a:bodyPr>
            <a:normAutofit fontScale="70000" lnSpcReduction="20000"/>
          </a:bodyPr>
          <a:lstStyle/>
          <a:p>
            <a:r>
              <a:rPr lang="en-US" altLang="zh-CN"/>
              <a:t>from itertools import groupby</a:t>
            </a:r>
          </a:p>
          <a:p>
            <a:r>
              <a:rPr lang="en-US" altLang="zh-CN"/>
              <a:t>from operator import itemgetter</a:t>
            </a:r>
          </a:p>
          <a:p>
            <a:r>
              <a:rPr lang="en-US" altLang="zh-CN"/>
              <a:t>mapout = [('Hello', 1),('hadoop', 1),('Bye', 1),('hadoop', 1), ('Hello', 1), ('world', 1), ('Bye', 1), ('world', 1)]</a:t>
            </a:r>
          </a:p>
          <a:p>
            <a:r>
              <a:rPr lang="en-US" altLang="zh-CN"/>
              <a:t>mapout = sorted(mapout, key=itemgetter(0))    #</a:t>
            </a:r>
            <a:r>
              <a:rPr lang="zh-CN" altLang="en-US"/>
              <a:t>排序</a:t>
            </a:r>
          </a:p>
          <a:p>
            <a:r>
              <a:rPr lang="en-US" altLang="zh-CN"/>
              <a:t>rlt_groupby = groupby(mapout, key=itemgetter(0))</a:t>
            </a:r>
          </a:p>
          <a:p>
            <a:r>
              <a:rPr lang="en-US" altLang="zh-CN"/>
              <a:t>for key, items in rlt_groupby:</a:t>
            </a:r>
          </a:p>
          <a:p>
            <a:r>
              <a:rPr lang="en-US" altLang="zh-CN"/>
              <a:t>    print("key:",key)</a:t>
            </a:r>
          </a:p>
          <a:p>
            <a:r>
              <a:rPr lang="en-US" altLang="zh-CN"/>
              <a:t>    for subitem in items:</a:t>
            </a:r>
          </a:p>
          <a:p>
            <a:r>
              <a:rPr lang="en-US" altLang="zh-CN"/>
              <a:t>        print("  subitem:", subitem)</a:t>
            </a:r>
          </a:p>
          <a:p>
            <a:endParaRPr lang="zh-CN" altLang="en-US" dirty="0"/>
          </a:p>
        </p:txBody>
      </p:sp>
    </p:spTree>
    <p:extLst>
      <p:ext uri="{BB962C8B-B14F-4D97-AF65-F5344CB8AC3E}">
        <p14:creationId xmlns:p14="http://schemas.microsoft.com/office/powerpoint/2010/main" val="17406009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优化</a:t>
            </a:r>
            <a:r>
              <a:rPr lang="en-US" altLang="zh-CN" dirty="0" err="1"/>
              <a:t>wordCount</a:t>
            </a:r>
            <a:r>
              <a:rPr lang="zh-CN" altLang="en-US" dirty="0"/>
              <a:t>程序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lstStyle/>
          <a:p>
            <a:r>
              <a:rPr lang="zh-CN" altLang="en-US" dirty="0"/>
              <a:t>利用上述</a:t>
            </a:r>
            <a:r>
              <a:rPr lang="en-US" altLang="zh-CN" dirty="0"/>
              <a:t>Python</a:t>
            </a:r>
            <a:r>
              <a:rPr lang="zh-CN" altLang="en-US" dirty="0"/>
              <a:t>的生成器以及</a:t>
            </a:r>
            <a:r>
              <a:rPr lang="en-US" altLang="zh-CN" dirty="0" err="1"/>
              <a:t>itertools</a:t>
            </a:r>
            <a:r>
              <a:rPr lang="zh-CN" altLang="en-US" dirty="0"/>
              <a:t>模块工具，我们对</a:t>
            </a:r>
            <a:r>
              <a:rPr lang="en-US" altLang="zh-CN" dirty="0" err="1"/>
              <a:t>wordCount</a:t>
            </a:r>
            <a:r>
              <a:rPr lang="zh-CN" altLang="en-US" dirty="0"/>
              <a:t>程序进行修改，形成更具有</a:t>
            </a:r>
            <a:r>
              <a:rPr lang="en-US" altLang="zh-CN" dirty="0"/>
              <a:t>Python</a:t>
            </a:r>
            <a:r>
              <a:rPr lang="zh-CN" altLang="en-US" dirty="0"/>
              <a:t>风格的</a:t>
            </a:r>
            <a:r>
              <a:rPr lang="en-US" altLang="zh-CN" dirty="0" err="1"/>
              <a:t>wordCount</a:t>
            </a:r>
            <a:r>
              <a:rPr lang="zh-CN" altLang="en-US" dirty="0"/>
              <a:t>。</a:t>
            </a:r>
          </a:p>
        </p:txBody>
      </p:sp>
    </p:spTree>
    <p:extLst>
      <p:ext uri="{BB962C8B-B14F-4D97-AF65-F5344CB8AC3E}">
        <p14:creationId xmlns:p14="http://schemas.microsoft.com/office/powerpoint/2010/main" val="31435040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优化</a:t>
            </a:r>
            <a:r>
              <a:rPr lang="en-US" altLang="zh-CN" dirty="0" err="1"/>
              <a:t>wordCount</a:t>
            </a:r>
            <a:r>
              <a:rPr lang="zh-CN" altLang="en-US" dirty="0"/>
              <a:t>程序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lstStyle/>
          <a:p>
            <a:endParaRPr lang="zh-CN" altLang="en-US" dirty="0"/>
          </a:p>
        </p:txBody>
      </p:sp>
      <p:pic>
        <p:nvPicPr>
          <p:cNvPr id="3" name="图片 2">
            <a:extLst>
              <a:ext uri="{FF2B5EF4-FFF2-40B4-BE49-F238E27FC236}">
                <a16:creationId xmlns:a16="http://schemas.microsoft.com/office/drawing/2014/main" id="{76BA8E3C-5533-4398-A91C-6FA528BC17D2}"/>
              </a:ext>
            </a:extLst>
          </p:cNvPr>
          <p:cNvPicPr>
            <a:picLocks noChangeAspect="1"/>
          </p:cNvPicPr>
          <p:nvPr/>
        </p:nvPicPr>
        <p:blipFill>
          <a:blip r:embed="rId2"/>
          <a:stretch>
            <a:fillRect/>
          </a:stretch>
        </p:blipFill>
        <p:spPr>
          <a:xfrm>
            <a:off x="2195736" y="0"/>
            <a:ext cx="6882148" cy="5143500"/>
          </a:xfrm>
          <a:prstGeom prst="rect">
            <a:avLst/>
          </a:prstGeom>
        </p:spPr>
      </p:pic>
    </p:spTree>
    <p:extLst>
      <p:ext uri="{BB962C8B-B14F-4D97-AF65-F5344CB8AC3E}">
        <p14:creationId xmlns:p14="http://schemas.microsoft.com/office/powerpoint/2010/main" val="29935812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优化</a:t>
            </a:r>
            <a:r>
              <a:rPr lang="en-US" altLang="zh-CN" dirty="0" err="1"/>
              <a:t>wordCount</a:t>
            </a:r>
            <a:r>
              <a:rPr lang="zh-CN" altLang="en-US" dirty="0"/>
              <a:t>程序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a:xfrm>
            <a:off x="395536" y="231490"/>
            <a:ext cx="8229600" cy="4912010"/>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r>
              <a:rPr lang="en-US" altLang="zh-CN" sz="1600"/>
              <a:t>#!/usr/bin/env python</a:t>
            </a:r>
            <a:endParaRPr lang="zh-CN" altLang="zh-CN" sz="1600"/>
          </a:p>
          <a:p>
            <a:r>
              <a:rPr lang="en-US" altLang="zh-CN" sz="1600"/>
              <a:t># -*- coding: UTF-8 -*-</a:t>
            </a:r>
            <a:endParaRPr lang="zh-CN" altLang="zh-CN" sz="1600"/>
          </a:p>
          <a:p>
            <a:r>
              <a:rPr lang="en-US" altLang="zh-CN" sz="1600"/>
              <a:t>from operator import itemgetter</a:t>
            </a:r>
            <a:endParaRPr lang="zh-CN" altLang="zh-CN" sz="1600"/>
          </a:p>
          <a:p>
            <a:r>
              <a:rPr lang="en-US" altLang="zh-CN" sz="1600"/>
              <a:t>from itertools import groupby</a:t>
            </a:r>
            <a:endParaRPr lang="zh-CN" altLang="zh-CN" sz="1600"/>
          </a:p>
          <a:p>
            <a:r>
              <a:rPr lang="en-US" altLang="zh-CN" sz="1600"/>
              <a:t>import sys</a:t>
            </a:r>
            <a:endParaRPr lang="zh-CN" altLang="zh-CN" sz="1600"/>
          </a:p>
          <a:p>
            <a:r>
              <a:rPr lang="en-US" altLang="zh-CN" sz="1600"/>
              <a:t>def read_mapper_output(file, separator = '\t'):</a:t>
            </a:r>
            <a:endParaRPr lang="zh-CN" altLang="zh-CN" sz="1600"/>
          </a:p>
          <a:p>
            <a:r>
              <a:rPr lang="en-US" altLang="zh-CN" sz="1600"/>
              <a:t>    for line in file:</a:t>
            </a:r>
            <a:endParaRPr lang="zh-CN" altLang="zh-CN" sz="1600"/>
          </a:p>
          <a:p>
            <a:r>
              <a:rPr lang="en-US" altLang="zh-CN" sz="1600"/>
              <a:t>        yield line.rstrip().split(separator, 1)</a:t>
            </a:r>
            <a:endParaRPr lang="zh-CN" altLang="zh-CN" sz="1600"/>
          </a:p>
          <a:p>
            <a:r>
              <a:rPr lang="en-US" altLang="zh-CN" sz="1600"/>
              <a:t>def main(separator = '\t'):</a:t>
            </a:r>
            <a:endParaRPr lang="zh-CN" altLang="zh-CN" sz="1600"/>
          </a:p>
          <a:p>
            <a:r>
              <a:rPr lang="en-US" altLang="zh-CN" sz="1600"/>
              <a:t>    data = read_mapper_output(sys.stdin, separator = separator)</a:t>
            </a:r>
            <a:endParaRPr lang="zh-CN" altLang="zh-CN" sz="1600"/>
          </a:p>
          <a:p>
            <a:r>
              <a:rPr lang="en-US" altLang="zh-CN" sz="1600" b="1">
                <a:solidFill>
                  <a:srgbClr val="FF0000"/>
                </a:solidFill>
              </a:rPr>
              <a:t>    #data = sorted(data, key=itemgetter(0))</a:t>
            </a:r>
            <a:endParaRPr lang="zh-CN" altLang="zh-CN" sz="1600" b="1">
              <a:solidFill>
                <a:srgbClr val="FF0000"/>
              </a:solidFill>
            </a:endParaRPr>
          </a:p>
          <a:p>
            <a:r>
              <a:rPr lang="en-US" altLang="zh-CN" sz="1600"/>
              <a:t>    for current_word, group in groupby(data, itemgetter(0)):</a:t>
            </a:r>
            <a:endParaRPr lang="zh-CN" altLang="zh-CN" sz="1600"/>
          </a:p>
          <a:p>
            <a:r>
              <a:rPr lang="en-US" altLang="zh-CN" sz="1600"/>
              <a:t>        try:</a:t>
            </a:r>
            <a:endParaRPr lang="zh-CN" altLang="zh-CN" sz="1600"/>
          </a:p>
          <a:p>
            <a:r>
              <a:rPr lang="en-US" altLang="zh-CN" sz="1600"/>
              <a:t>            total_count = sum(int(count) for current_word, count in group)</a:t>
            </a:r>
            <a:endParaRPr lang="zh-CN" altLang="zh-CN" sz="1600"/>
          </a:p>
          <a:p>
            <a:r>
              <a:rPr lang="en-US" altLang="zh-CN" sz="1600"/>
              <a:t>            print("%s%s%d" % (current_word, separator, total_count))</a:t>
            </a:r>
            <a:endParaRPr lang="zh-CN" altLang="zh-CN" sz="1600"/>
          </a:p>
          <a:p>
            <a:r>
              <a:rPr lang="en-US" altLang="zh-CN" sz="1600"/>
              <a:t>        except valueError:</a:t>
            </a:r>
            <a:endParaRPr lang="zh-CN" altLang="zh-CN" sz="1600"/>
          </a:p>
          <a:p>
            <a:r>
              <a:rPr lang="en-US" altLang="zh-CN" sz="1600"/>
              <a:t>            pass</a:t>
            </a:r>
            <a:endParaRPr lang="zh-CN" altLang="zh-CN" sz="1600"/>
          </a:p>
          <a:p>
            <a:r>
              <a:rPr lang="en-US" altLang="zh-CN" sz="1600"/>
              <a:t>if __name__ == "__main__":</a:t>
            </a:r>
            <a:endParaRPr lang="zh-CN" altLang="zh-CN" sz="1600"/>
          </a:p>
          <a:p>
            <a:r>
              <a:rPr lang="en-US" altLang="zh-CN" sz="1600"/>
              <a:t>    main()</a:t>
            </a:r>
            <a:endParaRPr lang="zh-CN" altLang="en-US" sz="1600" dirty="0"/>
          </a:p>
        </p:txBody>
      </p:sp>
      <p:pic>
        <p:nvPicPr>
          <p:cNvPr id="5" name="图片 4">
            <a:extLst>
              <a:ext uri="{FF2B5EF4-FFF2-40B4-BE49-F238E27FC236}">
                <a16:creationId xmlns:a16="http://schemas.microsoft.com/office/drawing/2014/main" id="{DEBC76B5-4873-4544-8A76-1CCEA1DDE5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6587" y="31117"/>
            <a:ext cx="2737591" cy="3654406"/>
          </a:xfrm>
          <a:prstGeom prst="rect">
            <a:avLst/>
          </a:prstGeom>
        </p:spPr>
      </p:pic>
    </p:spTree>
    <p:extLst>
      <p:ext uri="{BB962C8B-B14F-4D97-AF65-F5344CB8AC3E}">
        <p14:creationId xmlns:p14="http://schemas.microsoft.com/office/powerpoint/2010/main" val="2706262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ACAC69-5C38-450B-85FE-667BFE860E2B}"/>
              </a:ext>
            </a:extLst>
          </p:cNvPr>
          <p:cNvSpPr>
            <a:spLocks noGrp="1"/>
          </p:cNvSpPr>
          <p:nvPr>
            <p:ph type="title"/>
          </p:nvPr>
        </p:nvSpPr>
        <p:spPr/>
        <p:txBody>
          <a:bodyPr>
            <a:normAutofit fontScale="90000"/>
          </a:bodyPr>
          <a:lstStyle/>
          <a:p>
            <a:r>
              <a:rPr lang="zh-CN" altLang="en-US"/>
              <a:t>例</a:t>
            </a:r>
            <a:r>
              <a:rPr lang="en-US" altLang="zh-CN"/>
              <a:t>7.6.4</a:t>
            </a:r>
            <a:r>
              <a:rPr lang="zh-CN" altLang="en-US"/>
              <a:t>测试结果</a:t>
            </a:r>
          </a:p>
        </p:txBody>
      </p:sp>
      <p:sp>
        <p:nvSpPr>
          <p:cNvPr id="3" name="内容占位符 2">
            <a:extLst>
              <a:ext uri="{FF2B5EF4-FFF2-40B4-BE49-F238E27FC236}">
                <a16:creationId xmlns:a16="http://schemas.microsoft.com/office/drawing/2014/main" id="{43D719A2-D39D-41A2-ADA7-FE6092CDB518}"/>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8D322DF2-7D8F-40CD-B0E6-6E173A5ADEB3}"/>
              </a:ext>
            </a:extLst>
          </p:cNvPr>
          <p:cNvPicPr>
            <a:picLocks noChangeAspect="1"/>
          </p:cNvPicPr>
          <p:nvPr/>
        </p:nvPicPr>
        <p:blipFill>
          <a:blip r:embed="rId2"/>
          <a:stretch>
            <a:fillRect/>
          </a:stretch>
        </p:blipFill>
        <p:spPr>
          <a:xfrm>
            <a:off x="485949" y="1054932"/>
            <a:ext cx="7470427" cy="3394472"/>
          </a:xfrm>
          <a:prstGeom prst="rect">
            <a:avLst/>
          </a:prstGeom>
        </p:spPr>
      </p:pic>
    </p:spTree>
    <p:extLst>
      <p:ext uri="{BB962C8B-B14F-4D97-AF65-F5344CB8AC3E}">
        <p14:creationId xmlns:p14="http://schemas.microsoft.com/office/powerpoint/2010/main" val="34488280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930525" y="1563638"/>
            <a:ext cx="5688632"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MapReduce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程序设计模式</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a:solidFill>
                  <a:srgbClr val="00B0F0"/>
                </a:solidFill>
                <a:latin typeface="IrisUPC" panose="020B0604020202020204" pitchFamily="34" charset="-34"/>
                <a:cs typeface="IrisUPC" panose="020B0604020202020204" pitchFamily="34" charset="-34"/>
              </a:rPr>
              <a:t>05</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28935978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MR</a:t>
            </a:r>
            <a:r>
              <a:rPr lang="zh-CN" altLang="en-US"/>
              <a:t>程序设计</a:t>
            </a:r>
            <a:r>
              <a:rPr lang="zh-CN" altLang="en-US" dirty="0"/>
              <a:t>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lstStyle/>
          <a:p>
            <a:r>
              <a:rPr lang="en-US" altLang="zh-CN" dirty="0"/>
              <a:t>MapReduce</a:t>
            </a:r>
            <a:r>
              <a:rPr lang="zh-CN" altLang="en-US" dirty="0"/>
              <a:t>程序设计模式的目的是通过总结</a:t>
            </a:r>
            <a:r>
              <a:rPr lang="en-US" altLang="zh-CN" dirty="0"/>
              <a:t>MapReduce</a:t>
            </a:r>
            <a:r>
              <a:rPr lang="zh-CN" altLang="en-US" dirty="0"/>
              <a:t>任务的模式，形成具有一定可替代性的程序设计模式，以便帮助程序员提高学习、实现</a:t>
            </a:r>
            <a:r>
              <a:rPr lang="en-US" altLang="zh-CN" dirty="0"/>
              <a:t>MapReduce</a:t>
            </a:r>
            <a:r>
              <a:rPr lang="zh-CN" altLang="en-US" dirty="0"/>
              <a:t>框架上的程序开发的效率。</a:t>
            </a:r>
          </a:p>
        </p:txBody>
      </p:sp>
    </p:spTree>
    <p:extLst>
      <p:ext uri="{BB962C8B-B14F-4D97-AF65-F5344CB8AC3E}">
        <p14:creationId xmlns:p14="http://schemas.microsoft.com/office/powerpoint/2010/main" val="26669369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BFF11F-888F-4222-98B7-9600F3278653}"/>
              </a:ext>
            </a:extLst>
          </p:cNvPr>
          <p:cNvSpPr>
            <a:spLocks noGrp="1"/>
          </p:cNvSpPr>
          <p:nvPr>
            <p:ph type="title"/>
          </p:nvPr>
        </p:nvSpPr>
        <p:spPr/>
        <p:txBody>
          <a:bodyPr>
            <a:normAutofit fontScale="90000"/>
          </a:bodyPr>
          <a:lstStyle/>
          <a:p>
            <a:r>
              <a:rPr lang="zh-CN" altLang="en-US" dirty="0"/>
              <a:t>数据集介绍</a:t>
            </a:r>
          </a:p>
        </p:txBody>
      </p:sp>
      <p:sp>
        <p:nvSpPr>
          <p:cNvPr id="3" name="内容占位符 2">
            <a:extLst>
              <a:ext uri="{FF2B5EF4-FFF2-40B4-BE49-F238E27FC236}">
                <a16:creationId xmlns:a16="http://schemas.microsoft.com/office/drawing/2014/main" id="{26AF0603-9667-40B6-8C54-1CA63C6FE21E}"/>
              </a:ext>
            </a:extLst>
          </p:cNvPr>
          <p:cNvSpPr>
            <a:spLocks noGrp="1"/>
          </p:cNvSpPr>
          <p:nvPr>
            <p:ph idx="1"/>
          </p:nvPr>
        </p:nvSpPr>
        <p:spPr>
          <a:xfrm>
            <a:off x="323528" y="915566"/>
            <a:ext cx="8496944" cy="2016224"/>
          </a:xfrm>
        </p:spPr>
        <p:txBody>
          <a:bodyPr>
            <a:normAutofit/>
          </a:bodyPr>
          <a:lstStyle/>
          <a:p>
            <a:r>
              <a:rPr lang="zh-CN" altLang="en-US" sz="2400" dirty="0"/>
              <a:t>为了能够更好的示范程序的数据处理与应用，我们采用空气质量数据作为本章处理的目标数据，全国空气质量数据来自中国环境监测总站的全国城市空气质量实时发布平台。</a:t>
            </a:r>
            <a:endParaRPr lang="en-US" altLang="zh-CN" sz="2400" dirty="0"/>
          </a:p>
          <a:p>
            <a:r>
              <a:rPr lang="zh-CN" altLang="en-US" sz="2400">
                <a:solidFill>
                  <a:srgbClr val="FF0000"/>
                </a:solidFill>
              </a:rPr>
              <a:t>数据格式：</a:t>
            </a:r>
            <a:r>
              <a:rPr lang="zh-CN" altLang="en-US" sz="2400" dirty="0">
                <a:solidFill>
                  <a:srgbClr val="FF0000"/>
                </a:solidFill>
              </a:rPr>
              <a:t>城市空气指标值、站点空气指标、站点详细信息</a:t>
            </a:r>
          </a:p>
        </p:txBody>
      </p:sp>
      <p:sp>
        <p:nvSpPr>
          <p:cNvPr id="4" name="矩形 3">
            <a:extLst>
              <a:ext uri="{FF2B5EF4-FFF2-40B4-BE49-F238E27FC236}">
                <a16:creationId xmlns:a16="http://schemas.microsoft.com/office/drawing/2014/main" id="{437829F3-521B-4E22-A1BA-3A11D9A09D4D}"/>
              </a:ext>
            </a:extLst>
          </p:cNvPr>
          <p:cNvSpPr/>
          <p:nvPr/>
        </p:nvSpPr>
        <p:spPr>
          <a:xfrm>
            <a:off x="2123728" y="2787774"/>
            <a:ext cx="4572000" cy="1400512"/>
          </a:xfrm>
          <a:prstGeom prst="rect">
            <a:avLst/>
          </a:prstGeom>
        </p:spPr>
        <p:txBody>
          <a:bodyPr>
            <a:spAutoFit/>
          </a:bodyPr>
          <a:lstStyle/>
          <a:p>
            <a:pPr marL="533400" algn="just">
              <a:lnSpc>
                <a:spcPct val="120000"/>
              </a:lnSpc>
              <a:spcAft>
                <a:spcPts val="0"/>
              </a:spcAft>
            </a:pPr>
            <a:r>
              <a:rPr lang="en-US"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20140513,0,AQI,</a:t>
            </a:r>
            <a:r>
              <a:rPr lang="zh-CN"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北京</a:t>
            </a:r>
            <a:r>
              <a:rPr lang="en-US"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,81</a:t>
            </a:r>
            <a:endParaRPr lang="zh-CN" altLang="zh-CN" b="1" kern="100">
              <a:latin typeface="等线" panose="02010600030101010101" pitchFamily="2" charset="-122"/>
              <a:ea typeface="等线" panose="02010600030101010101" pitchFamily="2" charset="-122"/>
              <a:cs typeface="Times New Roman" panose="02020603050405020304" pitchFamily="18" charset="0"/>
            </a:endParaRPr>
          </a:p>
          <a:p>
            <a:pPr marL="533400" algn="just">
              <a:lnSpc>
                <a:spcPct val="120000"/>
              </a:lnSpc>
              <a:spcAft>
                <a:spcPts val="0"/>
              </a:spcAft>
            </a:pPr>
            <a:r>
              <a:rPr lang="en-US"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20140513,0,AQI,</a:t>
            </a:r>
            <a:r>
              <a:rPr lang="zh-CN"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天津</a:t>
            </a:r>
            <a:r>
              <a:rPr lang="en-US"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,69</a:t>
            </a:r>
            <a:endParaRPr lang="zh-CN" altLang="zh-CN" b="1" kern="100">
              <a:latin typeface="等线" panose="02010600030101010101" pitchFamily="2" charset="-122"/>
              <a:ea typeface="等线" panose="02010600030101010101" pitchFamily="2" charset="-122"/>
              <a:cs typeface="Times New Roman" panose="02020603050405020304" pitchFamily="18" charset="0"/>
            </a:endParaRPr>
          </a:p>
          <a:p>
            <a:pPr marL="533400" algn="just">
              <a:lnSpc>
                <a:spcPct val="120000"/>
              </a:lnSpc>
              <a:spcAft>
                <a:spcPts val="0"/>
              </a:spcAft>
            </a:pPr>
            <a:r>
              <a:rPr lang="en-US"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20140513,0,AQI,</a:t>
            </a:r>
            <a:r>
              <a:rPr lang="zh-CN"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石家庄</a:t>
            </a:r>
            <a:r>
              <a:rPr lang="en-US"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,125</a:t>
            </a:r>
            <a:endParaRPr lang="zh-CN" altLang="zh-CN" b="1" kern="100">
              <a:latin typeface="等线" panose="02010600030101010101" pitchFamily="2" charset="-122"/>
              <a:ea typeface="等线" panose="02010600030101010101" pitchFamily="2" charset="-122"/>
              <a:cs typeface="Times New Roman" panose="02020603050405020304" pitchFamily="18" charset="0"/>
            </a:endParaRPr>
          </a:p>
          <a:p>
            <a:pPr marL="533400" algn="just">
              <a:lnSpc>
                <a:spcPct val="120000"/>
              </a:lnSpc>
              <a:spcAft>
                <a:spcPts val="0"/>
              </a:spcAft>
            </a:pPr>
            <a:r>
              <a:rPr lang="en-US"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20140513,0,PM.5,</a:t>
            </a:r>
            <a:r>
              <a:rPr lang="zh-CN"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唐山</a:t>
            </a:r>
            <a:r>
              <a:rPr lang="en-US" altLang="zh-CN" b="1" kern="100">
                <a:solidFill>
                  <a:srgbClr val="000000"/>
                </a:solidFill>
                <a:latin typeface="等线" panose="02010600030101010101" pitchFamily="2" charset="-122"/>
                <a:ea typeface="等线" panose="02010600030101010101" pitchFamily="2" charset="-122"/>
                <a:cs typeface="Times New Roman" panose="02020603050405020304" pitchFamily="18" charset="0"/>
              </a:rPr>
              <a:t>,82</a:t>
            </a:r>
            <a:endParaRPr lang="zh-CN" altLang="zh-CN" b="1" kern="10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520899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020273-0A24-45C6-910F-D93DF4D4DCC9}"/>
              </a:ext>
            </a:extLst>
          </p:cNvPr>
          <p:cNvSpPr>
            <a:spLocks noGrp="1"/>
          </p:cNvSpPr>
          <p:nvPr>
            <p:ph type="title"/>
          </p:nvPr>
        </p:nvSpPr>
        <p:spPr/>
        <p:txBody>
          <a:bodyPr>
            <a:normAutofit fontScale="90000"/>
          </a:bodyPr>
          <a:lstStyle/>
          <a:p>
            <a:r>
              <a:rPr lang="en-US" altLang="zh-CN"/>
              <a:t>(1)</a:t>
            </a:r>
            <a:r>
              <a:rPr lang="zh-CN" altLang="en-US"/>
              <a:t>聚合</a:t>
            </a:r>
            <a:r>
              <a:rPr lang="zh-CN" altLang="en-US" dirty="0"/>
              <a:t>查询模式</a:t>
            </a:r>
          </a:p>
        </p:txBody>
      </p:sp>
      <p:sp>
        <p:nvSpPr>
          <p:cNvPr id="3" name="内容占位符 2">
            <a:extLst>
              <a:ext uri="{FF2B5EF4-FFF2-40B4-BE49-F238E27FC236}">
                <a16:creationId xmlns:a16="http://schemas.microsoft.com/office/drawing/2014/main" id="{149D5864-1382-4D37-891D-23A46040842B}"/>
              </a:ext>
            </a:extLst>
          </p:cNvPr>
          <p:cNvSpPr>
            <a:spLocks noGrp="1"/>
          </p:cNvSpPr>
          <p:nvPr>
            <p:ph idx="1"/>
          </p:nvPr>
        </p:nvSpPr>
        <p:spPr>
          <a:xfrm>
            <a:off x="457200" y="987574"/>
            <a:ext cx="8229600" cy="3960440"/>
          </a:xfrm>
        </p:spPr>
        <p:txBody>
          <a:bodyPr>
            <a:normAutofit fontScale="85000" lnSpcReduction="20000"/>
          </a:bodyPr>
          <a:lstStyle/>
          <a:p>
            <a:r>
              <a:rPr lang="zh-CN" altLang="en-US" dirty="0"/>
              <a:t>聚合查询是指对所要处理的数据进行一定的统计聚合处理，以从概要、全局的层面上掌握数据的特征和状况。</a:t>
            </a:r>
            <a:endParaRPr lang="en-US" altLang="zh-CN" dirty="0"/>
          </a:p>
          <a:p>
            <a:pPr lvl="1"/>
            <a:r>
              <a:rPr lang="zh-CN" altLang="en-US" dirty="0"/>
              <a:t>例如，今年北京地区的空气质量总体情况，包括空气质量各个指标的</a:t>
            </a:r>
            <a:r>
              <a:rPr lang="zh-CN" altLang="en-US" b="1" dirty="0">
                <a:solidFill>
                  <a:srgbClr val="FF0000"/>
                </a:solidFill>
              </a:rPr>
              <a:t>平均值、最大最小值</a:t>
            </a:r>
            <a:r>
              <a:rPr lang="zh-CN" altLang="en-US" dirty="0"/>
              <a:t>，或者空气质量评价为优的天数等。</a:t>
            </a:r>
          </a:p>
          <a:p>
            <a:r>
              <a:rPr lang="zh-CN" altLang="en-US" dirty="0"/>
              <a:t>聚合查询模式的核心思想是按照一定的关键字对数据进行分组，然后对分组数据进行数据的聚合、整理、处理。</a:t>
            </a:r>
            <a:endParaRPr lang="en-US" altLang="zh-CN" dirty="0"/>
          </a:p>
          <a:p>
            <a:r>
              <a:rPr lang="zh-CN" altLang="en-US"/>
              <a:t>该模式</a:t>
            </a:r>
            <a:r>
              <a:rPr lang="zh-CN" altLang="en-US" dirty="0"/>
              <a:t>又可以具体分为数值概要模式、倒排序索引模式、计数器模式等。</a:t>
            </a:r>
          </a:p>
          <a:p>
            <a:endParaRPr lang="zh-CN" altLang="en-US" dirty="0"/>
          </a:p>
        </p:txBody>
      </p:sp>
    </p:spTree>
    <p:extLst>
      <p:ext uri="{BB962C8B-B14F-4D97-AF65-F5344CB8AC3E}">
        <p14:creationId xmlns:p14="http://schemas.microsoft.com/office/powerpoint/2010/main" val="19941972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聚合</a:t>
            </a:r>
            <a:r>
              <a:rPr lang="zh-CN" altLang="en-US"/>
              <a:t>查询模式</a:t>
            </a:r>
            <a:r>
              <a:rPr lang="en-US" altLang="zh-CN"/>
              <a:t>—</a:t>
            </a:r>
            <a:r>
              <a:rPr lang="zh-CN" altLang="en-US"/>
              <a:t>数值</a:t>
            </a:r>
            <a:r>
              <a:rPr lang="zh-CN" altLang="en-US" dirty="0"/>
              <a:t>概要模式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r>
              <a:rPr lang="zh-CN" altLang="en-US" sz="2800" dirty="0"/>
              <a:t>数值概要模式的目的是按照某些键值对数据进行分组，然后计算特定分组下数据的聚合值，如平均值、最大最小值、求和等。</a:t>
            </a:r>
            <a:endParaRPr lang="en-US" altLang="zh-CN" sz="2800" dirty="0"/>
          </a:p>
          <a:p>
            <a:r>
              <a:rPr lang="zh-CN" altLang="en-US" sz="2800" b="1" dirty="0">
                <a:solidFill>
                  <a:srgbClr val="FF0000"/>
                </a:solidFill>
              </a:rPr>
              <a:t>任务</a:t>
            </a:r>
            <a:r>
              <a:rPr lang="en-US" altLang="zh-CN" sz="2800" b="1" dirty="0">
                <a:solidFill>
                  <a:srgbClr val="FF0000"/>
                </a:solidFill>
              </a:rPr>
              <a:t>1</a:t>
            </a:r>
            <a:r>
              <a:rPr lang="zh-CN" altLang="en-US" sz="2800" b="1" dirty="0">
                <a:solidFill>
                  <a:srgbClr val="FF0000"/>
                </a:solidFill>
              </a:rPr>
              <a:t>：统计每个城市的</a:t>
            </a:r>
            <a:r>
              <a:rPr lang="en-US" altLang="zh-CN" sz="2800" b="1" dirty="0">
                <a:solidFill>
                  <a:srgbClr val="FF0000"/>
                </a:solidFill>
              </a:rPr>
              <a:t>PM2.5</a:t>
            </a:r>
            <a:r>
              <a:rPr lang="zh-CN" altLang="en-US" sz="2800" b="1" dirty="0">
                <a:solidFill>
                  <a:srgbClr val="FF0000"/>
                </a:solidFill>
              </a:rPr>
              <a:t>的最大值、最小值和平均值</a:t>
            </a:r>
          </a:p>
        </p:txBody>
      </p:sp>
    </p:spTree>
    <p:extLst>
      <p:ext uri="{BB962C8B-B14F-4D97-AF65-F5344CB8AC3E}">
        <p14:creationId xmlns:p14="http://schemas.microsoft.com/office/powerpoint/2010/main" val="36244488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聚合查询模式</a:t>
            </a:r>
            <a:r>
              <a:rPr lang="en-US" altLang="zh-CN" dirty="0"/>
              <a:t>--</a:t>
            </a:r>
            <a:r>
              <a:rPr lang="zh-CN" altLang="en-US" dirty="0"/>
              <a:t>数值概要模式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lstStyle/>
          <a:p>
            <a:endParaRPr lang="zh-CN" altLang="en-US" dirty="0"/>
          </a:p>
        </p:txBody>
      </p:sp>
      <p:pic>
        <p:nvPicPr>
          <p:cNvPr id="3" name="图片 2">
            <a:extLst>
              <a:ext uri="{FF2B5EF4-FFF2-40B4-BE49-F238E27FC236}">
                <a16:creationId xmlns:a16="http://schemas.microsoft.com/office/drawing/2014/main" id="{266C53BB-BCFB-4863-88D2-7F66EAD2E4EA}"/>
              </a:ext>
            </a:extLst>
          </p:cNvPr>
          <p:cNvPicPr>
            <a:picLocks noChangeAspect="1"/>
          </p:cNvPicPr>
          <p:nvPr/>
        </p:nvPicPr>
        <p:blipFill>
          <a:blip r:embed="rId2"/>
          <a:stretch>
            <a:fillRect/>
          </a:stretch>
        </p:blipFill>
        <p:spPr>
          <a:xfrm>
            <a:off x="1752776" y="0"/>
            <a:ext cx="5638448" cy="5143500"/>
          </a:xfrm>
          <a:prstGeom prst="rect">
            <a:avLst/>
          </a:prstGeom>
        </p:spPr>
      </p:pic>
    </p:spTree>
    <p:extLst>
      <p:ext uri="{BB962C8B-B14F-4D97-AF65-F5344CB8AC3E}">
        <p14:creationId xmlns:p14="http://schemas.microsoft.com/office/powerpoint/2010/main" val="29957102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聚合</a:t>
            </a:r>
            <a:r>
              <a:rPr lang="zh-CN" altLang="en-US"/>
              <a:t>查询模式</a:t>
            </a:r>
            <a:r>
              <a:rPr lang="en-US" altLang="zh-CN"/>
              <a:t>—</a:t>
            </a:r>
            <a:r>
              <a:rPr lang="zh-CN" altLang="en-US"/>
              <a:t>倒</a:t>
            </a:r>
            <a:r>
              <a:rPr lang="zh-CN" altLang="en-US" dirty="0"/>
              <a:t>排序索引模式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lnSpcReduction="10000"/>
          </a:bodyPr>
          <a:lstStyle/>
          <a:p>
            <a:r>
              <a:rPr lang="zh-CN" altLang="en-US" sz="2800"/>
              <a:t>任务</a:t>
            </a:r>
            <a:r>
              <a:rPr lang="en-US" altLang="zh-CN" sz="2800"/>
              <a:t>1</a:t>
            </a:r>
            <a:r>
              <a:rPr lang="zh-CN" altLang="en-US" sz="2800"/>
              <a:t>的源代码请参考：教材</a:t>
            </a:r>
            <a:r>
              <a:rPr lang="en-US" altLang="zh-CN" sz="2800"/>
              <a:t>P238-239</a:t>
            </a:r>
          </a:p>
          <a:p>
            <a:endParaRPr lang="en-US" altLang="zh-CN" sz="2800"/>
          </a:p>
          <a:p>
            <a:r>
              <a:rPr lang="zh-CN" altLang="en-US" sz="2800" b="1">
                <a:solidFill>
                  <a:srgbClr val="FF0000"/>
                </a:solidFill>
              </a:rPr>
              <a:t>mapred streaming </a:t>
            </a:r>
            <a:r>
              <a:rPr lang="zh-CN" altLang="en-US" sz="2800"/>
              <a:t>\</a:t>
            </a:r>
          </a:p>
          <a:p>
            <a:r>
              <a:rPr lang="zh-CN" altLang="en-US" sz="2800"/>
              <a:t> -input /</a:t>
            </a:r>
            <a:r>
              <a:rPr lang="en-US" altLang="zh-CN" sz="2800"/>
              <a:t>CityAQ/*</a:t>
            </a:r>
            <a:r>
              <a:rPr lang="zh-CN" altLang="en-US" sz="2800"/>
              <a:t> \</a:t>
            </a:r>
          </a:p>
          <a:p>
            <a:r>
              <a:rPr lang="zh-CN" altLang="en-US" sz="2800"/>
              <a:t> -output /</a:t>
            </a:r>
            <a:r>
              <a:rPr lang="en-US" altLang="zh-CN" sz="2800"/>
              <a:t>AQI</a:t>
            </a:r>
            <a:r>
              <a:rPr lang="zh-CN" altLang="en-US" sz="2800"/>
              <a:t>_rlt \</a:t>
            </a:r>
          </a:p>
          <a:p>
            <a:r>
              <a:rPr lang="zh-CN" altLang="en-US" sz="2800"/>
              <a:t> -mapper /codes/</a:t>
            </a:r>
            <a:r>
              <a:rPr lang="en-US" altLang="zh-CN" sz="2800"/>
              <a:t>AQI</a:t>
            </a:r>
            <a:r>
              <a:rPr lang="zh-CN" altLang="en-US" sz="2800"/>
              <a:t>/</a:t>
            </a:r>
            <a:r>
              <a:rPr lang="en-US" altLang="zh-CN" sz="2800"/>
              <a:t>7.7.2.1-</a:t>
            </a:r>
            <a:r>
              <a:rPr lang="zh-CN" altLang="en-US" sz="2800"/>
              <a:t>mapper.py \</a:t>
            </a:r>
          </a:p>
          <a:p>
            <a:r>
              <a:rPr lang="zh-CN" altLang="en-US" sz="2800"/>
              <a:t> -reducer /codes/</a:t>
            </a:r>
            <a:r>
              <a:rPr lang="en-US" altLang="zh-CN" sz="2800"/>
              <a:t>AQI</a:t>
            </a:r>
            <a:r>
              <a:rPr lang="zh-CN" altLang="en-US" sz="2800"/>
              <a:t>/</a:t>
            </a:r>
            <a:r>
              <a:rPr lang="en-US" altLang="zh-CN" sz="2800"/>
              <a:t>7.7.2.1-</a:t>
            </a:r>
            <a:r>
              <a:rPr lang="zh-CN" altLang="en-US" sz="2800"/>
              <a:t>reducer.py</a:t>
            </a:r>
          </a:p>
        </p:txBody>
      </p:sp>
    </p:spTree>
    <p:extLst>
      <p:ext uri="{BB962C8B-B14F-4D97-AF65-F5344CB8AC3E}">
        <p14:creationId xmlns:p14="http://schemas.microsoft.com/office/powerpoint/2010/main" val="17771605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聚合</a:t>
            </a:r>
            <a:r>
              <a:rPr lang="zh-CN" altLang="en-US"/>
              <a:t>查询模式</a:t>
            </a:r>
            <a:r>
              <a:rPr lang="en-US" altLang="zh-CN"/>
              <a:t>—</a:t>
            </a:r>
            <a:r>
              <a:rPr lang="zh-CN" altLang="en-US"/>
              <a:t>数值</a:t>
            </a:r>
            <a:r>
              <a:rPr lang="zh-CN" altLang="en-US" dirty="0"/>
              <a:t>概要模式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a:xfrm>
            <a:off x="457200" y="915566"/>
            <a:ext cx="8229600" cy="939551"/>
          </a:xfrm>
        </p:spPr>
        <p:txBody>
          <a:bodyPr>
            <a:normAutofit fontScale="92500" lnSpcReduction="10000"/>
          </a:bodyPr>
          <a:lstStyle/>
          <a:p>
            <a:r>
              <a:rPr lang="zh-CN" altLang="en-US" dirty="0"/>
              <a:t>任务</a:t>
            </a:r>
            <a:r>
              <a:rPr lang="en-US" altLang="zh-CN" dirty="0"/>
              <a:t>2</a:t>
            </a:r>
            <a:r>
              <a:rPr lang="zh-CN" altLang="en-US" dirty="0"/>
              <a:t>：增加</a:t>
            </a:r>
            <a:r>
              <a:rPr lang="en-US" altLang="zh-CN" dirty="0"/>
              <a:t>combiner</a:t>
            </a:r>
            <a:r>
              <a:rPr lang="zh-CN" altLang="en-US" dirty="0"/>
              <a:t>，实现更加高效的数据统计工作；</a:t>
            </a:r>
          </a:p>
        </p:txBody>
      </p:sp>
      <p:pic>
        <p:nvPicPr>
          <p:cNvPr id="4" name="图片 3">
            <a:extLst>
              <a:ext uri="{FF2B5EF4-FFF2-40B4-BE49-F238E27FC236}">
                <a16:creationId xmlns:a16="http://schemas.microsoft.com/office/drawing/2014/main" id="{6D603481-065B-49BF-BE60-F42AA52C035A}"/>
              </a:ext>
            </a:extLst>
          </p:cNvPr>
          <p:cNvPicPr>
            <a:picLocks noChangeAspect="1"/>
          </p:cNvPicPr>
          <p:nvPr/>
        </p:nvPicPr>
        <p:blipFill>
          <a:blip r:embed="rId2"/>
          <a:stretch>
            <a:fillRect/>
          </a:stretch>
        </p:blipFill>
        <p:spPr>
          <a:xfrm>
            <a:off x="0" y="1814999"/>
            <a:ext cx="9144000" cy="3068497"/>
          </a:xfrm>
          <a:prstGeom prst="rect">
            <a:avLst/>
          </a:prstGeom>
        </p:spPr>
      </p:pic>
    </p:spTree>
    <p:extLst>
      <p:ext uri="{BB962C8B-B14F-4D97-AF65-F5344CB8AC3E}">
        <p14:creationId xmlns:p14="http://schemas.microsoft.com/office/powerpoint/2010/main" val="42546068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聚合</a:t>
            </a:r>
            <a:r>
              <a:rPr lang="zh-CN" altLang="en-US"/>
              <a:t>查询模式</a:t>
            </a:r>
            <a:r>
              <a:rPr lang="en-US" altLang="zh-CN"/>
              <a:t>—</a:t>
            </a:r>
            <a:r>
              <a:rPr lang="zh-CN" altLang="en-US"/>
              <a:t>倒</a:t>
            </a:r>
            <a:r>
              <a:rPr lang="zh-CN" altLang="en-US" dirty="0"/>
              <a:t>排序索引模式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r>
              <a:rPr lang="zh-CN" altLang="en-US" sz="2800"/>
              <a:t>任务</a:t>
            </a:r>
            <a:r>
              <a:rPr lang="en-US" altLang="zh-CN" sz="2800"/>
              <a:t>3</a:t>
            </a:r>
            <a:r>
              <a:rPr lang="zh-CN" altLang="en-US" sz="2800"/>
              <a:t>的源代码请参考：教材</a:t>
            </a:r>
            <a:r>
              <a:rPr lang="en-US" altLang="zh-CN" sz="2800"/>
              <a:t>P240</a:t>
            </a:r>
          </a:p>
          <a:p>
            <a:r>
              <a:rPr lang="zh-CN" altLang="en-US" sz="2800"/>
              <a:t>但该版教材的源代码有点小</a:t>
            </a:r>
            <a:r>
              <a:rPr lang="en-US" altLang="zh-CN" sz="2800"/>
              <a:t>bug</a:t>
            </a:r>
            <a:endParaRPr lang="zh-CN" altLang="en-US" sz="2800" dirty="0"/>
          </a:p>
        </p:txBody>
      </p:sp>
      <p:pic>
        <p:nvPicPr>
          <p:cNvPr id="4" name="图片 3">
            <a:extLst>
              <a:ext uri="{FF2B5EF4-FFF2-40B4-BE49-F238E27FC236}">
                <a16:creationId xmlns:a16="http://schemas.microsoft.com/office/drawing/2014/main" id="{7261D345-32F6-41D4-AAD2-2F9A98450B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36096" y="267494"/>
            <a:ext cx="3345036" cy="3991028"/>
          </a:xfrm>
          <a:prstGeom prst="rect">
            <a:avLst/>
          </a:prstGeom>
        </p:spPr>
      </p:pic>
    </p:spTree>
    <p:extLst>
      <p:ext uri="{BB962C8B-B14F-4D97-AF65-F5344CB8AC3E}">
        <p14:creationId xmlns:p14="http://schemas.microsoft.com/office/powerpoint/2010/main" val="31865722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聚合</a:t>
            </a:r>
            <a:r>
              <a:rPr lang="zh-CN" altLang="en-US"/>
              <a:t>查询模式</a:t>
            </a:r>
            <a:r>
              <a:rPr lang="en-US" altLang="zh-CN"/>
              <a:t>—</a:t>
            </a:r>
            <a:r>
              <a:rPr lang="zh-CN" altLang="en-US"/>
              <a:t>倒</a:t>
            </a:r>
            <a:r>
              <a:rPr lang="zh-CN" altLang="en-US" dirty="0"/>
              <a:t>排序索引模式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r>
              <a:rPr lang="zh-CN" altLang="en-US" sz="2800" dirty="0"/>
              <a:t>倒排索引源于实际应用中需要根据属性的值来查找记录，这种索引表中的每一项都包括一个属性值和具有该属性值的记录的地址。由于不是由记录确定属性值，而是由属性值确定记录的位置，因而称为倒排索引</a:t>
            </a:r>
            <a:r>
              <a:rPr lang="en-US" altLang="zh-CN" sz="2800" dirty="0"/>
              <a:t>(inverted index)</a:t>
            </a:r>
            <a:r>
              <a:rPr lang="zh-CN" altLang="en-US" sz="2800" dirty="0"/>
              <a:t>。带有倒排索引的文件称为倒排索引文件，简称倒排文件</a:t>
            </a:r>
            <a:r>
              <a:rPr lang="en-US" altLang="zh-CN" sz="2800" dirty="0"/>
              <a:t>(inverted file)</a:t>
            </a:r>
            <a:r>
              <a:rPr lang="zh-CN" altLang="en-US" sz="2800" dirty="0"/>
              <a:t>。</a:t>
            </a:r>
          </a:p>
        </p:txBody>
      </p:sp>
    </p:spTree>
    <p:extLst>
      <p:ext uri="{BB962C8B-B14F-4D97-AF65-F5344CB8AC3E}">
        <p14:creationId xmlns:p14="http://schemas.microsoft.com/office/powerpoint/2010/main" val="4749698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4C3379-0029-4794-9035-FF97B98AE50A}"/>
              </a:ext>
            </a:extLst>
          </p:cNvPr>
          <p:cNvSpPr>
            <a:spLocks noGrp="1"/>
          </p:cNvSpPr>
          <p:nvPr>
            <p:ph type="title"/>
          </p:nvPr>
        </p:nvSpPr>
        <p:spPr/>
        <p:txBody>
          <a:bodyPr>
            <a:normAutofit fontScale="90000"/>
          </a:bodyPr>
          <a:lstStyle/>
          <a:p>
            <a:r>
              <a:rPr lang="zh-CN" altLang="en-US" dirty="0"/>
              <a:t>聚合</a:t>
            </a:r>
            <a:r>
              <a:rPr lang="zh-CN" altLang="en-US"/>
              <a:t>查询模式</a:t>
            </a:r>
            <a:r>
              <a:rPr lang="en-US" altLang="zh-CN"/>
              <a:t>—</a:t>
            </a:r>
            <a:r>
              <a:rPr lang="zh-CN" altLang="en-US"/>
              <a:t>倒</a:t>
            </a:r>
            <a:r>
              <a:rPr lang="zh-CN" altLang="en-US" dirty="0"/>
              <a:t>排序索引模式</a:t>
            </a:r>
          </a:p>
        </p:txBody>
      </p:sp>
      <p:sp>
        <p:nvSpPr>
          <p:cNvPr id="3" name="内容占位符 2">
            <a:extLst>
              <a:ext uri="{FF2B5EF4-FFF2-40B4-BE49-F238E27FC236}">
                <a16:creationId xmlns:a16="http://schemas.microsoft.com/office/drawing/2014/main" id="{C6C0D9B5-D295-457A-BC5A-19019F39480D}"/>
              </a:ext>
            </a:extLst>
          </p:cNvPr>
          <p:cNvSpPr>
            <a:spLocks noGrp="1"/>
          </p:cNvSpPr>
          <p:nvPr>
            <p:ph idx="1"/>
          </p:nvPr>
        </p:nvSpPr>
        <p:spPr/>
        <p:txBody>
          <a:bodyPr>
            <a:normAutofit fontScale="77500" lnSpcReduction="20000"/>
          </a:bodyPr>
          <a:lstStyle/>
          <a:p>
            <a:r>
              <a:rPr lang="zh-CN" altLang="en-US" b="1" dirty="0">
                <a:solidFill>
                  <a:srgbClr val="FF0000"/>
                </a:solidFill>
              </a:rPr>
              <a:t>任务</a:t>
            </a:r>
            <a:r>
              <a:rPr lang="en-US" altLang="zh-CN" b="1" dirty="0">
                <a:solidFill>
                  <a:srgbClr val="FF0000"/>
                </a:solidFill>
              </a:rPr>
              <a:t>1</a:t>
            </a:r>
            <a:r>
              <a:rPr lang="zh-CN" altLang="en-US" b="1" dirty="0">
                <a:solidFill>
                  <a:srgbClr val="FF0000"/>
                </a:solidFill>
              </a:rPr>
              <a:t>：构建所有城市指定年份空气质量为优的日期倒排序索引。</a:t>
            </a:r>
          </a:p>
          <a:p>
            <a:pPr lvl="1"/>
            <a:r>
              <a:rPr lang="zh-CN" altLang="en-US" dirty="0"/>
              <a:t>输入：城市空气质量监测记录</a:t>
            </a:r>
          </a:p>
          <a:p>
            <a:pPr lvl="1"/>
            <a:r>
              <a:rPr lang="zh-CN" altLang="en-US" dirty="0"/>
              <a:t>输出：一个倒排序文件，每一条记录格式为</a:t>
            </a:r>
            <a:r>
              <a:rPr lang="en-US" altLang="zh-CN" dirty="0"/>
              <a:t>&lt;</a:t>
            </a:r>
            <a:r>
              <a:rPr lang="zh-CN" altLang="en-US" dirty="0"/>
              <a:t>城市</a:t>
            </a:r>
            <a:r>
              <a:rPr lang="en-US" altLang="zh-CN" dirty="0"/>
              <a:t>, </a:t>
            </a:r>
            <a:r>
              <a:rPr lang="zh-CN" altLang="en-US" dirty="0"/>
              <a:t>年份</a:t>
            </a:r>
            <a:r>
              <a:rPr lang="en-US" altLang="zh-CN" dirty="0"/>
              <a:t>, </a:t>
            </a:r>
            <a:r>
              <a:rPr lang="zh-CN" altLang="en-US" dirty="0"/>
              <a:t>空气质量为优的日期列表</a:t>
            </a:r>
            <a:r>
              <a:rPr lang="en-US" altLang="zh-CN" dirty="0"/>
              <a:t>&gt;</a:t>
            </a:r>
          </a:p>
          <a:p>
            <a:pPr lvl="1"/>
            <a:r>
              <a:rPr lang="zh-CN" altLang="en-US" dirty="0"/>
              <a:t>为了完成该任务，在</a:t>
            </a:r>
            <a:r>
              <a:rPr lang="en-US" altLang="zh-CN" dirty="0"/>
              <a:t>Mapper</a:t>
            </a:r>
            <a:r>
              <a:rPr lang="zh-CN" altLang="en-US" dirty="0"/>
              <a:t>中需要把城市空气质量符合条件的对应的日期和时刻加以记录，并输出。在</a:t>
            </a:r>
            <a:r>
              <a:rPr lang="en-US" altLang="zh-CN" dirty="0"/>
              <a:t>Reducer</a:t>
            </a:r>
            <a:r>
              <a:rPr lang="zh-CN" altLang="en-US" dirty="0"/>
              <a:t>中，其接受到的数据序列中，具有相同城市的数据相邻，所以只要把具有相同关键字的键值对的值取出，并形成列表便可以得到空气质量为优的日期序列。</a:t>
            </a:r>
          </a:p>
          <a:p>
            <a:endParaRPr lang="zh-CN" altLang="en-US" dirty="0"/>
          </a:p>
        </p:txBody>
      </p:sp>
    </p:spTree>
    <p:extLst>
      <p:ext uri="{BB962C8B-B14F-4D97-AF65-F5344CB8AC3E}">
        <p14:creationId xmlns:p14="http://schemas.microsoft.com/office/powerpoint/2010/main" val="2903304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过滤模式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lnSpcReduction="10000"/>
          </a:bodyPr>
          <a:lstStyle/>
          <a:p>
            <a:r>
              <a:rPr lang="zh-CN" altLang="en-US" sz="2800" dirty="0"/>
              <a:t>过滤模式（</a:t>
            </a:r>
            <a:r>
              <a:rPr lang="en-US" altLang="zh-CN" sz="2800" dirty="0"/>
              <a:t>Filter Pattern</a:t>
            </a:r>
            <a:r>
              <a:rPr lang="zh-CN" altLang="en-US" sz="2800" dirty="0"/>
              <a:t>）或称标准模式（</a:t>
            </a:r>
            <a:r>
              <a:rPr lang="en-US" altLang="zh-CN" sz="2800" dirty="0"/>
              <a:t>Criteria Pattern</a:t>
            </a:r>
            <a:r>
              <a:rPr lang="zh-CN" altLang="en-US" sz="2800" dirty="0"/>
              <a:t>）是一种设计模式，这种模式允许开发人员使用不同的标准来过滤一组对象，通过逻辑运算以解耦的方式把它们连接起来。这种类型的设计模式属于结构型模式，它结合多个标准来获得单一标准。过滤模式最重要的特点是保持数据的完整性，只是对记录保留与否进行判断，输出满足条件的记录。</a:t>
            </a:r>
          </a:p>
        </p:txBody>
      </p:sp>
    </p:spTree>
    <p:extLst>
      <p:ext uri="{BB962C8B-B14F-4D97-AF65-F5344CB8AC3E}">
        <p14:creationId xmlns:p14="http://schemas.microsoft.com/office/powerpoint/2010/main" val="33030983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过滤模式</a:t>
            </a:r>
            <a:r>
              <a:rPr lang="en-US" altLang="zh-CN" dirty="0"/>
              <a:t>--</a:t>
            </a:r>
            <a:r>
              <a:rPr lang="zh-CN" altLang="en-US" dirty="0"/>
              <a:t>过滤器模式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70000" lnSpcReduction="20000"/>
          </a:bodyPr>
          <a:lstStyle/>
          <a:p>
            <a:r>
              <a:rPr lang="zh-CN" altLang="en-US" dirty="0"/>
              <a:t>过滤器的功能就是通过设置一定的条件筛选并输出满足条件的记录，其作用类似于</a:t>
            </a:r>
            <a:r>
              <a:rPr lang="en-US" altLang="zh-CN" dirty="0"/>
              <a:t>SQL</a:t>
            </a:r>
            <a:r>
              <a:rPr lang="zh-CN" altLang="en-US" dirty="0"/>
              <a:t>语句中的过滤条件。</a:t>
            </a:r>
          </a:p>
          <a:p>
            <a:r>
              <a:rPr lang="zh-CN" altLang="en-US" dirty="0"/>
              <a:t>在过滤器模式的实现中，由于读取的记录中已经包含了需要的全部信息，所以简单的过滤模式一般情况下都只需要</a:t>
            </a:r>
            <a:r>
              <a:rPr lang="en-US" altLang="zh-CN" dirty="0"/>
              <a:t>mapper</a:t>
            </a:r>
            <a:r>
              <a:rPr lang="zh-CN" altLang="en-US" dirty="0"/>
              <a:t>程序。</a:t>
            </a:r>
            <a:endParaRPr lang="en-US" altLang="zh-CN" dirty="0"/>
          </a:p>
          <a:p>
            <a:r>
              <a:rPr lang="zh-CN" altLang="en-US" dirty="0"/>
              <a:t>很多情况下，若最终得到的数据是原来数据的子集，并且其体量也大大缩小，那么我们希望这些数据能够输出到一个文件中，而不是被分为多个</a:t>
            </a:r>
            <a:r>
              <a:rPr lang="en-US" altLang="zh-CN" dirty="0"/>
              <a:t>part</a:t>
            </a:r>
            <a:r>
              <a:rPr lang="zh-CN" altLang="en-US" dirty="0"/>
              <a:t>进行存储，这时可以利用</a:t>
            </a:r>
            <a:r>
              <a:rPr lang="en-US" altLang="zh-CN" dirty="0"/>
              <a:t>reduce</a:t>
            </a:r>
            <a:r>
              <a:rPr lang="zh-CN" altLang="en-US" dirty="0"/>
              <a:t>阶段的排序，再把所有数据通过一个</a:t>
            </a:r>
            <a:r>
              <a:rPr lang="en-US" altLang="zh-CN" dirty="0"/>
              <a:t>reducer</a:t>
            </a:r>
            <a:r>
              <a:rPr lang="zh-CN" altLang="en-US" dirty="0"/>
              <a:t>输出到一个文件中。若是一些综合性任务，这里的</a:t>
            </a:r>
            <a:r>
              <a:rPr lang="en-US" altLang="zh-CN" dirty="0"/>
              <a:t>reducer</a:t>
            </a:r>
            <a:r>
              <a:rPr lang="zh-CN" altLang="en-US" dirty="0"/>
              <a:t>还可能会在过滤的基础上完成其他任务。</a:t>
            </a:r>
          </a:p>
          <a:p>
            <a:endParaRPr lang="zh-CN" altLang="en-US" dirty="0"/>
          </a:p>
        </p:txBody>
      </p:sp>
    </p:spTree>
    <p:extLst>
      <p:ext uri="{BB962C8B-B14F-4D97-AF65-F5344CB8AC3E}">
        <p14:creationId xmlns:p14="http://schemas.microsoft.com/office/powerpoint/2010/main" val="22459004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3FACBA-D7EE-47D6-AE76-62EFB7DAB4A5}"/>
              </a:ext>
            </a:extLst>
          </p:cNvPr>
          <p:cNvSpPr>
            <a:spLocks noGrp="1"/>
          </p:cNvSpPr>
          <p:nvPr>
            <p:ph type="title"/>
          </p:nvPr>
        </p:nvSpPr>
        <p:spPr/>
        <p:txBody>
          <a:bodyPr>
            <a:normAutofit fontScale="90000"/>
          </a:bodyPr>
          <a:lstStyle/>
          <a:p>
            <a:r>
              <a:rPr lang="zh-CN" altLang="en-US" dirty="0"/>
              <a:t>过滤模式</a:t>
            </a:r>
            <a:r>
              <a:rPr lang="en-US" altLang="zh-CN" dirty="0"/>
              <a:t>--</a:t>
            </a:r>
            <a:r>
              <a:rPr lang="zh-CN" altLang="en-US" dirty="0"/>
              <a:t>过滤器模式</a:t>
            </a:r>
          </a:p>
        </p:txBody>
      </p:sp>
      <p:sp>
        <p:nvSpPr>
          <p:cNvPr id="3" name="内容占位符 2">
            <a:extLst>
              <a:ext uri="{FF2B5EF4-FFF2-40B4-BE49-F238E27FC236}">
                <a16:creationId xmlns:a16="http://schemas.microsoft.com/office/drawing/2014/main" id="{5996E4D9-0319-4CF9-AF50-577AA94A7093}"/>
              </a:ext>
            </a:extLst>
          </p:cNvPr>
          <p:cNvSpPr>
            <a:spLocks noGrp="1"/>
          </p:cNvSpPr>
          <p:nvPr>
            <p:ph idx="1"/>
          </p:nvPr>
        </p:nvSpPr>
        <p:spPr/>
        <p:txBody>
          <a:bodyPr>
            <a:normAutofit fontScale="92500" lnSpcReduction="10000"/>
          </a:bodyPr>
          <a:lstStyle/>
          <a:p>
            <a:r>
              <a:rPr lang="zh-CN" altLang="en-US" dirty="0"/>
              <a:t>任务</a:t>
            </a:r>
            <a:r>
              <a:rPr lang="en-US" altLang="zh-CN" dirty="0"/>
              <a:t>1</a:t>
            </a:r>
            <a:r>
              <a:rPr lang="zh-CN" altLang="en-US" dirty="0"/>
              <a:t>：空气质量优秀的数据检索。</a:t>
            </a:r>
          </a:p>
          <a:p>
            <a:pPr lvl="1"/>
            <a:r>
              <a:rPr lang="zh-CN" altLang="en-US" dirty="0"/>
              <a:t>小王是个运动爱好者，他几乎每天早上</a:t>
            </a:r>
            <a:r>
              <a:rPr lang="en-US" altLang="zh-CN" dirty="0"/>
              <a:t>6-7</a:t>
            </a:r>
            <a:r>
              <a:rPr lang="zh-CN" altLang="en-US" dirty="0"/>
              <a:t>点之间都进行户外运动，为此，他想看看北京市这几年在他运动期间的空气质量为“优”的详细数据，请帮他从文件中找出这些数据。</a:t>
            </a:r>
          </a:p>
          <a:p>
            <a:pPr lvl="1"/>
            <a:r>
              <a:rPr lang="zh-CN" altLang="en-US" dirty="0"/>
              <a:t>输入：所有城市所有日期的空气质量状况及其各项指标；</a:t>
            </a:r>
          </a:p>
          <a:p>
            <a:pPr lvl="1"/>
            <a:r>
              <a:rPr lang="zh-CN" altLang="en-US" dirty="0"/>
              <a:t>输出：北京市早上六点时空气质量为优的数据记录。</a:t>
            </a:r>
          </a:p>
          <a:p>
            <a:endParaRPr lang="zh-CN" altLang="en-US" dirty="0"/>
          </a:p>
        </p:txBody>
      </p:sp>
    </p:spTree>
    <p:extLst>
      <p:ext uri="{BB962C8B-B14F-4D97-AF65-F5344CB8AC3E}">
        <p14:creationId xmlns:p14="http://schemas.microsoft.com/office/powerpoint/2010/main" val="23245020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D24DB9-BD99-4B1C-AB65-4D2A037351A9}"/>
              </a:ext>
            </a:extLst>
          </p:cNvPr>
          <p:cNvSpPr>
            <a:spLocks noGrp="1"/>
          </p:cNvSpPr>
          <p:nvPr>
            <p:ph type="title"/>
          </p:nvPr>
        </p:nvSpPr>
        <p:spPr/>
        <p:txBody>
          <a:bodyPr>
            <a:normAutofit fontScale="90000"/>
          </a:bodyPr>
          <a:lstStyle/>
          <a:p>
            <a:r>
              <a:rPr lang="zh-CN" altLang="en-US" dirty="0"/>
              <a:t>过滤模式</a:t>
            </a:r>
            <a:r>
              <a:rPr lang="en-US" altLang="zh-CN" dirty="0"/>
              <a:t>--</a:t>
            </a:r>
            <a:r>
              <a:rPr lang="zh-CN" altLang="en-US" dirty="0"/>
              <a:t>过滤器模式</a:t>
            </a:r>
          </a:p>
        </p:txBody>
      </p:sp>
      <p:sp>
        <p:nvSpPr>
          <p:cNvPr id="3" name="内容占位符 2">
            <a:extLst>
              <a:ext uri="{FF2B5EF4-FFF2-40B4-BE49-F238E27FC236}">
                <a16:creationId xmlns:a16="http://schemas.microsoft.com/office/drawing/2014/main" id="{DF75A8FA-DB91-4415-9800-81C7C61F6880}"/>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29719E6E-AF1F-4722-BCC4-A1F7A8FD17B7}"/>
              </a:ext>
            </a:extLst>
          </p:cNvPr>
          <p:cNvPicPr>
            <a:picLocks noChangeAspect="1"/>
          </p:cNvPicPr>
          <p:nvPr/>
        </p:nvPicPr>
        <p:blipFill>
          <a:blip r:embed="rId2"/>
          <a:stretch>
            <a:fillRect/>
          </a:stretch>
        </p:blipFill>
        <p:spPr>
          <a:xfrm>
            <a:off x="144016" y="915566"/>
            <a:ext cx="8892480" cy="4104818"/>
          </a:xfrm>
          <a:prstGeom prst="rect">
            <a:avLst/>
          </a:prstGeom>
        </p:spPr>
      </p:pic>
    </p:spTree>
    <p:extLst>
      <p:ext uri="{BB962C8B-B14F-4D97-AF65-F5344CB8AC3E}">
        <p14:creationId xmlns:p14="http://schemas.microsoft.com/office/powerpoint/2010/main" val="3460620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过滤模式</a:t>
            </a:r>
            <a:r>
              <a:rPr lang="en-US" altLang="zh-CN" dirty="0"/>
              <a:t>--Top K</a:t>
            </a:r>
            <a:r>
              <a:rPr lang="zh-CN" altLang="en-US" dirty="0"/>
              <a:t>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lnSpcReduction="10000"/>
          </a:bodyPr>
          <a:lstStyle/>
          <a:p>
            <a:r>
              <a:rPr lang="en-US" altLang="zh-CN" dirty="0"/>
              <a:t>Top K</a:t>
            </a:r>
            <a:r>
              <a:rPr lang="zh-CN" altLang="en-US" dirty="0"/>
              <a:t>模式是指按照一定的排序条件，从所有符合条件的数据中挑选出排在最前的</a:t>
            </a:r>
            <a:r>
              <a:rPr lang="en-US" altLang="zh-CN" dirty="0"/>
              <a:t>K</a:t>
            </a:r>
            <a:r>
              <a:rPr lang="zh-CN" altLang="en-US" dirty="0"/>
              <a:t>个元素并输出。</a:t>
            </a:r>
          </a:p>
          <a:p>
            <a:r>
              <a:rPr lang="zh-CN" altLang="en-US" dirty="0"/>
              <a:t>对于该模式，其基本处理思路是从所有</a:t>
            </a:r>
            <a:r>
              <a:rPr lang="en-US" altLang="zh-CN" dirty="0"/>
              <a:t>mapper</a:t>
            </a:r>
            <a:r>
              <a:rPr lang="zh-CN" altLang="en-US" dirty="0"/>
              <a:t>中输出该节点数据的</a:t>
            </a:r>
            <a:r>
              <a:rPr lang="en-US" altLang="zh-CN" dirty="0"/>
              <a:t>Top K</a:t>
            </a:r>
            <a:r>
              <a:rPr lang="zh-CN" altLang="en-US" dirty="0"/>
              <a:t>，之后再</a:t>
            </a:r>
            <a:r>
              <a:rPr lang="en-US" altLang="zh-CN" dirty="0"/>
              <a:t>reducer</a:t>
            </a:r>
            <a:r>
              <a:rPr lang="zh-CN" altLang="en-US" dirty="0"/>
              <a:t>中对所有</a:t>
            </a:r>
            <a:r>
              <a:rPr lang="en-US" altLang="zh-CN" dirty="0"/>
              <a:t>mapper</a:t>
            </a:r>
            <a:r>
              <a:rPr lang="zh-CN" altLang="en-US" dirty="0"/>
              <a:t>的</a:t>
            </a:r>
            <a:r>
              <a:rPr lang="en-US" altLang="zh-CN" dirty="0"/>
              <a:t>Top K</a:t>
            </a:r>
            <a:r>
              <a:rPr lang="zh-CN" altLang="en-US" dirty="0"/>
              <a:t>进行汇总，输出最终的</a:t>
            </a:r>
            <a:r>
              <a:rPr lang="en-US" altLang="zh-CN" dirty="0"/>
              <a:t>K</a:t>
            </a:r>
            <a:r>
              <a:rPr lang="zh-CN" altLang="en-US" dirty="0"/>
              <a:t>的元素。</a:t>
            </a:r>
          </a:p>
          <a:p>
            <a:endParaRPr lang="zh-CN" altLang="en-US" dirty="0"/>
          </a:p>
        </p:txBody>
      </p:sp>
    </p:spTree>
    <p:extLst>
      <p:ext uri="{BB962C8B-B14F-4D97-AF65-F5344CB8AC3E}">
        <p14:creationId xmlns:p14="http://schemas.microsoft.com/office/powerpoint/2010/main" val="26775124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过滤模式</a:t>
            </a:r>
            <a:r>
              <a:rPr lang="en-US" altLang="zh-CN" dirty="0"/>
              <a:t>--Top K</a:t>
            </a:r>
            <a:r>
              <a:rPr lang="zh-CN" altLang="en-US" dirty="0"/>
              <a:t>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62500" lnSpcReduction="20000"/>
          </a:bodyPr>
          <a:lstStyle/>
          <a:p>
            <a:r>
              <a:rPr lang="zh-CN" altLang="en-US" dirty="0"/>
              <a:t>任务</a:t>
            </a:r>
            <a:r>
              <a:rPr lang="en-US" altLang="zh-CN" dirty="0"/>
              <a:t>1</a:t>
            </a:r>
            <a:r>
              <a:rPr lang="zh-CN" altLang="en-US" dirty="0"/>
              <a:t>：空气质量的比较。</a:t>
            </a:r>
          </a:p>
          <a:p>
            <a:pPr lvl="1"/>
            <a:r>
              <a:rPr lang="zh-CN" altLang="en-US" dirty="0"/>
              <a:t>每年，大众都会对哪些城市是空气质量最好的城市争论不休，小刘老师提了个衡量城市质量的好方法，他的方法是从全国所有城市中找出空气质量最好的</a:t>
            </a:r>
            <a:r>
              <a:rPr lang="en-US" altLang="zh-CN" dirty="0"/>
              <a:t>1000</a:t>
            </a:r>
            <a:r>
              <a:rPr lang="zh-CN" altLang="en-US" dirty="0"/>
              <a:t>条记录，再看看这</a:t>
            </a:r>
            <a:r>
              <a:rPr lang="en-US" altLang="zh-CN" dirty="0"/>
              <a:t>1000</a:t>
            </a:r>
            <a:r>
              <a:rPr lang="zh-CN" altLang="en-US" dirty="0"/>
              <a:t>条记录都属于哪些城市。很明显，如果一个城市在前</a:t>
            </a:r>
            <a:r>
              <a:rPr lang="en-US" altLang="zh-CN" dirty="0"/>
              <a:t>1000</a:t>
            </a:r>
            <a:r>
              <a:rPr lang="zh-CN" altLang="en-US" dirty="0"/>
              <a:t>名最好记录里占比最多，那么可以认为该城市的空气质量是最好的。现在请你帮帮小刘老师，从所有城市空气质量数据中找到</a:t>
            </a:r>
            <a:r>
              <a:rPr lang="en-US" altLang="zh-CN" dirty="0"/>
              <a:t>Top 1000</a:t>
            </a:r>
            <a:r>
              <a:rPr lang="zh-CN" altLang="en-US" dirty="0"/>
              <a:t>的空气质量数据。</a:t>
            </a:r>
          </a:p>
          <a:p>
            <a:pPr lvl="1"/>
            <a:r>
              <a:rPr lang="zh-CN" altLang="en-US" dirty="0"/>
              <a:t>由于某一城市某天的空气质量有</a:t>
            </a:r>
            <a:r>
              <a:rPr lang="en-US" altLang="zh-CN" dirty="0"/>
              <a:t>24</a:t>
            </a:r>
            <a:r>
              <a:rPr lang="zh-CN" altLang="en-US" dirty="0"/>
              <a:t>条监测数据，为了简化问题，我们假定以正午，即</a:t>
            </a:r>
            <a:r>
              <a:rPr lang="en-US" altLang="zh-CN" dirty="0"/>
              <a:t>12</a:t>
            </a:r>
            <a:r>
              <a:rPr lang="zh-CN" altLang="en-US" dirty="0"/>
              <a:t>时的空气质量作为当天的空气质量衡量标准。</a:t>
            </a:r>
          </a:p>
          <a:p>
            <a:pPr lvl="1"/>
            <a:r>
              <a:rPr lang="zh-CN" altLang="en-US" dirty="0"/>
              <a:t>输入：所有城市所有的空气质量状况及其各项指标；</a:t>
            </a:r>
          </a:p>
          <a:p>
            <a:pPr lvl="1"/>
            <a:r>
              <a:rPr lang="zh-CN" altLang="en-US" dirty="0"/>
              <a:t>输出：所有城市</a:t>
            </a:r>
            <a:r>
              <a:rPr lang="en-US" altLang="zh-CN" dirty="0"/>
              <a:t>12</a:t>
            </a:r>
            <a:r>
              <a:rPr lang="zh-CN" altLang="en-US" dirty="0"/>
              <a:t>时的空气质量</a:t>
            </a:r>
            <a:r>
              <a:rPr lang="en-US" altLang="zh-CN" dirty="0"/>
              <a:t>Top 1000</a:t>
            </a:r>
            <a:r>
              <a:rPr lang="zh-CN" altLang="en-US" dirty="0"/>
              <a:t>的记录。</a:t>
            </a:r>
          </a:p>
          <a:p>
            <a:endParaRPr lang="zh-CN" altLang="en-US" dirty="0"/>
          </a:p>
        </p:txBody>
      </p:sp>
    </p:spTree>
    <p:extLst>
      <p:ext uri="{BB962C8B-B14F-4D97-AF65-F5344CB8AC3E}">
        <p14:creationId xmlns:p14="http://schemas.microsoft.com/office/powerpoint/2010/main" val="16951747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过滤模式</a:t>
            </a:r>
            <a:r>
              <a:rPr lang="en-US" altLang="zh-CN" dirty="0"/>
              <a:t>--Top K</a:t>
            </a:r>
            <a:r>
              <a:rPr lang="zh-CN" altLang="en-US" dirty="0"/>
              <a:t>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a:xfrm>
            <a:off x="457200" y="1092138"/>
            <a:ext cx="8229600" cy="3819872"/>
          </a:xfrm>
        </p:spPr>
        <p:txBody>
          <a:bodyPr>
            <a:normAutofit fontScale="62500" lnSpcReduction="20000"/>
          </a:bodyPr>
          <a:lstStyle/>
          <a:p>
            <a:r>
              <a:rPr lang="zh-CN" altLang="en-US" dirty="0"/>
              <a:t>分析</a:t>
            </a:r>
            <a:endParaRPr lang="en-US" altLang="zh-CN" dirty="0"/>
          </a:p>
          <a:p>
            <a:pPr lvl="1"/>
            <a:r>
              <a:rPr lang="zh-CN" altLang="en-US" dirty="0"/>
              <a:t>因为数据分布在多个节点中，要选取</a:t>
            </a:r>
            <a:r>
              <a:rPr lang="en-US" altLang="zh-CN" dirty="0"/>
              <a:t>Top K</a:t>
            </a:r>
            <a:r>
              <a:rPr lang="zh-CN" altLang="en-US" dirty="0"/>
              <a:t>数据就必须分别从各个节点中获取</a:t>
            </a:r>
            <a:r>
              <a:rPr lang="en-US" altLang="zh-CN" dirty="0"/>
              <a:t>Top K</a:t>
            </a:r>
            <a:r>
              <a:rPr lang="zh-CN" altLang="en-US" dirty="0"/>
              <a:t>数据，然后在</a:t>
            </a:r>
            <a:r>
              <a:rPr lang="en-US" altLang="zh-CN" dirty="0"/>
              <a:t>Reduce</a:t>
            </a:r>
            <a:r>
              <a:rPr lang="zh-CN" altLang="en-US" dirty="0"/>
              <a:t>阶段再进行多个</a:t>
            </a:r>
            <a:r>
              <a:rPr lang="en-US" altLang="zh-CN" dirty="0"/>
              <a:t>K</a:t>
            </a:r>
            <a:r>
              <a:rPr lang="zh-CN" altLang="en-US" dirty="0"/>
              <a:t>数据集的再次选择。</a:t>
            </a:r>
          </a:p>
          <a:p>
            <a:pPr lvl="1"/>
            <a:r>
              <a:rPr lang="zh-CN" altLang="en-US" dirty="0"/>
              <a:t>如果</a:t>
            </a:r>
            <a:r>
              <a:rPr lang="en-US" altLang="zh-CN" dirty="0"/>
              <a:t>map</a:t>
            </a:r>
            <a:r>
              <a:rPr lang="zh-CN" altLang="en-US" dirty="0"/>
              <a:t>输出仍旧是以城市、时间为关键字，那么最终的数据有可能被两个或者更多的</a:t>
            </a:r>
            <a:r>
              <a:rPr lang="en-US" altLang="zh-CN" dirty="0"/>
              <a:t>reducer</a:t>
            </a:r>
            <a:r>
              <a:rPr lang="zh-CN" altLang="en-US" dirty="0"/>
              <a:t>进行汇总处理，很显然这情况下是没有办法找到</a:t>
            </a:r>
            <a:r>
              <a:rPr lang="en-US" altLang="zh-CN" dirty="0"/>
              <a:t>Top K</a:t>
            </a:r>
            <a:r>
              <a:rPr lang="zh-CN" altLang="en-US" dirty="0"/>
              <a:t>数据的。针对这一问题，有三种方法可以解决：（</a:t>
            </a:r>
            <a:r>
              <a:rPr lang="en-US" altLang="zh-CN" dirty="0"/>
              <a:t>1</a:t>
            </a:r>
            <a:r>
              <a:rPr lang="zh-CN" altLang="en-US" dirty="0"/>
              <a:t>）设置所有</a:t>
            </a:r>
            <a:r>
              <a:rPr lang="en-US" altLang="zh-CN" dirty="0"/>
              <a:t>mapper</a:t>
            </a:r>
            <a:r>
              <a:rPr lang="zh-CN" altLang="en-US" dirty="0"/>
              <a:t>的输出具有相同的键值，那么所有数据都会汇总到一个</a:t>
            </a:r>
            <a:r>
              <a:rPr lang="en-US" altLang="zh-CN" dirty="0"/>
              <a:t>reducer</a:t>
            </a:r>
            <a:r>
              <a:rPr lang="zh-CN" altLang="en-US" dirty="0"/>
              <a:t>进行处理；（</a:t>
            </a:r>
            <a:r>
              <a:rPr lang="en-US" altLang="zh-CN" dirty="0"/>
              <a:t>2</a:t>
            </a:r>
            <a:r>
              <a:rPr lang="zh-CN" altLang="en-US" dirty="0"/>
              <a:t>）设置只有一个</a:t>
            </a:r>
            <a:r>
              <a:rPr lang="en-US" altLang="zh-CN" dirty="0"/>
              <a:t>reducer</a:t>
            </a:r>
            <a:r>
              <a:rPr lang="zh-CN" altLang="en-US" dirty="0"/>
              <a:t>，这种情况也自然可以把所有数据汇总到一个站点；（</a:t>
            </a:r>
            <a:r>
              <a:rPr lang="en-US" altLang="zh-CN" dirty="0"/>
              <a:t>3</a:t>
            </a:r>
            <a:r>
              <a:rPr lang="zh-CN" altLang="en-US" dirty="0"/>
              <a:t>）设置两个</a:t>
            </a:r>
            <a:r>
              <a:rPr lang="en-US" altLang="zh-CN" dirty="0"/>
              <a:t>reducer</a:t>
            </a:r>
            <a:r>
              <a:rPr lang="zh-CN" altLang="en-US" dirty="0"/>
              <a:t>阶段，其中第二个</a:t>
            </a:r>
            <a:r>
              <a:rPr lang="en-US" altLang="zh-CN" dirty="0"/>
              <a:t>reducer</a:t>
            </a:r>
            <a:r>
              <a:rPr lang="zh-CN" altLang="en-US" dirty="0"/>
              <a:t>阶段设置只有一个</a:t>
            </a:r>
            <a:r>
              <a:rPr lang="en-US" altLang="zh-CN" dirty="0"/>
              <a:t>reducer</a:t>
            </a:r>
            <a:r>
              <a:rPr lang="zh-CN" altLang="en-US" dirty="0"/>
              <a:t>。对于数据量不大，</a:t>
            </a:r>
            <a:r>
              <a:rPr lang="en-US" altLang="zh-CN" dirty="0"/>
              <a:t>mapper</a:t>
            </a:r>
            <a:r>
              <a:rPr lang="zh-CN" altLang="en-US" dirty="0"/>
              <a:t>数量较少的情况，前两种方法不会影响整体性能；若数据量大，数据的站点分布广，那么第三种方法则会有更好的表现。</a:t>
            </a:r>
          </a:p>
          <a:p>
            <a:pPr lvl="1"/>
            <a:r>
              <a:rPr lang="en-US" altLang="zh-CN" dirty="0"/>
              <a:t>Top K</a:t>
            </a:r>
            <a:r>
              <a:rPr lang="zh-CN" altLang="en-US" dirty="0"/>
              <a:t>模式的应用过程中通常会用到过滤模式，或者通过分组的方式找到每组数据的</a:t>
            </a:r>
            <a:r>
              <a:rPr lang="en-US" altLang="zh-CN" dirty="0"/>
              <a:t>Top K</a:t>
            </a:r>
            <a:r>
              <a:rPr lang="zh-CN" altLang="en-US" dirty="0"/>
              <a:t>数据，该任务的</a:t>
            </a:r>
            <a:r>
              <a:rPr lang="en-US" altLang="zh-CN" dirty="0"/>
              <a:t>mapper</a:t>
            </a:r>
            <a:r>
              <a:rPr lang="zh-CN" altLang="en-US" dirty="0"/>
              <a:t>阶段需要先进行数据的过滤，去除非正午时间数据，然后再进行各个数据节点上</a:t>
            </a:r>
            <a:r>
              <a:rPr lang="en-US" altLang="zh-CN" dirty="0"/>
              <a:t>Top 1000</a:t>
            </a:r>
            <a:r>
              <a:rPr lang="zh-CN" altLang="en-US" dirty="0"/>
              <a:t>数据的选择和输出。因此，该任务结合了过滤器模式与</a:t>
            </a:r>
            <a:r>
              <a:rPr lang="en-US" altLang="zh-CN" dirty="0"/>
              <a:t>Top K</a:t>
            </a:r>
            <a:r>
              <a:rPr lang="zh-CN" altLang="en-US" dirty="0"/>
              <a:t>模式两种模式的综合应用。</a:t>
            </a:r>
          </a:p>
          <a:p>
            <a:endParaRPr lang="zh-CN" altLang="en-US" dirty="0"/>
          </a:p>
        </p:txBody>
      </p:sp>
    </p:spTree>
    <p:extLst>
      <p:ext uri="{BB962C8B-B14F-4D97-AF65-F5344CB8AC3E}">
        <p14:creationId xmlns:p14="http://schemas.microsoft.com/office/powerpoint/2010/main" val="33112387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过滤模式</a:t>
            </a:r>
            <a:r>
              <a:rPr lang="en-US" altLang="zh-CN" dirty="0"/>
              <a:t>--</a:t>
            </a:r>
            <a:r>
              <a:rPr lang="zh-CN" altLang="en-US" dirty="0"/>
              <a:t>去重模式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a:bodyPr>
          <a:lstStyle/>
          <a:p>
            <a:r>
              <a:rPr lang="zh-CN" altLang="en-US" sz="2800" dirty="0"/>
              <a:t>去重模式是指对输入的数据进行对比，把其中重复的数据去除，从而保证每个关键字确定的记录都只有一个。去重模式是一个运算量较大的操作，若操作方法选择不恰当，则容易导致整个计算过程变得非常缓慢。</a:t>
            </a:r>
          </a:p>
        </p:txBody>
      </p:sp>
    </p:spTree>
    <p:extLst>
      <p:ext uri="{BB962C8B-B14F-4D97-AF65-F5344CB8AC3E}">
        <p14:creationId xmlns:p14="http://schemas.microsoft.com/office/powerpoint/2010/main" val="16507742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过滤模式</a:t>
            </a:r>
            <a:r>
              <a:rPr lang="en-US" altLang="zh-CN" dirty="0"/>
              <a:t>--</a:t>
            </a:r>
            <a:r>
              <a:rPr lang="zh-CN" altLang="en-US" dirty="0"/>
              <a:t>去重模式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70000" lnSpcReduction="20000"/>
          </a:bodyPr>
          <a:lstStyle/>
          <a:p>
            <a:r>
              <a:rPr lang="zh-CN" altLang="en-US" dirty="0"/>
              <a:t>任务：空气质量上报数据的去重</a:t>
            </a:r>
          </a:p>
          <a:p>
            <a:pPr lvl="1"/>
            <a:r>
              <a:rPr lang="zh-CN" altLang="en-US" dirty="0"/>
              <a:t>空气质量监测是一个全国性的工程，全国各地都需要定时上报具体的空气质量监测数据。但是在系统的运行初期，由于上报系统还不够完善，以及网络传输等问题，各地经常会出现重复上报空气质量数据的情况。例如上传数据完成了，可是当地最终页面没有收到确认信息，工作人员将再次上传数据。这一问题在初期并没有受到重视，但是随着数据规范和要求越来越严格，现在希望清除历史数据中重复上报的记录，整理出一套不包含重复数据的完整数据集。请你帮忙完成这一工作。</a:t>
            </a:r>
          </a:p>
          <a:p>
            <a:pPr lvl="1"/>
            <a:r>
              <a:rPr lang="zh-CN" altLang="en-US" dirty="0"/>
              <a:t>输入：所有地方上报的空气质量数据，其中可能包含部分重复数据；</a:t>
            </a:r>
          </a:p>
          <a:p>
            <a:pPr lvl="1"/>
            <a:r>
              <a:rPr lang="zh-CN" altLang="en-US" dirty="0"/>
              <a:t>输出：清除所有重复数据后的空气质量数据。</a:t>
            </a:r>
          </a:p>
          <a:p>
            <a:endParaRPr lang="zh-CN" altLang="en-US" dirty="0"/>
          </a:p>
        </p:txBody>
      </p:sp>
    </p:spTree>
    <p:extLst>
      <p:ext uri="{BB962C8B-B14F-4D97-AF65-F5344CB8AC3E}">
        <p14:creationId xmlns:p14="http://schemas.microsoft.com/office/powerpoint/2010/main" val="29724903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过滤模式</a:t>
            </a:r>
            <a:r>
              <a:rPr lang="en-US" altLang="zh-CN" dirty="0"/>
              <a:t>--</a:t>
            </a:r>
            <a:r>
              <a:rPr lang="zh-CN" altLang="en-US" dirty="0"/>
              <a:t>去重模式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70000" lnSpcReduction="20000"/>
          </a:bodyPr>
          <a:lstStyle/>
          <a:p>
            <a:r>
              <a:rPr lang="zh-CN" altLang="en-US" dirty="0"/>
              <a:t>分析：数据分布存储在各个节点上，在一个节点上运行的</a:t>
            </a:r>
            <a:r>
              <a:rPr lang="en-US" altLang="zh-CN" dirty="0"/>
              <a:t>mapper</a:t>
            </a:r>
            <a:r>
              <a:rPr lang="zh-CN" altLang="en-US" dirty="0"/>
              <a:t>无法获知其包含的数据是否也存在于其他节点，只有当数据汇总到一起时才能进行唯一性判断，也才能进行重复数据的消除。</a:t>
            </a:r>
          </a:p>
          <a:p>
            <a:r>
              <a:rPr lang="zh-CN" altLang="en-US" dirty="0"/>
              <a:t>在实现过程中，对于</a:t>
            </a:r>
            <a:r>
              <a:rPr lang="en-US" altLang="zh-CN" dirty="0"/>
              <a:t>map</a:t>
            </a:r>
            <a:r>
              <a:rPr lang="zh-CN" altLang="en-US" dirty="0"/>
              <a:t>操作，若要进行数据的重复性检验则需要进行数据排序，然后再进行数据的遍历，之后把数据输出作为</a:t>
            </a:r>
            <a:r>
              <a:rPr lang="en-US" altLang="zh-CN" dirty="0"/>
              <a:t>Reducer</a:t>
            </a:r>
            <a:r>
              <a:rPr lang="zh-CN" altLang="en-US" dirty="0"/>
              <a:t>的输入；在</a:t>
            </a:r>
            <a:r>
              <a:rPr lang="en-US" altLang="zh-CN" dirty="0"/>
              <a:t>Reducer</a:t>
            </a:r>
            <a:r>
              <a:rPr lang="zh-CN" altLang="en-US" dirty="0"/>
              <a:t>之前，</a:t>
            </a:r>
            <a:r>
              <a:rPr lang="en-US" altLang="zh-CN" dirty="0"/>
              <a:t>MapReduce</a:t>
            </a:r>
            <a:r>
              <a:rPr lang="zh-CN" altLang="en-US" dirty="0"/>
              <a:t>系统总是需要在进行一次数据的排序，所以我们可以弱化</a:t>
            </a:r>
            <a:r>
              <a:rPr lang="en-US" altLang="zh-CN" dirty="0"/>
              <a:t>mapper</a:t>
            </a:r>
            <a:r>
              <a:rPr lang="zh-CN" altLang="en-US" dirty="0"/>
              <a:t>的功能，让</a:t>
            </a:r>
            <a:r>
              <a:rPr lang="en-US" altLang="zh-CN" dirty="0"/>
              <a:t>mapper</a:t>
            </a:r>
            <a:r>
              <a:rPr lang="zh-CN" altLang="en-US" dirty="0"/>
              <a:t>中把（日期、时刻、类型、城市、数据值）直接输出，把排序工作交由</a:t>
            </a:r>
            <a:r>
              <a:rPr lang="en-US" altLang="zh-CN" dirty="0"/>
              <a:t>MapReduce</a:t>
            </a:r>
            <a:r>
              <a:rPr lang="zh-CN" altLang="en-US" dirty="0"/>
              <a:t>的</a:t>
            </a:r>
            <a:r>
              <a:rPr lang="en-US" altLang="zh-CN" dirty="0"/>
              <a:t>Shuffle</a:t>
            </a:r>
            <a:r>
              <a:rPr lang="zh-CN" altLang="en-US" dirty="0"/>
              <a:t>和</a:t>
            </a:r>
            <a:r>
              <a:rPr lang="en-US" altLang="zh-CN" dirty="0"/>
              <a:t>sort</a:t>
            </a:r>
            <a:r>
              <a:rPr lang="zh-CN" altLang="en-US" dirty="0"/>
              <a:t>。在</a:t>
            </a:r>
            <a:r>
              <a:rPr lang="en-US" altLang="zh-CN" dirty="0"/>
              <a:t>Reduce</a:t>
            </a:r>
            <a:r>
              <a:rPr lang="zh-CN" altLang="en-US" dirty="0"/>
              <a:t>阶段，在遍历所有数据，进行重复元素的查找和去除。</a:t>
            </a:r>
          </a:p>
          <a:p>
            <a:endParaRPr lang="zh-CN" altLang="en-US" dirty="0"/>
          </a:p>
        </p:txBody>
      </p:sp>
    </p:spTree>
    <p:extLst>
      <p:ext uri="{BB962C8B-B14F-4D97-AF65-F5344CB8AC3E}">
        <p14:creationId xmlns:p14="http://schemas.microsoft.com/office/powerpoint/2010/main" val="7978566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连接操作定义</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77500" lnSpcReduction="20000"/>
          </a:bodyPr>
          <a:lstStyle/>
          <a:p>
            <a:r>
              <a:rPr lang="zh-CN" altLang="en-US" dirty="0"/>
              <a:t>所谓的数据连接操作是指一个特定数据集中的记录只包含了所需要数据的一部分，与其相关联的其余信息则需要利用该记录中的一些元素值到另外一个数据集中进行检索，并把两部分数据合并起来组成完整的记录。</a:t>
            </a:r>
            <a:endParaRPr lang="en-US" altLang="zh-CN" dirty="0"/>
          </a:p>
          <a:p>
            <a:r>
              <a:rPr lang="zh-CN" altLang="en-US" dirty="0"/>
              <a:t>例如站点表示的空气质量数据集中有数据“</a:t>
            </a:r>
            <a:r>
              <a:rPr lang="en-US" altLang="zh-CN" dirty="0"/>
              <a:t>20140513,0,AQI,1013A,77”</a:t>
            </a:r>
            <a:r>
              <a:rPr lang="zh-CN" altLang="en-US" dirty="0"/>
              <a:t>，我们需要根据其站点编号</a:t>
            </a:r>
            <a:r>
              <a:rPr lang="en-US" altLang="zh-CN" dirty="0"/>
              <a:t>1013A</a:t>
            </a:r>
            <a:r>
              <a:rPr lang="zh-CN" altLang="en-US" dirty="0"/>
              <a:t>从站点数据集中查找得到具体的站点信息，从而得到完整的数据“</a:t>
            </a:r>
            <a:r>
              <a:rPr lang="en-US" altLang="zh-CN" dirty="0"/>
              <a:t>20140513, 0, AQI, 1013A, 77, </a:t>
            </a:r>
            <a:r>
              <a:rPr lang="zh-CN" altLang="en-US" dirty="0"/>
              <a:t>市监测中心</a:t>
            </a:r>
            <a:r>
              <a:rPr lang="en-US" altLang="zh-CN" dirty="0"/>
              <a:t>, </a:t>
            </a:r>
            <a:r>
              <a:rPr lang="zh-CN" altLang="en-US" dirty="0"/>
              <a:t>天津</a:t>
            </a:r>
            <a:r>
              <a:rPr lang="en-US" altLang="zh-CN" dirty="0"/>
              <a:t>, 117.151,    39.097”</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40619089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连接操作定义</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92500" lnSpcReduction="20000"/>
          </a:bodyPr>
          <a:lstStyle/>
          <a:p>
            <a:r>
              <a:rPr lang="zh-CN" altLang="en-US" dirty="0"/>
              <a:t>连接操作是</a:t>
            </a:r>
            <a:r>
              <a:rPr lang="en-US" altLang="zh-CN" dirty="0"/>
              <a:t>MapReduce</a:t>
            </a:r>
            <a:r>
              <a:rPr lang="zh-CN" altLang="en-US" dirty="0"/>
              <a:t>数据处理中最常用的操作之一，因此，本小节主要针对连接操作总结出该类程序的设计模式</a:t>
            </a:r>
            <a:r>
              <a:rPr lang="en-US" altLang="zh-CN" dirty="0"/>
              <a:t>--</a:t>
            </a:r>
            <a:r>
              <a:rPr lang="zh-CN" altLang="en-US" dirty="0"/>
              <a:t>连接模式。</a:t>
            </a:r>
            <a:endParaRPr lang="en-US" altLang="zh-CN" dirty="0"/>
          </a:p>
          <a:p>
            <a:r>
              <a:rPr lang="zh-CN" altLang="en-US" dirty="0"/>
              <a:t>连接模式是</a:t>
            </a:r>
            <a:r>
              <a:rPr lang="en-US" altLang="zh-CN" dirty="0"/>
              <a:t>MapReduce</a:t>
            </a:r>
            <a:r>
              <a:rPr lang="zh-CN" altLang="en-US" dirty="0"/>
              <a:t>设计模式中最主要的模式之一，通过连接操作可以实现多个数据集的关联查询。具体而言，连接又可以分为内连接、外连接（左外连接、右外连接，全外连接）和笛卡尔积等。</a:t>
            </a:r>
          </a:p>
        </p:txBody>
      </p:sp>
    </p:spTree>
    <p:extLst>
      <p:ext uri="{BB962C8B-B14F-4D97-AF65-F5344CB8AC3E}">
        <p14:creationId xmlns:p14="http://schemas.microsoft.com/office/powerpoint/2010/main" val="1481903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连接操作定义</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lstStyle/>
          <a:p>
            <a:endParaRPr lang="zh-CN" altLang="en-US" dirty="0"/>
          </a:p>
        </p:txBody>
      </p:sp>
      <p:pic>
        <p:nvPicPr>
          <p:cNvPr id="3" name="图片 2">
            <a:extLst>
              <a:ext uri="{FF2B5EF4-FFF2-40B4-BE49-F238E27FC236}">
                <a16:creationId xmlns:a16="http://schemas.microsoft.com/office/drawing/2014/main" id="{DE5104C7-C252-4E8D-9353-C806BCF898DA}"/>
              </a:ext>
            </a:extLst>
          </p:cNvPr>
          <p:cNvPicPr>
            <a:picLocks noChangeAspect="1"/>
          </p:cNvPicPr>
          <p:nvPr/>
        </p:nvPicPr>
        <p:blipFill>
          <a:blip r:embed="rId2"/>
          <a:stretch>
            <a:fillRect/>
          </a:stretch>
        </p:blipFill>
        <p:spPr>
          <a:xfrm>
            <a:off x="324825" y="909671"/>
            <a:ext cx="8373616" cy="4034881"/>
          </a:xfrm>
          <a:prstGeom prst="rect">
            <a:avLst/>
          </a:prstGeom>
        </p:spPr>
      </p:pic>
    </p:spTree>
    <p:extLst>
      <p:ext uri="{BB962C8B-B14F-4D97-AF65-F5344CB8AC3E}">
        <p14:creationId xmlns:p14="http://schemas.microsoft.com/office/powerpoint/2010/main" val="23488670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连接操作定义</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a:xfrm>
            <a:off x="457200" y="1200151"/>
            <a:ext cx="8229600" cy="1803647"/>
          </a:xfrm>
        </p:spPr>
        <p:txBody>
          <a:bodyPr>
            <a:normAutofit fontScale="62500" lnSpcReduction="20000"/>
          </a:bodyPr>
          <a:lstStyle/>
          <a:p>
            <a:r>
              <a:rPr lang="zh-CN" altLang="en-US" dirty="0"/>
              <a:t>内连接</a:t>
            </a:r>
          </a:p>
          <a:p>
            <a:pPr lvl="1"/>
            <a:r>
              <a:rPr lang="zh-CN" altLang="en-US" dirty="0"/>
              <a:t>利用站点编号进行内连接操作时，需要根据监测数据集中的站点编号在站点信息集中进行站点的查找，并把两条对应的记录整合，形成包含完整信息的监测数据。对于监测数据集中未能在站点信息集中找到站点信息的数据，则不加入结果集中；当然，对站点信息集中存在的站点，若其未能被某一监测数据利用上，则在结果集中也不会体现该数据。</a:t>
            </a:r>
          </a:p>
        </p:txBody>
      </p:sp>
      <p:pic>
        <p:nvPicPr>
          <p:cNvPr id="3" name="图片 2">
            <a:extLst>
              <a:ext uri="{FF2B5EF4-FFF2-40B4-BE49-F238E27FC236}">
                <a16:creationId xmlns:a16="http://schemas.microsoft.com/office/drawing/2014/main" id="{3E091C6D-0066-49DC-972C-452BFC402523}"/>
              </a:ext>
            </a:extLst>
          </p:cNvPr>
          <p:cNvPicPr>
            <a:picLocks noChangeAspect="1"/>
          </p:cNvPicPr>
          <p:nvPr/>
        </p:nvPicPr>
        <p:blipFill>
          <a:blip r:embed="rId2"/>
          <a:stretch>
            <a:fillRect/>
          </a:stretch>
        </p:blipFill>
        <p:spPr>
          <a:xfrm>
            <a:off x="0" y="2715766"/>
            <a:ext cx="9144000" cy="2049250"/>
          </a:xfrm>
          <a:prstGeom prst="rect">
            <a:avLst/>
          </a:prstGeom>
        </p:spPr>
      </p:pic>
    </p:spTree>
    <p:extLst>
      <p:ext uri="{BB962C8B-B14F-4D97-AF65-F5344CB8AC3E}">
        <p14:creationId xmlns:p14="http://schemas.microsoft.com/office/powerpoint/2010/main" val="32596689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连接操作定义</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a:xfrm>
            <a:off x="457200" y="1200151"/>
            <a:ext cx="8229600" cy="1803647"/>
          </a:xfrm>
        </p:spPr>
        <p:txBody>
          <a:bodyPr>
            <a:normAutofit fontScale="70000" lnSpcReduction="20000"/>
          </a:bodyPr>
          <a:lstStyle/>
          <a:p>
            <a:r>
              <a:rPr lang="zh-CN" altLang="en-US" dirty="0"/>
              <a:t>外连接</a:t>
            </a:r>
          </a:p>
          <a:p>
            <a:pPr lvl="1"/>
            <a:r>
              <a:rPr lang="zh-CN" altLang="en-US" dirty="0"/>
              <a:t>使用内连接时，当碰到无法匹配的数据时便把数据丢弃，而使用外连接，则按照规则保留相关数据项。左外连接操作时，若连接操作为“</a:t>
            </a:r>
            <a:r>
              <a:rPr lang="en-US" altLang="zh-CN" dirty="0"/>
              <a:t>A</a:t>
            </a:r>
            <a:r>
              <a:rPr lang="zh-CN" altLang="en-US" dirty="0"/>
              <a:t>连接</a:t>
            </a:r>
            <a:r>
              <a:rPr lang="en-US" altLang="zh-CN" dirty="0"/>
              <a:t>B”</a:t>
            </a:r>
            <a:r>
              <a:rPr lang="zh-CN" altLang="en-US" dirty="0"/>
              <a:t>，则保留</a:t>
            </a:r>
            <a:r>
              <a:rPr lang="en-US" altLang="zh-CN" dirty="0"/>
              <a:t>A</a:t>
            </a:r>
            <a:r>
              <a:rPr lang="zh-CN" altLang="en-US" dirty="0"/>
              <a:t>中无法匹配的元素；右外连接操作时，若连接操作为“</a:t>
            </a:r>
            <a:r>
              <a:rPr lang="en-US" altLang="zh-CN" dirty="0"/>
              <a:t>A</a:t>
            </a:r>
            <a:r>
              <a:rPr lang="zh-CN" altLang="en-US" dirty="0"/>
              <a:t>连接</a:t>
            </a:r>
            <a:r>
              <a:rPr lang="en-US" altLang="zh-CN" dirty="0"/>
              <a:t>B”</a:t>
            </a:r>
            <a:r>
              <a:rPr lang="zh-CN" altLang="en-US" dirty="0"/>
              <a:t>，则保留</a:t>
            </a:r>
            <a:r>
              <a:rPr lang="en-US" altLang="zh-CN" dirty="0"/>
              <a:t>B</a:t>
            </a:r>
            <a:r>
              <a:rPr lang="zh-CN" altLang="en-US" dirty="0"/>
              <a:t>中无法匹配的元素；全外连接则保留</a:t>
            </a:r>
            <a:r>
              <a:rPr lang="en-US" altLang="zh-CN" dirty="0"/>
              <a:t>A</a:t>
            </a:r>
            <a:r>
              <a:rPr lang="zh-CN" altLang="en-US" dirty="0"/>
              <a:t>、</a:t>
            </a:r>
            <a:r>
              <a:rPr lang="en-US" altLang="zh-CN" dirty="0"/>
              <a:t>B</a:t>
            </a:r>
            <a:r>
              <a:rPr lang="zh-CN" altLang="en-US" dirty="0"/>
              <a:t>中所有无法匹配的记录。</a:t>
            </a:r>
          </a:p>
        </p:txBody>
      </p:sp>
    </p:spTree>
    <p:extLst>
      <p:ext uri="{BB962C8B-B14F-4D97-AF65-F5344CB8AC3E}">
        <p14:creationId xmlns:p14="http://schemas.microsoft.com/office/powerpoint/2010/main" val="18437406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连接操作定义</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lstStyle/>
          <a:p>
            <a:endParaRPr lang="zh-CN" altLang="en-US" dirty="0"/>
          </a:p>
        </p:txBody>
      </p:sp>
      <p:pic>
        <p:nvPicPr>
          <p:cNvPr id="3" name="图片 2">
            <a:extLst>
              <a:ext uri="{FF2B5EF4-FFF2-40B4-BE49-F238E27FC236}">
                <a16:creationId xmlns:a16="http://schemas.microsoft.com/office/drawing/2014/main" id="{47938D5D-4564-41A7-9420-F9F1511E50C4}"/>
              </a:ext>
            </a:extLst>
          </p:cNvPr>
          <p:cNvPicPr>
            <a:picLocks noChangeAspect="1"/>
          </p:cNvPicPr>
          <p:nvPr/>
        </p:nvPicPr>
        <p:blipFill>
          <a:blip r:embed="rId2"/>
          <a:stretch>
            <a:fillRect/>
          </a:stretch>
        </p:blipFill>
        <p:spPr>
          <a:xfrm>
            <a:off x="611560" y="843558"/>
            <a:ext cx="7596336" cy="4260889"/>
          </a:xfrm>
          <a:prstGeom prst="rect">
            <a:avLst/>
          </a:prstGeom>
        </p:spPr>
      </p:pic>
    </p:spTree>
    <p:extLst>
      <p:ext uri="{BB962C8B-B14F-4D97-AF65-F5344CB8AC3E}">
        <p14:creationId xmlns:p14="http://schemas.microsoft.com/office/powerpoint/2010/main" val="37378572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3EEE14-EB0A-4472-973B-65943B6FE62A}"/>
              </a:ext>
            </a:extLst>
          </p:cNvPr>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连接操作定义</a:t>
            </a:r>
          </a:p>
        </p:txBody>
      </p:sp>
      <p:sp>
        <p:nvSpPr>
          <p:cNvPr id="3" name="内容占位符 2">
            <a:extLst>
              <a:ext uri="{FF2B5EF4-FFF2-40B4-BE49-F238E27FC236}">
                <a16:creationId xmlns:a16="http://schemas.microsoft.com/office/drawing/2014/main" id="{EA5A8448-C994-4FF2-9AE0-1AF23C177BF6}"/>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299538FD-F47A-4BC9-B7FA-B5D0C5F0994C}"/>
              </a:ext>
            </a:extLst>
          </p:cNvPr>
          <p:cNvPicPr>
            <a:picLocks noChangeAspect="1"/>
          </p:cNvPicPr>
          <p:nvPr/>
        </p:nvPicPr>
        <p:blipFill>
          <a:blip r:embed="rId2"/>
          <a:stretch>
            <a:fillRect/>
          </a:stretch>
        </p:blipFill>
        <p:spPr>
          <a:xfrm>
            <a:off x="174884" y="1347614"/>
            <a:ext cx="8794231" cy="2856820"/>
          </a:xfrm>
          <a:prstGeom prst="rect">
            <a:avLst/>
          </a:prstGeom>
        </p:spPr>
      </p:pic>
    </p:spTree>
    <p:extLst>
      <p:ext uri="{BB962C8B-B14F-4D97-AF65-F5344CB8AC3E}">
        <p14:creationId xmlns:p14="http://schemas.microsoft.com/office/powerpoint/2010/main" val="22555929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76EF90-4695-46C2-B25A-F649EE1BD033}"/>
              </a:ext>
            </a:extLst>
          </p:cNvPr>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连接操作定义</a:t>
            </a:r>
          </a:p>
        </p:txBody>
      </p:sp>
      <p:sp>
        <p:nvSpPr>
          <p:cNvPr id="3" name="内容占位符 2">
            <a:extLst>
              <a:ext uri="{FF2B5EF4-FFF2-40B4-BE49-F238E27FC236}">
                <a16:creationId xmlns:a16="http://schemas.microsoft.com/office/drawing/2014/main" id="{EA53137D-712B-4C05-B68F-BE26A332DEAC}"/>
              </a:ext>
            </a:extLst>
          </p:cNvPr>
          <p:cNvSpPr>
            <a:spLocks noGrp="1"/>
          </p:cNvSpPr>
          <p:nvPr>
            <p:ph idx="1"/>
          </p:nvPr>
        </p:nvSpPr>
        <p:spPr>
          <a:xfrm>
            <a:off x="316560" y="915566"/>
            <a:ext cx="8229600" cy="831903"/>
          </a:xfrm>
        </p:spPr>
        <p:txBody>
          <a:bodyPr>
            <a:normAutofit fontScale="62500" lnSpcReduction="20000"/>
          </a:bodyPr>
          <a:lstStyle/>
          <a:p>
            <a:r>
              <a:rPr lang="zh-CN" altLang="en-US" dirty="0"/>
              <a:t>笛卡尔积</a:t>
            </a:r>
          </a:p>
          <a:p>
            <a:pPr lvl="1"/>
            <a:r>
              <a:rPr lang="zh-CN" altLang="en-US" dirty="0"/>
              <a:t>笛卡尔积操作</a:t>
            </a:r>
            <a:r>
              <a:rPr lang="en-US" altLang="zh-CN" dirty="0"/>
              <a:t>A×B</a:t>
            </a:r>
            <a:r>
              <a:rPr lang="zh-CN" altLang="en-US" dirty="0"/>
              <a:t>则是把数据集</a:t>
            </a:r>
            <a:r>
              <a:rPr lang="en-US" altLang="zh-CN" dirty="0"/>
              <a:t>A</a:t>
            </a:r>
            <a:r>
              <a:rPr lang="zh-CN" altLang="en-US" dirty="0"/>
              <a:t>中的所有记录与数据集</a:t>
            </a:r>
            <a:r>
              <a:rPr lang="en-US" altLang="zh-CN" dirty="0"/>
              <a:t>B</a:t>
            </a:r>
            <a:r>
              <a:rPr lang="zh-CN" altLang="en-US" dirty="0"/>
              <a:t>中的所有记录进行匹配，从而得到新的数据集。</a:t>
            </a:r>
          </a:p>
          <a:p>
            <a:endParaRPr lang="zh-CN" altLang="en-US" dirty="0"/>
          </a:p>
        </p:txBody>
      </p:sp>
      <p:pic>
        <p:nvPicPr>
          <p:cNvPr id="4" name="图片 3">
            <a:extLst>
              <a:ext uri="{FF2B5EF4-FFF2-40B4-BE49-F238E27FC236}">
                <a16:creationId xmlns:a16="http://schemas.microsoft.com/office/drawing/2014/main" id="{C54A6D61-98BF-4D01-9E41-C3D48482FAE6}"/>
              </a:ext>
            </a:extLst>
          </p:cNvPr>
          <p:cNvPicPr>
            <a:picLocks noChangeAspect="1"/>
          </p:cNvPicPr>
          <p:nvPr/>
        </p:nvPicPr>
        <p:blipFill>
          <a:blip r:embed="rId2"/>
          <a:stretch>
            <a:fillRect/>
          </a:stretch>
        </p:blipFill>
        <p:spPr>
          <a:xfrm>
            <a:off x="439697" y="1675461"/>
            <a:ext cx="8101382" cy="3471047"/>
          </a:xfrm>
          <a:prstGeom prst="rect">
            <a:avLst/>
          </a:prstGeom>
        </p:spPr>
      </p:pic>
    </p:spTree>
    <p:extLst>
      <p:ext uri="{BB962C8B-B14F-4D97-AF65-F5344CB8AC3E}">
        <p14:creationId xmlns:p14="http://schemas.microsoft.com/office/powerpoint/2010/main" val="26479458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内连接操作</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85000" lnSpcReduction="20000"/>
          </a:bodyPr>
          <a:lstStyle/>
          <a:p>
            <a:r>
              <a:rPr lang="zh-CN" altLang="en-US" dirty="0"/>
              <a:t>在进行连接操作的过程中，程序会读取所要连接的数据，并以连接操作键值为关键字输出数据；</a:t>
            </a:r>
            <a:r>
              <a:rPr lang="en-US" altLang="zh-CN" dirty="0"/>
              <a:t>mapper</a:t>
            </a:r>
            <a:r>
              <a:rPr lang="zh-CN" altLang="en-US" dirty="0"/>
              <a:t>输出数据经过</a:t>
            </a:r>
            <a:r>
              <a:rPr lang="en-US" altLang="zh-CN" dirty="0"/>
              <a:t>reducer</a:t>
            </a:r>
            <a:r>
              <a:rPr lang="zh-CN" altLang="en-US" dirty="0"/>
              <a:t>前的排序，可以使得具有相同连接操作键值的数据形成连续的输入序列；最后，在该连续输入序列的基础上进行连接操作并输出最后结果。</a:t>
            </a:r>
            <a:endParaRPr lang="en-US" altLang="zh-CN" dirty="0"/>
          </a:p>
          <a:p>
            <a:r>
              <a:rPr lang="zh-CN" altLang="en-US" dirty="0"/>
              <a:t>需要注意的是，为了能够在</a:t>
            </a:r>
            <a:r>
              <a:rPr lang="en-US" altLang="zh-CN" dirty="0"/>
              <a:t>reducer</a:t>
            </a:r>
            <a:r>
              <a:rPr lang="zh-CN" altLang="en-US" dirty="0"/>
              <a:t>阶段区分数据记录的来源，在</a:t>
            </a:r>
            <a:r>
              <a:rPr lang="en-US" altLang="zh-CN" dirty="0"/>
              <a:t>mapper</a:t>
            </a:r>
            <a:r>
              <a:rPr lang="zh-CN" altLang="en-US" dirty="0"/>
              <a:t>输出数据时需要为两个数据集来源的数据分别加上标识以便于区分。</a:t>
            </a:r>
          </a:p>
        </p:txBody>
      </p:sp>
    </p:spTree>
    <p:extLst>
      <p:ext uri="{BB962C8B-B14F-4D97-AF65-F5344CB8AC3E}">
        <p14:creationId xmlns:p14="http://schemas.microsoft.com/office/powerpoint/2010/main" val="4392573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内连接操作</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lstStyle/>
          <a:p>
            <a:endParaRPr lang="zh-CN" altLang="en-US" dirty="0"/>
          </a:p>
        </p:txBody>
      </p:sp>
      <p:pic>
        <p:nvPicPr>
          <p:cNvPr id="3" name="图片 2">
            <a:extLst>
              <a:ext uri="{FF2B5EF4-FFF2-40B4-BE49-F238E27FC236}">
                <a16:creationId xmlns:a16="http://schemas.microsoft.com/office/drawing/2014/main" id="{F99E1318-8ACD-4E96-ACA4-57DA0CC7D14D}"/>
              </a:ext>
            </a:extLst>
          </p:cNvPr>
          <p:cNvPicPr>
            <a:picLocks noChangeAspect="1"/>
          </p:cNvPicPr>
          <p:nvPr/>
        </p:nvPicPr>
        <p:blipFill>
          <a:blip r:embed="rId2"/>
          <a:stretch>
            <a:fillRect/>
          </a:stretch>
        </p:blipFill>
        <p:spPr>
          <a:xfrm>
            <a:off x="1153649" y="0"/>
            <a:ext cx="6836702" cy="5143500"/>
          </a:xfrm>
          <a:prstGeom prst="rect">
            <a:avLst/>
          </a:prstGeom>
        </p:spPr>
      </p:pic>
    </p:spTree>
    <p:extLst>
      <p:ext uri="{BB962C8B-B14F-4D97-AF65-F5344CB8AC3E}">
        <p14:creationId xmlns:p14="http://schemas.microsoft.com/office/powerpoint/2010/main" val="22526200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内连接操作</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lstStyle/>
          <a:p>
            <a:endParaRPr lang="zh-CN" altLang="en-US" dirty="0"/>
          </a:p>
        </p:txBody>
      </p:sp>
      <p:pic>
        <p:nvPicPr>
          <p:cNvPr id="3" name="图片 2">
            <a:extLst>
              <a:ext uri="{FF2B5EF4-FFF2-40B4-BE49-F238E27FC236}">
                <a16:creationId xmlns:a16="http://schemas.microsoft.com/office/drawing/2014/main" id="{D33A75AB-8AA5-4DA6-842D-2888F4636E4D}"/>
              </a:ext>
            </a:extLst>
          </p:cNvPr>
          <p:cNvPicPr>
            <a:picLocks noChangeAspect="1"/>
          </p:cNvPicPr>
          <p:nvPr/>
        </p:nvPicPr>
        <p:blipFill>
          <a:blip r:embed="rId2"/>
          <a:stretch>
            <a:fillRect/>
          </a:stretch>
        </p:blipFill>
        <p:spPr>
          <a:xfrm>
            <a:off x="1146187" y="0"/>
            <a:ext cx="6851626" cy="5143500"/>
          </a:xfrm>
          <a:prstGeom prst="rect">
            <a:avLst/>
          </a:prstGeom>
        </p:spPr>
      </p:pic>
    </p:spTree>
    <p:extLst>
      <p:ext uri="{BB962C8B-B14F-4D97-AF65-F5344CB8AC3E}">
        <p14:creationId xmlns:p14="http://schemas.microsoft.com/office/powerpoint/2010/main" val="22808938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内连接操作</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lstStyle/>
          <a:p>
            <a:endParaRPr lang="zh-CN" altLang="en-US" dirty="0"/>
          </a:p>
        </p:txBody>
      </p:sp>
      <p:pic>
        <p:nvPicPr>
          <p:cNvPr id="3" name="图片 2">
            <a:extLst>
              <a:ext uri="{FF2B5EF4-FFF2-40B4-BE49-F238E27FC236}">
                <a16:creationId xmlns:a16="http://schemas.microsoft.com/office/drawing/2014/main" id="{D7F81D39-F7AB-49F3-998A-3B7C59642F31}"/>
              </a:ext>
            </a:extLst>
          </p:cNvPr>
          <p:cNvPicPr>
            <a:picLocks noChangeAspect="1"/>
          </p:cNvPicPr>
          <p:nvPr/>
        </p:nvPicPr>
        <p:blipFill>
          <a:blip r:embed="rId2"/>
          <a:stretch>
            <a:fillRect/>
          </a:stretch>
        </p:blipFill>
        <p:spPr>
          <a:xfrm>
            <a:off x="746820" y="0"/>
            <a:ext cx="7650359" cy="5143500"/>
          </a:xfrm>
          <a:prstGeom prst="rect">
            <a:avLst/>
          </a:prstGeom>
        </p:spPr>
      </p:pic>
    </p:spTree>
    <p:extLst>
      <p:ext uri="{BB962C8B-B14F-4D97-AF65-F5344CB8AC3E}">
        <p14:creationId xmlns:p14="http://schemas.microsoft.com/office/powerpoint/2010/main" val="21300783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数据连接模式</a:t>
            </a:r>
            <a:r>
              <a:rPr lang="en-US" altLang="zh-CN" dirty="0"/>
              <a:t>--</a:t>
            </a:r>
            <a:r>
              <a:rPr lang="zh-CN" altLang="en-US" dirty="0"/>
              <a:t>内连接操作实现</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77500" lnSpcReduction="20000"/>
          </a:bodyPr>
          <a:lstStyle/>
          <a:p>
            <a:r>
              <a:rPr lang="zh-CN" altLang="en-US" dirty="0"/>
              <a:t>任务：空气质量数据完整信息构造与输出</a:t>
            </a:r>
          </a:p>
          <a:p>
            <a:pPr lvl="1"/>
            <a:r>
              <a:rPr lang="zh-CN" altLang="en-US" dirty="0"/>
              <a:t>在上述站点数据中进行查询，输出福州地区所有站点的空气质量数据，以作为对福州地区空气质量进行针对性研究的数据基础。后续查询以两个数据集连接操作结果为基础。</a:t>
            </a:r>
          </a:p>
          <a:p>
            <a:pPr lvl="1"/>
            <a:r>
              <a:rPr lang="zh-CN" altLang="en-US" dirty="0"/>
              <a:t>输入：站点监测数据集以及站点列表。</a:t>
            </a:r>
          </a:p>
          <a:p>
            <a:pPr lvl="1"/>
            <a:r>
              <a:rPr lang="zh-CN" altLang="en-US" dirty="0"/>
              <a:t>输出：空气质量站点检测数据，其中站点信息完整。</a:t>
            </a:r>
          </a:p>
          <a:p>
            <a:r>
              <a:rPr lang="zh-CN" altLang="en-US" dirty="0"/>
              <a:t>需要注意的是，在该任务中，只需要输出福州地区的站点监测数据，所以，还需要在</a:t>
            </a:r>
            <a:r>
              <a:rPr lang="en-US" altLang="zh-CN" dirty="0"/>
              <a:t>mapper</a:t>
            </a:r>
            <a:r>
              <a:rPr lang="zh-CN" altLang="en-US" dirty="0"/>
              <a:t>中进行数据过滤，以减少需要传输和连接的数据量，即把投影提到连接前完成。</a:t>
            </a:r>
          </a:p>
          <a:p>
            <a:endParaRPr lang="zh-CN" altLang="en-US" dirty="0"/>
          </a:p>
        </p:txBody>
      </p:sp>
    </p:spTree>
    <p:extLst>
      <p:ext uri="{BB962C8B-B14F-4D97-AF65-F5344CB8AC3E}">
        <p14:creationId xmlns:p14="http://schemas.microsoft.com/office/powerpoint/2010/main" val="41558634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709" y="51470"/>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65387" y="1178404"/>
            <a:ext cx="4441513" cy="1200329"/>
          </a:xfrm>
          <a:prstGeom prst="rect">
            <a:avLst/>
          </a:prstGeom>
          <a:noFill/>
        </p:spPr>
        <p:txBody>
          <a:bodyPr wrap="square">
            <a:spAutoFit/>
          </a:bodyPr>
          <a:lstStyle/>
          <a:p>
            <a:r>
              <a:rPr lang="zh-CN" altLang="en-US" sz="36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用</a:t>
            </a:r>
            <a:r>
              <a:rPr lang="en-US" altLang="zh-CN" sz="36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MRJob</a:t>
            </a:r>
            <a:r>
              <a:rPr lang="zh-CN" altLang="en-US" sz="36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库</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编写</a:t>
            </a:r>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MapReduce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程序</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a:solidFill>
                  <a:srgbClr val="00B0F0"/>
                </a:solidFill>
                <a:latin typeface="IrisUPC" panose="020B0604020202020204" pitchFamily="34" charset="-34"/>
                <a:cs typeface="IrisUPC" panose="020B0604020202020204" pitchFamily="34" charset="-34"/>
              </a:rPr>
              <a:t>06</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9005540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用</a:t>
            </a:r>
            <a:r>
              <a:rPr lang="en-US" altLang="zh-CN"/>
              <a:t>MRJob</a:t>
            </a:r>
            <a:r>
              <a:rPr lang="zh-CN" altLang="en-US"/>
              <a:t>库</a:t>
            </a:r>
            <a:r>
              <a:rPr lang="zh-CN" altLang="en-US" dirty="0"/>
              <a:t>编写</a:t>
            </a:r>
            <a:r>
              <a:rPr lang="en-US" altLang="zh-CN" dirty="0"/>
              <a:t>MapReduce</a:t>
            </a:r>
            <a:r>
              <a:rPr lang="zh-CN" altLang="en-US" dirty="0"/>
              <a:t>程序</a:t>
            </a:r>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70000" lnSpcReduction="20000"/>
          </a:bodyPr>
          <a:lstStyle/>
          <a:p>
            <a:r>
              <a:rPr lang="en-US" altLang="zh-CN" dirty="0" err="1"/>
              <a:t>MRJob</a:t>
            </a:r>
            <a:r>
              <a:rPr lang="zh-CN" altLang="en-US" dirty="0"/>
              <a:t>是一个</a:t>
            </a:r>
            <a:r>
              <a:rPr lang="en-US" altLang="zh-CN" dirty="0"/>
              <a:t>Python</a:t>
            </a:r>
            <a:r>
              <a:rPr lang="zh-CN" altLang="en-US" dirty="0"/>
              <a:t>库，实现了</a:t>
            </a:r>
            <a:r>
              <a:rPr lang="en-US" altLang="zh-CN" dirty="0"/>
              <a:t>Hadoop</a:t>
            </a:r>
            <a:r>
              <a:rPr lang="zh-CN" altLang="en-US" dirty="0"/>
              <a:t>的</a:t>
            </a:r>
            <a:r>
              <a:rPr lang="en-US" altLang="zh-CN" dirty="0"/>
              <a:t>MapReduce</a:t>
            </a:r>
            <a:r>
              <a:rPr lang="zh-CN" altLang="en-US" dirty="0"/>
              <a:t>操作。它封装了</a:t>
            </a:r>
            <a:r>
              <a:rPr lang="en-US" altLang="zh-CN" dirty="0"/>
              <a:t>Hadoop streaming</a:t>
            </a:r>
            <a:r>
              <a:rPr lang="zh-CN" altLang="en-US" dirty="0"/>
              <a:t>，可以用全</a:t>
            </a:r>
            <a:r>
              <a:rPr lang="en-US" altLang="zh-CN" dirty="0"/>
              <a:t>Python</a:t>
            </a:r>
            <a:r>
              <a:rPr lang="zh-CN" altLang="en-US" dirty="0"/>
              <a:t>脚本实现</a:t>
            </a:r>
            <a:r>
              <a:rPr lang="en-US" altLang="zh-CN" dirty="0"/>
              <a:t>Hadoop MapReduce</a:t>
            </a:r>
            <a:r>
              <a:rPr lang="zh-CN" altLang="en-US" dirty="0"/>
              <a:t>计算，甚至可以在没有</a:t>
            </a:r>
            <a:r>
              <a:rPr lang="en-US" altLang="zh-CN" dirty="0"/>
              <a:t>Hadoop</a:t>
            </a:r>
            <a:r>
              <a:rPr lang="zh-CN" altLang="en-US" dirty="0"/>
              <a:t>的环境下完成测试，并允许用户将</a:t>
            </a:r>
            <a:r>
              <a:rPr lang="en-US" altLang="zh-CN" dirty="0"/>
              <a:t>mapper</a:t>
            </a:r>
            <a:r>
              <a:rPr lang="zh-CN" altLang="en-US" dirty="0"/>
              <a:t>和</a:t>
            </a:r>
            <a:r>
              <a:rPr lang="en-US" altLang="zh-CN" dirty="0"/>
              <a:t>reducer</a:t>
            </a:r>
            <a:r>
              <a:rPr lang="zh-CN" altLang="en-US" dirty="0"/>
              <a:t>写进一个类里。以下是</a:t>
            </a:r>
            <a:r>
              <a:rPr lang="en-US" altLang="zh-CN" dirty="0" err="1"/>
              <a:t>MRJob</a:t>
            </a:r>
            <a:r>
              <a:rPr lang="zh-CN" altLang="en-US" dirty="0"/>
              <a:t>的一些特性，这些特性使得利用</a:t>
            </a:r>
            <a:r>
              <a:rPr lang="en-US" altLang="zh-CN" dirty="0" err="1"/>
              <a:t>MRJob</a:t>
            </a:r>
            <a:r>
              <a:rPr lang="zh-CN" altLang="en-US" dirty="0"/>
              <a:t>编写</a:t>
            </a:r>
            <a:r>
              <a:rPr lang="en-US" altLang="zh-CN" dirty="0"/>
              <a:t>MapReduce</a:t>
            </a:r>
            <a:r>
              <a:rPr lang="zh-CN" altLang="en-US" dirty="0"/>
              <a:t>作业更容易：</a:t>
            </a:r>
          </a:p>
          <a:p>
            <a:pPr lvl="1"/>
            <a:r>
              <a:rPr lang="zh-CN" altLang="en-US" dirty="0"/>
              <a:t>将一个作业的所有</a:t>
            </a:r>
            <a:r>
              <a:rPr lang="en-US" altLang="zh-CN" dirty="0"/>
              <a:t>MapReduce</a:t>
            </a:r>
            <a:r>
              <a:rPr lang="zh-CN" altLang="en-US" dirty="0"/>
              <a:t>代码保存在一个类中；</a:t>
            </a:r>
          </a:p>
          <a:p>
            <a:pPr lvl="1"/>
            <a:r>
              <a:rPr lang="zh-CN" altLang="en-US" dirty="0"/>
              <a:t>易于上载和安装程序代码和数据依赖项；</a:t>
            </a:r>
          </a:p>
          <a:p>
            <a:pPr lvl="1"/>
            <a:r>
              <a:rPr lang="zh-CN" altLang="en-US" dirty="0"/>
              <a:t>简单的一行代码便可实现输入和输出格式的切换；</a:t>
            </a:r>
          </a:p>
          <a:p>
            <a:pPr lvl="1"/>
            <a:r>
              <a:rPr lang="zh-CN" altLang="en-US" dirty="0"/>
              <a:t>自动下载并分析</a:t>
            </a:r>
            <a:r>
              <a:rPr lang="en-US" altLang="zh-CN" dirty="0"/>
              <a:t>Python</a:t>
            </a:r>
            <a:r>
              <a:rPr lang="zh-CN" altLang="en-US" dirty="0"/>
              <a:t>执行的错误日志；</a:t>
            </a:r>
          </a:p>
          <a:p>
            <a:pPr lvl="1"/>
            <a:r>
              <a:rPr lang="zh-CN" altLang="en-US" dirty="0"/>
              <a:t>允许在</a:t>
            </a:r>
            <a:r>
              <a:rPr lang="en-US" altLang="zh-CN" dirty="0"/>
              <a:t>Python</a:t>
            </a:r>
            <a:r>
              <a:rPr lang="zh-CN" altLang="en-US" dirty="0"/>
              <a:t>代码之前或之后放置命令行过滤器。</a:t>
            </a:r>
          </a:p>
          <a:p>
            <a:endParaRPr lang="zh-CN" altLang="en-US" dirty="0"/>
          </a:p>
        </p:txBody>
      </p:sp>
    </p:spTree>
    <p:extLst>
      <p:ext uri="{BB962C8B-B14F-4D97-AF65-F5344CB8AC3E}">
        <p14:creationId xmlns:p14="http://schemas.microsoft.com/office/powerpoint/2010/main" val="41628577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173C5-B2AB-4B24-A8DA-F3428479798B}"/>
              </a:ext>
            </a:extLst>
          </p:cNvPr>
          <p:cNvSpPr>
            <a:spLocks noGrp="1"/>
          </p:cNvSpPr>
          <p:nvPr>
            <p:ph type="title"/>
          </p:nvPr>
        </p:nvSpPr>
        <p:spPr/>
        <p:txBody>
          <a:bodyPr>
            <a:normAutofit fontScale="90000"/>
          </a:bodyPr>
          <a:lstStyle/>
          <a:p>
            <a:r>
              <a:rPr lang="zh-CN" altLang="en-US" dirty="0"/>
              <a:t>第一个</a:t>
            </a:r>
            <a:r>
              <a:rPr lang="en-US" altLang="zh-CN" dirty="0" err="1"/>
              <a:t>MRJob</a:t>
            </a:r>
            <a:r>
              <a:rPr lang="zh-CN" altLang="en-US" dirty="0"/>
              <a:t>程序</a:t>
            </a:r>
          </a:p>
        </p:txBody>
      </p:sp>
      <p:sp>
        <p:nvSpPr>
          <p:cNvPr id="3" name="内容占位符 2">
            <a:extLst>
              <a:ext uri="{FF2B5EF4-FFF2-40B4-BE49-F238E27FC236}">
                <a16:creationId xmlns:a16="http://schemas.microsoft.com/office/drawing/2014/main" id="{428B8D0E-C43B-422A-96AE-04DF84BC5DE7}"/>
              </a:ext>
            </a:extLst>
          </p:cNvPr>
          <p:cNvSpPr>
            <a:spLocks noGrp="1"/>
          </p:cNvSpPr>
          <p:nvPr>
            <p:ph idx="1"/>
          </p:nvPr>
        </p:nvSpPr>
        <p:spPr/>
        <p:txBody>
          <a:bodyPr>
            <a:normAutofit fontScale="77500" lnSpcReduction="20000"/>
          </a:bodyPr>
          <a:lstStyle/>
          <a:p>
            <a:r>
              <a:rPr lang="zh-CN" altLang="en-US" dirty="0"/>
              <a:t>步骤</a:t>
            </a:r>
            <a:r>
              <a:rPr lang="en-US" altLang="zh-CN" dirty="0"/>
              <a:t>1</a:t>
            </a:r>
            <a:r>
              <a:rPr lang="zh-CN" altLang="en-US" dirty="0"/>
              <a:t>：安装</a:t>
            </a:r>
            <a:r>
              <a:rPr lang="en-US" altLang="zh-CN" dirty="0" err="1"/>
              <a:t>MRJob</a:t>
            </a:r>
            <a:endParaRPr lang="en-US" altLang="zh-CN" dirty="0"/>
          </a:p>
          <a:p>
            <a:pPr lvl="1"/>
            <a:r>
              <a:rPr lang="en-US" altLang="zh-CN" dirty="0" err="1"/>
              <a:t>MRJob</a:t>
            </a:r>
            <a:r>
              <a:rPr lang="zh-CN" altLang="en-US" dirty="0"/>
              <a:t>的安装由两种方式，一种是利用</a:t>
            </a:r>
            <a:r>
              <a:rPr lang="en-US" altLang="zh-CN" dirty="0"/>
              <a:t>pip</a:t>
            </a:r>
            <a:r>
              <a:rPr lang="zh-CN" altLang="en-US" dirty="0"/>
              <a:t>进行</a:t>
            </a:r>
            <a:r>
              <a:rPr lang="en-US" altLang="zh-CN" dirty="0" err="1"/>
              <a:t>MRJob</a:t>
            </a:r>
            <a:r>
              <a:rPr lang="zh-CN" altLang="en-US" dirty="0"/>
              <a:t>库的安装：</a:t>
            </a:r>
          </a:p>
          <a:p>
            <a:pPr marL="457200" lvl="1" indent="0">
              <a:buNone/>
            </a:pPr>
            <a:r>
              <a:rPr lang="en-US" altLang="zh-CN" dirty="0">
                <a:highlight>
                  <a:srgbClr val="C0C0C0"/>
                </a:highlight>
              </a:rPr>
              <a:t>$ pip install </a:t>
            </a:r>
            <a:r>
              <a:rPr lang="en-US" altLang="zh-CN" dirty="0" err="1">
                <a:highlight>
                  <a:srgbClr val="C0C0C0"/>
                </a:highlight>
              </a:rPr>
              <a:t>mrjob</a:t>
            </a:r>
            <a:r>
              <a:rPr lang="zh-CN" altLang="en-US" dirty="0">
                <a:highlight>
                  <a:srgbClr val="C0C0C0"/>
                </a:highlight>
              </a:rPr>
              <a:t>或</a:t>
            </a:r>
            <a:r>
              <a:rPr lang="en-US" altLang="zh-CN" dirty="0">
                <a:highlight>
                  <a:srgbClr val="C0C0C0"/>
                </a:highlight>
              </a:rPr>
              <a:t>pip3 install </a:t>
            </a:r>
            <a:r>
              <a:rPr lang="en-US" altLang="zh-CN" dirty="0" err="1">
                <a:highlight>
                  <a:srgbClr val="C0C0C0"/>
                </a:highlight>
              </a:rPr>
              <a:t>mrjob</a:t>
            </a:r>
            <a:endParaRPr lang="en-US" altLang="zh-CN" dirty="0">
              <a:highlight>
                <a:srgbClr val="C0C0C0"/>
              </a:highlight>
            </a:endParaRPr>
          </a:p>
          <a:p>
            <a:pPr lvl="1"/>
            <a:r>
              <a:rPr lang="zh-CN" altLang="en-US" dirty="0"/>
              <a:t>或者从</a:t>
            </a:r>
            <a:r>
              <a:rPr lang="en-US" altLang="zh-CN" dirty="0"/>
              <a:t>git</a:t>
            </a:r>
            <a:r>
              <a:rPr lang="zh-CN" altLang="en-US" dirty="0"/>
              <a:t>上下载源码再进行安装：</a:t>
            </a:r>
          </a:p>
          <a:p>
            <a:pPr marL="457200" lvl="1" indent="0">
              <a:buNone/>
            </a:pPr>
            <a:r>
              <a:rPr lang="en-US" altLang="zh-CN" dirty="0">
                <a:highlight>
                  <a:srgbClr val="C0C0C0"/>
                </a:highlight>
              </a:rPr>
              <a:t>$ python setup.py test &amp;&amp; python setup.py install</a:t>
            </a:r>
          </a:p>
          <a:p>
            <a:pPr lvl="1"/>
            <a:r>
              <a:rPr lang="zh-CN" altLang="en-US" dirty="0"/>
              <a:t>安装完成后，启动</a:t>
            </a:r>
            <a:r>
              <a:rPr lang="en-US" altLang="zh-CN" dirty="0"/>
              <a:t>Python</a:t>
            </a:r>
            <a:r>
              <a:rPr lang="zh-CN" altLang="en-US" dirty="0"/>
              <a:t>，并输入</a:t>
            </a:r>
            <a:r>
              <a:rPr lang="en-US" altLang="zh-CN" dirty="0"/>
              <a:t>import </a:t>
            </a:r>
            <a:r>
              <a:rPr lang="en-US" altLang="zh-CN" dirty="0" err="1"/>
              <a:t>mrjob</a:t>
            </a:r>
            <a:r>
              <a:rPr lang="zh-CN" altLang="en-US" dirty="0"/>
              <a:t>，若可以成功引入，则说明</a:t>
            </a:r>
            <a:r>
              <a:rPr lang="en-US" altLang="zh-CN" dirty="0"/>
              <a:t>Python</a:t>
            </a:r>
            <a:r>
              <a:rPr lang="zh-CN" altLang="en-US" dirty="0"/>
              <a:t>环境下已经成功引入</a:t>
            </a:r>
            <a:r>
              <a:rPr lang="en-US" altLang="zh-CN" dirty="0" err="1"/>
              <a:t>MRJob</a:t>
            </a:r>
            <a:r>
              <a:rPr lang="zh-CN" altLang="en-US" dirty="0"/>
              <a:t>。设置好</a:t>
            </a:r>
            <a:r>
              <a:rPr lang="en-US" altLang="zh-CN" dirty="0" err="1"/>
              <a:t>MRJob</a:t>
            </a:r>
            <a:r>
              <a:rPr lang="zh-CN" altLang="en-US" dirty="0"/>
              <a:t>后，接下来便可以编写第一个</a:t>
            </a:r>
            <a:r>
              <a:rPr lang="en-US" altLang="zh-CN" dirty="0" err="1"/>
              <a:t>MRJob</a:t>
            </a:r>
            <a:r>
              <a:rPr lang="zh-CN" altLang="en-US" dirty="0"/>
              <a:t>程序了。</a:t>
            </a:r>
          </a:p>
          <a:p>
            <a:endParaRPr lang="zh-CN" altLang="en-US" dirty="0"/>
          </a:p>
        </p:txBody>
      </p:sp>
    </p:spTree>
    <p:extLst>
      <p:ext uri="{BB962C8B-B14F-4D97-AF65-F5344CB8AC3E}">
        <p14:creationId xmlns:p14="http://schemas.microsoft.com/office/powerpoint/2010/main" val="27825959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173C5-B2AB-4B24-A8DA-F3428479798B}"/>
              </a:ext>
            </a:extLst>
          </p:cNvPr>
          <p:cNvSpPr>
            <a:spLocks noGrp="1"/>
          </p:cNvSpPr>
          <p:nvPr>
            <p:ph type="title"/>
          </p:nvPr>
        </p:nvSpPr>
        <p:spPr/>
        <p:txBody>
          <a:bodyPr>
            <a:normAutofit fontScale="90000"/>
          </a:bodyPr>
          <a:lstStyle/>
          <a:p>
            <a:r>
              <a:rPr lang="zh-CN" altLang="en-US" dirty="0"/>
              <a:t>第一个</a:t>
            </a:r>
            <a:r>
              <a:rPr lang="en-US" altLang="zh-CN" dirty="0" err="1"/>
              <a:t>MRJob</a:t>
            </a:r>
            <a:r>
              <a:rPr lang="zh-CN" altLang="en-US" dirty="0"/>
              <a:t>程序</a:t>
            </a:r>
          </a:p>
        </p:txBody>
      </p:sp>
      <p:sp>
        <p:nvSpPr>
          <p:cNvPr id="3" name="内容占位符 2">
            <a:extLst>
              <a:ext uri="{FF2B5EF4-FFF2-40B4-BE49-F238E27FC236}">
                <a16:creationId xmlns:a16="http://schemas.microsoft.com/office/drawing/2014/main" id="{428B8D0E-C43B-422A-96AE-04DF84BC5DE7}"/>
              </a:ext>
            </a:extLst>
          </p:cNvPr>
          <p:cNvSpPr>
            <a:spLocks noGrp="1"/>
          </p:cNvSpPr>
          <p:nvPr>
            <p:ph idx="1"/>
          </p:nvPr>
        </p:nvSpPr>
        <p:spPr>
          <a:xfrm>
            <a:off x="457200" y="1200151"/>
            <a:ext cx="8229600" cy="939551"/>
          </a:xfrm>
        </p:spPr>
        <p:txBody>
          <a:bodyPr>
            <a:normAutofit fontScale="70000" lnSpcReduction="20000"/>
          </a:bodyPr>
          <a:lstStyle/>
          <a:p>
            <a:r>
              <a:rPr lang="zh-CN" altLang="en-US" dirty="0"/>
              <a:t>步骤</a:t>
            </a:r>
            <a:r>
              <a:rPr lang="en-US" altLang="zh-CN" dirty="0"/>
              <a:t>2</a:t>
            </a:r>
            <a:r>
              <a:rPr lang="zh-CN" altLang="en-US" dirty="0"/>
              <a:t>：编写</a:t>
            </a:r>
            <a:r>
              <a:rPr lang="en-US" altLang="zh-CN" dirty="0" err="1"/>
              <a:t>MRJob</a:t>
            </a:r>
            <a:r>
              <a:rPr lang="zh-CN" altLang="en-US" dirty="0"/>
              <a:t>程序</a:t>
            </a:r>
          </a:p>
          <a:p>
            <a:pPr lvl="1"/>
            <a:r>
              <a:rPr lang="zh-CN" altLang="en-US" dirty="0"/>
              <a:t>作为第一个</a:t>
            </a:r>
            <a:r>
              <a:rPr lang="en-US" altLang="zh-CN" dirty="0" err="1"/>
              <a:t>MRJob</a:t>
            </a:r>
            <a:r>
              <a:rPr lang="zh-CN" altLang="en-US" dirty="0"/>
              <a:t>程序，我们还是以</a:t>
            </a:r>
            <a:r>
              <a:rPr lang="en-US" altLang="zh-CN" dirty="0" err="1"/>
              <a:t>wordCount</a:t>
            </a:r>
            <a:r>
              <a:rPr lang="zh-CN" altLang="en-US" dirty="0"/>
              <a:t>为例。首先，建立文件</a:t>
            </a:r>
            <a:r>
              <a:rPr lang="en-US" altLang="zh-CN" dirty="0"/>
              <a:t>mr_word_count.py</a:t>
            </a:r>
            <a:r>
              <a:rPr lang="zh-CN" altLang="en-US" dirty="0"/>
              <a:t>，并输入如下</a:t>
            </a:r>
            <a:r>
              <a:rPr lang="en-US" altLang="zh-CN" dirty="0"/>
              <a:t>Python</a:t>
            </a:r>
            <a:r>
              <a:rPr lang="zh-CN" altLang="en-US" dirty="0"/>
              <a:t>代码。</a:t>
            </a:r>
          </a:p>
          <a:p>
            <a:endParaRPr lang="zh-CN" altLang="en-US" dirty="0"/>
          </a:p>
        </p:txBody>
      </p:sp>
      <p:pic>
        <p:nvPicPr>
          <p:cNvPr id="4" name="图片 3">
            <a:extLst>
              <a:ext uri="{FF2B5EF4-FFF2-40B4-BE49-F238E27FC236}">
                <a16:creationId xmlns:a16="http://schemas.microsoft.com/office/drawing/2014/main" id="{10F68385-9FB4-4B45-A04E-D122AD80ECA7}"/>
              </a:ext>
            </a:extLst>
          </p:cNvPr>
          <p:cNvPicPr>
            <a:picLocks noChangeAspect="1"/>
          </p:cNvPicPr>
          <p:nvPr/>
        </p:nvPicPr>
        <p:blipFill>
          <a:blip r:embed="rId2"/>
          <a:stretch>
            <a:fillRect/>
          </a:stretch>
        </p:blipFill>
        <p:spPr>
          <a:xfrm>
            <a:off x="1076538" y="2139702"/>
            <a:ext cx="6990923" cy="2917876"/>
          </a:xfrm>
          <a:prstGeom prst="rect">
            <a:avLst/>
          </a:prstGeom>
        </p:spPr>
      </p:pic>
    </p:spTree>
    <p:extLst>
      <p:ext uri="{BB962C8B-B14F-4D97-AF65-F5344CB8AC3E}">
        <p14:creationId xmlns:p14="http://schemas.microsoft.com/office/powerpoint/2010/main" val="14026591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173C5-B2AB-4B24-A8DA-F3428479798B}"/>
              </a:ext>
            </a:extLst>
          </p:cNvPr>
          <p:cNvSpPr>
            <a:spLocks noGrp="1"/>
          </p:cNvSpPr>
          <p:nvPr>
            <p:ph type="title"/>
          </p:nvPr>
        </p:nvSpPr>
        <p:spPr/>
        <p:txBody>
          <a:bodyPr>
            <a:normAutofit fontScale="90000"/>
          </a:bodyPr>
          <a:lstStyle/>
          <a:p>
            <a:r>
              <a:rPr lang="zh-CN" altLang="en-US" dirty="0"/>
              <a:t>第一个</a:t>
            </a:r>
            <a:r>
              <a:rPr lang="en-US" altLang="zh-CN" dirty="0" err="1"/>
              <a:t>MRJob</a:t>
            </a:r>
            <a:r>
              <a:rPr lang="zh-CN" altLang="en-US" dirty="0"/>
              <a:t>程序</a:t>
            </a:r>
          </a:p>
        </p:txBody>
      </p:sp>
      <p:sp>
        <p:nvSpPr>
          <p:cNvPr id="3" name="内容占位符 2">
            <a:extLst>
              <a:ext uri="{FF2B5EF4-FFF2-40B4-BE49-F238E27FC236}">
                <a16:creationId xmlns:a16="http://schemas.microsoft.com/office/drawing/2014/main" id="{428B8D0E-C43B-422A-96AE-04DF84BC5DE7}"/>
              </a:ext>
            </a:extLst>
          </p:cNvPr>
          <p:cNvSpPr>
            <a:spLocks noGrp="1"/>
          </p:cNvSpPr>
          <p:nvPr>
            <p:ph idx="1"/>
          </p:nvPr>
        </p:nvSpPr>
        <p:spPr>
          <a:xfrm>
            <a:off x="457200" y="1200151"/>
            <a:ext cx="8229600" cy="1803647"/>
          </a:xfrm>
        </p:spPr>
        <p:txBody>
          <a:bodyPr>
            <a:normAutofit fontScale="85000" lnSpcReduction="20000"/>
          </a:bodyPr>
          <a:lstStyle/>
          <a:p>
            <a:r>
              <a:rPr lang="zh-CN" altLang="en-US" dirty="0"/>
              <a:t>步骤</a:t>
            </a:r>
            <a:r>
              <a:rPr lang="en-US" altLang="zh-CN" dirty="0"/>
              <a:t>3 </a:t>
            </a:r>
            <a:r>
              <a:rPr lang="zh-CN" altLang="en-US" dirty="0"/>
              <a:t>运行第一个</a:t>
            </a:r>
            <a:r>
              <a:rPr lang="en-US" altLang="zh-CN" dirty="0" err="1"/>
              <a:t>MRJob</a:t>
            </a:r>
            <a:r>
              <a:rPr lang="zh-CN" altLang="en-US" dirty="0"/>
              <a:t>程序</a:t>
            </a:r>
          </a:p>
          <a:p>
            <a:pPr lvl="1"/>
            <a:r>
              <a:rPr lang="zh-CN" altLang="en-US" dirty="0"/>
              <a:t>在</a:t>
            </a:r>
            <a:r>
              <a:rPr lang="en-US" altLang="zh-CN" dirty="0"/>
              <a:t>mr_word_count.py</a:t>
            </a:r>
            <a:r>
              <a:rPr lang="zh-CN" altLang="en-US" dirty="0"/>
              <a:t>文件所在文件夹运行该程序，其中</a:t>
            </a:r>
            <a:r>
              <a:rPr lang="en-US" altLang="zh-CN" dirty="0"/>
              <a:t>input.txt</a:t>
            </a:r>
            <a:r>
              <a:rPr lang="zh-CN" altLang="en-US" dirty="0"/>
              <a:t>可以是自己编写的一个文本文件，也可以是系统中任意一个文本文件（输出会因为输入的</a:t>
            </a:r>
            <a:r>
              <a:rPr lang="en-US" altLang="zh-CN" dirty="0"/>
              <a:t>input.txt</a:t>
            </a:r>
            <a:r>
              <a:rPr lang="zh-CN" altLang="en-US" dirty="0"/>
              <a:t>内容不同而不同）。</a:t>
            </a:r>
          </a:p>
          <a:p>
            <a:endParaRPr lang="zh-CN" altLang="en-US" dirty="0"/>
          </a:p>
        </p:txBody>
      </p:sp>
      <p:pic>
        <p:nvPicPr>
          <p:cNvPr id="4" name="图片 3">
            <a:extLst>
              <a:ext uri="{FF2B5EF4-FFF2-40B4-BE49-F238E27FC236}">
                <a16:creationId xmlns:a16="http://schemas.microsoft.com/office/drawing/2014/main" id="{E81F830E-058C-4099-9264-7A4152925B50}"/>
              </a:ext>
            </a:extLst>
          </p:cNvPr>
          <p:cNvPicPr>
            <a:picLocks noChangeAspect="1"/>
          </p:cNvPicPr>
          <p:nvPr/>
        </p:nvPicPr>
        <p:blipFill>
          <a:blip r:embed="rId2"/>
          <a:stretch>
            <a:fillRect/>
          </a:stretch>
        </p:blipFill>
        <p:spPr>
          <a:xfrm>
            <a:off x="971600" y="2931790"/>
            <a:ext cx="7011378" cy="1790950"/>
          </a:xfrm>
          <a:prstGeom prst="rect">
            <a:avLst/>
          </a:prstGeom>
        </p:spPr>
      </p:pic>
    </p:spTree>
    <p:extLst>
      <p:ext uri="{BB962C8B-B14F-4D97-AF65-F5344CB8AC3E}">
        <p14:creationId xmlns:p14="http://schemas.microsoft.com/office/powerpoint/2010/main" val="14447283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173C5-B2AB-4B24-A8DA-F3428479798B}"/>
              </a:ext>
            </a:extLst>
          </p:cNvPr>
          <p:cNvSpPr>
            <a:spLocks noGrp="1"/>
          </p:cNvSpPr>
          <p:nvPr>
            <p:ph type="title"/>
          </p:nvPr>
        </p:nvSpPr>
        <p:spPr/>
        <p:txBody>
          <a:bodyPr>
            <a:normAutofit fontScale="90000"/>
          </a:bodyPr>
          <a:lstStyle/>
          <a:p>
            <a:r>
              <a:rPr lang="zh-CN" altLang="en-US" dirty="0"/>
              <a:t>第一个</a:t>
            </a:r>
            <a:r>
              <a:rPr lang="en-US" altLang="zh-CN" dirty="0" err="1"/>
              <a:t>MRJob</a:t>
            </a:r>
            <a:r>
              <a:rPr lang="zh-CN" altLang="en-US" dirty="0"/>
              <a:t>程序</a:t>
            </a:r>
          </a:p>
        </p:txBody>
      </p:sp>
      <p:sp>
        <p:nvSpPr>
          <p:cNvPr id="3" name="内容占位符 2">
            <a:extLst>
              <a:ext uri="{FF2B5EF4-FFF2-40B4-BE49-F238E27FC236}">
                <a16:creationId xmlns:a16="http://schemas.microsoft.com/office/drawing/2014/main" id="{428B8D0E-C43B-422A-96AE-04DF84BC5DE7}"/>
              </a:ext>
            </a:extLst>
          </p:cNvPr>
          <p:cNvSpPr>
            <a:spLocks noGrp="1"/>
          </p:cNvSpPr>
          <p:nvPr>
            <p:ph idx="1"/>
          </p:nvPr>
        </p:nvSpPr>
        <p:spPr/>
        <p:txBody>
          <a:bodyPr>
            <a:normAutofit fontScale="92500" lnSpcReduction="10000"/>
          </a:bodyPr>
          <a:lstStyle/>
          <a:p>
            <a:r>
              <a:rPr lang="zh-CN" altLang="en-US" dirty="0"/>
              <a:t>步骤</a:t>
            </a:r>
            <a:r>
              <a:rPr lang="en-US" altLang="zh-CN" dirty="0"/>
              <a:t>4 </a:t>
            </a:r>
            <a:r>
              <a:rPr lang="zh-CN" altLang="en-US" dirty="0"/>
              <a:t>理解第一个</a:t>
            </a:r>
            <a:r>
              <a:rPr lang="en-US" altLang="zh-CN" dirty="0" err="1"/>
              <a:t>MRJob</a:t>
            </a:r>
            <a:r>
              <a:rPr lang="zh-CN" altLang="en-US" dirty="0"/>
              <a:t>程序</a:t>
            </a:r>
          </a:p>
          <a:p>
            <a:pPr lvl="1"/>
            <a:r>
              <a:rPr lang="zh-CN" altLang="en-US" dirty="0"/>
              <a:t>利用</a:t>
            </a:r>
            <a:r>
              <a:rPr lang="en-US" altLang="zh-CN" dirty="0" err="1"/>
              <a:t>MRJob</a:t>
            </a:r>
            <a:r>
              <a:rPr lang="zh-CN" altLang="en-US" dirty="0"/>
              <a:t>编写</a:t>
            </a:r>
            <a:r>
              <a:rPr lang="en-US" altLang="zh-CN" dirty="0"/>
              <a:t>Python</a:t>
            </a:r>
            <a:r>
              <a:rPr lang="zh-CN" altLang="en-US" dirty="0"/>
              <a:t>的</a:t>
            </a:r>
            <a:r>
              <a:rPr lang="en-US" altLang="zh-CN" dirty="0"/>
              <a:t>MapReduce</a:t>
            </a:r>
            <a:r>
              <a:rPr lang="zh-CN" altLang="en-US" dirty="0"/>
              <a:t>程序时，一个</a:t>
            </a:r>
            <a:r>
              <a:rPr lang="en-US" altLang="zh-CN" dirty="0"/>
              <a:t>job</a:t>
            </a:r>
            <a:r>
              <a:rPr lang="zh-CN" altLang="en-US" dirty="0"/>
              <a:t>就是一个继承自</a:t>
            </a:r>
            <a:r>
              <a:rPr lang="en-US" altLang="zh-CN" dirty="0" err="1"/>
              <a:t>MRJob</a:t>
            </a:r>
            <a:r>
              <a:rPr lang="zh-CN" altLang="en-US" dirty="0"/>
              <a:t>的一个类，同时在该类中定义了</a:t>
            </a:r>
            <a:r>
              <a:rPr lang="en-US" altLang="zh-CN" dirty="0"/>
              <a:t>job</a:t>
            </a:r>
            <a:r>
              <a:rPr lang="zh-CN" altLang="en-US" dirty="0"/>
              <a:t>的具体步骤。一个</a:t>
            </a:r>
            <a:r>
              <a:rPr lang="en-US" altLang="zh-CN" dirty="0"/>
              <a:t>job</a:t>
            </a:r>
            <a:r>
              <a:rPr lang="zh-CN" altLang="en-US" dirty="0"/>
              <a:t>可以包括</a:t>
            </a:r>
            <a:r>
              <a:rPr lang="en-US" altLang="zh-CN" dirty="0"/>
              <a:t>mapper</a:t>
            </a:r>
            <a:r>
              <a:rPr lang="zh-CN" altLang="en-US" dirty="0"/>
              <a:t>、</a:t>
            </a:r>
            <a:r>
              <a:rPr lang="en-US" altLang="zh-CN" dirty="0"/>
              <a:t>combiner</a:t>
            </a:r>
            <a:r>
              <a:rPr lang="zh-CN" altLang="en-US" dirty="0"/>
              <a:t>、</a:t>
            </a:r>
            <a:r>
              <a:rPr lang="en-US" altLang="zh-CN" dirty="0"/>
              <a:t>reducer</a:t>
            </a:r>
            <a:r>
              <a:rPr lang="zh-CN" altLang="en-US" dirty="0"/>
              <a:t>三个步骤，他们分别对应</a:t>
            </a:r>
            <a:r>
              <a:rPr lang="en-US" altLang="zh-CN" dirty="0"/>
              <a:t>mapper()</a:t>
            </a:r>
            <a:r>
              <a:rPr lang="zh-CN" altLang="en-US" dirty="0"/>
              <a:t>，</a:t>
            </a:r>
            <a:r>
              <a:rPr lang="en-US" altLang="zh-CN" dirty="0"/>
              <a:t>combiner()</a:t>
            </a:r>
            <a:r>
              <a:rPr lang="zh-CN" altLang="en-US" dirty="0"/>
              <a:t>和</a:t>
            </a:r>
            <a:r>
              <a:rPr lang="en-US" altLang="zh-CN" dirty="0"/>
              <a:t>reducer()</a:t>
            </a:r>
            <a:r>
              <a:rPr lang="zh-CN" altLang="en-US" dirty="0"/>
              <a:t>函数。当然在具体的</a:t>
            </a:r>
            <a:r>
              <a:rPr lang="en-US" altLang="zh-CN" dirty="0" err="1"/>
              <a:t>MRJob</a:t>
            </a:r>
            <a:r>
              <a:rPr lang="zh-CN" altLang="en-US" dirty="0"/>
              <a:t>程序中，这些步骤都是可选项，用户可以根据需要只定义其中的一个或几个步骤。</a:t>
            </a:r>
          </a:p>
          <a:p>
            <a:endParaRPr lang="zh-CN" altLang="en-US" dirty="0"/>
          </a:p>
        </p:txBody>
      </p:sp>
    </p:spTree>
    <p:extLst>
      <p:ext uri="{BB962C8B-B14F-4D97-AF65-F5344CB8AC3E}">
        <p14:creationId xmlns:p14="http://schemas.microsoft.com/office/powerpoint/2010/main" val="40079643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173C5-B2AB-4B24-A8DA-F3428479798B}"/>
              </a:ext>
            </a:extLst>
          </p:cNvPr>
          <p:cNvSpPr>
            <a:spLocks noGrp="1"/>
          </p:cNvSpPr>
          <p:nvPr>
            <p:ph type="title"/>
          </p:nvPr>
        </p:nvSpPr>
        <p:spPr/>
        <p:txBody>
          <a:bodyPr>
            <a:normAutofit fontScale="90000"/>
          </a:bodyPr>
          <a:lstStyle/>
          <a:p>
            <a:r>
              <a:rPr lang="zh-CN" altLang="en-US" dirty="0"/>
              <a:t>第一个</a:t>
            </a:r>
            <a:r>
              <a:rPr lang="en-US" altLang="zh-CN" dirty="0" err="1"/>
              <a:t>MRJob</a:t>
            </a:r>
            <a:r>
              <a:rPr lang="zh-CN" altLang="en-US" dirty="0"/>
              <a:t>程序</a:t>
            </a:r>
          </a:p>
        </p:txBody>
      </p:sp>
      <p:sp>
        <p:nvSpPr>
          <p:cNvPr id="3" name="内容占位符 2">
            <a:extLst>
              <a:ext uri="{FF2B5EF4-FFF2-40B4-BE49-F238E27FC236}">
                <a16:creationId xmlns:a16="http://schemas.microsoft.com/office/drawing/2014/main" id="{428B8D0E-C43B-422A-96AE-04DF84BC5DE7}"/>
              </a:ext>
            </a:extLst>
          </p:cNvPr>
          <p:cNvSpPr>
            <a:spLocks noGrp="1"/>
          </p:cNvSpPr>
          <p:nvPr>
            <p:ph idx="1"/>
          </p:nvPr>
        </p:nvSpPr>
        <p:spPr/>
        <p:txBody>
          <a:bodyPr>
            <a:normAutofit fontScale="62500" lnSpcReduction="20000"/>
          </a:bodyPr>
          <a:lstStyle/>
          <a:p>
            <a:r>
              <a:rPr lang="zh-CN" altLang="en-US" dirty="0"/>
              <a:t>步骤</a:t>
            </a:r>
            <a:r>
              <a:rPr lang="en-US" altLang="zh-CN" dirty="0"/>
              <a:t>4 </a:t>
            </a:r>
            <a:r>
              <a:rPr lang="zh-CN" altLang="en-US" dirty="0"/>
              <a:t>理解第一个</a:t>
            </a:r>
            <a:r>
              <a:rPr lang="en-US" altLang="zh-CN" dirty="0" err="1"/>
              <a:t>MRJob</a:t>
            </a:r>
            <a:r>
              <a:rPr lang="zh-CN" altLang="en-US" dirty="0"/>
              <a:t>程序</a:t>
            </a:r>
            <a:endParaRPr lang="en-US" altLang="zh-CN" dirty="0"/>
          </a:p>
          <a:p>
            <a:pPr lvl="1"/>
            <a:r>
              <a:rPr lang="en-US" altLang="zh-CN" dirty="0"/>
              <a:t>mapper()</a:t>
            </a:r>
            <a:r>
              <a:rPr lang="zh-CN" altLang="en-US" dirty="0"/>
              <a:t>方法输入为</a:t>
            </a:r>
            <a:r>
              <a:rPr lang="en-US" altLang="zh-CN" dirty="0"/>
              <a:t>&lt;</a:t>
            </a:r>
            <a:r>
              <a:rPr lang="en-US" altLang="zh-CN" dirty="0" err="1"/>
              <a:t>key,value</a:t>
            </a:r>
            <a:r>
              <a:rPr lang="en-US" altLang="zh-CN" dirty="0"/>
              <a:t>&gt;</a:t>
            </a:r>
            <a:r>
              <a:rPr lang="zh-CN" altLang="en-US" dirty="0"/>
              <a:t>，在这里，</a:t>
            </a:r>
            <a:r>
              <a:rPr lang="en-US" altLang="zh-CN" dirty="0"/>
              <a:t>key</a:t>
            </a:r>
            <a:r>
              <a:rPr lang="zh-CN" altLang="en-US" dirty="0"/>
              <a:t>被忽略了，所以</a:t>
            </a:r>
            <a:r>
              <a:rPr lang="en-US" altLang="zh-CN" dirty="0"/>
              <a:t>key</a:t>
            </a:r>
            <a:r>
              <a:rPr lang="zh-CN" altLang="en-US" dirty="0"/>
              <a:t>的位置用一个占位符“</a:t>
            </a:r>
            <a:r>
              <a:rPr lang="en-US" altLang="zh-CN" dirty="0"/>
              <a:t>_”</a:t>
            </a:r>
            <a:r>
              <a:rPr lang="zh-CN" altLang="en-US" dirty="0"/>
              <a:t>替代。</a:t>
            </a:r>
            <a:r>
              <a:rPr lang="en-US" altLang="zh-CN" dirty="0"/>
              <a:t>mapper()</a:t>
            </a:r>
            <a:r>
              <a:rPr lang="zh-CN" altLang="en-US" dirty="0"/>
              <a:t>的输出</a:t>
            </a:r>
            <a:r>
              <a:rPr lang="en-US" altLang="zh-CN" dirty="0"/>
              <a:t>yield</a:t>
            </a:r>
            <a:r>
              <a:rPr lang="zh-CN" altLang="en-US" dirty="0"/>
              <a:t>产生的</a:t>
            </a:r>
            <a:r>
              <a:rPr lang="en-US" altLang="zh-CN" dirty="0"/>
              <a:t>&lt;</a:t>
            </a:r>
            <a:r>
              <a:rPr lang="en-US" altLang="zh-CN" dirty="0" err="1"/>
              <a:t>key,value</a:t>
            </a:r>
            <a:r>
              <a:rPr lang="en-US" altLang="zh-CN" dirty="0"/>
              <a:t>&gt;</a:t>
            </a:r>
            <a:r>
              <a:rPr lang="zh-CN" altLang="en-US" dirty="0"/>
              <a:t>数据对。输出是利用</a:t>
            </a:r>
            <a:r>
              <a:rPr lang="en-US" altLang="zh-CN" dirty="0"/>
              <a:t>split()</a:t>
            </a:r>
            <a:r>
              <a:rPr lang="zh-CN" altLang="en-US" dirty="0"/>
              <a:t>分割得到的每个单词与其值</a:t>
            </a:r>
            <a:r>
              <a:rPr lang="en-US" altLang="zh-CN" dirty="0"/>
              <a:t>1</a:t>
            </a:r>
            <a:r>
              <a:rPr lang="zh-CN" altLang="en-US" dirty="0"/>
              <a:t>所形成的元组序列。</a:t>
            </a:r>
          </a:p>
          <a:p>
            <a:pPr lvl="1"/>
            <a:r>
              <a:rPr lang="en-US" altLang="zh-CN" dirty="0"/>
              <a:t>reducer()</a:t>
            </a:r>
            <a:r>
              <a:rPr lang="zh-CN" altLang="en-US" dirty="0"/>
              <a:t>方法的输入为</a:t>
            </a:r>
            <a:r>
              <a:rPr lang="en-US" altLang="zh-CN" dirty="0"/>
              <a:t>&lt;</a:t>
            </a:r>
            <a:r>
              <a:rPr lang="en-US" altLang="zh-CN" dirty="0" err="1"/>
              <a:t>key,values</a:t>
            </a:r>
            <a:r>
              <a:rPr lang="en-US" altLang="zh-CN" dirty="0"/>
              <a:t>&gt;</a:t>
            </a:r>
            <a:r>
              <a:rPr lang="zh-CN" altLang="en-US" dirty="0"/>
              <a:t>，其中的</a:t>
            </a:r>
            <a:r>
              <a:rPr lang="en-US" altLang="zh-CN" dirty="0"/>
              <a:t>key</a:t>
            </a:r>
            <a:r>
              <a:rPr lang="zh-CN" altLang="en-US" dirty="0"/>
              <a:t>是</a:t>
            </a:r>
            <a:r>
              <a:rPr lang="en-US" altLang="zh-CN" dirty="0"/>
              <a:t>mapper</a:t>
            </a:r>
            <a:r>
              <a:rPr lang="zh-CN" altLang="en-US" dirty="0"/>
              <a:t>输出的</a:t>
            </a:r>
            <a:r>
              <a:rPr lang="en-US" altLang="zh-CN" dirty="0"/>
              <a:t>key</a:t>
            </a:r>
            <a:r>
              <a:rPr lang="zh-CN" altLang="en-US" dirty="0"/>
              <a:t>，而</a:t>
            </a:r>
            <a:r>
              <a:rPr lang="en-US" altLang="zh-CN" dirty="0"/>
              <a:t>values</a:t>
            </a:r>
            <a:r>
              <a:rPr lang="zh-CN" altLang="en-US" dirty="0"/>
              <a:t>则不是单个</a:t>
            </a:r>
            <a:r>
              <a:rPr lang="en-US" altLang="zh-CN" dirty="0"/>
              <a:t>value</a:t>
            </a:r>
            <a:r>
              <a:rPr lang="zh-CN" altLang="en-US" dirty="0"/>
              <a:t>，而是一个可迭代对象。在上述第一个</a:t>
            </a:r>
            <a:r>
              <a:rPr lang="en-US" altLang="zh-CN" dirty="0" err="1"/>
              <a:t>MRJob</a:t>
            </a:r>
            <a:r>
              <a:rPr lang="zh-CN" altLang="en-US" dirty="0"/>
              <a:t>程序中，其输出为</a:t>
            </a:r>
            <a:r>
              <a:rPr lang="en-US" altLang="zh-CN" dirty="0"/>
              <a:t>&lt;key, sum(values)&gt;</a:t>
            </a:r>
            <a:r>
              <a:rPr lang="zh-CN" altLang="en-US" dirty="0"/>
              <a:t>，其中</a:t>
            </a:r>
            <a:r>
              <a:rPr lang="en-US" altLang="zh-CN" dirty="0"/>
              <a:t>sum(values)</a:t>
            </a:r>
            <a:r>
              <a:rPr lang="zh-CN" altLang="en-US" dirty="0"/>
              <a:t>是计算</a:t>
            </a:r>
            <a:r>
              <a:rPr lang="en-US" altLang="zh-CN" dirty="0"/>
              <a:t>values</a:t>
            </a:r>
            <a:r>
              <a:rPr lang="zh-CN" altLang="en-US" dirty="0"/>
              <a:t>迭代对象中数据之和。从这里可以看到，</a:t>
            </a:r>
            <a:r>
              <a:rPr lang="en-US" altLang="zh-CN" dirty="0" err="1"/>
              <a:t>MRJob</a:t>
            </a:r>
            <a:r>
              <a:rPr lang="zh-CN" altLang="en-US" dirty="0"/>
              <a:t>的</a:t>
            </a:r>
            <a:r>
              <a:rPr lang="en-US" altLang="zh-CN" dirty="0"/>
              <a:t>reducer</a:t>
            </a:r>
            <a:r>
              <a:rPr lang="zh-CN" altLang="en-US" dirty="0"/>
              <a:t>输入与</a:t>
            </a:r>
            <a:r>
              <a:rPr lang="en-US" altLang="zh-CN" dirty="0"/>
              <a:t>Hadoop-streaming</a:t>
            </a:r>
            <a:r>
              <a:rPr lang="zh-CN" altLang="en-US" dirty="0"/>
              <a:t>的</a:t>
            </a:r>
            <a:r>
              <a:rPr lang="en-US" altLang="zh-CN" dirty="0"/>
              <a:t>reducer</a:t>
            </a:r>
            <a:r>
              <a:rPr lang="zh-CN" altLang="en-US" dirty="0"/>
              <a:t>输入是不同的，后者的输入是按照</a:t>
            </a:r>
            <a:r>
              <a:rPr lang="en-US" altLang="zh-CN" dirty="0"/>
              <a:t>key</a:t>
            </a:r>
            <a:r>
              <a:rPr lang="zh-CN" altLang="en-US" dirty="0"/>
              <a:t>排序后的</a:t>
            </a:r>
            <a:r>
              <a:rPr lang="en-US" altLang="zh-CN" dirty="0"/>
              <a:t>&lt;key, value&gt;</a:t>
            </a:r>
            <a:r>
              <a:rPr lang="zh-CN" altLang="en-US" dirty="0"/>
              <a:t>序列，不是一个可迭代的</a:t>
            </a:r>
            <a:r>
              <a:rPr lang="en-US" altLang="zh-CN" dirty="0"/>
              <a:t>value</a:t>
            </a:r>
            <a:r>
              <a:rPr lang="zh-CN" altLang="en-US" dirty="0"/>
              <a:t>集合。</a:t>
            </a:r>
          </a:p>
          <a:p>
            <a:pPr lvl="1"/>
            <a:r>
              <a:rPr lang="zh-CN" altLang="en-US" dirty="0"/>
              <a:t>最后是把该程序作为一个</a:t>
            </a:r>
            <a:r>
              <a:rPr lang="en-US" altLang="zh-CN" dirty="0"/>
              <a:t>job</a:t>
            </a:r>
            <a:r>
              <a:rPr lang="zh-CN" altLang="en-US" dirty="0"/>
              <a:t>运行的启动语句”</a:t>
            </a:r>
            <a:r>
              <a:rPr lang="en-US" altLang="zh-CN" dirty="0" err="1"/>
              <a:t>MRWordCount.run</a:t>
            </a:r>
            <a:r>
              <a:rPr lang="en-US" altLang="zh-CN" dirty="0"/>
              <a:t>()”</a:t>
            </a:r>
            <a:r>
              <a:rPr lang="zh-CN" altLang="en-US" dirty="0"/>
              <a:t>。</a:t>
            </a:r>
          </a:p>
          <a:p>
            <a:endParaRPr lang="zh-CN" altLang="en-US" dirty="0"/>
          </a:p>
        </p:txBody>
      </p:sp>
    </p:spTree>
    <p:extLst>
      <p:ext uri="{BB962C8B-B14F-4D97-AF65-F5344CB8AC3E}">
        <p14:creationId xmlns:p14="http://schemas.microsoft.com/office/powerpoint/2010/main" val="12237344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173C5-B2AB-4B24-A8DA-F3428479798B}"/>
              </a:ext>
            </a:extLst>
          </p:cNvPr>
          <p:cNvSpPr>
            <a:spLocks noGrp="1"/>
          </p:cNvSpPr>
          <p:nvPr>
            <p:ph type="title"/>
          </p:nvPr>
        </p:nvSpPr>
        <p:spPr/>
        <p:txBody>
          <a:bodyPr>
            <a:normAutofit fontScale="90000"/>
          </a:bodyPr>
          <a:lstStyle/>
          <a:p>
            <a:r>
              <a:rPr lang="zh-CN" altLang="en-US" dirty="0"/>
              <a:t>第一个</a:t>
            </a:r>
            <a:r>
              <a:rPr lang="en-US" altLang="zh-CN" dirty="0" err="1"/>
              <a:t>MRJob</a:t>
            </a:r>
            <a:r>
              <a:rPr lang="zh-CN" altLang="en-US" dirty="0"/>
              <a:t>程序</a:t>
            </a:r>
          </a:p>
        </p:txBody>
      </p:sp>
      <p:sp>
        <p:nvSpPr>
          <p:cNvPr id="3" name="内容占位符 2">
            <a:extLst>
              <a:ext uri="{FF2B5EF4-FFF2-40B4-BE49-F238E27FC236}">
                <a16:creationId xmlns:a16="http://schemas.microsoft.com/office/drawing/2014/main" id="{428B8D0E-C43B-422A-96AE-04DF84BC5DE7}"/>
              </a:ext>
            </a:extLst>
          </p:cNvPr>
          <p:cNvSpPr>
            <a:spLocks noGrp="1"/>
          </p:cNvSpPr>
          <p:nvPr>
            <p:ph idx="1"/>
          </p:nvPr>
        </p:nvSpPr>
        <p:spPr/>
        <p:txBody>
          <a:bodyPr>
            <a:normAutofit fontScale="70000" lnSpcReduction="20000"/>
          </a:bodyPr>
          <a:lstStyle/>
          <a:p>
            <a:r>
              <a:rPr lang="zh-CN" altLang="en-US" dirty="0"/>
              <a:t>步骤</a:t>
            </a:r>
            <a:r>
              <a:rPr lang="en-US" altLang="zh-CN" dirty="0"/>
              <a:t>5 </a:t>
            </a:r>
            <a:r>
              <a:rPr lang="zh-CN" altLang="en-US" dirty="0"/>
              <a:t>运行</a:t>
            </a:r>
            <a:r>
              <a:rPr lang="en-US" altLang="zh-CN" dirty="0" err="1"/>
              <a:t>MRJob</a:t>
            </a:r>
            <a:r>
              <a:rPr lang="zh-CN" altLang="en-US" dirty="0"/>
              <a:t>：假设在同级文件夹下存在一个</a:t>
            </a:r>
            <a:r>
              <a:rPr lang="en-US" altLang="zh-CN" dirty="0"/>
              <a:t>input.txt</a:t>
            </a:r>
            <a:r>
              <a:rPr lang="zh-CN" altLang="en-US" dirty="0"/>
              <a:t>文件，那么其运行可以是如下几种方式之一。</a:t>
            </a:r>
          </a:p>
          <a:p>
            <a:pPr lvl="1"/>
            <a:r>
              <a:rPr lang="zh-CN" altLang="en-US" dirty="0"/>
              <a:t>方式</a:t>
            </a:r>
            <a:r>
              <a:rPr lang="en-US" altLang="zh-CN" dirty="0"/>
              <a:t>1</a:t>
            </a:r>
            <a:r>
              <a:rPr lang="zh-CN" altLang="en-US" dirty="0"/>
              <a:t>：</a:t>
            </a:r>
            <a:r>
              <a:rPr lang="en-US" altLang="zh-CN" dirty="0"/>
              <a:t>$ python my_job.py input.txt</a:t>
            </a:r>
          </a:p>
          <a:p>
            <a:pPr lvl="1"/>
            <a:r>
              <a:rPr lang="zh-CN" altLang="en-US" dirty="0"/>
              <a:t>方式</a:t>
            </a:r>
            <a:r>
              <a:rPr lang="en-US" altLang="zh-CN" dirty="0"/>
              <a:t>2</a:t>
            </a:r>
            <a:r>
              <a:rPr lang="zh-CN" altLang="en-US" dirty="0"/>
              <a:t>：</a:t>
            </a:r>
            <a:r>
              <a:rPr lang="en-US" altLang="zh-CN" dirty="0"/>
              <a:t>$ python my_job.py &lt; input.txt</a:t>
            </a:r>
          </a:p>
          <a:p>
            <a:r>
              <a:rPr lang="zh-CN" altLang="en-US" dirty="0"/>
              <a:t>若有多个文件都是该</a:t>
            </a:r>
            <a:r>
              <a:rPr lang="en-US" altLang="zh-CN" dirty="0" err="1"/>
              <a:t>MRJob</a:t>
            </a:r>
            <a:r>
              <a:rPr lang="zh-CN" altLang="en-US" dirty="0"/>
              <a:t>的数据来源，那么可以在程序后列出所有输入文件，其形式如下所示：</a:t>
            </a:r>
          </a:p>
          <a:p>
            <a:pPr lvl="1"/>
            <a:r>
              <a:rPr lang="zh-CN" altLang="en-US" dirty="0"/>
              <a:t>方式</a:t>
            </a:r>
            <a:r>
              <a:rPr lang="en-US" altLang="zh-CN" dirty="0"/>
              <a:t>3</a:t>
            </a:r>
            <a:r>
              <a:rPr lang="zh-CN" altLang="en-US" dirty="0"/>
              <a:t>：</a:t>
            </a:r>
            <a:r>
              <a:rPr lang="en-US" altLang="zh-CN" dirty="0"/>
              <a:t>$ python my_job.py input1.txt input2.txt</a:t>
            </a:r>
          </a:p>
          <a:p>
            <a:r>
              <a:rPr lang="zh-CN" altLang="en-US" dirty="0"/>
              <a:t>还可以结合文件输入和</a:t>
            </a:r>
            <a:r>
              <a:rPr lang="en-US" altLang="zh-CN" dirty="0"/>
              <a:t>STDIN</a:t>
            </a:r>
            <a:r>
              <a:rPr lang="zh-CN" altLang="en-US" dirty="0"/>
              <a:t>输入的方式，例如方式</a:t>
            </a:r>
            <a:r>
              <a:rPr lang="en-US" altLang="zh-CN" dirty="0"/>
              <a:t>4</a:t>
            </a:r>
            <a:r>
              <a:rPr lang="zh-CN" altLang="en-US" dirty="0"/>
              <a:t>中</a:t>
            </a:r>
            <a:r>
              <a:rPr lang="en-US" altLang="zh-CN" dirty="0"/>
              <a:t>input1.txt</a:t>
            </a:r>
            <a:r>
              <a:rPr lang="zh-CN" altLang="en-US" dirty="0"/>
              <a:t>和</a:t>
            </a:r>
            <a:r>
              <a:rPr lang="en-US" altLang="zh-CN" dirty="0"/>
              <a:t>input2.txt</a:t>
            </a:r>
            <a:r>
              <a:rPr lang="zh-CN" altLang="en-US" dirty="0"/>
              <a:t>是文件输入，而</a:t>
            </a:r>
            <a:r>
              <a:rPr lang="en-US" altLang="zh-CN" dirty="0"/>
              <a:t>input3.txt</a:t>
            </a:r>
            <a:r>
              <a:rPr lang="zh-CN" altLang="en-US" dirty="0"/>
              <a:t>则是</a:t>
            </a:r>
            <a:r>
              <a:rPr lang="en-US" altLang="zh-CN" dirty="0"/>
              <a:t>STDIN</a:t>
            </a:r>
            <a:r>
              <a:rPr lang="zh-CN" altLang="en-US" dirty="0"/>
              <a:t>的方式输入。</a:t>
            </a:r>
          </a:p>
          <a:p>
            <a:pPr lvl="1"/>
            <a:r>
              <a:rPr lang="zh-CN" altLang="en-US" dirty="0"/>
              <a:t>方式</a:t>
            </a:r>
            <a:r>
              <a:rPr lang="en-US" altLang="zh-CN" dirty="0"/>
              <a:t>4</a:t>
            </a:r>
            <a:r>
              <a:rPr lang="zh-CN" altLang="en-US" dirty="0"/>
              <a:t>：</a:t>
            </a:r>
            <a:r>
              <a:rPr lang="en-US" altLang="zh-CN" dirty="0"/>
              <a:t>$ python my_job.py input1.txt input2.txt - &lt; input3.txt</a:t>
            </a:r>
          </a:p>
          <a:p>
            <a:endParaRPr lang="zh-CN" altLang="en-US" dirty="0"/>
          </a:p>
        </p:txBody>
      </p:sp>
    </p:spTree>
    <p:extLst>
      <p:ext uri="{BB962C8B-B14F-4D97-AF65-F5344CB8AC3E}">
        <p14:creationId xmlns:p14="http://schemas.microsoft.com/office/powerpoint/2010/main" val="27373824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173C5-B2AB-4B24-A8DA-F3428479798B}"/>
              </a:ext>
            </a:extLst>
          </p:cNvPr>
          <p:cNvSpPr>
            <a:spLocks noGrp="1"/>
          </p:cNvSpPr>
          <p:nvPr>
            <p:ph type="title"/>
          </p:nvPr>
        </p:nvSpPr>
        <p:spPr/>
        <p:txBody>
          <a:bodyPr>
            <a:normAutofit fontScale="90000"/>
          </a:bodyPr>
          <a:lstStyle/>
          <a:p>
            <a:r>
              <a:rPr lang="zh-CN" altLang="en-US" dirty="0"/>
              <a:t>第一个</a:t>
            </a:r>
            <a:r>
              <a:rPr lang="en-US" altLang="zh-CN" dirty="0" err="1"/>
              <a:t>MRJob</a:t>
            </a:r>
            <a:r>
              <a:rPr lang="zh-CN" altLang="en-US" dirty="0"/>
              <a:t>程序</a:t>
            </a:r>
          </a:p>
        </p:txBody>
      </p:sp>
      <p:sp>
        <p:nvSpPr>
          <p:cNvPr id="3" name="内容占位符 2">
            <a:extLst>
              <a:ext uri="{FF2B5EF4-FFF2-40B4-BE49-F238E27FC236}">
                <a16:creationId xmlns:a16="http://schemas.microsoft.com/office/drawing/2014/main" id="{428B8D0E-C43B-422A-96AE-04DF84BC5DE7}"/>
              </a:ext>
            </a:extLst>
          </p:cNvPr>
          <p:cNvSpPr>
            <a:spLocks noGrp="1"/>
          </p:cNvSpPr>
          <p:nvPr>
            <p:ph idx="1"/>
          </p:nvPr>
        </p:nvSpPr>
        <p:spPr>
          <a:xfrm>
            <a:off x="457200" y="1200151"/>
            <a:ext cx="8363272" cy="3394472"/>
          </a:xfrm>
        </p:spPr>
        <p:txBody>
          <a:bodyPr>
            <a:normAutofit fontScale="62500" lnSpcReduction="20000"/>
          </a:bodyPr>
          <a:lstStyle/>
          <a:p>
            <a:r>
              <a:rPr lang="zh-CN" altLang="en-US" dirty="0"/>
              <a:t>步骤</a:t>
            </a:r>
            <a:r>
              <a:rPr lang="en-US" altLang="zh-CN" dirty="0"/>
              <a:t>6 </a:t>
            </a:r>
            <a:r>
              <a:rPr lang="zh-CN" altLang="en-US" dirty="0"/>
              <a:t>运行模式：缺省情况下，</a:t>
            </a:r>
            <a:r>
              <a:rPr lang="en-US" altLang="zh-CN" dirty="0" err="1"/>
              <a:t>MRJob</a:t>
            </a:r>
            <a:r>
              <a:rPr lang="zh-CN" altLang="en-US" dirty="0"/>
              <a:t>是以单</a:t>
            </a:r>
            <a:r>
              <a:rPr lang="en-US" altLang="zh-CN" dirty="0"/>
              <a:t>Python</a:t>
            </a:r>
            <a:r>
              <a:rPr lang="zh-CN" altLang="en-US" dirty="0"/>
              <a:t>线程的方式运行，这种运行方式提供了友好的程序调试环境，但这并不是分布式的程序执行方式。</a:t>
            </a:r>
            <a:r>
              <a:rPr lang="en-US" altLang="zh-CN" dirty="0" err="1"/>
              <a:t>MRJob</a:t>
            </a:r>
            <a:r>
              <a:rPr lang="zh-CN" altLang="en-US" dirty="0"/>
              <a:t>程序执行方法可以通过“</a:t>
            </a:r>
            <a:r>
              <a:rPr lang="en-US" altLang="zh-CN" dirty="0"/>
              <a:t>-r”</a:t>
            </a:r>
            <a:r>
              <a:rPr lang="zh-CN" altLang="en-US" dirty="0"/>
              <a:t>或者“</a:t>
            </a:r>
            <a:r>
              <a:rPr lang="en-US" altLang="zh-CN" dirty="0"/>
              <a:t>--runner”</a:t>
            </a:r>
            <a:r>
              <a:rPr lang="zh-CN" altLang="en-US" dirty="0"/>
              <a:t>来指定，具体执行方式包括：</a:t>
            </a:r>
          </a:p>
          <a:p>
            <a:pPr lvl="1"/>
            <a:r>
              <a:rPr lang="zh-CN" altLang="en-US" dirty="0"/>
              <a:t>“</a:t>
            </a:r>
            <a:r>
              <a:rPr lang="en-US" altLang="zh-CN" dirty="0"/>
              <a:t>-r inline”</a:t>
            </a:r>
            <a:r>
              <a:rPr lang="zh-CN" altLang="en-US" dirty="0"/>
              <a:t>：缺省方式为单线程方式，通常用在程序的调试阶段；</a:t>
            </a:r>
          </a:p>
          <a:p>
            <a:pPr lvl="1"/>
            <a:r>
              <a:rPr lang="zh-CN" altLang="en-US" dirty="0"/>
              <a:t>“</a:t>
            </a:r>
            <a:r>
              <a:rPr lang="en-US" altLang="zh-CN" dirty="0"/>
              <a:t>-r local”</a:t>
            </a:r>
            <a:r>
              <a:rPr lang="zh-CN" altLang="en-US" dirty="0"/>
              <a:t>：以多处理器方式运行</a:t>
            </a:r>
            <a:r>
              <a:rPr lang="en-US" altLang="zh-CN" dirty="0" err="1"/>
              <a:t>MRJob</a:t>
            </a:r>
            <a:r>
              <a:rPr lang="zh-CN" altLang="en-US" dirty="0"/>
              <a:t>，这种方式可以模拟部分</a:t>
            </a:r>
            <a:r>
              <a:rPr lang="en-US" altLang="zh-CN" dirty="0"/>
              <a:t>Hadoop</a:t>
            </a:r>
            <a:r>
              <a:rPr lang="zh-CN" altLang="en-US" dirty="0"/>
              <a:t>特性；</a:t>
            </a:r>
          </a:p>
          <a:p>
            <a:pPr lvl="1"/>
            <a:r>
              <a:rPr lang="zh-CN" altLang="en-US" dirty="0"/>
              <a:t>“</a:t>
            </a:r>
            <a:r>
              <a:rPr lang="en-US" altLang="zh-CN" dirty="0"/>
              <a:t>-r </a:t>
            </a:r>
            <a:r>
              <a:rPr lang="en-US" altLang="zh-CN" dirty="0" err="1"/>
              <a:t>hadoop</a:t>
            </a:r>
            <a:r>
              <a:rPr lang="en-US" altLang="zh-CN" dirty="0"/>
              <a:t>”</a:t>
            </a:r>
            <a:r>
              <a:rPr lang="zh-CN" altLang="en-US" dirty="0"/>
              <a:t>：在</a:t>
            </a:r>
            <a:r>
              <a:rPr lang="en-US" altLang="zh-CN" dirty="0"/>
              <a:t>Hadoop</a:t>
            </a:r>
            <a:r>
              <a:rPr lang="zh-CN" altLang="en-US" dirty="0"/>
              <a:t>集群上运行该</a:t>
            </a:r>
            <a:r>
              <a:rPr lang="en-US" altLang="zh-CN" dirty="0" err="1"/>
              <a:t>MRJob</a:t>
            </a:r>
            <a:r>
              <a:rPr lang="zh-CN" altLang="en-US" dirty="0"/>
              <a:t>，在这种方式下，其数据文件的来源可以指定为</a:t>
            </a:r>
            <a:r>
              <a:rPr lang="en-US" altLang="zh-CN" dirty="0" err="1"/>
              <a:t>hdfs</a:t>
            </a:r>
            <a:r>
              <a:rPr lang="zh-CN" altLang="en-US" dirty="0"/>
              <a:t>文件系统中的数据</a:t>
            </a:r>
            <a:r>
              <a:rPr lang="zh-CN" altLang="en-US"/>
              <a:t>文件；</a:t>
            </a:r>
            <a:endParaRPr lang="en-US" altLang="zh-CN"/>
          </a:p>
          <a:p>
            <a:pPr lvl="1"/>
            <a:endParaRPr lang="en-US" altLang="zh-CN"/>
          </a:p>
          <a:p>
            <a:pPr lvl="1"/>
            <a:r>
              <a:rPr lang="zh-CN" altLang="en-US">
                <a:solidFill>
                  <a:srgbClr val="FF0000"/>
                </a:solidFill>
              </a:rPr>
              <a:t>如：</a:t>
            </a:r>
            <a:r>
              <a:rPr lang="zh-CN" altLang="zh-CN">
                <a:solidFill>
                  <a:srgbClr val="FF0000"/>
                </a:solidFill>
              </a:rPr>
              <a:t>python3 max_word_count.py -r hadoop  hdfs:///data -o hdfs:///user </a:t>
            </a:r>
          </a:p>
          <a:p>
            <a:pPr lvl="1"/>
            <a:r>
              <a:rPr lang="zh-CN" altLang="en-US">
                <a:solidFill>
                  <a:srgbClr val="FF0000"/>
                </a:solidFill>
              </a:rPr>
              <a:t>注：</a:t>
            </a:r>
            <a:r>
              <a:rPr lang="en-US" altLang="zh-CN">
                <a:solidFill>
                  <a:srgbClr val="FF0000"/>
                </a:solidFill>
              </a:rPr>
              <a:t>hdfs</a:t>
            </a:r>
            <a:r>
              <a:rPr lang="zh-CN" altLang="en-US">
                <a:solidFill>
                  <a:srgbClr val="FF0000"/>
                </a:solidFill>
              </a:rPr>
              <a:t>中不能预先有</a:t>
            </a:r>
            <a:r>
              <a:rPr lang="en-US" altLang="zh-CN">
                <a:solidFill>
                  <a:srgbClr val="FF0000"/>
                </a:solidFill>
              </a:rPr>
              <a:t>/user</a:t>
            </a:r>
            <a:r>
              <a:rPr lang="zh-CN" altLang="en-US">
                <a:solidFill>
                  <a:srgbClr val="FF0000"/>
                </a:solidFill>
              </a:rPr>
              <a:t>文件夹</a:t>
            </a:r>
            <a:endParaRPr lang="zh-CN" altLang="en-US" dirty="0">
              <a:solidFill>
                <a:srgbClr val="FF0000"/>
              </a:solidFill>
            </a:endParaRPr>
          </a:p>
          <a:p>
            <a:endParaRPr lang="zh-CN" altLang="en-US" dirty="0"/>
          </a:p>
        </p:txBody>
      </p:sp>
    </p:spTree>
    <p:extLst>
      <p:ext uri="{BB962C8B-B14F-4D97-AF65-F5344CB8AC3E}">
        <p14:creationId xmlns:p14="http://schemas.microsoft.com/office/powerpoint/2010/main" val="8260411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A173C5-B2AB-4B24-A8DA-F3428479798B}"/>
              </a:ext>
            </a:extLst>
          </p:cNvPr>
          <p:cNvSpPr>
            <a:spLocks noGrp="1"/>
          </p:cNvSpPr>
          <p:nvPr>
            <p:ph type="title"/>
          </p:nvPr>
        </p:nvSpPr>
        <p:spPr/>
        <p:txBody>
          <a:bodyPr>
            <a:normAutofit fontScale="90000"/>
          </a:bodyPr>
          <a:lstStyle/>
          <a:p>
            <a:r>
              <a:rPr lang="zh-CN" altLang="en-US" dirty="0"/>
              <a:t>第一个</a:t>
            </a:r>
            <a:r>
              <a:rPr lang="en-US" altLang="zh-CN" dirty="0" err="1"/>
              <a:t>MRJob</a:t>
            </a:r>
            <a:r>
              <a:rPr lang="zh-CN" altLang="en-US" dirty="0"/>
              <a:t>程序</a:t>
            </a:r>
          </a:p>
        </p:txBody>
      </p:sp>
      <p:sp>
        <p:nvSpPr>
          <p:cNvPr id="3" name="内容占位符 2">
            <a:extLst>
              <a:ext uri="{FF2B5EF4-FFF2-40B4-BE49-F238E27FC236}">
                <a16:creationId xmlns:a16="http://schemas.microsoft.com/office/drawing/2014/main" id="{428B8D0E-C43B-422A-96AE-04DF84BC5DE7}"/>
              </a:ext>
            </a:extLst>
          </p:cNvPr>
          <p:cNvSpPr>
            <a:spLocks noGrp="1"/>
          </p:cNvSpPr>
          <p:nvPr>
            <p:ph idx="1"/>
          </p:nvPr>
        </p:nvSpPr>
        <p:spPr/>
        <p:txBody>
          <a:bodyPr>
            <a:normAutofit fontScale="77500" lnSpcReduction="20000"/>
          </a:bodyPr>
          <a:lstStyle/>
          <a:p>
            <a:r>
              <a:rPr lang="zh-CN" altLang="en-US" dirty="0"/>
              <a:t>步骤</a:t>
            </a:r>
            <a:r>
              <a:rPr lang="en-US" altLang="zh-CN" dirty="0"/>
              <a:t>7 </a:t>
            </a:r>
            <a:r>
              <a:rPr lang="zh-CN" altLang="en-US" dirty="0"/>
              <a:t>为了能够输出出现次数最多的单词，同时避免标点符号对单词分割的影响，需要对上述程序进行三个方面的改进。</a:t>
            </a:r>
          </a:p>
          <a:p>
            <a:pPr lvl="1"/>
            <a:r>
              <a:rPr lang="zh-CN" altLang="en-US" dirty="0"/>
              <a:t>首先，利用正则表达式的方式进行单词的匹配，从而消除标点符号等因素对单词提取的影响；</a:t>
            </a:r>
            <a:endParaRPr lang="en-US" altLang="zh-CN" dirty="0"/>
          </a:p>
          <a:p>
            <a:pPr lvl="1"/>
            <a:r>
              <a:rPr lang="zh-CN" altLang="en-US" dirty="0"/>
              <a:t>其次，在第一个</a:t>
            </a:r>
            <a:r>
              <a:rPr lang="en-US" altLang="zh-CN" dirty="0"/>
              <a:t>reducer</a:t>
            </a:r>
            <a:r>
              <a:rPr lang="zh-CN" altLang="en-US" dirty="0"/>
              <a:t>输出单词和出现次数的基础上又添加了一个</a:t>
            </a:r>
            <a:r>
              <a:rPr lang="en-US" altLang="zh-CN" dirty="0"/>
              <a:t>reducer</a:t>
            </a:r>
            <a:r>
              <a:rPr lang="zh-CN" altLang="en-US" dirty="0"/>
              <a:t>，从而形成多次规约的程序结构；</a:t>
            </a:r>
            <a:endParaRPr lang="en-US" altLang="zh-CN" dirty="0"/>
          </a:p>
          <a:p>
            <a:pPr lvl="1"/>
            <a:r>
              <a:rPr lang="zh-CN" altLang="en-US" dirty="0"/>
              <a:t>最后，利用</a:t>
            </a:r>
            <a:r>
              <a:rPr lang="en-US" altLang="zh-CN" dirty="0"/>
              <a:t>combiner</a:t>
            </a:r>
            <a:r>
              <a:rPr lang="zh-CN" altLang="en-US" dirty="0"/>
              <a:t>进行程序的优化，使得</a:t>
            </a:r>
            <a:r>
              <a:rPr lang="en-US" altLang="zh-CN" dirty="0"/>
              <a:t>mapper</a:t>
            </a:r>
            <a:r>
              <a:rPr lang="zh-CN" altLang="en-US" dirty="0"/>
              <a:t>所在节点能够对数据进行初步的统计，从而减少数据的通信量。</a:t>
            </a:r>
            <a:endParaRPr lang="en-US" altLang="zh-CN" dirty="0"/>
          </a:p>
          <a:p>
            <a:pPr lvl="1"/>
            <a:r>
              <a:rPr lang="zh-CN" altLang="en-US" dirty="0"/>
              <a:t>具体实现请参考教材</a:t>
            </a:r>
            <a:r>
              <a:rPr lang="en-US" altLang="zh-CN" dirty="0"/>
              <a:t>7.8.1</a:t>
            </a:r>
            <a:endParaRPr lang="zh-CN" altLang="en-US" dirty="0"/>
          </a:p>
          <a:p>
            <a:endParaRPr lang="zh-CN" altLang="en-US" dirty="0"/>
          </a:p>
        </p:txBody>
      </p:sp>
    </p:spTree>
    <p:extLst>
      <p:ext uri="{BB962C8B-B14F-4D97-AF65-F5344CB8AC3E}">
        <p14:creationId xmlns:p14="http://schemas.microsoft.com/office/powerpoint/2010/main" val="9065215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476E42-5177-435E-8881-BE6BE444FFCE}"/>
              </a:ext>
            </a:extLst>
          </p:cNvPr>
          <p:cNvSpPr>
            <a:spLocks noGrp="1"/>
          </p:cNvSpPr>
          <p:nvPr>
            <p:ph type="title"/>
          </p:nvPr>
        </p:nvSpPr>
        <p:spPr/>
        <p:txBody>
          <a:bodyPr>
            <a:normAutofit fontScale="90000"/>
          </a:bodyPr>
          <a:lstStyle/>
          <a:p>
            <a:r>
              <a:rPr lang="en-US" altLang="zh-CN" dirty="0" err="1"/>
              <a:t>MRJob</a:t>
            </a:r>
            <a:r>
              <a:rPr lang="zh-CN" altLang="en-US" dirty="0"/>
              <a:t>应用详解</a:t>
            </a:r>
          </a:p>
        </p:txBody>
      </p:sp>
      <p:sp>
        <p:nvSpPr>
          <p:cNvPr id="3" name="内容占位符 2">
            <a:extLst>
              <a:ext uri="{FF2B5EF4-FFF2-40B4-BE49-F238E27FC236}">
                <a16:creationId xmlns:a16="http://schemas.microsoft.com/office/drawing/2014/main" id="{CA8954AD-0974-48F1-B6C2-94E3307A88E3}"/>
              </a:ext>
            </a:extLst>
          </p:cNvPr>
          <p:cNvSpPr>
            <a:spLocks noGrp="1"/>
          </p:cNvSpPr>
          <p:nvPr>
            <p:ph idx="1"/>
          </p:nvPr>
        </p:nvSpPr>
        <p:spPr/>
        <p:txBody>
          <a:bodyPr>
            <a:normAutofit/>
          </a:bodyPr>
          <a:lstStyle/>
          <a:p>
            <a:r>
              <a:rPr lang="zh-CN" altLang="en-US" sz="2400" dirty="0"/>
              <a:t>通过编写第一个</a:t>
            </a:r>
            <a:r>
              <a:rPr lang="en-US" altLang="zh-CN" sz="2400" dirty="0" err="1"/>
              <a:t>MRJob</a:t>
            </a:r>
            <a:r>
              <a:rPr lang="zh-CN" altLang="en-US" sz="2400" dirty="0"/>
              <a:t>程序可知，为了定义一个</a:t>
            </a:r>
            <a:r>
              <a:rPr lang="en-US" altLang="zh-CN" sz="2400" dirty="0"/>
              <a:t>MapReduce</a:t>
            </a:r>
            <a:r>
              <a:rPr lang="zh-CN" altLang="en-US" sz="2400" dirty="0"/>
              <a:t>程序，只需要重载</a:t>
            </a:r>
            <a:r>
              <a:rPr lang="en-US" altLang="zh-CN" sz="2400" dirty="0" err="1"/>
              <a:t>MRJob</a:t>
            </a:r>
            <a:r>
              <a:rPr lang="zh-CN" altLang="en-US" sz="2400" dirty="0"/>
              <a:t>中的</a:t>
            </a:r>
            <a:r>
              <a:rPr lang="en-US" altLang="zh-CN" sz="2400" dirty="0"/>
              <a:t>mapper</a:t>
            </a:r>
            <a:r>
              <a:rPr lang="zh-CN" altLang="en-US" sz="2400" dirty="0"/>
              <a:t>、</a:t>
            </a:r>
            <a:r>
              <a:rPr lang="en-US" altLang="zh-CN" sz="2400" dirty="0"/>
              <a:t>combiner</a:t>
            </a:r>
            <a:r>
              <a:rPr lang="zh-CN" altLang="en-US" sz="2400" dirty="0"/>
              <a:t>和</a:t>
            </a:r>
            <a:r>
              <a:rPr lang="en-US" altLang="zh-CN" sz="2400" dirty="0"/>
              <a:t>reducer</a:t>
            </a:r>
            <a:r>
              <a:rPr lang="zh-CN" altLang="en-US" sz="2400" dirty="0"/>
              <a:t>，并且重载</a:t>
            </a:r>
            <a:r>
              <a:rPr lang="en-US" altLang="zh-CN" sz="2400" dirty="0"/>
              <a:t>steps</a:t>
            </a:r>
            <a:r>
              <a:rPr lang="zh-CN" altLang="en-US" sz="2400" dirty="0"/>
              <a:t>函数来定义</a:t>
            </a:r>
            <a:r>
              <a:rPr lang="en-US" altLang="zh-CN" sz="2400" dirty="0" err="1"/>
              <a:t>MRJob</a:t>
            </a:r>
            <a:r>
              <a:rPr lang="zh-CN" altLang="en-US" sz="2400" dirty="0"/>
              <a:t>的具体处理流程。</a:t>
            </a:r>
            <a:endParaRPr lang="en-US" altLang="zh-CN" sz="2400" dirty="0"/>
          </a:p>
          <a:p>
            <a:r>
              <a:rPr lang="zh-CN" altLang="en-US" sz="2400" dirty="0"/>
              <a:t>在</a:t>
            </a:r>
            <a:r>
              <a:rPr lang="en-US" altLang="zh-CN" sz="2400" dirty="0" err="1"/>
              <a:t>MRJob</a:t>
            </a:r>
            <a:r>
              <a:rPr lang="zh-CN" altLang="en-US" sz="2400" dirty="0"/>
              <a:t>中，除了上述四个可被重载的函数外，还有如表</a:t>
            </a:r>
            <a:r>
              <a:rPr lang="en-US" altLang="zh-CN" sz="2400" dirty="0"/>
              <a:t>7.14</a:t>
            </a:r>
            <a:r>
              <a:rPr lang="zh-CN" altLang="en-US" sz="2400" dirty="0"/>
              <a:t>的函数可以被重载以定义用户需要的处理流程</a:t>
            </a:r>
          </a:p>
        </p:txBody>
      </p:sp>
    </p:spTree>
    <p:extLst>
      <p:ext uri="{BB962C8B-B14F-4D97-AF65-F5344CB8AC3E}">
        <p14:creationId xmlns:p14="http://schemas.microsoft.com/office/powerpoint/2010/main" val="336354996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30E2A7-4849-4AD1-BAFA-D775D81E8B17}"/>
              </a:ext>
            </a:extLst>
          </p:cNvPr>
          <p:cNvSpPr>
            <a:spLocks noGrp="1"/>
          </p:cNvSpPr>
          <p:nvPr>
            <p:ph type="title"/>
          </p:nvPr>
        </p:nvSpPr>
        <p:spPr/>
        <p:txBody>
          <a:bodyPr>
            <a:normAutofit fontScale="90000"/>
          </a:bodyPr>
          <a:lstStyle/>
          <a:p>
            <a:r>
              <a:rPr lang="en-US" altLang="zh-CN" dirty="0" err="1"/>
              <a:t>MRJob</a:t>
            </a:r>
            <a:r>
              <a:rPr lang="zh-CN" altLang="en-US" dirty="0"/>
              <a:t>应用详解</a:t>
            </a:r>
          </a:p>
        </p:txBody>
      </p:sp>
      <p:sp>
        <p:nvSpPr>
          <p:cNvPr id="3" name="内容占位符 2">
            <a:extLst>
              <a:ext uri="{FF2B5EF4-FFF2-40B4-BE49-F238E27FC236}">
                <a16:creationId xmlns:a16="http://schemas.microsoft.com/office/drawing/2014/main" id="{6BA54A25-E9EF-4C32-ADD9-CC5C122E1EA7}"/>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A2FDAD00-4076-4E81-BAB1-1A2C6508D8D8}"/>
              </a:ext>
            </a:extLst>
          </p:cNvPr>
          <p:cNvPicPr>
            <a:picLocks noChangeAspect="1"/>
          </p:cNvPicPr>
          <p:nvPr/>
        </p:nvPicPr>
        <p:blipFill>
          <a:blip r:embed="rId2"/>
          <a:stretch>
            <a:fillRect/>
          </a:stretch>
        </p:blipFill>
        <p:spPr>
          <a:xfrm>
            <a:off x="834536" y="866762"/>
            <a:ext cx="7474928" cy="4250574"/>
          </a:xfrm>
          <a:prstGeom prst="rect">
            <a:avLst/>
          </a:prstGeom>
        </p:spPr>
      </p:pic>
    </p:spTree>
    <p:extLst>
      <p:ext uri="{BB962C8B-B14F-4D97-AF65-F5344CB8AC3E}">
        <p14:creationId xmlns:p14="http://schemas.microsoft.com/office/powerpoint/2010/main" val="11036712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0C68E4-51AC-49DC-B4B8-DE8539A1116A}"/>
              </a:ext>
            </a:extLst>
          </p:cNvPr>
          <p:cNvSpPr>
            <a:spLocks noGrp="1"/>
          </p:cNvSpPr>
          <p:nvPr>
            <p:ph type="title"/>
          </p:nvPr>
        </p:nvSpPr>
        <p:spPr/>
        <p:txBody>
          <a:bodyPr>
            <a:normAutofit fontScale="90000"/>
          </a:bodyPr>
          <a:lstStyle/>
          <a:p>
            <a:r>
              <a:rPr lang="en-US" altLang="zh-CN" dirty="0" err="1"/>
              <a:t>MRJob</a:t>
            </a:r>
            <a:r>
              <a:rPr lang="zh-CN" altLang="en-US" dirty="0"/>
              <a:t>应用详解</a:t>
            </a:r>
          </a:p>
        </p:txBody>
      </p:sp>
      <p:sp>
        <p:nvSpPr>
          <p:cNvPr id="3" name="内容占位符 2">
            <a:extLst>
              <a:ext uri="{FF2B5EF4-FFF2-40B4-BE49-F238E27FC236}">
                <a16:creationId xmlns:a16="http://schemas.microsoft.com/office/drawing/2014/main" id="{B947F364-7121-420B-A8D0-5DC5FDCA69BB}"/>
              </a:ext>
            </a:extLst>
          </p:cNvPr>
          <p:cNvSpPr>
            <a:spLocks noGrp="1"/>
          </p:cNvSpPr>
          <p:nvPr>
            <p:ph idx="1"/>
          </p:nvPr>
        </p:nvSpPr>
        <p:spPr/>
        <p:txBody>
          <a:bodyPr>
            <a:normAutofit fontScale="62500" lnSpcReduction="20000"/>
          </a:bodyPr>
          <a:lstStyle/>
          <a:p>
            <a:r>
              <a:rPr lang="zh-CN" altLang="en-US" dirty="0"/>
              <a:t>任务的初始化与释放（</a:t>
            </a:r>
            <a:r>
              <a:rPr lang="en-US" altLang="zh-CN" dirty="0"/>
              <a:t>Setup and Teardown</a:t>
            </a:r>
            <a:r>
              <a:rPr lang="zh-CN" altLang="en-US" dirty="0"/>
              <a:t>）</a:t>
            </a:r>
          </a:p>
          <a:p>
            <a:pPr lvl="1"/>
            <a:r>
              <a:rPr lang="en-US" altLang="zh-CN" dirty="0"/>
              <a:t>Python</a:t>
            </a:r>
            <a:r>
              <a:rPr lang="zh-CN" altLang="en-US" dirty="0"/>
              <a:t>脚本在每个任务中都会被</a:t>
            </a:r>
            <a:r>
              <a:rPr lang="en-US" altLang="zh-CN" dirty="0"/>
              <a:t>Hadoop Streaming</a:t>
            </a:r>
            <a:r>
              <a:rPr lang="zh-CN" altLang="en-US" dirty="0"/>
              <a:t>调用，开始</a:t>
            </a:r>
            <a:r>
              <a:rPr lang="en-US" altLang="zh-CN" dirty="0"/>
              <a:t>Python</a:t>
            </a:r>
            <a:r>
              <a:rPr lang="zh-CN" altLang="en-US" dirty="0"/>
              <a:t>程序后，从</a:t>
            </a:r>
            <a:r>
              <a:rPr lang="en-US" altLang="zh-CN" dirty="0"/>
              <a:t>STDIN</a:t>
            </a:r>
            <a:r>
              <a:rPr lang="zh-CN" altLang="en-US" dirty="0"/>
              <a:t>输入数据给</a:t>
            </a:r>
            <a:r>
              <a:rPr lang="en-US" altLang="zh-CN" dirty="0"/>
              <a:t>Python</a:t>
            </a:r>
            <a:r>
              <a:rPr lang="zh-CN" altLang="en-US" dirty="0"/>
              <a:t>。</a:t>
            </a:r>
            <a:r>
              <a:rPr lang="en-US" altLang="zh-CN" dirty="0" err="1"/>
              <a:t>Mrjob</a:t>
            </a:r>
            <a:r>
              <a:rPr lang="zh-CN" altLang="en-US" dirty="0"/>
              <a:t>将会在每个任务初始化时调用*</a:t>
            </a:r>
            <a:r>
              <a:rPr lang="en-US" altLang="zh-CN" dirty="0"/>
              <a:t>_</a:t>
            </a:r>
            <a:r>
              <a:rPr lang="en-US" altLang="zh-CN" dirty="0" err="1"/>
              <a:t>init</a:t>
            </a:r>
            <a:r>
              <a:rPr lang="en-US" altLang="zh-CN" dirty="0"/>
              <a:t>()</a:t>
            </a:r>
            <a:r>
              <a:rPr lang="zh-CN" altLang="en-US" dirty="0"/>
              <a:t>方法，在每个任务结束时调用*</a:t>
            </a:r>
            <a:r>
              <a:rPr lang="en-US" altLang="zh-CN" dirty="0"/>
              <a:t>_final()</a:t>
            </a:r>
            <a:r>
              <a:rPr lang="zh-CN" altLang="en-US" dirty="0"/>
              <a:t>方法。与之对应的方法有：</a:t>
            </a:r>
          </a:p>
          <a:p>
            <a:pPr lvl="1"/>
            <a:r>
              <a:rPr lang="en-US" altLang="zh-CN" dirty="0" err="1"/>
              <a:t>mapper_init</a:t>
            </a:r>
            <a:r>
              <a:rPr lang="en-US" altLang="zh-CN" dirty="0"/>
              <a:t>()</a:t>
            </a:r>
          </a:p>
          <a:p>
            <a:pPr lvl="1"/>
            <a:r>
              <a:rPr lang="en-US" altLang="zh-CN" dirty="0" err="1"/>
              <a:t>combiner_init</a:t>
            </a:r>
            <a:r>
              <a:rPr lang="en-US" altLang="zh-CN" dirty="0"/>
              <a:t>()</a:t>
            </a:r>
          </a:p>
          <a:p>
            <a:pPr lvl="1"/>
            <a:r>
              <a:rPr lang="en-US" altLang="zh-CN" dirty="0" err="1"/>
              <a:t>reducer_init</a:t>
            </a:r>
            <a:r>
              <a:rPr lang="en-US" altLang="zh-CN" dirty="0"/>
              <a:t>()</a:t>
            </a:r>
          </a:p>
          <a:p>
            <a:pPr lvl="1"/>
            <a:r>
              <a:rPr lang="en-US" altLang="zh-CN" dirty="0" err="1"/>
              <a:t>mapper_final</a:t>
            </a:r>
            <a:r>
              <a:rPr lang="en-US" altLang="zh-CN" dirty="0"/>
              <a:t>()</a:t>
            </a:r>
          </a:p>
          <a:p>
            <a:pPr lvl="1"/>
            <a:r>
              <a:rPr lang="en-US" altLang="zh-CN" dirty="0" err="1"/>
              <a:t>combiner_final</a:t>
            </a:r>
            <a:r>
              <a:rPr lang="en-US" altLang="zh-CN" dirty="0"/>
              <a:t>()</a:t>
            </a:r>
          </a:p>
          <a:p>
            <a:pPr lvl="1"/>
            <a:r>
              <a:rPr lang="en-US" altLang="zh-CN" dirty="0" err="1"/>
              <a:t>reducer_final</a:t>
            </a:r>
            <a:r>
              <a:rPr lang="en-US" altLang="zh-CN" dirty="0"/>
              <a:t>()</a:t>
            </a:r>
          </a:p>
          <a:p>
            <a:r>
              <a:rPr lang="zh-CN" altLang="en-US" dirty="0"/>
              <a:t>如果在一个任务中需要预先加载一些文件（例如用到</a:t>
            </a:r>
            <a:r>
              <a:rPr lang="en-US" altLang="zh-CN" dirty="0" err="1"/>
              <a:t>sqlite</a:t>
            </a:r>
            <a:r>
              <a:rPr lang="zh-CN" altLang="en-US" dirty="0"/>
              <a:t>数据库）或者创建临时文件等操作，就可以使用这些方法的重载来完成。</a:t>
            </a:r>
          </a:p>
          <a:p>
            <a:endParaRPr lang="zh-CN" altLang="en-US" dirty="0"/>
          </a:p>
        </p:txBody>
      </p:sp>
    </p:spTree>
    <p:extLst>
      <p:ext uri="{BB962C8B-B14F-4D97-AF65-F5344CB8AC3E}">
        <p14:creationId xmlns:p14="http://schemas.microsoft.com/office/powerpoint/2010/main" val="31549984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638953-F570-4808-B567-E5BDB162817B}"/>
              </a:ext>
            </a:extLst>
          </p:cNvPr>
          <p:cNvSpPr>
            <a:spLocks noGrp="1"/>
          </p:cNvSpPr>
          <p:nvPr>
            <p:ph type="title"/>
          </p:nvPr>
        </p:nvSpPr>
        <p:spPr/>
        <p:txBody>
          <a:bodyPr>
            <a:normAutofit fontScale="90000"/>
          </a:bodyPr>
          <a:lstStyle/>
          <a:p>
            <a:r>
              <a:rPr lang="en-US" altLang="zh-CN" dirty="0" err="1"/>
              <a:t>MRJob</a:t>
            </a:r>
            <a:r>
              <a:rPr lang="zh-CN" altLang="en-US" dirty="0"/>
              <a:t>应用详解</a:t>
            </a:r>
          </a:p>
        </p:txBody>
      </p:sp>
      <p:sp>
        <p:nvSpPr>
          <p:cNvPr id="3" name="内容占位符 2">
            <a:extLst>
              <a:ext uri="{FF2B5EF4-FFF2-40B4-BE49-F238E27FC236}">
                <a16:creationId xmlns:a16="http://schemas.microsoft.com/office/drawing/2014/main" id="{EF07EE61-21C6-4455-A339-BD0102DAE643}"/>
              </a:ext>
            </a:extLst>
          </p:cNvPr>
          <p:cNvSpPr>
            <a:spLocks noGrp="1"/>
          </p:cNvSpPr>
          <p:nvPr>
            <p:ph idx="1"/>
          </p:nvPr>
        </p:nvSpPr>
        <p:spPr/>
        <p:txBody>
          <a:bodyPr>
            <a:normAutofit fontScale="70000" lnSpcReduction="20000"/>
          </a:bodyPr>
          <a:lstStyle/>
          <a:p>
            <a:r>
              <a:rPr lang="en-US" altLang="zh-CN" dirty="0"/>
              <a:t>Shell</a:t>
            </a:r>
            <a:r>
              <a:rPr lang="zh-CN" altLang="en-US" dirty="0"/>
              <a:t>命令作为任务（</a:t>
            </a:r>
            <a:r>
              <a:rPr lang="en-US" altLang="zh-CN" dirty="0"/>
              <a:t>Setup and Teardown</a:t>
            </a:r>
            <a:r>
              <a:rPr lang="zh-CN" altLang="en-US" dirty="0"/>
              <a:t>）</a:t>
            </a:r>
          </a:p>
          <a:p>
            <a:pPr lvl="1"/>
            <a:r>
              <a:rPr lang="en-US" altLang="zh-CN" dirty="0"/>
              <a:t>Linux</a:t>
            </a:r>
            <a:r>
              <a:rPr lang="zh-CN" altLang="en-US" dirty="0"/>
              <a:t>的</a:t>
            </a:r>
            <a:r>
              <a:rPr lang="en-US" altLang="zh-CN" dirty="0"/>
              <a:t>shell</a:t>
            </a:r>
            <a:r>
              <a:rPr lang="zh-CN" altLang="en-US" dirty="0"/>
              <a:t>提供了大量实用的小工具，例如</a:t>
            </a:r>
            <a:r>
              <a:rPr lang="en-US" altLang="zh-CN" dirty="0"/>
              <a:t>grep</a:t>
            </a:r>
            <a:r>
              <a:rPr lang="zh-CN" altLang="en-US" dirty="0"/>
              <a:t>、</a:t>
            </a:r>
            <a:r>
              <a:rPr lang="en-US" altLang="zh-CN" dirty="0" err="1"/>
              <a:t>wc</a:t>
            </a:r>
            <a:r>
              <a:rPr lang="zh-CN" altLang="en-US" dirty="0"/>
              <a:t>等，当某个任务的工作正好与这些工具的功能相同时，便可以通过将某个步骤指定为</a:t>
            </a:r>
            <a:r>
              <a:rPr lang="en-US" altLang="zh-CN" dirty="0"/>
              <a:t>shell</a:t>
            </a:r>
            <a:r>
              <a:rPr lang="zh-CN" altLang="en-US" dirty="0"/>
              <a:t>命令，从而完全放弃该步骤的脚本，而利用</a:t>
            </a:r>
            <a:r>
              <a:rPr lang="en-US" altLang="zh-CN" dirty="0"/>
              <a:t>shell</a:t>
            </a:r>
            <a:r>
              <a:rPr lang="zh-CN" altLang="en-US" dirty="0"/>
              <a:t>命令代替之。</a:t>
            </a:r>
          </a:p>
          <a:p>
            <a:pPr lvl="1"/>
            <a:r>
              <a:rPr lang="en-US" altLang="zh-CN" dirty="0" err="1"/>
              <a:t>Mrjob</a:t>
            </a:r>
            <a:r>
              <a:rPr lang="zh-CN" altLang="en-US" dirty="0"/>
              <a:t>提供了支持这种实现的接口，如果需要这样做，可以用</a:t>
            </a:r>
            <a:r>
              <a:rPr lang="en-US" altLang="zh-CN" dirty="0" err="1"/>
              <a:t>mapper_cmd</a:t>
            </a:r>
            <a:r>
              <a:rPr lang="zh-CN" altLang="en-US" dirty="0"/>
              <a:t>、</a:t>
            </a:r>
            <a:r>
              <a:rPr lang="en-US" altLang="zh-CN" dirty="0" err="1"/>
              <a:t>combiner_cmd</a:t>
            </a:r>
            <a:r>
              <a:rPr lang="zh-CN" altLang="en-US" dirty="0"/>
              <a:t>或</a:t>
            </a:r>
            <a:r>
              <a:rPr lang="en-US" altLang="zh-CN" dirty="0" err="1"/>
              <a:t>reducer_cmd</a:t>
            </a:r>
            <a:r>
              <a:rPr lang="zh-CN" altLang="en-US" dirty="0"/>
              <a:t>作为</a:t>
            </a:r>
            <a:r>
              <a:rPr lang="en-US" altLang="zh-CN" dirty="0" err="1"/>
              <a:t>MRStep</a:t>
            </a:r>
            <a:r>
              <a:rPr lang="zh-CN" altLang="en-US" dirty="0"/>
              <a:t>的参数，或者重载</a:t>
            </a:r>
            <a:r>
              <a:rPr lang="en-US" altLang="zh-CN" dirty="0" err="1"/>
              <a:t>MRJob</a:t>
            </a:r>
            <a:r>
              <a:rPr lang="zh-CN" altLang="en-US" dirty="0"/>
              <a:t>中对应的方法</a:t>
            </a:r>
            <a:r>
              <a:rPr lang="en-US" altLang="zh-CN" dirty="0" err="1"/>
              <a:t>mapper_cmd</a:t>
            </a:r>
            <a:r>
              <a:rPr lang="en-US" altLang="zh-CN" dirty="0"/>
              <a:t>()</a:t>
            </a:r>
            <a:r>
              <a:rPr lang="zh-CN" altLang="en-US" dirty="0"/>
              <a:t>、</a:t>
            </a:r>
            <a:r>
              <a:rPr lang="en-US" altLang="zh-CN" dirty="0" err="1"/>
              <a:t>combiner_cmd</a:t>
            </a:r>
            <a:r>
              <a:rPr lang="en-US" altLang="zh-CN" dirty="0"/>
              <a:t>()</a:t>
            </a:r>
            <a:r>
              <a:rPr lang="zh-CN" altLang="en-US" dirty="0"/>
              <a:t>、和</a:t>
            </a:r>
            <a:r>
              <a:rPr lang="en-US" altLang="zh-CN" dirty="0" err="1"/>
              <a:t>reducer_cmd</a:t>
            </a:r>
            <a:r>
              <a:rPr lang="en-US" altLang="zh-CN" dirty="0"/>
              <a:t>()</a:t>
            </a:r>
            <a:r>
              <a:rPr lang="zh-CN" altLang="en-US" dirty="0"/>
              <a:t>。</a:t>
            </a:r>
          </a:p>
          <a:p>
            <a:pPr lvl="1"/>
            <a:r>
              <a:rPr lang="zh-CN" altLang="en-US" dirty="0"/>
              <a:t>需要注意的是：缺省的”</a:t>
            </a:r>
            <a:r>
              <a:rPr lang="en-US" altLang="zh-CN" dirty="0"/>
              <a:t>-r inline ”</a:t>
            </a:r>
            <a:r>
              <a:rPr lang="zh-CN" altLang="en-US" dirty="0"/>
              <a:t>运行</a:t>
            </a:r>
            <a:r>
              <a:rPr lang="en-US" altLang="zh-CN" dirty="0"/>
              <a:t>Python</a:t>
            </a:r>
            <a:r>
              <a:rPr lang="zh-CN" altLang="en-US" dirty="0"/>
              <a:t>方式不支持”*</a:t>
            </a:r>
            <a:r>
              <a:rPr lang="en-US" altLang="zh-CN" dirty="0"/>
              <a:t>_</a:t>
            </a:r>
            <a:r>
              <a:rPr lang="en-US" altLang="zh-CN" dirty="0" err="1"/>
              <a:t>cmd</a:t>
            </a:r>
            <a:r>
              <a:rPr lang="en-US" altLang="zh-CN" dirty="0"/>
              <a:t>()”</a:t>
            </a:r>
            <a:r>
              <a:rPr lang="zh-CN" altLang="en-US" dirty="0"/>
              <a:t>模式，若要在本地使用该命令，需要指定运行方式为”</a:t>
            </a:r>
            <a:r>
              <a:rPr lang="en-US" altLang="zh-CN" dirty="0"/>
              <a:t>-r local”</a:t>
            </a:r>
            <a:r>
              <a:rPr lang="zh-CN" altLang="en-US" dirty="0"/>
              <a:t>。</a:t>
            </a:r>
          </a:p>
          <a:p>
            <a:endParaRPr lang="zh-CN" altLang="en-US" dirty="0"/>
          </a:p>
        </p:txBody>
      </p:sp>
    </p:spTree>
    <p:extLst>
      <p:ext uri="{BB962C8B-B14F-4D97-AF65-F5344CB8AC3E}">
        <p14:creationId xmlns:p14="http://schemas.microsoft.com/office/powerpoint/2010/main" val="52305111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638953-F570-4808-B567-E5BDB162817B}"/>
              </a:ext>
            </a:extLst>
          </p:cNvPr>
          <p:cNvSpPr>
            <a:spLocks noGrp="1"/>
          </p:cNvSpPr>
          <p:nvPr>
            <p:ph type="title"/>
          </p:nvPr>
        </p:nvSpPr>
        <p:spPr/>
        <p:txBody>
          <a:bodyPr>
            <a:normAutofit fontScale="90000"/>
          </a:bodyPr>
          <a:lstStyle/>
          <a:p>
            <a:r>
              <a:rPr lang="en-US" altLang="zh-CN" dirty="0" err="1"/>
              <a:t>MRJob</a:t>
            </a:r>
            <a:r>
              <a:rPr lang="zh-CN" altLang="en-US" dirty="0"/>
              <a:t>应用详解</a:t>
            </a:r>
          </a:p>
        </p:txBody>
      </p:sp>
      <p:sp>
        <p:nvSpPr>
          <p:cNvPr id="3" name="内容占位符 2">
            <a:extLst>
              <a:ext uri="{FF2B5EF4-FFF2-40B4-BE49-F238E27FC236}">
                <a16:creationId xmlns:a16="http://schemas.microsoft.com/office/drawing/2014/main" id="{EF07EE61-21C6-4455-A339-BD0102DAE643}"/>
              </a:ext>
            </a:extLst>
          </p:cNvPr>
          <p:cNvSpPr>
            <a:spLocks noGrp="1"/>
          </p:cNvSpPr>
          <p:nvPr>
            <p:ph idx="1"/>
          </p:nvPr>
        </p:nvSpPr>
        <p:spPr/>
        <p:txBody>
          <a:bodyPr>
            <a:normAutofit/>
          </a:bodyPr>
          <a:lstStyle/>
          <a:p>
            <a:r>
              <a:rPr lang="zh-CN" altLang="en-US" sz="2800" dirty="0"/>
              <a:t>利用</a:t>
            </a:r>
            <a:r>
              <a:rPr lang="en-US" altLang="zh-CN" sz="2800" dirty="0"/>
              <a:t>shell</a:t>
            </a:r>
            <a:r>
              <a:rPr lang="zh-CN" altLang="en-US" sz="2800" dirty="0"/>
              <a:t>命令指定过滤器</a:t>
            </a:r>
          </a:p>
          <a:p>
            <a:pPr lvl="1"/>
            <a:r>
              <a:rPr lang="en-US" altLang="zh-CN" sz="2400" dirty="0" err="1"/>
              <a:t>MRStep</a:t>
            </a:r>
            <a:r>
              <a:rPr lang="zh-CN" altLang="en-US" sz="2400" dirty="0"/>
              <a:t>允许用户为任务的输入指定一个过滤器，在数据送达具体任务前对数据进行</a:t>
            </a:r>
            <a:r>
              <a:rPr lang="zh-CN" altLang="en-US" sz="2400"/>
              <a:t>过滤。</a:t>
            </a:r>
            <a:endParaRPr lang="en-US" altLang="zh-CN" sz="2400"/>
          </a:p>
          <a:p>
            <a:pPr lvl="1"/>
            <a:r>
              <a:rPr lang="zh-CN" altLang="en-US" sz="2400"/>
              <a:t>其</a:t>
            </a:r>
            <a:r>
              <a:rPr lang="zh-CN" altLang="en-US" sz="2400" dirty="0"/>
              <a:t>设定方法可以是为</a:t>
            </a:r>
            <a:r>
              <a:rPr lang="en-US" altLang="zh-CN" sz="2400" dirty="0" err="1"/>
              <a:t>MRStep</a:t>
            </a:r>
            <a:r>
              <a:rPr lang="zh-CN" altLang="en-US" sz="2400" dirty="0"/>
              <a:t>设定</a:t>
            </a:r>
            <a:r>
              <a:rPr lang="en-US" altLang="zh-CN" sz="2400" dirty="0" err="1"/>
              <a:t>mapper_pre_filter</a:t>
            </a:r>
            <a:r>
              <a:rPr lang="zh-CN" altLang="en-US" sz="2400" dirty="0"/>
              <a:t>和</a:t>
            </a:r>
            <a:r>
              <a:rPr lang="en-US" altLang="zh-CN" sz="2400" dirty="0" err="1"/>
              <a:t>reducer_pre_filter</a:t>
            </a:r>
            <a:r>
              <a:rPr lang="zh-CN" altLang="en-US" sz="2400" dirty="0"/>
              <a:t>的参数，也可以通过在</a:t>
            </a:r>
            <a:r>
              <a:rPr lang="en-US" altLang="zh-CN" sz="2400" dirty="0" err="1"/>
              <a:t>MRJob</a:t>
            </a:r>
            <a:r>
              <a:rPr lang="zh-CN" altLang="en-US" sz="2400" dirty="0"/>
              <a:t>中重载</a:t>
            </a:r>
            <a:r>
              <a:rPr lang="en-US" altLang="zh-CN" sz="2400" dirty="0" err="1"/>
              <a:t>mapper_pre_filter</a:t>
            </a:r>
            <a:r>
              <a:rPr lang="en-US" altLang="zh-CN" sz="2400" dirty="0"/>
              <a:t>()</a:t>
            </a:r>
            <a:r>
              <a:rPr lang="zh-CN" altLang="en-US" sz="2400" dirty="0"/>
              <a:t>方法和</a:t>
            </a:r>
            <a:r>
              <a:rPr lang="en-US" altLang="zh-CN" sz="2400" dirty="0" err="1"/>
              <a:t>reducer_pre_filter</a:t>
            </a:r>
            <a:r>
              <a:rPr lang="en-US" altLang="zh-CN" sz="2400" dirty="0"/>
              <a:t>()</a:t>
            </a:r>
            <a:r>
              <a:rPr lang="zh-CN" altLang="en-US" sz="2400" dirty="0"/>
              <a:t>方法。</a:t>
            </a:r>
          </a:p>
          <a:p>
            <a:endParaRPr lang="zh-CN" altLang="en-US" dirty="0"/>
          </a:p>
        </p:txBody>
      </p:sp>
    </p:spTree>
    <p:extLst>
      <p:ext uri="{BB962C8B-B14F-4D97-AF65-F5344CB8AC3E}">
        <p14:creationId xmlns:p14="http://schemas.microsoft.com/office/powerpoint/2010/main" val="35450169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4F5191-F625-42AE-9F73-51CAC8D7C09D}"/>
              </a:ext>
            </a:extLst>
          </p:cNvPr>
          <p:cNvSpPr>
            <a:spLocks noGrp="1"/>
          </p:cNvSpPr>
          <p:nvPr>
            <p:ph type="title"/>
          </p:nvPr>
        </p:nvSpPr>
        <p:spPr/>
        <p:txBody>
          <a:bodyPr>
            <a:normAutofit fontScale="90000"/>
          </a:bodyPr>
          <a:lstStyle/>
          <a:p>
            <a:r>
              <a:rPr lang="en-US" altLang="zh-CN" dirty="0" err="1"/>
              <a:t>MRJob</a:t>
            </a:r>
            <a:r>
              <a:rPr lang="zh-CN" altLang="en-US" dirty="0"/>
              <a:t>的协议</a:t>
            </a:r>
          </a:p>
        </p:txBody>
      </p:sp>
      <p:sp>
        <p:nvSpPr>
          <p:cNvPr id="3" name="内容占位符 2">
            <a:extLst>
              <a:ext uri="{FF2B5EF4-FFF2-40B4-BE49-F238E27FC236}">
                <a16:creationId xmlns:a16="http://schemas.microsoft.com/office/drawing/2014/main" id="{02327DAD-CF08-4AEA-AB72-F37A29659AD9}"/>
              </a:ext>
            </a:extLst>
          </p:cNvPr>
          <p:cNvSpPr>
            <a:spLocks noGrp="1"/>
          </p:cNvSpPr>
          <p:nvPr>
            <p:ph idx="1"/>
          </p:nvPr>
        </p:nvSpPr>
        <p:spPr/>
        <p:txBody>
          <a:bodyPr>
            <a:normAutofit lnSpcReduction="10000"/>
          </a:bodyPr>
          <a:lstStyle/>
          <a:p>
            <a:r>
              <a:rPr lang="en-US" altLang="zh-CN" sz="2400" dirty="0"/>
              <a:t>Hadoop streaming</a:t>
            </a:r>
            <a:r>
              <a:rPr lang="zh-CN" altLang="en-US" sz="2400" dirty="0"/>
              <a:t>假设所有数据都是按行的方式组织的。缺省情况下，</a:t>
            </a:r>
            <a:r>
              <a:rPr lang="en-US" altLang="zh-CN" sz="2400" dirty="0" err="1"/>
              <a:t>MRJob</a:t>
            </a:r>
            <a:r>
              <a:rPr lang="zh-CN" altLang="en-US" sz="2400" dirty="0"/>
              <a:t>假定所有输出数据都是</a:t>
            </a:r>
            <a:r>
              <a:rPr lang="en-US" altLang="zh-CN" sz="2400" dirty="0"/>
              <a:t>JSON</a:t>
            </a:r>
            <a:r>
              <a:rPr lang="zh-CN" altLang="en-US" sz="2400" dirty="0"/>
              <a:t>格式的，但是他也可以通过设置读写数据协议（</a:t>
            </a:r>
            <a:r>
              <a:rPr lang="en-US" altLang="zh-CN" sz="2400" dirty="0"/>
              <a:t>Protocols</a:t>
            </a:r>
            <a:r>
              <a:rPr lang="zh-CN" altLang="en-US" sz="2400" dirty="0"/>
              <a:t>，这里的协议就是数据结构、数据格式）支持读写任意格式的行数据。</a:t>
            </a:r>
            <a:endParaRPr lang="en-US" altLang="zh-CN" sz="2400" dirty="0"/>
          </a:p>
          <a:p>
            <a:r>
              <a:rPr lang="zh-CN" altLang="en-US" sz="2400" dirty="0"/>
              <a:t>每个</a:t>
            </a:r>
            <a:r>
              <a:rPr lang="en-US" altLang="zh-CN" sz="2400" dirty="0" err="1"/>
              <a:t>MRJob</a:t>
            </a:r>
            <a:r>
              <a:rPr lang="zh-CN" altLang="en-US" sz="2400" dirty="0"/>
              <a:t>都有其对应的输入协议、输出协议和内部数据交互协议，我们可以根据对应的输入、输出和内部数据的数据格式编写相应的读写程序，从而实现对任意格式数据的操作。</a:t>
            </a:r>
          </a:p>
        </p:txBody>
      </p:sp>
    </p:spTree>
    <p:extLst>
      <p:ext uri="{BB962C8B-B14F-4D97-AF65-F5344CB8AC3E}">
        <p14:creationId xmlns:p14="http://schemas.microsoft.com/office/powerpoint/2010/main" val="143315416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4F5191-F625-42AE-9F73-51CAC8D7C09D}"/>
              </a:ext>
            </a:extLst>
          </p:cNvPr>
          <p:cNvSpPr>
            <a:spLocks noGrp="1"/>
          </p:cNvSpPr>
          <p:nvPr>
            <p:ph type="title"/>
          </p:nvPr>
        </p:nvSpPr>
        <p:spPr/>
        <p:txBody>
          <a:bodyPr>
            <a:normAutofit fontScale="90000"/>
          </a:bodyPr>
          <a:lstStyle/>
          <a:p>
            <a:r>
              <a:rPr lang="en-US" altLang="zh-CN" dirty="0" err="1"/>
              <a:t>MRJob</a:t>
            </a:r>
            <a:r>
              <a:rPr lang="zh-CN" altLang="en-US" dirty="0"/>
              <a:t>的协议</a:t>
            </a:r>
          </a:p>
        </p:txBody>
      </p:sp>
      <p:sp>
        <p:nvSpPr>
          <p:cNvPr id="3" name="内容占位符 2">
            <a:extLst>
              <a:ext uri="{FF2B5EF4-FFF2-40B4-BE49-F238E27FC236}">
                <a16:creationId xmlns:a16="http://schemas.microsoft.com/office/drawing/2014/main" id="{02327DAD-CF08-4AEA-AB72-F37A29659AD9}"/>
              </a:ext>
            </a:extLst>
          </p:cNvPr>
          <p:cNvSpPr>
            <a:spLocks noGrp="1"/>
          </p:cNvSpPr>
          <p:nvPr>
            <p:ph idx="1"/>
          </p:nvPr>
        </p:nvSpPr>
        <p:spPr>
          <a:xfrm>
            <a:off x="457200" y="1200150"/>
            <a:ext cx="8229600" cy="3747863"/>
          </a:xfrm>
        </p:spPr>
        <p:txBody>
          <a:bodyPr>
            <a:normAutofit fontScale="77500" lnSpcReduction="20000"/>
          </a:bodyPr>
          <a:lstStyle/>
          <a:p>
            <a:r>
              <a:rPr lang="en-US" altLang="zh-CN" dirty="0" err="1"/>
              <a:t>MRJob</a:t>
            </a:r>
            <a:r>
              <a:rPr lang="zh-CN" altLang="en-US" dirty="0"/>
              <a:t>协议设置</a:t>
            </a:r>
          </a:p>
          <a:p>
            <a:pPr lvl="1"/>
            <a:r>
              <a:rPr lang="en-US" altLang="zh-CN" dirty="0"/>
              <a:t>Protocol</a:t>
            </a:r>
            <a:r>
              <a:rPr lang="zh-CN" altLang="en-US" dirty="0"/>
              <a:t>对应着一个读方法</a:t>
            </a:r>
            <a:r>
              <a:rPr lang="en-US" altLang="zh-CN" dirty="0"/>
              <a:t>read()</a:t>
            </a:r>
            <a:r>
              <a:rPr lang="zh-CN" altLang="en-US" dirty="0"/>
              <a:t>和一个写方法</a:t>
            </a:r>
            <a:r>
              <a:rPr lang="en-US" altLang="zh-CN" dirty="0"/>
              <a:t>write()</a:t>
            </a:r>
            <a:r>
              <a:rPr lang="zh-CN" altLang="en-US" dirty="0"/>
              <a:t>。读方法</a:t>
            </a:r>
            <a:r>
              <a:rPr lang="en-US" altLang="zh-CN" dirty="0"/>
              <a:t>read()</a:t>
            </a:r>
            <a:r>
              <a:rPr lang="zh-CN" altLang="en-US" dirty="0"/>
              <a:t>用于把字节数据转换为</a:t>
            </a:r>
            <a:r>
              <a:rPr lang="en-US" altLang="zh-CN" dirty="0"/>
              <a:t>&lt;key, values&gt;</a:t>
            </a:r>
            <a:r>
              <a:rPr lang="zh-CN" altLang="en-US" dirty="0"/>
              <a:t>的</a:t>
            </a:r>
            <a:r>
              <a:rPr lang="en-US" altLang="zh-CN" dirty="0"/>
              <a:t>Python</a:t>
            </a:r>
            <a:r>
              <a:rPr lang="zh-CN" altLang="en-US" dirty="0"/>
              <a:t>对象；写方法</a:t>
            </a:r>
            <a:r>
              <a:rPr lang="en-US" altLang="zh-CN" dirty="0"/>
              <a:t>write()</a:t>
            </a:r>
            <a:r>
              <a:rPr lang="zh-CN" altLang="en-US" dirty="0"/>
              <a:t>则把</a:t>
            </a:r>
            <a:r>
              <a:rPr lang="en-US" altLang="zh-CN" dirty="0"/>
              <a:t>&lt;key, values&gt;</a:t>
            </a:r>
            <a:r>
              <a:rPr lang="zh-CN" altLang="en-US" dirty="0"/>
              <a:t>的</a:t>
            </a:r>
            <a:r>
              <a:rPr lang="en-US" altLang="zh-CN" dirty="0"/>
              <a:t>Python</a:t>
            </a:r>
            <a:r>
              <a:rPr lang="zh-CN" altLang="en-US" dirty="0"/>
              <a:t>对象转换为字节</a:t>
            </a:r>
            <a:r>
              <a:rPr lang="zh-CN" altLang="en-US"/>
              <a:t>流。</a:t>
            </a:r>
            <a:endParaRPr lang="en-US" altLang="zh-CN"/>
          </a:p>
          <a:p>
            <a:pPr lvl="1"/>
            <a:r>
              <a:rPr lang="zh-CN" altLang="en-US"/>
              <a:t>输入</a:t>
            </a:r>
            <a:r>
              <a:rPr lang="zh-CN" altLang="en-US" dirty="0"/>
              <a:t>协议（</a:t>
            </a:r>
            <a:r>
              <a:rPr lang="en-US" altLang="zh-CN" dirty="0"/>
              <a:t>input protocol</a:t>
            </a:r>
            <a:r>
              <a:rPr lang="zh-CN" altLang="en-US" dirty="0"/>
              <a:t>）被用来读取字节数据并发送给第一个任务（通常是</a:t>
            </a:r>
            <a:r>
              <a:rPr lang="en-US" altLang="zh-CN" dirty="0"/>
              <a:t>mapper</a:t>
            </a:r>
            <a:r>
              <a:rPr lang="zh-CN" altLang="en-US" dirty="0"/>
              <a:t>，若</a:t>
            </a:r>
            <a:r>
              <a:rPr lang="en-US" altLang="zh-CN" dirty="0" err="1"/>
              <a:t>MRJob</a:t>
            </a:r>
            <a:r>
              <a:rPr lang="zh-CN" altLang="en-US" dirty="0"/>
              <a:t>中没有用到</a:t>
            </a:r>
            <a:r>
              <a:rPr lang="en-US" altLang="zh-CN" dirty="0"/>
              <a:t>mapper</a:t>
            </a:r>
            <a:r>
              <a:rPr lang="zh-CN" altLang="en-US" dirty="0"/>
              <a:t>，则为</a:t>
            </a:r>
            <a:r>
              <a:rPr lang="en-US" altLang="zh-CN" dirty="0"/>
              <a:t>reducer</a:t>
            </a:r>
            <a:r>
              <a:rPr lang="zh-CN" altLang="en-US"/>
              <a:t>）；</a:t>
            </a:r>
            <a:endParaRPr lang="en-US" altLang="zh-CN"/>
          </a:p>
          <a:p>
            <a:pPr lvl="1"/>
            <a:r>
              <a:rPr lang="zh-CN" altLang="en-US"/>
              <a:t>输出</a:t>
            </a:r>
            <a:r>
              <a:rPr lang="zh-CN" altLang="en-US" dirty="0"/>
              <a:t>协议（</a:t>
            </a:r>
            <a:r>
              <a:rPr lang="en-US" altLang="zh-CN" dirty="0"/>
              <a:t>output protocol</a:t>
            </a:r>
            <a:r>
              <a:rPr lang="zh-CN" altLang="en-US" dirty="0"/>
              <a:t>）被用来把最后一步生成的数据转换为字节数据并输出到文件中。</a:t>
            </a:r>
            <a:endParaRPr lang="en-US" altLang="zh-CN" dirty="0"/>
          </a:p>
          <a:p>
            <a:pPr lvl="1"/>
            <a:r>
              <a:rPr lang="zh-CN" altLang="en-US" dirty="0"/>
              <a:t>在</a:t>
            </a:r>
            <a:r>
              <a:rPr lang="en-US" altLang="zh-CN" dirty="0" err="1"/>
              <a:t>MRJob</a:t>
            </a:r>
            <a:r>
              <a:rPr lang="zh-CN" altLang="en-US" dirty="0"/>
              <a:t>存在多个步骤的情况下，内部协议（</a:t>
            </a:r>
            <a:r>
              <a:rPr lang="en-US" altLang="zh-CN" dirty="0"/>
              <a:t>internal protocol</a:t>
            </a:r>
            <a:r>
              <a:rPr lang="zh-CN" altLang="en-US" dirty="0"/>
              <a:t>）则用于把上一个步骤的输出转换为下一个步骤的输入。</a:t>
            </a:r>
          </a:p>
          <a:p>
            <a:endParaRPr lang="zh-CN" altLang="en-US" dirty="0"/>
          </a:p>
        </p:txBody>
      </p:sp>
    </p:spTree>
    <p:extLst>
      <p:ext uri="{BB962C8B-B14F-4D97-AF65-F5344CB8AC3E}">
        <p14:creationId xmlns:p14="http://schemas.microsoft.com/office/powerpoint/2010/main" val="525961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E60823-4FFC-4EF2-8A2C-E1917BDE725B}"/>
              </a:ext>
            </a:extLst>
          </p:cNvPr>
          <p:cNvSpPr>
            <a:spLocks noGrp="1"/>
          </p:cNvSpPr>
          <p:nvPr>
            <p:ph type="title"/>
          </p:nvPr>
        </p:nvSpPr>
        <p:spPr/>
        <p:txBody>
          <a:bodyPr>
            <a:normAutofit fontScale="90000"/>
          </a:bodyPr>
          <a:lstStyle/>
          <a:p>
            <a:endParaRPr lang="zh-CN" altLang="en-US"/>
          </a:p>
        </p:txBody>
      </p:sp>
      <p:sp>
        <p:nvSpPr>
          <p:cNvPr id="3" name="内容占位符 2">
            <a:extLst>
              <a:ext uri="{FF2B5EF4-FFF2-40B4-BE49-F238E27FC236}">
                <a16:creationId xmlns:a16="http://schemas.microsoft.com/office/drawing/2014/main" id="{18FD7423-B169-4FBD-96A4-9A016BE9F731}"/>
              </a:ext>
            </a:extLst>
          </p:cNvPr>
          <p:cNvSpPr>
            <a:spLocks noGrp="1"/>
          </p:cNvSpPr>
          <p:nvPr>
            <p:ph idx="1"/>
          </p:nvPr>
        </p:nvSpPr>
        <p:spPr>
          <a:xfrm>
            <a:off x="457200" y="1200151"/>
            <a:ext cx="8229600" cy="2235695"/>
          </a:xfrm>
        </p:spPr>
        <p:txBody>
          <a:bodyPr>
            <a:normAutofit fontScale="85000" lnSpcReduction="10000"/>
          </a:bodyPr>
          <a:lstStyle/>
          <a:p>
            <a:r>
              <a:rPr lang="zh-CN" altLang="en-US" dirty="0"/>
              <a:t>下面例子中列出了输入、内部和输出协议的缺省值。</a:t>
            </a:r>
            <a:endParaRPr lang="en-US" altLang="zh-CN" dirty="0"/>
          </a:p>
          <a:p>
            <a:pPr lvl="1"/>
            <a:r>
              <a:rPr lang="zh-CN" altLang="en-US" dirty="0"/>
              <a:t>输入协议缺省值为</a:t>
            </a:r>
            <a:r>
              <a:rPr lang="en-US" altLang="zh-CN" dirty="0" err="1"/>
              <a:t>RawValueProtocol</a:t>
            </a:r>
            <a:r>
              <a:rPr lang="zh-CN" altLang="en-US" dirty="0"/>
              <a:t>，用于从标准输入中按字符串的方式读取行数据，输入为</a:t>
            </a:r>
            <a:r>
              <a:rPr lang="en-US" altLang="zh-CN" dirty="0"/>
              <a:t>&lt;None, Line&gt;</a:t>
            </a:r>
            <a:r>
              <a:rPr lang="zh-CN" altLang="en-US" dirty="0"/>
              <a:t>。</a:t>
            </a:r>
            <a:endParaRPr lang="en-US" altLang="zh-CN" dirty="0"/>
          </a:p>
          <a:p>
            <a:pPr lvl="1"/>
            <a:r>
              <a:rPr lang="en-US" altLang="zh-CN" dirty="0" err="1"/>
              <a:t>MRJob</a:t>
            </a:r>
            <a:r>
              <a:rPr lang="zh-CN" altLang="en-US" dirty="0"/>
              <a:t>的输出协议和内部协议缺省为</a:t>
            </a:r>
            <a:r>
              <a:rPr lang="en-US" altLang="zh-CN" dirty="0" err="1"/>
              <a:t>JSONProtocol</a:t>
            </a:r>
            <a:r>
              <a:rPr lang="zh-CN" altLang="en-US" dirty="0"/>
              <a:t>，即读写以</a:t>
            </a:r>
            <a:r>
              <a:rPr lang="en-US" altLang="zh-CN" dirty="0"/>
              <a:t>Tab</a:t>
            </a:r>
            <a:r>
              <a:rPr lang="zh-CN" altLang="en-US" dirty="0"/>
              <a:t>键分开的</a:t>
            </a:r>
            <a:r>
              <a:rPr lang="en-US" altLang="zh-CN" dirty="0"/>
              <a:t>JSON</a:t>
            </a:r>
            <a:r>
              <a:rPr lang="zh-CN" altLang="en-US" dirty="0"/>
              <a:t>字符串。</a:t>
            </a:r>
          </a:p>
        </p:txBody>
      </p:sp>
      <p:pic>
        <p:nvPicPr>
          <p:cNvPr id="4" name="图片 3">
            <a:extLst>
              <a:ext uri="{FF2B5EF4-FFF2-40B4-BE49-F238E27FC236}">
                <a16:creationId xmlns:a16="http://schemas.microsoft.com/office/drawing/2014/main" id="{E72656B7-05B1-4E44-849B-CBBFE638B431}"/>
              </a:ext>
            </a:extLst>
          </p:cNvPr>
          <p:cNvPicPr>
            <a:picLocks noChangeAspect="1"/>
          </p:cNvPicPr>
          <p:nvPr/>
        </p:nvPicPr>
        <p:blipFill>
          <a:blip r:embed="rId2"/>
          <a:stretch>
            <a:fillRect/>
          </a:stretch>
        </p:blipFill>
        <p:spPr>
          <a:xfrm>
            <a:off x="885310" y="3291830"/>
            <a:ext cx="7373379" cy="1514686"/>
          </a:xfrm>
          <a:prstGeom prst="rect">
            <a:avLst/>
          </a:prstGeom>
        </p:spPr>
      </p:pic>
    </p:spTree>
    <p:extLst>
      <p:ext uri="{BB962C8B-B14F-4D97-AF65-F5344CB8AC3E}">
        <p14:creationId xmlns:p14="http://schemas.microsoft.com/office/powerpoint/2010/main" val="211195674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FA7003-1A57-4919-946B-5D4F99F101BC}"/>
              </a:ext>
            </a:extLst>
          </p:cNvPr>
          <p:cNvSpPr>
            <a:spLocks noGrp="1"/>
          </p:cNvSpPr>
          <p:nvPr>
            <p:ph type="title"/>
          </p:nvPr>
        </p:nvSpPr>
        <p:spPr/>
        <p:txBody>
          <a:bodyPr>
            <a:normAutofit fontScale="90000"/>
          </a:bodyPr>
          <a:lstStyle/>
          <a:p>
            <a:r>
              <a:rPr lang="zh-CN" altLang="en-US" dirty="0"/>
              <a:t>自定义协议</a:t>
            </a:r>
          </a:p>
        </p:txBody>
      </p:sp>
      <p:sp>
        <p:nvSpPr>
          <p:cNvPr id="3" name="内容占位符 2">
            <a:extLst>
              <a:ext uri="{FF2B5EF4-FFF2-40B4-BE49-F238E27FC236}">
                <a16:creationId xmlns:a16="http://schemas.microsoft.com/office/drawing/2014/main" id="{D7136624-F762-4870-9D94-A96A79FBAEAE}"/>
              </a:ext>
            </a:extLst>
          </p:cNvPr>
          <p:cNvSpPr>
            <a:spLocks noGrp="1"/>
          </p:cNvSpPr>
          <p:nvPr>
            <p:ph idx="1"/>
          </p:nvPr>
        </p:nvSpPr>
        <p:spPr>
          <a:xfrm>
            <a:off x="457200" y="1131590"/>
            <a:ext cx="8229600" cy="3394472"/>
          </a:xfrm>
        </p:spPr>
        <p:txBody>
          <a:bodyPr>
            <a:normAutofit/>
          </a:bodyPr>
          <a:lstStyle/>
          <a:p>
            <a:r>
              <a:rPr lang="en-US" altLang="zh-CN" sz="2400" dirty="0" err="1"/>
              <a:t>MRJob</a:t>
            </a:r>
            <a:r>
              <a:rPr lang="zh-CN" altLang="en-US" sz="2400" dirty="0"/>
              <a:t>提供了多种预定义协议供选择，因此用户通常只需要简单的设置</a:t>
            </a:r>
            <a:r>
              <a:rPr lang="en-US" altLang="zh-CN" sz="2400" dirty="0"/>
              <a:t>INPUT_PROTOCOL</a:t>
            </a:r>
            <a:r>
              <a:rPr lang="zh-CN" altLang="en-US" sz="2400" dirty="0"/>
              <a:t>、</a:t>
            </a:r>
            <a:r>
              <a:rPr lang="en-US" altLang="zh-CN" sz="2400" dirty="0"/>
              <a:t>INTERNAL_PROTOCOL</a:t>
            </a:r>
            <a:r>
              <a:rPr lang="zh-CN" altLang="en-US" sz="2400" dirty="0"/>
              <a:t>和</a:t>
            </a:r>
            <a:r>
              <a:rPr lang="en-US" altLang="zh-CN" sz="2400" dirty="0"/>
              <a:t>OUTPUT_PROTOCOL</a:t>
            </a:r>
            <a:r>
              <a:rPr lang="zh-CN" altLang="en-US" sz="2400" dirty="0"/>
              <a:t>便可以设定输入、内部和输出协议。</a:t>
            </a:r>
            <a:endParaRPr lang="en-US" altLang="zh-CN" sz="2400" dirty="0"/>
          </a:p>
          <a:p>
            <a:r>
              <a:rPr lang="zh-CN" altLang="en-US" sz="2400" dirty="0"/>
              <a:t>当用户需要面对更加复杂的数据、更加复杂的操作时，则需要进行协议的自定义以满足特定的需求。</a:t>
            </a:r>
          </a:p>
          <a:p>
            <a:r>
              <a:rPr lang="zh-CN" altLang="en-US" sz="2400" dirty="0"/>
              <a:t>自定义协议只需要重载</a:t>
            </a:r>
            <a:r>
              <a:rPr lang="en-US" altLang="zh-CN" sz="2400" dirty="0" err="1"/>
              <a:t>input_protocol</a:t>
            </a:r>
            <a:r>
              <a:rPr lang="en-US" altLang="zh-CN" sz="2400" dirty="0"/>
              <a:t>()</a:t>
            </a:r>
            <a:r>
              <a:rPr lang="zh-CN" altLang="en-US" sz="2400" dirty="0"/>
              <a:t>、</a:t>
            </a:r>
            <a:r>
              <a:rPr lang="en-US" altLang="zh-CN" sz="2400" dirty="0" err="1"/>
              <a:t>internal_protocol</a:t>
            </a:r>
            <a:r>
              <a:rPr lang="en-US" altLang="zh-CN" sz="2400" dirty="0"/>
              <a:t>()</a:t>
            </a:r>
            <a:r>
              <a:rPr lang="zh-CN" altLang="en-US" sz="2400" dirty="0"/>
              <a:t>、</a:t>
            </a:r>
            <a:r>
              <a:rPr lang="en-US" altLang="zh-CN" sz="2400" dirty="0" err="1"/>
              <a:t>output_protocol</a:t>
            </a:r>
            <a:r>
              <a:rPr lang="en-US" altLang="zh-CN" sz="2400" dirty="0"/>
              <a:t>()</a:t>
            </a:r>
            <a:r>
              <a:rPr lang="zh-CN" altLang="en-US" sz="2400" dirty="0"/>
              <a:t>三个方法，并返回协议的对象。</a:t>
            </a:r>
          </a:p>
          <a:p>
            <a:endParaRPr lang="zh-CN" altLang="en-US" sz="2400" dirty="0"/>
          </a:p>
        </p:txBody>
      </p:sp>
    </p:spTree>
    <p:extLst>
      <p:ext uri="{BB962C8B-B14F-4D97-AF65-F5344CB8AC3E}">
        <p14:creationId xmlns:p14="http://schemas.microsoft.com/office/powerpoint/2010/main" val="38869955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8383D0-623B-46E8-8EF0-C00665F0B2D5}"/>
              </a:ext>
            </a:extLst>
          </p:cNvPr>
          <p:cNvSpPr>
            <a:spLocks noGrp="1"/>
          </p:cNvSpPr>
          <p:nvPr>
            <p:ph type="title"/>
          </p:nvPr>
        </p:nvSpPr>
        <p:spPr/>
        <p:txBody>
          <a:bodyPr>
            <a:normAutofit fontScale="90000"/>
          </a:bodyPr>
          <a:lstStyle/>
          <a:p>
            <a:r>
              <a:rPr lang="en-US" altLang="zh-CN" dirty="0" err="1"/>
              <a:t>MRJob</a:t>
            </a:r>
            <a:r>
              <a:rPr lang="zh-CN" altLang="en-US" dirty="0"/>
              <a:t>的其余设置</a:t>
            </a:r>
          </a:p>
        </p:txBody>
      </p:sp>
      <p:sp>
        <p:nvSpPr>
          <p:cNvPr id="3" name="内容占位符 2">
            <a:extLst>
              <a:ext uri="{FF2B5EF4-FFF2-40B4-BE49-F238E27FC236}">
                <a16:creationId xmlns:a16="http://schemas.microsoft.com/office/drawing/2014/main" id="{5B15FAFC-7CB0-43BC-A1C8-A535216B0957}"/>
              </a:ext>
            </a:extLst>
          </p:cNvPr>
          <p:cNvSpPr>
            <a:spLocks noGrp="1"/>
          </p:cNvSpPr>
          <p:nvPr>
            <p:ph idx="1"/>
          </p:nvPr>
        </p:nvSpPr>
        <p:spPr/>
        <p:txBody>
          <a:bodyPr>
            <a:normAutofit fontScale="62500" lnSpcReduction="20000"/>
          </a:bodyPr>
          <a:lstStyle/>
          <a:p>
            <a:r>
              <a:rPr lang="zh-CN" altLang="en-US" sz="3800" dirty="0"/>
              <a:t>为</a:t>
            </a:r>
            <a:r>
              <a:rPr lang="en-US" altLang="zh-CN" sz="3800" dirty="0"/>
              <a:t>mapper</a:t>
            </a:r>
            <a:r>
              <a:rPr lang="zh-CN" altLang="en-US" sz="3800" dirty="0"/>
              <a:t>指定整个文件作为输入</a:t>
            </a:r>
          </a:p>
          <a:p>
            <a:pPr lvl="1"/>
            <a:r>
              <a:rPr lang="zh-CN" altLang="en-US" sz="3200" dirty="0"/>
              <a:t>有时需要在</a:t>
            </a:r>
            <a:r>
              <a:rPr lang="en-US" altLang="zh-CN" sz="3200" dirty="0"/>
              <a:t>mapper</a:t>
            </a:r>
            <a:r>
              <a:rPr lang="zh-CN" altLang="en-US" sz="3200" dirty="0"/>
              <a:t>程序中读取二进制数据（例如图像文件），或者每一条记录不止一行的文本数据，</a:t>
            </a:r>
            <a:r>
              <a:rPr lang="en-US" altLang="zh-CN" sz="3200" dirty="0" err="1"/>
              <a:t>mapper_raw</a:t>
            </a:r>
            <a:r>
              <a:rPr lang="en-US" altLang="zh-CN" sz="3200" dirty="0"/>
              <a:t>()</a:t>
            </a:r>
            <a:r>
              <a:rPr lang="zh-CN" altLang="en-US" sz="3200" dirty="0"/>
              <a:t>方法可以解决这一问题。</a:t>
            </a:r>
            <a:endParaRPr lang="en-US" altLang="zh-CN" sz="3200" dirty="0"/>
          </a:p>
          <a:p>
            <a:r>
              <a:rPr lang="en-US" altLang="zh-CN" sz="3800" dirty="0" err="1"/>
              <a:t>JarStep</a:t>
            </a:r>
            <a:r>
              <a:rPr lang="zh-CN" altLang="en-US" sz="3800" dirty="0"/>
              <a:t>的应用</a:t>
            </a:r>
          </a:p>
          <a:p>
            <a:pPr lvl="1"/>
            <a:r>
              <a:rPr lang="zh-CN" altLang="en-US" sz="3200" dirty="0"/>
              <a:t>使用</a:t>
            </a:r>
            <a:r>
              <a:rPr lang="en-US" altLang="zh-CN" sz="3200" dirty="0" err="1"/>
              <a:t>JarStep</a:t>
            </a:r>
            <a:r>
              <a:rPr lang="zh-CN" altLang="en-US" sz="3200" dirty="0"/>
              <a:t>，</a:t>
            </a:r>
            <a:r>
              <a:rPr lang="en-US" altLang="zh-CN" sz="3200" dirty="0"/>
              <a:t>Java</a:t>
            </a:r>
            <a:r>
              <a:rPr lang="zh-CN" altLang="en-US" sz="3200" dirty="0"/>
              <a:t>程序可以直接在</a:t>
            </a:r>
            <a:r>
              <a:rPr lang="en-US" altLang="zh-CN" sz="3200" dirty="0"/>
              <a:t>Hadoop</a:t>
            </a:r>
            <a:r>
              <a:rPr lang="zh-CN" altLang="en-US" sz="3200" dirty="0"/>
              <a:t>（绕过</a:t>
            </a:r>
            <a:r>
              <a:rPr lang="en-US" altLang="zh-CN" sz="3200" dirty="0"/>
              <a:t>Hadoop Streaming</a:t>
            </a:r>
            <a:r>
              <a:rPr lang="zh-CN" altLang="en-US" sz="3200" dirty="0"/>
              <a:t>）上运行。</a:t>
            </a:r>
            <a:endParaRPr lang="en-US" altLang="zh-CN" sz="3200" dirty="0"/>
          </a:p>
          <a:p>
            <a:r>
              <a:rPr lang="zh-CN" altLang="en-US" sz="3800" dirty="0"/>
              <a:t>使用</a:t>
            </a:r>
            <a:r>
              <a:rPr lang="en-US" altLang="zh-CN" sz="3800" dirty="0"/>
              <a:t>Python</a:t>
            </a:r>
            <a:r>
              <a:rPr lang="zh-CN" altLang="en-US" sz="3800" dirty="0"/>
              <a:t>模块和包</a:t>
            </a:r>
          </a:p>
          <a:p>
            <a:pPr lvl="1"/>
            <a:r>
              <a:rPr lang="zh-CN" altLang="en-US" dirty="0"/>
              <a:t>如果需要在包含</a:t>
            </a:r>
            <a:r>
              <a:rPr lang="en-US" altLang="zh-CN" dirty="0" err="1"/>
              <a:t>MRJob</a:t>
            </a:r>
            <a:r>
              <a:rPr lang="zh-CN" altLang="en-US" dirty="0"/>
              <a:t>的文件之外运行</a:t>
            </a:r>
            <a:r>
              <a:rPr lang="en-US" altLang="zh-CN" dirty="0"/>
              <a:t>Python</a:t>
            </a:r>
            <a:r>
              <a:rPr lang="zh-CN" altLang="en-US" dirty="0"/>
              <a:t>代码，则需要确保代码被上传到</a:t>
            </a:r>
            <a:r>
              <a:rPr lang="en-US" altLang="zh-CN" dirty="0"/>
              <a:t>Hadoop</a:t>
            </a:r>
            <a:r>
              <a:rPr lang="zh-CN" altLang="en-US" dirty="0"/>
              <a:t>。最简单的方式就是通过设置</a:t>
            </a:r>
            <a:r>
              <a:rPr lang="en-US" altLang="zh-CN" dirty="0" err="1"/>
              <a:t>MRJob</a:t>
            </a:r>
            <a:r>
              <a:rPr lang="zh-CN" altLang="en-US" dirty="0"/>
              <a:t>的</a:t>
            </a:r>
            <a:r>
              <a:rPr lang="en-US" altLang="zh-CN" dirty="0"/>
              <a:t>DIRS</a:t>
            </a:r>
            <a:r>
              <a:rPr lang="zh-CN" altLang="en-US" dirty="0"/>
              <a:t>属性，并且把那些需要</a:t>
            </a:r>
            <a:r>
              <a:rPr lang="en-US" altLang="zh-CN" dirty="0"/>
              <a:t>import</a:t>
            </a:r>
            <a:r>
              <a:rPr lang="zh-CN" altLang="en-US" dirty="0"/>
              <a:t>的代码和一个”</a:t>
            </a:r>
            <a:r>
              <a:rPr lang="en-US" altLang="zh-CN" dirty="0"/>
              <a:t>__init__.py”</a:t>
            </a:r>
            <a:r>
              <a:rPr lang="zh-CN" altLang="en-US" dirty="0"/>
              <a:t>文件一起打包成一个或多个包，然后设置</a:t>
            </a:r>
            <a:r>
              <a:rPr lang="en-US" altLang="zh-CN" dirty="0"/>
              <a:t>DIRS</a:t>
            </a:r>
            <a:r>
              <a:rPr lang="zh-CN" altLang="en-US" dirty="0"/>
              <a:t>属性。</a:t>
            </a:r>
          </a:p>
          <a:p>
            <a:endParaRPr lang="zh-CN" altLang="en-US" dirty="0"/>
          </a:p>
        </p:txBody>
      </p:sp>
    </p:spTree>
    <p:extLst>
      <p:ext uri="{BB962C8B-B14F-4D97-AF65-F5344CB8AC3E}">
        <p14:creationId xmlns:p14="http://schemas.microsoft.com/office/powerpoint/2010/main" val="42669489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4441513" cy="646331"/>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本章小结</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a:solidFill>
                  <a:srgbClr val="00B0F0"/>
                </a:solidFill>
                <a:latin typeface="IrisUPC" panose="020B0604020202020204" pitchFamily="34" charset="-34"/>
                <a:cs typeface="IrisUPC" panose="020B0604020202020204" pitchFamily="34" charset="-34"/>
              </a:rPr>
              <a:t>07</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113277179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dirty="0"/>
          </a:p>
        </p:txBody>
      </p:sp>
      <p:sp>
        <p:nvSpPr>
          <p:cNvPr id="6" name="内容占位符 5">
            <a:extLst>
              <a:ext uri="{FF2B5EF4-FFF2-40B4-BE49-F238E27FC236}">
                <a16:creationId xmlns:a16="http://schemas.microsoft.com/office/drawing/2014/main" id="{782CC94D-5457-4245-92FA-8F90E37A6F0B}"/>
              </a:ext>
            </a:extLst>
          </p:cNvPr>
          <p:cNvSpPr>
            <a:spLocks noGrp="1"/>
          </p:cNvSpPr>
          <p:nvPr>
            <p:ph idx="1"/>
          </p:nvPr>
        </p:nvSpPr>
        <p:spPr/>
        <p:txBody>
          <a:bodyPr>
            <a:normAutofit fontScale="92500" lnSpcReduction="20000"/>
          </a:bodyPr>
          <a:lstStyle/>
          <a:p>
            <a:r>
              <a:rPr lang="zh-CN" altLang="en-US" dirty="0"/>
              <a:t>本章介绍了在</a:t>
            </a:r>
            <a:r>
              <a:rPr lang="en-US" altLang="zh-CN" dirty="0"/>
              <a:t>Hadoop</a:t>
            </a:r>
            <a:r>
              <a:rPr lang="zh-CN" altLang="en-US" dirty="0"/>
              <a:t>平台上利用</a:t>
            </a:r>
            <a:r>
              <a:rPr lang="en-US" altLang="zh-CN" dirty="0"/>
              <a:t>Python</a:t>
            </a:r>
            <a:r>
              <a:rPr lang="zh-CN" altLang="en-US" dirty="0"/>
              <a:t>设计</a:t>
            </a:r>
            <a:r>
              <a:rPr lang="en-US" altLang="zh-CN" dirty="0"/>
              <a:t>MapReduce</a:t>
            </a:r>
            <a:r>
              <a:rPr lang="zh-CN" altLang="en-US" dirty="0"/>
              <a:t>程序的</a:t>
            </a:r>
            <a:r>
              <a:rPr lang="zh-CN" altLang="en-US"/>
              <a:t>基本思路，以及简单的示例程序。</a:t>
            </a:r>
            <a:endParaRPr lang="en-US" altLang="zh-CN"/>
          </a:p>
          <a:p>
            <a:r>
              <a:rPr lang="zh-CN" altLang="en-US"/>
              <a:t>基于空气质量指数数据集，介绍了</a:t>
            </a:r>
            <a:r>
              <a:rPr lang="en-US" altLang="zh-CN"/>
              <a:t>MapReduce</a:t>
            </a:r>
            <a:r>
              <a:rPr lang="zh-CN" altLang="en-US" dirty="0"/>
              <a:t>设计模式，具体包括聚合数据模式、过滤模式、和数据连接</a:t>
            </a:r>
            <a:r>
              <a:rPr lang="zh-CN" altLang="en-US"/>
              <a:t>模式。</a:t>
            </a:r>
            <a:endParaRPr lang="en-US" altLang="zh-CN"/>
          </a:p>
          <a:p>
            <a:r>
              <a:rPr lang="zh-CN" altLang="en-US"/>
              <a:t>最后</a:t>
            </a:r>
            <a:r>
              <a:rPr lang="zh-CN" altLang="en-US" dirty="0"/>
              <a:t>，本章还介绍了一个基于</a:t>
            </a:r>
            <a:r>
              <a:rPr lang="en-US" altLang="zh-CN" dirty="0"/>
              <a:t>Hadoop Streaming</a:t>
            </a:r>
            <a:r>
              <a:rPr lang="zh-CN" altLang="en-US" dirty="0"/>
              <a:t>的</a:t>
            </a:r>
            <a:r>
              <a:rPr lang="zh-CN" altLang="en-US"/>
              <a:t>工具</a:t>
            </a:r>
            <a:r>
              <a:rPr lang="en-US" altLang="zh-CN"/>
              <a:t>MRJob</a:t>
            </a:r>
            <a:r>
              <a:rPr lang="zh-CN" altLang="en-US"/>
              <a:t>。</a:t>
            </a:r>
            <a:endParaRPr lang="zh-CN" altLang="en-US" dirty="0"/>
          </a:p>
        </p:txBody>
      </p:sp>
    </p:spTree>
    <p:extLst>
      <p:ext uri="{BB962C8B-B14F-4D97-AF65-F5344CB8AC3E}">
        <p14:creationId xmlns:p14="http://schemas.microsoft.com/office/powerpoint/2010/main" val="282624423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32698" y="4816947"/>
            <a:ext cx="775136" cy="246221"/>
          </a:xfrm>
          <a:prstGeom prst="rect">
            <a:avLst/>
          </a:prstGeom>
        </p:spPr>
        <p:txBody>
          <a:bodyPr wrap="square">
            <a:spAutoFit/>
          </a:bodyPr>
          <a:lstStyle/>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模板下载：</a:t>
            </a:r>
            <a:r>
              <a:rPr lang="en-US" altLang="zh-CN" sz="100" dirty="0">
                <a:solidFill>
                  <a:prstClr val="white"/>
                </a:solidFill>
                <a:ea typeface="宋体" panose="02010600030101010101" pitchFamily="2" charset="-122"/>
              </a:rPr>
              <a:t>www.1ppt.com/moban/     </a:t>
            </a:r>
            <a:r>
              <a:rPr lang="zh-CN" altLang="en-US" sz="100" dirty="0">
                <a:solidFill>
                  <a:prstClr val="white"/>
                </a:solidFill>
                <a:ea typeface="宋体" panose="02010600030101010101" pitchFamily="2" charset="-122"/>
              </a:rPr>
              <a:t>行业</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www.1ppt.com/hangye/ </a:t>
            </a:r>
          </a:p>
          <a:p>
            <a:pPr defTabSz="914400"/>
            <a:r>
              <a:rPr lang="zh-CN" altLang="en-US" sz="100" dirty="0">
                <a:solidFill>
                  <a:prstClr val="white"/>
                </a:solidFill>
                <a:ea typeface="宋体" panose="02010600030101010101" pitchFamily="2" charset="-122"/>
              </a:rPr>
              <a:t>节日</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www.1ppt.com/jieri/           PPT</a:t>
            </a:r>
            <a:r>
              <a:rPr lang="zh-CN" altLang="en-US" sz="100" dirty="0">
                <a:solidFill>
                  <a:prstClr val="white"/>
                </a:solidFill>
                <a:ea typeface="宋体" panose="02010600030101010101" pitchFamily="2" charset="-122"/>
              </a:rPr>
              <a:t>素材下载：</a:t>
            </a:r>
            <a:r>
              <a:rPr lang="en-US" altLang="zh-CN" sz="100" dirty="0">
                <a:solidFill>
                  <a:prstClr val="white"/>
                </a:solidFill>
                <a:ea typeface="宋体" panose="02010600030101010101" pitchFamily="2" charset="-122"/>
              </a:rPr>
              <a:t>www.1ppt.com/sucai/</a:t>
            </a:r>
          </a:p>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背景图片：</a:t>
            </a:r>
            <a:r>
              <a:rPr lang="en-US" altLang="zh-CN" sz="100" dirty="0">
                <a:solidFill>
                  <a:prstClr val="white"/>
                </a:solidFill>
                <a:ea typeface="宋体" panose="02010600030101010101" pitchFamily="2" charset="-122"/>
              </a:rPr>
              <a:t>www.1ppt.com/beijing/      PPT</a:t>
            </a:r>
            <a:r>
              <a:rPr lang="zh-CN" altLang="en-US" sz="100" dirty="0">
                <a:solidFill>
                  <a:prstClr val="white"/>
                </a:solidFill>
                <a:ea typeface="宋体" panose="02010600030101010101" pitchFamily="2" charset="-122"/>
              </a:rPr>
              <a:t>图表下载：</a:t>
            </a:r>
            <a:r>
              <a:rPr lang="en-US" altLang="zh-CN" sz="100" dirty="0">
                <a:solidFill>
                  <a:prstClr val="white"/>
                </a:solidFill>
                <a:ea typeface="宋体" panose="02010600030101010101" pitchFamily="2" charset="-122"/>
              </a:rPr>
              <a:t>www.1ppt.com/tubiao/      </a:t>
            </a:r>
          </a:p>
          <a:p>
            <a:pPr defTabSz="914400"/>
            <a:r>
              <a:rPr lang="zh-CN" altLang="en-US" sz="100" dirty="0">
                <a:solidFill>
                  <a:prstClr val="white"/>
                </a:solidFill>
                <a:ea typeface="宋体" panose="02010600030101010101" pitchFamily="2" charset="-122"/>
              </a:rPr>
              <a:t>优秀</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下载：</a:t>
            </a:r>
            <a:r>
              <a:rPr lang="en-US" altLang="zh-CN" sz="100" dirty="0">
                <a:solidFill>
                  <a:prstClr val="white"/>
                </a:solidFill>
                <a:ea typeface="宋体" panose="02010600030101010101" pitchFamily="2" charset="-122"/>
              </a:rPr>
              <a:t>www.1ppt.com/xiazai/        PPT</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www.1ppt.com/powerpoint/      </a:t>
            </a:r>
          </a:p>
          <a:p>
            <a:pPr defTabSz="914400"/>
            <a:r>
              <a:rPr lang="en-US" altLang="zh-CN" sz="100" dirty="0">
                <a:solidFill>
                  <a:prstClr val="white"/>
                </a:solidFill>
                <a:ea typeface="宋体" panose="02010600030101010101" pitchFamily="2" charset="-122"/>
              </a:rPr>
              <a:t>Word</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www.1ppt.com/word/              Excel</a:t>
            </a:r>
            <a:r>
              <a:rPr lang="zh-CN" altLang="en-US" sz="100" dirty="0">
                <a:solidFill>
                  <a:prstClr val="white"/>
                </a:solidFill>
                <a:ea typeface="宋体" panose="02010600030101010101" pitchFamily="2" charset="-122"/>
              </a:rPr>
              <a:t>教程：</a:t>
            </a:r>
            <a:r>
              <a:rPr lang="en-US" altLang="zh-CN" sz="100" dirty="0">
                <a:solidFill>
                  <a:prstClr val="white"/>
                </a:solidFill>
                <a:ea typeface="宋体" panose="02010600030101010101" pitchFamily="2" charset="-122"/>
              </a:rPr>
              <a:t>www.1ppt.com/excel/  </a:t>
            </a:r>
          </a:p>
          <a:p>
            <a:pPr defTabSz="914400"/>
            <a:r>
              <a:rPr lang="zh-CN" altLang="en-US" sz="100" dirty="0">
                <a:solidFill>
                  <a:prstClr val="white"/>
                </a:solidFill>
                <a:ea typeface="宋体" panose="02010600030101010101" pitchFamily="2" charset="-122"/>
              </a:rPr>
              <a:t>资料下载：</a:t>
            </a:r>
            <a:r>
              <a:rPr lang="en-US" altLang="zh-CN" sz="100" dirty="0">
                <a:solidFill>
                  <a:prstClr val="white"/>
                </a:solidFill>
                <a:ea typeface="宋体" panose="02010600030101010101" pitchFamily="2" charset="-122"/>
              </a:rPr>
              <a:t>www.1ppt.com/ziliao/                PPT</a:t>
            </a:r>
            <a:r>
              <a:rPr lang="zh-CN" altLang="en-US" sz="100" dirty="0">
                <a:solidFill>
                  <a:prstClr val="white"/>
                </a:solidFill>
                <a:ea typeface="宋体" panose="02010600030101010101" pitchFamily="2" charset="-122"/>
              </a:rPr>
              <a:t>课件下载：</a:t>
            </a:r>
            <a:r>
              <a:rPr lang="en-US" altLang="zh-CN" sz="100" dirty="0">
                <a:solidFill>
                  <a:prstClr val="white"/>
                </a:solidFill>
                <a:ea typeface="宋体" panose="02010600030101010101" pitchFamily="2" charset="-122"/>
              </a:rPr>
              <a:t>www.1ppt.com/kejian/ </a:t>
            </a:r>
          </a:p>
          <a:p>
            <a:pPr defTabSz="914400"/>
            <a:r>
              <a:rPr lang="zh-CN" altLang="en-US" sz="100" dirty="0">
                <a:solidFill>
                  <a:prstClr val="white"/>
                </a:solidFill>
                <a:ea typeface="宋体" panose="02010600030101010101" pitchFamily="2" charset="-122"/>
              </a:rPr>
              <a:t>范文下载：</a:t>
            </a:r>
            <a:r>
              <a:rPr lang="en-US" altLang="zh-CN" sz="100" dirty="0">
                <a:solidFill>
                  <a:prstClr val="white"/>
                </a:solidFill>
                <a:ea typeface="宋体" panose="02010600030101010101" pitchFamily="2" charset="-122"/>
              </a:rPr>
              <a:t>www.1ppt.com/fanwen/             </a:t>
            </a:r>
            <a:r>
              <a:rPr lang="zh-CN" altLang="en-US" sz="100" dirty="0">
                <a:solidFill>
                  <a:prstClr val="white"/>
                </a:solidFill>
                <a:ea typeface="宋体" panose="02010600030101010101" pitchFamily="2" charset="-122"/>
              </a:rPr>
              <a:t>试卷下载：</a:t>
            </a:r>
            <a:r>
              <a:rPr lang="en-US" altLang="zh-CN" sz="100" dirty="0">
                <a:solidFill>
                  <a:prstClr val="white"/>
                </a:solidFill>
                <a:ea typeface="宋体" panose="02010600030101010101" pitchFamily="2" charset="-122"/>
              </a:rPr>
              <a:t>www.1ppt.com/shiti/  </a:t>
            </a:r>
          </a:p>
          <a:p>
            <a:pPr defTabSz="914400"/>
            <a:r>
              <a:rPr lang="zh-CN" altLang="en-US" sz="100" dirty="0">
                <a:solidFill>
                  <a:prstClr val="white"/>
                </a:solidFill>
                <a:ea typeface="宋体" panose="02010600030101010101" pitchFamily="2" charset="-122"/>
              </a:rPr>
              <a:t>教案下载：</a:t>
            </a:r>
            <a:r>
              <a:rPr lang="en-US" altLang="zh-CN" sz="100" dirty="0">
                <a:solidFill>
                  <a:prstClr val="white"/>
                </a:solidFill>
                <a:ea typeface="宋体" panose="02010600030101010101" pitchFamily="2" charset="-122"/>
              </a:rPr>
              <a:t>www.1ppt.com/jiaoan/        </a:t>
            </a:r>
          </a:p>
          <a:p>
            <a:pPr defTabSz="914400"/>
            <a:r>
              <a:rPr lang="zh-CN" altLang="en-US" sz="100" dirty="0">
                <a:solidFill>
                  <a:prstClr val="white"/>
                </a:solidFill>
                <a:ea typeface="宋体" panose="02010600030101010101" pitchFamily="2" charset="-122"/>
              </a:rPr>
              <a:t>字体下载：</a:t>
            </a:r>
            <a:r>
              <a:rPr lang="en-US" altLang="zh-CN" sz="100" dirty="0">
                <a:solidFill>
                  <a:prstClr val="white"/>
                </a:solidFill>
                <a:ea typeface="宋体" panose="02010600030101010101" pitchFamily="2" charset="-122"/>
              </a:rPr>
              <a:t>www.1ppt.com/ziti/</a:t>
            </a:r>
          </a:p>
          <a:p>
            <a:pPr defTabSz="914400"/>
            <a:r>
              <a:rPr lang="en-US" altLang="zh-CN" sz="100" dirty="0">
                <a:solidFill>
                  <a:prstClr val="white"/>
                </a:solidFill>
                <a:ea typeface="宋体" panose="02010600030101010101" pitchFamily="2" charset="-122"/>
              </a:rPr>
              <a:t> </a:t>
            </a:r>
            <a:endParaRPr lang="zh-CN" altLang="en-US" sz="100" dirty="0">
              <a:solidFill>
                <a:prstClr val="white"/>
              </a:solidFill>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4" name="图片 3"/>
          <p:cNvPicPr>
            <a:picLocks noChangeAspect="1"/>
          </p:cNvPicPr>
          <p:nvPr/>
        </p:nvPicPr>
        <p:blipFill>
          <a:blip r:embed="rId4"/>
          <a:stretch>
            <a:fillRect/>
          </a:stretch>
        </p:blipFill>
        <p:spPr>
          <a:xfrm>
            <a:off x="1641307" y="294089"/>
            <a:ext cx="6260074" cy="4522858"/>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0226" y="1047394"/>
            <a:ext cx="2804652" cy="2817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文本框 7"/>
          <p:cNvSpPr txBox="1"/>
          <p:nvPr/>
        </p:nvSpPr>
        <p:spPr>
          <a:xfrm>
            <a:off x="312528" y="294089"/>
            <a:ext cx="3948450" cy="3416320"/>
          </a:xfrm>
          <a:prstGeom prst="rect">
            <a:avLst/>
          </a:prstGeom>
          <a:noFill/>
        </p:spPr>
        <p:txBody>
          <a:bodyPr wrap="square" rtlCol="0">
            <a:spAutoFit/>
          </a:bodyPr>
          <a:lstStyle/>
          <a:p>
            <a:r>
              <a:rPr lang="zh-CN" altLang="en-US" sz="7200" dirty="0">
                <a:solidFill>
                  <a:srgbClr val="FFC000"/>
                </a:solidFill>
              </a:rPr>
              <a:t>谢</a:t>
            </a:r>
            <a:endParaRPr lang="en-US" altLang="zh-CN" sz="7200" dirty="0">
              <a:solidFill>
                <a:srgbClr val="FFC000"/>
              </a:solidFill>
            </a:endParaRPr>
          </a:p>
          <a:p>
            <a:r>
              <a:rPr lang="zh-CN" altLang="en-US" sz="7200" dirty="0">
                <a:solidFill>
                  <a:srgbClr val="FFC000"/>
                </a:solidFill>
              </a:rPr>
              <a:t>  谢</a:t>
            </a:r>
            <a:endParaRPr lang="en-US" altLang="zh-CN" sz="7200" dirty="0">
              <a:solidFill>
                <a:srgbClr val="FFC000"/>
              </a:solidFill>
            </a:endParaRPr>
          </a:p>
          <a:p>
            <a:r>
              <a:rPr lang="zh-CN" altLang="en-US" sz="7200">
                <a:solidFill>
                  <a:srgbClr val="FFC000"/>
                </a:solidFill>
              </a:rPr>
              <a:t> ！</a:t>
            </a:r>
            <a:r>
              <a:rPr lang="zh-CN" altLang="en-US" sz="7200">
                <a:solidFill>
                  <a:srgbClr val="FF0000"/>
                </a:solidFill>
              </a:rPr>
              <a:t>           </a:t>
            </a:r>
            <a:endParaRPr lang="zh-CN" altLang="en-US" sz="7200" dirty="0">
              <a:solidFill>
                <a:srgbClr val="FF0000"/>
              </a:solidFill>
            </a:endParaRPr>
          </a:p>
        </p:txBody>
      </p:sp>
    </p:spTree>
    <p:extLst>
      <p:ext uri="{BB962C8B-B14F-4D97-AF65-F5344CB8AC3E}">
        <p14:creationId xmlns:p14="http://schemas.microsoft.com/office/powerpoint/2010/main" val="23990959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2316</TotalTime>
  <Words>8076</Words>
  <Application>Microsoft Office PowerPoint</Application>
  <PresentationFormat>全屏显示(16:9)</PresentationFormat>
  <Paragraphs>434</Paragraphs>
  <Slides>113</Slides>
  <Notes>12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113</vt:i4>
      </vt:variant>
    </vt:vector>
  </HeadingPairs>
  <TitlesOfParts>
    <vt:vector size="121" baseType="lpstr">
      <vt:lpstr>等线</vt:lpstr>
      <vt:lpstr>宋体</vt:lpstr>
      <vt:lpstr>微软雅黑</vt:lpstr>
      <vt:lpstr>Arial</vt:lpstr>
      <vt:lpstr>Calibri</vt:lpstr>
      <vt:lpstr>IrisUPC</vt:lpstr>
      <vt:lpstr>Times New Roman</vt:lpstr>
      <vt:lpstr>Office 主题</vt:lpstr>
      <vt:lpstr>第7章 分布式计算框架MapReduce</vt:lpstr>
      <vt:lpstr>本章学习目标</vt:lpstr>
      <vt:lpstr>PowerPoint 演示文稿</vt:lpstr>
      <vt:lpstr>PowerPoint 演示文稿</vt:lpstr>
      <vt:lpstr>MapReduce概述</vt:lpstr>
      <vt:lpstr>第一个MapReduce的Python程序</vt:lpstr>
      <vt:lpstr>第一个MapReduce的Python程序</vt:lpstr>
      <vt:lpstr>第一个MapReduce的Python程序</vt:lpstr>
      <vt:lpstr>第一个MapReduce的Python程序</vt:lpstr>
      <vt:lpstr>第一个MapReduce的Python程序</vt:lpstr>
      <vt:lpstr>第一个MapReduce的Python程序</vt:lpstr>
      <vt:lpstr>第一个MapReduce的Python程序</vt:lpstr>
      <vt:lpstr>MapReduce工作原理</vt:lpstr>
      <vt:lpstr>MapReduce工作原理</vt:lpstr>
      <vt:lpstr>MapReduce工作原理</vt:lpstr>
      <vt:lpstr>MapReduce工作原理</vt:lpstr>
      <vt:lpstr>MapReduce工作原理</vt:lpstr>
      <vt:lpstr>MapReduce作业的工作流程</vt:lpstr>
      <vt:lpstr>MapReduce作业的工作流程</vt:lpstr>
      <vt:lpstr>MapReduce作业的工作流程</vt:lpstr>
      <vt:lpstr>MapReduce作业的工作流程</vt:lpstr>
      <vt:lpstr>MapReduce作业的工作流程</vt:lpstr>
      <vt:lpstr>MapReduce作业的工作流程</vt:lpstr>
      <vt:lpstr>MapReduce作业的工作流程</vt:lpstr>
      <vt:lpstr>MapReduce的输入/输出</vt:lpstr>
      <vt:lpstr>PowerPoint 演示文稿</vt:lpstr>
      <vt:lpstr>WordCount程序源码</vt:lpstr>
      <vt:lpstr>WordCount程序源码</vt:lpstr>
      <vt:lpstr>WordCount程序源码</vt:lpstr>
      <vt:lpstr>WordCount程序源码</vt:lpstr>
      <vt:lpstr>WordCount程序源码</vt:lpstr>
      <vt:lpstr>WordCount程序执行</vt:lpstr>
      <vt:lpstr>WordCount程序执行</vt:lpstr>
      <vt:lpstr>WordCount程序执行</vt:lpstr>
      <vt:lpstr>WordCount程序执行</vt:lpstr>
      <vt:lpstr>WordCount程序原理</vt:lpstr>
      <vt:lpstr>WordCount程序原理</vt:lpstr>
      <vt:lpstr>PowerPoint 演示文稿</vt:lpstr>
      <vt:lpstr>MapReduce Python代码的测试</vt:lpstr>
      <vt:lpstr>MapReduce Python代码的测试</vt:lpstr>
      <vt:lpstr>MapReduce Python代码的测试</vt:lpstr>
      <vt:lpstr>MapReduce Python代码的测试</vt:lpstr>
      <vt:lpstr>MapReduce Python代码的测试</vt:lpstr>
      <vt:lpstr>PowerPoint 演示文稿</vt:lpstr>
      <vt:lpstr>Python中的迭代器</vt:lpstr>
      <vt:lpstr>Python中的迭代器</vt:lpstr>
      <vt:lpstr>Python中的迭代器</vt:lpstr>
      <vt:lpstr>Python中的生成器</vt:lpstr>
      <vt:lpstr>Python中的生成器</vt:lpstr>
      <vt:lpstr>Python中的生成器</vt:lpstr>
      <vt:lpstr>itertools模块</vt:lpstr>
      <vt:lpstr>itertools模块</vt:lpstr>
      <vt:lpstr>优化wordCount程序</vt:lpstr>
      <vt:lpstr>优化wordCount程序</vt:lpstr>
      <vt:lpstr>优化wordCount程序</vt:lpstr>
      <vt:lpstr>例7.6.4测试结果</vt:lpstr>
      <vt:lpstr>PowerPoint 演示文稿</vt:lpstr>
      <vt:lpstr>MR程序设计模式</vt:lpstr>
      <vt:lpstr>数据集介绍</vt:lpstr>
      <vt:lpstr>(1)聚合查询模式</vt:lpstr>
      <vt:lpstr>聚合查询模式—数值概要模式</vt:lpstr>
      <vt:lpstr>聚合查询模式--数值概要模式</vt:lpstr>
      <vt:lpstr>聚合查询模式—倒排序索引模式</vt:lpstr>
      <vt:lpstr>聚合查询模式—数值概要模式</vt:lpstr>
      <vt:lpstr>聚合查询模式—倒排序索引模式</vt:lpstr>
      <vt:lpstr>聚合查询模式—倒排序索引模式</vt:lpstr>
      <vt:lpstr>聚合查询模式—倒排序索引模式</vt:lpstr>
      <vt:lpstr>过滤模式</vt:lpstr>
      <vt:lpstr>过滤模式--过滤器模式</vt:lpstr>
      <vt:lpstr>过滤模式--过滤器模式</vt:lpstr>
      <vt:lpstr>过滤模式--过滤器模式</vt:lpstr>
      <vt:lpstr>过滤模式--Top K模式</vt:lpstr>
      <vt:lpstr>过滤模式--Top K模式</vt:lpstr>
      <vt:lpstr>过滤模式--Top K模式</vt:lpstr>
      <vt:lpstr>过滤模式--去重模式</vt:lpstr>
      <vt:lpstr>过滤模式--去重模式</vt:lpstr>
      <vt:lpstr>过滤模式--去重模式</vt:lpstr>
      <vt:lpstr>数据连接模式--连接操作定义</vt:lpstr>
      <vt:lpstr>数据连接模式--连接操作定义</vt:lpstr>
      <vt:lpstr>数据连接模式--连接操作定义</vt:lpstr>
      <vt:lpstr>数据连接模式--连接操作定义</vt:lpstr>
      <vt:lpstr>数据连接模式--连接操作定义</vt:lpstr>
      <vt:lpstr>数据连接模式--连接操作定义</vt:lpstr>
      <vt:lpstr>数据连接模式--连接操作定义</vt:lpstr>
      <vt:lpstr>数据连接模式--连接操作定义</vt:lpstr>
      <vt:lpstr>数据连接模式--内连接操作</vt:lpstr>
      <vt:lpstr>数据连接模式--内连接操作</vt:lpstr>
      <vt:lpstr>数据连接模式--内连接操作</vt:lpstr>
      <vt:lpstr>数据连接模式--内连接操作</vt:lpstr>
      <vt:lpstr>数据连接模式--内连接操作实现</vt:lpstr>
      <vt:lpstr>PowerPoint 演示文稿</vt:lpstr>
      <vt:lpstr>用MRJob库编写MapReduce程序</vt:lpstr>
      <vt:lpstr>第一个MRJob程序</vt:lpstr>
      <vt:lpstr>第一个MRJob程序</vt:lpstr>
      <vt:lpstr>第一个MRJob程序</vt:lpstr>
      <vt:lpstr>第一个MRJob程序</vt:lpstr>
      <vt:lpstr>第一个MRJob程序</vt:lpstr>
      <vt:lpstr>第一个MRJob程序</vt:lpstr>
      <vt:lpstr>第一个MRJob程序</vt:lpstr>
      <vt:lpstr>第一个MRJob程序</vt:lpstr>
      <vt:lpstr>MRJob应用详解</vt:lpstr>
      <vt:lpstr>MRJob应用详解</vt:lpstr>
      <vt:lpstr>MRJob应用详解</vt:lpstr>
      <vt:lpstr>MRJob应用详解</vt:lpstr>
      <vt:lpstr>MRJob应用详解</vt:lpstr>
      <vt:lpstr>MRJob的协议</vt:lpstr>
      <vt:lpstr>MRJob的协议</vt:lpstr>
      <vt:lpstr>PowerPoint 演示文稿</vt:lpstr>
      <vt:lpstr>自定义协议</vt:lpstr>
      <vt:lpstr>MRJob的其余设置</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Hadoop简介</dc:title>
  <dc:creator>fjnuzs</dc:creator>
  <cp:lastModifiedBy>lenovo</cp:lastModifiedBy>
  <cp:revision>166</cp:revision>
  <dcterms:created xsi:type="dcterms:W3CDTF">2018-05-28T02:49:46Z</dcterms:created>
  <dcterms:modified xsi:type="dcterms:W3CDTF">2022-12-01T08:12:26Z</dcterms:modified>
</cp:coreProperties>
</file>
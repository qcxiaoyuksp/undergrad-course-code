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256" r:id="rId2"/>
    <p:sldId id="330" r:id="rId3"/>
    <p:sldId id="290" r:id="rId4"/>
    <p:sldId id="312" r:id="rId5"/>
    <p:sldId id="303" r:id="rId6"/>
    <p:sldId id="316" r:id="rId7"/>
    <p:sldId id="410" r:id="rId8"/>
    <p:sldId id="317" r:id="rId9"/>
    <p:sldId id="401" r:id="rId10"/>
    <p:sldId id="321" r:id="rId11"/>
    <p:sldId id="323" r:id="rId12"/>
    <p:sldId id="324" r:id="rId13"/>
    <p:sldId id="399" r:id="rId14"/>
    <p:sldId id="400" r:id="rId15"/>
    <p:sldId id="327" r:id="rId16"/>
    <p:sldId id="328" r:id="rId17"/>
    <p:sldId id="331" r:id="rId18"/>
    <p:sldId id="332" r:id="rId19"/>
    <p:sldId id="402" r:id="rId20"/>
    <p:sldId id="408" r:id="rId21"/>
    <p:sldId id="333" r:id="rId22"/>
    <p:sldId id="409" r:id="rId23"/>
    <p:sldId id="318" r:id="rId24"/>
    <p:sldId id="262" r:id="rId25"/>
    <p:sldId id="263" r:id="rId26"/>
    <p:sldId id="334" r:id="rId27"/>
    <p:sldId id="319" r:id="rId28"/>
    <p:sldId id="339" r:id="rId29"/>
    <p:sldId id="340" r:id="rId30"/>
    <p:sldId id="407" r:id="rId31"/>
    <p:sldId id="311" r:id="rId32"/>
    <p:sldId id="335" r:id="rId33"/>
    <p:sldId id="336" r:id="rId34"/>
    <p:sldId id="337" r:id="rId35"/>
    <p:sldId id="338" r:id="rId36"/>
    <p:sldId id="342" r:id="rId37"/>
    <p:sldId id="343" r:id="rId38"/>
    <p:sldId id="344" r:id="rId39"/>
    <p:sldId id="345" r:id="rId40"/>
    <p:sldId id="346" r:id="rId41"/>
    <p:sldId id="320" r:id="rId42"/>
    <p:sldId id="352" r:id="rId43"/>
    <p:sldId id="325" r:id="rId44"/>
    <p:sldId id="347" r:id="rId45"/>
    <p:sldId id="348" r:id="rId46"/>
    <p:sldId id="358" r:id="rId47"/>
    <p:sldId id="405" r:id="rId48"/>
    <p:sldId id="406" r:id="rId49"/>
    <p:sldId id="411" r:id="rId50"/>
    <p:sldId id="412" r:id="rId51"/>
    <p:sldId id="353" r:id="rId52"/>
    <p:sldId id="360" r:id="rId53"/>
    <p:sldId id="359" r:id="rId54"/>
    <p:sldId id="349" r:id="rId55"/>
    <p:sldId id="361" r:id="rId56"/>
    <p:sldId id="350" r:id="rId57"/>
    <p:sldId id="372" r:id="rId58"/>
    <p:sldId id="362" r:id="rId59"/>
    <p:sldId id="374" r:id="rId60"/>
    <p:sldId id="375" r:id="rId61"/>
    <p:sldId id="363" r:id="rId62"/>
    <p:sldId id="376" r:id="rId63"/>
    <p:sldId id="377" r:id="rId64"/>
    <p:sldId id="364" r:id="rId65"/>
    <p:sldId id="378" r:id="rId66"/>
    <p:sldId id="365" r:id="rId67"/>
    <p:sldId id="379" r:id="rId68"/>
    <p:sldId id="380" r:id="rId69"/>
    <p:sldId id="366" r:id="rId70"/>
    <p:sldId id="381" r:id="rId71"/>
    <p:sldId id="382" r:id="rId72"/>
    <p:sldId id="367" r:id="rId73"/>
    <p:sldId id="383" r:id="rId74"/>
    <p:sldId id="384" r:id="rId75"/>
    <p:sldId id="368" r:id="rId76"/>
    <p:sldId id="385" r:id="rId77"/>
    <p:sldId id="369" r:id="rId78"/>
    <p:sldId id="370" r:id="rId79"/>
    <p:sldId id="386" r:id="rId80"/>
    <p:sldId id="354" r:id="rId81"/>
    <p:sldId id="390" r:id="rId82"/>
    <p:sldId id="371" r:id="rId83"/>
    <p:sldId id="413" r:id="rId84"/>
    <p:sldId id="391" r:id="rId85"/>
    <p:sldId id="355" r:id="rId86"/>
    <p:sldId id="392" r:id="rId87"/>
    <p:sldId id="393" r:id="rId88"/>
    <p:sldId id="387" r:id="rId89"/>
    <p:sldId id="396" r:id="rId90"/>
    <p:sldId id="394" r:id="rId91"/>
    <p:sldId id="395" r:id="rId92"/>
    <p:sldId id="397" r:id="rId93"/>
    <p:sldId id="398" r:id="rId94"/>
    <p:sldId id="388" r:id="rId95"/>
    <p:sldId id="389" r:id="rId96"/>
    <p:sldId id="326" r:id="rId97"/>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00" autoAdjust="0"/>
    <p:restoredTop sz="82573" autoAdjust="0"/>
  </p:normalViewPr>
  <p:slideViewPr>
    <p:cSldViewPr>
      <p:cViewPr varScale="1">
        <p:scale>
          <a:sx n="180" d="100"/>
          <a:sy n="180" d="100"/>
        </p:scale>
        <p:origin x="1132" y="9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9959E0-9653-4E01-B050-18B859E9663F}" type="datetimeFigureOut">
              <a:rPr lang="zh-CN" altLang="en-US" smtClean="0"/>
              <a:t>2022/11/11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79405-0C40-48BA-99C8-403F46F30A6E}" type="slidenum">
              <a:rPr lang="zh-CN" altLang="en-US" smtClean="0"/>
              <a:t>‹#›</a:t>
            </a:fld>
            <a:endParaRPr lang="zh-CN" altLang="en-US"/>
          </a:p>
        </p:txBody>
      </p:sp>
    </p:spTree>
    <p:extLst>
      <p:ext uri="{BB962C8B-B14F-4D97-AF65-F5344CB8AC3E}">
        <p14:creationId xmlns:p14="http://schemas.microsoft.com/office/powerpoint/2010/main" val="867528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1</a:t>
            </a:fld>
            <a:endParaRPr lang="zh-CN" altLang="en-US"/>
          </a:p>
        </p:txBody>
      </p:sp>
    </p:spTree>
    <p:extLst>
      <p:ext uri="{BB962C8B-B14F-4D97-AF65-F5344CB8AC3E}">
        <p14:creationId xmlns:p14="http://schemas.microsoft.com/office/powerpoint/2010/main" val="2125259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469834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z="1200" b="1">
                <a:solidFill>
                  <a:srgbClr val="FF0000"/>
                </a:solidFill>
              </a:rPr>
              <a:t>大</a:t>
            </a:r>
          </a:p>
          <a:p>
            <a:r>
              <a:rPr lang="zh-CN" altLang="en-US" sz="1200" b="1">
                <a:solidFill>
                  <a:srgbClr val="FF0000"/>
                </a:solidFill>
              </a:rPr>
              <a:t>面向列</a:t>
            </a:r>
            <a:r>
              <a:rPr lang="zh-CN" altLang="en-US" sz="1200"/>
              <a:t>：列族</a:t>
            </a:r>
          </a:p>
          <a:p>
            <a:r>
              <a:rPr lang="zh-CN" altLang="en-US" sz="1200" b="1">
                <a:solidFill>
                  <a:srgbClr val="FF0000"/>
                </a:solidFill>
              </a:rPr>
              <a:t>稀疏</a:t>
            </a:r>
            <a:r>
              <a:rPr lang="zh-CN" altLang="en-US" sz="1200"/>
              <a:t>：在</a:t>
            </a:r>
            <a:r>
              <a:rPr lang="en-US" altLang="zh-CN" sz="1200"/>
              <a:t>HBase</a:t>
            </a:r>
            <a:r>
              <a:rPr lang="zh-CN" altLang="en-US" sz="1200"/>
              <a:t>中一个列是</a:t>
            </a:r>
            <a:r>
              <a:rPr lang="en-US" altLang="zh-CN" sz="1200"/>
              <a:t>null</a:t>
            </a:r>
            <a:r>
              <a:rPr lang="zh-CN" altLang="en-US" sz="1200"/>
              <a:t>，它不占用存储空间，因此表的设计可以稀疏</a:t>
            </a:r>
          </a:p>
          <a:p>
            <a:r>
              <a:rPr lang="zh-CN" altLang="en-US" sz="1200" b="1">
                <a:solidFill>
                  <a:srgbClr val="FF0000"/>
                </a:solidFill>
              </a:rPr>
              <a:t>数据类型单一</a:t>
            </a:r>
            <a:r>
              <a:rPr lang="zh-CN" altLang="en-US" sz="1200"/>
              <a:t>：只有</a:t>
            </a:r>
            <a:r>
              <a:rPr lang="en-US" altLang="zh-CN" sz="1200"/>
              <a:t>String</a:t>
            </a:r>
            <a:r>
              <a:rPr lang="zh-CN" altLang="en-US" sz="1200"/>
              <a:t>类型</a:t>
            </a:r>
          </a:p>
          <a:p>
            <a:r>
              <a:rPr lang="zh-CN" altLang="en-US" sz="1200" b="1">
                <a:solidFill>
                  <a:srgbClr val="FF0000"/>
                </a:solidFill>
              </a:rPr>
              <a:t>无模式</a:t>
            </a:r>
            <a:r>
              <a:rPr lang="zh-CN" altLang="en-US" sz="1200"/>
              <a:t>：一张表中不同的行，对应的列可以不同</a:t>
            </a:r>
          </a:p>
          <a:p>
            <a:r>
              <a:rPr lang="zh-CN" altLang="en-US" sz="1200" b="1">
                <a:solidFill>
                  <a:srgbClr val="FF0000"/>
                </a:solidFill>
              </a:rPr>
              <a:t>数据多版本</a:t>
            </a:r>
            <a:r>
              <a:rPr lang="zh-CN" altLang="en-US" sz="1200"/>
              <a:t>：一个单元格（</a:t>
            </a:r>
            <a:r>
              <a:rPr lang="en-US" altLang="zh-CN" sz="1200"/>
              <a:t>cell</a:t>
            </a:r>
            <a:r>
              <a:rPr lang="zh-CN" altLang="en-US" sz="1200"/>
              <a:t>）可以存储多个版本数据</a:t>
            </a:r>
          </a:p>
          <a:p>
            <a:endParaRPr kumimoji="1" lang="zh-CN" altLang="en-US" dirty="0"/>
          </a:p>
        </p:txBody>
      </p:sp>
    </p:spTree>
    <p:extLst>
      <p:ext uri="{BB962C8B-B14F-4D97-AF65-F5344CB8AC3E}">
        <p14:creationId xmlns:p14="http://schemas.microsoft.com/office/powerpoint/2010/main" val="145856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z="1200" b="1">
                <a:solidFill>
                  <a:srgbClr val="FF0000"/>
                </a:solidFill>
              </a:rPr>
              <a:t>大</a:t>
            </a:r>
          </a:p>
          <a:p>
            <a:r>
              <a:rPr lang="zh-CN" altLang="en-US" sz="1200" b="1">
                <a:solidFill>
                  <a:srgbClr val="FF0000"/>
                </a:solidFill>
              </a:rPr>
              <a:t>面向列</a:t>
            </a:r>
            <a:r>
              <a:rPr lang="zh-CN" altLang="en-US" sz="1200"/>
              <a:t>：列族</a:t>
            </a:r>
          </a:p>
          <a:p>
            <a:r>
              <a:rPr lang="zh-CN" altLang="en-US" sz="1200" b="1">
                <a:solidFill>
                  <a:srgbClr val="FF0000"/>
                </a:solidFill>
              </a:rPr>
              <a:t>稀疏</a:t>
            </a:r>
            <a:r>
              <a:rPr lang="zh-CN" altLang="en-US" sz="1200"/>
              <a:t>：在</a:t>
            </a:r>
            <a:r>
              <a:rPr lang="en-US" altLang="zh-CN" sz="1200"/>
              <a:t>HBase</a:t>
            </a:r>
            <a:r>
              <a:rPr lang="zh-CN" altLang="en-US" sz="1200"/>
              <a:t>中一个列是</a:t>
            </a:r>
            <a:r>
              <a:rPr lang="en-US" altLang="zh-CN" sz="1200"/>
              <a:t>null</a:t>
            </a:r>
            <a:r>
              <a:rPr lang="zh-CN" altLang="en-US" sz="1200"/>
              <a:t>，它不占用存储空间，因此表的设计可以稀疏</a:t>
            </a:r>
          </a:p>
          <a:p>
            <a:r>
              <a:rPr lang="zh-CN" altLang="en-US" sz="1200" b="1">
                <a:solidFill>
                  <a:srgbClr val="FF0000"/>
                </a:solidFill>
              </a:rPr>
              <a:t>数据类型单一</a:t>
            </a:r>
            <a:r>
              <a:rPr lang="zh-CN" altLang="en-US" sz="1200"/>
              <a:t>：只有</a:t>
            </a:r>
            <a:r>
              <a:rPr lang="en-US" altLang="zh-CN" sz="1200"/>
              <a:t>String</a:t>
            </a:r>
            <a:r>
              <a:rPr lang="zh-CN" altLang="en-US" sz="1200"/>
              <a:t>类型</a:t>
            </a:r>
          </a:p>
          <a:p>
            <a:r>
              <a:rPr lang="zh-CN" altLang="en-US" sz="1200" b="1">
                <a:solidFill>
                  <a:srgbClr val="FF0000"/>
                </a:solidFill>
              </a:rPr>
              <a:t>无模式</a:t>
            </a:r>
            <a:r>
              <a:rPr lang="zh-CN" altLang="en-US" sz="1200"/>
              <a:t>：一张表中不同的行，对应的列可以不同</a:t>
            </a:r>
          </a:p>
          <a:p>
            <a:r>
              <a:rPr lang="zh-CN" altLang="en-US" sz="1200" b="1">
                <a:solidFill>
                  <a:srgbClr val="FF0000"/>
                </a:solidFill>
              </a:rPr>
              <a:t>数据多版本</a:t>
            </a:r>
            <a:r>
              <a:rPr lang="zh-CN" altLang="en-US" sz="1200"/>
              <a:t>：一个单元格（</a:t>
            </a:r>
            <a:r>
              <a:rPr lang="en-US" altLang="zh-CN" sz="1200"/>
              <a:t>cell</a:t>
            </a:r>
            <a:r>
              <a:rPr lang="zh-CN" altLang="en-US" sz="1200"/>
              <a:t>）可以存储多个版本数据</a:t>
            </a:r>
          </a:p>
          <a:p>
            <a:endParaRPr kumimoji="1" lang="zh-CN" altLang="en-US" dirty="0"/>
          </a:p>
        </p:txBody>
      </p:sp>
    </p:spTree>
    <p:extLst>
      <p:ext uri="{BB962C8B-B14F-4D97-AF65-F5344CB8AC3E}">
        <p14:creationId xmlns:p14="http://schemas.microsoft.com/office/powerpoint/2010/main" val="77404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a:t>1</a:t>
            </a:r>
            <a:r>
              <a:rPr kumimoji="1" lang="zh-CN" altLang="en-US"/>
              <a:t>）</a:t>
            </a:r>
            <a:r>
              <a:rPr kumimoji="1" lang="en-US" altLang="zh-CN"/>
              <a:t>rowkey </a:t>
            </a:r>
            <a:r>
              <a:rPr kumimoji="1" lang="zh-CN" altLang="en-US"/>
              <a:t>主键</a:t>
            </a:r>
          </a:p>
          <a:p>
            <a:r>
              <a:rPr kumimoji="1" lang="zh-CN" altLang="en-US"/>
              <a:t>     对应于</a:t>
            </a:r>
            <a:r>
              <a:rPr kumimoji="1" lang="en-US" altLang="zh-CN"/>
              <a:t>RDMS</a:t>
            </a:r>
            <a:r>
              <a:rPr kumimoji="1" lang="zh-CN" altLang="en-US"/>
              <a:t>的主键</a:t>
            </a:r>
          </a:p>
          <a:p>
            <a:r>
              <a:rPr kumimoji="1" lang="zh-CN" altLang="en-US"/>
              <a:t>     字符串，字典顺序存储，在</a:t>
            </a:r>
            <a:r>
              <a:rPr kumimoji="1" lang="en-US" altLang="zh-CN"/>
              <a:t>HDFS</a:t>
            </a:r>
            <a:r>
              <a:rPr kumimoji="1" lang="zh-CN" altLang="en-US"/>
              <a:t>中保存为</a:t>
            </a:r>
            <a:r>
              <a:rPr kumimoji="1" lang="en-US" altLang="zh-CN"/>
              <a:t>byte</a:t>
            </a:r>
            <a:r>
              <a:rPr kumimoji="1" lang="zh-CN" altLang="en-US"/>
              <a:t>（字节）数组</a:t>
            </a:r>
          </a:p>
          <a:p>
            <a:r>
              <a:rPr kumimoji="1" lang="zh-CN" altLang="en-US"/>
              <a:t>     </a:t>
            </a:r>
            <a:r>
              <a:rPr kumimoji="1" lang="en-US" altLang="zh-CN"/>
              <a:t>rowkey</a:t>
            </a:r>
            <a:r>
              <a:rPr kumimoji="1" lang="zh-CN" altLang="en-US"/>
              <a:t>查询方式：单个</a:t>
            </a:r>
            <a:r>
              <a:rPr kumimoji="1" lang="en-US" altLang="zh-CN"/>
              <a:t>rowkey</a:t>
            </a:r>
            <a:r>
              <a:rPr kumimoji="1" lang="zh-CN" altLang="en-US"/>
              <a:t>、</a:t>
            </a:r>
            <a:r>
              <a:rPr kumimoji="1" lang="en-US" altLang="zh-CN"/>
              <a:t>range</a:t>
            </a:r>
            <a:r>
              <a:rPr kumimoji="1" lang="zh-CN" altLang="en-US"/>
              <a:t>、全表扫描</a:t>
            </a:r>
          </a:p>
          <a:p>
            <a:r>
              <a:rPr kumimoji="1" lang="en-US" altLang="zh-CN"/>
              <a:t>2</a:t>
            </a:r>
            <a:r>
              <a:rPr kumimoji="1" lang="zh-CN" altLang="en-US"/>
              <a:t>） </a:t>
            </a:r>
            <a:r>
              <a:rPr kumimoji="1" lang="en-US" altLang="zh-CN"/>
              <a:t>column family/cf </a:t>
            </a:r>
            <a:r>
              <a:rPr kumimoji="1" lang="zh-CN" altLang="en-US"/>
              <a:t>列族</a:t>
            </a:r>
          </a:p>
          <a:p>
            <a:r>
              <a:rPr kumimoji="1" lang="zh-CN" altLang="en-US"/>
              <a:t>      列族是在创建表的时候指定，一个列族包含多个列</a:t>
            </a:r>
          </a:p>
          <a:p>
            <a:r>
              <a:rPr kumimoji="1" lang="en-US" altLang="zh-CN"/>
              <a:t>3</a:t>
            </a:r>
            <a:r>
              <a:rPr kumimoji="1" lang="zh-CN" altLang="en-US"/>
              <a:t>）列：</a:t>
            </a:r>
            <a:r>
              <a:rPr kumimoji="1" lang="en-US" altLang="zh-CN"/>
              <a:t>column</a:t>
            </a:r>
          </a:p>
          <a:p>
            <a:r>
              <a:rPr kumimoji="1" lang="en-US" altLang="zh-CN"/>
              <a:t>4</a:t>
            </a:r>
            <a:r>
              <a:rPr kumimoji="1" lang="zh-CN" altLang="en-US"/>
              <a:t>）时间戳：</a:t>
            </a:r>
            <a:r>
              <a:rPr kumimoji="1" lang="en-US" altLang="zh-CN"/>
              <a:t>timestamp  </a:t>
            </a:r>
          </a:p>
          <a:p>
            <a:r>
              <a:rPr kumimoji="1" lang="en-US" altLang="zh-CN"/>
              <a:t>5</a:t>
            </a:r>
            <a:r>
              <a:rPr kumimoji="1" lang="zh-CN" altLang="en-US"/>
              <a:t>）存储单元：</a:t>
            </a:r>
            <a:r>
              <a:rPr kumimoji="1" lang="en-US" altLang="zh-CN"/>
              <a:t>cell</a:t>
            </a:r>
          </a:p>
          <a:p>
            <a:r>
              <a:rPr kumimoji="1" lang="en-US" altLang="zh-CN"/>
              <a:t>     rowkey</a:t>
            </a:r>
            <a:r>
              <a:rPr kumimoji="1" lang="zh-CN" altLang="en-US"/>
              <a:t>和</a:t>
            </a:r>
            <a:r>
              <a:rPr kumimoji="1" lang="en-US" altLang="zh-CN"/>
              <a:t>column</a:t>
            </a:r>
            <a:r>
              <a:rPr kumimoji="1" lang="zh-CN" altLang="en-US"/>
              <a:t>共同确定一个</a:t>
            </a:r>
            <a:r>
              <a:rPr kumimoji="1" lang="en-US" altLang="zh-CN"/>
              <a:t>cell</a:t>
            </a:r>
            <a:r>
              <a:rPr kumimoji="1" lang="zh-CN" altLang="en-US"/>
              <a:t>，每个</a:t>
            </a:r>
            <a:r>
              <a:rPr kumimoji="1" lang="en-US" altLang="zh-CN"/>
              <a:t>cell</a:t>
            </a:r>
            <a:r>
              <a:rPr kumimoji="1" lang="zh-CN" altLang="en-US"/>
              <a:t>可以存多个版本数据</a:t>
            </a:r>
            <a:endParaRPr kumimoji="1" lang="en-US" altLang="zh-CN"/>
          </a:p>
          <a:p>
            <a:r>
              <a:rPr kumimoji="1" lang="zh-CN" altLang="en-US"/>
              <a:t>     在写入数据时，时间戳可以由</a:t>
            </a:r>
            <a:r>
              <a:rPr kumimoji="1" lang="en-US" altLang="zh-CN"/>
              <a:t>hbase</a:t>
            </a:r>
            <a:r>
              <a:rPr kumimoji="1" lang="zh-CN" altLang="en-US"/>
              <a:t>自动赋值，也可以手工赋值</a:t>
            </a:r>
          </a:p>
          <a:p>
            <a:r>
              <a:rPr kumimoji="1" lang="zh-CN" altLang="en-US"/>
              <a:t>     </a:t>
            </a:r>
            <a:r>
              <a:rPr kumimoji="1" lang="en-US" altLang="zh-CN"/>
              <a:t>{rowkey</a:t>
            </a:r>
            <a:r>
              <a:rPr kumimoji="1" lang="zh-CN" altLang="en-US"/>
              <a:t>、</a:t>
            </a:r>
            <a:r>
              <a:rPr kumimoji="1" lang="en-US" altLang="zh-CN"/>
              <a:t>cf</a:t>
            </a:r>
            <a:r>
              <a:rPr kumimoji="1" lang="zh-CN" altLang="en-US"/>
              <a:t>、</a:t>
            </a:r>
            <a:r>
              <a:rPr kumimoji="1" lang="en-US" altLang="zh-CN"/>
              <a:t>column</a:t>
            </a:r>
            <a:r>
              <a:rPr kumimoji="1" lang="zh-CN" altLang="en-US"/>
              <a:t>、</a:t>
            </a:r>
            <a:r>
              <a:rPr kumimoji="1" lang="en-US" altLang="zh-CN"/>
              <a:t>version}</a:t>
            </a:r>
            <a:endParaRPr kumimoji="1" lang="zh-CN" altLang="en-US" dirty="0"/>
          </a:p>
        </p:txBody>
      </p:sp>
    </p:spTree>
    <p:extLst>
      <p:ext uri="{BB962C8B-B14F-4D97-AF65-F5344CB8AC3E}">
        <p14:creationId xmlns:p14="http://schemas.microsoft.com/office/powerpoint/2010/main" val="2001229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2004504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a:t>HBase</a:t>
            </a:r>
            <a:r>
              <a:rPr kumimoji="1" lang="zh-CN" altLang="en-US"/>
              <a:t>物理模型</a:t>
            </a:r>
          </a:p>
          <a:p>
            <a:r>
              <a:rPr kumimoji="1" lang="en-US" altLang="zh-CN"/>
              <a:t>1</a:t>
            </a:r>
            <a:r>
              <a:rPr kumimoji="1" lang="zh-CN" altLang="en-US"/>
              <a:t>）</a:t>
            </a:r>
            <a:r>
              <a:rPr kumimoji="1" lang="en-US" altLang="zh-CN"/>
              <a:t>Region</a:t>
            </a:r>
            <a:r>
              <a:rPr kumimoji="1" lang="zh-CN" altLang="en-US"/>
              <a:t>：在行的方向上进行切割</a:t>
            </a:r>
          </a:p>
          <a:p>
            <a:r>
              <a:rPr kumimoji="1" lang="zh-CN" altLang="en-US"/>
              <a:t>	如：</a:t>
            </a:r>
            <a:r>
              <a:rPr kumimoji="1" lang="en-US" altLang="zh-CN"/>
              <a:t>Region1:1-100    Region2:101-200</a:t>
            </a:r>
          </a:p>
          <a:p>
            <a:r>
              <a:rPr kumimoji="1" lang="en-US" altLang="zh-CN"/>
              <a:t>2</a:t>
            </a:r>
            <a:r>
              <a:rPr kumimoji="1" lang="zh-CN" altLang="en-US"/>
              <a:t>）</a:t>
            </a:r>
            <a:r>
              <a:rPr kumimoji="1" lang="en-US" altLang="zh-CN"/>
              <a:t>RegionServer</a:t>
            </a:r>
            <a:r>
              <a:rPr kumimoji="1" lang="zh-CN" altLang="en-US"/>
              <a:t>：	</a:t>
            </a:r>
          </a:p>
          <a:p>
            <a:r>
              <a:rPr kumimoji="1" lang="zh-CN" altLang="en-US"/>
              <a:t>	管理</a:t>
            </a:r>
            <a:r>
              <a:rPr kumimoji="1" lang="en-US" altLang="zh-CN"/>
              <a:t>Region</a:t>
            </a:r>
          </a:p>
          <a:p>
            <a:r>
              <a:rPr kumimoji="1" lang="en-US" altLang="zh-CN"/>
              <a:t>	</a:t>
            </a:r>
            <a:r>
              <a:rPr kumimoji="1" lang="zh-CN" altLang="en-US"/>
              <a:t>一个</a:t>
            </a:r>
            <a:r>
              <a:rPr kumimoji="1" lang="en-US" altLang="zh-CN"/>
              <a:t>Region</a:t>
            </a:r>
            <a:r>
              <a:rPr kumimoji="1" lang="zh-CN" altLang="en-US"/>
              <a:t>在同一时刻只能被一个</a:t>
            </a:r>
            <a:r>
              <a:rPr kumimoji="1" lang="en-US" altLang="zh-CN"/>
              <a:t>RegionServer</a:t>
            </a:r>
            <a:r>
              <a:rPr kumimoji="1" lang="zh-CN" altLang="en-US"/>
              <a:t>管理</a:t>
            </a:r>
          </a:p>
          <a:p>
            <a:r>
              <a:rPr kumimoji="1" lang="zh-CN" altLang="en-US"/>
              <a:t>	一个</a:t>
            </a:r>
            <a:r>
              <a:rPr kumimoji="1" lang="en-US" altLang="zh-CN"/>
              <a:t>RegionServer</a:t>
            </a:r>
            <a:r>
              <a:rPr kumimoji="1" lang="zh-CN" altLang="en-US"/>
              <a:t>能够管理多个</a:t>
            </a:r>
            <a:r>
              <a:rPr kumimoji="1" lang="en-US" altLang="zh-CN"/>
              <a:t>Region</a:t>
            </a:r>
          </a:p>
          <a:p>
            <a:r>
              <a:rPr kumimoji="1" lang="en-US" altLang="zh-CN"/>
              <a:t>3</a:t>
            </a:r>
            <a:r>
              <a:rPr kumimoji="1" lang="zh-CN" altLang="en-US"/>
              <a:t>）拆分</a:t>
            </a:r>
            <a:r>
              <a:rPr kumimoji="1" lang="en-US" altLang="zh-CN"/>
              <a:t>Region</a:t>
            </a:r>
            <a:r>
              <a:rPr kumimoji="1" lang="zh-CN" altLang="en-US"/>
              <a:t>：并行化处理；带来数据管理的困难</a:t>
            </a:r>
            <a:endParaRPr kumimoji="1" lang="zh-CN" altLang="en-US" dirty="0"/>
          </a:p>
        </p:txBody>
      </p:sp>
    </p:spTree>
    <p:extLst>
      <p:ext uri="{BB962C8B-B14F-4D97-AF65-F5344CB8AC3E}">
        <p14:creationId xmlns:p14="http://schemas.microsoft.com/office/powerpoint/2010/main" val="1051858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282648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950955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452888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371653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9918105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HBase</a:t>
            </a:r>
            <a:r>
              <a:rPr lang="zh-CN" altLang="en-US"/>
              <a:t>架构：</a:t>
            </a:r>
          </a:p>
          <a:p>
            <a:r>
              <a:rPr lang="en-US" altLang="zh-CN"/>
              <a:t>1</a:t>
            </a:r>
            <a:r>
              <a:rPr lang="zh-CN" altLang="en-US"/>
              <a:t>）</a:t>
            </a:r>
            <a:r>
              <a:rPr lang="en-US" altLang="zh-CN"/>
              <a:t>HDFS</a:t>
            </a:r>
          </a:p>
          <a:p>
            <a:r>
              <a:rPr lang="en-US" altLang="zh-CN"/>
              <a:t>2</a:t>
            </a:r>
            <a:r>
              <a:rPr lang="zh-CN" altLang="en-US"/>
              <a:t>）</a:t>
            </a:r>
            <a:r>
              <a:rPr lang="en-US" altLang="zh-CN"/>
              <a:t>Client</a:t>
            </a:r>
            <a:r>
              <a:rPr lang="zh-CN" altLang="en-US"/>
              <a:t>：对</a:t>
            </a:r>
            <a:r>
              <a:rPr lang="en-US" altLang="zh-CN"/>
              <a:t>HBase</a:t>
            </a:r>
            <a:r>
              <a:rPr lang="zh-CN" altLang="en-US"/>
              <a:t>进行读写</a:t>
            </a:r>
          </a:p>
          <a:p>
            <a:r>
              <a:rPr lang="en-US" altLang="zh-CN"/>
              <a:t>3) ZK</a:t>
            </a:r>
            <a:r>
              <a:rPr lang="zh-CN" altLang="en-US"/>
              <a:t>：防止单点故障；保证集群中只有一个</a:t>
            </a:r>
            <a:r>
              <a:rPr lang="en-US" altLang="zh-CN"/>
              <a:t>HMaster  </a:t>
            </a:r>
          </a:p>
          <a:p>
            <a:r>
              <a:rPr lang="en-US" altLang="zh-CN"/>
              <a:t>     </a:t>
            </a:r>
            <a:r>
              <a:rPr lang="zh-CN" altLang="en-US"/>
              <a:t>监控</a:t>
            </a:r>
            <a:r>
              <a:rPr lang="en-US" altLang="zh-CN"/>
              <a:t>RegionServer</a:t>
            </a:r>
            <a:r>
              <a:rPr lang="zh-CN" altLang="en-US"/>
              <a:t>的上线或者下线，并实时通知给</a:t>
            </a:r>
            <a:r>
              <a:rPr lang="en-US" altLang="zh-CN"/>
              <a:t>Master</a:t>
            </a:r>
          </a:p>
          <a:p>
            <a:r>
              <a:rPr lang="en-US" altLang="zh-CN"/>
              <a:t>4) HMaster</a:t>
            </a:r>
            <a:r>
              <a:rPr lang="zh-CN" altLang="en-US"/>
              <a:t>：   </a:t>
            </a:r>
            <a:r>
              <a:rPr lang="zh-CN" altLang="en-US" sz="1200"/>
              <a:t>存储元数据</a:t>
            </a:r>
            <a:endParaRPr lang="en-US" altLang="zh-CN"/>
          </a:p>
          <a:p>
            <a:r>
              <a:rPr lang="en-US" altLang="zh-CN"/>
              <a:t>	</a:t>
            </a:r>
            <a:r>
              <a:rPr lang="zh-CN" altLang="en-US"/>
              <a:t>为</a:t>
            </a:r>
            <a:r>
              <a:rPr lang="en-US" altLang="zh-CN"/>
              <a:t>RegionServer</a:t>
            </a:r>
            <a:r>
              <a:rPr lang="zh-CN" altLang="en-US"/>
              <a:t>分配</a:t>
            </a:r>
            <a:r>
              <a:rPr lang="en-US" altLang="zh-CN"/>
              <a:t>Region</a:t>
            </a:r>
          </a:p>
          <a:p>
            <a:r>
              <a:rPr lang="en-US" altLang="zh-CN"/>
              <a:t>	</a:t>
            </a:r>
            <a:r>
              <a:rPr lang="zh-CN" altLang="en-US"/>
              <a:t>负责</a:t>
            </a:r>
            <a:r>
              <a:rPr lang="en-US" altLang="zh-CN"/>
              <a:t>RegionServer</a:t>
            </a:r>
            <a:r>
              <a:rPr lang="zh-CN" altLang="en-US"/>
              <a:t>的负载均衡</a:t>
            </a:r>
          </a:p>
          <a:p>
            <a:r>
              <a:rPr lang="zh-CN" altLang="en-US"/>
              <a:t>	发现</a:t>
            </a:r>
            <a:r>
              <a:rPr lang="en-US" altLang="zh-CN"/>
              <a:t>RegionServer</a:t>
            </a:r>
            <a:r>
              <a:rPr lang="zh-CN" altLang="en-US"/>
              <a:t>失效了，会把</a:t>
            </a:r>
            <a:r>
              <a:rPr lang="en-US" altLang="zh-CN"/>
              <a:t>RegionServer</a:t>
            </a:r>
            <a:r>
              <a:rPr lang="zh-CN" altLang="en-US"/>
              <a:t>上的</a:t>
            </a:r>
            <a:r>
              <a:rPr lang="en-US" altLang="zh-CN"/>
              <a:t>Region</a:t>
            </a:r>
            <a:r>
              <a:rPr lang="zh-CN" altLang="en-US"/>
              <a:t>分配到其他的</a:t>
            </a:r>
            <a:r>
              <a:rPr lang="en-US" altLang="zh-CN"/>
              <a:t>RegionServer</a:t>
            </a:r>
          </a:p>
          <a:p>
            <a:r>
              <a:rPr lang="en-US" altLang="zh-CN"/>
              <a:t>5) HRegionServer</a:t>
            </a:r>
            <a:r>
              <a:rPr lang="zh-CN" altLang="en-US"/>
              <a:t>：</a:t>
            </a:r>
            <a:endParaRPr lang="en-US" altLang="zh-CN"/>
          </a:p>
          <a:p>
            <a:r>
              <a:rPr lang="en-US" altLang="zh-CN"/>
              <a:t>	</a:t>
            </a:r>
            <a:r>
              <a:rPr lang="zh-CN" altLang="en-US"/>
              <a:t>维护</a:t>
            </a:r>
            <a:r>
              <a:rPr lang="en-US" altLang="zh-CN"/>
              <a:t>Region</a:t>
            </a:r>
            <a:r>
              <a:rPr lang="zh-CN" altLang="en-US"/>
              <a:t>，处理对这些</a:t>
            </a:r>
            <a:r>
              <a:rPr lang="en-US" altLang="zh-CN"/>
              <a:t>Region</a:t>
            </a:r>
            <a:r>
              <a:rPr lang="zh-CN" altLang="en-US"/>
              <a:t>的</a:t>
            </a:r>
            <a:r>
              <a:rPr lang="en-US" altLang="zh-CN"/>
              <a:t>IO</a:t>
            </a:r>
            <a:r>
              <a:rPr lang="zh-CN" altLang="en-US"/>
              <a:t>请求</a:t>
            </a:r>
          </a:p>
          <a:p>
            <a:r>
              <a:rPr lang="zh-CN" altLang="en-US"/>
              <a:t>	</a:t>
            </a:r>
            <a:r>
              <a:rPr lang="en-US" altLang="zh-CN"/>
              <a:t>RegionServer</a:t>
            </a:r>
            <a:r>
              <a:rPr lang="zh-CN" altLang="en-US"/>
              <a:t>负责切分 在运行过程中变得过大的</a:t>
            </a:r>
            <a:r>
              <a:rPr lang="en-US" altLang="zh-CN"/>
              <a:t>Region</a:t>
            </a:r>
          </a:p>
          <a:p>
            <a:r>
              <a:rPr lang="en-US" altLang="zh-CN"/>
              <a:t>6</a:t>
            </a:r>
            <a:r>
              <a:rPr lang="zh-CN" altLang="en-US"/>
              <a:t>）</a:t>
            </a:r>
            <a:r>
              <a:rPr lang="en-US" altLang="zh-CN"/>
              <a:t>Hregion</a:t>
            </a:r>
            <a:r>
              <a:rPr lang="zh-CN" altLang="en-US"/>
              <a:t>：</a:t>
            </a:r>
            <a:r>
              <a:rPr lang="en-US" altLang="zh-CN"/>
              <a:t>	</a:t>
            </a:r>
            <a:r>
              <a:rPr lang="zh-CN" altLang="en-US"/>
              <a:t>按行对</a:t>
            </a:r>
            <a:r>
              <a:rPr lang="en-US" altLang="zh-CN"/>
              <a:t>rowkey</a:t>
            </a:r>
            <a:r>
              <a:rPr lang="zh-CN" altLang="en-US"/>
              <a:t>对应的数据进行拆分</a:t>
            </a:r>
          </a:p>
          <a:p>
            <a:r>
              <a:rPr lang="en-US" altLang="zh-CN"/>
              <a:t>7) Hlog</a:t>
            </a:r>
            <a:r>
              <a:rPr lang="zh-CN" altLang="en-US"/>
              <a:t>：记录操作，为了容错处理</a:t>
            </a:r>
          </a:p>
          <a:p>
            <a:endParaRPr lang="zh-CN" altLang="en-US"/>
          </a:p>
          <a:p>
            <a:r>
              <a:rPr lang="en-US" altLang="zh-CN"/>
              <a:t>HBase</a:t>
            </a:r>
            <a:r>
              <a:rPr lang="zh-CN" altLang="en-US"/>
              <a:t>是依赖于</a:t>
            </a:r>
            <a:r>
              <a:rPr lang="en-US" altLang="zh-CN"/>
              <a:t>ZK</a:t>
            </a:r>
            <a:r>
              <a:rPr lang="zh-CN" altLang="en-US"/>
              <a:t>的：</a:t>
            </a:r>
          </a:p>
          <a:p>
            <a:r>
              <a:rPr lang="en-US" altLang="zh-CN"/>
              <a:t>  1</a:t>
            </a:r>
            <a:r>
              <a:rPr lang="zh-CN" altLang="en-US"/>
              <a:t>）</a:t>
            </a:r>
            <a:r>
              <a:rPr lang="en-US" altLang="zh-CN"/>
              <a:t>ZK</a:t>
            </a:r>
            <a:r>
              <a:rPr lang="zh-CN" altLang="en-US"/>
              <a:t>是外置的（建议）</a:t>
            </a:r>
          </a:p>
          <a:p>
            <a:r>
              <a:rPr lang="en-US" altLang="zh-CN"/>
              <a:t>  2</a:t>
            </a:r>
            <a:r>
              <a:rPr lang="zh-CN" altLang="en-US"/>
              <a:t>）</a:t>
            </a:r>
            <a:r>
              <a:rPr lang="en-US" altLang="zh-CN"/>
              <a:t>HBase</a:t>
            </a:r>
            <a:r>
              <a:rPr lang="zh-CN" altLang="en-US"/>
              <a:t>内置的</a:t>
            </a:r>
          </a:p>
        </p:txBody>
      </p:sp>
      <p:sp>
        <p:nvSpPr>
          <p:cNvPr id="4" name="灯片编号占位符 3"/>
          <p:cNvSpPr>
            <a:spLocks noGrp="1"/>
          </p:cNvSpPr>
          <p:nvPr>
            <p:ph type="sldNum" sz="quarter" idx="5"/>
          </p:nvPr>
        </p:nvSpPr>
        <p:spPr/>
        <p:txBody>
          <a:bodyPr/>
          <a:lstStyle/>
          <a:p>
            <a:fld id="{3D579405-0C40-48BA-99C8-403F46F30A6E}" type="slidenum">
              <a:rPr lang="zh-CN" altLang="en-US" smtClean="0"/>
              <a:t>17</a:t>
            </a:fld>
            <a:endParaRPr lang="zh-CN" altLang="en-US"/>
          </a:p>
        </p:txBody>
      </p:sp>
    </p:spTree>
    <p:extLst>
      <p:ext uri="{BB962C8B-B14F-4D97-AF65-F5344CB8AC3E}">
        <p14:creationId xmlns:p14="http://schemas.microsoft.com/office/powerpoint/2010/main" val="1930873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a:t>HBase</a:t>
            </a:r>
            <a:r>
              <a:rPr kumimoji="1" lang="zh-CN" altLang="en-US"/>
              <a:t>的容错</a:t>
            </a:r>
          </a:p>
          <a:p>
            <a:r>
              <a:rPr kumimoji="1" lang="en-US" altLang="zh-CN"/>
              <a:t>1</a:t>
            </a:r>
            <a:r>
              <a:rPr kumimoji="1" lang="zh-CN" altLang="en-US"/>
              <a:t>）</a:t>
            </a:r>
            <a:r>
              <a:rPr kumimoji="1" lang="en-US" altLang="zh-CN"/>
              <a:t>HMaster</a:t>
            </a:r>
            <a:r>
              <a:rPr kumimoji="1" lang="zh-CN" altLang="en-US"/>
              <a:t>容错</a:t>
            </a:r>
          </a:p>
          <a:p>
            <a:r>
              <a:rPr kumimoji="1" lang="zh-CN" altLang="en-US"/>
              <a:t>	会配一个备用的</a:t>
            </a:r>
            <a:r>
              <a:rPr kumimoji="1" lang="en-US" altLang="zh-CN"/>
              <a:t>HMaster</a:t>
            </a:r>
          </a:p>
          <a:p>
            <a:r>
              <a:rPr kumimoji="1" lang="en-US" altLang="zh-CN"/>
              <a:t>2</a:t>
            </a:r>
            <a:r>
              <a:rPr kumimoji="1" lang="zh-CN" altLang="en-US"/>
              <a:t>）</a:t>
            </a:r>
            <a:r>
              <a:rPr kumimoji="1" lang="en-US" altLang="zh-CN"/>
              <a:t>Region</a:t>
            </a:r>
            <a:r>
              <a:rPr kumimoji="1" lang="zh-CN" altLang="en-US"/>
              <a:t>容错</a:t>
            </a:r>
          </a:p>
          <a:p>
            <a:r>
              <a:rPr kumimoji="1" lang="zh-CN" altLang="en-US"/>
              <a:t>	一个</a:t>
            </a:r>
            <a:r>
              <a:rPr kumimoji="1" lang="en-US" altLang="zh-CN"/>
              <a:t>Region</a:t>
            </a:r>
            <a:r>
              <a:rPr kumimoji="1" lang="zh-CN" altLang="en-US"/>
              <a:t>故障，</a:t>
            </a:r>
            <a:r>
              <a:rPr kumimoji="1" lang="en-US" altLang="zh-CN"/>
              <a:t>HMaster</a:t>
            </a:r>
            <a:r>
              <a:rPr kumimoji="1" lang="zh-CN" altLang="en-US"/>
              <a:t>会将</a:t>
            </a:r>
            <a:r>
              <a:rPr kumimoji="1" lang="en-US" altLang="zh-CN"/>
              <a:t>RegionServer</a:t>
            </a:r>
            <a:r>
              <a:rPr kumimoji="1" lang="zh-CN" altLang="en-US"/>
              <a:t>上管理的</a:t>
            </a:r>
            <a:r>
              <a:rPr kumimoji="1" lang="en-US" altLang="zh-CN"/>
              <a:t>Region</a:t>
            </a:r>
            <a:r>
              <a:rPr kumimoji="1" lang="zh-CN" altLang="en-US"/>
              <a:t>重新分配到其他的</a:t>
            </a:r>
            <a:r>
              <a:rPr kumimoji="1" lang="en-US" altLang="zh-CN"/>
              <a:t>RegionServe</a:t>
            </a:r>
            <a:r>
              <a:rPr kumimoji="1" lang="zh-CN" altLang="en-US"/>
              <a:t>上</a:t>
            </a:r>
          </a:p>
          <a:p>
            <a:r>
              <a:rPr kumimoji="1" lang="en-US" altLang="zh-CN"/>
              <a:t>3</a:t>
            </a:r>
            <a:r>
              <a:rPr kumimoji="1" lang="zh-CN" altLang="en-US"/>
              <a:t>）</a:t>
            </a:r>
            <a:r>
              <a:rPr kumimoji="1" lang="en-US" altLang="zh-CN"/>
              <a:t>ZK</a:t>
            </a:r>
            <a:r>
              <a:rPr kumimoji="1" lang="zh-CN" altLang="en-US"/>
              <a:t>容错</a:t>
            </a:r>
          </a:p>
          <a:p>
            <a:r>
              <a:rPr kumimoji="1" lang="zh-CN" altLang="en-US"/>
              <a:t>	一般会配置奇数个</a:t>
            </a:r>
            <a:r>
              <a:rPr kumimoji="1" lang="en-US" altLang="zh-CN"/>
              <a:t>ZK</a:t>
            </a:r>
            <a:r>
              <a:rPr kumimoji="1" lang="zh-CN" altLang="en-US"/>
              <a:t>实例，一个集群配置</a:t>
            </a:r>
            <a:r>
              <a:rPr kumimoji="1" lang="en-US" altLang="zh-CN"/>
              <a:t>7</a:t>
            </a:r>
            <a:r>
              <a:rPr kumimoji="1" lang="zh-CN" altLang="en-US"/>
              <a:t>，</a:t>
            </a:r>
            <a:r>
              <a:rPr kumimoji="1" lang="en-US" altLang="zh-CN"/>
              <a:t>9</a:t>
            </a:r>
            <a:r>
              <a:rPr kumimoji="1" lang="zh-CN" altLang="en-US"/>
              <a:t>，</a:t>
            </a:r>
            <a:r>
              <a:rPr kumimoji="1" lang="en-US" altLang="zh-CN"/>
              <a:t>11</a:t>
            </a:r>
            <a:r>
              <a:rPr kumimoji="1" lang="zh-CN" altLang="en-US"/>
              <a:t>个实例</a:t>
            </a:r>
            <a:endParaRPr kumimoji="1" lang="zh-CN" altLang="en-US" dirty="0"/>
          </a:p>
        </p:txBody>
      </p:sp>
    </p:spTree>
    <p:extLst>
      <p:ext uri="{BB962C8B-B14F-4D97-AF65-F5344CB8AC3E}">
        <p14:creationId xmlns:p14="http://schemas.microsoft.com/office/powerpoint/2010/main" val="1797073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27</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41</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579405-0C40-48BA-99C8-403F46F30A6E}" type="slidenum">
              <a:rPr lang="zh-CN" altLang="en-US" smtClean="0"/>
              <a:t>43</a:t>
            </a:fld>
            <a:endParaRPr lang="zh-CN" altLang="en-US"/>
          </a:p>
        </p:txBody>
      </p:sp>
    </p:spTree>
    <p:extLst>
      <p:ext uri="{BB962C8B-B14F-4D97-AF65-F5344CB8AC3E}">
        <p14:creationId xmlns:p14="http://schemas.microsoft.com/office/powerpoint/2010/main" val="2777426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为什么列式存储会被广泛用在 </a:t>
            </a:r>
            <a:r>
              <a:rPr lang="en-US" altLang="zh-CN"/>
              <a:t>OLAP </a:t>
            </a:r>
            <a:r>
              <a:rPr lang="zh-CN" altLang="en-US"/>
              <a:t>中？</a:t>
            </a:r>
            <a:endParaRPr lang="en-US" altLang="zh-CN"/>
          </a:p>
          <a:p>
            <a:r>
              <a:rPr lang="en-US" altLang="zh-CN"/>
              <a:t>https://blog.csdn.net/weixin_43958974/article/details/123991083?ops_request_misc=%257B%2522request%255Fid%2522%253A%2522166719212516782395364912%2522%252C%2522scm%2522%253A%252220140713.130102334..%2522%257D&amp;request_id=166719212516782395364912&amp;biz_id=0&amp;utm_medium=distribute.pc_search_result.none-task-blog-2~blog~sobaiduend~default-3-123991083-null-null.article_score_rank_blog&amp;utm_term=hbase&amp;spm=1018.2226.3001.4450</a:t>
            </a:r>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49</a:t>
            </a:fld>
            <a:endParaRPr lang="zh-CN" altLang="en-US"/>
          </a:p>
        </p:txBody>
      </p:sp>
    </p:spTree>
    <p:extLst>
      <p:ext uri="{BB962C8B-B14F-4D97-AF65-F5344CB8AC3E}">
        <p14:creationId xmlns:p14="http://schemas.microsoft.com/office/powerpoint/2010/main" val="131942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为什么列式存储会被广泛用在 </a:t>
            </a:r>
            <a:r>
              <a:rPr lang="en-US" altLang="zh-CN"/>
              <a:t>OLAP </a:t>
            </a:r>
            <a:r>
              <a:rPr lang="zh-CN" altLang="en-US"/>
              <a:t>中？</a:t>
            </a:r>
            <a:endParaRPr lang="en-US" altLang="zh-CN"/>
          </a:p>
          <a:p>
            <a:r>
              <a:rPr lang="en-US" altLang="zh-CN"/>
              <a:t>https://blog.csdn.net/weixin_43958974/article/details/123991083?ops_request_misc=%257B%2522request%255Fid%2522%253A%2522166719212516782395364912%2522%252C%2522scm%2522%253A%252220140713.130102334..%2522%257D&amp;request_id=166719212516782395364912&amp;biz_id=0&amp;utm_medium=distribute.pc_search_result.none-task-blog-2~blog~sobaiduend~default-3-123991083-null-null.article_score_rank_blog&amp;utm_term=hbase&amp;spm=1018.2226.3001.4450</a:t>
            </a:r>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50</a:t>
            </a:fld>
            <a:endParaRPr lang="zh-CN" altLang="en-US"/>
          </a:p>
        </p:txBody>
      </p:sp>
    </p:spTree>
    <p:extLst>
      <p:ext uri="{BB962C8B-B14F-4D97-AF65-F5344CB8AC3E}">
        <p14:creationId xmlns:p14="http://schemas.microsoft.com/office/powerpoint/2010/main" val="979036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54</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939229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579405-0C40-48BA-99C8-403F46F30A6E}" type="slidenum">
              <a:rPr lang="zh-CN" altLang="en-US" smtClean="0"/>
              <a:t>55</a:t>
            </a:fld>
            <a:endParaRPr lang="zh-CN" altLang="en-US"/>
          </a:p>
        </p:txBody>
      </p:sp>
    </p:spTree>
    <p:extLst>
      <p:ext uri="{BB962C8B-B14F-4D97-AF65-F5344CB8AC3E}">
        <p14:creationId xmlns:p14="http://schemas.microsoft.com/office/powerpoint/2010/main" val="30222063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579405-0C40-48BA-99C8-403F46F30A6E}" type="slidenum">
              <a:rPr lang="zh-CN" altLang="en-US" smtClean="0"/>
              <a:t>56</a:t>
            </a:fld>
            <a:endParaRPr lang="zh-CN" altLang="en-US"/>
          </a:p>
        </p:txBody>
      </p:sp>
    </p:spTree>
    <p:extLst>
      <p:ext uri="{BB962C8B-B14F-4D97-AF65-F5344CB8AC3E}">
        <p14:creationId xmlns:p14="http://schemas.microsoft.com/office/powerpoint/2010/main" val="1633351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80</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9342447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当我们从</a:t>
            </a:r>
            <a:r>
              <a:rPr lang="en-US" altLang="zh-CN"/>
              <a:t>Python</a:t>
            </a:r>
            <a:r>
              <a:rPr lang="zh-CN" altLang="en-US"/>
              <a:t>官方网站下载并安装好</a:t>
            </a:r>
            <a:r>
              <a:rPr lang="en-US" altLang="zh-CN"/>
              <a:t>Python 3.x</a:t>
            </a:r>
            <a:r>
              <a:rPr lang="zh-CN" altLang="en-US"/>
              <a:t>后，我们就直接获得了一个官方版本的解释器：</a:t>
            </a:r>
            <a:r>
              <a:rPr lang="en-US" altLang="zh-CN"/>
              <a:t>CPython</a:t>
            </a:r>
            <a:r>
              <a:rPr lang="zh-CN" altLang="en-US"/>
              <a:t>。这个解释器是用</a:t>
            </a:r>
            <a:r>
              <a:rPr lang="en-US" altLang="zh-CN"/>
              <a:t>C</a:t>
            </a:r>
            <a:r>
              <a:rPr lang="zh-CN" altLang="en-US"/>
              <a:t>语言开发的，所以叫</a:t>
            </a:r>
            <a:r>
              <a:rPr lang="en-US" altLang="zh-CN"/>
              <a:t>CPython</a:t>
            </a:r>
            <a:r>
              <a:rPr lang="zh-CN" altLang="en-US"/>
              <a:t>。在命令行下运行</a:t>
            </a:r>
            <a:r>
              <a:rPr lang="en-US" altLang="zh-CN"/>
              <a:t>python</a:t>
            </a:r>
            <a:r>
              <a:rPr lang="zh-CN" altLang="en-US"/>
              <a:t>就是启动</a:t>
            </a:r>
            <a:r>
              <a:rPr lang="en-US" altLang="zh-CN"/>
              <a:t>CPython</a:t>
            </a:r>
            <a:r>
              <a:rPr lang="zh-CN" altLang="en-US"/>
              <a:t>解释器。</a:t>
            </a:r>
            <a:r>
              <a:rPr lang="en-US" altLang="zh-CN"/>
              <a:t>CPython</a:t>
            </a:r>
            <a:r>
              <a:rPr lang="zh-CN" altLang="en-US"/>
              <a:t>是使用最广的</a:t>
            </a:r>
            <a:r>
              <a:rPr lang="en-US" altLang="zh-CN"/>
              <a:t>Python</a:t>
            </a:r>
            <a:r>
              <a:rPr lang="zh-CN" altLang="en-US"/>
              <a:t>解释器。教程的所有代码也都在</a:t>
            </a:r>
            <a:r>
              <a:rPr lang="en-US" altLang="zh-CN"/>
              <a:t>CPython</a:t>
            </a:r>
            <a:r>
              <a:rPr lang="zh-CN" altLang="en-US"/>
              <a:t>下执行。</a:t>
            </a:r>
            <a:r>
              <a:rPr lang="en-US" altLang="zh-CN"/>
              <a:t>Jython</a:t>
            </a:r>
            <a:r>
              <a:rPr lang="zh-CN" altLang="en-US"/>
              <a:t>是运行在</a:t>
            </a:r>
            <a:r>
              <a:rPr lang="en-US" altLang="zh-CN"/>
              <a:t>Java</a:t>
            </a:r>
            <a:r>
              <a:rPr lang="zh-CN" altLang="en-US"/>
              <a:t>平台上的</a:t>
            </a:r>
            <a:r>
              <a:rPr lang="en-US" altLang="zh-CN"/>
              <a:t>Python</a:t>
            </a:r>
            <a:r>
              <a:rPr lang="zh-CN" altLang="en-US"/>
              <a:t>解释器，可以直接把</a:t>
            </a:r>
            <a:r>
              <a:rPr lang="en-US" altLang="zh-CN"/>
              <a:t>Python</a:t>
            </a:r>
            <a:r>
              <a:rPr lang="zh-CN" altLang="en-US"/>
              <a:t>代码编译成</a:t>
            </a:r>
            <a:r>
              <a:rPr lang="en-US" altLang="zh-CN"/>
              <a:t>Java</a:t>
            </a:r>
            <a:r>
              <a:rPr lang="zh-CN" altLang="en-US"/>
              <a:t>字节码执行。标准版本的</a:t>
            </a:r>
            <a:r>
              <a:rPr lang="en-US" altLang="zh-CN"/>
              <a:t>Python</a:t>
            </a:r>
            <a:r>
              <a:rPr lang="zh-CN" altLang="en-US"/>
              <a:t>是用</a:t>
            </a:r>
            <a:r>
              <a:rPr lang="en-US" altLang="zh-CN"/>
              <a:t>C</a:t>
            </a:r>
            <a:r>
              <a:rPr lang="zh-CN" altLang="en-US"/>
              <a:t>来编译的，又被称为</a:t>
            </a:r>
            <a:r>
              <a:rPr lang="en-US" altLang="zh-CN"/>
              <a:t>Cpython</a:t>
            </a:r>
            <a:r>
              <a:rPr lang="zh-CN" altLang="en-US"/>
              <a:t>。还有一个用的</a:t>
            </a:r>
            <a:r>
              <a:rPr lang="en-US" altLang="zh-CN"/>
              <a:t>Python</a:t>
            </a:r>
            <a:r>
              <a:rPr lang="zh-CN" altLang="en-US"/>
              <a:t>解释器是完全由</a:t>
            </a:r>
            <a:r>
              <a:rPr lang="en-US" altLang="zh-CN"/>
              <a:t>Java</a:t>
            </a:r>
            <a:r>
              <a:rPr lang="zh-CN" altLang="en-US"/>
              <a:t>写成的，名为</a:t>
            </a:r>
            <a:r>
              <a:rPr lang="en-US" altLang="zh-CN"/>
              <a:t>Jython</a:t>
            </a:r>
            <a:r>
              <a:rPr lang="zh-CN" altLang="en-US"/>
              <a:t>。两种解释器之间存在一些细微的差别，但是它们非常接近，而且启动环境也完全相同。通常意义上说的</a:t>
            </a:r>
            <a:r>
              <a:rPr lang="en-US" altLang="zh-CN"/>
              <a:t>Python</a:t>
            </a:r>
            <a:r>
              <a:rPr lang="zh-CN" altLang="en-US"/>
              <a:t>是</a:t>
            </a:r>
            <a:r>
              <a:rPr lang="en-US" altLang="zh-CN"/>
              <a:t>CPython</a:t>
            </a:r>
            <a:r>
              <a:rPr lang="zh-CN" altLang="en-US"/>
              <a:t>，也就是用</a:t>
            </a:r>
            <a:r>
              <a:rPr lang="en-US" altLang="zh-CN"/>
              <a:t>C</a:t>
            </a:r>
            <a:r>
              <a:rPr lang="zh-CN" altLang="en-US"/>
              <a:t>来编译的，它支持</a:t>
            </a:r>
            <a:r>
              <a:rPr lang="en-US" altLang="zh-CN"/>
              <a:t>C</a:t>
            </a:r>
            <a:r>
              <a:rPr lang="zh-CN" altLang="en-US"/>
              <a:t>的扩展，不支持</a:t>
            </a:r>
            <a:r>
              <a:rPr lang="en-US" altLang="zh-CN"/>
              <a:t>Java</a:t>
            </a:r>
            <a:r>
              <a:rPr lang="zh-CN" altLang="en-US"/>
              <a:t>的扩展。</a:t>
            </a:r>
            <a:r>
              <a:rPr lang="en-US" altLang="zh-CN"/>
              <a:t>Jython</a:t>
            </a:r>
            <a:r>
              <a:rPr lang="zh-CN" altLang="en-US"/>
              <a:t>，是用</a:t>
            </a:r>
            <a:r>
              <a:rPr lang="en-US" altLang="zh-CN"/>
              <a:t>JPython</a:t>
            </a:r>
            <a:r>
              <a:rPr lang="zh-CN" altLang="en-US"/>
              <a:t>实现的</a:t>
            </a:r>
            <a:r>
              <a:rPr lang="en-US" altLang="zh-CN"/>
              <a:t>Python</a:t>
            </a:r>
            <a:r>
              <a:rPr lang="zh-CN" altLang="en-US"/>
              <a:t>，它支持用</a:t>
            </a:r>
            <a:r>
              <a:rPr lang="en-US" altLang="zh-CN"/>
              <a:t>Java</a:t>
            </a:r>
            <a:r>
              <a:rPr lang="zh-CN" altLang="en-US"/>
              <a:t>扩展，只要有</a:t>
            </a:r>
            <a:r>
              <a:rPr lang="en-US" altLang="zh-CN"/>
              <a:t>Java</a:t>
            </a:r>
            <a:r>
              <a:rPr lang="zh-CN" altLang="en-US"/>
              <a:t>虚拟机，就能运行</a:t>
            </a:r>
            <a:r>
              <a:rPr lang="en-US" altLang="zh-CN"/>
              <a:t>Jython</a:t>
            </a:r>
            <a:r>
              <a:rPr lang="zh-CN" altLang="en-US"/>
              <a:t>，拥有访问</a:t>
            </a:r>
            <a:r>
              <a:rPr lang="en-US" altLang="zh-CN"/>
              <a:t>Java</a:t>
            </a:r>
            <a:r>
              <a:rPr lang="zh-CN" altLang="en-US"/>
              <a:t>包与类库的能力；提供访问</a:t>
            </a:r>
            <a:r>
              <a:rPr lang="en-US" altLang="zh-CN"/>
              <a:t>Java</a:t>
            </a:r>
            <a:r>
              <a:rPr lang="zh-CN" altLang="en-US"/>
              <a:t>原生异常处理的能力；继承了</a:t>
            </a:r>
            <a:r>
              <a:rPr lang="en-US" altLang="zh-CN"/>
              <a:t>JavaBeans</a:t>
            </a:r>
            <a:r>
              <a:rPr lang="zh-CN" altLang="en-US"/>
              <a:t>的特性和内省能力。鼓励</a:t>
            </a:r>
            <a:r>
              <a:rPr lang="en-US" altLang="zh-CN"/>
              <a:t>Python</a:t>
            </a:r>
            <a:r>
              <a:rPr lang="zh-CN" altLang="en-US"/>
              <a:t>到</a:t>
            </a:r>
            <a:r>
              <a:rPr lang="en-US" altLang="zh-CN"/>
              <a:t>Java</a:t>
            </a:r>
            <a:r>
              <a:rPr lang="zh-CN" altLang="en-US"/>
              <a:t>的开发，</a:t>
            </a:r>
            <a:r>
              <a:rPr lang="en-US" altLang="zh-CN"/>
              <a:t>Jython</a:t>
            </a:r>
            <a:r>
              <a:rPr lang="zh-CN" altLang="en-US"/>
              <a:t>程序可以和</a:t>
            </a:r>
            <a:r>
              <a:rPr lang="en-US" altLang="zh-CN"/>
              <a:t>Java</a:t>
            </a:r>
            <a:r>
              <a:rPr lang="zh-CN" altLang="en-US"/>
              <a:t>无缝集成。除了一些标准模块，</a:t>
            </a:r>
            <a:r>
              <a:rPr lang="en-US" altLang="zh-CN"/>
              <a:t>Jython</a:t>
            </a:r>
            <a:r>
              <a:rPr lang="zh-CN" altLang="en-US"/>
              <a:t>使用</a:t>
            </a:r>
            <a:r>
              <a:rPr lang="en-US" altLang="zh-CN"/>
              <a:t>Java</a:t>
            </a:r>
            <a:r>
              <a:rPr lang="zh-CN" altLang="en-US"/>
              <a:t>的模块。</a:t>
            </a:r>
            <a:r>
              <a:rPr lang="en-US" altLang="zh-CN"/>
              <a:t>Jython</a:t>
            </a:r>
            <a:r>
              <a:rPr lang="zh-CN" altLang="en-US"/>
              <a:t>几乎拥有标准的</a:t>
            </a:r>
            <a:r>
              <a:rPr lang="en-US" altLang="zh-CN"/>
              <a:t>Python</a:t>
            </a:r>
            <a:r>
              <a:rPr lang="zh-CN" altLang="en-US"/>
              <a:t>中不依赖于</a:t>
            </a:r>
            <a:r>
              <a:rPr lang="en-US" altLang="zh-CN"/>
              <a:t>C</a:t>
            </a:r>
            <a:r>
              <a:rPr lang="zh-CN" altLang="en-US"/>
              <a:t>语言的全部模块。比如，</a:t>
            </a:r>
            <a:r>
              <a:rPr lang="en-US" altLang="zh-CN"/>
              <a:t>GUI</a:t>
            </a:r>
            <a:r>
              <a:rPr lang="zh-CN" altLang="en-US"/>
              <a:t>开发人员可以访问</a:t>
            </a:r>
            <a:r>
              <a:rPr lang="en-US" altLang="zh-CN"/>
              <a:t>Java</a:t>
            </a:r>
            <a:r>
              <a:rPr lang="zh-CN" altLang="en-US"/>
              <a:t>的</a:t>
            </a:r>
            <a:r>
              <a:rPr lang="en-US" altLang="zh-CN"/>
              <a:t>AWT/Swing</a:t>
            </a:r>
            <a:r>
              <a:rPr lang="zh-CN" altLang="en-US"/>
              <a:t>库，</a:t>
            </a:r>
            <a:r>
              <a:rPr lang="en-US" altLang="zh-CN"/>
              <a:t>Jython</a:t>
            </a:r>
            <a:r>
              <a:rPr lang="zh-CN" altLang="en-US"/>
              <a:t>的用户界面将使用</a:t>
            </a:r>
            <a:r>
              <a:rPr lang="en-US" altLang="zh-CN"/>
              <a:t>Swing</a:t>
            </a:r>
            <a:r>
              <a:rPr lang="zh-CN" altLang="en-US"/>
              <a:t>，</a:t>
            </a:r>
            <a:r>
              <a:rPr lang="en-US" altLang="zh-CN"/>
              <a:t>AWT</a:t>
            </a:r>
            <a:r>
              <a:rPr lang="zh-CN" altLang="en-US"/>
              <a:t>或者</a:t>
            </a:r>
            <a:r>
              <a:rPr lang="en-US" altLang="zh-CN"/>
              <a:t>SWT</a:t>
            </a:r>
            <a:r>
              <a:rPr lang="zh-CN" altLang="en-US"/>
              <a:t>。 </a:t>
            </a:r>
            <a:r>
              <a:rPr lang="en-US" altLang="zh-CN"/>
              <a:t>Jython</a:t>
            </a:r>
            <a:r>
              <a:rPr lang="zh-CN" altLang="en-US"/>
              <a:t>可以被动态或静态地编译成</a:t>
            </a:r>
            <a:r>
              <a:rPr lang="en-US" altLang="zh-CN"/>
              <a:t>Java</a:t>
            </a:r>
            <a:r>
              <a:rPr lang="zh-CN" altLang="en-US"/>
              <a:t>字节码。</a:t>
            </a:r>
            <a:r>
              <a:rPr lang="en-US" altLang="zh-CN"/>
              <a:t>Jython</a:t>
            </a:r>
            <a:r>
              <a:rPr lang="zh-CN" altLang="en-US"/>
              <a:t>还包括 </a:t>
            </a:r>
            <a:r>
              <a:rPr lang="en-US" altLang="zh-CN"/>
              <a:t>Jythonc</a:t>
            </a:r>
            <a:r>
              <a:rPr lang="zh-CN" altLang="en-US"/>
              <a:t>，一个将</a:t>
            </a:r>
            <a:r>
              <a:rPr lang="en-US" altLang="zh-CN"/>
              <a:t>Python</a:t>
            </a:r>
            <a:r>
              <a:rPr lang="zh-CN" altLang="en-US"/>
              <a:t>代码转换成</a:t>
            </a:r>
            <a:r>
              <a:rPr lang="en-US" altLang="zh-CN"/>
              <a:t>Java</a:t>
            </a:r>
            <a:r>
              <a:rPr lang="zh-CN" altLang="en-US"/>
              <a:t>代码的编译器。这意味着</a:t>
            </a:r>
            <a:r>
              <a:rPr lang="en-US" altLang="zh-CN"/>
              <a:t>Python</a:t>
            </a:r>
            <a:r>
              <a:rPr lang="zh-CN" altLang="en-US"/>
              <a:t>程序员能够将自己用</a:t>
            </a:r>
            <a:r>
              <a:rPr lang="en-US" altLang="zh-CN"/>
              <a:t>Python</a:t>
            </a:r>
            <a:r>
              <a:rPr lang="zh-CN" altLang="en-US"/>
              <a:t>代码写的类库用在</a:t>
            </a:r>
            <a:r>
              <a:rPr lang="en-US" altLang="zh-CN"/>
              <a:t>Java</a:t>
            </a:r>
            <a:r>
              <a:rPr lang="zh-CN" altLang="en-US"/>
              <a:t>程序里。</a:t>
            </a:r>
          </a:p>
        </p:txBody>
      </p:sp>
      <p:sp>
        <p:nvSpPr>
          <p:cNvPr id="4" name="灯片编号占位符 3"/>
          <p:cNvSpPr>
            <a:spLocks noGrp="1"/>
          </p:cNvSpPr>
          <p:nvPr>
            <p:ph type="sldNum" sz="quarter" idx="5"/>
          </p:nvPr>
        </p:nvSpPr>
        <p:spPr/>
        <p:txBody>
          <a:bodyPr/>
          <a:lstStyle/>
          <a:p>
            <a:fld id="{3D579405-0C40-48BA-99C8-403F46F30A6E}" type="slidenum">
              <a:rPr lang="zh-CN" altLang="en-US" smtClean="0"/>
              <a:t>81</a:t>
            </a:fld>
            <a:endParaRPr lang="zh-CN" altLang="en-US"/>
          </a:p>
        </p:txBody>
      </p:sp>
    </p:spTree>
    <p:extLst>
      <p:ext uri="{BB962C8B-B14F-4D97-AF65-F5344CB8AC3E}">
        <p14:creationId xmlns:p14="http://schemas.microsoft.com/office/powerpoint/2010/main" val="28992243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D579405-0C40-48BA-99C8-403F46F30A6E}" type="slidenum">
              <a:rPr lang="zh-CN" altLang="en-US" smtClean="0"/>
              <a:t>85</a:t>
            </a:fld>
            <a:endParaRPr lang="zh-CN" altLang="en-US"/>
          </a:p>
        </p:txBody>
      </p:sp>
    </p:spTree>
    <p:extLst>
      <p:ext uri="{BB962C8B-B14F-4D97-AF65-F5344CB8AC3E}">
        <p14:creationId xmlns:p14="http://schemas.microsoft.com/office/powerpoint/2010/main" val="18214972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94</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1207053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96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4016" y="231490"/>
            <a:ext cx="7668344" cy="540060"/>
          </a:xfrm>
          <a:noFill/>
        </p:spPr>
        <p:txBody>
          <a:bodyPr>
            <a:normAutofit/>
          </a:bodyPr>
          <a:lstStyle>
            <a:lvl1pPr algn="l">
              <a:defRPr sz="32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五边形 7"/>
          <p:cNvSpPr/>
          <p:nvPr userDrawn="1"/>
        </p:nvSpPr>
        <p:spPr>
          <a:xfrm>
            <a:off x="0" y="195486"/>
            <a:ext cx="4139952" cy="648072"/>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0"/>
            <a:ext cx="9144000" cy="1059582"/>
          </a:xfrm>
          <a:prstGeom prst="rect">
            <a:avLst/>
          </a:prstGeom>
          <a:solidFill>
            <a:schemeClr val="accent1">
              <a:lumMod val="75000"/>
            </a:schemeClr>
          </a:solidFill>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2022/11/11</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hbase.apache.or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46.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1354" y="0"/>
            <a:ext cx="9141291" cy="5143500"/>
          </a:xfrm>
          <a:prstGeom prst="rect">
            <a:avLst/>
          </a:prstGeom>
        </p:spPr>
      </p:pic>
      <p:pic>
        <p:nvPicPr>
          <p:cNvPr id="5" name="图片 4"/>
          <p:cNvPicPr>
            <a:picLocks noChangeAspect="1"/>
          </p:cNvPicPr>
          <p:nvPr/>
        </p:nvPicPr>
        <p:blipFill>
          <a:blip r:embed="rId4"/>
          <a:stretch>
            <a:fillRect/>
          </a:stretch>
        </p:blipFill>
        <p:spPr>
          <a:xfrm>
            <a:off x="1441962" y="417200"/>
            <a:ext cx="6260074" cy="4522858"/>
          </a:xfrm>
          <a:prstGeom prst="rect">
            <a:avLst/>
          </a:prstGeom>
        </p:spPr>
      </p:pic>
      <p:pic>
        <p:nvPicPr>
          <p:cNvPr id="6" name="图片 5"/>
          <p:cNvPicPr>
            <a:picLocks noChangeAspect="1"/>
          </p:cNvPicPr>
          <p:nvPr/>
        </p:nvPicPr>
        <p:blipFill>
          <a:blip r:embed="rId5"/>
          <a:stretch>
            <a:fillRect/>
          </a:stretch>
        </p:blipFill>
        <p:spPr>
          <a:xfrm>
            <a:off x="1563873" y="1026542"/>
            <a:ext cx="6016254" cy="3090416"/>
          </a:xfrm>
          <a:prstGeom prst="rect">
            <a:avLst/>
          </a:prstGeom>
        </p:spPr>
      </p:pic>
      <p:sp>
        <p:nvSpPr>
          <p:cNvPr id="2" name="标题 1"/>
          <p:cNvSpPr>
            <a:spLocks noGrp="1"/>
          </p:cNvSpPr>
          <p:nvPr>
            <p:ph type="ctrTitle"/>
          </p:nvPr>
        </p:nvSpPr>
        <p:spPr>
          <a:xfrm>
            <a:off x="1907704" y="1942920"/>
            <a:ext cx="5400600" cy="1512168"/>
          </a:xfrm>
          <a:noFill/>
        </p:spPr>
        <p:txBody>
          <a:bodyPr>
            <a:noAutofit/>
          </a:bodyPr>
          <a:lstStyle/>
          <a:p>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a:t>
            </a:r>
            <a:r>
              <a:rPr lang="en-US" altLang="zh-CN"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5</a:t>
            </a:r>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en-US" altLang="zh-CN"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HBase</a:t>
            </a:r>
            <a:r>
              <a:rPr lang="zh-CN" altLang="en-US" sz="36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基础与</a:t>
            </a:r>
            <a:r>
              <a:rPr lang="zh-CN" altLang="en-US"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应用</a:t>
            </a:r>
            <a:endParaRPr lang="zh-CN" altLang="en-US" sz="20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892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E5C020-1A40-4B83-BB3D-D0CC2EC8CCBA}"/>
              </a:ext>
            </a:extLst>
          </p:cNvPr>
          <p:cNvSpPr>
            <a:spLocks noGrp="1"/>
          </p:cNvSpPr>
          <p:nvPr>
            <p:ph type="title"/>
          </p:nvPr>
        </p:nvSpPr>
        <p:spPr/>
        <p:txBody>
          <a:bodyPr>
            <a:normAutofit fontScale="90000"/>
          </a:bodyPr>
          <a:lstStyle/>
          <a:p>
            <a:r>
              <a:rPr lang="zh-CN" altLang="en-US" dirty="0"/>
              <a:t>本章学习目标 </a:t>
            </a:r>
          </a:p>
        </p:txBody>
      </p:sp>
      <p:sp>
        <p:nvSpPr>
          <p:cNvPr id="3" name="内容占位符 2">
            <a:extLst>
              <a:ext uri="{FF2B5EF4-FFF2-40B4-BE49-F238E27FC236}">
                <a16:creationId xmlns:a16="http://schemas.microsoft.com/office/drawing/2014/main" id="{F9B8EFAB-4625-4803-91D6-F8675D593D6F}"/>
              </a:ext>
            </a:extLst>
          </p:cNvPr>
          <p:cNvSpPr>
            <a:spLocks noGrp="1"/>
          </p:cNvSpPr>
          <p:nvPr>
            <p:ph idx="1"/>
          </p:nvPr>
        </p:nvSpPr>
        <p:spPr>
          <a:xfrm>
            <a:off x="395536" y="1203598"/>
            <a:ext cx="8229600" cy="3394472"/>
          </a:xfrm>
        </p:spPr>
        <p:txBody>
          <a:bodyPr>
            <a:normAutofit lnSpcReduction="10000"/>
          </a:bodyPr>
          <a:lstStyle/>
          <a:p>
            <a:pPr lvl="1">
              <a:lnSpc>
                <a:spcPct val="150000"/>
              </a:lnSpc>
            </a:pPr>
            <a:r>
              <a:rPr lang="zh-CN" altLang="en-US" dirty="0"/>
              <a:t>了解</a:t>
            </a:r>
            <a:r>
              <a:rPr lang="en-US" altLang="zh-CN" dirty="0"/>
              <a:t>HBase</a:t>
            </a:r>
            <a:r>
              <a:rPr lang="zh-CN" altLang="en-US" dirty="0"/>
              <a:t>的产生的背景、与</a:t>
            </a:r>
            <a:r>
              <a:rPr lang="en-US" altLang="zh-CN" dirty="0"/>
              <a:t>Hadoop</a:t>
            </a:r>
            <a:r>
              <a:rPr lang="zh-CN" altLang="en-US" dirty="0"/>
              <a:t>其他组件的关系以及生态环境；</a:t>
            </a:r>
          </a:p>
          <a:p>
            <a:pPr lvl="1">
              <a:lnSpc>
                <a:spcPct val="150000"/>
              </a:lnSpc>
            </a:pPr>
            <a:r>
              <a:rPr lang="zh-CN" altLang="en-US" dirty="0"/>
              <a:t>了解</a:t>
            </a:r>
            <a:r>
              <a:rPr lang="en-US" altLang="zh-CN" dirty="0"/>
              <a:t>HBase</a:t>
            </a:r>
            <a:r>
              <a:rPr lang="zh-CN" altLang="en-US"/>
              <a:t>的体系结构和</a:t>
            </a:r>
            <a:r>
              <a:rPr lang="zh-CN" altLang="en-US" dirty="0"/>
              <a:t>工作原理；</a:t>
            </a:r>
          </a:p>
          <a:p>
            <a:pPr lvl="1">
              <a:lnSpc>
                <a:spcPct val="150000"/>
              </a:lnSpc>
            </a:pPr>
            <a:r>
              <a:rPr lang="zh-CN" altLang="en-US" dirty="0"/>
              <a:t>掌握</a:t>
            </a:r>
            <a:r>
              <a:rPr lang="en-US" altLang="zh-CN" dirty="0"/>
              <a:t>HBase</a:t>
            </a:r>
            <a:r>
              <a:rPr lang="zh-CN" altLang="en-US" dirty="0"/>
              <a:t>的</a:t>
            </a:r>
            <a:r>
              <a:rPr lang="zh-CN" altLang="en-US"/>
              <a:t>常用命令；</a:t>
            </a:r>
            <a:endParaRPr lang="zh-CN" altLang="en-US" dirty="0"/>
          </a:p>
          <a:p>
            <a:pPr lvl="1">
              <a:lnSpc>
                <a:spcPct val="150000"/>
              </a:lnSpc>
            </a:pPr>
            <a:r>
              <a:rPr lang="zh-CN" altLang="en-US" dirty="0"/>
              <a:t>掌握</a:t>
            </a:r>
            <a:r>
              <a:rPr lang="zh-CN" altLang="en-US"/>
              <a:t>利用</a:t>
            </a:r>
            <a:r>
              <a:rPr lang="en-US" altLang="zh-CN"/>
              <a:t>Jython</a:t>
            </a:r>
            <a:r>
              <a:rPr lang="zh-CN" altLang="en-US"/>
              <a:t>实现</a:t>
            </a:r>
            <a:r>
              <a:rPr lang="en-US" altLang="zh-CN" dirty="0"/>
              <a:t>HBase</a:t>
            </a:r>
            <a:r>
              <a:rPr lang="zh-CN" altLang="en-US"/>
              <a:t>数据库系统的操作</a:t>
            </a:r>
            <a:r>
              <a:rPr lang="zh-CN" altLang="en-US" dirty="0"/>
              <a:t>；</a:t>
            </a:r>
          </a:p>
          <a:p>
            <a:pPr>
              <a:lnSpc>
                <a:spcPct val="150000"/>
              </a:lnSpc>
            </a:pPr>
            <a:endParaRPr lang="zh-CN" altLang="en-US" dirty="0"/>
          </a:p>
        </p:txBody>
      </p:sp>
    </p:spTree>
    <p:extLst>
      <p:ext uri="{BB962C8B-B14F-4D97-AF65-F5344CB8AC3E}">
        <p14:creationId xmlns:p14="http://schemas.microsoft.com/office/powerpoint/2010/main" val="3244921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0" y="12011"/>
            <a:ext cx="9141291" cy="5143500"/>
          </a:xfrm>
          <a:prstGeom prst="rect">
            <a:avLst/>
          </a:prstGeom>
        </p:spPr>
      </p:pic>
      <p:sp>
        <p:nvSpPr>
          <p:cNvPr id="6" name="Rectangle 5"/>
          <p:cNvSpPr>
            <a:spLocks noChangeArrowheads="1"/>
          </p:cNvSpPr>
          <p:nvPr/>
        </p:nvSpPr>
        <p:spPr bwMode="auto">
          <a:xfrm>
            <a:off x="788426" y="1439525"/>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7" name="Freeform 6"/>
          <p:cNvSpPr/>
          <p:nvPr/>
        </p:nvSpPr>
        <p:spPr bwMode="auto">
          <a:xfrm>
            <a:off x="226650" y="1439525"/>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8" name="TextBox 144"/>
          <p:cNvSpPr txBox="1"/>
          <p:nvPr/>
        </p:nvSpPr>
        <p:spPr>
          <a:xfrm>
            <a:off x="294124" y="1479194"/>
            <a:ext cx="686700" cy="438691"/>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01</a:t>
            </a:r>
            <a:endParaRPr lang="zh-CN" altLang="en-US" sz="2400" b="1" dirty="0">
              <a:solidFill>
                <a:schemeClr val="bg1"/>
              </a:solidFill>
              <a:latin typeface="微软雅黑" panose="020B0503020204020204" pitchFamily="34" charset="-122"/>
            </a:endParaRPr>
          </a:p>
        </p:txBody>
      </p:sp>
      <p:sp>
        <p:nvSpPr>
          <p:cNvPr id="9" name="TextBox 145"/>
          <p:cNvSpPr txBox="1"/>
          <p:nvPr/>
        </p:nvSpPr>
        <p:spPr>
          <a:xfrm>
            <a:off x="1045168" y="1538941"/>
            <a:ext cx="3094784"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HBase</a:t>
            </a:r>
            <a:r>
              <a:rPr lang="zh-CN" altLang="en-US" sz="2400" b="1" dirty="0">
                <a:solidFill>
                  <a:schemeClr val="bg1"/>
                </a:solidFill>
                <a:latin typeface="微软雅黑" panose="020B0503020204020204" pitchFamily="34" charset="-122"/>
                <a:ea typeface="微软雅黑" panose="020B0503020204020204" pitchFamily="34" charset="-122"/>
              </a:rPr>
              <a:t>简介</a:t>
            </a:r>
          </a:p>
        </p:txBody>
      </p:sp>
      <p:sp>
        <p:nvSpPr>
          <p:cNvPr id="10" name="Rectangle 5"/>
          <p:cNvSpPr>
            <a:spLocks noChangeArrowheads="1"/>
          </p:cNvSpPr>
          <p:nvPr/>
        </p:nvSpPr>
        <p:spPr bwMode="auto">
          <a:xfrm>
            <a:off x="788426" y="2149466"/>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Freeform 6"/>
          <p:cNvSpPr/>
          <p:nvPr/>
        </p:nvSpPr>
        <p:spPr bwMode="auto">
          <a:xfrm>
            <a:off x="226650" y="2149466"/>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12" name="TextBox 152"/>
          <p:cNvSpPr txBox="1"/>
          <p:nvPr/>
        </p:nvSpPr>
        <p:spPr>
          <a:xfrm>
            <a:off x="294124" y="2189134"/>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02</a:t>
            </a:r>
            <a:endParaRPr lang="zh-CN" altLang="en-US" sz="2400" b="1" dirty="0">
              <a:solidFill>
                <a:schemeClr val="bg1"/>
              </a:solidFill>
              <a:latin typeface="微软雅黑" panose="020B0503020204020204" pitchFamily="34" charset="-122"/>
            </a:endParaRPr>
          </a:p>
        </p:txBody>
      </p:sp>
      <p:sp>
        <p:nvSpPr>
          <p:cNvPr id="13" name="TextBox 153"/>
          <p:cNvSpPr txBox="1"/>
          <p:nvPr/>
        </p:nvSpPr>
        <p:spPr>
          <a:xfrm>
            <a:off x="1045167" y="2189133"/>
            <a:ext cx="3609447"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HBase</a:t>
            </a:r>
            <a:r>
              <a:rPr lang="zh-CN" altLang="en-US" sz="2400" b="1" dirty="0">
                <a:solidFill>
                  <a:schemeClr val="bg1"/>
                </a:solidFill>
                <a:latin typeface="微软雅黑" panose="020B0503020204020204" pitchFamily="34" charset="-122"/>
                <a:ea typeface="微软雅黑" panose="020B0503020204020204" pitchFamily="34" charset="-122"/>
              </a:rPr>
              <a:t>安装</a:t>
            </a:r>
          </a:p>
        </p:txBody>
      </p:sp>
      <p:grpSp>
        <p:nvGrpSpPr>
          <p:cNvPr id="14" name="组合 54"/>
          <p:cNvGrpSpPr/>
          <p:nvPr/>
        </p:nvGrpSpPr>
        <p:grpSpPr bwMode="auto">
          <a:xfrm>
            <a:off x="1604" y="286622"/>
            <a:ext cx="9142645" cy="841713"/>
            <a:chOff x="256379" y="27271"/>
            <a:chExt cx="7683149" cy="841022"/>
          </a:xfrm>
        </p:grpSpPr>
        <p:grpSp>
          <p:nvGrpSpPr>
            <p:cNvPr id="15" name="组合 55"/>
            <p:cNvGrpSpPr/>
            <p:nvPr/>
          </p:nvGrpSpPr>
          <p:grpSpPr bwMode="auto">
            <a:xfrm>
              <a:off x="256379" y="27271"/>
              <a:ext cx="7683149" cy="837427"/>
              <a:chOff x="256379" y="27271"/>
              <a:chExt cx="7683149" cy="837427"/>
            </a:xfrm>
          </p:grpSpPr>
          <p:sp>
            <p:nvSpPr>
              <p:cNvPr id="17"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18"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16"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sp>
        <p:nvSpPr>
          <p:cNvPr id="20" name="Rectangle 5"/>
          <p:cNvSpPr>
            <a:spLocks noChangeArrowheads="1"/>
          </p:cNvSpPr>
          <p:nvPr/>
        </p:nvSpPr>
        <p:spPr bwMode="auto">
          <a:xfrm>
            <a:off x="788426" y="2869975"/>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1" name="Freeform 6"/>
          <p:cNvSpPr/>
          <p:nvPr/>
        </p:nvSpPr>
        <p:spPr bwMode="auto">
          <a:xfrm>
            <a:off x="226650" y="2869975"/>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22" name="TextBox 144"/>
          <p:cNvSpPr txBox="1"/>
          <p:nvPr/>
        </p:nvSpPr>
        <p:spPr>
          <a:xfrm>
            <a:off x="294124" y="2909644"/>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03</a:t>
            </a:r>
            <a:endParaRPr lang="zh-CN" altLang="en-US" sz="2400" b="1" dirty="0">
              <a:solidFill>
                <a:schemeClr val="bg1"/>
              </a:solidFill>
              <a:latin typeface="微软雅黑" panose="020B0503020204020204" pitchFamily="34" charset="-122"/>
            </a:endParaRPr>
          </a:p>
        </p:txBody>
      </p:sp>
      <p:sp>
        <p:nvSpPr>
          <p:cNvPr id="23" name="TextBox 145"/>
          <p:cNvSpPr txBox="1"/>
          <p:nvPr/>
        </p:nvSpPr>
        <p:spPr>
          <a:xfrm>
            <a:off x="1068225" y="2914762"/>
            <a:ext cx="2463569"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HBase</a:t>
            </a:r>
            <a:r>
              <a:rPr lang="zh-CN" altLang="en-US" sz="2400" b="1" dirty="0">
                <a:solidFill>
                  <a:schemeClr val="bg1"/>
                </a:solidFill>
                <a:latin typeface="微软雅黑" panose="020B0503020204020204" pitchFamily="34" charset="-122"/>
                <a:ea typeface="微软雅黑" panose="020B0503020204020204" pitchFamily="34" charset="-122"/>
              </a:rPr>
              <a:t>初探</a:t>
            </a:r>
          </a:p>
        </p:txBody>
      </p:sp>
      <p:sp>
        <p:nvSpPr>
          <p:cNvPr id="24" name="Rectangle 5"/>
          <p:cNvSpPr>
            <a:spLocks noChangeArrowheads="1"/>
          </p:cNvSpPr>
          <p:nvPr/>
        </p:nvSpPr>
        <p:spPr bwMode="auto">
          <a:xfrm>
            <a:off x="788426" y="3579916"/>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5" name="Freeform 6"/>
          <p:cNvSpPr/>
          <p:nvPr/>
        </p:nvSpPr>
        <p:spPr bwMode="auto">
          <a:xfrm>
            <a:off x="226650" y="3579916"/>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26" name="TextBox 152"/>
          <p:cNvSpPr txBox="1"/>
          <p:nvPr/>
        </p:nvSpPr>
        <p:spPr>
          <a:xfrm>
            <a:off x="294124" y="3619584"/>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04</a:t>
            </a:r>
            <a:endParaRPr lang="zh-CN" altLang="en-US" sz="2400" b="1" dirty="0">
              <a:solidFill>
                <a:schemeClr val="bg1"/>
              </a:solidFill>
              <a:latin typeface="微软雅黑" panose="020B0503020204020204" pitchFamily="34" charset="-122"/>
            </a:endParaRPr>
          </a:p>
        </p:txBody>
      </p:sp>
      <p:sp>
        <p:nvSpPr>
          <p:cNvPr id="27" name="TextBox 153"/>
          <p:cNvSpPr txBox="1"/>
          <p:nvPr/>
        </p:nvSpPr>
        <p:spPr>
          <a:xfrm>
            <a:off x="1045167" y="3619583"/>
            <a:ext cx="3094785"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hlinkClick r:id="rId3" action="ppaction://hlinksldjump">
                  <a:extLst>
                    <a:ext uri="{A12FA001-AC4F-418D-AE19-62706E023703}">
                      <ahyp:hlinkClr xmlns:ahyp="http://schemas.microsoft.com/office/drawing/2018/hyperlinkcolor" val="tx"/>
                    </a:ext>
                  </a:extLst>
                </a:hlinkClick>
              </a:rPr>
              <a:t>HBase</a:t>
            </a:r>
            <a:r>
              <a:rPr lang="zh-CN" altLang="en-US" sz="2400" b="1" dirty="0">
                <a:solidFill>
                  <a:schemeClr val="bg1"/>
                </a:solidFill>
                <a:latin typeface="微软雅黑" panose="020B0503020204020204" pitchFamily="34" charset="-122"/>
                <a:ea typeface="微软雅黑" panose="020B0503020204020204" pitchFamily="34" charset="-122"/>
                <a:hlinkClick r:id="rId3" action="ppaction://hlinksldjump">
                  <a:extLst>
                    <a:ext uri="{A12FA001-AC4F-418D-AE19-62706E023703}">
                      <ahyp:hlinkClr xmlns:ahyp="http://schemas.microsoft.com/office/drawing/2018/hyperlinkcolor" val="tx"/>
                    </a:ext>
                  </a:extLst>
                </a:hlinkClick>
              </a:rPr>
              <a:t>的数据模型</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60" name="Rectangle 5"/>
          <p:cNvSpPr>
            <a:spLocks noChangeArrowheads="1"/>
          </p:cNvSpPr>
          <p:nvPr/>
        </p:nvSpPr>
        <p:spPr bwMode="auto">
          <a:xfrm>
            <a:off x="4810268" y="1419622"/>
            <a:ext cx="3358390"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Freeform 6"/>
          <p:cNvSpPr/>
          <p:nvPr/>
        </p:nvSpPr>
        <p:spPr bwMode="auto">
          <a:xfrm>
            <a:off x="4248492" y="1419622"/>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62" name="TextBox 152"/>
          <p:cNvSpPr txBox="1"/>
          <p:nvPr/>
        </p:nvSpPr>
        <p:spPr>
          <a:xfrm>
            <a:off x="4315966" y="1459290"/>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05</a:t>
            </a:r>
            <a:endParaRPr lang="zh-CN" altLang="en-US" sz="2400" b="1" dirty="0">
              <a:solidFill>
                <a:schemeClr val="bg1"/>
              </a:solidFill>
              <a:latin typeface="微软雅黑" panose="020B0503020204020204" pitchFamily="34" charset="-122"/>
            </a:endParaRPr>
          </a:p>
        </p:txBody>
      </p:sp>
      <p:sp>
        <p:nvSpPr>
          <p:cNvPr id="63" name="TextBox 153"/>
          <p:cNvSpPr txBox="1"/>
          <p:nvPr/>
        </p:nvSpPr>
        <p:spPr>
          <a:xfrm>
            <a:off x="5067009" y="1459289"/>
            <a:ext cx="3609447"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HBase Shell</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8" name="Rectangle 5"/>
          <p:cNvSpPr>
            <a:spLocks noChangeArrowheads="1"/>
          </p:cNvSpPr>
          <p:nvPr/>
        </p:nvSpPr>
        <p:spPr bwMode="auto">
          <a:xfrm>
            <a:off x="4858715" y="2110921"/>
            <a:ext cx="4058635" cy="851319"/>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9" name="Freeform 6"/>
          <p:cNvSpPr/>
          <p:nvPr/>
        </p:nvSpPr>
        <p:spPr bwMode="auto">
          <a:xfrm>
            <a:off x="4256069" y="2110921"/>
            <a:ext cx="653155" cy="851319"/>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0" name="TextBox 144"/>
          <p:cNvSpPr txBox="1"/>
          <p:nvPr/>
        </p:nvSpPr>
        <p:spPr>
          <a:xfrm>
            <a:off x="4323543" y="2150590"/>
            <a:ext cx="516754" cy="438555"/>
          </a:xfrm>
          <a:prstGeom prst="rect">
            <a:avLst/>
          </a:prstGeom>
          <a:noFill/>
        </p:spPr>
        <p:txBody>
          <a:bodyPr wrap="non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06</a:t>
            </a:r>
            <a:endParaRPr lang="zh-CN" altLang="en-US" sz="2400" b="1" dirty="0">
              <a:solidFill>
                <a:schemeClr val="bg1"/>
              </a:solidFill>
              <a:latin typeface="微软雅黑" panose="020B0503020204020204" pitchFamily="34" charset="-122"/>
            </a:endParaRPr>
          </a:p>
        </p:txBody>
      </p:sp>
      <p:sp>
        <p:nvSpPr>
          <p:cNvPr id="31" name="TextBox 145"/>
          <p:cNvSpPr txBox="1"/>
          <p:nvPr/>
        </p:nvSpPr>
        <p:spPr>
          <a:xfrm>
            <a:off x="5115457" y="2154353"/>
            <a:ext cx="3657876" cy="807887"/>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利用</a:t>
            </a:r>
            <a:r>
              <a:rPr lang="en-US" altLang="zh-CN" sz="2400" b="1" dirty="0" err="1">
                <a:solidFill>
                  <a:schemeClr val="bg1"/>
                </a:solidFill>
                <a:latin typeface="微软雅黑" panose="020B0503020204020204" pitchFamily="34" charset="-122"/>
                <a:ea typeface="微软雅黑" panose="020B0503020204020204" pitchFamily="34" charset="-122"/>
              </a:rPr>
              <a:t>Jython</a:t>
            </a:r>
            <a:r>
              <a:rPr lang="zh-CN" altLang="en-US" sz="2400" b="1" dirty="0">
                <a:solidFill>
                  <a:schemeClr val="bg1"/>
                </a:solidFill>
                <a:latin typeface="微软雅黑" panose="020B0503020204020204" pitchFamily="34" charset="-122"/>
                <a:ea typeface="微软雅黑" panose="020B0503020204020204" pitchFamily="34" charset="-122"/>
              </a:rPr>
              <a:t>实现</a:t>
            </a:r>
            <a:r>
              <a:rPr lang="en-US" altLang="zh-CN" sz="2400" b="1" dirty="0">
                <a:solidFill>
                  <a:schemeClr val="bg1"/>
                </a:solidFill>
                <a:latin typeface="微软雅黑" panose="020B0503020204020204" pitchFamily="34" charset="-122"/>
                <a:ea typeface="微软雅黑" panose="020B0503020204020204" pitchFamily="34" charset="-122"/>
              </a:rPr>
              <a:t>HBase</a:t>
            </a:r>
            <a:r>
              <a:rPr lang="zh-CN" altLang="en-US" sz="2400" b="1" dirty="0">
                <a:solidFill>
                  <a:schemeClr val="bg1"/>
                </a:solidFill>
                <a:latin typeface="微软雅黑" panose="020B0503020204020204" pitchFamily="34" charset="-122"/>
                <a:ea typeface="微软雅黑" panose="020B0503020204020204" pitchFamily="34" charset="-122"/>
              </a:rPr>
              <a:t>的访问</a:t>
            </a:r>
          </a:p>
        </p:txBody>
      </p:sp>
    </p:spTree>
    <p:extLst>
      <p:ext uri="{BB962C8B-B14F-4D97-AF65-F5344CB8AC3E}">
        <p14:creationId xmlns:p14="http://schemas.microsoft.com/office/powerpoint/2010/main" val="318531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000"/>
                            </p:stCondLst>
                            <p:childTnLst>
                              <p:par>
                                <p:cTn id="21" presetID="2" presetClass="entr" presetSubtype="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2000"/>
                            </p:stCondLst>
                            <p:childTnLst>
                              <p:par>
                                <p:cTn id="37" presetID="2" presetClass="entr" presetSubtype="2"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1+#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0-#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childTnLst>
                          </p:cTn>
                        </p:par>
                        <p:par>
                          <p:cTn id="45" fill="hold">
                            <p:stCondLst>
                              <p:cond delay="2500"/>
                            </p:stCondLst>
                            <p:childTnLst>
                              <p:par>
                                <p:cTn id="46" presetID="22" presetClass="entr" presetSubtype="8" fill="hold" grpId="0"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500"/>
                                        <p:tgtEl>
                                          <p:spTgt spid="23"/>
                                        </p:tgtEl>
                                      </p:cBhvr>
                                    </p:animEffect>
                                  </p:childTnLst>
                                </p:cTn>
                              </p:par>
                            </p:childTnLst>
                          </p:cTn>
                        </p:par>
                        <p:par>
                          <p:cTn id="52" fill="hold">
                            <p:stCondLst>
                              <p:cond delay="3000"/>
                            </p:stCondLst>
                            <p:childTnLst>
                              <p:par>
                                <p:cTn id="53" presetID="2" presetClass="entr" presetSubtype="2"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1+#ppt_w/2"/>
                                          </p:val>
                                        </p:tav>
                                        <p:tav tm="100000">
                                          <p:val>
                                            <p:strVal val="#ppt_x"/>
                                          </p:val>
                                        </p:tav>
                                      </p:tavLst>
                                    </p:anim>
                                    <p:anim calcmode="lin" valueType="num">
                                      <p:cBhvr additive="base">
                                        <p:cTn id="56" dur="5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0-#ppt_w/2"/>
                                          </p:val>
                                        </p:tav>
                                        <p:tav tm="100000">
                                          <p:val>
                                            <p:strVal val="#ppt_x"/>
                                          </p:val>
                                        </p:tav>
                                      </p:tavLst>
                                    </p:anim>
                                    <p:anim calcmode="lin" valueType="num">
                                      <p:cBhvr additive="base">
                                        <p:cTn id="60" dur="500" fill="hold"/>
                                        <p:tgtEl>
                                          <p:spTgt spid="25"/>
                                        </p:tgtEl>
                                        <p:attrNameLst>
                                          <p:attrName>ppt_y</p:attrName>
                                        </p:attrNameLst>
                                      </p:cBhvr>
                                      <p:tavLst>
                                        <p:tav tm="0">
                                          <p:val>
                                            <p:strVal val="#ppt_y"/>
                                          </p:val>
                                        </p:tav>
                                        <p:tav tm="100000">
                                          <p:val>
                                            <p:strVal val="#ppt_y"/>
                                          </p:val>
                                        </p:tav>
                                      </p:tavLst>
                                    </p:anim>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4000"/>
                            </p:stCondLst>
                            <p:childTnLst>
                              <p:par>
                                <p:cTn id="69" presetID="2" presetClass="entr" presetSubtype="2" fill="hold" grpId="0" nodeType="afterEffect">
                                  <p:stCondLst>
                                    <p:cond delay="0"/>
                                  </p:stCondLst>
                                  <p:childTnLst>
                                    <p:set>
                                      <p:cBhvr>
                                        <p:cTn id="70" dur="1" fill="hold">
                                          <p:stCondLst>
                                            <p:cond delay="0"/>
                                          </p:stCondLst>
                                        </p:cTn>
                                        <p:tgtEl>
                                          <p:spTgt spid="60"/>
                                        </p:tgtEl>
                                        <p:attrNameLst>
                                          <p:attrName>style.visibility</p:attrName>
                                        </p:attrNameLst>
                                      </p:cBhvr>
                                      <p:to>
                                        <p:strVal val="visible"/>
                                      </p:to>
                                    </p:set>
                                    <p:anim calcmode="lin" valueType="num">
                                      <p:cBhvr additive="base">
                                        <p:cTn id="71" dur="500" fill="hold"/>
                                        <p:tgtEl>
                                          <p:spTgt spid="60"/>
                                        </p:tgtEl>
                                        <p:attrNameLst>
                                          <p:attrName>ppt_x</p:attrName>
                                        </p:attrNameLst>
                                      </p:cBhvr>
                                      <p:tavLst>
                                        <p:tav tm="0">
                                          <p:val>
                                            <p:strVal val="1+#ppt_w/2"/>
                                          </p:val>
                                        </p:tav>
                                        <p:tav tm="100000">
                                          <p:val>
                                            <p:strVal val="#ppt_x"/>
                                          </p:val>
                                        </p:tav>
                                      </p:tavLst>
                                    </p:anim>
                                    <p:anim calcmode="lin" valueType="num">
                                      <p:cBhvr additive="base">
                                        <p:cTn id="72" dur="500" fill="hold"/>
                                        <p:tgtEl>
                                          <p:spTgt spid="60"/>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anim calcmode="lin" valueType="num">
                                      <p:cBhvr additive="base">
                                        <p:cTn id="75" dur="500" fill="hold"/>
                                        <p:tgtEl>
                                          <p:spTgt spid="61"/>
                                        </p:tgtEl>
                                        <p:attrNameLst>
                                          <p:attrName>ppt_x</p:attrName>
                                        </p:attrNameLst>
                                      </p:cBhvr>
                                      <p:tavLst>
                                        <p:tav tm="0">
                                          <p:val>
                                            <p:strVal val="0-#ppt_w/2"/>
                                          </p:val>
                                        </p:tav>
                                        <p:tav tm="100000">
                                          <p:val>
                                            <p:strVal val="#ppt_x"/>
                                          </p:val>
                                        </p:tav>
                                      </p:tavLst>
                                    </p:anim>
                                    <p:anim calcmode="lin" valueType="num">
                                      <p:cBhvr additive="base">
                                        <p:cTn id="76" dur="500" fill="hold"/>
                                        <p:tgtEl>
                                          <p:spTgt spid="61"/>
                                        </p:tgtEl>
                                        <p:attrNameLst>
                                          <p:attrName>ppt_y</p:attrName>
                                        </p:attrNameLst>
                                      </p:cBhvr>
                                      <p:tavLst>
                                        <p:tav tm="0">
                                          <p:val>
                                            <p:strVal val="#ppt_y"/>
                                          </p:val>
                                        </p:tav>
                                        <p:tav tm="100000">
                                          <p:val>
                                            <p:strVal val="#ppt_y"/>
                                          </p:val>
                                        </p:tav>
                                      </p:tavLst>
                                    </p:anim>
                                  </p:childTnLst>
                                </p:cTn>
                              </p:par>
                            </p:childTnLst>
                          </p:cTn>
                        </p:par>
                        <p:par>
                          <p:cTn id="77" fill="hold">
                            <p:stCondLst>
                              <p:cond delay="4500"/>
                            </p:stCondLst>
                            <p:childTnLst>
                              <p:par>
                                <p:cTn id="78" presetID="22" presetClass="entr" presetSubtype="8" fill="hold" grpId="0" nodeType="afterEffect">
                                  <p:stCondLst>
                                    <p:cond delay="0"/>
                                  </p:stCondLst>
                                  <p:childTnLst>
                                    <p:set>
                                      <p:cBhvr>
                                        <p:cTn id="79" dur="1" fill="hold">
                                          <p:stCondLst>
                                            <p:cond delay="0"/>
                                          </p:stCondLst>
                                        </p:cTn>
                                        <p:tgtEl>
                                          <p:spTgt spid="62"/>
                                        </p:tgtEl>
                                        <p:attrNameLst>
                                          <p:attrName>style.visibility</p:attrName>
                                        </p:attrNameLst>
                                      </p:cBhvr>
                                      <p:to>
                                        <p:strVal val="visible"/>
                                      </p:to>
                                    </p:set>
                                    <p:animEffect transition="in" filter="wipe(left)">
                                      <p:cBhvr>
                                        <p:cTn id="80" dur="500"/>
                                        <p:tgtEl>
                                          <p:spTgt spid="62"/>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wipe(left)">
                                      <p:cBhvr>
                                        <p:cTn id="83" dur="500"/>
                                        <p:tgtEl>
                                          <p:spTgt spid="63"/>
                                        </p:tgtEl>
                                      </p:cBhvr>
                                    </p:animEffect>
                                  </p:childTnLst>
                                </p:cTn>
                              </p:par>
                            </p:childTnLst>
                          </p:cTn>
                        </p:par>
                        <p:par>
                          <p:cTn id="84" fill="hold">
                            <p:stCondLst>
                              <p:cond delay="5000"/>
                            </p:stCondLst>
                            <p:childTnLst>
                              <p:par>
                                <p:cTn id="85" presetID="2" presetClass="entr" presetSubtype="2"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0-#ppt_w/2"/>
                                          </p:val>
                                        </p:tav>
                                        <p:tav tm="100000">
                                          <p:val>
                                            <p:strVal val="#ppt_x"/>
                                          </p:val>
                                        </p:tav>
                                      </p:tavLst>
                                    </p:anim>
                                    <p:anim calcmode="lin" valueType="num">
                                      <p:cBhvr additive="base">
                                        <p:cTn id="92" dur="500" fill="hold"/>
                                        <p:tgtEl>
                                          <p:spTgt spid="29"/>
                                        </p:tgtEl>
                                        <p:attrNameLst>
                                          <p:attrName>ppt_y</p:attrName>
                                        </p:attrNameLst>
                                      </p:cBhvr>
                                      <p:tavLst>
                                        <p:tav tm="0">
                                          <p:val>
                                            <p:strVal val="#ppt_y"/>
                                          </p:val>
                                        </p:tav>
                                        <p:tav tm="100000">
                                          <p:val>
                                            <p:strVal val="#ppt_y"/>
                                          </p:val>
                                        </p:tav>
                                      </p:tavLst>
                                    </p:anim>
                                  </p:childTnLst>
                                </p:cTn>
                              </p:par>
                            </p:childTnLst>
                          </p:cTn>
                        </p:par>
                        <p:par>
                          <p:cTn id="93" fill="hold">
                            <p:stCondLst>
                              <p:cond delay="5500"/>
                            </p:stCondLst>
                            <p:childTnLst>
                              <p:par>
                                <p:cTn id="94" presetID="22" presetClass="entr" presetSubtype="8"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wipe(left)">
                                      <p:cBhvr>
                                        <p:cTn id="9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20" grpId="0" animBg="1"/>
      <p:bldP spid="21" grpId="0" animBg="1"/>
      <p:bldP spid="22" grpId="0"/>
      <p:bldP spid="23" grpId="0"/>
      <p:bldP spid="24" grpId="0" animBg="1"/>
      <p:bldP spid="25" grpId="0" animBg="1"/>
      <p:bldP spid="26" grpId="0"/>
      <p:bldP spid="27" grpId="0"/>
      <p:bldP spid="60" grpId="0" animBg="1"/>
      <p:bldP spid="61" grpId="0" animBg="1"/>
      <p:bldP spid="62" grpId="0"/>
      <p:bldP spid="63" grpId="0"/>
      <p:bldP spid="28" grpId="0" animBg="1"/>
      <p:bldP spid="29" grpId="0" animBg="1"/>
      <p:bldP spid="30"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rPr>
              <a:t>HBase</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简介</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01</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5343046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简介</a:t>
            </a:r>
          </a:p>
        </p:txBody>
      </p:sp>
      <p:sp>
        <p:nvSpPr>
          <p:cNvPr id="6" name="内容占位符 5">
            <a:extLst>
              <a:ext uri="{FF2B5EF4-FFF2-40B4-BE49-F238E27FC236}">
                <a16:creationId xmlns:a16="http://schemas.microsoft.com/office/drawing/2014/main" id="{210C240F-7D8E-43B4-8080-FD7B03CDFF8A}"/>
              </a:ext>
            </a:extLst>
          </p:cNvPr>
          <p:cNvSpPr>
            <a:spLocks noGrp="1"/>
          </p:cNvSpPr>
          <p:nvPr>
            <p:ph idx="1"/>
          </p:nvPr>
        </p:nvSpPr>
        <p:spPr>
          <a:xfrm>
            <a:off x="457200" y="1131590"/>
            <a:ext cx="8229600" cy="3744416"/>
          </a:xfrm>
        </p:spPr>
        <p:txBody>
          <a:bodyPr>
            <a:normAutofit/>
          </a:bodyPr>
          <a:lstStyle/>
          <a:p>
            <a:pPr>
              <a:lnSpc>
                <a:spcPct val="120000"/>
              </a:lnSpc>
            </a:pPr>
            <a:r>
              <a:rPr lang="en-US" altLang="zh-CN" sz="2000"/>
              <a:t>HBase</a:t>
            </a:r>
            <a:r>
              <a:rPr lang="zh-CN" altLang="en-US" sz="2000"/>
              <a:t>是一个构建在</a:t>
            </a:r>
            <a:r>
              <a:rPr lang="en-US" altLang="zh-CN" sz="2000"/>
              <a:t>HDFS</a:t>
            </a:r>
            <a:r>
              <a:rPr lang="zh-CN" altLang="en-US" sz="2000"/>
              <a:t>之上、分布式、面向列的开源数据库</a:t>
            </a:r>
            <a:r>
              <a:rPr lang="en-US" altLang="zh-CN" sz="2000"/>
              <a:t>;</a:t>
            </a:r>
            <a:endParaRPr lang="en-US" altLang="zh-CN" sz="2000" dirty="0"/>
          </a:p>
          <a:p>
            <a:pPr>
              <a:lnSpc>
                <a:spcPct val="120000"/>
              </a:lnSpc>
            </a:pPr>
            <a:r>
              <a:rPr lang="zh-CN" altLang="en-US" sz="2000" dirty="0"/>
              <a:t>该技术来源于 </a:t>
            </a:r>
            <a:r>
              <a:rPr lang="en-US" altLang="zh-CN" sz="2000" dirty="0"/>
              <a:t>Fay Chang </a:t>
            </a:r>
            <a:r>
              <a:rPr lang="zh-CN" altLang="en-US" sz="2000" dirty="0"/>
              <a:t>所撰写的</a:t>
            </a:r>
            <a:r>
              <a:rPr lang="en-US" altLang="zh-CN" sz="2000" dirty="0"/>
              <a:t>Google</a:t>
            </a:r>
            <a:r>
              <a:rPr lang="zh-CN" altLang="en-US" sz="2000" dirty="0"/>
              <a:t>论文“</a:t>
            </a:r>
            <a:r>
              <a:rPr lang="en-US" altLang="zh-CN" sz="2000" dirty="0"/>
              <a:t>Bigtable: A Distributed Storage System for </a:t>
            </a:r>
            <a:r>
              <a:rPr lang="en-US" altLang="zh-CN" sz="2000"/>
              <a:t>Structured Data</a:t>
            </a:r>
            <a:r>
              <a:rPr lang="zh-CN" altLang="en-US" sz="2000"/>
              <a:t>”</a:t>
            </a:r>
            <a:r>
              <a:rPr lang="en-US" altLang="zh-CN" sz="2000"/>
              <a:t>;</a:t>
            </a:r>
            <a:endParaRPr lang="en-US" altLang="zh-CN" sz="2000" dirty="0"/>
          </a:p>
          <a:p>
            <a:pPr>
              <a:lnSpc>
                <a:spcPct val="120000"/>
              </a:lnSpc>
            </a:pPr>
            <a:r>
              <a:rPr lang="en-US" altLang="zh-CN" sz="2000"/>
              <a:t>HBase</a:t>
            </a:r>
            <a:r>
              <a:rPr lang="zh-CN" altLang="en-US" sz="2000" dirty="0"/>
              <a:t>是</a:t>
            </a:r>
            <a:r>
              <a:rPr lang="en-US" altLang="zh-CN" sz="2000" dirty="0"/>
              <a:t>Apache Hadoop</a:t>
            </a:r>
            <a:r>
              <a:rPr lang="zh-CN" altLang="en-US" sz="2000" dirty="0"/>
              <a:t>项目的</a:t>
            </a:r>
            <a:r>
              <a:rPr lang="zh-CN" altLang="en-US" sz="2000"/>
              <a:t>子项目（</a:t>
            </a:r>
            <a:r>
              <a:rPr lang="en-US" altLang="zh-CN" sz="2000">
                <a:hlinkClick r:id="rId2"/>
              </a:rPr>
              <a:t>https://hbase.apache.org/</a:t>
            </a:r>
            <a:r>
              <a:rPr lang="zh-CN" altLang="en-US" sz="2000"/>
              <a:t>）</a:t>
            </a:r>
            <a:r>
              <a:rPr lang="en-US" altLang="zh-CN" sz="2000"/>
              <a:t>;</a:t>
            </a:r>
            <a:endParaRPr lang="en-US" altLang="zh-CN" sz="2000" dirty="0"/>
          </a:p>
          <a:p>
            <a:pPr>
              <a:lnSpc>
                <a:spcPct val="120000"/>
              </a:lnSpc>
            </a:pPr>
            <a:r>
              <a:rPr lang="en-US" altLang="zh-CN" sz="2000"/>
              <a:t>HBase</a:t>
            </a:r>
            <a:r>
              <a:rPr lang="zh-CN" altLang="en-US" sz="2000"/>
              <a:t>适合于</a:t>
            </a:r>
            <a:r>
              <a:rPr lang="zh-CN" altLang="en-US" sz="2000" dirty="0"/>
              <a:t>非结构化数据存储的数据库，主要用来存储非结构化和半结构化的</a:t>
            </a:r>
            <a:r>
              <a:rPr lang="zh-CN" altLang="en-US" sz="2000"/>
              <a:t>松散数据</a:t>
            </a:r>
            <a:r>
              <a:rPr lang="en-US" altLang="zh-CN" sz="2000"/>
              <a:t>;</a:t>
            </a:r>
          </a:p>
          <a:p>
            <a:pPr>
              <a:lnSpc>
                <a:spcPct val="120000"/>
              </a:lnSpc>
            </a:pPr>
            <a:r>
              <a:rPr lang="zh-CN" altLang="en-US" sz="2000"/>
              <a:t>与</a:t>
            </a:r>
            <a:r>
              <a:rPr lang="en-US" altLang="zh-CN" sz="2000"/>
              <a:t>Hadoop</a:t>
            </a:r>
            <a:r>
              <a:rPr lang="zh-CN" altLang="en-US" sz="2000"/>
              <a:t>一样，</a:t>
            </a:r>
            <a:r>
              <a:rPr lang="en-US" altLang="zh-CN" sz="2000"/>
              <a:t>HBase</a:t>
            </a:r>
            <a:r>
              <a:rPr lang="zh-CN" altLang="en-US" sz="2000"/>
              <a:t>的目标主要依靠横向扩展，通过不断增加廉价的服务器来增加计算和存储能力。</a:t>
            </a:r>
            <a:endParaRPr lang="zh-CN" altLang="en-US" sz="2000" dirty="0"/>
          </a:p>
        </p:txBody>
      </p:sp>
      <p:pic>
        <p:nvPicPr>
          <p:cNvPr id="5" name="图片 4">
            <a:extLst>
              <a:ext uri="{FF2B5EF4-FFF2-40B4-BE49-F238E27FC236}">
                <a16:creationId xmlns:a16="http://schemas.microsoft.com/office/drawing/2014/main" id="{3A28C6CD-FD66-49DB-87B3-97134193CF27}"/>
              </a:ext>
            </a:extLst>
          </p:cNvPr>
          <p:cNvPicPr>
            <a:picLocks noChangeAspect="1"/>
          </p:cNvPicPr>
          <p:nvPr/>
        </p:nvPicPr>
        <p:blipFill>
          <a:blip r:embed="rId3"/>
          <a:stretch>
            <a:fillRect/>
          </a:stretch>
        </p:blipFill>
        <p:spPr>
          <a:xfrm>
            <a:off x="3347864" y="3257290"/>
            <a:ext cx="5605284" cy="1631167"/>
          </a:xfrm>
          <a:prstGeom prst="rect">
            <a:avLst/>
          </a:prstGeom>
        </p:spPr>
      </p:pic>
    </p:spTree>
    <p:extLst>
      <p:ext uri="{BB962C8B-B14F-4D97-AF65-F5344CB8AC3E}">
        <p14:creationId xmlns:p14="http://schemas.microsoft.com/office/powerpoint/2010/main" val="13394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body" idx="1"/>
          </p:nvPr>
        </p:nvSpPr>
        <p:spPr>
          <a:xfrm>
            <a:off x="468312" y="1131886"/>
            <a:ext cx="8229601" cy="3394078"/>
          </a:xfrm>
          <a:prstGeom prst="rect">
            <a:avLst/>
          </a:prstGeom>
          <a:noFill/>
          <a:ln w="9525">
            <a:noFill/>
            <a:miter lim="800000"/>
          </a:ln>
        </p:spPr>
        <p:txBody>
          <a:bodyPr vert="horz" wrap="square" lIns="91440" tIns="45720" rIns="91440" bIns="45720" numCol="1" anchor="t" anchorCtr="0" compatLnSpc="1"/>
          <a:lstStyle/>
          <a:p>
            <a:r>
              <a:rPr lang="en-US" altLang="zh-CN" dirty="0" err="1"/>
              <a:t>HBase</a:t>
            </a:r>
            <a:r>
              <a:rPr lang="zh-CN" altLang="en-US" dirty="0"/>
              <a:t>在</a:t>
            </a:r>
            <a:r>
              <a:rPr lang="en-US" altLang="zh-CN" dirty="0"/>
              <a:t>Hadoop</a:t>
            </a:r>
            <a:r>
              <a:rPr lang="zh-CN" altLang="en-US" dirty="0"/>
              <a:t>生态系统中的位置</a:t>
            </a:r>
          </a:p>
        </p:txBody>
      </p:sp>
      <p:sp>
        <p:nvSpPr>
          <p:cNvPr id="2" name="标题 1"/>
          <p:cNvSpPr>
            <a:spLocks noGrp="1"/>
          </p:cNvSpPr>
          <p:nvPr>
            <p:ph type="title"/>
          </p:nvPr>
        </p:nvSpPr>
        <p:spPr/>
        <p:txBody>
          <a:bodyPr>
            <a:normAutofit fontScale="90000"/>
          </a:bodyPr>
          <a:lstStyle/>
          <a:p>
            <a:r>
              <a:rPr lang="en-US" altLang="zh-CN" dirty="0" err="1">
                <a:sym typeface="+mn-ea"/>
              </a:rPr>
              <a:t>HBase</a:t>
            </a:r>
            <a:r>
              <a:rPr lang="zh-CN" altLang="en-US" dirty="0">
                <a:sym typeface="+mn-ea"/>
              </a:rPr>
              <a:t>概述</a:t>
            </a:r>
            <a:endParaRPr lang="zh-CN" altLang="en-US" dirty="0"/>
          </a:p>
        </p:txBody>
      </p:sp>
      <p:pic>
        <p:nvPicPr>
          <p:cNvPr id="4" name="图片 3"/>
          <p:cNvPicPr>
            <a:picLocks noChangeAspect="1"/>
          </p:cNvPicPr>
          <p:nvPr/>
        </p:nvPicPr>
        <p:blipFill>
          <a:blip r:embed="rId3"/>
          <a:stretch>
            <a:fillRect/>
          </a:stretch>
        </p:blipFill>
        <p:spPr>
          <a:xfrm>
            <a:off x="1405890" y="1709666"/>
            <a:ext cx="6766560" cy="3342394"/>
          </a:xfrm>
          <a:prstGeom prst="rect">
            <a:avLst/>
          </a:prstGeom>
        </p:spPr>
      </p:pic>
      <p:sp>
        <p:nvSpPr>
          <p:cNvPr id="3" name="灯片编号占位符 2"/>
          <p:cNvSpPr>
            <a:spLocks noGrp="1"/>
          </p:cNvSpPr>
          <p:nvPr>
            <p:ph type="sldNum" sz="quarter" idx="11"/>
          </p:nvPr>
        </p:nvSpPr>
        <p:spPr/>
        <p:txBody>
          <a:bodyPr/>
          <a:lstStyle/>
          <a:p>
            <a:fld id="{0C913308-F349-4B6D-A68A-DD1791B4A57B}" type="slidenum">
              <a:rPr lang="zh-CN" altLang="en-US" smtClean="0"/>
              <a:t>6</a:t>
            </a:fld>
            <a:r>
              <a:rPr lang="en-US" altLang="zh-CN" dirty="0"/>
              <a:t>/28</a:t>
            </a:r>
            <a:endParaRPr lang="en-US" dirty="0"/>
          </a:p>
        </p:txBody>
      </p:sp>
    </p:spTree>
    <p:extLst>
      <p:ext uri="{BB962C8B-B14F-4D97-AF65-F5344CB8AC3E}">
        <p14:creationId xmlns:p14="http://schemas.microsoft.com/office/powerpoint/2010/main" val="3015872825"/>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sym typeface="+mn-ea"/>
              </a:rPr>
              <a:t>HBase</a:t>
            </a:r>
            <a:r>
              <a:rPr lang="zh-CN" altLang="en-US">
                <a:sym typeface="+mn-ea"/>
              </a:rPr>
              <a:t>初识</a:t>
            </a:r>
            <a:endParaRPr lang="zh-CN" altLang="en-US" dirty="0"/>
          </a:p>
        </p:txBody>
      </p:sp>
      <p:sp>
        <p:nvSpPr>
          <p:cNvPr id="3" name="灯片编号占位符 2"/>
          <p:cNvSpPr>
            <a:spLocks noGrp="1"/>
          </p:cNvSpPr>
          <p:nvPr>
            <p:ph type="sldNum" sz="quarter" idx="11"/>
          </p:nvPr>
        </p:nvSpPr>
        <p:spPr/>
        <p:txBody>
          <a:bodyPr/>
          <a:lstStyle/>
          <a:p>
            <a:fld id="{0C913308-F349-4B6D-A68A-DD1791B4A57B}" type="slidenum">
              <a:rPr lang="zh-CN" altLang="en-US" smtClean="0"/>
              <a:t>7</a:t>
            </a:fld>
            <a:r>
              <a:rPr lang="en-US" altLang="zh-CN" dirty="0"/>
              <a:t>/28</a:t>
            </a:r>
            <a:endParaRPr lang="en-US" dirty="0"/>
          </a:p>
        </p:txBody>
      </p:sp>
      <p:pic>
        <p:nvPicPr>
          <p:cNvPr id="1026" name="Picture 2" descr="https://pic2.zhimg.com/v2-f21529e7a1ca1ea7aa2ba1302f1254d9_r.jpg">
            <a:extLst>
              <a:ext uri="{FF2B5EF4-FFF2-40B4-BE49-F238E27FC236}">
                <a16:creationId xmlns:a16="http://schemas.microsoft.com/office/drawing/2014/main" id="{425FB4A1-5086-4131-B00B-FBF3AD6B8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915566"/>
            <a:ext cx="5934075" cy="20002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pic2.zhimg.com/80/v2-43ccdd184fe509425cf61c7cf9f44eb9_1440w.webp">
            <a:extLst>
              <a:ext uri="{FF2B5EF4-FFF2-40B4-BE49-F238E27FC236}">
                <a16:creationId xmlns:a16="http://schemas.microsoft.com/office/drawing/2014/main" id="{9C084CCE-B7D8-4C57-82F7-E0A68AE520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339502"/>
            <a:ext cx="3133725" cy="3990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92915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body" idx="1"/>
          </p:nvPr>
        </p:nvSpPr>
        <p:spPr>
          <a:xfrm>
            <a:off x="457199" y="1059582"/>
            <a:ext cx="8229601" cy="3600104"/>
          </a:xfrm>
          <a:prstGeom prst="rect">
            <a:avLst/>
          </a:prstGeom>
          <a:noFill/>
          <a:ln w="9525">
            <a:noFill/>
            <a:miter lim="800000"/>
          </a:ln>
        </p:spPr>
        <p:txBody>
          <a:bodyPr vert="horz" wrap="square" lIns="91440" tIns="45720" rIns="91440" bIns="45720" numCol="1" anchor="t" anchorCtr="0" compatLnSpc="1">
            <a:normAutofit/>
          </a:bodyPr>
          <a:lstStyle/>
          <a:p>
            <a:r>
              <a:rPr lang="zh-CN" altLang="en-US" sz="2800" b="1" dirty="0"/>
              <a:t>大</a:t>
            </a:r>
          </a:p>
          <a:p>
            <a:r>
              <a:rPr lang="zh-CN" altLang="en-US" sz="2800" b="1"/>
              <a:t>面向列</a:t>
            </a:r>
            <a:endParaRPr lang="zh-CN" altLang="en-US" sz="2800" dirty="0"/>
          </a:p>
          <a:p>
            <a:r>
              <a:rPr lang="zh-CN" altLang="en-US" sz="2800" b="1"/>
              <a:t>稀疏</a:t>
            </a:r>
            <a:endParaRPr lang="zh-CN" altLang="en-US" sz="2800" dirty="0"/>
          </a:p>
          <a:p>
            <a:r>
              <a:rPr lang="zh-CN" altLang="en-US" sz="2800" b="1"/>
              <a:t>数据类型单一</a:t>
            </a:r>
            <a:endParaRPr lang="zh-CN" altLang="en-US" sz="2800" dirty="0"/>
          </a:p>
          <a:p>
            <a:r>
              <a:rPr lang="zh-CN" altLang="en-US" sz="2800" b="1"/>
              <a:t>无模式</a:t>
            </a:r>
            <a:endParaRPr lang="zh-CN" altLang="en-US" sz="2800" dirty="0"/>
          </a:p>
          <a:p>
            <a:r>
              <a:rPr lang="zh-CN" altLang="en-US" sz="2800" b="1" dirty="0"/>
              <a:t>数据</a:t>
            </a:r>
            <a:r>
              <a:rPr lang="zh-CN" altLang="en-US" sz="2800" b="1"/>
              <a:t>多版本</a:t>
            </a:r>
            <a:endParaRPr lang="zh-CN" altLang="en-US" sz="2800" dirty="0"/>
          </a:p>
        </p:txBody>
      </p:sp>
      <p:sp>
        <p:nvSpPr>
          <p:cNvPr id="2" name="标题 1"/>
          <p:cNvSpPr>
            <a:spLocks noGrp="1"/>
          </p:cNvSpPr>
          <p:nvPr>
            <p:ph type="title"/>
          </p:nvPr>
        </p:nvSpPr>
        <p:spPr/>
        <p:txBody>
          <a:bodyPr>
            <a:normAutofit fontScale="90000"/>
          </a:bodyPr>
          <a:lstStyle/>
          <a:p>
            <a:r>
              <a:rPr lang="en-US" altLang="zh-CN" dirty="0" err="1">
                <a:sym typeface="+mn-ea"/>
              </a:rPr>
              <a:t>HBase</a:t>
            </a:r>
            <a:r>
              <a:rPr lang="zh-CN" altLang="en-US" dirty="0">
                <a:sym typeface="+mn-ea"/>
              </a:rPr>
              <a:t>特点</a:t>
            </a:r>
            <a:endParaRPr lang="zh-CN" altLang="en-US" dirty="0"/>
          </a:p>
        </p:txBody>
      </p:sp>
      <p:sp>
        <p:nvSpPr>
          <p:cNvPr id="3" name="灯片编号占位符 2"/>
          <p:cNvSpPr>
            <a:spLocks noGrp="1"/>
          </p:cNvSpPr>
          <p:nvPr>
            <p:ph type="sldNum" sz="quarter" idx="11"/>
          </p:nvPr>
        </p:nvSpPr>
        <p:spPr/>
        <p:txBody>
          <a:bodyPr/>
          <a:lstStyle/>
          <a:p>
            <a:fld id="{0C913308-F349-4B6D-A68A-DD1791B4A57B}" type="slidenum">
              <a:rPr lang="zh-CN" altLang="en-US" smtClean="0"/>
              <a:t>8</a:t>
            </a:fld>
            <a:r>
              <a:rPr lang="en-US" altLang="zh-CN" dirty="0"/>
              <a:t>/28</a:t>
            </a:r>
            <a:endParaRPr lang="en-US" dirty="0"/>
          </a:p>
        </p:txBody>
      </p:sp>
    </p:spTree>
    <p:extLst>
      <p:ext uri="{BB962C8B-B14F-4D97-AF65-F5344CB8AC3E}">
        <p14:creationId xmlns:p14="http://schemas.microsoft.com/office/powerpoint/2010/main" val="355140640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3"/>
          <p:cNvSpPr>
            <a:spLocks noGrp="1"/>
          </p:cNvSpPr>
          <p:nvPr>
            <p:ph type="body" idx="1"/>
          </p:nvPr>
        </p:nvSpPr>
        <p:spPr>
          <a:xfrm>
            <a:off x="468312" y="1131886"/>
            <a:ext cx="8229601" cy="3394078"/>
          </a:xfrm>
          <a:prstGeom prst="rect">
            <a:avLst/>
          </a:prstGeom>
          <a:noFill/>
          <a:ln w="9525">
            <a:noFill/>
            <a:miter lim="800000"/>
          </a:ln>
        </p:spPr>
        <p:txBody>
          <a:bodyPr vert="horz" wrap="square" lIns="91440" tIns="45720" rIns="91440" bIns="45720" numCol="1" anchor="t" anchorCtr="0" compatLnSpc="1"/>
          <a:lstStyle/>
          <a:p>
            <a:r>
              <a:rPr lang="zh-CN" altLang="en-US" dirty="0"/>
              <a:t>核心术语</a:t>
            </a:r>
          </a:p>
          <a:p>
            <a:pPr lvl="1"/>
            <a:r>
              <a:rPr lang="zh-CN" altLang="en-US" dirty="0"/>
              <a:t>主键：</a:t>
            </a:r>
            <a:r>
              <a:rPr lang="en-US" altLang="zh-CN" dirty="0" err="1"/>
              <a:t>rowkey</a:t>
            </a:r>
            <a:endParaRPr lang="zh-CN" altLang="en-US" dirty="0"/>
          </a:p>
          <a:p>
            <a:pPr lvl="1"/>
            <a:r>
              <a:rPr lang="zh-CN" altLang="en-US" dirty="0"/>
              <a:t>列族：</a:t>
            </a:r>
            <a:r>
              <a:rPr lang="en-US" altLang="zh-CN" dirty="0"/>
              <a:t>column</a:t>
            </a:r>
            <a:r>
              <a:rPr lang="zh-CN" altLang="en-US" dirty="0"/>
              <a:t> </a:t>
            </a:r>
            <a:r>
              <a:rPr lang="en-US" altLang="zh-CN" dirty="0"/>
              <a:t>family</a:t>
            </a:r>
            <a:endParaRPr lang="zh-CN" altLang="en-US" dirty="0"/>
          </a:p>
          <a:p>
            <a:pPr lvl="1"/>
            <a:r>
              <a:rPr lang="zh-CN" altLang="en-US" dirty="0"/>
              <a:t>列：</a:t>
            </a:r>
            <a:r>
              <a:rPr lang="en-US" altLang="zh-CN" dirty="0"/>
              <a:t>column</a:t>
            </a:r>
            <a:endParaRPr lang="zh-CN" altLang="en-US" dirty="0"/>
          </a:p>
          <a:p>
            <a:pPr lvl="1"/>
            <a:r>
              <a:rPr lang="zh-CN" altLang="en-US"/>
              <a:t>时间戳：</a:t>
            </a:r>
            <a:r>
              <a:rPr lang="en-US" altLang="zh-CN"/>
              <a:t>timestamp</a:t>
            </a:r>
            <a:r>
              <a:rPr lang="zh-CN" altLang="en-US"/>
              <a:t>  </a:t>
            </a:r>
            <a:endParaRPr lang="en-US" altLang="zh-CN"/>
          </a:p>
          <a:p>
            <a:pPr lvl="1"/>
            <a:r>
              <a:rPr lang="zh-CN" altLang="en-US"/>
              <a:t>存储单元：</a:t>
            </a:r>
            <a:r>
              <a:rPr lang="en-US" altLang="zh-CN"/>
              <a:t>cell</a:t>
            </a:r>
          </a:p>
          <a:p>
            <a:pPr lvl="1"/>
            <a:endParaRPr lang="zh-CN" altLang="en-US" dirty="0"/>
          </a:p>
        </p:txBody>
      </p:sp>
      <p:sp>
        <p:nvSpPr>
          <p:cNvPr id="2" name="标题 1"/>
          <p:cNvSpPr>
            <a:spLocks noGrp="1"/>
          </p:cNvSpPr>
          <p:nvPr>
            <p:ph type="title"/>
          </p:nvPr>
        </p:nvSpPr>
        <p:spPr/>
        <p:txBody>
          <a:bodyPr>
            <a:normAutofit fontScale="90000"/>
          </a:bodyPr>
          <a:lstStyle/>
          <a:p>
            <a:r>
              <a:rPr lang="en-US" altLang="zh-CN" dirty="0" err="1"/>
              <a:t>HBase</a:t>
            </a:r>
            <a:r>
              <a:rPr lang="zh-CN" altLang="en-US" dirty="0"/>
              <a:t>数据模型</a:t>
            </a:r>
          </a:p>
        </p:txBody>
      </p:sp>
      <p:sp>
        <p:nvSpPr>
          <p:cNvPr id="3" name="灯片编号占位符 2"/>
          <p:cNvSpPr>
            <a:spLocks noGrp="1"/>
          </p:cNvSpPr>
          <p:nvPr>
            <p:ph type="sldNum" sz="quarter" idx="11"/>
          </p:nvPr>
        </p:nvSpPr>
        <p:spPr/>
        <p:txBody>
          <a:bodyPr/>
          <a:lstStyle/>
          <a:p>
            <a:fld id="{0C913308-F349-4B6D-A68A-DD1791B4A57B}" type="slidenum">
              <a:rPr lang="zh-CN" altLang="en-US" smtClean="0"/>
              <a:t>9</a:t>
            </a:fld>
            <a:r>
              <a:rPr lang="en-US" altLang="zh-CN" dirty="0"/>
              <a:t>/28</a:t>
            </a:r>
            <a:endParaRPr lang="en-US" dirty="0"/>
          </a:p>
        </p:txBody>
      </p:sp>
    </p:spTree>
    <p:extLst>
      <p:ext uri="{BB962C8B-B14F-4D97-AF65-F5344CB8AC3E}">
        <p14:creationId xmlns:p14="http://schemas.microsoft.com/office/powerpoint/2010/main" val="329428622"/>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3"/>
          <p:cNvSpPr>
            <a:spLocks noGrp="1"/>
          </p:cNvSpPr>
          <p:nvPr>
            <p:ph type="body" idx="1"/>
          </p:nvPr>
        </p:nvSpPr>
        <p:spPr>
          <a:xfrm>
            <a:off x="468312" y="1131886"/>
            <a:ext cx="8229601" cy="3394078"/>
          </a:xfrm>
          <a:prstGeom prst="rect">
            <a:avLst/>
          </a:prstGeom>
          <a:noFill/>
          <a:ln w="9525">
            <a:noFill/>
            <a:miter lim="800000"/>
          </a:ln>
        </p:spPr>
        <p:txBody>
          <a:bodyPr vert="horz" wrap="square" lIns="91440" tIns="45720" rIns="91440" bIns="45720" numCol="1" anchor="t" anchorCtr="0" compatLnSpc="1"/>
          <a:lstStyle/>
          <a:p>
            <a:endParaRPr lang="zh-CN" altLang="en-US" dirty="0"/>
          </a:p>
        </p:txBody>
      </p:sp>
      <p:sp>
        <p:nvSpPr>
          <p:cNvPr id="2" name="标题 1"/>
          <p:cNvSpPr>
            <a:spLocks noGrp="1"/>
          </p:cNvSpPr>
          <p:nvPr>
            <p:ph type="title"/>
          </p:nvPr>
        </p:nvSpPr>
        <p:spPr/>
        <p:txBody>
          <a:bodyPr>
            <a:normAutofit fontScale="90000"/>
          </a:bodyPr>
          <a:lstStyle/>
          <a:p>
            <a:r>
              <a:rPr lang="en-US" altLang="zh-CN" dirty="0" err="1"/>
              <a:t>HBase</a:t>
            </a:r>
            <a:r>
              <a:rPr lang="zh-CN" altLang="en-US" dirty="0"/>
              <a:t>数据模型</a:t>
            </a:r>
          </a:p>
        </p:txBody>
      </p:sp>
      <p:pic>
        <p:nvPicPr>
          <p:cNvPr id="3" name="图片 2"/>
          <p:cNvPicPr>
            <a:picLocks noChangeAspect="1"/>
          </p:cNvPicPr>
          <p:nvPr/>
        </p:nvPicPr>
        <p:blipFill>
          <a:blip r:embed="rId3"/>
          <a:stretch>
            <a:fillRect/>
          </a:stretch>
        </p:blipFill>
        <p:spPr>
          <a:xfrm>
            <a:off x="1691680" y="1131886"/>
            <a:ext cx="5863590" cy="3607162"/>
          </a:xfrm>
          <a:prstGeom prst="rect">
            <a:avLst/>
          </a:prstGeom>
        </p:spPr>
      </p:pic>
      <p:sp>
        <p:nvSpPr>
          <p:cNvPr id="4" name="灯片编号占位符 3"/>
          <p:cNvSpPr>
            <a:spLocks noGrp="1"/>
          </p:cNvSpPr>
          <p:nvPr>
            <p:ph type="sldNum" sz="quarter" idx="11"/>
          </p:nvPr>
        </p:nvSpPr>
        <p:spPr/>
        <p:txBody>
          <a:bodyPr/>
          <a:lstStyle/>
          <a:p>
            <a:fld id="{0C913308-F349-4B6D-A68A-DD1791B4A57B}" type="slidenum">
              <a:rPr lang="zh-CN" altLang="en-US" smtClean="0"/>
              <a:t>10</a:t>
            </a:fld>
            <a:r>
              <a:rPr lang="en-US" altLang="zh-CN" dirty="0"/>
              <a:t>/28</a:t>
            </a:r>
            <a:endParaRPr lang="en-US" dirty="0"/>
          </a:p>
        </p:txBody>
      </p:sp>
    </p:spTree>
    <p:extLst>
      <p:ext uri="{BB962C8B-B14F-4D97-AF65-F5344CB8AC3E}">
        <p14:creationId xmlns:p14="http://schemas.microsoft.com/office/powerpoint/2010/main" val="63543710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3"/>
          <p:cNvSpPr>
            <a:spLocks noGrp="1"/>
          </p:cNvSpPr>
          <p:nvPr>
            <p:ph type="body" idx="1"/>
          </p:nvPr>
        </p:nvSpPr>
        <p:spPr>
          <a:xfrm>
            <a:off x="468312" y="1131590"/>
            <a:ext cx="8352160" cy="3394374"/>
          </a:xfrm>
          <a:prstGeom prst="rect">
            <a:avLst/>
          </a:prstGeom>
          <a:noFill/>
          <a:ln w="9525">
            <a:noFill/>
            <a:miter lim="800000"/>
          </a:ln>
        </p:spPr>
        <p:txBody>
          <a:bodyPr vert="horz" wrap="square" lIns="91440" tIns="45720" rIns="91440" bIns="45720" numCol="1" anchor="t" anchorCtr="0" compatLnSpc="1">
            <a:normAutofit/>
          </a:bodyPr>
          <a:lstStyle/>
          <a:p>
            <a:r>
              <a:rPr lang="en-US" altLang="zh-CN" sz="2400" b="1" dirty="0">
                <a:solidFill>
                  <a:srgbClr val="0B9FDD"/>
                </a:solidFill>
                <a:latin typeface="微软雅黑" panose="020B0503020204020204" pitchFamily="34" charset="-122"/>
                <a:ea typeface="微软雅黑" panose="020B0503020204020204" pitchFamily="34" charset="-122"/>
              </a:rPr>
              <a:t>Table</a:t>
            </a:r>
            <a:r>
              <a:rPr lang="zh-CN" altLang="en-US" sz="2400" b="1" dirty="0">
                <a:solidFill>
                  <a:srgbClr val="0B9FDD"/>
                </a:solidFill>
                <a:latin typeface="微软雅黑" panose="020B0503020204020204" pitchFamily="34" charset="-122"/>
                <a:ea typeface="微软雅黑" panose="020B0503020204020204" pitchFamily="34" charset="-122"/>
              </a:rPr>
              <a:t>中的所有行</a:t>
            </a:r>
            <a:r>
              <a:rPr lang="zh-CN" altLang="en-US" sz="2400" b="1">
                <a:solidFill>
                  <a:srgbClr val="0B9FDD"/>
                </a:solidFill>
                <a:latin typeface="微软雅黑" panose="020B0503020204020204" pitchFamily="34" charset="-122"/>
                <a:ea typeface="微软雅黑" panose="020B0503020204020204" pitchFamily="34" charset="-122"/>
              </a:rPr>
              <a:t>都按照</a:t>
            </a:r>
            <a:r>
              <a:rPr lang="en-US" altLang="zh-CN" sz="2400" b="1" dirty="0" err="1">
                <a:solidFill>
                  <a:srgbClr val="0B9FDD"/>
                </a:solidFill>
                <a:latin typeface="微软雅黑" panose="020B0503020204020204" pitchFamily="34" charset="-122"/>
                <a:ea typeface="微软雅黑" panose="020B0503020204020204" pitchFamily="34" charset="-122"/>
              </a:rPr>
              <a:t>rowkey</a:t>
            </a:r>
            <a:r>
              <a:rPr lang="zh-CN" altLang="en-US" sz="2400" b="1" dirty="0">
                <a:solidFill>
                  <a:srgbClr val="0B9FDD"/>
                </a:solidFill>
                <a:latin typeface="微软雅黑" panose="020B0503020204020204" pitchFamily="34" charset="-122"/>
                <a:ea typeface="微软雅黑" panose="020B0503020204020204" pitchFamily="34" charset="-122"/>
              </a:rPr>
              <a:t>的</a:t>
            </a:r>
            <a:r>
              <a:rPr lang="zh-CN" altLang="en-US" sz="2400" b="1">
                <a:solidFill>
                  <a:srgbClr val="0B9FDD"/>
                </a:solidFill>
                <a:latin typeface="微软雅黑" panose="020B0503020204020204" pitchFamily="34" charset="-122"/>
                <a:ea typeface="微软雅黑" panose="020B0503020204020204" pitchFamily="34" charset="-122"/>
              </a:rPr>
              <a:t>字典序排列</a:t>
            </a:r>
            <a:endParaRPr lang="en-US" altLang="zh-CN" sz="2400" b="1" dirty="0">
              <a:solidFill>
                <a:srgbClr val="0B9FDD"/>
              </a:solidFill>
              <a:latin typeface="微软雅黑" panose="020B0503020204020204" pitchFamily="34" charset="-122"/>
              <a:ea typeface="微软雅黑" panose="020B0503020204020204" pitchFamily="34" charset="-122"/>
            </a:endParaRPr>
          </a:p>
          <a:p>
            <a:endParaRPr lang="zh-CN" altLang="en-US" sz="2400" b="1" dirty="0">
              <a:solidFill>
                <a:srgbClr val="0B9FDD"/>
              </a:solidFill>
              <a:latin typeface="微软雅黑" panose="020B0503020204020204" pitchFamily="34" charset="-122"/>
              <a:ea typeface="微软雅黑" panose="020B0503020204020204" pitchFamily="34" charset="-122"/>
            </a:endParaRPr>
          </a:p>
          <a:p>
            <a:r>
              <a:rPr lang="en-US" altLang="zh-CN" sz="2400" b="1" dirty="0">
                <a:solidFill>
                  <a:srgbClr val="0B9FDD"/>
                </a:solidFill>
                <a:latin typeface="微软雅黑" panose="020B0503020204020204" pitchFamily="34" charset="-122"/>
                <a:ea typeface="微软雅黑" panose="020B0503020204020204" pitchFamily="34" charset="-122"/>
              </a:rPr>
              <a:t>Table</a:t>
            </a:r>
            <a:r>
              <a:rPr lang="zh-CN" altLang="en-US" sz="2400" b="1" dirty="0">
                <a:solidFill>
                  <a:srgbClr val="0B9FDD"/>
                </a:solidFill>
                <a:latin typeface="微软雅黑" panose="020B0503020204020204" pitchFamily="34" charset="-122"/>
                <a:ea typeface="微软雅黑" panose="020B0503020204020204" pitchFamily="34" charset="-122"/>
              </a:rPr>
              <a:t>在行的方向上分割为</a:t>
            </a:r>
            <a:r>
              <a:rPr lang="zh-CN" altLang="en-US" sz="2400" b="1">
                <a:solidFill>
                  <a:srgbClr val="0B9FDD"/>
                </a:solidFill>
                <a:latin typeface="微软雅黑" panose="020B0503020204020204" pitchFamily="34" charset="-122"/>
                <a:ea typeface="微软雅黑" panose="020B0503020204020204" pitchFamily="34" charset="-122"/>
              </a:rPr>
              <a:t>多个</a:t>
            </a:r>
            <a:r>
              <a:rPr lang="en-US" altLang="zh-CN" sz="2400" b="1" dirty="0">
                <a:solidFill>
                  <a:srgbClr val="0B9FDD"/>
                </a:solidFill>
                <a:latin typeface="微软雅黑" panose="020B0503020204020204" pitchFamily="34" charset="-122"/>
                <a:ea typeface="微软雅黑" panose="020B0503020204020204" pitchFamily="34" charset="-122"/>
              </a:rPr>
              <a:t>Region</a:t>
            </a:r>
          </a:p>
          <a:p>
            <a:endParaRPr lang="zh-CN" altLang="en-US" sz="2400" b="1" dirty="0">
              <a:solidFill>
                <a:srgbClr val="0B9FDD"/>
              </a:solidFill>
              <a:latin typeface="微软雅黑" panose="020B0503020204020204" pitchFamily="34" charset="-122"/>
              <a:ea typeface="微软雅黑" panose="020B0503020204020204" pitchFamily="34" charset="-122"/>
            </a:endParaRPr>
          </a:p>
          <a:p>
            <a:r>
              <a:rPr lang="zh-CN" altLang="en-US" sz="2400" b="1">
                <a:solidFill>
                  <a:srgbClr val="0B9FDD"/>
                </a:solidFill>
                <a:latin typeface="微软雅黑" panose="020B0503020204020204" pitchFamily="34" charset="-122"/>
                <a:ea typeface="微软雅黑" panose="020B0503020204020204" pitchFamily="34" charset="-122"/>
              </a:rPr>
              <a:t>一个</a:t>
            </a:r>
            <a:r>
              <a:rPr lang="en-US" altLang="zh-CN" sz="2400" b="1" dirty="0">
                <a:solidFill>
                  <a:srgbClr val="0B9FDD"/>
                </a:solidFill>
                <a:latin typeface="微软雅黑" panose="020B0503020204020204" pitchFamily="34" charset="-122"/>
                <a:ea typeface="微软雅黑" panose="020B0503020204020204" pitchFamily="34" charset="-122"/>
              </a:rPr>
              <a:t>Region</a:t>
            </a:r>
            <a:r>
              <a:rPr lang="zh-CN" altLang="en-US" sz="2400" b="1" dirty="0">
                <a:solidFill>
                  <a:srgbClr val="0B9FDD"/>
                </a:solidFill>
                <a:latin typeface="微软雅黑" panose="020B0503020204020204" pitchFamily="34" charset="-122"/>
                <a:ea typeface="微软雅黑" panose="020B0503020204020204" pitchFamily="34" charset="-122"/>
              </a:rPr>
              <a:t>在同一时刻只能被同</a:t>
            </a:r>
            <a:r>
              <a:rPr lang="zh-CN" altLang="en-US" sz="2400" b="1">
                <a:solidFill>
                  <a:srgbClr val="0B9FDD"/>
                </a:solidFill>
                <a:latin typeface="微软雅黑" panose="020B0503020204020204" pitchFamily="34" charset="-122"/>
                <a:ea typeface="微软雅黑" panose="020B0503020204020204" pitchFamily="34" charset="-122"/>
              </a:rPr>
              <a:t>一个</a:t>
            </a:r>
            <a:r>
              <a:rPr lang="en-US" altLang="zh-CN" sz="2400" b="1" err="1">
                <a:solidFill>
                  <a:srgbClr val="0B9FDD"/>
                </a:solidFill>
                <a:latin typeface="微软雅黑" panose="020B0503020204020204" pitchFamily="34" charset="-122"/>
                <a:ea typeface="微软雅黑" panose="020B0503020204020204" pitchFamily="34" charset="-122"/>
              </a:rPr>
              <a:t>RegionServer</a:t>
            </a:r>
            <a:r>
              <a:rPr lang="zh-CN" altLang="en-US" sz="2400" b="1">
                <a:solidFill>
                  <a:srgbClr val="0B9FDD"/>
                </a:solidFill>
                <a:latin typeface="微软雅黑" panose="020B0503020204020204" pitchFamily="34" charset="-122"/>
                <a:ea typeface="微软雅黑" panose="020B0503020204020204" pitchFamily="34" charset="-122"/>
              </a:rPr>
              <a:t>管理</a:t>
            </a:r>
            <a:endParaRPr lang="en-US" altLang="zh-CN" sz="2400" b="1" dirty="0">
              <a:solidFill>
                <a:srgbClr val="0B9FDD"/>
              </a:solidFill>
              <a:latin typeface="微软雅黑" panose="020B0503020204020204" pitchFamily="34" charset="-122"/>
              <a:ea typeface="微软雅黑" panose="020B0503020204020204" pitchFamily="34" charset="-122"/>
            </a:endParaRPr>
          </a:p>
          <a:p>
            <a:endParaRPr lang="zh-CN" altLang="en-US" sz="2400" b="1" dirty="0">
              <a:solidFill>
                <a:srgbClr val="0B9FDD"/>
              </a:solidFill>
              <a:latin typeface="微软雅黑" panose="020B0503020204020204" pitchFamily="34" charset="-122"/>
              <a:ea typeface="微软雅黑" panose="020B0503020204020204" pitchFamily="34" charset="-122"/>
            </a:endParaRPr>
          </a:p>
          <a:p>
            <a:r>
              <a:rPr lang="en-US" altLang="zh-CN" sz="2400" b="1" dirty="0" err="1">
                <a:solidFill>
                  <a:srgbClr val="0B9FDD"/>
                </a:solidFill>
                <a:latin typeface="微软雅黑" panose="020B0503020204020204" pitchFamily="34" charset="-122"/>
                <a:ea typeface="微软雅黑" panose="020B0503020204020204" pitchFamily="34" charset="-122"/>
              </a:rPr>
              <a:t>RegionServer</a:t>
            </a:r>
            <a:r>
              <a:rPr lang="zh-CN" altLang="en-US" sz="2400" b="1" dirty="0">
                <a:solidFill>
                  <a:srgbClr val="0B9FDD"/>
                </a:solidFill>
                <a:latin typeface="微软雅黑" panose="020B0503020204020204" pitchFamily="34" charset="-122"/>
                <a:ea typeface="微软雅黑" panose="020B0503020204020204" pitchFamily="34" charset="-122"/>
              </a:rPr>
              <a:t>能管理</a:t>
            </a:r>
            <a:r>
              <a:rPr lang="zh-CN" altLang="en-US" sz="2400" b="1">
                <a:solidFill>
                  <a:srgbClr val="0B9FDD"/>
                </a:solidFill>
                <a:latin typeface="微软雅黑" panose="020B0503020204020204" pitchFamily="34" charset="-122"/>
                <a:ea typeface="微软雅黑" panose="020B0503020204020204" pitchFamily="34" charset="-122"/>
              </a:rPr>
              <a:t>多个</a:t>
            </a:r>
            <a:r>
              <a:rPr lang="en-US" altLang="zh-CN" sz="2400" b="1" dirty="0">
                <a:solidFill>
                  <a:srgbClr val="0B9FDD"/>
                </a:solidFill>
                <a:latin typeface="微软雅黑" panose="020B0503020204020204" pitchFamily="34" charset="-122"/>
                <a:ea typeface="微软雅黑" panose="020B0503020204020204" pitchFamily="34" charset="-122"/>
              </a:rPr>
              <a:t>Region</a:t>
            </a:r>
            <a:endParaRPr lang="zh-CN" altLang="en-US" sz="2400" b="1" dirty="0">
              <a:solidFill>
                <a:srgbClr val="0B9FDD"/>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normAutofit fontScale="90000"/>
          </a:bodyPr>
          <a:lstStyle/>
          <a:p>
            <a:r>
              <a:rPr lang="en-US" altLang="zh-CN" dirty="0" err="1"/>
              <a:t>HBase</a:t>
            </a:r>
            <a:r>
              <a:rPr lang="zh-CN" altLang="en-US" dirty="0"/>
              <a:t>物理模型</a:t>
            </a:r>
          </a:p>
        </p:txBody>
      </p:sp>
      <p:sp>
        <p:nvSpPr>
          <p:cNvPr id="3" name="灯片编号占位符 2"/>
          <p:cNvSpPr>
            <a:spLocks noGrp="1"/>
          </p:cNvSpPr>
          <p:nvPr>
            <p:ph type="sldNum" sz="quarter" idx="11"/>
          </p:nvPr>
        </p:nvSpPr>
        <p:spPr/>
        <p:txBody>
          <a:bodyPr/>
          <a:lstStyle/>
          <a:p>
            <a:fld id="{0C913308-F349-4B6D-A68A-DD1791B4A57B}" type="slidenum">
              <a:rPr lang="zh-CN" altLang="en-US" smtClean="0"/>
              <a:t>11</a:t>
            </a:fld>
            <a:r>
              <a:rPr lang="en-US" altLang="zh-CN" dirty="0"/>
              <a:t>/28</a:t>
            </a:r>
            <a:endParaRPr lang="en-US" dirty="0"/>
          </a:p>
        </p:txBody>
      </p:sp>
    </p:spTree>
    <p:extLst>
      <p:ext uri="{BB962C8B-B14F-4D97-AF65-F5344CB8AC3E}">
        <p14:creationId xmlns:p14="http://schemas.microsoft.com/office/powerpoint/2010/main" val="777412233"/>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HBase</a:t>
            </a:r>
            <a:r>
              <a:rPr lang="zh-CN" altLang="en-US" dirty="0"/>
              <a:t>物理模型</a:t>
            </a:r>
          </a:p>
        </p:txBody>
      </p:sp>
      <p:pic>
        <p:nvPicPr>
          <p:cNvPr id="3" name="图片 2"/>
          <p:cNvPicPr>
            <a:picLocks noChangeAspect="1"/>
          </p:cNvPicPr>
          <p:nvPr/>
        </p:nvPicPr>
        <p:blipFill>
          <a:blip r:embed="rId3"/>
          <a:stretch>
            <a:fillRect/>
          </a:stretch>
        </p:blipFill>
        <p:spPr>
          <a:xfrm>
            <a:off x="62133" y="1211580"/>
            <a:ext cx="3195418" cy="3440430"/>
          </a:xfrm>
          <a:prstGeom prst="rect">
            <a:avLst/>
          </a:prstGeom>
        </p:spPr>
      </p:pic>
      <p:pic>
        <p:nvPicPr>
          <p:cNvPr id="4" name="图片 3"/>
          <p:cNvPicPr>
            <a:picLocks noChangeAspect="1"/>
          </p:cNvPicPr>
          <p:nvPr/>
        </p:nvPicPr>
        <p:blipFill>
          <a:blip r:embed="rId4"/>
          <a:stretch>
            <a:fillRect/>
          </a:stretch>
        </p:blipFill>
        <p:spPr>
          <a:xfrm>
            <a:off x="3400569" y="1063625"/>
            <a:ext cx="5709141" cy="3771900"/>
          </a:xfrm>
          <a:prstGeom prst="rect">
            <a:avLst/>
          </a:prstGeom>
        </p:spPr>
      </p:pic>
      <p:sp>
        <p:nvSpPr>
          <p:cNvPr id="5" name="灯片编号占位符 4"/>
          <p:cNvSpPr>
            <a:spLocks noGrp="1"/>
          </p:cNvSpPr>
          <p:nvPr>
            <p:ph type="sldNum" sz="quarter" idx="11"/>
          </p:nvPr>
        </p:nvSpPr>
        <p:spPr/>
        <p:txBody>
          <a:bodyPr/>
          <a:lstStyle/>
          <a:p>
            <a:fld id="{0C913308-F349-4B6D-A68A-DD1791B4A57B}" type="slidenum">
              <a:rPr lang="zh-CN" altLang="en-US" smtClean="0"/>
              <a:t>12</a:t>
            </a:fld>
            <a:r>
              <a:rPr lang="en-US" altLang="zh-CN"/>
              <a:t>/10</a:t>
            </a:r>
            <a:endParaRPr lang="en-US" dirty="0"/>
          </a:p>
        </p:txBody>
      </p:sp>
    </p:spTree>
    <p:extLst>
      <p:ext uri="{BB962C8B-B14F-4D97-AF65-F5344CB8AC3E}">
        <p14:creationId xmlns:p14="http://schemas.microsoft.com/office/powerpoint/2010/main" val="1785531753"/>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3"/>
          <p:cNvSpPr>
            <a:spLocks noGrp="1"/>
          </p:cNvSpPr>
          <p:nvPr>
            <p:ph type="body" idx="1"/>
          </p:nvPr>
        </p:nvSpPr>
        <p:spPr>
          <a:xfrm>
            <a:off x="468312" y="1131886"/>
            <a:ext cx="8229601" cy="3394078"/>
          </a:xfrm>
          <a:prstGeom prst="rect">
            <a:avLst/>
          </a:prstGeom>
          <a:noFill/>
          <a:ln w="9525">
            <a:noFill/>
            <a:miter lim="800000"/>
          </a:ln>
        </p:spPr>
        <p:txBody>
          <a:bodyPr vert="horz" wrap="square" lIns="91440" tIns="45720" rIns="91440" bIns="45720" numCol="1" anchor="t" anchorCtr="0" compatLnSpc="1">
            <a:normAutofit/>
          </a:bodyPr>
          <a:lstStyle/>
          <a:p>
            <a:r>
              <a:rPr lang="en-US" altLang="zh-CN" sz="2800" dirty="0"/>
              <a:t>Region</a:t>
            </a:r>
            <a:r>
              <a:rPr lang="zh-CN" altLang="en-US" sz="2800" dirty="0"/>
              <a:t>按大小分割</a:t>
            </a:r>
            <a:r>
              <a:rPr lang="en-US" altLang="zh-CN" sz="2800" dirty="0"/>
              <a:t>,</a:t>
            </a:r>
            <a:r>
              <a:rPr lang="zh-CN" altLang="en-US" sz="2800" dirty="0"/>
              <a:t>每个表开始只有一个</a:t>
            </a:r>
            <a:r>
              <a:rPr lang="en-US" altLang="zh-CN" sz="2800" dirty="0"/>
              <a:t>Region,</a:t>
            </a:r>
            <a:r>
              <a:rPr lang="zh-CN" altLang="en-US" sz="2800" dirty="0"/>
              <a:t>随 着数据增多</a:t>
            </a:r>
            <a:r>
              <a:rPr lang="en-US" altLang="zh-CN" sz="2800" dirty="0"/>
              <a:t>,Region</a:t>
            </a:r>
            <a:r>
              <a:rPr lang="zh-CN" altLang="en-US" sz="2800" dirty="0"/>
              <a:t>不断增大</a:t>
            </a:r>
            <a:r>
              <a:rPr lang="en-US" altLang="zh-CN" sz="2800" dirty="0"/>
              <a:t>,</a:t>
            </a:r>
            <a:r>
              <a:rPr lang="zh-CN" altLang="en-US" sz="2800" dirty="0"/>
              <a:t>当增大到一个阀值的时候</a:t>
            </a:r>
            <a:r>
              <a:rPr lang="en-US" altLang="zh-CN" sz="2800" dirty="0"/>
              <a:t>, Region</a:t>
            </a:r>
            <a:r>
              <a:rPr lang="zh-CN" altLang="en-US" sz="2800" dirty="0"/>
              <a:t>就会等分会两个新的</a:t>
            </a:r>
            <a:r>
              <a:rPr lang="en-US" altLang="zh-CN" sz="2800" dirty="0"/>
              <a:t>Region,</a:t>
            </a:r>
            <a:r>
              <a:rPr lang="zh-CN" altLang="en-US" sz="2800" dirty="0"/>
              <a:t>之后会有越来越多的 </a:t>
            </a:r>
            <a:r>
              <a:rPr lang="en-US" altLang="zh-CN" sz="2800" dirty="0"/>
              <a:t>Region</a:t>
            </a:r>
            <a:endParaRPr lang="zh-CN" altLang="en-US" sz="2800" dirty="0"/>
          </a:p>
        </p:txBody>
      </p:sp>
      <p:sp>
        <p:nvSpPr>
          <p:cNvPr id="2" name="标题 1"/>
          <p:cNvSpPr>
            <a:spLocks noGrp="1"/>
          </p:cNvSpPr>
          <p:nvPr>
            <p:ph type="title"/>
          </p:nvPr>
        </p:nvSpPr>
        <p:spPr/>
        <p:txBody>
          <a:bodyPr>
            <a:normAutofit fontScale="90000"/>
          </a:bodyPr>
          <a:lstStyle/>
          <a:p>
            <a:r>
              <a:rPr lang="en-US" altLang="zh-CN" dirty="0" err="1"/>
              <a:t>HBase</a:t>
            </a:r>
            <a:r>
              <a:rPr lang="zh-CN" altLang="en-US" dirty="0"/>
              <a:t>物理模型</a:t>
            </a:r>
          </a:p>
        </p:txBody>
      </p:sp>
      <p:pic>
        <p:nvPicPr>
          <p:cNvPr id="3" name="图片 2"/>
          <p:cNvPicPr>
            <a:picLocks noChangeAspect="1"/>
          </p:cNvPicPr>
          <p:nvPr/>
        </p:nvPicPr>
        <p:blipFill>
          <a:blip r:embed="rId3"/>
          <a:stretch>
            <a:fillRect/>
          </a:stretch>
        </p:blipFill>
        <p:spPr>
          <a:xfrm>
            <a:off x="5246370" y="2789170"/>
            <a:ext cx="2970477" cy="2354330"/>
          </a:xfrm>
          <a:prstGeom prst="rect">
            <a:avLst/>
          </a:prstGeom>
        </p:spPr>
      </p:pic>
      <p:sp>
        <p:nvSpPr>
          <p:cNvPr id="4" name="灯片编号占位符 3"/>
          <p:cNvSpPr>
            <a:spLocks noGrp="1"/>
          </p:cNvSpPr>
          <p:nvPr>
            <p:ph type="sldNum" sz="quarter" idx="11"/>
          </p:nvPr>
        </p:nvSpPr>
        <p:spPr/>
        <p:txBody>
          <a:bodyPr/>
          <a:lstStyle/>
          <a:p>
            <a:fld id="{0C913308-F349-4B6D-A68A-DD1791B4A57B}" type="slidenum">
              <a:rPr lang="zh-CN" altLang="en-US" smtClean="0"/>
              <a:t>13</a:t>
            </a:fld>
            <a:r>
              <a:rPr lang="en-US" altLang="zh-CN" dirty="0"/>
              <a:t>/28</a:t>
            </a:r>
            <a:endParaRPr lang="en-US" dirty="0"/>
          </a:p>
        </p:txBody>
      </p:sp>
    </p:spTree>
    <p:extLst>
      <p:ext uri="{BB962C8B-B14F-4D97-AF65-F5344CB8AC3E}">
        <p14:creationId xmlns:p14="http://schemas.microsoft.com/office/powerpoint/2010/main" val="4076847397"/>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3"/>
          <p:cNvSpPr>
            <a:spLocks noGrp="1"/>
          </p:cNvSpPr>
          <p:nvPr>
            <p:ph type="body" idx="1"/>
          </p:nvPr>
        </p:nvSpPr>
        <p:spPr>
          <a:xfrm>
            <a:off x="315804" y="987574"/>
            <a:ext cx="8576676" cy="3394078"/>
          </a:xfrm>
          <a:prstGeom prst="rect">
            <a:avLst/>
          </a:prstGeom>
          <a:noFill/>
          <a:ln w="9525">
            <a:noFill/>
            <a:miter lim="800000"/>
          </a:ln>
        </p:spPr>
        <p:txBody>
          <a:bodyPr vert="horz" wrap="square" lIns="91440" tIns="45720" rIns="91440" bIns="45720" numCol="1" anchor="t" anchorCtr="0" compatLnSpc="1">
            <a:normAutofit/>
          </a:bodyPr>
          <a:lstStyle/>
          <a:p>
            <a:r>
              <a:rPr lang="en-US" altLang="zh-CN" sz="2800" dirty="0"/>
              <a:t>Region</a:t>
            </a:r>
            <a:r>
              <a:rPr lang="zh-CN" altLang="en-US" sz="2800" dirty="0"/>
              <a:t>是</a:t>
            </a:r>
            <a:r>
              <a:rPr lang="en-US" altLang="zh-CN" sz="2800" dirty="0" err="1"/>
              <a:t>HBase</a:t>
            </a:r>
            <a:r>
              <a:rPr lang="zh-CN" altLang="en-US" sz="2800" dirty="0"/>
              <a:t>中分布式存储和负载均衡的最小单元</a:t>
            </a:r>
          </a:p>
          <a:p>
            <a:r>
              <a:rPr lang="zh-CN" altLang="en-US" sz="2800" dirty="0"/>
              <a:t>不同</a:t>
            </a:r>
            <a:r>
              <a:rPr lang="en-US" altLang="zh-CN" sz="2800" dirty="0"/>
              <a:t>Region</a:t>
            </a:r>
            <a:r>
              <a:rPr lang="zh-CN" altLang="en-US" sz="2800" dirty="0"/>
              <a:t>分布到不同</a:t>
            </a:r>
            <a:r>
              <a:rPr lang="en-US" altLang="zh-CN" sz="2800" dirty="0" err="1"/>
              <a:t>RegionServer</a:t>
            </a:r>
            <a:r>
              <a:rPr lang="zh-CN" altLang="en-US" sz="2800" dirty="0"/>
              <a:t>上</a:t>
            </a:r>
          </a:p>
        </p:txBody>
      </p:sp>
      <p:sp>
        <p:nvSpPr>
          <p:cNvPr id="2" name="标题 1"/>
          <p:cNvSpPr>
            <a:spLocks noGrp="1"/>
          </p:cNvSpPr>
          <p:nvPr>
            <p:ph type="title"/>
          </p:nvPr>
        </p:nvSpPr>
        <p:spPr/>
        <p:txBody>
          <a:bodyPr>
            <a:normAutofit fontScale="90000"/>
          </a:bodyPr>
          <a:lstStyle/>
          <a:p>
            <a:r>
              <a:rPr lang="en-US" altLang="zh-CN" dirty="0" err="1"/>
              <a:t>HBase</a:t>
            </a:r>
            <a:r>
              <a:rPr lang="zh-CN" altLang="en-US" dirty="0"/>
              <a:t>物理模型</a:t>
            </a:r>
          </a:p>
        </p:txBody>
      </p:sp>
      <p:pic>
        <p:nvPicPr>
          <p:cNvPr id="4" name="图片 3"/>
          <p:cNvPicPr>
            <a:picLocks noChangeAspect="1"/>
          </p:cNvPicPr>
          <p:nvPr/>
        </p:nvPicPr>
        <p:blipFill>
          <a:blip r:embed="rId3"/>
          <a:stretch>
            <a:fillRect/>
          </a:stretch>
        </p:blipFill>
        <p:spPr>
          <a:xfrm>
            <a:off x="3977640" y="2313006"/>
            <a:ext cx="4880610" cy="2715700"/>
          </a:xfrm>
          <a:prstGeom prst="rect">
            <a:avLst/>
          </a:prstGeom>
        </p:spPr>
      </p:pic>
      <p:sp>
        <p:nvSpPr>
          <p:cNvPr id="3" name="灯片编号占位符 2"/>
          <p:cNvSpPr>
            <a:spLocks noGrp="1"/>
          </p:cNvSpPr>
          <p:nvPr>
            <p:ph type="sldNum" sz="quarter" idx="11"/>
          </p:nvPr>
        </p:nvSpPr>
        <p:spPr/>
        <p:txBody>
          <a:bodyPr/>
          <a:lstStyle/>
          <a:p>
            <a:fld id="{0C913308-F349-4B6D-A68A-DD1791B4A57B}" type="slidenum">
              <a:rPr lang="zh-CN" altLang="en-US" smtClean="0"/>
              <a:t>14</a:t>
            </a:fld>
            <a:r>
              <a:rPr lang="en-US" altLang="zh-CN" dirty="0"/>
              <a:t>/28</a:t>
            </a:r>
            <a:endParaRPr lang="en-US" dirty="0"/>
          </a:p>
        </p:txBody>
      </p:sp>
    </p:spTree>
    <p:extLst>
      <p:ext uri="{BB962C8B-B14F-4D97-AF65-F5344CB8AC3E}">
        <p14:creationId xmlns:p14="http://schemas.microsoft.com/office/powerpoint/2010/main" val="1664082280"/>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93"/>
          <p:cNvSpPr>
            <a:spLocks noGrp="1"/>
          </p:cNvSpPr>
          <p:nvPr>
            <p:ph type="body" idx="1"/>
          </p:nvPr>
        </p:nvSpPr>
        <p:spPr>
          <a:xfrm>
            <a:off x="468312" y="1131886"/>
            <a:ext cx="8229601" cy="3394078"/>
          </a:xfrm>
          <a:prstGeom prst="rect">
            <a:avLst/>
          </a:prstGeom>
          <a:noFill/>
          <a:ln w="9525">
            <a:noFill/>
            <a:miter lim="800000"/>
          </a:ln>
        </p:spPr>
        <p:txBody>
          <a:bodyPr vert="horz" wrap="square" lIns="91440" tIns="45720" rIns="91440" bIns="45720" numCol="1" anchor="t" anchorCtr="0" compatLnSpc="1">
            <a:normAutofit fontScale="92500" lnSpcReduction="10000"/>
          </a:bodyPr>
          <a:lstStyle/>
          <a:p>
            <a:r>
              <a:rPr lang="en-US" altLang="zh-CN" dirty="0"/>
              <a:t>Region</a:t>
            </a:r>
            <a:r>
              <a:rPr lang="zh-CN" altLang="en-US" dirty="0"/>
              <a:t>虽然是分布式存储的最小单元，但并不是存储的最小单元</a:t>
            </a:r>
            <a:endParaRPr lang="en-US" altLang="zh-CN" dirty="0"/>
          </a:p>
          <a:p>
            <a:endParaRPr lang="zh-CN" altLang="en-US" dirty="0"/>
          </a:p>
          <a:p>
            <a:r>
              <a:rPr lang="en-US" altLang="zh-CN" dirty="0"/>
              <a:t>Region</a:t>
            </a:r>
            <a:r>
              <a:rPr lang="zh-CN" altLang="en-US" dirty="0"/>
              <a:t>由一个或者多个</a:t>
            </a:r>
            <a:r>
              <a:rPr lang="en-US" altLang="zh-CN" dirty="0"/>
              <a:t>Store</a:t>
            </a:r>
            <a:r>
              <a:rPr lang="zh-CN" altLang="en-US" dirty="0"/>
              <a:t>组成，每个</a:t>
            </a:r>
            <a:r>
              <a:rPr lang="en-US" altLang="zh-CN" dirty="0"/>
              <a:t>Store</a:t>
            </a:r>
            <a:r>
              <a:rPr lang="zh-CN" altLang="en-US" dirty="0"/>
              <a:t>保存一个</a:t>
            </a:r>
            <a:r>
              <a:rPr lang="en-US" altLang="zh-CN" dirty="0"/>
              <a:t>Column Family</a:t>
            </a:r>
            <a:r>
              <a:rPr lang="zh-CN" altLang="en-US" dirty="0"/>
              <a:t>；每个</a:t>
            </a:r>
            <a:r>
              <a:rPr lang="en-US" altLang="zh-CN" dirty="0"/>
              <a:t>Store</a:t>
            </a:r>
            <a:r>
              <a:rPr lang="zh-CN" altLang="en-US" dirty="0"/>
              <a:t>又由一个</a:t>
            </a:r>
            <a:r>
              <a:rPr lang="en-US" altLang="zh-CN" dirty="0" err="1"/>
              <a:t>MemStore</a:t>
            </a:r>
            <a:r>
              <a:rPr lang="zh-CN" altLang="en-US" dirty="0"/>
              <a:t>和</a:t>
            </a:r>
            <a:r>
              <a:rPr lang="en-US" altLang="zh-CN" dirty="0"/>
              <a:t>0</a:t>
            </a:r>
            <a:r>
              <a:rPr lang="zh-CN" altLang="en-US" dirty="0"/>
              <a:t>至多个</a:t>
            </a:r>
            <a:r>
              <a:rPr lang="en-US" altLang="zh-CN" dirty="0" err="1"/>
              <a:t>StoreFile</a:t>
            </a:r>
            <a:r>
              <a:rPr lang="zh-CN" altLang="en-US" dirty="0"/>
              <a:t>组成；</a:t>
            </a:r>
            <a:r>
              <a:rPr lang="en-US" altLang="zh-CN" dirty="0" err="1"/>
              <a:t>MemStore</a:t>
            </a:r>
            <a:r>
              <a:rPr lang="zh-CN" altLang="en-US" dirty="0"/>
              <a:t>存储在内存中，</a:t>
            </a:r>
            <a:r>
              <a:rPr lang="en-US" altLang="zh-CN" dirty="0" err="1"/>
              <a:t>StoreFile</a:t>
            </a:r>
            <a:r>
              <a:rPr lang="zh-CN" altLang="en-US" dirty="0"/>
              <a:t>存储在</a:t>
            </a:r>
            <a:r>
              <a:rPr lang="en-US" altLang="zh-CN" dirty="0"/>
              <a:t>HDFS</a:t>
            </a:r>
            <a:r>
              <a:rPr lang="zh-CN" altLang="en-US" dirty="0"/>
              <a:t>上</a:t>
            </a:r>
          </a:p>
        </p:txBody>
      </p:sp>
      <p:sp>
        <p:nvSpPr>
          <p:cNvPr id="2" name="标题 1"/>
          <p:cNvSpPr>
            <a:spLocks noGrp="1"/>
          </p:cNvSpPr>
          <p:nvPr>
            <p:ph type="title"/>
          </p:nvPr>
        </p:nvSpPr>
        <p:spPr/>
        <p:txBody>
          <a:bodyPr>
            <a:normAutofit fontScale="90000"/>
          </a:bodyPr>
          <a:lstStyle/>
          <a:p>
            <a:r>
              <a:rPr lang="en-US" altLang="zh-CN" dirty="0" err="1"/>
              <a:t>HBase</a:t>
            </a:r>
            <a:r>
              <a:rPr lang="zh-CN" altLang="en-US" dirty="0"/>
              <a:t>物理模型</a:t>
            </a:r>
          </a:p>
        </p:txBody>
      </p:sp>
      <p:sp>
        <p:nvSpPr>
          <p:cNvPr id="3" name="灯片编号占位符 2"/>
          <p:cNvSpPr>
            <a:spLocks noGrp="1"/>
          </p:cNvSpPr>
          <p:nvPr>
            <p:ph type="sldNum" sz="quarter" idx="11"/>
          </p:nvPr>
        </p:nvSpPr>
        <p:spPr/>
        <p:txBody>
          <a:bodyPr/>
          <a:lstStyle/>
          <a:p>
            <a:fld id="{0C913308-F349-4B6D-A68A-DD1791B4A57B}" type="slidenum">
              <a:rPr lang="zh-CN" altLang="en-US" smtClean="0"/>
              <a:t>15</a:t>
            </a:fld>
            <a:r>
              <a:rPr lang="en-US" altLang="zh-CN" dirty="0"/>
              <a:t>/28</a:t>
            </a:r>
            <a:endParaRPr lang="en-US" dirty="0"/>
          </a:p>
        </p:txBody>
      </p:sp>
    </p:spTree>
    <p:extLst>
      <p:ext uri="{BB962C8B-B14F-4D97-AF65-F5344CB8AC3E}">
        <p14:creationId xmlns:p14="http://schemas.microsoft.com/office/powerpoint/2010/main" val="208862017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HBase</a:t>
            </a:r>
            <a:r>
              <a:rPr lang="zh-CN" altLang="en-US" dirty="0"/>
              <a:t>物理模型</a:t>
            </a:r>
          </a:p>
        </p:txBody>
      </p:sp>
      <p:pic>
        <p:nvPicPr>
          <p:cNvPr id="4" name="图片 3"/>
          <p:cNvPicPr>
            <a:picLocks noChangeAspect="1"/>
          </p:cNvPicPr>
          <p:nvPr/>
        </p:nvPicPr>
        <p:blipFill>
          <a:blip r:embed="rId3"/>
          <a:stretch>
            <a:fillRect/>
          </a:stretch>
        </p:blipFill>
        <p:spPr>
          <a:xfrm>
            <a:off x="1194435" y="1433650"/>
            <a:ext cx="6755130" cy="3167884"/>
          </a:xfrm>
          <a:prstGeom prst="rect">
            <a:avLst/>
          </a:prstGeom>
        </p:spPr>
      </p:pic>
      <p:sp>
        <p:nvSpPr>
          <p:cNvPr id="3" name="灯片编号占位符 2"/>
          <p:cNvSpPr>
            <a:spLocks noGrp="1"/>
          </p:cNvSpPr>
          <p:nvPr>
            <p:ph type="sldNum" sz="quarter" idx="11"/>
          </p:nvPr>
        </p:nvSpPr>
        <p:spPr/>
        <p:txBody>
          <a:bodyPr/>
          <a:lstStyle/>
          <a:p>
            <a:fld id="{0C913308-F349-4B6D-A68A-DD1791B4A57B}" type="slidenum">
              <a:rPr lang="zh-CN" altLang="en-US" smtClean="0"/>
              <a:t>16</a:t>
            </a:fld>
            <a:r>
              <a:rPr lang="en-US" altLang="zh-CN" dirty="0"/>
              <a:t>/28</a:t>
            </a:r>
            <a:endParaRPr lang="en-US" dirty="0"/>
          </a:p>
        </p:txBody>
      </p:sp>
    </p:spTree>
    <p:extLst>
      <p:ext uri="{BB962C8B-B14F-4D97-AF65-F5344CB8AC3E}">
        <p14:creationId xmlns:p14="http://schemas.microsoft.com/office/powerpoint/2010/main" val="2324785374"/>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624937-1E38-477B-888F-11C804E0FF9F}"/>
              </a:ext>
            </a:extLst>
          </p:cNvPr>
          <p:cNvSpPr>
            <a:spLocks noGrp="1"/>
          </p:cNvSpPr>
          <p:nvPr>
            <p:ph type="title"/>
          </p:nvPr>
        </p:nvSpPr>
        <p:spPr/>
        <p:txBody>
          <a:bodyPr>
            <a:normAutofit fontScale="90000"/>
          </a:bodyPr>
          <a:lstStyle/>
          <a:p>
            <a:r>
              <a:rPr lang="en-US" altLang="zh-CN" dirty="0"/>
              <a:t>HBase</a:t>
            </a:r>
            <a:r>
              <a:rPr lang="zh-CN" altLang="en-US" dirty="0"/>
              <a:t>体系结构</a:t>
            </a:r>
          </a:p>
        </p:txBody>
      </p:sp>
      <p:sp>
        <p:nvSpPr>
          <p:cNvPr id="3" name="内容占位符 2">
            <a:extLst>
              <a:ext uri="{FF2B5EF4-FFF2-40B4-BE49-F238E27FC236}">
                <a16:creationId xmlns:a16="http://schemas.microsoft.com/office/drawing/2014/main" id="{8CB6C6A1-D73E-4C16-9DC9-FDFCCEE0FA83}"/>
              </a:ext>
            </a:extLst>
          </p:cNvPr>
          <p:cNvSpPr>
            <a:spLocks noGrp="1"/>
          </p:cNvSpPr>
          <p:nvPr>
            <p:ph idx="1"/>
          </p:nvPr>
        </p:nvSpPr>
        <p:spPr/>
        <p:txBody>
          <a:bodyPr/>
          <a:lstStyle/>
          <a:p>
            <a:endParaRPr lang="zh-CN" altLang="en-US"/>
          </a:p>
        </p:txBody>
      </p:sp>
      <p:pic>
        <p:nvPicPr>
          <p:cNvPr id="6" name="图片 5" descr="hbase">
            <a:extLst>
              <a:ext uri="{FF2B5EF4-FFF2-40B4-BE49-F238E27FC236}">
                <a16:creationId xmlns:a16="http://schemas.microsoft.com/office/drawing/2014/main" id="{7250AA9A-23D1-4D26-873D-451CE0D061B9}"/>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1025179"/>
            <a:ext cx="7848871" cy="3744416"/>
          </a:xfrm>
          <a:prstGeom prst="rect">
            <a:avLst/>
          </a:prstGeom>
          <a:noFill/>
          <a:ln>
            <a:noFill/>
          </a:ln>
        </p:spPr>
      </p:pic>
    </p:spTree>
    <p:extLst>
      <p:ext uri="{BB962C8B-B14F-4D97-AF65-F5344CB8AC3E}">
        <p14:creationId xmlns:p14="http://schemas.microsoft.com/office/powerpoint/2010/main" val="4252039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9ACE-7093-471C-9C85-C38B2A631B5C}"/>
              </a:ext>
            </a:extLst>
          </p:cNvPr>
          <p:cNvSpPr>
            <a:spLocks noGrp="1"/>
          </p:cNvSpPr>
          <p:nvPr>
            <p:ph type="title"/>
          </p:nvPr>
        </p:nvSpPr>
        <p:spPr/>
        <p:txBody>
          <a:bodyPr>
            <a:normAutofit fontScale="90000"/>
          </a:bodyPr>
          <a:lstStyle/>
          <a:p>
            <a:r>
              <a:rPr lang="en-US" altLang="zh-CN" dirty="0"/>
              <a:t>HBase</a:t>
            </a:r>
            <a:r>
              <a:rPr lang="zh-CN" altLang="en-US" dirty="0"/>
              <a:t>体系结构</a:t>
            </a:r>
          </a:p>
        </p:txBody>
      </p:sp>
      <p:sp>
        <p:nvSpPr>
          <p:cNvPr id="3" name="内容占位符 2">
            <a:extLst>
              <a:ext uri="{FF2B5EF4-FFF2-40B4-BE49-F238E27FC236}">
                <a16:creationId xmlns:a16="http://schemas.microsoft.com/office/drawing/2014/main" id="{7ECCAEF2-7D31-419F-9D6E-44E28603A73A}"/>
              </a:ext>
            </a:extLst>
          </p:cNvPr>
          <p:cNvSpPr>
            <a:spLocks noGrp="1"/>
          </p:cNvSpPr>
          <p:nvPr>
            <p:ph idx="1"/>
          </p:nvPr>
        </p:nvSpPr>
        <p:spPr>
          <a:xfrm>
            <a:off x="457200" y="1059583"/>
            <a:ext cx="8291264" cy="2736304"/>
          </a:xfrm>
        </p:spPr>
        <p:txBody>
          <a:bodyPr>
            <a:noAutofit/>
          </a:bodyPr>
          <a:lstStyle/>
          <a:p>
            <a:r>
              <a:rPr lang="en-US" altLang="zh-CN" sz="2800" dirty="0"/>
              <a:t>HBase</a:t>
            </a:r>
            <a:r>
              <a:rPr lang="zh-CN" altLang="en-US" sz="2800" dirty="0"/>
              <a:t>以</a:t>
            </a:r>
            <a:r>
              <a:rPr lang="en-US" altLang="zh-CN" sz="2800" dirty="0"/>
              <a:t>Hadoop HDFS</a:t>
            </a:r>
            <a:r>
              <a:rPr lang="zh-CN" altLang="en-US" sz="2800" dirty="0"/>
              <a:t>作为其文件存储系统，利用</a:t>
            </a:r>
            <a:r>
              <a:rPr lang="en-US" altLang="zh-CN" sz="2800" dirty="0"/>
              <a:t>Hadoop MapReduce</a:t>
            </a:r>
            <a:r>
              <a:rPr lang="zh-CN" altLang="en-US" sz="2800" dirty="0"/>
              <a:t>来处理</a:t>
            </a:r>
            <a:r>
              <a:rPr lang="en-US" altLang="zh-CN" sz="2800" dirty="0"/>
              <a:t>HBase</a:t>
            </a:r>
            <a:r>
              <a:rPr lang="zh-CN" altLang="en-US" sz="2800" dirty="0"/>
              <a:t>中的海量数据，利用</a:t>
            </a:r>
            <a:r>
              <a:rPr lang="en-US" altLang="zh-CN" sz="2800" dirty="0"/>
              <a:t>Zookeeper</a:t>
            </a:r>
            <a:r>
              <a:rPr lang="zh-CN" altLang="en-US" sz="2800" dirty="0"/>
              <a:t>作为协同</a:t>
            </a:r>
            <a:r>
              <a:rPr lang="zh-CN" altLang="en-US" sz="2800"/>
              <a:t>服务；</a:t>
            </a:r>
            <a:endParaRPr lang="en-US" altLang="zh-CN" sz="2800" dirty="0"/>
          </a:p>
        </p:txBody>
      </p:sp>
    </p:spTree>
    <p:extLst>
      <p:ext uri="{BB962C8B-B14F-4D97-AF65-F5344CB8AC3E}">
        <p14:creationId xmlns:p14="http://schemas.microsoft.com/office/powerpoint/2010/main" val="229212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9ACE-7093-471C-9C85-C38B2A631B5C}"/>
              </a:ext>
            </a:extLst>
          </p:cNvPr>
          <p:cNvSpPr>
            <a:spLocks noGrp="1"/>
          </p:cNvSpPr>
          <p:nvPr>
            <p:ph type="title"/>
          </p:nvPr>
        </p:nvSpPr>
        <p:spPr>
          <a:xfrm>
            <a:off x="144016" y="231490"/>
            <a:ext cx="3635896" cy="540060"/>
          </a:xfrm>
        </p:spPr>
        <p:txBody>
          <a:bodyPr>
            <a:normAutofit fontScale="90000"/>
          </a:bodyPr>
          <a:lstStyle/>
          <a:p>
            <a:r>
              <a:rPr lang="en-US" altLang="zh-CN" dirty="0"/>
              <a:t>HBase</a:t>
            </a:r>
            <a:r>
              <a:rPr lang="zh-CN" altLang="en-US" dirty="0"/>
              <a:t>体系结构</a:t>
            </a:r>
          </a:p>
        </p:txBody>
      </p:sp>
      <p:sp>
        <p:nvSpPr>
          <p:cNvPr id="3" name="内容占位符 2">
            <a:extLst>
              <a:ext uri="{FF2B5EF4-FFF2-40B4-BE49-F238E27FC236}">
                <a16:creationId xmlns:a16="http://schemas.microsoft.com/office/drawing/2014/main" id="{7ECCAEF2-7D31-419F-9D6E-44E28603A73A}"/>
              </a:ext>
            </a:extLst>
          </p:cNvPr>
          <p:cNvSpPr>
            <a:spLocks noGrp="1"/>
          </p:cNvSpPr>
          <p:nvPr>
            <p:ph idx="1"/>
          </p:nvPr>
        </p:nvSpPr>
        <p:spPr>
          <a:xfrm>
            <a:off x="457200" y="1059582"/>
            <a:ext cx="8435280" cy="3531839"/>
          </a:xfrm>
        </p:spPr>
        <p:txBody>
          <a:bodyPr>
            <a:noAutofit/>
          </a:bodyPr>
          <a:lstStyle/>
          <a:p>
            <a:r>
              <a:rPr lang="en-US" altLang="zh-CN" sz="2800"/>
              <a:t>HBase</a:t>
            </a:r>
            <a:r>
              <a:rPr lang="zh-CN" altLang="en-US" sz="2800" dirty="0"/>
              <a:t>由中心节点</a:t>
            </a:r>
            <a:r>
              <a:rPr lang="en-US" altLang="zh-CN" sz="2800" dirty="0" err="1"/>
              <a:t>HMaster</a:t>
            </a:r>
            <a:r>
              <a:rPr lang="zh-CN" altLang="en-US" sz="2800" dirty="0"/>
              <a:t>存储元数据，为</a:t>
            </a:r>
            <a:r>
              <a:rPr lang="en-US" altLang="zh-CN" sz="2800" dirty="0" err="1"/>
              <a:t>RegionServer</a:t>
            </a:r>
            <a:r>
              <a:rPr lang="zh-CN" altLang="en-US" sz="2800" dirty="0"/>
              <a:t>分配</a:t>
            </a:r>
            <a:r>
              <a:rPr lang="en-US" altLang="zh-CN" sz="2800" dirty="0"/>
              <a:t>Region</a:t>
            </a:r>
            <a:r>
              <a:rPr lang="zh-CN" altLang="en-US" sz="2800" dirty="0"/>
              <a:t>，维护整个集群的负载</a:t>
            </a:r>
            <a:r>
              <a:rPr lang="zh-CN" altLang="en-US" sz="2800"/>
              <a:t>均衡。</a:t>
            </a:r>
            <a:endParaRPr lang="en-US" altLang="zh-CN" sz="2800"/>
          </a:p>
          <a:p>
            <a:r>
              <a:rPr lang="zh-CN" altLang="en-US" sz="2800"/>
              <a:t>在</a:t>
            </a:r>
            <a:r>
              <a:rPr lang="zh-CN" altLang="en-US" sz="2800" dirty="0"/>
              <a:t>每个分布式节点中运行的</a:t>
            </a:r>
            <a:r>
              <a:rPr lang="en-US" altLang="zh-CN" sz="2800" dirty="0" err="1"/>
              <a:t>HRegionServer</a:t>
            </a:r>
            <a:r>
              <a:rPr lang="zh-CN" altLang="en-US" sz="2800" dirty="0"/>
              <a:t>实现本地</a:t>
            </a:r>
            <a:r>
              <a:rPr lang="en-US" altLang="zh-CN" sz="2800" dirty="0"/>
              <a:t>HBase</a:t>
            </a:r>
            <a:r>
              <a:rPr lang="zh-CN" altLang="en-US" sz="2800" dirty="0"/>
              <a:t>数据的管理，直接对接用户的读写请求，</a:t>
            </a:r>
            <a:r>
              <a:rPr lang="en-US" altLang="zh-CN" sz="2800" dirty="0" err="1"/>
              <a:t>HRegionServer</a:t>
            </a:r>
            <a:r>
              <a:rPr lang="zh-CN" altLang="en-US" sz="2800" dirty="0"/>
              <a:t>管理</a:t>
            </a:r>
            <a:r>
              <a:rPr lang="en-US" altLang="zh-CN" sz="2800" dirty="0"/>
              <a:t>Master</a:t>
            </a:r>
            <a:r>
              <a:rPr lang="zh-CN" altLang="en-US" sz="2800" dirty="0"/>
              <a:t>为其分配的</a:t>
            </a:r>
            <a:r>
              <a:rPr lang="en-US" altLang="zh-CN" sz="2800" dirty="0"/>
              <a:t>Region</a:t>
            </a:r>
            <a:r>
              <a:rPr lang="zh-CN" altLang="en-US" sz="2800" dirty="0"/>
              <a:t>，处理来自客户端的读写请求，负责和底层</a:t>
            </a:r>
            <a:r>
              <a:rPr lang="en-US" altLang="zh-CN" sz="2800" dirty="0"/>
              <a:t>HDFS</a:t>
            </a:r>
            <a:r>
              <a:rPr lang="zh-CN" altLang="en-US" sz="2800" dirty="0"/>
              <a:t>的交互和存储数据。</a:t>
            </a:r>
          </a:p>
        </p:txBody>
      </p:sp>
    </p:spTree>
    <p:extLst>
      <p:ext uri="{BB962C8B-B14F-4D97-AF65-F5344CB8AC3E}">
        <p14:creationId xmlns:p14="http://schemas.microsoft.com/office/powerpoint/2010/main" val="4134763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body" idx="1"/>
          </p:nvPr>
        </p:nvSpPr>
        <p:spPr>
          <a:xfrm>
            <a:off x="468312" y="1131886"/>
            <a:ext cx="8229601" cy="3394078"/>
          </a:xfrm>
          <a:prstGeom prst="rect">
            <a:avLst/>
          </a:prstGeom>
          <a:noFill/>
          <a:ln w="9525">
            <a:noFill/>
            <a:miter lim="800000"/>
          </a:ln>
        </p:spPr>
        <p:txBody>
          <a:bodyPr vert="horz" wrap="square" lIns="91440" tIns="45720" rIns="91440" bIns="45720" numCol="1" anchor="t" anchorCtr="0" compatLnSpc="1"/>
          <a:lstStyle/>
          <a:p>
            <a:r>
              <a:rPr lang="en-US" altLang="zh-CN" dirty="0"/>
              <a:t>Master</a:t>
            </a:r>
            <a:r>
              <a:rPr lang="zh-CN" altLang="en-US" dirty="0"/>
              <a:t>容错</a:t>
            </a:r>
            <a:endParaRPr lang="en-US" altLang="zh-CN" dirty="0"/>
          </a:p>
          <a:p>
            <a:endParaRPr lang="zh-CN" altLang="en-US" dirty="0"/>
          </a:p>
          <a:p>
            <a:r>
              <a:rPr lang="en-US" altLang="zh-CN" dirty="0" err="1"/>
              <a:t>RegionServer</a:t>
            </a:r>
            <a:r>
              <a:rPr lang="zh-CN" altLang="en-US" dirty="0"/>
              <a:t>容错</a:t>
            </a:r>
            <a:endParaRPr lang="en-US" altLang="zh-CN" dirty="0"/>
          </a:p>
          <a:p>
            <a:endParaRPr lang="zh-CN" altLang="en-US" dirty="0"/>
          </a:p>
          <a:p>
            <a:r>
              <a:rPr lang="en-US" altLang="zh-CN" dirty="0" err="1"/>
              <a:t>ZooKeeper</a:t>
            </a:r>
            <a:r>
              <a:rPr lang="zh-CN" altLang="en-US" dirty="0"/>
              <a:t>容错</a:t>
            </a:r>
          </a:p>
          <a:p>
            <a:pPr lvl="1"/>
            <a:endParaRPr lang="zh-CN" altLang="en-US" dirty="0"/>
          </a:p>
        </p:txBody>
      </p:sp>
      <p:sp>
        <p:nvSpPr>
          <p:cNvPr id="2" name="标题 1"/>
          <p:cNvSpPr>
            <a:spLocks noGrp="1"/>
          </p:cNvSpPr>
          <p:nvPr>
            <p:ph type="title"/>
          </p:nvPr>
        </p:nvSpPr>
        <p:spPr/>
        <p:txBody>
          <a:bodyPr>
            <a:normAutofit fontScale="90000"/>
          </a:bodyPr>
          <a:lstStyle/>
          <a:p>
            <a:r>
              <a:rPr lang="en-US" altLang="zh-CN" dirty="0" err="1">
                <a:sym typeface="+mn-ea"/>
              </a:rPr>
              <a:t>HBase</a:t>
            </a:r>
            <a:r>
              <a:rPr lang="zh-CN" altLang="en-US" dirty="0">
                <a:sym typeface="+mn-ea"/>
              </a:rPr>
              <a:t>容错性</a:t>
            </a:r>
            <a:endParaRPr lang="zh-CN" altLang="en-US" dirty="0"/>
          </a:p>
        </p:txBody>
      </p:sp>
      <p:sp>
        <p:nvSpPr>
          <p:cNvPr id="3" name="灯片编号占位符 2"/>
          <p:cNvSpPr>
            <a:spLocks noGrp="1"/>
          </p:cNvSpPr>
          <p:nvPr>
            <p:ph type="sldNum" sz="quarter" idx="11"/>
          </p:nvPr>
        </p:nvSpPr>
        <p:spPr/>
        <p:txBody>
          <a:bodyPr/>
          <a:lstStyle/>
          <a:p>
            <a:fld id="{0C913308-F349-4B6D-A68A-DD1791B4A57B}" type="slidenum">
              <a:rPr lang="zh-CN" altLang="en-US" smtClean="0"/>
              <a:t>20</a:t>
            </a:fld>
            <a:r>
              <a:rPr lang="en-US" altLang="zh-CN" dirty="0"/>
              <a:t>/28</a:t>
            </a:r>
            <a:endParaRPr lang="en-US" dirty="0"/>
          </a:p>
        </p:txBody>
      </p:sp>
    </p:spTree>
    <p:extLst>
      <p:ext uri="{BB962C8B-B14F-4D97-AF65-F5344CB8AC3E}">
        <p14:creationId xmlns:p14="http://schemas.microsoft.com/office/powerpoint/2010/main" val="2424681074"/>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A35EEC-24FF-4B98-A28A-8767AC04CD42}"/>
              </a:ext>
            </a:extLst>
          </p:cNvPr>
          <p:cNvSpPr>
            <a:spLocks noGrp="1"/>
          </p:cNvSpPr>
          <p:nvPr>
            <p:ph type="title"/>
          </p:nvPr>
        </p:nvSpPr>
        <p:spPr/>
        <p:txBody>
          <a:bodyPr>
            <a:normAutofit fontScale="90000"/>
          </a:bodyPr>
          <a:lstStyle/>
          <a:p>
            <a:r>
              <a:rPr lang="en-US" altLang="zh-CN" dirty="0"/>
              <a:t>HBase</a:t>
            </a:r>
            <a:r>
              <a:rPr lang="zh-CN" altLang="en-US" dirty="0"/>
              <a:t>的访问方式</a:t>
            </a:r>
          </a:p>
        </p:txBody>
      </p:sp>
      <p:sp>
        <p:nvSpPr>
          <p:cNvPr id="3" name="内容占位符 2">
            <a:extLst>
              <a:ext uri="{FF2B5EF4-FFF2-40B4-BE49-F238E27FC236}">
                <a16:creationId xmlns:a16="http://schemas.microsoft.com/office/drawing/2014/main" id="{CF9936F1-3C3A-4785-887D-F1C39ACA95AC}"/>
              </a:ext>
            </a:extLst>
          </p:cNvPr>
          <p:cNvSpPr>
            <a:spLocks noGrp="1"/>
          </p:cNvSpPr>
          <p:nvPr>
            <p:ph idx="1"/>
          </p:nvPr>
        </p:nvSpPr>
        <p:spPr>
          <a:xfrm>
            <a:off x="287524" y="915566"/>
            <a:ext cx="8568952" cy="4032448"/>
          </a:xfrm>
        </p:spPr>
        <p:txBody>
          <a:bodyPr>
            <a:noAutofit/>
          </a:bodyPr>
          <a:lstStyle/>
          <a:p>
            <a:pPr>
              <a:lnSpc>
                <a:spcPct val="130000"/>
              </a:lnSpc>
            </a:pPr>
            <a:r>
              <a:rPr lang="zh-CN" altLang="en-US" sz="2400" dirty="0"/>
              <a:t>最直接的方式是通过</a:t>
            </a:r>
            <a:r>
              <a:rPr lang="en-US" altLang="zh-CN" sz="2400" dirty="0"/>
              <a:t>HBase</a:t>
            </a:r>
            <a:r>
              <a:rPr lang="zh-CN" altLang="en-US" sz="2400" dirty="0"/>
              <a:t>的</a:t>
            </a:r>
            <a:r>
              <a:rPr lang="en-US" altLang="zh-CN" sz="2400" dirty="0"/>
              <a:t>Shell</a:t>
            </a:r>
            <a:r>
              <a:rPr lang="zh-CN" altLang="en-US" sz="2400" dirty="0"/>
              <a:t>实现与</a:t>
            </a:r>
            <a:r>
              <a:rPr lang="en-US" altLang="zh-CN" sz="2400" dirty="0"/>
              <a:t>HBase</a:t>
            </a:r>
            <a:r>
              <a:rPr lang="zh-CN" altLang="en-US" sz="2400" dirty="0"/>
              <a:t>的交互操作</a:t>
            </a:r>
            <a:endParaRPr lang="en-US" altLang="zh-CN" sz="2400" dirty="0"/>
          </a:p>
          <a:p>
            <a:pPr>
              <a:lnSpc>
                <a:spcPct val="130000"/>
              </a:lnSpc>
            </a:pPr>
            <a:r>
              <a:rPr lang="en-US" altLang="zh-CN" sz="2400" dirty="0"/>
              <a:t>Pig</a:t>
            </a:r>
            <a:r>
              <a:rPr lang="zh-CN" altLang="en-US" sz="2400" dirty="0"/>
              <a:t>和</a:t>
            </a:r>
            <a:r>
              <a:rPr lang="en-US" altLang="zh-CN" sz="2400" dirty="0"/>
              <a:t>Hive</a:t>
            </a:r>
            <a:r>
              <a:rPr lang="zh-CN" altLang="en-US" sz="2400" dirty="0"/>
              <a:t>还为</a:t>
            </a:r>
            <a:r>
              <a:rPr lang="en-US" altLang="zh-CN" sz="2400" dirty="0"/>
              <a:t>HBase</a:t>
            </a:r>
            <a:r>
              <a:rPr lang="zh-CN" altLang="en-US" sz="2400" dirty="0"/>
              <a:t>提供了高层语言支持，使得在</a:t>
            </a:r>
            <a:r>
              <a:rPr lang="en-US" altLang="zh-CN" sz="2400" dirty="0"/>
              <a:t>HBase</a:t>
            </a:r>
            <a:r>
              <a:rPr lang="zh-CN" altLang="en-US" sz="2400" dirty="0"/>
              <a:t>上进行数据统计处理变的非常简单</a:t>
            </a:r>
            <a:endParaRPr lang="en-US" altLang="zh-CN" sz="2400" dirty="0"/>
          </a:p>
          <a:p>
            <a:pPr>
              <a:lnSpc>
                <a:spcPct val="130000"/>
              </a:lnSpc>
            </a:pPr>
            <a:r>
              <a:rPr lang="en-US" altLang="zh-CN" sz="2400" dirty="0"/>
              <a:t>Sqoop</a:t>
            </a:r>
            <a:r>
              <a:rPr lang="zh-CN" altLang="en-US" sz="2400" dirty="0"/>
              <a:t>则为</a:t>
            </a:r>
            <a:r>
              <a:rPr lang="en-US" altLang="zh-CN" sz="2400" dirty="0"/>
              <a:t>HBase</a:t>
            </a:r>
            <a:r>
              <a:rPr lang="zh-CN" altLang="en-US" sz="2400" dirty="0"/>
              <a:t>提供了方便的</a:t>
            </a:r>
            <a:r>
              <a:rPr lang="en-US" altLang="zh-CN" sz="2400" dirty="0"/>
              <a:t>RDBMS</a:t>
            </a:r>
            <a:r>
              <a:rPr lang="zh-CN" altLang="en-US" sz="2400" dirty="0"/>
              <a:t>数据导入功能，使得传统数据库数据向</a:t>
            </a:r>
            <a:r>
              <a:rPr lang="en-US" altLang="zh-CN" sz="2400" dirty="0"/>
              <a:t>HBase</a:t>
            </a:r>
            <a:r>
              <a:rPr lang="zh-CN" altLang="en-US" sz="2400" dirty="0"/>
              <a:t>中迁移变的非常方便</a:t>
            </a:r>
            <a:endParaRPr lang="en-US" altLang="zh-CN" sz="2400" dirty="0"/>
          </a:p>
          <a:p>
            <a:pPr>
              <a:lnSpc>
                <a:spcPct val="130000"/>
              </a:lnSpc>
            </a:pPr>
            <a:r>
              <a:rPr lang="en-US" altLang="zh-CN" sz="2400" dirty="0"/>
              <a:t>HBase</a:t>
            </a:r>
            <a:r>
              <a:rPr lang="zh-CN" altLang="en-US" sz="2400" dirty="0"/>
              <a:t>为</a:t>
            </a:r>
            <a:r>
              <a:rPr lang="en-US" altLang="zh-CN" sz="2400" dirty="0"/>
              <a:t>Java</a:t>
            </a:r>
            <a:r>
              <a:rPr lang="zh-CN" altLang="en-US" sz="2400" dirty="0"/>
              <a:t>提供了丰富的类库以实现与</a:t>
            </a:r>
            <a:r>
              <a:rPr lang="en-US" altLang="zh-CN" sz="2400" dirty="0"/>
              <a:t>HBase</a:t>
            </a:r>
            <a:r>
              <a:rPr lang="zh-CN" altLang="en-US" sz="2400" dirty="0"/>
              <a:t>的交互操作，为了能够适应更加广泛的程序语言支持，</a:t>
            </a:r>
            <a:r>
              <a:rPr lang="en-US" altLang="zh-CN" sz="2400" dirty="0"/>
              <a:t>HBase</a:t>
            </a:r>
            <a:r>
              <a:rPr lang="zh-CN" altLang="en-US" sz="2400" dirty="0"/>
              <a:t>还提供</a:t>
            </a:r>
            <a:r>
              <a:rPr lang="en-US" altLang="zh-CN" sz="2400" dirty="0"/>
              <a:t>C/C++</a:t>
            </a:r>
            <a:r>
              <a:rPr lang="zh-CN" altLang="en-US" sz="2400" dirty="0"/>
              <a:t>语言的类库支持，提供了</a:t>
            </a:r>
            <a:r>
              <a:rPr lang="en-US" altLang="zh-CN" sz="2400" dirty="0" err="1"/>
              <a:t>Jython</a:t>
            </a:r>
            <a:r>
              <a:rPr lang="zh-CN" altLang="en-US" sz="2400" dirty="0"/>
              <a:t>与</a:t>
            </a:r>
            <a:r>
              <a:rPr lang="en-US" altLang="zh-CN" sz="2400" dirty="0"/>
              <a:t>HBase</a:t>
            </a:r>
            <a:r>
              <a:rPr lang="zh-CN" altLang="en-US" sz="2400" dirty="0"/>
              <a:t>的交互支持。</a:t>
            </a:r>
          </a:p>
        </p:txBody>
      </p:sp>
    </p:spTree>
    <p:extLst>
      <p:ext uri="{BB962C8B-B14F-4D97-AF65-F5344CB8AC3E}">
        <p14:creationId xmlns:p14="http://schemas.microsoft.com/office/powerpoint/2010/main" val="3599019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9ACE-7093-471C-9C85-C38B2A631B5C}"/>
              </a:ext>
            </a:extLst>
          </p:cNvPr>
          <p:cNvSpPr>
            <a:spLocks noGrp="1"/>
          </p:cNvSpPr>
          <p:nvPr>
            <p:ph type="title"/>
          </p:nvPr>
        </p:nvSpPr>
        <p:spPr>
          <a:xfrm>
            <a:off x="144016" y="231490"/>
            <a:ext cx="3635896" cy="540060"/>
          </a:xfrm>
        </p:spPr>
        <p:txBody>
          <a:bodyPr>
            <a:normAutofit fontScale="90000"/>
          </a:bodyPr>
          <a:lstStyle/>
          <a:p>
            <a:r>
              <a:rPr lang="en-US" altLang="zh-CN" dirty="0"/>
              <a:t>HBase</a:t>
            </a:r>
            <a:r>
              <a:rPr lang="zh-CN" altLang="en-US" dirty="0"/>
              <a:t>体系结构</a:t>
            </a:r>
          </a:p>
        </p:txBody>
      </p:sp>
      <p:sp>
        <p:nvSpPr>
          <p:cNvPr id="3" name="内容占位符 2">
            <a:extLst>
              <a:ext uri="{FF2B5EF4-FFF2-40B4-BE49-F238E27FC236}">
                <a16:creationId xmlns:a16="http://schemas.microsoft.com/office/drawing/2014/main" id="{7ECCAEF2-7D31-419F-9D6E-44E28603A73A}"/>
              </a:ext>
            </a:extLst>
          </p:cNvPr>
          <p:cNvSpPr>
            <a:spLocks noGrp="1"/>
          </p:cNvSpPr>
          <p:nvPr>
            <p:ph idx="1"/>
          </p:nvPr>
        </p:nvSpPr>
        <p:spPr>
          <a:xfrm>
            <a:off x="457200" y="1059582"/>
            <a:ext cx="8291264" cy="2952328"/>
          </a:xfrm>
        </p:spPr>
        <p:txBody>
          <a:bodyPr>
            <a:noAutofit/>
          </a:bodyPr>
          <a:lstStyle/>
          <a:p>
            <a:r>
              <a:rPr lang="en-US" altLang="zh-CN" b="1">
                <a:solidFill>
                  <a:srgbClr val="FF0000"/>
                </a:solidFill>
              </a:rPr>
              <a:t>Phoenix</a:t>
            </a:r>
            <a:r>
              <a:rPr lang="zh-CN" altLang="en-US"/>
              <a:t>：由</a:t>
            </a:r>
            <a:r>
              <a:rPr lang="en-US" altLang="zh-CN"/>
              <a:t>saleforce.com </a:t>
            </a:r>
            <a:r>
              <a:rPr lang="zh-CN" altLang="en-US"/>
              <a:t>开源的一个项目。</a:t>
            </a:r>
            <a:endParaRPr lang="en-US" altLang="zh-CN"/>
          </a:p>
          <a:p>
            <a:r>
              <a:rPr lang="zh-CN" altLang="en-US"/>
              <a:t>相当于外套一个</a:t>
            </a:r>
            <a:r>
              <a:rPr lang="en-US" altLang="zh-CN"/>
              <a:t>SQL</a:t>
            </a:r>
            <a:r>
              <a:rPr lang="zh-CN" altLang="en-US"/>
              <a:t>的皮肤。</a:t>
            </a:r>
            <a:endParaRPr lang="en-US" altLang="zh-CN"/>
          </a:p>
          <a:p>
            <a:r>
              <a:rPr lang="en-US" altLang="zh-CN"/>
              <a:t>Apache Phoenix </a:t>
            </a:r>
            <a:r>
              <a:rPr lang="zh-CN" altLang="en-US"/>
              <a:t>与其他</a:t>
            </a:r>
            <a:r>
              <a:rPr lang="en-US" altLang="zh-CN"/>
              <a:t>Hadoop </a:t>
            </a:r>
            <a:r>
              <a:rPr lang="zh-CN" altLang="en-US"/>
              <a:t>产品完全集成，如</a:t>
            </a:r>
            <a:r>
              <a:rPr lang="en-US" altLang="zh-CN"/>
              <a:t>Spark</a:t>
            </a:r>
            <a:r>
              <a:rPr lang="zh-CN" altLang="en-US"/>
              <a:t>，</a:t>
            </a:r>
            <a:r>
              <a:rPr lang="en-US" altLang="zh-CN"/>
              <a:t>Hive</a:t>
            </a:r>
            <a:r>
              <a:rPr lang="zh-CN" altLang="en-US"/>
              <a:t>，</a:t>
            </a:r>
            <a:r>
              <a:rPr lang="en-US" altLang="zh-CN"/>
              <a:t>Pig</a:t>
            </a:r>
            <a:r>
              <a:rPr lang="zh-CN" altLang="en-US"/>
              <a:t>，</a:t>
            </a:r>
            <a:r>
              <a:rPr lang="en-US" altLang="zh-CN"/>
              <a:t>Flume </a:t>
            </a:r>
            <a:r>
              <a:rPr lang="zh-CN" altLang="en-US"/>
              <a:t>和</a:t>
            </a:r>
            <a:r>
              <a:rPr lang="en-US" altLang="zh-CN"/>
              <a:t>MapReduce</a:t>
            </a:r>
            <a:r>
              <a:rPr lang="zh-CN" altLang="en-US"/>
              <a:t>。</a:t>
            </a:r>
            <a:endParaRPr lang="zh-CN" altLang="en-US" sz="2800" dirty="0"/>
          </a:p>
        </p:txBody>
      </p:sp>
    </p:spTree>
    <p:extLst>
      <p:ext uri="{BB962C8B-B14F-4D97-AF65-F5344CB8AC3E}">
        <p14:creationId xmlns:p14="http://schemas.microsoft.com/office/powerpoint/2010/main" val="216641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Hbase</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安装</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02</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安装前的准备</a:t>
            </a:r>
          </a:p>
        </p:txBody>
      </p:sp>
      <p:sp>
        <p:nvSpPr>
          <p:cNvPr id="4" name="Rectangle 3"/>
          <p:cNvSpPr>
            <a:spLocks noGrp="1" noChangeArrowheads="1"/>
          </p:cNvSpPr>
          <p:nvPr>
            <p:ph idx="1"/>
          </p:nvPr>
        </p:nvSpPr>
        <p:spPr>
          <a:xfrm>
            <a:off x="323528" y="1004665"/>
            <a:ext cx="7643192" cy="3079253"/>
          </a:xfrm>
        </p:spPr>
        <p:txBody>
          <a:bodyPr>
            <a:normAutofit/>
          </a:bodyPr>
          <a:lstStyle/>
          <a:p>
            <a:pPr>
              <a:lnSpc>
                <a:spcPct val="120000"/>
              </a:lnSpc>
            </a:pPr>
            <a:r>
              <a:rPr lang="zh-CN" altLang="en-US" sz="2400" dirty="0">
                <a:latin typeface="+mn-ea"/>
              </a:rPr>
              <a:t>确保已经安装好</a:t>
            </a:r>
            <a:r>
              <a:rPr lang="en-US" altLang="zh-CN" sz="2400" dirty="0">
                <a:latin typeface="+mn-ea"/>
              </a:rPr>
              <a:t>JDK</a:t>
            </a:r>
            <a:r>
              <a:rPr lang="zh-CN" altLang="en-US" sz="2400" dirty="0">
                <a:latin typeface="+mn-ea"/>
              </a:rPr>
              <a:t>环境</a:t>
            </a:r>
            <a:endParaRPr lang="en-US" altLang="zh-CN" sz="2400" dirty="0">
              <a:latin typeface="+mn-ea"/>
            </a:endParaRPr>
          </a:p>
          <a:p>
            <a:pPr>
              <a:lnSpc>
                <a:spcPct val="120000"/>
              </a:lnSpc>
            </a:pPr>
            <a:r>
              <a:rPr lang="zh-CN" altLang="en-US" sz="2400" dirty="0">
                <a:latin typeface="+mn-ea"/>
              </a:rPr>
              <a:t>登录</a:t>
            </a:r>
            <a:r>
              <a:rPr lang="en-US" altLang="zh-CN" sz="2400" dirty="0">
                <a:latin typeface="+mn-ea"/>
              </a:rPr>
              <a:t>Apache</a:t>
            </a:r>
            <a:r>
              <a:rPr lang="zh-CN" altLang="en-US" sz="2400" dirty="0">
                <a:latin typeface="+mn-ea"/>
              </a:rPr>
              <a:t>网站下载</a:t>
            </a:r>
            <a:r>
              <a:rPr lang="en-US" altLang="zh-CN" sz="2400">
                <a:latin typeface="+mn-ea"/>
              </a:rPr>
              <a:t>HBase</a:t>
            </a:r>
            <a:r>
              <a:rPr lang="zh-CN" altLang="en-US" sz="2400">
                <a:latin typeface="+mn-ea"/>
              </a:rPr>
              <a:t>（</a:t>
            </a:r>
            <a:r>
              <a:rPr lang="en-US" altLang="zh-CN" sz="2400">
                <a:latin typeface="+mn-ea"/>
              </a:rPr>
              <a:t>https://hbase.apache.org/</a:t>
            </a:r>
            <a:r>
              <a:rPr lang="zh-CN" altLang="en-US" sz="2400">
                <a:latin typeface="+mn-ea"/>
              </a:rPr>
              <a:t>），</a:t>
            </a:r>
            <a:r>
              <a:rPr lang="zh-CN" altLang="en-US" sz="2400" dirty="0">
                <a:latin typeface="+mn-ea"/>
              </a:rPr>
              <a:t>其中”</a:t>
            </a:r>
            <a:r>
              <a:rPr lang="en-US" altLang="zh-CN" sz="2400" dirty="0">
                <a:latin typeface="+mn-ea"/>
              </a:rPr>
              <a:t>src.tar.gz”</a:t>
            </a:r>
            <a:r>
              <a:rPr lang="zh-CN" altLang="en-US" sz="2400" dirty="0">
                <a:latin typeface="+mn-ea"/>
              </a:rPr>
              <a:t>结尾的文件表示</a:t>
            </a:r>
            <a:r>
              <a:rPr lang="en-US" altLang="zh-CN" sz="2400" dirty="0">
                <a:latin typeface="+mn-ea"/>
              </a:rPr>
              <a:t>HBase</a:t>
            </a:r>
            <a:r>
              <a:rPr lang="zh-CN" altLang="en-US" sz="2400" dirty="0">
                <a:latin typeface="+mn-ea"/>
              </a:rPr>
              <a:t>的源码，若用户仅仅要使用</a:t>
            </a:r>
            <a:r>
              <a:rPr lang="en-US" altLang="zh-CN" sz="2400" dirty="0">
                <a:latin typeface="+mn-ea"/>
              </a:rPr>
              <a:t>HBase</a:t>
            </a:r>
            <a:r>
              <a:rPr lang="zh-CN" altLang="en-US" sz="2400" dirty="0">
                <a:latin typeface="+mn-ea"/>
              </a:rPr>
              <a:t>，而不进行</a:t>
            </a:r>
            <a:r>
              <a:rPr lang="en-US" altLang="zh-CN" sz="2400" dirty="0">
                <a:latin typeface="+mn-ea"/>
              </a:rPr>
              <a:t>HBase</a:t>
            </a:r>
            <a:r>
              <a:rPr lang="zh-CN" altLang="en-US" sz="2400" dirty="0">
                <a:latin typeface="+mn-ea"/>
              </a:rPr>
              <a:t>的改进和开发，则只需下载”</a:t>
            </a:r>
            <a:r>
              <a:rPr lang="en-US" altLang="zh-CN" sz="2400" dirty="0">
                <a:latin typeface="+mn-ea"/>
              </a:rPr>
              <a:t>tar.gz“</a:t>
            </a:r>
            <a:r>
              <a:rPr lang="zh-CN" altLang="en-US" sz="2400" dirty="0">
                <a:latin typeface="+mn-ea"/>
              </a:rPr>
              <a:t>结尾的文件。</a:t>
            </a:r>
            <a:endParaRPr lang="en-US" altLang="zh-CN" sz="2400" dirty="0">
              <a:latin typeface="+mn-ea"/>
            </a:endParaRPr>
          </a:p>
        </p:txBody>
      </p:sp>
    </p:spTree>
    <p:extLst>
      <p:ext uri="{BB962C8B-B14F-4D97-AF65-F5344CB8AC3E}">
        <p14:creationId xmlns:p14="http://schemas.microsoft.com/office/powerpoint/2010/main" val="2642784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的安装</a:t>
            </a:r>
          </a:p>
        </p:txBody>
      </p:sp>
      <p:sp>
        <p:nvSpPr>
          <p:cNvPr id="4" name="Rectangle 3"/>
          <p:cNvSpPr>
            <a:spLocks noGrp="1" noChangeArrowheads="1"/>
          </p:cNvSpPr>
          <p:nvPr>
            <p:ph idx="1"/>
          </p:nvPr>
        </p:nvSpPr>
        <p:spPr>
          <a:xfrm>
            <a:off x="457200" y="987574"/>
            <a:ext cx="8147248" cy="3852428"/>
          </a:xfrm>
        </p:spPr>
        <p:txBody>
          <a:bodyPr>
            <a:normAutofit fontScale="85000" lnSpcReduction="20000"/>
          </a:bodyPr>
          <a:lstStyle/>
          <a:p>
            <a:pPr>
              <a:spcBef>
                <a:spcPts val="1200"/>
              </a:spcBef>
            </a:pPr>
            <a:r>
              <a:rPr lang="zh-CN" altLang="en-US" sz="2800" dirty="0"/>
              <a:t>步骤</a:t>
            </a:r>
            <a:r>
              <a:rPr lang="en-US" altLang="zh-CN" sz="2800" dirty="0"/>
              <a:t>1</a:t>
            </a:r>
            <a:r>
              <a:rPr lang="zh-CN" altLang="en-US" sz="2800" dirty="0"/>
              <a:t>：下载并解压文件</a:t>
            </a:r>
          </a:p>
          <a:p>
            <a:pPr lvl="1">
              <a:spcBef>
                <a:spcPts val="1200"/>
              </a:spcBef>
            </a:pPr>
            <a:r>
              <a:rPr lang="zh-CN" altLang="en-US" sz="2400" dirty="0"/>
              <a:t>下载了</a:t>
            </a:r>
            <a:r>
              <a:rPr lang="en-US" altLang="zh-CN" sz="2400" dirty="0"/>
              <a:t>HBase 3.0</a:t>
            </a:r>
            <a:r>
              <a:rPr lang="zh-CN" altLang="en-US" sz="2400" dirty="0"/>
              <a:t>版本，其对应文件为”</a:t>
            </a:r>
            <a:r>
              <a:rPr lang="en-US" altLang="zh-CN" sz="2400" dirty="0"/>
              <a:t>HBase-3.0.0-SNAPSHOT-bin.tar.gz”</a:t>
            </a:r>
            <a:r>
              <a:rPr lang="zh-CN" altLang="en-US" sz="2400" dirty="0"/>
              <a:t>，利用下面的命令进行解压。</a:t>
            </a:r>
          </a:p>
          <a:p>
            <a:pPr lvl="1">
              <a:spcBef>
                <a:spcPts val="1200"/>
              </a:spcBef>
            </a:pPr>
            <a:r>
              <a:rPr lang="en-US" altLang="zh-CN" sz="2400" dirty="0"/>
              <a:t>$ tar </a:t>
            </a:r>
            <a:r>
              <a:rPr lang="en-US" altLang="zh-CN" sz="2400" dirty="0" err="1"/>
              <a:t>xzvf</a:t>
            </a:r>
            <a:r>
              <a:rPr lang="en-US" altLang="zh-CN" sz="2400" dirty="0"/>
              <a:t> HBase-3.0.0-SNAPSHOT-bin.tar.gz</a:t>
            </a:r>
          </a:p>
          <a:p>
            <a:pPr lvl="1">
              <a:spcBef>
                <a:spcPts val="1200"/>
              </a:spcBef>
            </a:pPr>
            <a:r>
              <a:rPr lang="en-US" altLang="zh-CN" sz="2400" dirty="0"/>
              <a:t>$ cd HBase-3.0.0-SNAPSHOT/</a:t>
            </a:r>
          </a:p>
          <a:p>
            <a:pPr>
              <a:spcBef>
                <a:spcPts val="1200"/>
              </a:spcBef>
            </a:pPr>
            <a:r>
              <a:rPr lang="en-US" altLang="zh-CN" sz="2800" dirty="0"/>
              <a:t>2</a:t>
            </a:r>
            <a:r>
              <a:rPr lang="zh-CN" altLang="en-US" sz="2800" dirty="0"/>
              <a:t>．步骤</a:t>
            </a:r>
            <a:r>
              <a:rPr lang="en-US" altLang="zh-CN" sz="2800" dirty="0"/>
              <a:t>2</a:t>
            </a:r>
            <a:r>
              <a:rPr lang="zh-CN" altLang="en-US" sz="2800" dirty="0"/>
              <a:t>：配置</a:t>
            </a:r>
            <a:r>
              <a:rPr lang="en-US" altLang="zh-CN" sz="2800" dirty="0"/>
              <a:t>HBase</a:t>
            </a:r>
            <a:r>
              <a:rPr lang="zh-CN" altLang="en-US" sz="2800" dirty="0"/>
              <a:t>环境</a:t>
            </a:r>
          </a:p>
          <a:p>
            <a:pPr lvl="1">
              <a:spcBef>
                <a:spcPts val="1200"/>
              </a:spcBef>
            </a:pPr>
            <a:r>
              <a:rPr lang="zh-CN" altLang="en-US" sz="2400" dirty="0"/>
              <a:t>假设</a:t>
            </a:r>
            <a:r>
              <a:rPr lang="en-US" altLang="zh-CN" sz="2400" dirty="0"/>
              <a:t>Java</a:t>
            </a:r>
            <a:r>
              <a:rPr lang="zh-CN" altLang="en-US" sz="2400" dirty="0"/>
              <a:t>的安装路径为“ </a:t>
            </a:r>
            <a:r>
              <a:rPr lang="en-US" altLang="zh-CN" sz="2400" dirty="0"/>
              <a:t>/</a:t>
            </a:r>
            <a:r>
              <a:rPr lang="en-US" altLang="zh-CN" sz="2400" dirty="0" err="1"/>
              <a:t>usr</a:t>
            </a:r>
            <a:r>
              <a:rPr lang="en-US" altLang="zh-CN" sz="2400" dirty="0"/>
              <a:t>/local/servers/</a:t>
            </a:r>
            <a:r>
              <a:rPr lang="en-US" altLang="zh-CN" sz="2400" dirty="0" err="1"/>
              <a:t>jdk</a:t>
            </a:r>
            <a:r>
              <a:rPr lang="en-US" altLang="zh-CN" sz="2400" dirty="0"/>
              <a:t>”</a:t>
            </a:r>
            <a:r>
              <a:rPr lang="zh-CN" altLang="en-US" sz="2400" dirty="0"/>
              <a:t>，那么修改</a:t>
            </a:r>
            <a:r>
              <a:rPr lang="en-US" altLang="zh-CN" sz="2400" dirty="0"/>
              <a:t>HBase</a:t>
            </a:r>
            <a:r>
              <a:rPr lang="zh-CN" altLang="en-US" sz="2400" dirty="0"/>
              <a:t>的配置文件“</a:t>
            </a:r>
            <a:r>
              <a:rPr lang="en-US" altLang="zh-CN" sz="2400" dirty="0"/>
              <a:t>conf/HBase-env.sh”</a:t>
            </a:r>
            <a:r>
              <a:rPr lang="zh-CN" altLang="en-US" sz="2400" dirty="0"/>
              <a:t>如下所示。</a:t>
            </a:r>
          </a:p>
          <a:p>
            <a:pPr lvl="1">
              <a:spcBef>
                <a:spcPts val="1200"/>
              </a:spcBef>
            </a:pPr>
            <a:r>
              <a:rPr lang="en-US" altLang="zh-CN" sz="2400" dirty="0"/>
              <a:t># The java implementation to use.</a:t>
            </a:r>
          </a:p>
          <a:p>
            <a:pPr lvl="1">
              <a:spcBef>
                <a:spcPts val="1200"/>
              </a:spcBef>
            </a:pPr>
            <a:r>
              <a:rPr lang="en-US" altLang="zh-CN" sz="2400" dirty="0"/>
              <a:t>export JAVA_HOME=/</a:t>
            </a:r>
            <a:r>
              <a:rPr lang="en-US" altLang="zh-CN" sz="2400" dirty="0" err="1"/>
              <a:t>usr</a:t>
            </a:r>
            <a:r>
              <a:rPr lang="en-US" altLang="zh-CN" sz="2400" dirty="0"/>
              <a:t>/local/servers/</a:t>
            </a:r>
            <a:r>
              <a:rPr lang="en-US" altLang="zh-CN" sz="2400" dirty="0" err="1"/>
              <a:t>jdk</a:t>
            </a:r>
            <a:endParaRPr lang="en-US" altLang="zh-CN" sz="2400" dirty="0"/>
          </a:p>
        </p:txBody>
      </p:sp>
    </p:spTree>
    <p:extLst>
      <p:ext uri="{BB962C8B-B14F-4D97-AF65-F5344CB8AC3E}">
        <p14:creationId xmlns:p14="http://schemas.microsoft.com/office/powerpoint/2010/main" val="700156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的安装</a:t>
            </a:r>
          </a:p>
        </p:txBody>
      </p:sp>
      <p:sp>
        <p:nvSpPr>
          <p:cNvPr id="4" name="Rectangle 3"/>
          <p:cNvSpPr>
            <a:spLocks noGrp="1" noChangeArrowheads="1"/>
          </p:cNvSpPr>
          <p:nvPr>
            <p:ph idx="1"/>
          </p:nvPr>
        </p:nvSpPr>
        <p:spPr>
          <a:xfrm>
            <a:off x="457200" y="987574"/>
            <a:ext cx="4174490" cy="3852428"/>
          </a:xfrm>
        </p:spPr>
        <p:txBody>
          <a:bodyPr>
            <a:normAutofit/>
          </a:bodyPr>
          <a:lstStyle/>
          <a:p>
            <a:pPr>
              <a:spcBef>
                <a:spcPts val="1200"/>
              </a:spcBef>
            </a:pPr>
            <a:r>
              <a:rPr lang="en-US" altLang="zh-CN" sz="2800" dirty="0"/>
              <a:t>3</a:t>
            </a:r>
            <a:r>
              <a:rPr lang="zh-CN" altLang="en-US" sz="2800" dirty="0"/>
              <a:t>．步骤</a:t>
            </a:r>
            <a:r>
              <a:rPr lang="en-US" altLang="zh-CN" sz="2800" dirty="0"/>
              <a:t>3</a:t>
            </a:r>
            <a:r>
              <a:rPr lang="zh-CN" altLang="en-US" sz="2800" dirty="0"/>
              <a:t>：启动</a:t>
            </a:r>
            <a:r>
              <a:rPr lang="en-US" altLang="zh-CN" sz="2800" dirty="0"/>
              <a:t>HBase</a:t>
            </a:r>
          </a:p>
          <a:p>
            <a:pPr lvl="1">
              <a:spcBef>
                <a:spcPts val="1200"/>
              </a:spcBef>
            </a:pPr>
            <a:r>
              <a:rPr lang="zh-CN" altLang="en-US" sz="2400" dirty="0"/>
              <a:t>运行</a:t>
            </a:r>
            <a:r>
              <a:rPr lang="en-US" altLang="zh-CN" sz="2400" dirty="0"/>
              <a:t>HBase</a:t>
            </a:r>
            <a:r>
              <a:rPr lang="zh-CN" altLang="en-US" sz="2400" dirty="0"/>
              <a:t>的启动脚本文件</a:t>
            </a:r>
            <a:r>
              <a:rPr lang="en-US" altLang="zh-CN" sz="2400" dirty="0"/>
              <a:t>” bin</a:t>
            </a:r>
            <a:r>
              <a:rPr lang="en-US" altLang="zh-CN" sz="2400"/>
              <a:t>/start-hbase</a:t>
            </a:r>
            <a:r>
              <a:rPr lang="en-US" altLang="zh-CN" sz="2400" dirty="0"/>
              <a:t>.sh”</a:t>
            </a:r>
            <a:r>
              <a:rPr lang="zh-CN" altLang="en-US" sz="2400" dirty="0"/>
              <a:t>启动</a:t>
            </a:r>
            <a:r>
              <a:rPr lang="en-US" altLang="zh-CN" sz="2400" dirty="0"/>
              <a:t>HBase</a:t>
            </a:r>
            <a:r>
              <a:rPr lang="zh-CN" altLang="en-US" sz="2400" dirty="0"/>
              <a:t>，启动完成后，</a:t>
            </a:r>
            <a:r>
              <a:rPr lang="en-US" altLang="zh-CN" sz="2400" dirty="0"/>
              <a:t>HBase</a:t>
            </a:r>
            <a:r>
              <a:rPr lang="zh-CN" altLang="en-US" sz="2400" dirty="0"/>
              <a:t>将会显示成功运行信息，也可以登录” </a:t>
            </a:r>
            <a:r>
              <a:rPr lang="en-US" altLang="zh-CN" sz="2400" dirty="0"/>
              <a:t>http://localhost:16010 “</a:t>
            </a:r>
            <a:r>
              <a:rPr lang="zh-CN" altLang="en-US" sz="2400" dirty="0"/>
              <a:t>查看</a:t>
            </a:r>
            <a:r>
              <a:rPr lang="en-US" altLang="zh-CN" sz="2400" dirty="0"/>
              <a:t>HBase</a:t>
            </a:r>
            <a:r>
              <a:rPr lang="zh-CN" altLang="en-US" sz="2400" dirty="0"/>
              <a:t>的运行信息。</a:t>
            </a:r>
          </a:p>
        </p:txBody>
      </p:sp>
      <p:pic>
        <p:nvPicPr>
          <p:cNvPr id="5" name="图片 4">
            <a:extLst>
              <a:ext uri="{FF2B5EF4-FFF2-40B4-BE49-F238E27FC236}">
                <a16:creationId xmlns:a16="http://schemas.microsoft.com/office/drawing/2014/main" id="{5EF4451C-7A59-4428-A2A0-B7CF8BE37334}"/>
              </a:ext>
            </a:extLst>
          </p:cNvPr>
          <p:cNvPicPr/>
          <p:nvPr/>
        </p:nvPicPr>
        <p:blipFill>
          <a:blip r:embed="rId2"/>
          <a:stretch>
            <a:fillRect/>
          </a:stretch>
        </p:blipFill>
        <p:spPr>
          <a:xfrm>
            <a:off x="4716016" y="1491630"/>
            <a:ext cx="4318506" cy="2520280"/>
          </a:xfrm>
          <a:prstGeom prst="rect">
            <a:avLst/>
          </a:prstGeom>
        </p:spPr>
      </p:pic>
    </p:spTree>
    <p:extLst>
      <p:ext uri="{BB962C8B-B14F-4D97-AF65-F5344CB8AC3E}">
        <p14:creationId xmlns:p14="http://schemas.microsoft.com/office/powerpoint/2010/main" val="267959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HBase</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初探</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03</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normAutofit/>
          </a:bodyPr>
          <a:lstStyle/>
          <a:p>
            <a:pPr>
              <a:lnSpc>
                <a:spcPct val="150000"/>
              </a:lnSpc>
            </a:pPr>
            <a:r>
              <a:rPr lang="zh-CN" altLang="en-US" dirty="0"/>
              <a:t>假设</a:t>
            </a:r>
            <a:r>
              <a:rPr lang="en-US" altLang="zh-CN" dirty="0"/>
              <a:t>HBase</a:t>
            </a:r>
            <a:r>
              <a:rPr lang="zh-CN" altLang="en-US" dirty="0"/>
              <a:t>的安装目录为</a:t>
            </a:r>
            <a:r>
              <a:rPr lang="en-US" altLang="zh-CN" dirty="0"/>
              <a:t>$</a:t>
            </a:r>
            <a:r>
              <a:rPr lang="en-US" altLang="zh-CN" dirty="0" err="1"/>
              <a:t>HBase_HOME</a:t>
            </a:r>
            <a:r>
              <a:rPr lang="zh-CN" altLang="en-US" dirty="0"/>
              <a:t>，该示例具体操作步骤包括</a:t>
            </a:r>
            <a:r>
              <a:rPr lang="en-US" altLang="zh-CN" dirty="0"/>
              <a:t>HBase</a:t>
            </a:r>
            <a:r>
              <a:rPr lang="zh-CN" altLang="en-US" dirty="0"/>
              <a:t>的连接、</a:t>
            </a:r>
            <a:r>
              <a:rPr lang="en-US" altLang="zh-CN" dirty="0"/>
              <a:t>HBase</a:t>
            </a:r>
            <a:r>
              <a:rPr lang="zh-CN" altLang="en-US" dirty="0"/>
              <a:t>数据表的创建、查看、添加数据等。</a:t>
            </a:r>
            <a:endParaRPr lang="en-US" altLang="zh-CN" dirty="0"/>
          </a:p>
          <a:p>
            <a:pPr>
              <a:lnSpc>
                <a:spcPct val="150000"/>
              </a:lnSpc>
            </a:pPr>
            <a:endParaRPr lang="zh-CN" altLang="en-US" dirty="0"/>
          </a:p>
        </p:txBody>
      </p:sp>
    </p:spTree>
    <p:extLst>
      <p:ext uri="{BB962C8B-B14F-4D97-AF65-F5344CB8AC3E}">
        <p14:creationId xmlns:p14="http://schemas.microsoft.com/office/powerpoint/2010/main" val="15186060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normAutofit/>
          </a:bodyPr>
          <a:lstStyle/>
          <a:p>
            <a:r>
              <a:rPr lang="zh-CN" altLang="en-US" dirty="0"/>
              <a:t>步骤</a:t>
            </a:r>
            <a:r>
              <a:rPr lang="en-US" altLang="zh-CN" dirty="0"/>
              <a:t>1</a:t>
            </a:r>
            <a:r>
              <a:rPr lang="zh-CN" altLang="en-US" dirty="0"/>
              <a:t>：连接到</a:t>
            </a:r>
            <a:r>
              <a:rPr lang="en-US" altLang="zh-CN" dirty="0"/>
              <a:t>HBase</a:t>
            </a:r>
          </a:p>
          <a:p>
            <a:pPr lvl="1"/>
            <a:r>
              <a:rPr lang="zh-CN" altLang="en-US" dirty="0"/>
              <a:t>进入</a:t>
            </a:r>
            <a:r>
              <a:rPr lang="en-US" altLang="zh-CN" dirty="0"/>
              <a:t>$</a:t>
            </a:r>
            <a:r>
              <a:rPr lang="en-US" altLang="zh-CN" dirty="0" err="1"/>
              <a:t>HBase_HOME</a:t>
            </a:r>
            <a:r>
              <a:rPr lang="en-US" altLang="zh-CN" dirty="0"/>
              <a:t>/bin</a:t>
            </a:r>
            <a:r>
              <a:rPr lang="zh-CN" altLang="en-US" dirty="0"/>
              <a:t>文件夹，启动</a:t>
            </a:r>
            <a:r>
              <a:rPr lang="en-US" altLang="zh-CN" dirty="0"/>
              <a:t>HBase</a:t>
            </a:r>
          </a:p>
          <a:p>
            <a:endParaRPr lang="zh-CN" altLang="en-US" dirty="0"/>
          </a:p>
        </p:txBody>
      </p:sp>
      <p:pic>
        <p:nvPicPr>
          <p:cNvPr id="6" name="图片 5">
            <a:extLst>
              <a:ext uri="{FF2B5EF4-FFF2-40B4-BE49-F238E27FC236}">
                <a16:creationId xmlns:a16="http://schemas.microsoft.com/office/drawing/2014/main" id="{DA671E06-5CBB-45D3-A3E6-A92761BDFCC8}"/>
              </a:ext>
            </a:extLst>
          </p:cNvPr>
          <p:cNvPicPr>
            <a:picLocks noChangeAspect="1"/>
          </p:cNvPicPr>
          <p:nvPr/>
        </p:nvPicPr>
        <p:blipFill>
          <a:blip r:embed="rId2"/>
          <a:stretch>
            <a:fillRect/>
          </a:stretch>
        </p:blipFill>
        <p:spPr>
          <a:xfrm>
            <a:off x="0" y="2499742"/>
            <a:ext cx="9144000" cy="1971768"/>
          </a:xfrm>
          <a:prstGeom prst="rect">
            <a:avLst/>
          </a:prstGeom>
        </p:spPr>
      </p:pic>
    </p:spTree>
    <p:extLst>
      <p:ext uri="{BB962C8B-B14F-4D97-AF65-F5344CB8AC3E}">
        <p14:creationId xmlns:p14="http://schemas.microsoft.com/office/powerpoint/2010/main" val="631138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15724" y="1022954"/>
            <a:ext cx="8620771" cy="3997068"/>
          </a:xfrm>
        </p:spPr>
        <p:txBody>
          <a:bodyPr/>
          <a:lstStyle/>
          <a:p>
            <a:r>
              <a:rPr lang="zh-CN" altLang="en-US" sz="2800" dirty="0"/>
              <a:t>步骤</a:t>
            </a:r>
            <a:r>
              <a:rPr lang="en-US" altLang="zh-CN" sz="2800" dirty="0"/>
              <a:t>2</a:t>
            </a:r>
            <a:r>
              <a:rPr lang="zh-CN" altLang="en-US" sz="2800" dirty="0"/>
              <a:t>：创建数据表</a:t>
            </a:r>
            <a:endParaRPr lang="en-US" altLang="zh-CN" sz="2800" dirty="0"/>
          </a:p>
          <a:p>
            <a:pPr lvl="1"/>
            <a:r>
              <a:rPr lang="zh-CN" altLang="en-US" sz="2400"/>
              <a:t>数据表示例：</a:t>
            </a:r>
            <a:endParaRPr lang="en-US" altLang="zh-CN" sz="2400" dirty="0"/>
          </a:p>
          <a:p>
            <a:endParaRPr lang="zh-CN" altLang="en-US" dirty="0"/>
          </a:p>
        </p:txBody>
      </p:sp>
      <p:graphicFrame>
        <p:nvGraphicFramePr>
          <p:cNvPr id="4" name="表格 3">
            <a:extLst>
              <a:ext uri="{FF2B5EF4-FFF2-40B4-BE49-F238E27FC236}">
                <a16:creationId xmlns:a16="http://schemas.microsoft.com/office/drawing/2014/main" id="{AFCCFD1A-7378-4DEE-B892-029060743C45}"/>
              </a:ext>
            </a:extLst>
          </p:cNvPr>
          <p:cNvGraphicFramePr>
            <a:graphicFrameLocks noGrp="1"/>
          </p:cNvGraphicFramePr>
          <p:nvPr>
            <p:extLst>
              <p:ext uri="{D42A27DB-BD31-4B8C-83A1-F6EECF244321}">
                <p14:modId xmlns:p14="http://schemas.microsoft.com/office/powerpoint/2010/main" val="1890172039"/>
              </p:ext>
            </p:extLst>
          </p:nvPr>
        </p:nvGraphicFramePr>
        <p:xfrm>
          <a:off x="611560" y="2148086"/>
          <a:ext cx="8229600" cy="2628900"/>
        </p:xfrm>
        <a:graphic>
          <a:graphicData uri="http://schemas.openxmlformats.org/drawingml/2006/table">
            <a:tbl>
              <a:tblPr/>
              <a:tblGrid>
                <a:gridCol w="914400">
                  <a:extLst>
                    <a:ext uri="{9D8B030D-6E8A-4147-A177-3AD203B41FA5}">
                      <a16:colId xmlns:a16="http://schemas.microsoft.com/office/drawing/2014/main" val="2633787096"/>
                    </a:ext>
                  </a:extLst>
                </a:gridCol>
                <a:gridCol w="914400">
                  <a:extLst>
                    <a:ext uri="{9D8B030D-6E8A-4147-A177-3AD203B41FA5}">
                      <a16:colId xmlns:a16="http://schemas.microsoft.com/office/drawing/2014/main" val="3518048492"/>
                    </a:ext>
                  </a:extLst>
                </a:gridCol>
                <a:gridCol w="914400">
                  <a:extLst>
                    <a:ext uri="{9D8B030D-6E8A-4147-A177-3AD203B41FA5}">
                      <a16:colId xmlns:a16="http://schemas.microsoft.com/office/drawing/2014/main" val="2998321182"/>
                    </a:ext>
                  </a:extLst>
                </a:gridCol>
                <a:gridCol w="914400">
                  <a:extLst>
                    <a:ext uri="{9D8B030D-6E8A-4147-A177-3AD203B41FA5}">
                      <a16:colId xmlns:a16="http://schemas.microsoft.com/office/drawing/2014/main" val="2679832751"/>
                    </a:ext>
                  </a:extLst>
                </a:gridCol>
                <a:gridCol w="914400">
                  <a:extLst>
                    <a:ext uri="{9D8B030D-6E8A-4147-A177-3AD203B41FA5}">
                      <a16:colId xmlns:a16="http://schemas.microsoft.com/office/drawing/2014/main" val="2868564319"/>
                    </a:ext>
                  </a:extLst>
                </a:gridCol>
                <a:gridCol w="914400">
                  <a:extLst>
                    <a:ext uri="{9D8B030D-6E8A-4147-A177-3AD203B41FA5}">
                      <a16:colId xmlns:a16="http://schemas.microsoft.com/office/drawing/2014/main" val="390930915"/>
                    </a:ext>
                  </a:extLst>
                </a:gridCol>
                <a:gridCol w="914400">
                  <a:extLst>
                    <a:ext uri="{9D8B030D-6E8A-4147-A177-3AD203B41FA5}">
                      <a16:colId xmlns:a16="http://schemas.microsoft.com/office/drawing/2014/main" val="1789949834"/>
                    </a:ext>
                  </a:extLst>
                </a:gridCol>
                <a:gridCol w="914400">
                  <a:extLst>
                    <a:ext uri="{9D8B030D-6E8A-4147-A177-3AD203B41FA5}">
                      <a16:colId xmlns:a16="http://schemas.microsoft.com/office/drawing/2014/main" val="2431921248"/>
                    </a:ext>
                  </a:extLst>
                </a:gridCol>
                <a:gridCol w="914400">
                  <a:extLst>
                    <a:ext uri="{9D8B030D-6E8A-4147-A177-3AD203B41FA5}">
                      <a16:colId xmlns:a16="http://schemas.microsoft.com/office/drawing/2014/main" val="3301454370"/>
                    </a:ext>
                  </a:extLst>
                </a:gridCol>
              </a:tblGrid>
              <a:tr h="0">
                <a:tc gridSpan="9">
                  <a:txBody>
                    <a:bodyPr/>
                    <a:lstStyle/>
                    <a:p>
                      <a:r>
                        <a:rPr lang="zh-CN" altLang="en-US"/>
                        <a:t>示例：</a:t>
                      </a:r>
                      <a:r>
                        <a:rPr lang="en-US"/>
                        <a:t>Student </a:t>
                      </a:r>
                      <a:r>
                        <a:rPr lang="zh-CN" altLang="en-US"/>
                        <a:t>数据表</a:t>
                      </a:r>
                    </a:p>
                  </a:txBody>
                  <a:tcPr anchor="ctr">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85597912"/>
                  </a:ext>
                </a:extLst>
              </a:tr>
              <a:tr h="0">
                <a:tc rowSpan="2">
                  <a:txBody>
                    <a:bodyPr/>
                    <a:lstStyle/>
                    <a:p>
                      <a:r>
                        <a:rPr lang="zh-CN" altLang="en-US">
                          <a:solidFill>
                            <a:srgbClr val="444444"/>
                          </a:solidFill>
                          <a:effectLst/>
                        </a:rPr>
                        <a:t>行键</a:t>
                      </a:r>
                    </a:p>
                  </a:txBody>
                  <a:tcPr marL="31750" marR="31750" marT="44450" marB="444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B w="6350" cap="flat" cmpd="sng" algn="ctr">
                      <a:solidFill>
                        <a:srgbClr val="CCCCCC"/>
                      </a:solidFill>
                      <a:prstDash val="solid"/>
                      <a:round/>
                      <a:headEnd type="none" w="med" len="med"/>
                      <a:tailEnd type="none" w="med" len="med"/>
                    </a:lnB>
                    <a:solidFill>
                      <a:srgbClr val="EDEDED"/>
                    </a:solidFill>
                  </a:tcPr>
                </a:tc>
                <a:tc gridSpan="4">
                  <a:txBody>
                    <a:bodyPr/>
                    <a:lstStyle/>
                    <a:p>
                      <a:r>
                        <a:rPr lang="zh-CN" altLang="en-US">
                          <a:solidFill>
                            <a:srgbClr val="444444"/>
                          </a:solidFill>
                          <a:effectLst/>
                        </a:rPr>
                        <a:t>列族 </a:t>
                      </a:r>
                      <a:r>
                        <a:rPr lang="en-US">
                          <a:solidFill>
                            <a:srgbClr val="444444"/>
                          </a:solidFill>
                          <a:effectLst/>
                        </a:rPr>
                        <a:t>StuInfo</a:t>
                      </a:r>
                    </a:p>
                  </a:txBody>
                  <a:tcPr marL="31750" marR="31750" marT="44450" marB="444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D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r>
                        <a:rPr lang="zh-CN" altLang="en-US">
                          <a:solidFill>
                            <a:srgbClr val="444444"/>
                          </a:solidFill>
                          <a:effectLst/>
                        </a:rPr>
                        <a:t>列族 </a:t>
                      </a:r>
                      <a:r>
                        <a:rPr lang="en-US">
                          <a:solidFill>
                            <a:srgbClr val="444444"/>
                          </a:solidFill>
                          <a:effectLst/>
                        </a:rPr>
                        <a:t>Grades</a:t>
                      </a:r>
                    </a:p>
                  </a:txBody>
                  <a:tcPr marL="31750" marR="31750" marT="44450" marB="444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DED"/>
                    </a:solidFill>
                  </a:tcPr>
                </a:tc>
                <a:tc hMerge="1">
                  <a:txBody>
                    <a:bodyPr/>
                    <a:lstStyle/>
                    <a:p>
                      <a:endParaRPr lang="zh-CN" altLang="en-US"/>
                    </a:p>
                  </a:txBody>
                  <a:tcPr/>
                </a:tc>
                <a:tc hMerge="1">
                  <a:txBody>
                    <a:bodyPr/>
                    <a:lstStyle/>
                    <a:p>
                      <a:endParaRPr lang="zh-CN" altLang="en-US"/>
                    </a:p>
                  </a:txBody>
                  <a:tcPr/>
                </a:tc>
                <a:tc rowSpan="2">
                  <a:txBody>
                    <a:bodyPr/>
                    <a:lstStyle/>
                    <a:p>
                      <a:r>
                        <a:rPr lang="zh-CN" altLang="en-US">
                          <a:solidFill>
                            <a:srgbClr val="444444"/>
                          </a:solidFill>
                          <a:effectLst/>
                        </a:rPr>
                        <a:t>时间戳</a:t>
                      </a:r>
                    </a:p>
                  </a:txBody>
                  <a:tcPr marL="31750" marR="31750" marT="44450" marB="444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DEDED"/>
                    </a:solidFill>
                  </a:tcPr>
                </a:tc>
                <a:extLst>
                  <a:ext uri="{0D108BD9-81ED-4DB2-BD59-A6C34878D82A}">
                    <a16:rowId xmlns:a16="http://schemas.microsoft.com/office/drawing/2014/main" val="3930091124"/>
                  </a:ext>
                </a:extLst>
              </a:tr>
              <a:tr h="0">
                <a:tc vMerge="1">
                  <a:txBody>
                    <a:bodyPr/>
                    <a:lstStyle/>
                    <a:p>
                      <a:endParaRPr lang="zh-CN" altLang="en-US"/>
                    </a:p>
                  </a:txBody>
                  <a:tcPr/>
                </a:tc>
                <a:tc>
                  <a:txBody>
                    <a:bodyPr/>
                    <a:lstStyle/>
                    <a:p>
                      <a:r>
                        <a:rPr lang="en-US">
                          <a:effectLst/>
                        </a:rPr>
                        <a:t>Name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Age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Sex</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Class</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BigData</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Computer</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Math</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vMerge="1">
                  <a:txBody>
                    <a:bodyPr/>
                    <a:lstStyle/>
                    <a:p>
                      <a:endParaRPr lang="zh-CN" altLang="en-US"/>
                    </a:p>
                  </a:txBody>
                  <a:tcPr/>
                </a:tc>
                <a:extLst>
                  <a:ext uri="{0D108BD9-81ED-4DB2-BD59-A6C34878D82A}">
                    <a16:rowId xmlns:a16="http://schemas.microsoft.com/office/drawing/2014/main" val="3426190152"/>
                  </a:ext>
                </a:extLst>
              </a:tr>
              <a:tr h="0">
                <a:tc>
                  <a:txBody>
                    <a:bodyPr/>
                    <a:lstStyle/>
                    <a:p>
                      <a:r>
                        <a:rPr lang="en-US" altLang="zh-CN">
                          <a:effectLst/>
                        </a:rPr>
                        <a:t>0001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Tom Green</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18</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Male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80</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90</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85</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T2</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17736300"/>
                  </a:ext>
                </a:extLst>
              </a:tr>
              <a:tr h="0">
                <a:tc>
                  <a:txBody>
                    <a:bodyPr/>
                    <a:lstStyle/>
                    <a:p>
                      <a:r>
                        <a:rPr lang="en-US" altLang="zh-CN">
                          <a:effectLst/>
                        </a:rPr>
                        <a:t>0002</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Amy</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19</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01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95</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89</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T1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028975868"/>
                  </a:ext>
                </a:extLst>
              </a:tr>
              <a:tr h="0">
                <a:tc>
                  <a:txBody>
                    <a:bodyPr/>
                    <a:lstStyle/>
                    <a:p>
                      <a:r>
                        <a:rPr lang="en-US" altLang="zh-CN">
                          <a:effectLst/>
                        </a:rPr>
                        <a:t>0003</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Allen</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19</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Male</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02</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90</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zh-CN" altLang="en-US">
                          <a:effectLst/>
                        </a:rPr>
                        <a:t> </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ltLang="zh-CN">
                          <a:effectLst/>
                        </a:rPr>
                        <a:t>88</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r>
                        <a:rPr lang="en-US">
                          <a:effectLst/>
                        </a:rPr>
                        <a:t>T1</a:t>
                      </a:r>
                    </a:p>
                  </a:txBody>
                  <a:tcPr marL="31750" marR="31750" marT="31750" marB="3175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33908617"/>
                  </a:ext>
                </a:extLst>
              </a:tr>
            </a:tbl>
          </a:graphicData>
        </a:graphic>
      </p:graphicFrame>
      <p:sp>
        <p:nvSpPr>
          <p:cNvPr id="5" name="Rectangle 1">
            <a:extLst>
              <a:ext uri="{FF2B5EF4-FFF2-40B4-BE49-F238E27FC236}">
                <a16:creationId xmlns:a16="http://schemas.microsoft.com/office/drawing/2014/main" id="{252FFE38-0085-465A-8898-A0AABD40E8B8}"/>
              </a:ext>
            </a:extLst>
          </p:cNvPr>
          <p:cNvSpPr>
            <a:spLocks noChangeArrowheads="1"/>
          </p:cNvSpPr>
          <p:nvPr/>
        </p:nvSpPr>
        <p:spPr bwMode="auto">
          <a:xfrm>
            <a:off x="457200" y="1259573"/>
            <a:ext cx="9144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zh-CN" altLang="zh-CN" sz="1800" b="0" i="0" u="none" strike="noStrike" cap="none" normalizeH="0" baseline="0">
                <a:ln>
                  <a:noFill/>
                </a:ln>
                <a:solidFill>
                  <a:schemeClr val="tx1"/>
                </a:solidFill>
                <a:effectLst/>
                <a:latin typeface="Arial" panose="020B0604020202020204" pitchFamily="34" charset="0"/>
              </a:rPr>
            </a:b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1515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sz="2800" dirty="0"/>
              <a:t>步骤</a:t>
            </a:r>
            <a:r>
              <a:rPr lang="en-US" altLang="zh-CN" sz="2800" dirty="0"/>
              <a:t>2</a:t>
            </a:r>
            <a:r>
              <a:rPr lang="zh-CN" altLang="en-US" sz="2800" dirty="0"/>
              <a:t>：创建数据表</a:t>
            </a:r>
            <a:endParaRPr lang="en-US" altLang="zh-CN" sz="2800" dirty="0"/>
          </a:p>
          <a:p>
            <a:pPr lvl="1"/>
            <a:r>
              <a:rPr lang="zh-CN" altLang="en-US" sz="2400" dirty="0"/>
              <a:t>使用</a:t>
            </a:r>
            <a:r>
              <a:rPr lang="en-US" altLang="zh-CN" sz="2400" dirty="0"/>
              <a:t>CREATE</a:t>
            </a:r>
            <a:r>
              <a:rPr lang="zh-CN" altLang="en-US" sz="2400" dirty="0"/>
              <a:t>命令创建一个新</a:t>
            </a:r>
            <a:r>
              <a:rPr lang="zh-CN" altLang="en-US" sz="2400"/>
              <a:t>的数据表</a:t>
            </a:r>
            <a:endParaRPr lang="en-US" altLang="zh-CN" sz="2400"/>
          </a:p>
          <a:p>
            <a:pPr lvl="1"/>
            <a:endParaRPr lang="en-US" altLang="zh-CN" sz="2400"/>
          </a:p>
          <a:p>
            <a:pPr lvl="1"/>
            <a:r>
              <a:rPr lang="en-US" altLang="zh-CN"/>
              <a:t>create 'Student', 'StuInfo', 'Grades'</a:t>
            </a:r>
            <a:endParaRPr lang="en-US" altLang="zh-CN" sz="2400" dirty="0"/>
          </a:p>
          <a:p>
            <a:endParaRPr lang="zh-CN" altLang="en-US" dirty="0"/>
          </a:p>
        </p:txBody>
      </p:sp>
      <p:sp>
        <p:nvSpPr>
          <p:cNvPr id="4" name="矩形 3">
            <a:extLst>
              <a:ext uri="{FF2B5EF4-FFF2-40B4-BE49-F238E27FC236}">
                <a16:creationId xmlns:a16="http://schemas.microsoft.com/office/drawing/2014/main" id="{577023BE-D6E2-4570-AED9-88A142AAF520}"/>
              </a:ext>
            </a:extLst>
          </p:cNvPr>
          <p:cNvSpPr/>
          <p:nvPr/>
        </p:nvSpPr>
        <p:spPr>
          <a:xfrm>
            <a:off x="467544" y="3507854"/>
            <a:ext cx="7992888" cy="1477328"/>
          </a:xfrm>
          <a:prstGeom prst="rect">
            <a:avLst/>
          </a:prstGeom>
        </p:spPr>
        <p:txBody>
          <a:bodyPr wrap="square">
            <a:spAutoFit/>
          </a:bodyPr>
          <a:lstStyle/>
          <a:p>
            <a:r>
              <a:rPr lang="en-US" altLang="zh-CN">
                <a:latin typeface="Helvetica Neue"/>
              </a:rPr>
              <a:t>create 'Student', {NAME =&gt; 'Stulnfo', VERSIONS =&gt; 3}, {NAME =&gt;'Grades', VERSIONS =&gt;3}</a:t>
            </a:r>
          </a:p>
          <a:p>
            <a:r>
              <a:rPr lang="zh-CN" altLang="en-US"/>
              <a:t>大括号内是对列族的定义，</a:t>
            </a:r>
            <a:r>
              <a:rPr lang="en-US" altLang="zh-CN"/>
              <a:t>NAME</a:t>
            </a:r>
            <a:r>
              <a:rPr lang="zh-CN" altLang="en-US"/>
              <a:t>和</a:t>
            </a:r>
            <a:r>
              <a:rPr lang="en-US" altLang="zh-CN"/>
              <a:t>VERSION </a:t>
            </a:r>
            <a:r>
              <a:rPr lang="zh-CN" altLang="en-US"/>
              <a:t>是参数名，无须使用单引号，符号</a:t>
            </a:r>
            <a:r>
              <a:rPr lang="en-US" altLang="zh-CN"/>
              <a:t>=&gt;</a:t>
            </a:r>
            <a:r>
              <a:rPr lang="zh-CN" altLang="en-US"/>
              <a:t>表示将后面的值赋给指定参数。例如，</a:t>
            </a:r>
            <a:r>
              <a:rPr lang="en-US" altLang="zh-CN"/>
              <a:t>VERSIONS =&gt; 3</a:t>
            </a:r>
            <a:r>
              <a:rPr lang="zh-CN" altLang="en-US"/>
              <a:t>是指此单元格内的数据可以保留最近的 </a:t>
            </a:r>
            <a:r>
              <a:rPr lang="en-US" altLang="zh-CN"/>
              <a:t>3 </a:t>
            </a:r>
            <a:r>
              <a:rPr lang="zh-CN" altLang="en-US"/>
              <a:t>个版本。</a:t>
            </a:r>
          </a:p>
        </p:txBody>
      </p:sp>
    </p:spTree>
    <p:extLst>
      <p:ext uri="{BB962C8B-B14F-4D97-AF65-F5344CB8AC3E}">
        <p14:creationId xmlns:p14="http://schemas.microsoft.com/office/powerpoint/2010/main" val="2489599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3</a:t>
            </a:r>
            <a:r>
              <a:rPr lang="zh-CN" altLang="en-US" dirty="0"/>
              <a:t>：查看数据表信息</a:t>
            </a:r>
            <a:endParaRPr lang="en-US" altLang="zh-CN" dirty="0"/>
          </a:p>
          <a:p>
            <a:pPr lvl="1"/>
            <a:r>
              <a:rPr lang="zh-CN" altLang="en-US" dirty="0"/>
              <a:t>使用</a:t>
            </a:r>
            <a:r>
              <a:rPr lang="en-US" altLang="zh-CN" dirty="0"/>
              <a:t>list</a:t>
            </a:r>
            <a:r>
              <a:rPr lang="zh-CN" altLang="en-US" dirty="0"/>
              <a:t>命令查看所创建</a:t>
            </a:r>
            <a:r>
              <a:rPr lang="zh-CN" altLang="en-US"/>
              <a:t>的数据表</a:t>
            </a:r>
            <a:r>
              <a:rPr lang="en-US" altLang="zh-CN"/>
              <a:t>:</a:t>
            </a:r>
          </a:p>
          <a:p>
            <a:pPr lvl="1"/>
            <a:endParaRPr lang="en-US" altLang="zh-CN"/>
          </a:p>
          <a:p>
            <a:pPr lvl="1"/>
            <a:r>
              <a:rPr lang="en-US" altLang="zh-CN"/>
              <a:t>list 'Student'</a:t>
            </a:r>
            <a:endParaRPr lang="en-US" altLang="zh-CN" dirty="0"/>
          </a:p>
          <a:p>
            <a:endParaRPr lang="zh-CN" altLang="en-US" dirty="0"/>
          </a:p>
        </p:txBody>
      </p:sp>
      <p:pic>
        <p:nvPicPr>
          <p:cNvPr id="4" name="图片 3">
            <a:extLst>
              <a:ext uri="{FF2B5EF4-FFF2-40B4-BE49-F238E27FC236}">
                <a16:creationId xmlns:a16="http://schemas.microsoft.com/office/drawing/2014/main" id="{FED887B6-69AC-449F-9101-4D548D4D4A37}"/>
              </a:ext>
            </a:extLst>
          </p:cNvPr>
          <p:cNvPicPr>
            <a:picLocks noChangeAspect="1"/>
          </p:cNvPicPr>
          <p:nvPr/>
        </p:nvPicPr>
        <p:blipFill>
          <a:blip r:embed="rId2"/>
          <a:stretch>
            <a:fillRect/>
          </a:stretch>
        </p:blipFill>
        <p:spPr>
          <a:xfrm>
            <a:off x="1547664" y="3363838"/>
            <a:ext cx="3193803" cy="1080120"/>
          </a:xfrm>
          <a:prstGeom prst="rect">
            <a:avLst/>
          </a:prstGeom>
        </p:spPr>
      </p:pic>
    </p:spTree>
    <p:extLst>
      <p:ext uri="{BB962C8B-B14F-4D97-AF65-F5344CB8AC3E}">
        <p14:creationId xmlns:p14="http://schemas.microsoft.com/office/powerpoint/2010/main" val="1697140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3</a:t>
            </a:r>
            <a:r>
              <a:rPr lang="zh-CN" altLang="en-US" dirty="0"/>
              <a:t>：查看数据表信息</a:t>
            </a:r>
            <a:endParaRPr lang="en-US" altLang="zh-CN" dirty="0"/>
          </a:p>
          <a:p>
            <a:pPr lvl="1"/>
            <a:r>
              <a:rPr lang="zh-CN" altLang="en-US" dirty="0"/>
              <a:t>使用</a:t>
            </a:r>
            <a:r>
              <a:rPr lang="en-US" altLang="zh-CN" dirty="0"/>
              <a:t>describe</a:t>
            </a:r>
            <a:r>
              <a:rPr lang="zh-CN" altLang="en-US" dirty="0"/>
              <a:t>命令查看所创建</a:t>
            </a:r>
            <a:r>
              <a:rPr lang="zh-CN" altLang="en-US"/>
              <a:t>的数据</a:t>
            </a:r>
            <a:r>
              <a:rPr lang="en-US" altLang="zh-CN"/>
              <a:t>:</a:t>
            </a:r>
          </a:p>
          <a:p>
            <a:pPr lvl="1"/>
            <a:endParaRPr lang="en-US" altLang="zh-CN"/>
          </a:p>
          <a:p>
            <a:pPr lvl="1"/>
            <a:r>
              <a:rPr lang="en-US" altLang="zh-CN"/>
              <a:t>describe 'Student'</a:t>
            </a:r>
            <a:endParaRPr lang="en-US" altLang="zh-CN" dirty="0"/>
          </a:p>
          <a:p>
            <a:endParaRPr lang="zh-CN" altLang="en-US" dirty="0"/>
          </a:p>
        </p:txBody>
      </p:sp>
      <p:pic>
        <p:nvPicPr>
          <p:cNvPr id="4" name="图片 3">
            <a:extLst>
              <a:ext uri="{FF2B5EF4-FFF2-40B4-BE49-F238E27FC236}">
                <a16:creationId xmlns:a16="http://schemas.microsoft.com/office/drawing/2014/main" id="{11C012BC-AE5C-41F2-BCD5-D1633CD6633A}"/>
              </a:ext>
            </a:extLst>
          </p:cNvPr>
          <p:cNvPicPr>
            <a:picLocks noChangeAspect="1"/>
          </p:cNvPicPr>
          <p:nvPr/>
        </p:nvPicPr>
        <p:blipFill>
          <a:blip r:embed="rId2"/>
          <a:stretch>
            <a:fillRect/>
          </a:stretch>
        </p:blipFill>
        <p:spPr>
          <a:xfrm>
            <a:off x="107504" y="3363838"/>
            <a:ext cx="9144000" cy="1124686"/>
          </a:xfrm>
          <a:prstGeom prst="rect">
            <a:avLst/>
          </a:prstGeom>
        </p:spPr>
      </p:pic>
    </p:spTree>
    <p:extLst>
      <p:ext uri="{BB962C8B-B14F-4D97-AF65-F5344CB8AC3E}">
        <p14:creationId xmlns:p14="http://schemas.microsoft.com/office/powerpoint/2010/main" val="32487901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4</a:t>
            </a:r>
            <a:r>
              <a:rPr lang="zh-CN" altLang="en-US" dirty="0"/>
              <a:t>：添加数据</a:t>
            </a:r>
            <a:endParaRPr lang="en-US" altLang="zh-CN" dirty="0"/>
          </a:p>
          <a:p>
            <a:pPr lvl="1"/>
            <a:r>
              <a:rPr lang="zh-CN" altLang="en-US" dirty="0"/>
              <a:t>使用</a:t>
            </a:r>
            <a:r>
              <a:rPr lang="en-US" altLang="zh-CN" dirty="0"/>
              <a:t>put</a:t>
            </a:r>
            <a:r>
              <a:rPr lang="zh-CN" altLang="en-US" dirty="0"/>
              <a:t>命令向数据表中</a:t>
            </a:r>
            <a:r>
              <a:rPr lang="zh-CN" altLang="en-US"/>
              <a:t>添加数据</a:t>
            </a:r>
            <a:r>
              <a:rPr lang="en-US" altLang="zh-CN"/>
              <a:t>:</a:t>
            </a:r>
          </a:p>
          <a:p>
            <a:pPr lvl="1"/>
            <a:r>
              <a:rPr lang="en-US" altLang="zh-CN"/>
              <a:t>put 'Student', '001', 'StuInfo:Name', 'Amy'</a:t>
            </a:r>
            <a:endParaRPr lang="en-US" altLang="zh-CN" dirty="0"/>
          </a:p>
          <a:p>
            <a:endParaRPr lang="zh-CN" altLang="en-US" dirty="0"/>
          </a:p>
        </p:txBody>
      </p:sp>
    </p:spTree>
    <p:extLst>
      <p:ext uri="{BB962C8B-B14F-4D97-AF65-F5344CB8AC3E}">
        <p14:creationId xmlns:p14="http://schemas.microsoft.com/office/powerpoint/2010/main" val="1253857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5</a:t>
            </a:r>
            <a:r>
              <a:rPr lang="zh-CN" altLang="en-US" dirty="0"/>
              <a:t>：查看数据信息</a:t>
            </a:r>
            <a:endParaRPr lang="en-US" altLang="zh-CN" dirty="0"/>
          </a:p>
          <a:p>
            <a:pPr lvl="1"/>
            <a:r>
              <a:rPr lang="zh-CN" altLang="en-US" dirty="0"/>
              <a:t>使用</a:t>
            </a:r>
            <a:r>
              <a:rPr lang="en-US" altLang="zh-CN" dirty="0"/>
              <a:t>scan</a:t>
            </a:r>
            <a:r>
              <a:rPr lang="zh-CN" altLang="en-US" dirty="0"/>
              <a:t>命令可以查看数据表中</a:t>
            </a:r>
            <a:r>
              <a:rPr lang="zh-CN" altLang="en-US"/>
              <a:t>的数据</a:t>
            </a:r>
            <a:endParaRPr lang="en-US" altLang="zh-CN"/>
          </a:p>
          <a:p>
            <a:pPr lvl="1"/>
            <a:endParaRPr lang="en-US" altLang="zh-CN"/>
          </a:p>
          <a:p>
            <a:pPr lvl="1"/>
            <a:r>
              <a:rPr lang="en-US" altLang="zh-CN"/>
              <a:t>scan 'Student'</a:t>
            </a:r>
            <a:endParaRPr lang="en-US" altLang="zh-CN" dirty="0"/>
          </a:p>
          <a:p>
            <a:endParaRPr lang="zh-CN" altLang="en-US" dirty="0"/>
          </a:p>
        </p:txBody>
      </p:sp>
      <p:pic>
        <p:nvPicPr>
          <p:cNvPr id="5" name="图片 4">
            <a:extLst>
              <a:ext uri="{FF2B5EF4-FFF2-40B4-BE49-F238E27FC236}">
                <a16:creationId xmlns:a16="http://schemas.microsoft.com/office/drawing/2014/main" id="{FF6313E6-EEE5-48C1-9D63-9F194C8B13CD}"/>
              </a:ext>
            </a:extLst>
          </p:cNvPr>
          <p:cNvPicPr>
            <a:picLocks noChangeAspect="1"/>
          </p:cNvPicPr>
          <p:nvPr/>
        </p:nvPicPr>
        <p:blipFill>
          <a:blip r:embed="rId2"/>
          <a:stretch>
            <a:fillRect/>
          </a:stretch>
        </p:blipFill>
        <p:spPr>
          <a:xfrm>
            <a:off x="251520" y="3507854"/>
            <a:ext cx="8678219" cy="656660"/>
          </a:xfrm>
          <a:prstGeom prst="rect">
            <a:avLst/>
          </a:prstGeom>
        </p:spPr>
      </p:pic>
    </p:spTree>
    <p:extLst>
      <p:ext uri="{BB962C8B-B14F-4D97-AF65-F5344CB8AC3E}">
        <p14:creationId xmlns:p14="http://schemas.microsoft.com/office/powerpoint/2010/main" val="3340263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6</a:t>
            </a:r>
            <a:r>
              <a:rPr lang="zh-CN" altLang="en-US" dirty="0"/>
              <a:t>：获取一行数据</a:t>
            </a:r>
            <a:endParaRPr lang="en-US" altLang="zh-CN" dirty="0"/>
          </a:p>
          <a:p>
            <a:pPr lvl="1"/>
            <a:r>
              <a:rPr lang="zh-CN" altLang="en-US" dirty="0"/>
              <a:t>使用</a:t>
            </a:r>
            <a:r>
              <a:rPr lang="en-US" altLang="zh-CN" dirty="0"/>
              <a:t>get</a:t>
            </a:r>
            <a:r>
              <a:rPr lang="zh-CN" altLang="en-US" dirty="0"/>
              <a:t>命令可以获取指定</a:t>
            </a:r>
            <a:r>
              <a:rPr lang="zh-CN" altLang="en-US"/>
              <a:t>行数据</a:t>
            </a:r>
            <a:endParaRPr lang="en-US" altLang="zh-CN"/>
          </a:p>
          <a:p>
            <a:pPr lvl="1"/>
            <a:endParaRPr lang="en-US" altLang="zh-CN"/>
          </a:p>
          <a:p>
            <a:pPr lvl="1"/>
            <a:r>
              <a:rPr lang="en-US" altLang="zh-CN"/>
              <a:t>get 'Student', '001'</a:t>
            </a:r>
            <a:endParaRPr lang="zh-CN" altLang="en-US" dirty="0"/>
          </a:p>
        </p:txBody>
      </p:sp>
    </p:spTree>
    <p:extLst>
      <p:ext uri="{BB962C8B-B14F-4D97-AF65-F5344CB8AC3E}">
        <p14:creationId xmlns:p14="http://schemas.microsoft.com/office/powerpoint/2010/main" val="19613264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7</a:t>
            </a:r>
            <a:r>
              <a:rPr lang="zh-CN" altLang="en-US" dirty="0"/>
              <a:t>：停用数据表</a:t>
            </a:r>
            <a:endParaRPr lang="en-US" altLang="zh-CN" dirty="0"/>
          </a:p>
          <a:p>
            <a:pPr lvl="1"/>
            <a:r>
              <a:rPr lang="zh-CN" altLang="en-US" dirty="0"/>
              <a:t>数据表的停用</a:t>
            </a:r>
            <a:endParaRPr lang="en-US" altLang="zh-CN" dirty="0"/>
          </a:p>
          <a:p>
            <a:pPr lvl="1"/>
            <a:endParaRPr lang="en-US" altLang="zh-CN" dirty="0"/>
          </a:p>
          <a:p>
            <a:pPr lvl="1"/>
            <a:endParaRPr lang="en-US" altLang="zh-CN" dirty="0"/>
          </a:p>
          <a:p>
            <a:pPr lvl="1"/>
            <a:r>
              <a:rPr lang="zh-CN" altLang="en-US" dirty="0"/>
              <a:t>重新启用</a:t>
            </a:r>
          </a:p>
        </p:txBody>
      </p:sp>
      <p:pic>
        <p:nvPicPr>
          <p:cNvPr id="4" name="图片 3">
            <a:extLst>
              <a:ext uri="{FF2B5EF4-FFF2-40B4-BE49-F238E27FC236}">
                <a16:creationId xmlns:a16="http://schemas.microsoft.com/office/drawing/2014/main" id="{6EE1045A-99F7-4F3C-A2E9-D595BDD8F056}"/>
              </a:ext>
            </a:extLst>
          </p:cNvPr>
          <p:cNvPicPr>
            <a:picLocks noChangeAspect="1"/>
          </p:cNvPicPr>
          <p:nvPr/>
        </p:nvPicPr>
        <p:blipFill>
          <a:blip r:embed="rId2"/>
          <a:stretch>
            <a:fillRect/>
          </a:stretch>
        </p:blipFill>
        <p:spPr>
          <a:xfrm>
            <a:off x="971600" y="2361089"/>
            <a:ext cx="7933612" cy="675521"/>
          </a:xfrm>
          <a:prstGeom prst="rect">
            <a:avLst/>
          </a:prstGeom>
        </p:spPr>
      </p:pic>
      <p:pic>
        <p:nvPicPr>
          <p:cNvPr id="5" name="图片 4">
            <a:extLst>
              <a:ext uri="{FF2B5EF4-FFF2-40B4-BE49-F238E27FC236}">
                <a16:creationId xmlns:a16="http://schemas.microsoft.com/office/drawing/2014/main" id="{E74A9788-D7C5-470D-B48F-7926C52843C7}"/>
              </a:ext>
            </a:extLst>
          </p:cNvPr>
          <p:cNvPicPr>
            <a:picLocks noChangeAspect="1"/>
          </p:cNvPicPr>
          <p:nvPr/>
        </p:nvPicPr>
        <p:blipFill>
          <a:blip r:embed="rId3"/>
          <a:stretch>
            <a:fillRect/>
          </a:stretch>
        </p:blipFill>
        <p:spPr>
          <a:xfrm>
            <a:off x="955993" y="3960228"/>
            <a:ext cx="6276529" cy="611762"/>
          </a:xfrm>
          <a:prstGeom prst="rect">
            <a:avLst/>
          </a:prstGeom>
        </p:spPr>
      </p:pic>
    </p:spTree>
    <p:extLst>
      <p:ext uri="{BB962C8B-B14F-4D97-AF65-F5344CB8AC3E}">
        <p14:creationId xmlns:p14="http://schemas.microsoft.com/office/powerpoint/2010/main" val="3905268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8</a:t>
            </a:r>
            <a:r>
              <a:rPr lang="zh-CN" altLang="en-US" dirty="0"/>
              <a:t>：删除数据表</a:t>
            </a:r>
            <a:endParaRPr lang="en-US" altLang="zh-CN" dirty="0"/>
          </a:p>
          <a:p>
            <a:pPr lvl="1"/>
            <a:r>
              <a:rPr lang="zh-CN" altLang="en-US" dirty="0"/>
              <a:t>使用</a:t>
            </a:r>
            <a:r>
              <a:rPr lang="en-US" altLang="zh-CN" dirty="0"/>
              <a:t>drop</a:t>
            </a:r>
            <a:r>
              <a:rPr lang="zh-CN" altLang="en-US" dirty="0"/>
              <a:t>命令删除表</a:t>
            </a:r>
          </a:p>
        </p:txBody>
      </p:sp>
      <p:pic>
        <p:nvPicPr>
          <p:cNvPr id="6" name="图片 5">
            <a:extLst>
              <a:ext uri="{FF2B5EF4-FFF2-40B4-BE49-F238E27FC236}">
                <a16:creationId xmlns:a16="http://schemas.microsoft.com/office/drawing/2014/main" id="{01DC8DF1-78AC-4C3F-8CF4-7395C49809C4}"/>
              </a:ext>
            </a:extLst>
          </p:cNvPr>
          <p:cNvPicPr>
            <a:picLocks noChangeAspect="1"/>
          </p:cNvPicPr>
          <p:nvPr/>
        </p:nvPicPr>
        <p:blipFill>
          <a:blip r:embed="rId2"/>
          <a:stretch>
            <a:fillRect/>
          </a:stretch>
        </p:blipFill>
        <p:spPr>
          <a:xfrm>
            <a:off x="0" y="2560941"/>
            <a:ext cx="9144000" cy="1538912"/>
          </a:xfrm>
          <a:prstGeom prst="rect">
            <a:avLst/>
          </a:prstGeom>
        </p:spPr>
      </p:pic>
    </p:spTree>
    <p:extLst>
      <p:ext uri="{BB962C8B-B14F-4D97-AF65-F5344CB8AC3E}">
        <p14:creationId xmlns:p14="http://schemas.microsoft.com/office/powerpoint/2010/main" val="32554712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lstStyle/>
          <a:p>
            <a:r>
              <a:rPr lang="zh-CN" altLang="en-US" dirty="0"/>
              <a:t>步骤</a:t>
            </a:r>
            <a:r>
              <a:rPr lang="en-US" altLang="zh-CN" dirty="0"/>
              <a:t>9</a:t>
            </a:r>
            <a:r>
              <a:rPr lang="zh-CN" altLang="en-US" dirty="0"/>
              <a:t>：退出</a:t>
            </a:r>
            <a:r>
              <a:rPr lang="en-US" altLang="zh-CN" dirty="0"/>
              <a:t>HBase </a:t>
            </a:r>
          </a:p>
          <a:p>
            <a:pPr lvl="1"/>
            <a:r>
              <a:rPr lang="en-US" altLang="zh-CN" dirty="0"/>
              <a:t>quit</a:t>
            </a:r>
            <a:r>
              <a:rPr lang="zh-CN" altLang="en-US" dirty="0"/>
              <a:t>命令退出命令行交互模式</a:t>
            </a:r>
            <a:endParaRPr lang="en-US" altLang="zh-CN" dirty="0"/>
          </a:p>
          <a:p>
            <a:pPr lvl="1"/>
            <a:endParaRPr lang="en-US" altLang="zh-CN" dirty="0"/>
          </a:p>
          <a:p>
            <a:r>
              <a:rPr lang="zh-CN" altLang="en-US" dirty="0"/>
              <a:t>步骤</a:t>
            </a:r>
            <a:r>
              <a:rPr lang="en-US" altLang="zh-CN" dirty="0"/>
              <a:t>10</a:t>
            </a:r>
            <a:r>
              <a:rPr lang="zh-CN" altLang="en-US" dirty="0"/>
              <a:t>：停止</a:t>
            </a:r>
            <a:r>
              <a:rPr lang="en-US" altLang="zh-CN" dirty="0"/>
              <a:t>HBase</a:t>
            </a:r>
            <a:r>
              <a:rPr lang="zh-CN" altLang="en-US" dirty="0"/>
              <a:t>的运行</a:t>
            </a:r>
            <a:endParaRPr lang="en-US" altLang="zh-CN" dirty="0"/>
          </a:p>
          <a:p>
            <a:pPr lvl="1"/>
            <a:r>
              <a:rPr lang="zh-CN" altLang="en-US"/>
              <a:t>运行脚本</a:t>
            </a:r>
            <a:r>
              <a:rPr lang="en-US" altLang="zh-CN"/>
              <a:t>bin/stop-hbase</a:t>
            </a:r>
            <a:r>
              <a:rPr lang="en-US" altLang="zh-CN" dirty="0"/>
              <a:t>.sh</a:t>
            </a:r>
            <a:endParaRPr lang="zh-CN" altLang="en-US" dirty="0"/>
          </a:p>
        </p:txBody>
      </p:sp>
    </p:spTree>
    <p:extLst>
      <p:ext uri="{BB962C8B-B14F-4D97-AF65-F5344CB8AC3E}">
        <p14:creationId xmlns:p14="http://schemas.microsoft.com/office/powerpoint/2010/main" val="9236115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a:t>
            </a:r>
            <a:r>
              <a:rPr lang="zh-CN" altLang="en-US" dirty="0"/>
              <a:t>初探</a:t>
            </a:r>
          </a:p>
        </p:txBody>
      </p:sp>
      <p:sp>
        <p:nvSpPr>
          <p:cNvPr id="3" name="内容占位符 2"/>
          <p:cNvSpPr>
            <a:spLocks noGrp="1"/>
          </p:cNvSpPr>
          <p:nvPr>
            <p:ph idx="1"/>
          </p:nvPr>
        </p:nvSpPr>
        <p:spPr>
          <a:xfrm>
            <a:off x="467544" y="1131590"/>
            <a:ext cx="8136904" cy="3528392"/>
          </a:xfrm>
        </p:spPr>
        <p:txBody>
          <a:bodyPr>
            <a:normAutofit lnSpcReduction="10000"/>
          </a:bodyPr>
          <a:lstStyle/>
          <a:p>
            <a:r>
              <a:rPr lang="en-US" altLang="zh-CN" dirty="0"/>
              <a:t>HBase</a:t>
            </a:r>
            <a:r>
              <a:rPr lang="zh-CN" altLang="en-US" dirty="0"/>
              <a:t>脚本文件运行模式</a:t>
            </a:r>
            <a:endParaRPr lang="en-US" altLang="zh-CN" dirty="0"/>
          </a:p>
          <a:p>
            <a:pPr lvl="1"/>
            <a:r>
              <a:rPr lang="zh-CN" altLang="en-US" dirty="0"/>
              <a:t>构造脚本文件，内容如下</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设置权限，运行</a:t>
            </a:r>
          </a:p>
        </p:txBody>
      </p:sp>
      <p:pic>
        <p:nvPicPr>
          <p:cNvPr id="4" name="图片 3">
            <a:extLst>
              <a:ext uri="{FF2B5EF4-FFF2-40B4-BE49-F238E27FC236}">
                <a16:creationId xmlns:a16="http://schemas.microsoft.com/office/drawing/2014/main" id="{92163E13-D817-43A0-8A59-03E43DA69531}"/>
              </a:ext>
            </a:extLst>
          </p:cNvPr>
          <p:cNvPicPr>
            <a:picLocks noChangeAspect="1"/>
          </p:cNvPicPr>
          <p:nvPr/>
        </p:nvPicPr>
        <p:blipFill>
          <a:blip r:embed="rId2"/>
          <a:stretch>
            <a:fillRect/>
          </a:stretch>
        </p:blipFill>
        <p:spPr>
          <a:xfrm>
            <a:off x="561292" y="2131062"/>
            <a:ext cx="7560840" cy="1840091"/>
          </a:xfrm>
          <a:prstGeom prst="rect">
            <a:avLst/>
          </a:prstGeom>
        </p:spPr>
      </p:pic>
      <p:pic>
        <p:nvPicPr>
          <p:cNvPr id="5" name="图片 4">
            <a:extLst>
              <a:ext uri="{FF2B5EF4-FFF2-40B4-BE49-F238E27FC236}">
                <a16:creationId xmlns:a16="http://schemas.microsoft.com/office/drawing/2014/main" id="{9D727767-2517-4201-87F7-535160294833}"/>
              </a:ext>
            </a:extLst>
          </p:cNvPr>
          <p:cNvPicPr>
            <a:picLocks noChangeAspect="1"/>
          </p:cNvPicPr>
          <p:nvPr/>
        </p:nvPicPr>
        <p:blipFill>
          <a:blip r:embed="rId3"/>
          <a:stretch>
            <a:fillRect/>
          </a:stretch>
        </p:blipFill>
        <p:spPr>
          <a:xfrm>
            <a:off x="561292" y="4448310"/>
            <a:ext cx="7560840" cy="672407"/>
          </a:xfrm>
          <a:prstGeom prst="rect">
            <a:avLst/>
          </a:prstGeom>
        </p:spPr>
      </p:pic>
    </p:spTree>
    <p:extLst>
      <p:ext uri="{BB962C8B-B14F-4D97-AF65-F5344CB8AC3E}">
        <p14:creationId xmlns:p14="http://schemas.microsoft.com/office/powerpoint/2010/main" val="4173787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236445"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HBase</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的数据模型</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04</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80595B-06DF-4A4E-B600-814CBCEA0469}"/>
              </a:ext>
            </a:extLst>
          </p:cNvPr>
          <p:cNvSpPr>
            <a:spLocks noGrp="1"/>
          </p:cNvSpPr>
          <p:nvPr>
            <p:ph type="title"/>
          </p:nvPr>
        </p:nvSpPr>
        <p:spPr/>
        <p:txBody>
          <a:bodyPr>
            <a:normAutofit fontScale="90000"/>
          </a:bodyPr>
          <a:lstStyle/>
          <a:p>
            <a:r>
              <a:rPr lang="zh-CN" altLang="en-US"/>
              <a:t>逻辑</a:t>
            </a:r>
            <a:r>
              <a:rPr lang="en-US" altLang="zh-CN"/>
              <a:t>/</a:t>
            </a:r>
            <a:r>
              <a:rPr lang="zh-CN" altLang="en-US" dirty="0"/>
              <a:t>视图</a:t>
            </a:r>
          </a:p>
        </p:txBody>
      </p:sp>
      <p:sp>
        <p:nvSpPr>
          <p:cNvPr id="3" name="内容占位符 2">
            <a:extLst>
              <a:ext uri="{FF2B5EF4-FFF2-40B4-BE49-F238E27FC236}">
                <a16:creationId xmlns:a16="http://schemas.microsoft.com/office/drawing/2014/main" id="{FBB358F9-A0E0-4952-8E7D-91D22EF12BEB}"/>
              </a:ext>
            </a:extLst>
          </p:cNvPr>
          <p:cNvSpPr>
            <a:spLocks noGrp="1"/>
          </p:cNvSpPr>
          <p:nvPr>
            <p:ph idx="1"/>
          </p:nvPr>
        </p:nvSpPr>
        <p:spPr/>
        <p:txBody>
          <a:bodyPr>
            <a:normAutofit/>
          </a:bodyPr>
          <a:lstStyle/>
          <a:p>
            <a:pPr>
              <a:lnSpc>
                <a:spcPct val="150000"/>
              </a:lnSpc>
            </a:pPr>
            <a:endParaRPr lang="zh-CN" altLang="en-US" sz="2800" dirty="0"/>
          </a:p>
        </p:txBody>
      </p:sp>
      <p:pic>
        <p:nvPicPr>
          <p:cNvPr id="3074" name="Picture 2" descr="https://img-blog.csdnimg.cn/40a805789d15404b931f4d88ee4875c9.png?x-oss-process=image/watermark,type_d3F5LXplbmhlaQ,shadow_50,text_Q1NETiBA5bi46L-b5q2l,size_20,color_FFFFFF,t_70,g_se,x_16">
            <a:extLst>
              <a:ext uri="{FF2B5EF4-FFF2-40B4-BE49-F238E27FC236}">
                <a16:creationId xmlns:a16="http://schemas.microsoft.com/office/drawing/2014/main" id="{CCD6E3F3-C54E-4954-B0FB-79ABBC461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347614"/>
            <a:ext cx="6276975"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426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相关术语</a:t>
            </a:r>
          </a:p>
        </p:txBody>
      </p:sp>
      <p:sp>
        <p:nvSpPr>
          <p:cNvPr id="5" name="内容占位符 4">
            <a:extLst>
              <a:ext uri="{FF2B5EF4-FFF2-40B4-BE49-F238E27FC236}">
                <a16:creationId xmlns:a16="http://schemas.microsoft.com/office/drawing/2014/main" id="{34F14814-2414-4383-9A31-BE46BA5A335E}"/>
              </a:ext>
            </a:extLst>
          </p:cNvPr>
          <p:cNvSpPr>
            <a:spLocks noGrp="1"/>
          </p:cNvSpPr>
          <p:nvPr>
            <p:ph idx="1"/>
          </p:nvPr>
        </p:nvSpPr>
        <p:spPr/>
        <p:txBody>
          <a:bodyPr>
            <a:normAutofit fontScale="92500" lnSpcReduction="20000"/>
          </a:bodyPr>
          <a:lstStyle/>
          <a:p>
            <a:r>
              <a:rPr lang="en-US" altLang="zh-CN" sz="2400" dirty="0">
                <a:solidFill>
                  <a:srgbClr val="FF0000"/>
                </a:solidFill>
              </a:rPr>
              <a:t>1</a:t>
            </a:r>
            <a:r>
              <a:rPr lang="zh-CN" altLang="en-US" sz="2400" dirty="0">
                <a:solidFill>
                  <a:srgbClr val="FF0000"/>
                </a:solidFill>
              </a:rPr>
              <a:t>．数据表（</a:t>
            </a:r>
            <a:r>
              <a:rPr lang="en-US" altLang="zh-CN" sz="2400" dirty="0">
                <a:solidFill>
                  <a:srgbClr val="FF0000"/>
                </a:solidFill>
              </a:rPr>
              <a:t>Table</a:t>
            </a:r>
            <a:r>
              <a:rPr lang="zh-CN" altLang="en-US" sz="2400" dirty="0">
                <a:solidFill>
                  <a:srgbClr val="FF0000"/>
                </a:solidFill>
              </a:rPr>
              <a:t>）</a:t>
            </a:r>
          </a:p>
          <a:p>
            <a:pPr lvl="1"/>
            <a:r>
              <a:rPr lang="en-US" altLang="zh-CN" sz="2400" dirty="0"/>
              <a:t>HBase</a:t>
            </a:r>
            <a:r>
              <a:rPr lang="zh-CN" altLang="en-US" sz="2400" dirty="0"/>
              <a:t>的数据表是由多行数据组成的。</a:t>
            </a:r>
          </a:p>
          <a:p>
            <a:r>
              <a:rPr lang="en-US" altLang="zh-CN" sz="2400" dirty="0">
                <a:solidFill>
                  <a:srgbClr val="FF0000"/>
                </a:solidFill>
              </a:rPr>
              <a:t>2</a:t>
            </a:r>
            <a:r>
              <a:rPr lang="zh-CN" altLang="en-US" sz="2400" dirty="0">
                <a:solidFill>
                  <a:srgbClr val="FF0000"/>
                </a:solidFill>
              </a:rPr>
              <a:t>．行（</a:t>
            </a:r>
            <a:r>
              <a:rPr lang="en-US" altLang="zh-CN" sz="2400" dirty="0">
                <a:solidFill>
                  <a:srgbClr val="FF0000"/>
                </a:solidFill>
              </a:rPr>
              <a:t>Row</a:t>
            </a:r>
            <a:r>
              <a:rPr lang="zh-CN" altLang="en-US" sz="2400" dirty="0">
                <a:solidFill>
                  <a:srgbClr val="FF0000"/>
                </a:solidFill>
              </a:rPr>
              <a:t>）</a:t>
            </a:r>
          </a:p>
          <a:p>
            <a:pPr lvl="1"/>
            <a:r>
              <a:rPr lang="en-US" altLang="zh-CN" sz="2400" dirty="0"/>
              <a:t>HBase</a:t>
            </a:r>
            <a:r>
              <a:rPr lang="zh-CN" altLang="en-US" sz="2400" dirty="0"/>
              <a:t>中的行由一个</a:t>
            </a:r>
            <a:r>
              <a:rPr lang="zh-CN" altLang="en-US" sz="2400"/>
              <a:t>行关键字（</a:t>
            </a:r>
            <a:r>
              <a:rPr lang="en-US" altLang="zh-CN" sz="2400"/>
              <a:t>RowKey</a:t>
            </a:r>
            <a:r>
              <a:rPr lang="zh-CN" altLang="en-US" sz="2400"/>
              <a:t>）和</a:t>
            </a:r>
            <a:r>
              <a:rPr lang="zh-CN" altLang="en-US" sz="2400" dirty="0"/>
              <a:t>一个或多个列族组成。行在存储时按关键字的字典顺序排序，因此，行关键字的设计非常重要。行关键字的设计目标是让具有一定相关性的行彼此靠近。</a:t>
            </a:r>
          </a:p>
          <a:p>
            <a:r>
              <a:rPr lang="en-US" altLang="zh-CN" sz="2400" dirty="0">
                <a:solidFill>
                  <a:srgbClr val="FF0000"/>
                </a:solidFill>
              </a:rPr>
              <a:t>3</a:t>
            </a:r>
            <a:r>
              <a:rPr lang="zh-CN" altLang="en-US" sz="2400" dirty="0">
                <a:solidFill>
                  <a:srgbClr val="FF0000"/>
                </a:solidFill>
              </a:rPr>
              <a:t>．列（</a:t>
            </a:r>
            <a:r>
              <a:rPr lang="en-US" altLang="zh-CN" sz="2400" dirty="0">
                <a:solidFill>
                  <a:srgbClr val="FF0000"/>
                </a:solidFill>
              </a:rPr>
              <a:t>Column</a:t>
            </a:r>
            <a:r>
              <a:rPr lang="zh-CN" altLang="en-US" sz="2400" dirty="0">
                <a:solidFill>
                  <a:srgbClr val="FF0000"/>
                </a:solidFill>
              </a:rPr>
              <a:t>）</a:t>
            </a:r>
          </a:p>
          <a:p>
            <a:pPr lvl="1"/>
            <a:r>
              <a:rPr lang="en-US" altLang="zh-CN" sz="2400" dirty="0"/>
              <a:t>HBase</a:t>
            </a:r>
            <a:r>
              <a:rPr lang="zh-CN" altLang="en-US" sz="2400" dirty="0"/>
              <a:t>中的列由列族和列限定符组成，它们由冒号分隔开。由于</a:t>
            </a:r>
            <a:r>
              <a:rPr lang="en-US" altLang="zh-CN" sz="2400" dirty="0"/>
              <a:t>HBase</a:t>
            </a:r>
            <a:r>
              <a:rPr lang="zh-CN" altLang="en-US" sz="2400" dirty="0"/>
              <a:t>的列族中可以有不限定数量的列限定符，所以一个列族下可能有多个列存在。</a:t>
            </a:r>
          </a:p>
        </p:txBody>
      </p:sp>
    </p:spTree>
    <p:extLst>
      <p:ext uri="{BB962C8B-B14F-4D97-AF65-F5344CB8AC3E}">
        <p14:creationId xmlns:p14="http://schemas.microsoft.com/office/powerpoint/2010/main" val="28910909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2F304-40EB-464D-B030-87E96816B61A}"/>
              </a:ext>
            </a:extLst>
          </p:cNvPr>
          <p:cNvSpPr>
            <a:spLocks noGrp="1"/>
          </p:cNvSpPr>
          <p:nvPr>
            <p:ph type="title"/>
          </p:nvPr>
        </p:nvSpPr>
        <p:spPr/>
        <p:txBody>
          <a:bodyPr>
            <a:normAutofit fontScale="90000"/>
          </a:bodyPr>
          <a:lstStyle/>
          <a:p>
            <a:r>
              <a:rPr lang="zh-CN" altLang="en-US" dirty="0"/>
              <a:t>相关术语</a:t>
            </a:r>
          </a:p>
        </p:txBody>
      </p:sp>
      <p:sp>
        <p:nvSpPr>
          <p:cNvPr id="3" name="内容占位符 2">
            <a:extLst>
              <a:ext uri="{FF2B5EF4-FFF2-40B4-BE49-F238E27FC236}">
                <a16:creationId xmlns:a16="http://schemas.microsoft.com/office/drawing/2014/main" id="{1372B7E5-B8AA-4DB2-80DB-D2E2C0B96007}"/>
              </a:ext>
            </a:extLst>
          </p:cNvPr>
          <p:cNvSpPr>
            <a:spLocks noGrp="1"/>
          </p:cNvSpPr>
          <p:nvPr>
            <p:ph idx="1"/>
          </p:nvPr>
        </p:nvSpPr>
        <p:spPr>
          <a:xfrm>
            <a:off x="457200" y="1059582"/>
            <a:ext cx="8229600" cy="3394472"/>
          </a:xfrm>
        </p:spPr>
        <p:txBody>
          <a:bodyPr>
            <a:normAutofit fontScale="85000" lnSpcReduction="10000"/>
          </a:bodyPr>
          <a:lstStyle/>
          <a:p>
            <a:r>
              <a:rPr lang="en-US" altLang="zh-CN" sz="2400" dirty="0">
                <a:solidFill>
                  <a:srgbClr val="FF0000"/>
                </a:solidFill>
              </a:rPr>
              <a:t>4</a:t>
            </a:r>
            <a:r>
              <a:rPr lang="zh-CN" altLang="en-US" sz="2400" dirty="0">
                <a:solidFill>
                  <a:srgbClr val="FF0000"/>
                </a:solidFill>
              </a:rPr>
              <a:t>．列族（</a:t>
            </a:r>
            <a:r>
              <a:rPr lang="en-US" altLang="zh-CN" sz="2400" dirty="0">
                <a:solidFill>
                  <a:srgbClr val="FF0000"/>
                </a:solidFill>
              </a:rPr>
              <a:t>Column Family</a:t>
            </a:r>
            <a:r>
              <a:rPr lang="zh-CN" altLang="en-US" sz="2400" dirty="0">
                <a:solidFill>
                  <a:srgbClr val="FF0000"/>
                </a:solidFill>
              </a:rPr>
              <a:t>）</a:t>
            </a:r>
          </a:p>
          <a:p>
            <a:pPr lvl="1"/>
            <a:r>
              <a:rPr lang="zh-CN" altLang="en-US" sz="2000" dirty="0"/>
              <a:t>出于性能原因，列族在物理上包含一组列及其值。每个列族都有其存储属性可供设置，例如是否应将其值缓存在内存中、如何压缩其数据，或如何编码其行键等。虽然给定的行可能在列族中不存储任何具体的值，但是表中的每一行都有相同的列族。</a:t>
            </a:r>
          </a:p>
          <a:p>
            <a:pPr lvl="1"/>
            <a:r>
              <a:rPr lang="zh-CN" altLang="en-US" sz="2000" dirty="0"/>
              <a:t>所以从简单、直观角度上看，可以把列族看成是列的组合，即列族由多个列组成，同时在具体的应用中，并不是所有的列都需要有对应的赋值。</a:t>
            </a:r>
          </a:p>
          <a:p>
            <a:r>
              <a:rPr lang="en-US" altLang="zh-CN" sz="2400" dirty="0">
                <a:solidFill>
                  <a:srgbClr val="FF0000"/>
                </a:solidFill>
              </a:rPr>
              <a:t>5</a:t>
            </a:r>
            <a:r>
              <a:rPr lang="zh-CN" altLang="en-US" sz="2400" dirty="0">
                <a:solidFill>
                  <a:srgbClr val="FF0000"/>
                </a:solidFill>
              </a:rPr>
              <a:t>．列限定符（</a:t>
            </a:r>
            <a:r>
              <a:rPr lang="en-US" altLang="zh-CN" sz="2400" dirty="0">
                <a:solidFill>
                  <a:srgbClr val="FF0000"/>
                </a:solidFill>
              </a:rPr>
              <a:t>Column Qualifier</a:t>
            </a:r>
            <a:r>
              <a:rPr lang="zh-CN" altLang="en-US" sz="2400" dirty="0">
                <a:solidFill>
                  <a:srgbClr val="FF0000"/>
                </a:solidFill>
              </a:rPr>
              <a:t>）</a:t>
            </a:r>
          </a:p>
          <a:p>
            <a:pPr lvl="1"/>
            <a:r>
              <a:rPr lang="zh-CN" altLang="en-US" sz="2000" dirty="0"/>
              <a:t>列限定符被添加到列族中用以提供给定数据字段的索引，列族里的数据通过列限定符或列来定位。尽管列族在表创建时是固定的，但列限定符是可变的，并且不同的行可能有不同的列限定符。列限定符可以不必事前定义，且不同行的列限定符不必保持一致。</a:t>
            </a:r>
          </a:p>
        </p:txBody>
      </p:sp>
    </p:spTree>
    <p:extLst>
      <p:ext uri="{BB962C8B-B14F-4D97-AF65-F5344CB8AC3E}">
        <p14:creationId xmlns:p14="http://schemas.microsoft.com/office/powerpoint/2010/main" val="17284526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2F304-40EB-464D-B030-87E96816B61A}"/>
              </a:ext>
            </a:extLst>
          </p:cNvPr>
          <p:cNvSpPr>
            <a:spLocks noGrp="1"/>
          </p:cNvSpPr>
          <p:nvPr>
            <p:ph type="title"/>
          </p:nvPr>
        </p:nvSpPr>
        <p:spPr/>
        <p:txBody>
          <a:bodyPr>
            <a:normAutofit fontScale="90000"/>
          </a:bodyPr>
          <a:lstStyle/>
          <a:p>
            <a:r>
              <a:rPr lang="zh-CN" altLang="en-US" dirty="0"/>
              <a:t>相关术语</a:t>
            </a:r>
          </a:p>
        </p:txBody>
      </p:sp>
      <p:sp>
        <p:nvSpPr>
          <p:cNvPr id="3" name="内容占位符 2">
            <a:extLst>
              <a:ext uri="{FF2B5EF4-FFF2-40B4-BE49-F238E27FC236}">
                <a16:creationId xmlns:a16="http://schemas.microsoft.com/office/drawing/2014/main" id="{1372B7E5-B8AA-4DB2-80DB-D2E2C0B96007}"/>
              </a:ext>
            </a:extLst>
          </p:cNvPr>
          <p:cNvSpPr>
            <a:spLocks noGrp="1"/>
          </p:cNvSpPr>
          <p:nvPr>
            <p:ph idx="1"/>
          </p:nvPr>
        </p:nvSpPr>
        <p:spPr>
          <a:xfrm>
            <a:off x="457200" y="1059582"/>
            <a:ext cx="8229600" cy="3394472"/>
          </a:xfrm>
        </p:spPr>
        <p:txBody>
          <a:bodyPr>
            <a:normAutofit fontScale="70000" lnSpcReduction="20000"/>
          </a:bodyPr>
          <a:lstStyle/>
          <a:p>
            <a:r>
              <a:rPr lang="en-US" altLang="zh-CN" dirty="0">
                <a:solidFill>
                  <a:srgbClr val="FF0000"/>
                </a:solidFill>
              </a:rPr>
              <a:t>6</a:t>
            </a:r>
            <a:r>
              <a:rPr lang="zh-CN" altLang="en-US" dirty="0">
                <a:solidFill>
                  <a:srgbClr val="FF0000"/>
                </a:solidFill>
              </a:rPr>
              <a:t>．单元（</a:t>
            </a:r>
            <a:r>
              <a:rPr lang="en-US" altLang="zh-CN" dirty="0">
                <a:solidFill>
                  <a:srgbClr val="FF0000"/>
                </a:solidFill>
              </a:rPr>
              <a:t>Cell</a:t>
            </a:r>
            <a:r>
              <a:rPr lang="zh-CN" altLang="en-US" dirty="0">
                <a:solidFill>
                  <a:srgbClr val="FF0000"/>
                </a:solidFill>
              </a:rPr>
              <a:t>）</a:t>
            </a:r>
          </a:p>
          <a:p>
            <a:pPr lvl="1"/>
            <a:r>
              <a:rPr lang="zh-CN" altLang="en-US" dirty="0"/>
              <a:t>一个单元由行键、列族、列限定符和时间戳</a:t>
            </a:r>
            <a:r>
              <a:rPr lang="en-US" altLang="zh-CN" dirty="0"/>
              <a:t>4</a:t>
            </a:r>
            <a:r>
              <a:rPr lang="zh-CN" altLang="en-US" dirty="0"/>
              <a:t>个元素唯一确定，单元用于存储具体的值或者时间戳。其中时间戳可以用于标识具体行值的版本信息。</a:t>
            </a:r>
          </a:p>
          <a:p>
            <a:r>
              <a:rPr lang="en-US" altLang="zh-CN" dirty="0">
                <a:solidFill>
                  <a:srgbClr val="FF0000"/>
                </a:solidFill>
              </a:rPr>
              <a:t>7</a:t>
            </a:r>
            <a:r>
              <a:rPr lang="zh-CN" altLang="en-US" dirty="0">
                <a:solidFill>
                  <a:srgbClr val="FF0000"/>
                </a:solidFill>
              </a:rPr>
              <a:t>．时间戳（</a:t>
            </a:r>
            <a:r>
              <a:rPr lang="en-US" altLang="zh-CN" dirty="0">
                <a:solidFill>
                  <a:srgbClr val="FF0000"/>
                </a:solidFill>
              </a:rPr>
              <a:t>Timestamp</a:t>
            </a:r>
            <a:r>
              <a:rPr lang="zh-CN" altLang="en-US" dirty="0">
                <a:solidFill>
                  <a:srgbClr val="FF0000"/>
                </a:solidFill>
              </a:rPr>
              <a:t>）</a:t>
            </a:r>
          </a:p>
          <a:p>
            <a:pPr lvl="1"/>
            <a:r>
              <a:rPr lang="zh-CN" altLang="en-US" dirty="0"/>
              <a:t>时间戳与每个值一起被写入数据表中，用于表示值的版本信息。默认情况下，时间戳为写入数据时区域服务器上的时间，用户也可以自定义不同的时间戳值。</a:t>
            </a:r>
          </a:p>
          <a:p>
            <a:pPr marL="457200" lvl="1" indent="0">
              <a:buNone/>
            </a:pPr>
            <a:r>
              <a:rPr lang="en-US" altLang="zh-CN" dirty="0"/>
              <a:t>HBase</a:t>
            </a:r>
            <a:r>
              <a:rPr lang="zh-CN" altLang="en-US" dirty="0"/>
              <a:t>数据表里存储数据使用的是四维坐标系统，依次是：行关键字，列族，列限定符和时间版本。</a:t>
            </a:r>
            <a:r>
              <a:rPr lang="en-US" altLang="zh-CN" dirty="0"/>
              <a:t>HBase</a:t>
            </a:r>
            <a:r>
              <a:rPr lang="zh-CN" altLang="en-US" dirty="0"/>
              <a:t>按照时间戳降序排列各时间版本，其他映射键按照升序排序，以方便数据的检索和查看。</a:t>
            </a:r>
          </a:p>
          <a:p>
            <a:endParaRPr lang="zh-CN" altLang="en-US" dirty="0"/>
          </a:p>
        </p:txBody>
      </p:sp>
    </p:spTree>
    <p:extLst>
      <p:ext uri="{BB962C8B-B14F-4D97-AF65-F5344CB8AC3E}">
        <p14:creationId xmlns:p14="http://schemas.microsoft.com/office/powerpoint/2010/main" val="530403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755C35-5C1A-4F02-8745-B1AC45C17BF8}"/>
              </a:ext>
            </a:extLst>
          </p:cNvPr>
          <p:cNvSpPr>
            <a:spLocks noGrp="1"/>
          </p:cNvSpPr>
          <p:nvPr>
            <p:ph type="title"/>
          </p:nvPr>
        </p:nvSpPr>
        <p:spPr/>
        <p:txBody>
          <a:bodyPr>
            <a:normAutofit fontScale="90000"/>
          </a:bodyPr>
          <a:lstStyle/>
          <a:p>
            <a:r>
              <a:rPr lang="zh-CN" altLang="en-US"/>
              <a:t>存储方式</a:t>
            </a:r>
            <a:endParaRPr lang="zh-CN" altLang="en-US" dirty="0"/>
          </a:p>
        </p:txBody>
      </p:sp>
      <p:sp>
        <p:nvSpPr>
          <p:cNvPr id="3" name="内容占位符 2">
            <a:extLst>
              <a:ext uri="{FF2B5EF4-FFF2-40B4-BE49-F238E27FC236}">
                <a16:creationId xmlns:a16="http://schemas.microsoft.com/office/drawing/2014/main" id="{D6C7D7FE-4E0A-4C49-92E1-FF1DD1618E7A}"/>
              </a:ext>
            </a:extLst>
          </p:cNvPr>
          <p:cNvSpPr>
            <a:spLocks noGrp="1"/>
          </p:cNvSpPr>
          <p:nvPr>
            <p:ph idx="1"/>
          </p:nvPr>
        </p:nvSpPr>
        <p:spPr>
          <a:xfrm>
            <a:off x="395536" y="987574"/>
            <a:ext cx="8229600" cy="3780420"/>
          </a:xfrm>
        </p:spPr>
        <p:txBody>
          <a:bodyPr>
            <a:normAutofit/>
          </a:bodyPr>
          <a:lstStyle/>
          <a:p>
            <a:pPr>
              <a:lnSpc>
                <a:spcPct val="150000"/>
              </a:lnSpc>
            </a:pPr>
            <a:r>
              <a:rPr lang="zh-CN" altLang="en-US" sz="2400"/>
              <a:t>实际存储方式：每个</a:t>
            </a:r>
            <a:r>
              <a:rPr lang="en-US" altLang="zh-CN" sz="2400"/>
              <a:t>Region</a:t>
            </a:r>
            <a:r>
              <a:rPr lang="zh-CN" altLang="en-US" sz="2400"/>
              <a:t>由多个</a:t>
            </a:r>
            <a:r>
              <a:rPr lang="en-US" altLang="zh-CN" sz="2400"/>
              <a:t>Store</a:t>
            </a:r>
            <a:r>
              <a:rPr lang="zh-CN" altLang="en-US" sz="2400"/>
              <a:t>构成，每个</a:t>
            </a:r>
            <a:r>
              <a:rPr lang="en-US" altLang="zh-CN" sz="2400"/>
              <a:t>Store</a:t>
            </a:r>
            <a:r>
              <a:rPr lang="zh-CN" altLang="en-US" sz="2400"/>
              <a:t>保存一个</a:t>
            </a:r>
            <a:r>
              <a:rPr lang="en-US" altLang="zh-CN" sz="2400"/>
              <a:t>column family</a:t>
            </a:r>
            <a:r>
              <a:rPr lang="zh-CN" altLang="en-US" sz="2400"/>
              <a:t>。</a:t>
            </a:r>
          </a:p>
          <a:p>
            <a:pPr>
              <a:lnSpc>
                <a:spcPct val="150000"/>
              </a:lnSpc>
            </a:pPr>
            <a:endParaRPr lang="zh-CN" altLang="en-US" sz="2400"/>
          </a:p>
        </p:txBody>
      </p:sp>
      <p:sp>
        <p:nvSpPr>
          <p:cNvPr id="4" name="矩形: 圆角 3">
            <a:extLst>
              <a:ext uri="{FF2B5EF4-FFF2-40B4-BE49-F238E27FC236}">
                <a16:creationId xmlns:a16="http://schemas.microsoft.com/office/drawing/2014/main" id="{AD50EE9D-A0BB-426D-B622-DCA51D1822FE}"/>
              </a:ext>
            </a:extLst>
          </p:cNvPr>
          <p:cNvSpPr/>
          <p:nvPr/>
        </p:nvSpPr>
        <p:spPr>
          <a:xfrm>
            <a:off x="1907704" y="2613966"/>
            <a:ext cx="5184576" cy="200818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923E8F5-C5BA-4506-8388-DD98DDF32A4C}"/>
              </a:ext>
            </a:extLst>
          </p:cNvPr>
          <p:cNvSpPr txBox="1"/>
          <p:nvPr/>
        </p:nvSpPr>
        <p:spPr>
          <a:xfrm>
            <a:off x="3841931" y="2643758"/>
            <a:ext cx="1180260" cy="523220"/>
          </a:xfrm>
          <a:prstGeom prst="rect">
            <a:avLst/>
          </a:prstGeom>
          <a:noFill/>
        </p:spPr>
        <p:txBody>
          <a:bodyPr wrap="none" rtlCol="0">
            <a:spAutoFit/>
          </a:bodyPr>
          <a:lstStyle/>
          <a:p>
            <a:r>
              <a:rPr lang="en-US" altLang="zh-CN" sz="2800"/>
              <a:t>Region</a:t>
            </a:r>
            <a:endParaRPr lang="zh-CN" altLang="en-US" sz="2800"/>
          </a:p>
        </p:txBody>
      </p:sp>
      <p:sp>
        <p:nvSpPr>
          <p:cNvPr id="6" name="文本框 5">
            <a:extLst>
              <a:ext uri="{FF2B5EF4-FFF2-40B4-BE49-F238E27FC236}">
                <a16:creationId xmlns:a16="http://schemas.microsoft.com/office/drawing/2014/main" id="{6238970E-07FB-43FB-A2C2-7D6376C1F591}"/>
              </a:ext>
            </a:extLst>
          </p:cNvPr>
          <p:cNvSpPr txBox="1"/>
          <p:nvPr/>
        </p:nvSpPr>
        <p:spPr>
          <a:xfrm>
            <a:off x="2411760" y="3723878"/>
            <a:ext cx="90981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a:t>Store1</a:t>
            </a:r>
            <a:endParaRPr lang="zh-CN" altLang="en-US"/>
          </a:p>
        </p:txBody>
      </p:sp>
      <p:sp>
        <p:nvSpPr>
          <p:cNvPr id="8" name="文本框 7">
            <a:extLst>
              <a:ext uri="{FF2B5EF4-FFF2-40B4-BE49-F238E27FC236}">
                <a16:creationId xmlns:a16="http://schemas.microsoft.com/office/drawing/2014/main" id="{23F41F78-2CD3-4C51-8110-9DD7ACE4D80E}"/>
              </a:ext>
            </a:extLst>
          </p:cNvPr>
          <p:cNvSpPr txBox="1"/>
          <p:nvPr/>
        </p:nvSpPr>
        <p:spPr>
          <a:xfrm>
            <a:off x="4139952" y="3723878"/>
            <a:ext cx="90981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a:t>Store2</a:t>
            </a:r>
            <a:endParaRPr lang="zh-CN" altLang="en-US"/>
          </a:p>
        </p:txBody>
      </p:sp>
      <p:sp>
        <p:nvSpPr>
          <p:cNvPr id="11" name="文本框 10">
            <a:extLst>
              <a:ext uri="{FF2B5EF4-FFF2-40B4-BE49-F238E27FC236}">
                <a16:creationId xmlns:a16="http://schemas.microsoft.com/office/drawing/2014/main" id="{DB0BC28F-14DF-454C-9AC5-D98A1EC91573}"/>
              </a:ext>
            </a:extLst>
          </p:cNvPr>
          <p:cNvSpPr txBox="1"/>
          <p:nvPr/>
        </p:nvSpPr>
        <p:spPr>
          <a:xfrm>
            <a:off x="5724128" y="3711387"/>
            <a:ext cx="909815"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a:t>Store3</a:t>
            </a:r>
            <a:endParaRPr lang="zh-CN" altLang="en-US"/>
          </a:p>
        </p:txBody>
      </p:sp>
    </p:spTree>
    <p:extLst>
      <p:ext uri="{BB962C8B-B14F-4D97-AF65-F5344CB8AC3E}">
        <p14:creationId xmlns:p14="http://schemas.microsoft.com/office/powerpoint/2010/main" val="19768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755C35-5C1A-4F02-8745-B1AC45C17BF8}"/>
              </a:ext>
            </a:extLst>
          </p:cNvPr>
          <p:cNvSpPr>
            <a:spLocks noGrp="1"/>
          </p:cNvSpPr>
          <p:nvPr>
            <p:ph type="title"/>
          </p:nvPr>
        </p:nvSpPr>
        <p:spPr/>
        <p:txBody>
          <a:bodyPr>
            <a:normAutofit fontScale="90000"/>
          </a:bodyPr>
          <a:lstStyle/>
          <a:p>
            <a:r>
              <a:rPr lang="zh-CN" altLang="en-US"/>
              <a:t>物理模式</a:t>
            </a:r>
            <a:r>
              <a:rPr lang="en-US" altLang="zh-CN"/>
              <a:t>/</a:t>
            </a:r>
            <a:r>
              <a:rPr lang="zh-CN" altLang="en-US"/>
              <a:t>视图</a:t>
            </a:r>
            <a:endParaRPr lang="zh-CN" altLang="en-US" dirty="0"/>
          </a:p>
        </p:txBody>
      </p:sp>
      <p:sp>
        <p:nvSpPr>
          <p:cNvPr id="3" name="内容占位符 2">
            <a:extLst>
              <a:ext uri="{FF2B5EF4-FFF2-40B4-BE49-F238E27FC236}">
                <a16:creationId xmlns:a16="http://schemas.microsoft.com/office/drawing/2014/main" id="{D6C7D7FE-4E0A-4C49-92E1-FF1DD1618E7A}"/>
              </a:ext>
            </a:extLst>
          </p:cNvPr>
          <p:cNvSpPr>
            <a:spLocks noGrp="1"/>
          </p:cNvSpPr>
          <p:nvPr>
            <p:ph idx="1"/>
          </p:nvPr>
        </p:nvSpPr>
        <p:spPr>
          <a:xfrm>
            <a:off x="395536" y="987574"/>
            <a:ext cx="8229600" cy="3780420"/>
          </a:xfrm>
        </p:spPr>
        <p:txBody>
          <a:bodyPr>
            <a:normAutofit/>
          </a:bodyPr>
          <a:lstStyle/>
          <a:p>
            <a:pPr>
              <a:lnSpc>
                <a:spcPct val="150000"/>
              </a:lnSpc>
            </a:pPr>
            <a:r>
              <a:rPr lang="zh-CN" altLang="en-US" sz="2800"/>
              <a:t>例如：</a:t>
            </a:r>
            <a:r>
              <a:rPr lang="en-US" altLang="zh-CN" sz="2800"/>
              <a:t>Store1</a:t>
            </a:r>
            <a:r>
              <a:rPr lang="zh-CN" altLang="en-US" sz="2800"/>
              <a:t>存放以下列族为</a:t>
            </a:r>
            <a:r>
              <a:rPr lang="en-US" altLang="zh-CN" sz="2800"/>
              <a:t>StuInfo</a:t>
            </a:r>
            <a:r>
              <a:rPr lang="zh-CN" altLang="en-US" sz="2800"/>
              <a:t>有关的所有列标识。</a:t>
            </a:r>
            <a:endParaRPr lang="zh-CN" altLang="en-US" sz="2000" dirty="0"/>
          </a:p>
        </p:txBody>
      </p:sp>
      <p:pic>
        <p:nvPicPr>
          <p:cNvPr id="7170" name="Picture 2" descr="https://img-blog.csdnimg.cn/3a064f345141432bb5eaa57a30939df9.png?x-oss-process=image/watermark,type_d3F5LXplbmhlaQ,shadow_50,text_Q1NETiBA5bi46L-b5q2l,size_20,color_FFFFFF,t_70,g_se,x_16">
            <a:extLst>
              <a:ext uri="{FF2B5EF4-FFF2-40B4-BE49-F238E27FC236}">
                <a16:creationId xmlns:a16="http://schemas.microsoft.com/office/drawing/2014/main" id="{5958E906-6639-4221-81A0-D1B09590D5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003"/>
          <a:stretch/>
        </p:blipFill>
        <p:spPr bwMode="auto">
          <a:xfrm>
            <a:off x="2411760" y="1635646"/>
            <a:ext cx="4536504" cy="2912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417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755C35-5C1A-4F02-8745-B1AC45C17BF8}"/>
              </a:ext>
            </a:extLst>
          </p:cNvPr>
          <p:cNvSpPr>
            <a:spLocks noGrp="1"/>
          </p:cNvSpPr>
          <p:nvPr>
            <p:ph type="title"/>
          </p:nvPr>
        </p:nvSpPr>
        <p:spPr/>
        <p:txBody>
          <a:bodyPr>
            <a:normAutofit fontScale="90000"/>
          </a:bodyPr>
          <a:lstStyle/>
          <a:p>
            <a:r>
              <a:rPr lang="zh-CN" altLang="en-US"/>
              <a:t>物理模式</a:t>
            </a:r>
            <a:r>
              <a:rPr lang="en-US" altLang="zh-CN"/>
              <a:t>/</a:t>
            </a:r>
            <a:r>
              <a:rPr lang="zh-CN" altLang="en-US"/>
              <a:t>视图</a:t>
            </a:r>
            <a:endParaRPr lang="zh-CN" altLang="en-US" dirty="0"/>
          </a:p>
        </p:txBody>
      </p:sp>
      <p:sp>
        <p:nvSpPr>
          <p:cNvPr id="3" name="内容占位符 2">
            <a:extLst>
              <a:ext uri="{FF2B5EF4-FFF2-40B4-BE49-F238E27FC236}">
                <a16:creationId xmlns:a16="http://schemas.microsoft.com/office/drawing/2014/main" id="{D6C7D7FE-4E0A-4C49-92E1-FF1DD1618E7A}"/>
              </a:ext>
            </a:extLst>
          </p:cNvPr>
          <p:cNvSpPr>
            <a:spLocks noGrp="1"/>
          </p:cNvSpPr>
          <p:nvPr>
            <p:ph idx="1"/>
          </p:nvPr>
        </p:nvSpPr>
        <p:spPr>
          <a:xfrm>
            <a:off x="395536" y="915566"/>
            <a:ext cx="8496944" cy="3780420"/>
          </a:xfrm>
        </p:spPr>
        <p:txBody>
          <a:bodyPr>
            <a:normAutofit/>
          </a:bodyPr>
          <a:lstStyle/>
          <a:p>
            <a:pPr>
              <a:lnSpc>
                <a:spcPct val="150000"/>
              </a:lnSpc>
            </a:pPr>
            <a:r>
              <a:rPr lang="en-US" altLang="zh-CN" sz="2800"/>
              <a:t>Store2</a:t>
            </a:r>
            <a:r>
              <a:rPr lang="zh-CN" altLang="en-US" sz="2800"/>
              <a:t>存放列族为</a:t>
            </a:r>
            <a:r>
              <a:rPr lang="en-US" altLang="zh-CN" sz="2800"/>
              <a:t>Grade</a:t>
            </a:r>
            <a:r>
              <a:rPr lang="zh-CN" altLang="en-US" sz="2800"/>
              <a:t>的所有相关列标识。</a:t>
            </a:r>
            <a:endParaRPr lang="zh-CN" altLang="en-US" sz="1800" dirty="0"/>
          </a:p>
        </p:txBody>
      </p:sp>
      <p:pic>
        <p:nvPicPr>
          <p:cNvPr id="8194" name="Picture 2" descr="https://img-blog.csdnimg.cn/db2bbefcdb384513ac281850e5add3ba.png?x-oss-process=image/watermark,type_d3F5LXplbmhlaQ,shadow_50,text_Q1NETiBA5bi46L-b5q2l,size_20,color_FFFFFF,t_70,g_se,x_16">
            <a:extLst>
              <a:ext uri="{FF2B5EF4-FFF2-40B4-BE49-F238E27FC236}">
                <a16:creationId xmlns:a16="http://schemas.microsoft.com/office/drawing/2014/main" id="{7ED63AC8-D4A5-4FE8-BD37-2D7506F86A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466"/>
          <a:stretch/>
        </p:blipFill>
        <p:spPr bwMode="auto">
          <a:xfrm>
            <a:off x="1907704" y="1879493"/>
            <a:ext cx="5089029" cy="2799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113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13BE2-2960-495F-A30D-F34CB845EB4F}"/>
              </a:ext>
            </a:extLst>
          </p:cNvPr>
          <p:cNvSpPr>
            <a:spLocks noGrp="1"/>
          </p:cNvSpPr>
          <p:nvPr>
            <p:ph type="title"/>
          </p:nvPr>
        </p:nvSpPr>
        <p:spPr/>
        <p:txBody>
          <a:bodyPr>
            <a:normAutofit fontScale="90000"/>
          </a:bodyPr>
          <a:lstStyle/>
          <a:p>
            <a:r>
              <a:rPr lang="en-US" altLang="zh-CN"/>
              <a:t>Hbase</a:t>
            </a:r>
            <a:r>
              <a:rPr lang="zh-CN" altLang="en-US"/>
              <a:t>数据模型</a:t>
            </a:r>
          </a:p>
        </p:txBody>
      </p:sp>
      <p:sp>
        <p:nvSpPr>
          <p:cNvPr id="3" name="内容占位符 2">
            <a:extLst>
              <a:ext uri="{FF2B5EF4-FFF2-40B4-BE49-F238E27FC236}">
                <a16:creationId xmlns:a16="http://schemas.microsoft.com/office/drawing/2014/main" id="{DD633761-31B1-49A9-99D3-EBC221102BA2}"/>
              </a:ext>
            </a:extLst>
          </p:cNvPr>
          <p:cNvSpPr>
            <a:spLocks noGrp="1"/>
          </p:cNvSpPr>
          <p:nvPr>
            <p:ph idx="1"/>
          </p:nvPr>
        </p:nvSpPr>
        <p:spPr/>
        <p:txBody>
          <a:bodyPr/>
          <a:lstStyle/>
          <a:p>
            <a:endParaRPr lang="zh-CN" altLang="en-US"/>
          </a:p>
        </p:txBody>
      </p:sp>
      <p:sp>
        <p:nvSpPr>
          <p:cNvPr id="4" name="五边形 3">
            <a:extLst>
              <a:ext uri="{FF2B5EF4-FFF2-40B4-BE49-F238E27FC236}">
                <a16:creationId xmlns:a16="http://schemas.microsoft.com/office/drawing/2014/main" id="{C859AC3E-C87E-4F7A-99F7-A53427A38381}"/>
              </a:ext>
            </a:extLst>
          </p:cNvPr>
          <p:cNvSpPr/>
          <p:nvPr/>
        </p:nvSpPr>
        <p:spPr>
          <a:xfrm>
            <a:off x="2483768" y="1491630"/>
            <a:ext cx="3168352" cy="2880320"/>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chemeClr val="bg1"/>
                </a:solidFill>
              </a:rPr>
              <a:t>讨论：</a:t>
            </a:r>
            <a:endParaRPr lang="en-US" altLang="zh-CN" sz="2400" b="1">
              <a:solidFill>
                <a:schemeClr val="bg1"/>
              </a:solidFill>
            </a:endParaRPr>
          </a:p>
          <a:p>
            <a:pPr algn="ctr"/>
            <a:r>
              <a:rPr lang="zh-CN" altLang="en-US">
                <a:solidFill>
                  <a:schemeClr val="bg1"/>
                </a:solidFill>
              </a:rPr>
              <a:t>对比行、列这两种存储方式的差别，</a:t>
            </a:r>
            <a:endParaRPr lang="en-US" altLang="zh-CN">
              <a:solidFill>
                <a:schemeClr val="bg1"/>
              </a:solidFill>
            </a:endParaRPr>
          </a:p>
          <a:p>
            <a:pPr algn="ctr"/>
            <a:r>
              <a:rPr lang="zh-CN" altLang="en-US">
                <a:solidFill>
                  <a:schemeClr val="bg1"/>
                </a:solidFill>
              </a:rPr>
              <a:t>列模式有什么优点？</a:t>
            </a:r>
            <a:endParaRPr lang="zh-CN" altLang="en-US" dirty="0"/>
          </a:p>
        </p:txBody>
      </p:sp>
    </p:spTree>
    <p:extLst>
      <p:ext uri="{BB962C8B-B14F-4D97-AF65-F5344CB8AC3E}">
        <p14:creationId xmlns:p14="http://schemas.microsoft.com/office/powerpoint/2010/main" val="9984243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13BE2-2960-495F-A30D-F34CB845EB4F}"/>
              </a:ext>
            </a:extLst>
          </p:cNvPr>
          <p:cNvSpPr>
            <a:spLocks noGrp="1"/>
          </p:cNvSpPr>
          <p:nvPr>
            <p:ph type="title"/>
          </p:nvPr>
        </p:nvSpPr>
        <p:spPr/>
        <p:txBody>
          <a:bodyPr>
            <a:normAutofit fontScale="90000"/>
          </a:bodyPr>
          <a:lstStyle/>
          <a:p>
            <a:r>
              <a:rPr lang="zh-CN" altLang="en-US"/>
              <a:t>行、列存储比较</a:t>
            </a:r>
          </a:p>
        </p:txBody>
      </p:sp>
      <p:pic>
        <p:nvPicPr>
          <p:cNvPr id="5" name="图片 4">
            <a:extLst>
              <a:ext uri="{FF2B5EF4-FFF2-40B4-BE49-F238E27FC236}">
                <a16:creationId xmlns:a16="http://schemas.microsoft.com/office/drawing/2014/main" id="{DE06F3D4-029D-4F26-AF07-C75D724DD466}"/>
              </a:ext>
            </a:extLst>
          </p:cNvPr>
          <p:cNvPicPr>
            <a:picLocks noChangeAspect="1"/>
          </p:cNvPicPr>
          <p:nvPr/>
        </p:nvPicPr>
        <p:blipFill>
          <a:blip r:embed="rId3"/>
          <a:stretch>
            <a:fillRect/>
          </a:stretch>
        </p:blipFill>
        <p:spPr>
          <a:xfrm>
            <a:off x="4139952" y="0"/>
            <a:ext cx="4252699" cy="1779662"/>
          </a:xfrm>
          <a:prstGeom prst="rect">
            <a:avLst/>
          </a:prstGeom>
        </p:spPr>
      </p:pic>
      <p:pic>
        <p:nvPicPr>
          <p:cNvPr id="6" name="图片 5">
            <a:extLst>
              <a:ext uri="{FF2B5EF4-FFF2-40B4-BE49-F238E27FC236}">
                <a16:creationId xmlns:a16="http://schemas.microsoft.com/office/drawing/2014/main" id="{8AECD2B6-17A7-4C3B-A314-8526FD364E78}"/>
              </a:ext>
            </a:extLst>
          </p:cNvPr>
          <p:cNvPicPr>
            <a:picLocks noChangeAspect="1"/>
          </p:cNvPicPr>
          <p:nvPr/>
        </p:nvPicPr>
        <p:blipFill>
          <a:blip r:embed="rId4"/>
          <a:stretch>
            <a:fillRect/>
          </a:stretch>
        </p:blipFill>
        <p:spPr>
          <a:xfrm>
            <a:off x="395536" y="1967654"/>
            <a:ext cx="3842512" cy="2658841"/>
          </a:xfrm>
          <a:prstGeom prst="rect">
            <a:avLst/>
          </a:prstGeom>
        </p:spPr>
      </p:pic>
      <p:pic>
        <p:nvPicPr>
          <p:cNvPr id="7" name="图片 6">
            <a:extLst>
              <a:ext uri="{FF2B5EF4-FFF2-40B4-BE49-F238E27FC236}">
                <a16:creationId xmlns:a16="http://schemas.microsoft.com/office/drawing/2014/main" id="{BB25922F-A1A9-47C7-ABA8-106633DA4CD5}"/>
              </a:ext>
            </a:extLst>
          </p:cNvPr>
          <p:cNvPicPr>
            <a:picLocks noChangeAspect="1"/>
          </p:cNvPicPr>
          <p:nvPr/>
        </p:nvPicPr>
        <p:blipFill>
          <a:blip r:embed="rId5"/>
          <a:stretch>
            <a:fillRect/>
          </a:stretch>
        </p:blipFill>
        <p:spPr>
          <a:xfrm>
            <a:off x="5148064" y="1739486"/>
            <a:ext cx="3939921" cy="2916798"/>
          </a:xfrm>
          <a:prstGeom prst="rect">
            <a:avLst/>
          </a:prstGeom>
        </p:spPr>
      </p:pic>
      <p:sp>
        <p:nvSpPr>
          <p:cNvPr id="8" name="文本框 7">
            <a:extLst>
              <a:ext uri="{FF2B5EF4-FFF2-40B4-BE49-F238E27FC236}">
                <a16:creationId xmlns:a16="http://schemas.microsoft.com/office/drawing/2014/main" id="{48C1FD65-6D2A-43E4-B377-0FF5C396CA9E}"/>
              </a:ext>
            </a:extLst>
          </p:cNvPr>
          <p:cNvSpPr txBox="1"/>
          <p:nvPr/>
        </p:nvSpPr>
        <p:spPr>
          <a:xfrm>
            <a:off x="1331640" y="4656284"/>
            <a:ext cx="877163" cy="369332"/>
          </a:xfrm>
          <a:prstGeom prst="rect">
            <a:avLst/>
          </a:prstGeom>
          <a:noFill/>
        </p:spPr>
        <p:txBody>
          <a:bodyPr wrap="none" rtlCol="0">
            <a:spAutoFit/>
          </a:bodyPr>
          <a:lstStyle/>
          <a:p>
            <a:r>
              <a:rPr lang="zh-CN" altLang="en-US"/>
              <a:t>行存储</a:t>
            </a:r>
          </a:p>
        </p:txBody>
      </p:sp>
      <p:sp>
        <p:nvSpPr>
          <p:cNvPr id="9" name="文本框 8">
            <a:extLst>
              <a:ext uri="{FF2B5EF4-FFF2-40B4-BE49-F238E27FC236}">
                <a16:creationId xmlns:a16="http://schemas.microsoft.com/office/drawing/2014/main" id="{9858B3D7-0FAA-40BF-AB58-535827B5150A}"/>
              </a:ext>
            </a:extLst>
          </p:cNvPr>
          <p:cNvSpPr txBox="1"/>
          <p:nvPr/>
        </p:nvSpPr>
        <p:spPr>
          <a:xfrm>
            <a:off x="6804248" y="4587974"/>
            <a:ext cx="877163" cy="369332"/>
          </a:xfrm>
          <a:prstGeom prst="rect">
            <a:avLst/>
          </a:prstGeom>
          <a:noFill/>
        </p:spPr>
        <p:txBody>
          <a:bodyPr wrap="none" rtlCol="0">
            <a:spAutoFit/>
          </a:bodyPr>
          <a:lstStyle/>
          <a:p>
            <a:r>
              <a:rPr lang="zh-CN" altLang="en-US"/>
              <a:t>列存储</a:t>
            </a:r>
          </a:p>
        </p:txBody>
      </p:sp>
    </p:spTree>
    <p:extLst>
      <p:ext uri="{BB962C8B-B14F-4D97-AF65-F5344CB8AC3E}">
        <p14:creationId xmlns:p14="http://schemas.microsoft.com/office/powerpoint/2010/main" val="993551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73C5E9-05B3-483A-814B-C9E580BF9D12}"/>
              </a:ext>
            </a:extLst>
          </p:cNvPr>
          <p:cNvSpPr>
            <a:spLocks noGrp="1"/>
          </p:cNvSpPr>
          <p:nvPr>
            <p:ph type="title"/>
          </p:nvPr>
        </p:nvSpPr>
        <p:spPr/>
        <p:txBody>
          <a:bodyPr>
            <a:normAutofit fontScale="90000"/>
          </a:bodyPr>
          <a:lstStyle/>
          <a:p>
            <a:r>
              <a:rPr lang="zh-CN" altLang="en-US" dirty="0"/>
              <a:t>命名空间</a:t>
            </a:r>
          </a:p>
        </p:txBody>
      </p:sp>
      <p:sp>
        <p:nvSpPr>
          <p:cNvPr id="3" name="内容占位符 2">
            <a:extLst>
              <a:ext uri="{FF2B5EF4-FFF2-40B4-BE49-F238E27FC236}">
                <a16:creationId xmlns:a16="http://schemas.microsoft.com/office/drawing/2014/main" id="{D9973CB4-ECE0-4275-B1AC-64276C400529}"/>
              </a:ext>
            </a:extLst>
          </p:cNvPr>
          <p:cNvSpPr>
            <a:spLocks noGrp="1"/>
          </p:cNvSpPr>
          <p:nvPr>
            <p:ph idx="1"/>
          </p:nvPr>
        </p:nvSpPr>
        <p:spPr>
          <a:xfrm>
            <a:off x="457200" y="1131590"/>
            <a:ext cx="8229600" cy="3394472"/>
          </a:xfrm>
        </p:spPr>
        <p:txBody>
          <a:bodyPr>
            <a:normAutofit/>
          </a:bodyPr>
          <a:lstStyle/>
          <a:p>
            <a:pPr>
              <a:lnSpc>
                <a:spcPct val="150000"/>
              </a:lnSpc>
            </a:pPr>
            <a:r>
              <a:rPr lang="zh-CN" altLang="en-US" sz="2800" dirty="0"/>
              <a:t>命名空间是一个数据表的逻辑组结构，用来对应关系型数据库中数据库的概念。这一抽象概念也为即将推出的多租户概念提供基础支持，包括命名空间的配额管理、安全性管理，区域服务器组等。</a:t>
            </a:r>
          </a:p>
        </p:txBody>
      </p:sp>
    </p:spTree>
    <p:extLst>
      <p:ext uri="{BB962C8B-B14F-4D97-AF65-F5344CB8AC3E}">
        <p14:creationId xmlns:p14="http://schemas.microsoft.com/office/powerpoint/2010/main" val="656796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73C5E9-05B3-483A-814B-C9E580BF9D12}"/>
              </a:ext>
            </a:extLst>
          </p:cNvPr>
          <p:cNvSpPr>
            <a:spLocks noGrp="1"/>
          </p:cNvSpPr>
          <p:nvPr>
            <p:ph type="title"/>
          </p:nvPr>
        </p:nvSpPr>
        <p:spPr/>
        <p:txBody>
          <a:bodyPr>
            <a:normAutofit fontScale="90000"/>
          </a:bodyPr>
          <a:lstStyle/>
          <a:p>
            <a:r>
              <a:rPr lang="zh-CN" altLang="en-US" dirty="0"/>
              <a:t>命名空间</a:t>
            </a:r>
          </a:p>
        </p:txBody>
      </p:sp>
      <p:sp>
        <p:nvSpPr>
          <p:cNvPr id="3" name="内容占位符 2">
            <a:extLst>
              <a:ext uri="{FF2B5EF4-FFF2-40B4-BE49-F238E27FC236}">
                <a16:creationId xmlns:a16="http://schemas.microsoft.com/office/drawing/2014/main" id="{D9973CB4-ECE0-4275-B1AC-64276C400529}"/>
              </a:ext>
            </a:extLst>
          </p:cNvPr>
          <p:cNvSpPr>
            <a:spLocks noGrp="1"/>
          </p:cNvSpPr>
          <p:nvPr>
            <p:ph idx="1"/>
          </p:nvPr>
        </p:nvSpPr>
        <p:spPr>
          <a:xfrm>
            <a:off x="457200" y="1200151"/>
            <a:ext cx="8507288" cy="3394472"/>
          </a:xfrm>
        </p:spPr>
        <p:txBody>
          <a:bodyPr>
            <a:normAutofit fontScale="92500"/>
          </a:bodyPr>
          <a:lstStyle/>
          <a:p>
            <a:r>
              <a:rPr lang="zh-CN" altLang="en-US" dirty="0"/>
              <a:t>创建命名空间“</a:t>
            </a:r>
            <a:r>
              <a:rPr lang="en-US" altLang="zh-CN" dirty="0" err="1"/>
              <a:t>my_ns</a:t>
            </a:r>
            <a:r>
              <a:rPr lang="en-US" altLang="zh-CN" dirty="0"/>
              <a:t>“</a:t>
            </a:r>
            <a:r>
              <a:rPr lang="zh-CN" altLang="en-US" dirty="0"/>
              <a:t>：</a:t>
            </a:r>
            <a:endParaRPr lang="en-US" altLang="zh-CN" dirty="0"/>
          </a:p>
          <a:p>
            <a:pPr lvl="1"/>
            <a:r>
              <a:rPr lang="en-US" altLang="zh-CN" dirty="0" err="1"/>
              <a:t>create_namespace</a:t>
            </a:r>
            <a:r>
              <a:rPr lang="en-US" altLang="zh-CN" dirty="0"/>
              <a:t> '</a:t>
            </a:r>
            <a:r>
              <a:rPr lang="en-US" altLang="zh-CN" dirty="0" err="1"/>
              <a:t>my_ns</a:t>
            </a:r>
            <a:r>
              <a:rPr lang="en-US" altLang="zh-CN" dirty="0"/>
              <a:t>'</a:t>
            </a:r>
          </a:p>
          <a:p>
            <a:r>
              <a:rPr lang="zh-CN" altLang="en-US" dirty="0"/>
              <a:t>在命名空间“</a:t>
            </a:r>
            <a:r>
              <a:rPr lang="en-US" altLang="zh-CN" dirty="0" err="1"/>
              <a:t>my_ns</a:t>
            </a:r>
            <a:r>
              <a:rPr lang="en-US" altLang="zh-CN" dirty="0"/>
              <a:t>“</a:t>
            </a:r>
            <a:r>
              <a:rPr lang="zh-CN" altLang="en-US" dirty="0"/>
              <a:t>中创建数据表”</a:t>
            </a:r>
            <a:r>
              <a:rPr lang="en-US" altLang="zh-CN" dirty="0" err="1"/>
              <a:t>my</a:t>
            </a:r>
            <a:r>
              <a:rPr lang="en-US" altLang="zh-CN" err="1"/>
              <a:t>_</a:t>
            </a:r>
            <a:r>
              <a:rPr lang="en-US" altLang="zh-CN"/>
              <a:t>table</a:t>
            </a:r>
            <a:r>
              <a:rPr lang="zh-CN" altLang="en-US"/>
              <a:t>：</a:t>
            </a:r>
            <a:endParaRPr lang="en-US" altLang="zh-CN" dirty="0"/>
          </a:p>
          <a:p>
            <a:pPr lvl="1"/>
            <a:r>
              <a:rPr lang="en-US" altLang="zh-CN" dirty="0"/>
              <a:t>create '</a:t>
            </a:r>
            <a:r>
              <a:rPr lang="en-US" altLang="zh-CN" dirty="0" err="1"/>
              <a:t>my_ns:my_table</a:t>
            </a:r>
            <a:r>
              <a:rPr lang="en-US" altLang="zh-CN" dirty="0"/>
              <a:t>', 'fam'</a:t>
            </a:r>
          </a:p>
          <a:p>
            <a:r>
              <a:rPr lang="zh-CN" altLang="en-US" dirty="0"/>
              <a:t>删除命名空间“</a:t>
            </a:r>
            <a:r>
              <a:rPr lang="en-US" altLang="zh-CN" dirty="0" err="1"/>
              <a:t>my_ns</a:t>
            </a:r>
            <a:r>
              <a:rPr lang="en-US" altLang="zh-CN" dirty="0"/>
              <a:t>”</a:t>
            </a:r>
            <a:r>
              <a:rPr lang="zh-CN" altLang="en-US" dirty="0"/>
              <a:t>：</a:t>
            </a:r>
            <a:endParaRPr lang="en-US" altLang="zh-CN" dirty="0"/>
          </a:p>
          <a:p>
            <a:pPr lvl="1"/>
            <a:r>
              <a:rPr lang="en-US" altLang="zh-CN" dirty="0" err="1"/>
              <a:t>drop_namespace</a:t>
            </a:r>
            <a:r>
              <a:rPr lang="en-US" altLang="zh-CN" dirty="0"/>
              <a:t> '</a:t>
            </a:r>
            <a:r>
              <a:rPr lang="en-US" altLang="zh-CN" dirty="0" err="1"/>
              <a:t>my_ns</a:t>
            </a:r>
            <a:r>
              <a:rPr lang="en-US" altLang="zh-CN" dirty="0"/>
              <a:t>'</a:t>
            </a:r>
          </a:p>
          <a:p>
            <a:endParaRPr lang="zh-CN" altLang="en-US" dirty="0"/>
          </a:p>
        </p:txBody>
      </p:sp>
    </p:spTree>
    <p:extLst>
      <p:ext uri="{BB962C8B-B14F-4D97-AF65-F5344CB8AC3E}">
        <p14:creationId xmlns:p14="http://schemas.microsoft.com/office/powerpoint/2010/main" val="25868196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73C5E9-05B3-483A-814B-C9E580BF9D12}"/>
              </a:ext>
            </a:extLst>
          </p:cNvPr>
          <p:cNvSpPr>
            <a:spLocks noGrp="1"/>
          </p:cNvSpPr>
          <p:nvPr>
            <p:ph type="title"/>
          </p:nvPr>
        </p:nvSpPr>
        <p:spPr/>
        <p:txBody>
          <a:bodyPr>
            <a:normAutofit fontScale="90000"/>
          </a:bodyPr>
          <a:lstStyle/>
          <a:p>
            <a:r>
              <a:rPr lang="zh-CN" altLang="en-US" dirty="0"/>
              <a:t>命名空间</a:t>
            </a:r>
          </a:p>
        </p:txBody>
      </p:sp>
      <p:sp>
        <p:nvSpPr>
          <p:cNvPr id="3" name="内容占位符 2">
            <a:extLst>
              <a:ext uri="{FF2B5EF4-FFF2-40B4-BE49-F238E27FC236}">
                <a16:creationId xmlns:a16="http://schemas.microsoft.com/office/drawing/2014/main" id="{D9973CB4-ECE0-4275-B1AC-64276C400529}"/>
              </a:ext>
            </a:extLst>
          </p:cNvPr>
          <p:cNvSpPr>
            <a:spLocks noGrp="1"/>
          </p:cNvSpPr>
          <p:nvPr>
            <p:ph idx="1"/>
          </p:nvPr>
        </p:nvSpPr>
        <p:spPr/>
        <p:txBody>
          <a:bodyPr>
            <a:normAutofit lnSpcReduction="10000"/>
          </a:bodyPr>
          <a:lstStyle/>
          <a:p>
            <a:r>
              <a:rPr lang="zh-CN" altLang="en-US" dirty="0"/>
              <a:t>预定义的命名空间</a:t>
            </a:r>
            <a:endParaRPr lang="en-US" altLang="zh-CN" dirty="0"/>
          </a:p>
          <a:p>
            <a:pPr lvl="1"/>
            <a:r>
              <a:rPr lang="en-US" altLang="zh-CN" dirty="0"/>
              <a:t>HBase</a:t>
            </a:r>
            <a:r>
              <a:rPr lang="zh-CN" altLang="en-US" dirty="0"/>
              <a:t>和</a:t>
            </a:r>
            <a:r>
              <a:rPr lang="en-US" altLang="zh-CN" dirty="0"/>
              <a:t>default</a:t>
            </a:r>
            <a:r>
              <a:rPr lang="zh-CN" altLang="en-US" dirty="0"/>
              <a:t>，其中：</a:t>
            </a:r>
          </a:p>
          <a:p>
            <a:pPr lvl="1"/>
            <a:r>
              <a:rPr lang="en-US" altLang="zh-CN" dirty="0"/>
              <a:t>HBase</a:t>
            </a:r>
            <a:r>
              <a:rPr lang="zh-CN" altLang="en-US" dirty="0"/>
              <a:t>：是系统命名空间，用于包含</a:t>
            </a:r>
            <a:r>
              <a:rPr lang="en-US" altLang="zh-CN" dirty="0"/>
              <a:t>HBase</a:t>
            </a:r>
            <a:r>
              <a:rPr lang="zh-CN" altLang="en-US" dirty="0"/>
              <a:t>内部数据表；</a:t>
            </a:r>
          </a:p>
          <a:p>
            <a:pPr lvl="1"/>
            <a:r>
              <a:rPr lang="en-US" altLang="zh-CN" dirty="0"/>
              <a:t>default</a:t>
            </a:r>
            <a:r>
              <a:rPr lang="zh-CN" altLang="en-US" dirty="0"/>
              <a:t>：是缺省命名空间，若所创建的数据表没有指定命名空间，则数据表将自动分配到</a:t>
            </a:r>
            <a:r>
              <a:rPr lang="en-US" altLang="zh-CN" dirty="0"/>
              <a:t>default</a:t>
            </a:r>
            <a:r>
              <a:rPr lang="zh-CN" altLang="en-US" dirty="0"/>
              <a:t>命名空间中。</a:t>
            </a:r>
          </a:p>
          <a:p>
            <a:endParaRPr lang="zh-CN" altLang="en-US" dirty="0"/>
          </a:p>
        </p:txBody>
      </p:sp>
    </p:spTree>
    <p:extLst>
      <p:ext uri="{BB962C8B-B14F-4D97-AF65-F5344CB8AC3E}">
        <p14:creationId xmlns:p14="http://schemas.microsoft.com/office/powerpoint/2010/main" val="28744734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236445"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HBase</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 </a:t>
            </a:r>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Shell</a:t>
            </a:r>
            <a:endPar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endParaRP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05</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8174689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 Shell</a:t>
            </a:r>
            <a:r>
              <a:rPr lang="zh-CN" altLang="en-US" dirty="0"/>
              <a:t>概述</a:t>
            </a:r>
          </a:p>
        </p:txBody>
      </p:sp>
      <p:sp>
        <p:nvSpPr>
          <p:cNvPr id="6" name="内容占位符 5">
            <a:extLst>
              <a:ext uri="{FF2B5EF4-FFF2-40B4-BE49-F238E27FC236}">
                <a16:creationId xmlns:a16="http://schemas.microsoft.com/office/drawing/2014/main" id="{652D7956-267C-4E18-B2EE-13876871684F}"/>
              </a:ext>
            </a:extLst>
          </p:cNvPr>
          <p:cNvSpPr>
            <a:spLocks noGrp="1"/>
          </p:cNvSpPr>
          <p:nvPr>
            <p:ph idx="1"/>
          </p:nvPr>
        </p:nvSpPr>
        <p:spPr/>
        <p:txBody>
          <a:bodyPr>
            <a:normAutofit fontScale="77500" lnSpcReduction="20000"/>
          </a:bodyPr>
          <a:lstStyle/>
          <a:p>
            <a:r>
              <a:rPr lang="en-US" altLang="zh-CN" dirty="0"/>
              <a:t>HBase Shell</a:t>
            </a:r>
            <a:r>
              <a:rPr lang="zh-CN" altLang="en-US" dirty="0"/>
              <a:t>是与</a:t>
            </a:r>
            <a:r>
              <a:rPr lang="en-US" altLang="zh-CN" dirty="0"/>
              <a:t>HBase</a:t>
            </a:r>
            <a:r>
              <a:rPr lang="zh-CN" altLang="en-US" dirty="0"/>
              <a:t>进行交互的主要模式之一，其提供了丰富的交互命令，其命令按照功能又可以分为若干组：</a:t>
            </a:r>
          </a:p>
          <a:p>
            <a:pPr lvl="1"/>
            <a:r>
              <a:rPr lang="zh-CN" altLang="en-US" dirty="0"/>
              <a:t>通用组</a:t>
            </a:r>
            <a:r>
              <a:rPr lang="en-US" altLang="zh-CN" dirty="0"/>
              <a:t>(General Group)</a:t>
            </a:r>
            <a:r>
              <a:rPr lang="zh-CN" altLang="en-US" dirty="0"/>
              <a:t>：</a:t>
            </a:r>
            <a:r>
              <a:rPr lang="en-US" altLang="zh-CN" dirty="0" err="1"/>
              <a:t>processlist</a:t>
            </a:r>
            <a:r>
              <a:rPr lang="en-US" altLang="zh-CN" dirty="0"/>
              <a:t>, status, </a:t>
            </a:r>
            <a:r>
              <a:rPr lang="en-US" altLang="zh-CN" dirty="0" err="1"/>
              <a:t>table_help</a:t>
            </a:r>
            <a:r>
              <a:rPr lang="en-US" altLang="zh-CN" dirty="0"/>
              <a:t>, …</a:t>
            </a:r>
          </a:p>
          <a:p>
            <a:pPr lvl="1"/>
            <a:r>
              <a:rPr lang="zh-CN" altLang="en-US" b="1">
                <a:solidFill>
                  <a:srgbClr val="FF0000"/>
                </a:solidFill>
              </a:rPr>
              <a:t>数据定义组</a:t>
            </a:r>
            <a:r>
              <a:rPr lang="en-US" altLang="zh-CN" b="1">
                <a:solidFill>
                  <a:srgbClr val="FF0000"/>
                </a:solidFill>
              </a:rPr>
              <a:t>(DDL Group)</a:t>
            </a:r>
            <a:r>
              <a:rPr lang="zh-CN" altLang="en-US" b="1">
                <a:solidFill>
                  <a:srgbClr val="FF0000"/>
                </a:solidFill>
              </a:rPr>
              <a:t>：</a:t>
            </a:r>
            <a:r>
              <a:rPr lang="en-US" altLang="zh-CN" b="1">
                <a:solidFill>
                  <a:srgbClr val="FF0000"/>
                </a:solidFill>
              </a:rPr>
              <a:t>alter, alter_async, alter_status , …</a:t>
            </a:r>
          </a:p>
          <a:p>
            <a:pPr lvl="1"/>
            <a:r>
              <a:rPr lang="zh-CN" altLang="en-US" b="1">
                <a:solidFill>
                  <a:srgbClr val="FF0000"/>
                </a:solidFill>
              </a:rPr>
              <a:t>数据操纵组</a:t>
            </a:r>
            <a:r>
              <a:rPr lang="en-US" altLang="zh-CN" b="1">
                <a:solidFill>
                  <a:srgbClr val="FF0000"/>
                </a:solidFill>
              </a:rPr>
              <a:t>(DML Group)</a:t>
            </a:r>
            <a:r>
              <a:rPr lang="zh-CN" altLang="en-US" b="1">
                <a:solidFill>
                  <a:srgbClr val="FF0000"/>
                </a:solidFill>
              </a:rPr>
              <a:t>：</a:t>
            </a:r>
            <a:r>
              <a:rPr lang="en-US" altLang="zh-CN" b="1">
                <a:solidFill>
                  <a:srgbClr val="FF0000"/>
                </a:solidFill>
              </a:rPr>
              <a:t>append, count, delete, deleteall , …</a:t>
            </a:r>
          </a:p>
          <a:p>
            <a:pPr lvl="1"/>
            <a:r>
              <a:rPr lang="zh-CN" altLang="en-US"/>
              <a:t>命名</a:t>
            </a:r>
            <a:r>
              <a:rPr lang="zh-CN" altLang="en-US" dirty="0"/>
              <a:t>空间组</a:t>
            </a:r>
            <a:r>
              <a:rPr lang="en-US" altLang="zh-CN" dirty="0"/>
              <a:t>(</a:t>
            </a:r>
            <a:r>
              <a:rPr lang="en-US" altLang="zh-CN" dirty="0" err="1"/>
              <a:t>NameSpace</a:t>
            </a:r>
            <a:r>
              <a:rPr lang="en-US" altLang="zh-CN" dirty="0"/>
              <a:t> Group)</a:t>
            </a:r>
            <a:r>
              <a:rPr lang="zh-CN" altLang="en-US" dirty="0"/>
              <a:t>：</a:t>
            </a:r>
            <a:r>
              <a:rPr lang="en-US" altLang="zh-CN" dirty="0" err="1"/>
              <a:t>alter_namespace</a:t>
            </a:r>
            <a:r>
              <a:rPr lang="en-US" altLang="zh-CN" dirty="0"/>
              <a:t> , …</a:t>
            </a:r>
          </a:p>
          <a:p>
            <a:pPr lvl="1"/>
            <a:r>
              <a:rPr lang="zh-CN" altLang="en-US"/>
              <a:t>工具</a:t>
            </a:r>
            <a:r>
              <a:rPr lang="zh-CN" altLang="en-US" dirty="0"/>
              <a:t>组</a:t>
            </a:r>
            <a:r>
              <a:rPr lang="en-US" altLang="zh-CN" dirty="0"/>
              <a:t>(Tools Group)</a:t>
            </a:r>
            <a:r>
              <a:rPr lang="zh-CN" altLang="en-US" dirty="0"/>
              <a:t>：</a:t>
            </a:r>
            <a:r>
              <a:rPr lang="en-US" altLang="zh-CN" dirty="0"/>
              <a:t>assign, </a:t>
            </a:r>
            <a:r>
              <a:rPr lang="en-US" altLang="zh-CN" dirty="0" err="1"/>
              <a:t>balance_switch</a:t>
            </a:r>
            <a:r>
              <a:rPr lang="en-US" altLang="zh-CN" dirty="0"/>
              <a:t>, balancer , …</a:t>
            </a:r>
          </a:p>
          <a:p>
            <a:pPr lvl="1"/>
            <a:r>
              <a:rPr lang="zh-CN" altLang="en-US" dirty="0"/>
              <a:t>备份组</a:t>
            </a:r>
            <a:r>
              <a:rPr lang="en-US" altLang="zh-CN" dirty="0"/>
              <a:t>(Replication Group)</a:t>
            </a:r>
            <a:r>
              <a:rPr lang="zh-CN" altLang="en-US" dirty="0"/>
              <a:t>：</a:t>
            </a:r>
            <a:r>
              <a:rPr lang="en-US" altLang="zh-CN" dirty="0" err="1"/>
              <a:t>add_peer</a:t>
            </a:r>
            <a:r>
              <a:rPr lang="en-US" altLang="zh-CN" dirty="0"/>
              <a:t> , …</a:t>
            </a:r>
          </a:p>
          <a:p>
            <a:pPr lvl="1"/>
            <a:r>
              <a:rPr lang="zh-CN" altLang="en-US" dirty="0"/>
              <a:t>快照组</a:t>
            </a:r>
            <a:r>
              <a:rPr lang="en-US" altLang="zh-CN" dirty="0"/>
              <a:t>(Snapshots)</a:t>
            </a:r>
            <a:r>
              <a:rPr lang="zh-CN" altLang="en-US" dirty="0"/>
              <a:t>：</a:t>
            </a:r>
            <a:r>
              <a:rPr lang="en-US" altLang="zh-CN" dirty="0" err="1"/>
              <a:t>clone_snapshot</a:t>
            </a:r>
            <a:r>
              <a:rPr lang="en-US" altLang="zh-CN" dirty="0"/>
              <a:t>, </a:t>
            </a:r>
            <a:r>
              <a:rPr lang="en-US" altLang="zh-CN" dirty="0" err="1"/>
              <a:t>delete_all_snapshot</a:t>
            </a:r>
            <a:r>
              <a:rPr lang="en-US" altLang="zh-CN" dirty="0"/>
              <a:t> , …</a:t>
            </a:r>
          </a:p>
          <a:p>
            <a:pPr lvl="1"/>
            <a:endParaRPr lang="en-US" altLang="zh-CN" dirty="0"/>
          </a:p>
        </p:txBody>
      </p:sp>
    </p:spTree>
    <p:extLst>
      <p:ext uri="{BB962C8B-B14F-4D97-AF65-F5344CB8AC3E}">
        <p14:creationId xmlns:p14="http://schemas.microsoft.com/office/powerpoint/2010/main" val="13280843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HBase Shell</a:t>
            </a:r>
            <a:r>
              <a:rPr lang="zh-CN" altLang="en-US" dirty="0"/>
              <a:t>概述</a:t>
            </a:r>
          </a:p>
        </p:txBody>
      </p:sp>
      <p:sp>
        <p:nvSpPr>
          <p:cNvPr id="6" name="内容占位符 5">
            <a:extLst>
              <a:ext uri="{FF2B5EF4-FFF2-40B4-BE49-F238E27FC236}">
                <a16:creationId xmlns:a16="http://schemas.microsoft.com/office/drawing/2014/main" id="{652D7956-267C-4E18-B2EE-13876871684F}"/>
              </a:ext>
            </a:extLst>
          </p:cNvPr>
          <p:cNvSpPr>
            <a:spLocks noGrp="1"/>
          </p:cNvSpPr>
          <p:nvPr>
            <p:ph idx="1"/>
          </p:nvPr>
        </p:nvSpPr>
        <p:spPr>
          <a:xfrm>
            <a:off x="457200" y="1131590"/>
            <a:ext cx="8229600" cy="3394472"/>
          </a:xfrm>
        </p:spPr>
        <p:txBody>
          <a:bodyPr>
            <a:normAutofit fontScale="70000" lnSpcReduction="20000"/>
          </a:bodyPr>
          <a:lstStyle/>
          <a:p>
            <a:r>
              <a:rPr lang="en-US" altLang="zh-CN" dirty="0"/>
              <a:t>HBase Shell</a:t>
            </a:r>
            <a:r>
              <a:rPr lang="zh-CN" altLang="en-US" dirty="0"/>
              <a:t>是与</a:t>
            </a:r>
            <a:r>
              <a:rPr lang="en-US" altLang="zh-CN" dirty="0"/>
              <a:t>HBase</a:t>
            </a:r>
            <a:r>
              <a:rPr lang="zh-CN" altLang="en-US" dirty="0"/>
              <a:t>进行交互的主要模式之一，其提供了丰富的交互命令，其命令按照功能又可以分为若干组：</a:t>
            </a:r>
          </a:p>
          <a:p>
            <a:pPr lvl="1"/>
            <a:r>
              <a:rPr lang="zh-CN" altLang="en-US" dirty="0"/>
              <a:t>配置组（</a:t>
            </a:r>
            <a:r>
              <a:rPr lang="en-US" altLang="zh-CN" dirty="0"/>
              <a:t>Configuration Group</a:t>
            </a:r>
            <a:r>
              <a:rPr lang="zh-CN" altLang="en-US" dirty="0"/>
              <a:t>）：</a:t>
            </a:r>
            <a:r>
              <a:rPr lang="en-US" altLang="zh-CN" dirty="0" err="1"/>
              <a:t>update_all_config</a:t>
            </a:r>
            <a:r>
              <a:rPr lang="en-US" altLang="zh-CN" dirty="0"/>
              <a:t>, </a:t>
            </a:r>
            <a:r>
              <a:rPr lang="en-US" altLang="zh-CN" dirty="0" err="1"/>
              <a:t>update_config</a:t>
            </a:r>
            <a:endParaRPr lang="en-US" altLang="zh-CN" dirty="0"/>
          </a:p>
          <a:p>
            <a:pPr lvl="1"/>
            <a:r>
              <a:rPr lang="zh-CN" altLang="en-US" dirty="0"/>
              <a:t>配额组</a:t>
            </a:r>
            <a:r>
              <a:rPr lang="en-US" altLang="zh-CN" dirty="0"/>
              <a:t>(Quotas Group)</a:t>
            </a:r>
            <a:r>
              <a:rPr lang="zh-CN" altLang="en-US" dirty="0"/>
              <a:t>：</a:t>
            </a:r>
            <a:r>
              <a:rPr lang="en-US" altLang="zh-CN" dirty="0" err="1"/>
              <a:t>disable_exceed_throttle_quota</a:t>
            </a:r>
            <a:r>
              <a:rPr lang="en-US" altLang="zh-CN" dirty="0"/>
              <a:t> , …</a:t>
            </a:r>
          </a:p>
          <a:p>
            <a:pPr lvl="1"/>
            <a:r>
              <a:rPr lang="zh-CN" altLang="en-US" dirty="0"/>
              <a:t>安全设置组（</a:t>
            </a:r>
            <a:r>
              <a:rPr lang="en-US" altLang="zh-CN" dirty="0"/>
              <a:t>Security Group</a:t>
            </a:r>
            <a:r>
              <a:rPr lang="zh-CN" altLang="en-US" dirty="0"/>
              <a:t>）： </a:t>
            </a:r>
            <a:r>
              <a:rPr lang="en-US" altLang="zh-CN" dirty="0"/>
              <a:t>grant, </a:t>
            </a:r>
            <a:r>
              <a:rPr lang="en-US" altLang="zh-CN" dirty="0" err="1"/>
              <a:t>list_security_capabilities</a:t>
            </a:r>
            <a:r>
              <a:rPr lang="en-US" altLang="zh-CN" dirty="0"/>
              <a:t>,  …</a:t>
            </a:r>
          </a:p>
          <a:p>
            <a:pPr lvl="1"/>
            <a:r>
              <a:rPr lang="zh-CN" altLang="en-US" dirty="0"/>
              <a:t>过程组（</a:t>
            </a:r>
            <a:r>
              <a:rPr lang="en-US" altLang="zh-CN" dirty="0"/>
              <a:t>procedures Group</a:t>
            </a:r>
            <a:r>
              <a:rPr lang="zh-CN" altLang="en-US" dirty="0"/>
              <a:t>）： </a:t>
            </a:r>
            <a:r>
              <a:rPr lang="en-US" altLang="zh-CN" dirty="0" err="1"/>
              <a:t>list_locks</a:t>
            </a:r>
            <a:r>
              <a:rPr lang="en-US" altLang="zh-CN" dirty="0"/>
              <a:t>, </a:t>
            </a:r>
            <a:r>
              <a:rPr lang="en-US" altLang="zh-CN" dirty="0" err="1"/>
              <a:t>list_procedures</a:t>
            </a:r>
            <a:r>
              <a:rPr lang="en-US" altLang="zh-CN" dirty="0"/>
              <a:t> , …</a:t>
            </a:r>
          </a:p>
          <a:p>
            <a:pPr lvl="1"/>
            <a:r>
              <a:rPr lang="zh-CN" altLang="en-US" dirty="0"/>
              <a:t>可见性标签（</a:t>
            </a:r>
            <a:r>
              <a:rPr lang="en-US" altLang="zh-CN" dirty="0"/>
              <a:t>visibility labels Group</a:t>
            </a:r>
            <a:r>
              <a:rPr lang="zh-CN" altLang="en-US" dirty="0"/>
              <a:t>）：</a:t>
            </a:r>
            <a:r>
              <a:rPr lang="en-US" altLang="zh-CN" dirty="0" err="1"/>
              <a:t>add_labels</a:t>
            </a:r>
            <a:r>
              <a:rPr lang="en-US" altLang="zh-CN" dirty="0"/>
              <a:t>, </a:t>
            </a:r>
            <a:r>
              <a:rPr lang="en-US" altLang="zh-CN" dirty="0" err="1"/>
              <a:t>clear_auths</a:t>
            </a:r>
            <a:r>
              <a:rPr lang="en-US" altLang="zh-CN" dirty="0"/>
              <a:t>, …</a:t>
            </a:r>
          </a:p>
          <a:p>
            <a:pPr lvl="1"/>
            <a:r>
              <a:rPr lang="zh-CN" altLang="en-US" dirty="0"/>
              <a:t>服务器管理组（</a:t>
            </a:r>
            <a:r>
              <a:rPr lang="en-US" altLang="zh-CN" dirty="0" err="1"/>
              <a:t>rsgroup</a:t>
            </a:r>
            <a:r>
              <a:rPr lang="en-US" altLang="zh-CN" dirty="0"/>
              <a:t> Group</a:t>
            </a:r>
            <a:r>
              <a:rPr lang="zh-CN" altLang="en-US" dirty="0"/>
              <a:t>）：</a:t>
            </a:r>
            <a:r>
              <a:rPr lang="en-US" altLang="zh-CN" dirty="0" err="1"/>
              <a:t>add_rsgroup</a:t>
            </a:r>
            <a:r>
              <a:rPr lang="en-US" altLang="zh-CN" dirty="0"/>
              <a:t>, </a:t>
            </a:r>
            <a:r>
              <a:rPr lang="en-US" altLang="zh-CN" dirty="0" err="1"/>
              <a:t>alter_rsgroup_config</a:t>
            </a:r>
            <a:r>
              <a:rPr lang="en-US" altLang="zh-CN" dirty="0"/>
              <a:t> , …</a:t>
            </a:r>
          </a:p>
          <a:p>
            <a:pPr lvl="1"/>
            <a:endParaRPr lang="en-US" altLang="zh-CN" dirty="0"/>
          </a:p>
          <a:p>
            <a:r>
              <a:rPr lang="zh-CN" altLang="en-US" b="1" dirty="0">
                <a:solidFill>
                  <a:srgbClr val="FF0000"/>
                </a:solidFill>
              </a:rPr>
              <a:t>后续重点介绍</a:t>
            </a:r>
            <a:r>
              <a:rPr lang="en-US" altLang="zh-CN" b="1" dirty="0">
                <a:solidFill>
                  <a:srgbClr val="FF0000"/>
                </a:solidFill>
              </a:rPr>
              <a:t>DML</a:t>
            </a:r>
            <a:r>
              <a:rPr lang="zh-CN" altLang="en-US" b="1" dirty="0">
                <a:solidFill>
                  <a:srgbClr val="FF0000"/>
                </a:solidFill>
              </a:rPr>
              <a:t>、</a:t>
            </a:r>
            <a:r>
              <a:rPr lang="en-US" altLang="zh-CN" b="1" dirty="0">
                <a:solidFill>
                  <a:srgbClr val="FF0000"/>
                </a:solidFill>
              </a:rPr>
              <a:t>DDL</a:t>
            </a:r>
            <a:r>
              <a:rPr lang="zh-CN" altLang="en-US" b="1" dirty="0">
                <a:solidFill>
                  <a:srgbClr val="FF0000"/>
                </a:solidFill>
              </a:rPr>
              <a:t>组的若干交互命令的基本用法</a:t>
            </a:r>
          </a:p>
        </p:txBody>
      </p:sp>
    </p:spTree>
    <p:extLst>
      <p:ext uri="{BB962C8B-B14F-4D97-AF65-F5344CB8AC3E}">
        <p14:creationId xmlns:p14="http://schemas.microsoft.com/office/powerpoint/2010/main" val="30188788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7ACFB5-D71B-4174-8DAA-41B9E79BFC2E}"/>
              </a:ext>
            </a:extLst>
          </p:cNvPr>
          <p:cNvSpPr>
            <a:spLocks noGrp="1"/>
          </p:cNvSpPr>
          <p:nvPr>
            <p:ph type="title"/>
          </p:nvPr>
        </p:nvSpPr>
        <p:spPr/>
        <p:txBody>
          <a:bodyPr>
            <a:normAutofit fontScale="90000"/>
          </a:bodyPr>
          <a:lstStyle/>
          <a:p>
            <a:r>
              <a:rPr lang="zh-CN" altLang="en-US" dirty="0"/>
              <a:t>创建表（</a:t>
            </a:r>
            <a:r>
              <a:rPr lang="en-US" altLang="zh-CN" dirty="0"/>
              <a:t>create</a:t>
            </a:r>
            <a:r>
              <a:rPr lang="zh-CN" altLang="en-US" dirty="0"/>
              <a:t>）</a:t>
            </a:r>
          </a:p>
        </p:txBody>
      </p:sp>
      <p:sp>
        <p:nvSpPr>
          <p:cNvPr id="3" name="内容占位符 2">
            <a:extLst>
              <a:ext uri="{FF2B5EF4-FFF2-40B4-BE49-F238E27FC236}">
                <a16:creationId xmlns:a16="http://schemas.microsoft.com/office/drawing/2014/main" id="{EE07B365-035B-473E-B651-DC55625027AA}"/>
              </a:ext>
            </a:extLst>
          </p:cNvPr>
          <p:cNvSpPr>
            <a:spLocks noGrp="1"/>
          </p:cNvSpPr>
          <p:nvPr>
            <p:ph idx="1"/>
          </p:nvPr>
        </p:nvSpPr>
        <p:spPr>
          <a:xfrm>
            <a:off x="457200" y="1131590"/>
            <a:ext cx="8229600" cy="3394472"/>
          </a:xfrm>
        </p:spPr>
        <p:txBody>
          <a:bodyPr>
            <a:normAutofit/>
          </a:bodyPr>
          <a:lstStyle/>
          <a:p>
            <a:pPr marL="0" indent="0">
              <a:buNone/>
            </a:pPr>
            <a:r>
              <a:rPr lang="en-US" altLang="zh-CN" sz="2600" dirty="0"/>
              <a:t>create ‘ &lt; name of table &gt; ’ , ‘ &lt; name of column family&gt; ’</a:t>
            </a:r>
          </a:p>
          <a:p>
            <a:r>
              <a:rPr lang="zh-CN" altLang="en-US" sz="2400" dirty="0"/>
              <a:t>常用可选</a:t>
            </a:r>
            <a:r>
              <a:rPr lang="zh-CN" altLang="en-US" sz="2400"/>
              <a:t>参数如下：</a:t>
            </a:r>
            <a:endParaRPr lang="en-US" altLang="zh-CN" sz="2400"/>
          </a:p>
          <a:p>
            <a:pPr lvl="1"/>
            <a:r>
              <a:rPr lang="en-US" altLang="zh-CN" sz="2000" b="1">
                <a:solidFill>
                  <a:srgbClr val="FF0000"/>
                </a:solidFill>
              </a:rPr>
              <a:t>Version</a:t>
            </a:r>
            <a:r>
              <a:rPr lang="zh-CN" altLang="en-US" sz="2000"/>
              <a:t>：版本（</a:t>
            </a:r>
            <a:r>
              <a:rPr lang="en-US" altLang="zh-CN" sz="2000"/>
              <a:t>Version</a:t>
            </a:r>
            <a:r>
              <a:rPr lang="zh-CN" altLang="en-US" sz="2000"/>
              <a:t>）是指</a:t>
            </a:r>
            <a:r>
              <a:rPr lang="en-US" altLang="zh-CN" sz="2000"/>
              <a:t>HBase</a:t>
            </a:r>
            <a:r>
              <a:rPr lang="zh-CN" altLang="en-US" sz="2000"/>
              <a:t>中的数据最多可以存储的版本数，若大于该版本数，则删除旧的数据，保存较新版本的数据。</a:t>
            </a:r>
          </a:p>
          <a:p>
            <a:pPr lvl="1"/>
            <a:r>
              <a:rPr lang="en-US" altLang="zh-CN" sz="2000"/>
              <a:t>TTL</a:t>
            </a:r>
            <a:r>
              <a:rPr lang="zh-CN" altLang="en-US" sz="2000"/>
              <a:t>：生存时间（</a:t>
            </a:r>
            <a:r>
              <a:rPr lang="en-US" altLang="zh-CN" sz="2000"/>
              <a:t>TTL</a:t>
            </a:r>
            <a:r>
              <a:rPr lang="zh-CN" altLang="en-US" sz="2000"/>
              <a:t>）用于设置单元格的生存周期，如果单元格过期，则会将其删除，其设置单位是秒，默认值为</a:t>
            </a:r>
            <a:r>
              <a:rPr lang="en-US" altLang="zh-CN" sz="2000"/>
              <a:t>FOREVER(</a:t>
            </a:r>
            <a:r>
              <a:rPr lang="zh-CN" altLang="en-US" sz="2000"/>
              <a:t>永不过期</a:t>
            </a:r>
            <a:r>
              <a:rPr lang="en-US" altLang="zh-CN" sz="2000"/>
              <a:t>)</a:t>
            </a:r>
            <a:r>
              <a:rPr lang="zh-CN" altLang="en-US" sz="2000"/>
              <a:t>。</a:t>
            </a:r>
            <a:endParaRPr lang="zh-CN" altLang="en-US" sz="2000" dirty="0"/>
          </a:p>
          <a:p>
            <a:endParaRPr lang="zh-CN" altLang="en-US" dirty="0"/>
          </a:p>
        </p:txBody>
      </p:sp>
    </p:spTree>
    <p:extLst>
      <p:ext uri="{BB962C8B-B14F-4D97-AF65-F5344CB8AC3E}">
        <p14:creationId xmlns:p14="http://schemas.microsoft.com/office/powerpoint/2010/main" val="1456950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创建表（</a:t>
            </a:r>
            <a:r>
              <a:rPr lang="en-US" altLang="zh-CN" dirty="0"/>
              <a:t>create</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normAutofit/>
          </a:bodyPr>
          <a:lstStyle/>
          <a:p>
            <a:r>
              <a:rPr lang="en-US" altLang="zh-CN" dirty="0"/>
              <a:t>【</a:t>
            </a:r>
            <a:r>
              <a:rPr lang="zh-CN" altLang="en-US" dirty="0"/>
              <a:t>例</a:t>
            </a:r>
            <a:r>
              <a:rPr lang="en-US" altLang="zh-CN" dirty="0"/>
              <a:t>5.2】</a:t>
            </a:r>
            <a:r>
              <a:rPr lang="zh-CN" altLang="en-US" dirty="0"/>
              <a:t>创建命名空间</a:t>
            </a:r>
            <a:r>
              <a:rPr lang="en-US" altLang="zh-CN" dirty="0"/>
              <a:t>ns1</a:t>
            </a:r>
            <a:r>
              <a:rPr lang="zh-CN" altLang="en-US" dirty="0"/>
              <a:t>下的数据表</a:t>
            </a:r>
            <a:r>
              <a:rPr lang="en-US" altLang="zh-CN" dirty="0"/>
              <a:t>t1</a:t>
            </a:r>
            <a:r>
              <a:rPr lang="zh-CN" altLang="en-US" dirty="0"/>
              <a:t>，为该表指定一个列族</a:t>
            </a:r>
            <a:r>
              <a:rPr lang="en-US" altLang="zh-CN" dirty="0"/>
              <a:t>f1</a:t>
            </a:r>
            <a:r>
              <a:rPr lang="zh-CN" altLang="en-US" dirty="0"/>
              <a:t>，列族采用字典模式进行设置，其名称为’</a:t>
            </a:r>
            <a:r>
              <a:rPr lang="en-US" altLang="zh-CN" dirty="0"/>
              <a:t>f1’</a:t>
            </a:r>
            <a:r>
              <a:rPr lang="zh-CN" altLang="en-US" dirty="0"/>
              <a:t>，列族数据同时存在的版本最多为</a:t>
            </a:r>
            <a:r>
              <a:rPr lang="en-US" altLang="zh-CN" dirty="0"/>
              <a:t>2</a:t>
            </a:r>
            <a:r>
              <a:rPr lang="zh-CN" altLang="en-US" dirty="0"/>
              <a:t>个。</a:t>
            </a:r>
          </a:p>
        </p:txBody>
      </p:sp>
      <p:pic>
        <p:nvPicPr>
          <p:cNvPr id="6" name="图片 5">
            <a:extLst>
              <a:ext uri="{FF2B5EF4-FFF2-40B4-BE49-F238E27FC236}">
                <a16:creationId xmlns:a16="http://schemas.microsoft.com/office/drawing/2014/main" id="{1FDD5E1D-C55C-4EA8-81A9-2609E668D9FC}"/>
              </a:ext>
            </a:extLst>
          </p:cNvPr>
          <p:cNvPicPr>
            <a:picLocks noChangeAspect="1"/>
          </p:cNvPicPr>
          <p:nvPr/>
        </p:nvPicPr>
        <p:blipFill rotWithShape="1">
          <a:blip r:embed="rId2"/>
          <a:srcRect b="80681"/>
          <a:stretch/>
        </p:blipFill>
        <p:spPr>
          <a:xfrm>
            <a:off x="80656" y="3579862"/>
            <a:ext cx="8982687" cy="908907"/>
          </a:xfrm>
          <a:prstGeom prst="rect">
            <a:avLst/>
          </a:prstGeom>
        </p:spPr>
      </p:pic>
    </p:spTree>
    <p:extLst>
      <p:ext uri="{BB962C8B-B14F-4D97-AF65-F5344CB8AC3E}">
        <p14:creationId xmlns:p14="http://schemas.microsoft.com/office/powerpoint/2010/main" val="14256150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DC24E-CA05-4E38-93CB-67D995017205}"/>
              </a:ext>
            </a:extLst>
          </p:cNvPr>
          <p:cNvSpPr>
            <a:spLocks noGrp="1"/>
          </p:cNvSpPr>
          <p:nvPr>
            <p:ph type="title"/>
          </p:nvPr>
        </p:nvSpPr>
        <p:spPr/>
        <p:txBody>
          <a:bodyPr>
            <a:normAutofit fontScale="90000"/>
          </a:bodyPr>
          <a:lstStyle/>
          <a:p>
            <a:r>
              <a:rPr lang="zh-CN" altLang="en-US" dirty="0"/>
              <a:t>创建表（</a:t>
            </a:r>
            <a:r>
              <a:rPr lang="en-US" altLang="zh-CN" dirty="0"/>
              <a:t>create</a:t>
            </a:r>
            <a:r>
              <a:rPr lang="zh-CN" altLang="en-US" dirty="0"/>
              <a:t>）</a:t>
            </a:r>
          </a:p>
        </p:txBody>
      </p:sp>
      <p:sp>
        <p:nvSpPr>
          <p:cNvPr id="3" name="内容占位符 2">
            <a:extLst>
              <a:ext uri="{FF2B5EF4-FFF2-40B4-BE49-F238E27FC236}">
                <a16:creationId xmlns:a16="http://schemas.microsoft.com/office/drawing/2014/main" id="{0AFAC650-169C-46C3-B64C-AB8F260214DD}"/>
              </a:ext>
            </a:extLst>
          </p:cNvPr>
          <p:cNvSpPr>
            <a:spLocks noGrp="1"/>
          </p:cNvSpPr>
          <p:nvPr>
            <p:ph idx="1"/>
          </p:nvPr>
        </p:nvSpPr>
        <p:spPr/>
        <p:txBody>
          <a:bodyPr/>
          <a:lstStyle/>
          <a:p>
            <a:r>
              <a:rPr lang="en-US" altLang="zh-CN" dirty="0"/>
              <a:t>【</a:t>
            </a:r>
            <a:r>
              <a:rPr lang="zh-CN" altLang="en-US" dirty="0"/>
              <a:t>例</a:t>
            </a:r>
            <a:r>
              <a:rPr lang="en-US" altLang="zh-CN" dirty="0"/>
              <a:t>5.3】</a:t>
            </a:r>
            <a:r>
              <a:rPr lang="zh-CN" altLang="en-US" dirty="0"/>
              <a:t>创建一个数据表</a:t>
            </a:r>
            <a:r>
              <a:rPr lang="en-US" altLang="zh-CN" dirty="0"/>
              <a:t>t2</a:t>
            </a:r>
            <a:r>
              <a:rPr lang="zh-CN" altLang="en-US" dirty="0"/>
              <a:t>，并为其设定三个列族，分别为</a:t>
            </a:r>
            <a:r>
              <a:rPr lang="en-US" altLang="zh-CN" dirty="0"/>
              <a:t>f1</a:t>
            </a:r>
            <a:r>
              <a:rPr lang="zh-CN" altLang="en-US" dirty="0"/>
              <a:t>、</a:t>
            </a:r>
            <a:r>
              <a:rPr lang="en-US" altLang="zh-CN" dirty="0"/>
              <a:t>f2</a:t>
            </a:r>
            <a:r>
              <a:rPr lang="zh-CN" altLang="en-US" dirty="0"/>
              <a:t>、</a:t>
            </a:r>
            <a:r>
              <a:rPr lang="en-US" altLang="zh-CN" dirty="0"/>
              <a:t>f3</a:t>
            </a:r>
            <a:r>
              <a:rPr lang="zh-CN" altLang="en-US" dirty="0"/>
              <a:t>。</a:t>
            </a:r>
            <a:endParaRPr lang="en-US" altLang="zh-CN" dirty="0"/>
          </a:p>
          <a:p>
            <a:endParaRPr lang="en-US" altLang="zh-CN" dirty="0"/>
          </a:p>
          <a:p>
            <a:endParaRPr lang="en-US" altLang="zh-CN" dirty="0"/>
          </a:p>
          <a:p>
            <a:r>
              <a:rPr lang="zh-CN" altLang="en-US" dirty="0"/>
              <a:t>更多实例及效果请参考教材</a:t>
            </a:r>
          </a:p>
        </p:txBody>
      </p:sp>
      <p:pic>
        <p:nvPicPr>
          <p:cNvPr id="6" name="图片 5">
            <a:extLst>
              <a:ext uri="{FF2B5EF4-FFF2-40B4-BE49-F238E27FC236}">
                <a16:creationId xmlns:a16="http://schemas.microsoft.com/office/drawing/2014/main" id="{1BD3BAD4-91BA-4096-AC1A-17A571793846}"/>
              </a:ext>
            </a:extLst>
          </p:cNvPr>
          <p:cNvPicPr>
            <a:picLocks noChangeAspect="1"/>
          </p:cNvPicPr>
          <p:nvPr/>
        </p:nvPicPr>
        <p:blipFill>
          <a:blip r:embed="rId2"/>
          <a:stretch>
            <a:fillRect/>
          </a:stretch>
        </p:blipFill>
        <p:spPr>
          <a:xfrm>
            <a:off x="539552" y="2427734"/>
            <a:ext cx="8260913" cy="504056"/>
          </a:xfrm>
          <a:prstGeom prst="rect">
            <a:avLst/>
          </a:prstGeom>
        </p:spPr>
      </p:pic>
    </p:spTree>
    <p:extLst>
      <p:ext uri="{BB962C8B-B14F-4D97-AF65-F5344CB8AC3E}">
        <p14:creationId xmlns:p14="http://schemas.microsoft.com/office/powerpoint/2010/main" val="7060600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修改表</a:t>
            </a:r>
            <a:r>
              <a:rPr lang="en-US" altLang="zh-CN" dirty="0"/>
              <a:t>/</a:t>
            </a:r>
            <a:r>
              <a:rPr lang="zh-CN" altLang="en-US" dirty="0"/>
              <a:t>列族（</a:t>
            </a:r>
            <a:r>
              <a:rPr lang="en-US" altLang="zh-CN" dirty="0"/>
              <a:t>alter table / column family</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normAutofit fontScale="85000" lnSpcReduction="10000"/>
          </a:bodyPr>
          <a:lstStyle/>
          <a:p>
            <a:r>
              <a:rPr lang="zh-CN" altLang="en-US" dirty="0"/>
              <a:t>在创建完</a:t>
            </a:r>
            <a:r>
              <a:rPr lang="en-US" altLang="zh-CN" dirty="0"/>
              <a:t>HBase</a:t>
            </a:r>
            <a:r>
              <a:rPr lang="zh-CN" altLang="en-US" dirty="0"/>
              <a:t>数据表后，</a:t>
            </a:r>
            <a:r>
              <a:rPr lang="en-US" altLang="zh-CN" dirty="0"/>
              <a:t>HBase</a:t>
            </a:r>
            <a:r>
              <a:rPr lang="zh-CN" altLang="en-US" dirty="0"/>
              <a:t>还可以对数据表进行修改。对数据表的修改包括增加、修改、删除列族，以及修改数据表的配置信息。其中修改列族的参数设定与创建数据表时进行列族参数设置具有相同的格式和参数，其参数也是可以通过字符串的赋值方式设置，或通过字典的模式进行设置。</a:t>
            </a:r>
            <a:endParaRPr lang="en-US" altLang="zh-CN" dirty="0"/>
          </a:p>
          <a:p>
            <a:r>
              <a:rPr lang="en-US" altLang="zh-CN" dirty="0"/>
              <a:t>【</a:t>
            </a:r>
            <a:r>
              <a:rPr lang="zh-CN" altLang="en-US" dirty="0"/>
              <a:t>例</a:t>
            </a:r>
            <a:r>
              <a:rPr lang="en-US" altLang="zh-CN" dirty="0"/>
              <a:t>5.7】</a:t>
            </a:r>
            <a:r>
              <a:rPr lang="zh-CN" altLang="en-US" dirty="0"/>
              <a:t>在数据表创建完成后，若要修改列族</a:t>
            </a:r>
            <a:r>
              <a:rPr lang="en-US" altLang="zh-CN" dirty="0"/>
              <a:t>f1</a:t>
            </a:r>
            <a:r>
              <a:rPr lang="zh-CN" altLang="en-US" dirty="0"/>
              <a:t>的存储版本数量为</a:t>
            </a:r>
            <a:r>
              <a:rPr lang="en-US" altLang="zh-CN" dirty="0"/>
              <a:t>5</a:t>
            </a:r>
            <a:r>
              <a:rPr lang="zh-CN" altLang="en-US" dirty="0"/>
              <a:t>，则可以利用该命令。</a:t>
            </a:r>
          </a:p>
        </p:txBody>
      </p:sp>
    </p:spTree>
    <p:extLst>
      <p:ext uri="{BB962C8B-B14F-4D97-AF65-F5344CB8AC3E}">
        <p14:creationId xmlns:p14="http://schemas.microsoft.com/office/powerpoint/2010/main" val="32241087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修改表</a:t>
            </a:r>
            <a:r>
              <a:rPr lang="en-US" altLang="zh-CN" dirty="0"/>
              <a:t>/</a:t>
            </a:r>
            <a:r>
              <a:rPr lang="zh-CN" altLang="en-US" dirty="0"/>
              <a:t>列族（</a:t>
            </a:r>
            <a:r>
              <a:rPr lang="en-US" altLang="zh-CN" dirty="0"/>
              <a:t>alter table / column family</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457200" y="1200151"/>
            <a:ext cx="8229600" cy="1083567"/>
          </a:xfrm>
        </p:spPr>
        <p:txBody>
          <a:bodyPr>
            <a:normAutofit fontScale="85000" lnSpcReduction="20000"/>
          </a:bodyPr>
          <a:lstStyle/>
          <a:p>
            <a:r>
              <a:rPr lang="zh-CN" altLang="en-US" dirty="0"/>
              <a:t>包含列族</a:t>
            </a:r>
            <a:r>
              <a:rPr lang="en-US" altLang="zh-CN" dirty="0"/>
              <a:t>f1</a:t>
            </a:r>
            <a:r>
              <a:rPr lang="zh-CN" altLang="en-US" dirty="0"/>
              <a:t>的数据表</a:t>
            </a:r>
            <a:r>
              <a:rPr lang="en-US" altLang="zh-CN" dirty="0"/>
              <a:t>t1</a:t>
            </a:r>
            <a:r>
              <a:rPr lang="zh-CN" altLang="en-US" dirty="0"/>
              <a:t>的创建，并向其添加数据的过程。由于缺省情况下，其数据有效版本数为</a:t>
            </a:r>
            <a:r>
              <a:rPr lang="en-US" altLang="zh-CN" dirty="0"/>
              <a:t>1</a:t>
            </a:r>
            <a:r>
              <a:rPr lang="zh-CN" altLang="en-US" dirty="0"/>
              <a:t>，所以后继添加的数据会覆盖原有数据。</a:t>
            </a:r>
          </a:p>
        </p:txBody>
      </p:sp>
      <p:pic>
        <p:nvPicPr>
          <p:cNvPr id="7" name="图片 6">
            <a:extLst>
              <a:ext uri="{FF2B5EF4-FFF2-40B4-BE49-F238E27FC236}">
                <a16:creationId xmlns:a16="http://schemas.microsoft.com/office/drawing/2014/main" id="{70F60CD9-9714-4B3F-99E2-DB5CD64A6051}"/>
              </a:ext>
            </a:extLst>
          </p:cNvPr>
          <p:cNvPicPr>
            <a:picLocks noChangeAspect="1"/>
          </p:cNvPicPr>
          <p:nvPr/>
        </p:nvPicPr>
        <p:blipFill>
          <a:blip r:embed="rId2"/>
          <a:stretch>
            <a:fillRect/>
          </a:stretch>
        </p:blipFill>
        <p:spPr>
          <a:xfrm>
            <a:off x="1188640" y="2264936"/>
            <a:ext cx="6623720" cy="2771255"/>
          </a:xfrm>
          <a:prstGeom prst="rect">
            <a:avLst/>
          </a:prstGeom>
        </p:spPr>
      </p:pic>
    </p:spTree>
    <p:extLst>
      <p:ext uri="{BB962C8B-B14F-4D97-AF65-F5344CB8AC3E}">
        <p14:creationId xmlns:p14="http://schemas.microsoft.com/office/powerpoint/2010/main" val="2182055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44BC8E-CFE5-421E-A435-08D40EECECD2}"/>
              </a:ext>
            </a:extLst>
          </p:cNvPr>
          <p:cNvSpPr>
            <a:spLocks noGrp="1"/>
          </p:cNvSpPr>
          <p:nvPr>
            <p:ph type="title"/>
          </p:nvPr>
        </p:nvSpPr>
        <p:spPr/>
        <p:txBody>
          <a:bodyPr>
            <a:normAutofit fontScale="90000"/>
          </a:bodyPr>
          <a:lstStyle/>
          <a:p>
            <a:r>
              <a:rPr lang="zh-CN" altLang="en-US" dirty="0"/>
              <a:t>修改表</a:t>
            </a:r>
            <a:r>
              <a:rPr lang="en-US" altLang="zh-CN" dirty="0"/>
              <a:t>/</a:t>
            </a:r>
            <a:r>
              <a:rPr lang="zh-CN" altLang="en-US" dirty="0"/>
              <a:t>列族（</a:t>
            </a:r>
            <a:r>
              <a:rPr lang="en-US" altLang="zh-CN" dirty="0"/>
              <a:t>alter table / column family</a:t>
            </a:r>
            <a:r>
              <a:rPr lang="zh-CN" altLang="en-US" dirty="0"/>
              <a:t>）</a:t>
            </a:r>
          </a:p>
        </p:txBody>
      </p:sp>
      <p:sp>
        <p:nvSpPr>
          <p:cNvPr id="3" name="内容占位符 2">
            <a:extLst>
              <a:ext uri="{FF2B5EF4-FFF2-40B4-BE49-F238E27FC236}">
                <a16:creationId xmlns:a16="http://schemas.microsoft.com/office/drawing/2014/main" id="{D641D5D5-2F93-498F-8BE9-F62DD0504163}"/>
              </a:ext>
            </a:extLst>
          </p:cNvPr>
          <p:cNvSpPr>
            <a:spLocks noGrp="1"/>
          </p:cNvSpPr>
          <p:nvPr>
            <p:ph idx="1"/>
          </p:nvPr>
        </p:nvSpPr>
        <p:spPr/>
        <p:txBody>
          <a:bodyPr/>
          <a:lstStyle/>
          <a:p>
            <a:r>
              <a:rPr lang="zh-CN" altLang="en-US" dirty="0"/>
              <a:t>为了增加存储版本数量，修改列族</a:t>
            </a:r>
            <a:r>
              <a:rPr lang="en-US" altLang="zh-CN" dirty="0"/>
              <a:t>f1</a:t>
            </a:r>
            <a:r>
              <a:rPr lang="zh-CN" altLang="en-US" dirty="0"/>
              <a:t>的</a:t>
            </a:r>
            <a:r>
              <a:rPr lang="en-US" altLang="zh-CN" dirty="0"/>
              <a:t>versions</a:t>
            </a:r>
            <a:r>
              <a:rPr lang="zh-CN" altLang="en-US" dirty="0"/>
              <a:t>参数值为</a:t>
            </a:r>
            <a:r>
              <a:rPr lang="en-US" altLang="zh-CN" dirty="0"/>
              <a:t>3</a:t>
            </a:r>
            <a:r>
              <a:rPr lang="zh-CN" altLang="en-US" dirty="0"/>
              <a:t>，继续向数据表</a:t>
            </a:r>
            <a:r>
              <a:rPr lang="en-US" altLang="zh-CN" dirty="0"/>
              <a:t>t1</a:t>
            </a:r>
            <a:r>
              <a:rPr lang="zh-CN" altLang="en-US" dirty="0"/>
              <a:t>添加数据，并使用</a:t>
            </a:r>
            <a:r>
              <a:rPr lang="en-US" altLang="zh-CN" dirty="0"/>
              <a:t>get</a:t>
            </a:r>
            <a:r>
              <a:rPr lang="zh-CN" altLang="en-US" dirty="0"/>
              <a:t>命令获取数据，可以看出在修改了</a:t>
            </a:r>
            <a:r>
              <a:rPr lang="en-US" altLang="zh-CN" dirty="0"/>
              <a:t>versions</a:t>
            </a:r>
            <a:r>
              <a:rPr lang="zh-CN" altLang="en-US" dirty="0"/>
              <a:t>参数之后，数据表</a:t>
            </a:r>
            <a:r>
              <a:rPr lang="en-US" altLang="zh-CN" dirty="0"/>
              <a:t>f1</a:t>
            </a:r>
            <a:r>
              <a:rPr lang="zh-CN" altLang="en-US" dirty="0"/>
              <a:t>存储和展示更多版本的数据。具体操作命令及显示结果如下。</a:t>
            </a:r>
          </a:p>
        </p:txBody>
      </p:sp>
    </p:spTree>
    <p:extLst>
      <p:ext uri="{BB962C8B-B14F-4D97-AF65-F5344CB8AC3E}">
        <p14:creationId xmlns:p14="http://schemas.microsoft.com/office/powerpoint/2010/main" val="13732300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CC225-A103-41C8-876A-5A7BCBB5BF25}"/>
              </a:ext>
            </a:extLst>
          </p:cNvPr>
          <p:cNvSpPr>
            <a:spLocks noGrp="1"/>
          </p:cNvSpPr>
          <p:nvPr>
            <p:ph type="title"/>
          </p:nvPr>
        </p:nvSpPr>
        <p:spPr/>
        <p:txBody>
          <a:bodyPr>
            <a:normAutofit fontScale="90000"/>
          </a:bodyPr>
          <a:lstStyle/>
          <a:p>
            <a:r>
              <a:rPr lang="zh-CN" altLang="en-US" dirty="0"/>
              <a:t>修改表</a:t>
            </a:r>
            <a:r>
              <a:rPr lang="en-US" altLang="zh-CN" dirty="0"/>
              <a:t>/</a:t>
            </a:r>
            <a:r>
              <a:rPr lang="zh-CN" altLang="en-US" dirty="0"/>
              <a:t>列族（</a:t>
            </a:r>
            <a:r>
              <a:rPr lang="en-US" altLang="zh-CN" dirty="0"/>
              <a:t>alter table / column family</a:t>
            </a:r>
            <a:r>
              <a:rPr lang="zh-CN" altLang="en-US" dirty="0"/>
              <a:t>）</a:t>
            </a:r>
          </a:p>
        </p:txBody>
      </p:sp>
      <p:sp>
        <p:nvSpPr>
          <p:cNvPr id="3" name="内容占位符 2">
            <a:extLst>
              <a:ext uri="{FF2B5EF4-FFF2-40B4-BE49-F238E27FC236}">
                <a16:creationId xmlns:a16="http://schemas.microsoft.com/office/drawing/2014/main" id="{79C84312-C142-4A2A-9E30-C5E840021920}"/>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F36C4D27-7797-4CA6-8DD0-1AE6D2B4EA11}"/>
              </a:ext>
            </a:extLst>
          </p:cNvPr>
          <p:cNvPicPr>
            <a:picLocks noChangeAspect="1"/>
          </p:cNvPicPr>
          <p:nvPr/>
        </p:nvPicPr>
        <p:blipFill>
          <a:blip r:embed="rId2"/>
          <a:stretch>
            <a:fillRect/>
          </a:stretch>
        </p:blipFill>
        <p:spPr>
          <a:xfrm>
            <a:off x="683568" y="965913"/>
            <a:ext cx="7668344" cy="3979086"/>
          </a:xfrm>
          <a:prstGeom prst="rect">
            <a:avLst/>
          </a:prstGeom>
        </p:spPr>
      </p:pic>
    </p:spTree>
    <p:extLst>
      <p:ext uri="{BB962C8B-B14F-4D97-AF65-F5344CB8AC3E}">
        <p14:creationId xmlns:p14="http://schemas.microsoft.com/office/powerpoint/2010/main" val="6296329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添加数据（</a:t>
            </a:r>
            <a:r>
              <a:rPr lang="en-US" altLang="zh-CN" dirty="0"/>
              <a:t>put</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lstStyle/>
          <a:p>
            <a:r>
              <a:rPr lang="en-US" altLang="zh-CN" dirty="0"/>
              <a:t>put</a:t>
            </a:r>
            <a:r>
              <a:rPr lang="zh-CN" altLang="en-US" dirty="0"/>
              <a:t>命令用于向指定的单元添加</a:t>
            </a:r>
            <a:r>
              <a:rPr lang="zh-CN" altLang="en-US"/>
              <a:t>数据值：</a:t>
            </a:r>
            <a:endParaRPr lang="en-US" altLang="zh-CN"/>
          </a:p>
          <a:p>
            <a:pPr lvl="1"/>
            <a:r>
              <a:rPr lang="en-US" altLang="zh-CN"/>
              <a:t>put </a:t>
            </a:r>
            <a:r>
              <a:rPr lang="zh-CN" altLang="zh-CN"/>
              <a:t>表名</a:t>
            </a:r>
            <a:r>
              <a:rPr lang="en-US" altLang="zh-CN"/>
              <a:t>, rowkey, cf:column, value [,timestamp]</a:t>
            </a:r>
            <a:endParaRPr lang="zh-CN" altLang="zh-CN"/>
          </a:p>
        </p:txBody>
      </p:sp>
    </p:spTree>
    <p:extLst>
      <p:ext uri="{BB962C8B-B14F-4D97-AF65-F5344CB8AC3E}">
        <p14:creationId xmlns:p14="http://schemas.microsoft.com/office/powerpoint/2010/main" val="14589902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19882C-7DB3-491E-A2C1-37627EC35512}"/>
              </a:ext>
            </a:extLst>
          </p:cNvPr>
          <p:cNvSpPr>
            <a:spLocks noGrp="1"/>
          </p:cNvSpPr>
          <p:nvPr>
            <p:ph type="title"/>
          </p:nvPr>
        </p:nvSpPr>
        <p:spPr/>
        <p:txBody>
          <a:bodyPr>
            <a:normAutofit fontScale="90000"/>
          </a:bodyPr>
          <a:lstStyle/>
          <a:p>
            <a:r>
              <a:rPr lang="zh-CN" altLang="en-US" dirty="0"/>
              <a:t>添加数据（</a:t>
            </a:r>
            <a:r>
              <a:rPr lang="en-US" altLang="zh-CN" dirty="0"/>
              <a:t>put</a:t>
            </a:r>
            <a:r>
              <a:rPr lang="zh-CN" altLang="en-US" dirty="0"/>
              <a:t>）</a:t>
            </a:r>
          </a:p>
        </p:txBody>
      </p:sp>
      <p:sp>
        <p:nvSpPr>
          <p:cNvPr id="3" name="内容占位符 2">
            <a:extLst>
              <a:ext uri="{FF2B5EF4-FFF2-40B4-BE49-F238E27FC236}">
                <a16:creationId xmlns:a16="http://schemas.microsoft.com/office/drawing/2014/main" id="{A41FA30F-8D5E-408C-BE8E-020E4F1DA65E}"/>
              </a:ext>
            </a:extLst>
          </p:cNvPr>
          <p:cNvSpPr>
            <a:spLocks noGrp="1"/>
          </p:cNvSpPr>
          <p:nvPr>
            <p:ph idx="1"/>
          </p:nvPr>
        </p:nvSpPr>
        <p:spPr>
          <a:xfrm>
            <a:off x="179512" y="987574"/>
            <a:ext cx="8496944" cy="4032448"/>
          </a:xfrm>
        </p:spPr>
        <p:txBody>
          <a:bodyPr>
            <a:noAutofit/>
          </a:bodyPr>
          <a:lstStyle/>
          <a:p>
            <a:r>
              <a:rPr lang="zh-CN" altLang="en-US" sz="2400" b="1" dirty="0">
                <a:solidFill>
                  <a:srgbClr val="FF0000"/>
                </a:solidFill>
              </a:rPr>
              <a:t>例：</a:t>
            </a:r>
            <a:r>
              <a:rPr lang="zh-CN" altLang="en-US" sz="2400" dirty="0"/>
              <a:t>向命名空间“</a:t>
            </a:r>
            <a:r>
              <a:rPr lang="en-US" altLang="zh-CN" sz="2400" dirty="0"/>
              <a:t>ns1”</a:t>
            </a:r>
            <a:r>
              <a:rPr lang="zh-CN" altLang="en-US" sz="2400" dirty="0"/>
              <a:t>中数据表“</a:t>
            </a:r>
            <a:r>
              <a:rPr lang="en-US" altLang="zh-CN" sz="2400" dirty="0"/>
              <a:t>t1”</a:t>
            </a:r>
            <a:r>
              <a:rPr lang="zh-CN" altLang="en-US" sz="2400" dirty="0"/>
              <a:t>添加数据，对应单元格行键为“</a:t>
            </a:r>
            <a:r>
              <a:rPr lang="en-US" altLang="zh-CN" sz="2400" dirty="0"/>
              <a:t>r1”</a:t>
            </a:r>
            <a:r>
              <a:rPr lang="zh-CN" altLang="en-US" sz="2400" dirty="0"/>
              <a:t>，列“</a:t>
            </a:r>
            <a:r>
              <a:rPr lang="en-US" altLang="zh-CN" sz="2400" dirty="0"/>
              <a:t>c1”</a:t>
            </a:r>
            <a:r>
              <a:rPr lang="zh-CN" altLang="en-US" sz="2400" dirty="0"/>
              <a:t>，具体值为“</a:t>
            </a:r>
            <a:r>
              <a:rPr lang="en-US" altLang="zh-CN" sz="2400" dirty="0"/>
              <a:t>value1”</a:t>
            </a:r>
            <a:r>
              <a:rPr lang="zh-CN" altLang="en-US" sz="2400" dirty="0"/>
              <a:t>。</a:t>
            </a:r>
          </a:p>
          <a:p>
            <a:pPr lvl="1"/>
            <a:r>
              <a:rPr lang="en-US" altLang="zh-CN" sz="2400" dirty="0"/>
              <a:t>HBase&gt; put 'ns1:t1', 'r1', 'c1', 'value1'</a:t>
            </a:r>
          </a:p>
          <a:p>
            <a:endParaRPr lang="en-US" altLang="zh-CN" sz="2400" b="1">
              <a:solidFill>
                <a:srgbClr val="FF0000"/>
              </a:solidFill>
            </a:endParaRPr>
          </a:p>
          <a:p>
            <a:r>
              <a:rPr lang="zh-CN" altLang="en-US" sz="2400" b="1">
                <a:solidFill>
                  <a:srgbClr val="FF0000"/>
                </a:solidFill>
              </a:rPr>
              <a:t>例</a:t>
            </a:r>
            <a:r>
              <a:rPr lang="zh-CN" altLang="en-US" sz="2400" b="1" dirty="0">
                <a:solidFill>
                  <a:srgbClr val="FF0000"/>
                </a:solidFill>
              </a:rPr>
              <a:t>：</a:t>
            </a:r>
            <a:r>
              <a:rPr lang="zh-CN" altLang="en-US" sz="2400" dirty="0"/>
              <a:t>首先设置一个时间戳“</a:t>
            </a:r>
            <a:r>
              <a:rPr lang="en-US" altLang="zh-CN" sz="2400" dirty="0"/>
              <a:t>ts1”</a:t>
            </a:r>
            <a:r>
              <a:rPr lang="zh-CN" altLang="en-US" sz="2400" dirty="0"/>
              <a:t>，之后向缺省命名空间中数据表”</a:t>
            </a:r>
            <a:r>
              <a:rPr lang="en-US" altLang="zh-CN" sz="2400" dirty="0"/>
              <a:t>t1“</a:t>
            </a:r>
            <a:r>
              <a:rPr lang="zh-CN" altLang="en-US" sz="2400" dirty="0"/>
              <a:t>添加数据，对应单元格行键为”</a:t>
            </a:r>
            <a:r>
              <a:rPr lang="en-US" altLang="zh-CN" sz="2400" dirty="0"/>
              <a:t>r1“</a:t>
            </a:r>
            <a:r>
              <a:rPr lang="zh-CN" altLang="en-US" sz="2400" dirty="0"/>
              <a:t>，列”</a:t>
            </a:r>
            <a:r>
              <a:rPr lang="en-US" altLang="zh-CN" sz="2400" dirty="0"/>
              <a:t>c1“</a:t>
            </a:r>
            <a:r>
              <a:rPr lang="zh-CN" altLang="en-US" sz="2400" dirty="0"/>
              <a:t>，具体值为”</a:t>
            </a:r>
            <a:r>
              <a:rPr lang="en-US" altLang="zh-CN" sz="2400" dirty="0"/>
              <a:t>value3“</a:t>
            </a:r>
            <a:r>
              <a:rPr lang="zh-CN" altLang="en-US" sz="2400" dirty="0"/>
              <a:t>。</a:t>
            </a:r>
          </a:p>
          <a:p>
            <a:pPr lvl="1"/>
            <a:r>
              <a:rPr lang="en-US" altLang="zh-CN" sz="2400" dirty="0"/>
              <a:t>HBase&gt; ts1= 1599461998485</a:t>
            </a:r>
          </a:p>
          <a:p>
            <a:pPr lvl="1"/>
            <a:r>
              <a:rPr lang="en-US" altLang="zh-CN" sz="2400" dirty="0"/>
              <a:t>HBase&gt; put 't1', 'r1', 'c1', 'value3', ts1</a:t>
            </a:r>
          </a:p>
          <a:p>
            <a:endParaRPr lang="zh-CN" altLang="en-US" sz="2400" dirty="0"/>
          </a:p>
        </p:txBody>
      </p:sp>
    </p:spTree>
    <p:extLst>
      <p:ext uri="{BB962C8B-B14F-4D97-AF65-F5344CB8AC3E}">
        <p14:creationId xmlns:p14="http://schemas.microsoft.com/office/powerpoint/2010/main" val="30565791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获取行或单元（</a:t>
            </a:r>
            <a:r>
              <a:rPr lang="en-US" altLang="zh-CN" dirty="0"/>
              <a:t>get</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lstStyle/>
          <a:p>
            <a:r>
              <a:rPr lang="en-US" altLang="zh-CN" dirty="0"/>
              <a:t>get</a:t>
            </a:r>
            <a:r>
              <a:rPr lang="zh-CN" altLang="en-US" dirty="0"/>
              <a:t>命令用于获取行或者指定</a:t>
            </a:r>
            <a:r>
              <a:rPr lang="zh-CN" altLang="en-US"/>
              <a:t>单元的值</a:t>
            </a:r>
            <a:endParaRPr lang="en-US" altLang="zh-CN"/>
          </a:p>
          <a:p>
            <a:pPr lvl="1"/>
            <a:r>
              <a:rPr lang="en-US" altLang="zh-CN"/>
              <a:t>get </a:t>
            </a:r>
            <a:r>
              <a:rPr lang="zh-CN" altLang="zh-CN"/>
              <a:t>表名</a:t>
            </a:r>
            <a:r>
              <a:rPr lang="en-US" altLang="zh-CN"/>
              <a:t>, rowkey, [cf:column]</a:t>
            </a:r>
            <a:endParaRPr lang="zh-CN" altLang="en-US" dirty="0"/>
          </a:p>
        </p:txBody>
      </p:sp>
    </p:spTree>
    <p:extLst>
      <p:ext uri="{BB962C8B-B14F-4D97-AF65-F5344CB8AC3E}">
        <p14:creationId xmlns:p14="http://schemas.microsoft.com/office/powerpoint/2010/main" val="15183969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838EC4-9F57-48D9-9629-A21A8D22EDF4}"/>
              </a:ext>
            </a:extLst>
          </p:cNvPr>
          <p:cNvSpPr>
            <a:spLocks noGrp="1"/>
          </p:cNvSpPr>
          <p:nvPr>
            <p:ph type="title"/>
          </p:nvPr>
        </p:nvSpPr>
        <p:spPr/>
        <p:txBody>
          <a:bodyPr>
            <a:normAutofit fontScale="90000"/>
          </a:bodyPr>
          <a:lstStyle/>
          <a:p>
            <a:r>
              <a:rPr lang="zh-CN" altLang="en-US" dirty="0"/>
              <a:t>获取行或单元（</a:t>
            </a:r>
            <a:r>
              <a:rPr lang="en-US" altLang="zh-CN" dirty="0"/>
              <a:t>get</a:t>
            </a:r>
            <a:r>
              <a:rPr lang="zh-CN" altLang="en-US" dirty="0"/>
              <a:t>）</a:t>
            </a:r>
          </a:p>
        </p:txBody>
      </p:sp>
      <p:sp>
        <p:nvSpPr>
          <p:cNvPr id="3" name="内容占位符 2">
            <a:extLst>
              <a:ext uri="{FF2B5EF4-FFF2-40B4-BE49-F238E27FC236}">
                <a16:creationId xmlns:a16="http://schemas.microsoft.com/office/drawing/2014/main" id="{C10290DE-C1DF-407A-A06D-CAC04974863C}"/>
              </a:ext>
            </a:extLst>
          </p:cNvPr>
          <p:cNvSpPr>
            <a:spLocks noGrp="1"/>
          </p:cNvSpPr>
          <p:nvPr>
            <p:ph idx="1"/>
          </p:nvPr>
        </p:nvSpPr>
        <p:spPr>
          <a:xfrm>
            <a:off x="395536" y="1059582"/>
            <a:ext cx="8229600" cy="3888432"/>
          </a:xfrm>
        </p:spPr>
        <p:txBody>
          <a:bodyPr>
            <a:normAutofit fontScale="92500" lnSpcReduction="10000"/>
          </a:bodyPr>
          <a:lstStyle/>
          <a:p>
            <a:r>
              <a:rPr lang="zh-CN" altLang="en-US" sz="2800" b="1" dirty="0">
                <a:solidFill>
                  <a:srgbClr val="FF0000"/>
                </a:solidFill>
              </a:rPr>
              <a:t>例：</a:t>
            </a:r>
            <a:r>
              <a:rPr lang="zh-CN" altLang="en-US" sz="2800" dirty="0"/>
              <a:t>利用</a:t>
            </a:r>
            <a:r>
              <a:rPr lang="en-US" altLang="zh-CN" sz="2800" dirty="0"/>
              <a:t>get</a:t>
            </a:r>
            <a:r>
              <a:rPr lang="zh-CN" altLang="en-US" sz="2800" dirty="0"/>
              <a:t>命令获取表</a:t>
            </a:r>
            <a:r>
              <a:rPr lang="en-US" altLang="zh-CN" sz="2800" dirty="0"/>
              <a:t>t1</a:t>
            </a:r>
            <a:r>
              <a:rPr lang="zh-CN" altLang="en-US" sz="2800" dirty="0"/>
              <a:t>中行键为</a:t>
            </a:r>
            <a:r>
              <a:rPr lang="en-US" altLang="zh-CN" sz="2800" dirty="0"/>
              <a:t>r1</a:t>
            </a:r>
            <a:r>
              <a:rPr lang="zh-CN" altLang="en-US" sz="2800" dirty="0"/>
              <a:t>的数据值</a:t>
            </a:r>
          </a:p>
          <a:p>
            <a:pPr lvl="1"/>
            <a:r>
              <a:rPr lang="en-US" altLang="zh-CN" sz="2400" dirty="0"/>
              <a:t>HBase&gt; get 't1', 'r1‘</a:t>
            </a:r>
          </a:p>
          <a:p>
            <a:r>
              <a:rPr lang="zh-CN" altLang="en-US" sz="2800" b="1" dirty="0">
                <a:solidFill>
                  <a:srgbClr val="FF0000"/>
                </a:solidFill>
              </a:rPr>
              <a:t>例：</a:t>
            </a:r>
            <a:r>
              <a:rPr lang="zh-CN" altLang="en-US" sz="2800" dirty="0"/>
              <a:t>利用</a:t>
            </a:r>
            <a:r>
              <a:rPr lang="en-US" altLang="zh-CN" sz="2800" dirty="0"/>
              <a:t>get</a:t>
            </a:r>
            <a:r>
              <a:rPr lang="zh-CN" altLang="en-US" sz="2800" dirty="0"/>
              <a:t>命令获取表</a:t>
            </a:r>
            <a:r>
              <a:rPr lang="en-US" altLang="zh-CN" sz="2800" dirty="0"/>
              <a:t>t1</a:t>
            </a:r>
            <a:r>
              <a:rPr lang="zh-CN" altLang="en-US" sz="2800" dirty="0"/>
              <a:t>中行键为</a:t>
            </a:r>
            <a:r>
              <a:rPr lang="en-US" altLang="zh-CN" sz="2800" dirty="0"/>
              <a:t>r1</a:t>
            </a:r>
            <a:r>
              <a:rPr lang="zh-CN" altLang="en-US" sz="2800" dirty="0"/>
              <a:t>，列族</a:t>
            </a:r>
            <a:r>
              <a:rPr lang="en-US" altLang="zh-CN" sz="2800" dirty="0"/>
              <a:t>c1</a:t>
            </a:r>
            <a:r>
              <a:rPr lang="zh-CN" altLang="en-US" sz="2800" dirty="0"/>
              <a:t>的指定时间戳的数据</a:t>
            </a:r>
          </a:p>
          <a:p>
            <a:pPr lvl="1"/>
            <a:r>
              <a:rPr lang="en-US" altLang="zh-CN" dirty="0"/>
              <a:t>HBase(main):027:0&gt; get 't1', 'r1', {COLUMN =&gt; 'c1', TIMESTAMP =&gt; ts1}</a:t>
            </a:r>
          </a:p>
          <a:p>
            <a:r>
              <a:rPr lang="zh-CN" altLang="en-US" sz="2800" b="1" dirty="0">
                <a:solidFill>
                  <a:srgbClr val="FF0000"/>
                </a:solidFill>
              </a:rPr>
              <a:t>例：</a:t>
            </a:r>
            <a:r>
              <a:rPr lang="zh-CN" altLang="en-US" sz="2800" dirty="0"/>
              <a:t>利用</a:t>
            </a:r>
            <a:r>
              <a:rPr lang="en-US" altLang="zh-CN" sz="2800" dirty="0"/>
              <a:t>get</a:t>
            </a:r>
            <a:r>
              <a:rPr lang="zh-CN" altLang="en-US" sz="2800" dirty="0"/>
              <a:t>命令获取表</a:t>
            </a:r>
            <a:r>
              <a:rPr lang="en-US" altLang="zh-CN" sz="2800" dirty="0"/>
              <a:t>t1</a:t>
            </a:r>
            <a:r>
              <a:rPr lang="zh-CN" altLang="en-US" sz="2800" dirty="0"/>
              <a:t>中行键为</a:t>
            </a:r>
            <a:r>
              <a:rPr lang="en-US" altLang="zh-CN" sz="2800" dirty="0"/>
              <a:t>r1</a:t>
            </a:r>
            <a:r>
              <a:rPr lang="zh-CN" altLang="en-US" sz="2800" dirty="0"/>
              <a:t>的指定时间戳范围内的数据</a:t>
            </a:r>
          </a:p>
          <a:p>
            <a:pPr lvl="1"/>
            <a:r>
              <a:rPr lang="en-US" altLang="zh-CN" dirty="0"/>
              <a:t>HBase&gt;  get 't1', 'r1', {TIMERANGE =&gt; [ts1, ts2]}</a:t>
            </a:r>
          </a:p>
        </p:txBody>
      </p:sp>
    </p:spTree>
    <p:extLst>
      <p:ext uri="{BB962C8B-B14F-4D97-AF65-F5344CB8AC3E}">
        <p14:creationId xmlns:p14="http://schemas.microsoft.com/office/powerpoint/2010/main" val="6927685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CD7810-C0FD-41F1-ACAC-0E26C82569A5}"/>
              </a:ext>
            </a:extLst>
          </p:cNvPr>
          <p:cNvSpPr>
            <a:spLocks noGrp="1"/>
          </p:cNvSpPr>
          <p:nvPr>
            <p:ph type="title"/>
          </p:nvPr>
        </p:nvSpPr>
        <p:spPr/>
        <p:txBody>
          <a:bodyPr>
            <a:normAutofit fontScale="90000"/>
          </a:bodyPr>
          <a:lstStyle/>
          <a:p>
            <a:r>
              <a:rPr lang="zh-CN" altLang="en-US"/>
              <a:t>过滤器：</a:t>
            </a:r>
            <a:endParaRPr lang="zh-CN" altLang="en-US" dirty="0"/>
          </a:p>
        </p:txBody>
      </p:sp>
      <p:sp>
        <p:nvSpPr>
          <p:cNvPr id="3" name="内容占位符 2">
            <a:extLst>
              <a:ext uri="{FF2B5EF4-FFF2-40B4-BE49-F238E27FC236}">
                <a16:creationId xmlns:a16="http://schemas.microsoft.com/office/drawing/2014/main" id="{22D0577B-FF23-4656-A65D-4AE83959D8BB}"/>
              </a:ext>
            </a:extLst>
          </p:cNvPr>
          <p:cNvSpPr>
            <a:spLocks noGrp="1"/>
          </p:cNvSpPr>
          <p:nvPr>
            <p:ph idx="1"/>
          </p:nvPr>
        </p:nvSpPr>
        <p:spPr>
          <a:xfrm>
            <a:off x="457200" y="1200151"/>
            <a:ext cx="8229600" cy="1803647"/>
          </a:xfrm>
        </p:spPr>
        <p:txBody>
          <a:bodyPr>
            <a:normAutofit fontScale="92500"/>
          </a:bodyPr>
          <a:lstStyle/>
          <a:p>
            <a:r>
              <a:rPr lang="en-US" altLang="zh-CN" sz="2600" dirty="0"/>
              <a:t>【</a:t>
            </a:r>
            <a:r>
              <a:rPr lang="zh-CN" altLang="en-US" sz="2600" dirty="0"/>
              <a:t>例</a:t>
            </a:r>
            <a:r>
              <a:rPr lang="en-US" altLang="zh-CN" sz="2600" dirty="0"/>
              <a:t>5.15】</a:t>
            </a:r>
            <a:r>
              <a:rPr lang="zh-CN" altLang="en-US" sz="2600" dirty="0"/>
              <a:t>为输出数据指定过滤器：利用</a:t>
            </a:r>
            <a:r>
              <a:rPr lang="en-US" altLang="zh-CN" sz="2600" dirty="0"/>
              <a:t>get</a:t>
            </a:r>
            <a:r>
              <a:rPr lang="zh-CN" altLang="en-US" sz="2600" dirty="0"/>
              <a:t>命令可以实现简单的数据过滤操作，除了上述方法外，还可以通过设置过滤器的方式对需要获取的数据进行过滤，例如，下面的例子便通过指定选择值的方式进行数据的过滤操作。</a:t>
            </a:r>
          </a:p>
          <a:p>
            <a:endParaRPr lang="zh-CN" altLang="en-US" dirty="0"/>
          </a:p>
        </p:txBody>
      </p:sp>
      <p:pic>
        <p:nvPicPr>
          <p:cNvPr id="4" name="图片 3">
            <a:extLst>
              <a:ext uri="{FF2B5EF4-FFF2-40B4-BE49-F238E27FC236}">
                <a16:creationId xmlns:a16="http://schemas.microsoft.com/office/drawing/2014/main" id="{DDB8EF4D-BD9A-4096-9458-773645564227}"/>
              </a:ext>
            </a:extLst>
          </p:cNvPr>
          <p:cNvPicPr>
            <a:picLocks noChangeAspect="1"/>
          </p:cNvPicPr>
          <p:nvPr/>
        </p:nvPicPr>
        <p:blipFill>
          <a:blip r:embed="rId2"/>
          <a:stretch>
            <a:fillRect/>
          </a:stretch>
        </p:blipFill>
        <p:spPr>
          <a:xfrm>
            <a:off x="-2934" y="3033189"/>
            <a:ext cx="9144000" cy="1862191"/>
          </a:xfrm>
          <a:prstGeom prst="rect">
            <a:avLst/>
          </a:prstGeom>
        </p:spPr>
      </p:pic>
    </p:spTree>
    <p:extLst>
      <p:ext uri="{BB962C8B-B14F-4D97-AF65-F5344CB8AC3E}">
        <p14:creationId xmlns:p14="http://schemas.microsoft.com/office/powerpoint/2010/main" val="35556674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扫描并输出数据（</a:t>
            </a:r>
            <a:r>
              <a:rPr lang="en-US" altLang="zh-CN" dirty="0"/>
              <a:t>scan</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lstStyle/>
          <a:p>
            <a:r>
              <a:rPr lang="en-US" altLang="zh-CN" dirty="0"/>
              <a:t>scan</a:t>
            </a:r>
            <a:r>
              <a:rPr lang="zh-CN" altLang="en-US" dirty="0"/>
              <a:t>用于扫描数据表的数据，并把满足条件的数据返回显示。</a:t>
            </a:r>
            <a:endParaRPr lang="en-US" altLang="zh-CN" dirty="0"/>
          </a:p>
          <a:p>
            <a:r>
              <a:rPr lang="zh-CN" altLang="en-US" dirty="0"/>
              <a:t>在不指定列的情况下，</a:t>
            </a:r>
            <a:r>
              <a:rPr lang="en-US" altLang="zh-CN" dirty="0"/>
              <a:t>scan</a:t>
            </a:r>
            <a:r>
              <a:rPr lang="zh-CN" altLang="en-US" dirty="0"/>
              <a:t>将返回所有列。若要</a:t>
            </a:r>
            <a:r>
              <a:rPr lang="en-US" altLang="zh-CN" dirty="0"/>
              <a:t>scan</a:t>
            </a:r>
            <a:r>
              <a:rPr lang="zh-CN" altLang="en-US" dirty="0"/>
              <a:t>获取特定的列族，则可以通过</a:t>
            </a:r>
            <a:r>
              <a:rPr lang="en-US" altLang="zh-CN" dirty="0"/>
              <a:t>'</a:t>
            </a:r>
            <a:r>
              <a:rPr lang="en-US" altLang="zh-CN" dirty="0" err="1"/>
              <a:t>col_family</a:t>
            </a:r>
            <a:r>
              <a:rPr lang="en-US" altLang="zh-CN" dirty="0"/>
              <a:t>'</a:t>
            </a:r>
            <a:r>
              <a:rPr lang="zh-CN" altLang="en-US" dirty="0"/>
              <a:t>进行指定。</a:t>
            </a:r>
          </a:p>
        </p:txBody>
      </p:sp>
    </p:spTree>
    <p:extLst>
      <p:ext uri="{BB962C8B-B14F-4D97-AF65-F5344CB8AC3E}">
        <p14:creationId xmlns:p14="http://schemas.microsoft.com/office/powerpoint/2010/main" val="348244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AFA32-9F08-4EEC-915F-2AA6DFE2F84F}"/>
              </a:ext>
            </a:extLst>
          </p:cNvPr>
          <p:cNvSpPr>
            <a:spLocks noGrp="1"/>
          </p:cNvSpPr>
          <p:nvPr>
            <p:ph type="title"/>
          </p:nvPr>
        </p:nvSpPr>
        <p:spPr/>
        <p:txBody>
          <a:bodyPr>
            <a:normAutofit fontScale="90000"/>
          </a:bodyPr>
          <a:lstStyle/>
          <a:p>
            <a:r>
              <a:rPr lang="zh-CN" altLang="en-US" dirty="0"/>
              <a:t>扫描并输出数据（</a:t>
            </a:r>
            <a:r>
              <a:rPr lang="en-US" altLang="zh-CN" dirty="0"/>
              <a:t>scan</a:t>
            </a:r>
            <a:r>
              <a:rPr lang="zh-CN" altLang="en-US" dirty="0"/>
              <a:t>）</a:t>
            </a:r>
          </a:p>
        </p:txBody>
      </p:sp>
      <p:sp>
        <p:nvSpPr>
          <p:cNvPr id="3" name="内容占位符 2">
            <a:extLst>
              <a:ext uri="{FF2B5EF4-FFF2-40B4-BE49-F238E27FC236}">
                <a16:creationId xmlns:a16="http://schemas.microsoft.com/office/drawing/2014/main" id="{80CBC2E6-B198-4EC3-99CA-C58B864291F2}"/>
              </a:ext>
            </a:extLst>
          </p:cNvPr>
          <p:cNvSpPr>
            <a:spLocks noGrp="1"/>
          </p:cNvSpPr>
          <p:nvPr>
            <p:ph idx="1"/>
          </p:nvPr>
        </p:nvSpPr>
        <p:spPr>
          <a:xfrm>
            <a:off x="457200" y="987574"/>
            <a:ext cx="8229600" cy="1224136"/>
          </a:xfrm>
        </p:spPr>
        <p:txBody>
          <a:bodyPr>
            <a:normAutofit fontScale="92500" lnSpcReduction="20000"/>
          </a:bodyPr>
          <a:lstStyle/>
          <a:p>
            <a:r>
              <a:rPr lang="en-US" altLang="zh-CN" dirty="0"/>
              <a:t>【</a:t>
            </a:r>
            <a:r>
              <a:rPr lang="zh-CN" altLang="en-US" dirty="0"/>
              <a:t>例</a:t>
            </a:r>
            <a:r>
              <a:rPr lang="en-US" altLang="zh-CN" dirty="0"/>
              <a:t>5.17】</a:t>
            </a:r>
            <a:r>
              <a:rPr lang="zh-CN" altLang="en-US" dirty="0"/>
              <a:t>利用</a:t>
            </a:r>
            <a:r>
              <a:rPr lang="en-US" altLang="zh-CN" dirty="0"/>
              <a:t>scan</a:t>
            </a:r>
            <a:r>
              <a:rPr lang="zh-CN" altLang="en-US" dirty="0"/>
              <a:t>扫描</a:t>
            </a:r>
            <a:r>
              <a:rPr lang="en-US" altLang="zh-CN" dirty="0"/>
              <a:t>HBase</a:t>
            </a:r>
            <a:r>
              <a:rPr lang="zh-CN" altLang="en-US" dirty="0"/>
              <a:t>系统表</a:t>
            </a:r>
            <a:r>
              <a:rPr lang="en-US" altLang="zh-CN" dirty="0"/>
              <a:t>meta</a:t>
            </a:r>
            <a:r>
              <a:rPr lang="zh-CN" altLang="en-US" dirty="0"/>
              <a:t>中的数据。也可以指定所要扫描的列族</a:t>
            </a:r>
            <a:r>
              <a:rPr lang="en-US" altLang="zh-CN" dirty="0"/>
              <a:t>info</a:t>
            </a:r>
            <a:r>
              <a:rPr lang="zh-CN" altLang="en-US" dirty="0"/>
              <a:t>的限定符</a:t>
            </a:r>
            <a:r>
              <a:rPr lang="en-US" altLang="zh-CN" dirty="0" err="1"/>
              <a:t>regioninfo</a:t>
            </a:r>
            <a:r>
              <a:rPr lang="zh-CN" altLang="en-US" dirty="0"/>
              <a:t>中的数据。</a:t>
            </a:r>
            <a:endParaRPr lang="en-US" altLang="zh-CN" dirty="0"/>
          </a:p>
          <a:p>
            <a:endParaRPr lang="en-US" altLang="zh-CN" dirty="0"/>
          </a:p>
          <a:p>
            <a:endParaRPr lang="zh-CN" altLang="en-US" dirty="0"/>
          </a:p>
        </p:txBody>
      </p:sp>
      <p:pic>
        <p:nvPicPr>
          <p:cNvPr id="4" name="图片 3">
            <a:extLst>
              <a:ext uri="{FF2B5EF4-FFF2-40B4-BE49-F238E27FC236}">
                <a16:creationId xmlns:a16="http://schemas.microsoft.com/office/drawing/2014/main" id="{07988B10-697C-4F0C-8C07-7D5277ECC04B}"/>
              </a:ext>
            </a:extLst>
          </p:cNvPr>
          <p:cNvPicPr>
            <a:picLocks noChangeAspect="1"/>
          </p:cNvPicPr>
          <p:nvPr/>
        </p:nvPicPr>
        <p:blipFill>
          <a:blip r:embed="rId2"/>
          <a:stretch>
            <a:fillRect/>
          </a:stretch>
        </p:blipFill>
        <p:spPr>
          <a:xfrm>
            <a:off x="343" y="2161200"/>
            <a:ext cx="9144000" cy="1445610"/>
          </a:xfrm>
          <a:prstGeom prst="rect">
            <a:avLst/>
          </a:prstGeom>
        </p:spPr>
      </p:pic>
      <p:pic>
        <p:nvPicPr>
          <p:cNvPr id="5" name="图片 4">
            <a:extLst>
              <a:ext uri="{FF2B5EF4-FFF2-40B4-BE49-F238E27FC236}">
                <a16:creationId xmlns:a16="http://schemas.microsoft.com/office/drawing/2014/main" id="{FCDDEF16-23D7-4799-873A-B51D3074BB85}"/>
              </a:ext>
            </a:extLst>
          </p:cNvPr>
          <p:cNvPicPr>
            <a:picLocks noChangeAspect="1"/>
          </p:cNvPicPr>
          <p:nvPr/>
        </p:nvPicPr>
        <p:blipFill>
          <a:blip r:embed="rId3"/>
          <a:stretch>
            <a:fillRect/>
          </a:stretch>
        </p:blipFill>
        <p:spPr>
          <a:xfrm>
            <a:off x="9241" y="3426030"/>
            <a:ext cx="9144000" cy="1717470"/>
          </a:xfrm>
          <a:prstGeom prst="rect">
            <a:avLst/>
          </a:prstGeom>
        </p:spPr>
      </p:pic>
    </p:spTree>
    <p:extLst>
      <p:ext uri="{BB962C8B-B14F-4D97-AF65-F5344CB8AC3E}">
        <p14:creationId xmlns:p14="http://schemas.microsoft.com/office/powerpoint/2010/main" val="22382837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E85BC6-E12C-417E-BEEB-00E472DCD1B9}"/>
              </a:ext>
            </a:extLst>
          </p:cNvPr>
          <p:cNvSpPr>
            <a:spLocks noGrp="1"/>
          </p:cNvSpPr>
          <p:nvPr>
            <p:ph type="title"/>
          </p:nvPr>
        </p:nvSpPr>
        <p:spPr>
          <a:xfrm>
            <a:off x="0" y="267494"/>
            <a:ext cx="4067944" cy="540060"/>
          </a:xfrm>
        </p:spPr>
        <p:txBody>
          <a:bodyPr>
            <a:normAutofit fontScale="90000"/>
          </a:bodyPr>
          <a:lstStyle/>
          <a:p>
            <a:r>
              <a:rPr lang="zh-CN" altLang="en-US" dirty="0"/>
              <a:t>扫描并输出数据（</a:t>
            </a:r>
            <a:r>
              <a:rPr lang="en-US" altLang="zh-CN" dirty="0"/>
              <a:t>scan</a:t>
            </a:r>
            <a:r>
              <a:rPr lang="zh-CN" altLang="en-US" dirty="0"/>
              <a:t>）</a:t>
            </a:r>
          </a:p>
        </p:txBody>
      </p:sp>
      <p:sp>
        <p:nvSpPr>
          <p:cNvPr id="3" name="内容占位符 2">
            <a:extLst>
              <a:ext uri="{FF2B5EF4-FFF2-40B4-BE49-F238E27FC236}">
                <a16:creationId xmlns:a16="http://schemas.microsoft.com/office/drawing/2014/main" id="{BC192EED-317D-4A70-89D9-144CB08CCE0D}"/>
              </a:ext>
            </a:extLst>
          </p:cNvPr>
          <p:cNvSpPr>
            <a:spLocks noGrp="1"/>
          </p:cNvSpPr>
          <p:nvPr>
            <p:ph idx="1"/>
          </p:nvPr>
        </p:nvSpPr>
        <p:spPr>
          <a:xfrm>
            <a:off x="457200" y="1200151"/>
            <a:ext cx="8229600" cy="1980235"/>
          </a:xfrm>
        </p:spPr>
        <p:txBody>
          <a:bodyPr>
            <a:normAutofit fontScale="85000" lnSpcReduction="10000"/>
          </a:bodyPr>
          <a:lstStyle/>
          <a:p>
            <a:r>
              <a:rPr lang="en-US" altLang="zh-CN" dirty="0"/>
              <a:t>Scan</a:t>
            </a:r>
            <a:r>
              <a:rPr lang="zh-CN" altLang="en-US" dirty="0"/>
              <a:t>还可以使用列表的方式设置</a:t>
            </a:r>
            <a:r>
              <a:rPr lang="en-US" altLang="zh-CN" dirty="0"/>
              <a:t>COLUMNS</a:t>
            </a:r>
            <a:r>
              <a:rPr lang="zh-CN" altLang="en-US" dirty="0"/>
              <a:t>，通过</a:t>
            </a:r>
            <a:r>
              <a:rPr lang="en-US" altLang="zh-CN" dirty="0"/>
              <a:t>LIMIT</a:t>
            </a:r>
            <a:r>
              <a:rPr lang="zh-CN" altLang="en-US" dirty="0"/>
              <a:t>设置扫描返回的数据行数，通过</a:t>
            </a:r>
            <a:r>
              <a:rPr lang="en-US" altLang="zh-CN" dirty="0"/>
              <a:t>STARTROW</a:t>
            </a:r>
            <a:r>
              <a:rPr lang="zh-CN" altLang="en-US" dirty="0"/>
              <a:t>设置数据行键的起始值，利用</a:t>
            </a:r>
            <a:r>
              <a:rPr lang="en-US" altLang="zh-CN" dirty="0"/>
              <a:t>REVERSED</a:t>
            </a:r>
            <a:r>
              <a:rPr lang="zh-CN" altLang="en-US" dirty="0"/>
              <a:t>设置顺序，利用</a:t>
            </a:r>
            <a:r>
              <a:rPr lang="en-US" altLang="zh-CN" dirty="0"/>
              <a:t>MAX_RESULT_SIZE</a:t>
            </a:r>
            <a:r>
              <a:rPr lang="zh-CN" altLang="en-US" dirty="0"/>
              <a:t>设置最大返回行数等。如下展示了相关参数设置的几个应用实例。</a:t>
            </a:r>
          </a:p>
        </p:txBody>
      </p:sp>
      <p:pic>
        <p:nvPicPr>
          <p:cNvPr id="4" name="图片 3">
            <a:extLst>
              <a:ext uri="{FF2B5EF4-FFF2-40B4-BE49-F238E27FC236}">
                <a16:creationId xmlns:a16="http://schemas.microsoft.com/office/drawing/2014/main" id="{2990B31E-7DD2-4FF3-B2BA-73ED3976B5FD}"/>
              </a:ext>
            </a:extLst>
          </p:cNvPr>
          <p:cNvPicPr>
            <a:picLocks noChangeAspect="1"/>
          </p:cNvPicPr>
          <p:nvPr/>
        </p:nvPicPr>
        <p:blipFill>
          <a:blip r:embed="rId2"/>
          <a:stretch>
            <a:fillRect/>
          </a:stretch>
        </p:blipFill>
        <p:spPr>
          <a:xfrm>
            <a:off x="0" y="3363838"/>
            <a:ext cx="9144000" cy="1249082"/>
          </a:xfrm>
          <a:prstGeom prst="rect">
            <a:avLst/>
          </a:prstGeom>
        </p:spPr>
      </p:pic>
    </p:spTree>
    <p:extLst>
      <p:ext uri="{BB962C8B-B14F-4D97-AF65-F5344CB8AC3E}">
        <p14:creationId xmlns:p14="http://schemas.microsoft.com/office/powerpoint/2010/main" val="33075702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统计表的行数（</a:t>
            </a:r>
            <a:r>
              <a:rPr lang="en-US" altLang="zh-CN" dirty="0"/>
              <a:t>count</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lstStyle/>
          <a:p>
            <a:r>
              <a:rPr lang="en-US" altLang="zh-CN" dirty="0"/>
              <a:t>count</a:t>
            </a:r>
            <a:r>
              <a:rPr lang="zh-CN" altLang="en-US" dirty="0"/>
              <a:t>用于统计数据表中的行数，该命令可能会需要较长时间，在等待期间，当前的行数在缺省情况下是每</a:t>
            </a:r>
            <a:r>
              <a:rPr lang="en-US" altLang="zh-CN" dirty="0"/>
              <a:t>1000</a:t>
            </a:r>
            <a:r>
              <a:rPr lang="zh-CN" altLang="en-US" dirty="0"/>
              <a:t>行更新一次，当然这一数值可以进行设置。统计过程中更需要用到数据缓存，缺省的缓存大小为</a:t>
            </a:r>
            <a:r>
              <a:rPr lang="en-US" altLang="zh-CN" dirty="0"/>
              <a:t>10</a:t>
            </a:r>
            <a:r>
              <a:rPr lang="zh-CN" altLang="en-US" dirty="0"/>
              <a:t>行数据。</a:t>
            </a:r>
          </a:p>
        </p:txBody>
      </p:sp>
    </p:spTree>
    <p:extLst>
      <p:ext uri="{BB962C8B-B14F-4D97-AF65-F5344CB8AC3E}">
        <p14:creationId xmlns:p14="http://schemas.microsoft.com/office/powerpoint/2010/main" val="8251767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统计表的行数（</a:t>
            </a:r>
            <a:r>
              <a:rPr lang="en-US" altLang="zh-CN" dirty="0"/>
              <a:t>count</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457200" y="1200150"/>
            <a:ext cx="8229600" cy="3603847"/>
          </a:xfrm>
        </p:spPr>
        <p:txBody>
          <a:bodyPr>
            <a:normAutofit fontScale="92500" lnSpcReduction="20000"/>
          </a:bodyPr>
          <a:lstStyle/>
          <a:p>
            <a:r>
              <a:rPr lang="en-US" altLang="zh-CN" dirty="0"/>
              <a:t>【</a:t>
            </a:r>
            <a:r>
              <a:rPr lang="zh-CN" altLang="en-US" dirty="0"/>
              <a:t>例</a:t>
            </a:r>
            <a:r>
              <a:rPr lang="en-US" altLang="zh-CN" dirty="0"/>
              <a:t>5.20】</a:t>
            </a:r>
            <a:r>
              <a:rPr lang="zh-CN" altLang="en-US" dirty="0"/>
              <a:t>几种简单的</a:t>
            </a:r>
            <a:r>
              <a:rPr lang="en-US" altLang="zh-CN" dirty="0"/>
              <a:t>count</a:t>
            </a:r>
            <a:r>
              <a:rPr lang="zh-CN" altLang="en-US" dirty="0"/>
              <a:t>应用。</a:t>
            </a:r>
          </a:p>
          <a:p>
            <a:r>
              <a:rPr lang="en-US" altLang="zh-CN"/>
              <a:t>1.</a:t>
            </a:r>
            <a:r>
              <a:rPr lang="zh-CN" altLang="en-US"/>
              <a:t>统计</a:t>
            </a:r>
            <a:r>
              <a:rPr lang="zh-CN" altLang="en-US" dirty="0"/>
              <a:t>数据表的行数。</a:t>
            </a:r>
          </a:p>
          <a:p>
            <a:pPr lvl="1"/>
            <a:r>
              <a:rPr lang="en-US" altLang="zh-CN" dirty="0"/>
              <a:t>HBase&gt; count 't1'        #</a:t>
            </a:r>
            <a:r>
              <a:rPr lang="zh-CN" altLang="en-US" dirty="0"/>
              <a:t>统计数据表</a:t>
            </a:r>
            <a:r>
              <a:rPr lang="en-US" altLang="zh-CN" dirty="0"/>
              <a:t>t1</a:t>
            </a:r>
            <a:r>
              <a:rPr lang="zh-CN" altLang="en-US" dirty="0"/>
              <a:t>的数据行数</a:t>
            </a:r>
          </a:p>
          <a:p>
            <a:r>
              <a:rPr lang="en-US" altLang="zh-CN"/>
              <a:t>2.INTERVAL</a:t>
            </a:r>
            <a:r>
              <a:rPr lang="zh-CN" altLang="en-US" dirty="0"/>
              <a:t>和</a:t>
            </a:r>
            <a:r>
              <a:rPr lang="en-US" altLang="zh-CN" dirty="0"/>
              <a:t>CACHE</a:t>
            </a:r>
            <a:r>
              <a:rPr lang="zh-CN" altLang="en-US" dirty="0"/>
              <a:t>可以用于设置计数更新间隔和缓存大小。</a:t>
            </a:r>
          </a:p>
          <a:p>
            <a:pPr lvl="1"/>
            <a:r>
              <a:rPr lang="en-US" altLang="zh-CN" dirty="0"/>
              <a:t>HBase&gt; count 't1', INTERVAL =&gt; 100000</a:t>
            </a:r>
          </a:p>
          <a:p>
            <a:pPr lvl="1"/>
            <a:r>
              <a:rPr lang="en-US" altLang="zh-CN" dirty="0"/>
              <a:t>HBase&gt; count 't1', CACHE =&gt; 1000</a:t>
            </a:r>
          </a:p>
          <a:p>
            <a:pPr lvl="1"/>
            <a:r>
              <a:rPr lang="en-US" altLang="zh-CN" dirty="0"/>
              <a:t>HBase&gt; count 't1', INTERVAL =&gt; 10, CACHE =&gt; 1000</a:t>
            </a:r>
          </a:p>
          <a:p>
            <a:endParaRPr lang="zh-CN" altLang="en-US" dirty="0"/>
          </a:p>
        </p:txBody>
      </p:sp>
    </p:spTree>
    <p:extLst>
      <p:ext uri="{BB962C8B-B14F-4D97-AF65-F5344CB8AC3E}">
        <p14:creationId xmlns:p14="http://schemas.microsoft.com/office/powerpoint/2010/main" val="38462749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统计表的行数（</a:t>
            </a:r>
            <a:r>
              <a:rPr lang="en-US" altLang="zh-CN" dirty="0"/>
              <a:t>count</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normAutofit/>
          </a:bodyPr>
          <a:lstStyle/>
          <a:p>
            <a:r>
              <a:rPr lang="en-US" altLang="zh-CN" dirty="0"/>
              <a:t>【</a:t>
            </a:r>
            <a:r>
              <a:rPr lang="zh-CN" altLang="en-US" dirty="0"/>
              <a:t>例</a:t>
            </a:r>
            <a:r>
              <a:rPr lang="en-US" altLang="zh-CN" dirty="0"/>
              <a:t>5.21】</a:t>
            </a:r>
            <a:r>
              <a:rPr lang="zh-CN" altLang="en-US" dirty="0"/>
              <a:t>利用</a:t>
            </a:r>
            <a:r>
              <a:rPr lang="en-US" altLang="zh-CN" dirty="0"/>
              <a:t>FILTER</a:t>
            </a:r>
            <a:r>
              <a:rPr lang="zh-CN" altLang="en-US" dirty="0"/>
              <a:t>进行</a:t>
            </a:r>
            <a:r>
              <a:rPr lang="en-US" altLang="zh-CN" dirty="0"/>
              <a:t>count</a:t>
            </a:r>
            <a:r>
              <a:rPr lang="zh-CN" altLang="en-US" dirty="0"/>
              <a:t>条件的设置，如下实例利用指定列限定符条件，以及指定时间戳的模式进行数据的过滤统计：</a:t>
            </a:r>
          </a:p>
          <a:p>
            <a:pPr lvl="1"/>
            <a:r>
              <a:rPr lang="en-US" altLang="zh-CN" dirty="0"/>
              <a:t>HBase&gt; count 't1', FILTER =&gt; " (</a:t>
            </a:r>
            <a:r>
              <a:rPr lang="en-US" altLang="zh-CN" dirty="0" err="1"/>
              <a:t>QualifierFilter</a:t>
            </a:r>
            <a:r>
              <a:rPr lang="en-US" altLang="zh-CN" dirty="0"/>
              <a:t> (&gt;=, '</a:t>
            </a:r>
            <a:r>
              <a:rPr lang="en-US" altLang="zh-CN" dirty="0" err="1"/>
              <a:t>binary:xyz</a:t>
            </a:r>
            <a:r>
              <a:rPr lang="en-US" altLang="zh-CN" dirty="0"/>
              <a:t>')) OR (</a:t>
            </a:r>
            <a:r>
              <a:rPr lang="en-US" altLang="zh-CN" dirty="0" err="1"/>
              <a:t>TimestampsFilter</a:t>
            </a:r>
            <a:r>
              <a:rPr lang="en-US" altLang="zh-CN" dirty="0"/>
              <a:t> ( 123, 456))"</a:t>
            </a:r>
          </a:p>
          <a:p>
            <a:endParaRPr lang="zh-CN" altLang="en-US" dirty="0"/>
          </a:p>
        </p:txBody>
      </p:sp>
    </p:spTree>
    <p:extLst>
      <p:ext uri="{BB962C8B-B14F-4D97-AF65-F5344CB8AC3E}">
        <p14:creationId xmlns:p14="http://schemas.microsoft.com/office/powerpoint/2010/main" val="16817378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删除指定值（</a:t>
            </a:r>
            <a:r>
              <a:rPr lang="en-US" altLang="zh-CN" dirty="0"/>
              <a:t>delete</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457200" y="1200150"/>
            <a:ext cx="8229600" cy="3603848"/>
          </a:xfrm>
        </p:spPr>
        <p:txBody>
          <a:bodyPr>
            <a:normAutofit/>
          </a:bodyPr>
          <a:lstStyle/>
          <a:p>
            <a:r>
              <a:rPr lang="en-US" altLang="zh-CN" dirty="0"/>
              <a:t>delete</a:t>
            </a:r>
            <a:r>
              <a:rPr lang="zh-CN" altLang="en-US" dirty="0"/>
              <a:t>可指定数据表、行键、列、时间戳删除所指定的对象。</a:t>
            </a:r>
          </a:p>
          <a:p>
            <a:r>
              <a:rPr lang="en-US" altLang="zh-CN" sz="2600" dirty="0"/>
              <a:t>【</a:t>
            </a:r>
            <a:r>
              <a:rPr lang="zh-CN" altLang="en-US" sz="2600" dirty="0"/>
              <a:t>例</a:t>
            </a:r>
            <a:r>
              <a:rPr lang="en-US" altLang="zh-CN" sz="2600" dirty="0"/>
              <a:t>5.23】</a:t>
            </a:r>
            <a:r>
              <a:rPr lang="zh-CN" altLang="en-US" sz="2600" dirty="0"/>
              <a:t>如下展示了</a:t>
            </a:r>
            <a:r>
              <a:rPr lang="zh-CN" altLang="en-US" sz="2600"/>
              <a:t>几个实例</a:t>
            </a:r>
            <a:r>
              <a:rPr lang="zh-CN" altLang="en-US" sz="2600" dirty="0"/>
              <a:t>用于删除数据单元值。</a:t>
            </a:r>
          </a:p>
          <a:p>
            <a:pPr lvl="1"/>
            <a:r>
              <a:rPr lang="en-US" altLang="zh-CN" sz="2600" dirty="0"/>
              <a:t>HBase&gt; ts1= 1599461998485        	#</a:t>
            </a:r>
            <a:r>
              <a:rPr lang="zh-CN" altLang="en-US" sz="2600" dirty="0"/>
              <a:t>设置时间戳</a:t>
            </a:r>
            <a:r>
              <a:rPr lang="en-US" altLang="zh-CN" sz="2600" dirty="0"/>
              <a:t>ts1</a:t>
            </a:r>
          </a:p>
          <a:p>
            <a:pPr lvl="1"/>
            <a:r>
              <a:rPr lang="en-US" altLang="zh-CN" sz="2600" dirty="0"/>
              <a:t>HBase&gt; delete 'ns1:t1', 'r1', 'c1', ts1 	#</a:t>
            </a:r>
            <a:r>
              <a:rPr lang="zh-CN" altLang="en-US" sz="2600" dirty="0"/>
              <a:t>删除表</a:t>
            </a:r>
            <a:r>
              <a:rPr lang="en-US" altLang="zh-CN" sz="2600" dirty="0"/>
              <a:t>t1</a:t>
            </a:r>
            <a:r>
              <a:rPr lang="zh-CN" altLang="en-US" sz="2600" dirty="0"/>
              <a:t>，行键</a:t>
            </a:r>
            <a:r>
              <a:rPr lang="en-US" altLang="zh-CN" sz="2600" dirty="0"/>
              <a:t>r1</a:t>
            </a:r>
            <a:r>
              <a:rPr lang="zh-CN" altLang="en-US" sz="2600" dirty="0"/>
              <a:t>，列族</a:t>
            </a:r>
            <a:r>
              <a:rPr lang="en-US" altLang="zh-CN" sz="2600" dirty="0"/>
              <a:t>c1</a:t>
            </a:r>
            <a:r>
              <a:rPr lang="zh-CN" altLang="en-US" sz="2600" dirty="0"/>
              <a:t>时间戳为</a:t>
            </a:r>
            <a:r>
              <a:rPr lang="en-US" altLang="zh-CN" sz="2600" dirty="0"/>
              <a:t>ts1</a:t>
            </a:r>
            <a:r>
              <a:rPr lang="zh-CN" altLang="en-US" sz="2600" dirty="0"/>
              <a:t>的数据</a:t>
            </a:r>
          </a:p>
          <a:p>
            <a:pPr lvl="1"/>
            <a:r>
              <a:rPr lang="en-US" altLang="zh-CN" sz="2600" dirty="0"/>
              <a:t>HBase&gt; delete 't1', 'r1', 'c1', ts1   	</a:t>
            </a:r>
            <a:r>
              <a:rPr lang="en-US" altLang="zh-CN" sz="2600"/>
              <a:t>#</a:t>
            </a:r>
            <a:r>
              <a:rPr lang="zh-CN" altLang="en-US" sz="2600"/>
              <a:t>同上</a:t>
            </a:r>
            <a:endParaRPr lang="zh-CN" altLang="en-US" sz="2600" dirty="0"/>
          </a:p>
        </p:txBody>
      </p:sp>
    </p:spTree>
    <p:extLst>
      <p:ext uri="{BB962C8B-B14F-4D97-AF65-F5344CB8AC3E}">
        <p14:creationId xmlns:p14="http://schemas.microsoft.com/office/powerpoint/2010/main" val="9778998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删除指定值（</a:t>
            </a:r>
            <a:r>
              <a:rPr lang="en-US" altLang="zh-CN" dirty="0"/>
              <a:t>delete</a:t>
            </a:r>
            <a:r>
              <a:rPr lang="zh-CN" altLang="en-US" dirty="0"/>
              <a:t>）</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normAutofit/>
          </a:bodyPr>
          <a:lstStyle/>
          <a:p>
            <a:r>
              <a:rPr lang="en-US" altLang="zh-CN" sz="3400" dirty="0"/>
              <a:t>【</a:t>
            </a:r>
            <a:r>
              <a:rPr lang="zh-CN" altLang="en-US" sz="3400" dirty="0"/>
              <a:t>例</a:t>
            </a:r>
            <a:r>
              <a:rPr lang="en-US" altLang="zh-CN" sz="3400" dirty="0"/>
              <a:t>5.24】deleteall</a:t>
            </a:r>
            <a:r>
              <a:rPr lang="zh-CN" altLang="en-US" sz="3400" dirty="0"/>
              <a:t>的应用。</a:t>
            </a:r>
          </a:p>
          <a:p>
            <a:r>
              <a:rPr lang="zh-CN" altLang="en-US" sz="2800"/>
              <a:t>可以</a:t>
            </a:r>
            <a:r>
              <a:rPr lang="zh-CN" altLang="en-US" sz="2800" dirty="0"/>
              <a:t>使用</a:t>
            </a:r>
            <a:r>
              <a:rPr lang="en-US" altLang="zh-CN" sz="2800" dirty="0" err="1"/>
              <a:t>deleteall</a:t>
            </a:r>
            <a:r>
              <a:rPr lang="zh-CN" altLang="en-US" sz="2800" dirty="0"/>
              <a:t>删除指定的</a:t>
            </a:r>
            <a:r>
              <a:rPr lang="zh-CN" altLang="en-US" sz="2800"/>
              <a:t>行。</a:t>
            </a:r>
            <a:endParaRPr lang="en-US" altLang="zh-CN" sz="2800"/>
          </a:p>
          <a:p>
            <a:pPr lvl="1"/>
            <a:r>
              <a:rPr lang="en-US" altLang="zh-CN" sz="2400"/>
              <a:t>HBase</a:t>
            </a:r>
            <a:r>
              <a:rPr lang="en-US" altLang="zh-CN" sz="2400" dirty="0"/>
              <a:t>&gt; </a:t>
            </a:r>
            <a:r>
              <a:rPr lang="en-US" altLang="zh-CN" sz="2400" dirty="0" err="1"/>
              <a:t>deleteall</a:t>
            </a:r>
            <a:r>
              <a:rPr lang="en-US" altLang="zh-CN" sz="2400" dirty="0"/>
              <a:t> 'ns1:t1', 'r1'</a:t>
            </a:r>
          </a:p>
          <a:p>
            <a:pPr lvl="1"/>
            <a:r>
              <a:rPr lang="en-US" altLang="zh-CN" sz="2400" dirty="0"/>
              <a:t>HBase&gt; </a:t>
            </a:r>
            <a:r>
              <a:rPr lang="en-US" altLang="zh-CN" sz="2400" dirty="0" err="1"/>
              <a:t>deleteall</a:t>
            </a:r>
            <a:r>
              <a:rPr lang="en-US" altLang="zh-CN" sz="2400" dirty="0"/>
              <a:t> 't1', 'r1'</a:t>
            </a:r>
          </a:p>
          <a:p>
            <a:pPr lvl="1"/>
            <a:r>
              <a:rPr lang="en-US" altLang="zh-CN" sz="2400" dirty="0"/>
              <a:t>HBase&gt; </a:t>
            </a:r>
            <a:r>
              <a:rPr lang="en-US" altLang="zh-CN" sz="2400" dirty="0" err="1"/>
              <a:t>deleteall</a:t>
            </a:r>
            <a:r>
              <a:rPr lang="en-US" altLang="zh-CN" sz="2400" dirty="0"/>
              <a:t> 't1', 'r1', 'c1'</a:t>
            </a:r>
          </a:p>
          <a:p>
            <a:endParaRPr lang="zh-CN" altLang="en-US" dirty="0"/>
          </a:p>
        </p:txBody>
      </p:sp>
    </p:spTree>
    <p:extLst>
      <p:ext uri="{BB962C8B-B14F-4D97-AF65-F5344CB8AC3E}">
        <p14:creationId xmlns:p14="http://schemas.microsoft.com/office/powerpoint/2010/main" val="36389904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其他常用</a:t>
            </a:r>
            <a:r>
              <a:rPr lang="en-US" altLang="zh-CN" dirty="0"/>
              <a:t>shell</a:t>
            </a:r>
            <a:r>
              <a:rPr lang="zh-CN" altLang="en-US" dirty="0"/>
              <a:t>命令</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457200" y="1200150"/>
            <a:ext cx="8229600" cy="3675855"/>
          </a:xfrm>
        </p:spPr>
        <p:txBody>
          <a:bodyPr>
            <a:normAutofit fontScale="92500" lnSpcReduction="20000"/>
          </a:bodyPr>
          <a:lstStyle/>
          <a:p>
            <a:r>
              <a:rPr lang="en-US" altLang="zh-CN" dirty="0"/>
              <a:t>1</a:t>
            </a:r>
            <a:r>
              <a:rPr lang="zh-CN" altLang="en-US" dirty="0"/>
              <a:t>．</a:t>
            </a:r>
            <a:r>
              <a:rPr lang="en-US" altLang="zh-CN" dirty="0"/>
              <a:t>describe</a:t>
            </a:r>
            <a:r>
              <a:rPr lang="zh-CN" altLang="en-US" dirty="0"/>
              <a:t>：显示数据表的详细信息</a:t>
            </a:r>
            <a:endParaRPr lang="en-US" altLang="zh-CN" dirty="0"/>
          </a:p>
          <a:p>
            <a:r>
              <a:rPr lang="en-US" altLang="zh-CN" dirty="0"/>
              <a:t>2</a:t>
            </a:r>
            <a:r>
              <a:rPr lang="zh-CN" altLang="en-US" dirty="0"/>
              <a:t>．</a:t>
            </a:r>
            <a:r>
              <a:rPr lang="en-US" altLang="zh-CN" dirty="0"/>
              <a:t>disable</a:t>
            </a:r>
            <a:r>
              <a:rPr lang="zh-CN" altLang="en-US" dirty="0"/>
              <a:t>：停用数据表</a:t>
            </a:r>
            <a:endParaRPr lang="en-US" altLang="zh-CN" dirty="0"/>
          </a:p>
          <a:p>
            <a:r>
              <a:rPr lang="en-US" altLang="zh-CN" dirty="0"/>
              <a:t>3</a:t>
            </a:r>
            <a:r>
              <a:rPr lang="zh-CN" altLang="en-US" dirty="0"/>
              <a:t>．</a:t>
            </a:r>
            <a:r>
              <a:rPr lang="en-US" altLang="zh-CN" dirty="0"/>
              <a:t>enable</a:t>
            </a:r>
            <a:r>
              <a:rPr lang="zh-CN" altLang="en-US" dirty="0"/>
              <a:t>：使表有效</a:t>
            </a:r>
            <a:endParaRPr lang="en-US" altLang="zh-CN" dirty="0"/>
          </a:p>
          <a:p>
            <a:r>
              <a:rPr lang="en-US" altLang="zh-CN" dirty="0"/>
              <a:t>4</a:t>
            </a:r>
            <a:r>
              <a:rPr lang="zh-CN" altLang="en-US" dirty="0"/>
              <a:t>．</a:t>
            </a:r>
            <a:r>
              <a:rPr lang="en-US" altLang="zh-CN" dirty="0"/>
              <a:t>drop</a:t>
            </a:r>
            <a:r>
              <a:rPr lang="zh-CN" altLang="en-US" dirty="0"/>
              <a:t>：删除表</a:t>
            </a:r>
            <a:endParaRPr lang="en-US" altLang="zh-CN" dirty="0"/>
          </a:p>
          <a:p>
            <a:r>
              <a:rPr lang="en-US" altLang="zh-CN" dirty="0"/>
              <a:t>5</a:t>
            </a:r>
            <a:r>
              <a:rPr lang="zh-CN" altLang="en-US" dirty="0"/>
              <a:t>．</a:t>
            </a:r>
            <a:r>
              <a:rPr lang="en-US" altLang="zh-CN" dirty="0"/>
              <a:t>exists</a:t>
            </a:r>
            <a:r>
              <a:rPr lang="zh-CN" altLang="en-US" dirty="0"/>
              <a:t>：测试表是否存在</a:t>
            </a:r>
            <a:endParaRPr lang="en-US" altLang="zh-CN" dirty="0"/>
          </a:p>
          <a:p>
            <a:r>
              <a:rPr lang="en-US" altLang="zh-CN" dirty="0"/>
              <a:t>6</a:t>
            </a:r>
            <a:r>
              <a:rPr lang="zh-CN" altLang="en-US" dirty="0"/>
              <a:t>．</a:t>
            </a:r>
            <a:r>
              <a:rPr lang="en-US" altLang="zh-CN" dirty="0" err="1"/>
              <a:t>incr</a:t>
            </a:r>
            <a:r>
              <a:rPr lang="zh-CN" altLang="en-US" dirty="0"/>
              <a:t>：增加指定单元格的值</a:t>
            </a:r>
            <a:endParaRPr lang="en-US" altLang="zh-CN" dirty="0"/>
          </a:p>
          <a:p>
            <a:r>
              <a:rPr lang="en-US" altLang="zh-CN" dirty="0"/>
              <a:t>7</a:t>
            </a:r>
            <a:r>
              <a:rPr lang="zh-CN" altLang="en-US" dirty="0"/>
              <a:t>．</a:t>
            </a:r>
            <a:r>
              <a:rPr lang="en-US" altLang="zh-CN" dirty="0"/>
              <a:t>list</a:t>
            </a:r>
            <a:r>
              <a:rPr lang="zh-CN" altLang="en-US" dirty="0"/>
              <a:t>：列出</a:t>
            </a:r>
            <a:r>
              <a:rPr lang="en-US" altLang="zh-CN" dirty="0"/>
              <a:t>HBase</a:t>
            </a:r>
            <a:r>
              <a:rPr lang="zh-CN" altLang="en-US" dirty="0"/>
              <a:t>中的用户数据表</a:t>
            </a:r>
            <a:endParaRPr lang="en-US" altLang="zh-CN" dirty="0"/>
          </a:p>
          <a:p>
            <a:r>
              <a:rPr lang="en-US" altLang="zh-CN" dirty="0"/>
              <a:t>8</a:t>
            </a:r>
            <a:r>
              <a:rPr lang="zh-CN" altLang="en-US" dirty="0"/>
              <a:t>．</a:t>
            </a:r>
            <a:r>
              <a:rPr lang="en-US" altLang="zh-CN" dirty="0"/>
              <a:t>truncate</a:t>
            </a:r>
            <a:r>
              <a:rPr lang="zh-CN" altLang="en-US" dirty="0"/>
              <a:t>：重新创建指定表</a:t>
            </a:r>
            <a:endParaRPr lang="en-US" altLang="zh-CN" dirty="0"/>
          </a:p>
          <a:p>
            <a:endParaRPr lang="zh-CN" altLang="en-US" dirty="0"/>
          </a:p>
        </p:txBody>
      </p:sp>
    </p:spTree>
    <p:extLst>
      <p:ext uri="{BB962C8B-B14F-4D97-AF65-F5344CB8AC3E}">
        <p14:creationId xmlns:p14="http://schemas.microsoft.com/office/powerpoint/2010/main" val="13663812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en-US" altLang="zh-CN" dirty="0"/>
              <a:t>HBase Shell</a:t>
            </a:r>
            <a:r>
              <a:rPr lang="zh-CN" altLang="en-US" dirty="0"/>
              <a:t>中的对象引用</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normAutofit/>
          </a:bodyPr>
          <a:lstStyle/>
          <a:p>
            <a:r>
              <a:rPr lang="en-US" altLang="zh-CN" sz="2400" dirty="0"/>
              <a:t>HBase Shell</a:t>
            </a:r>
            <a:r>
              <a:rPr lang="zh-CN" altLang="en-US" sz="2400" dirty="0"/>
              <a:t>中命令交互的本质是一种脚本语言，所以在创建表时还可以利用变量来存储创建的引用，那么在接下去的交互中，便可以使用</a:t>
            </a:r>
            <a:r>
              <a:rPr lang="en-US" altLang="zh-CN" sz="2400" dirty="0"/>
              <a:t>t1.&lt;method&gt;</a:t>
            </a:r>
            <a:r>
              <a:rPr lang="zh-CN" altLang="en-US" sz="2400" dirty="0"/>
              <a:t>的方法调用该数据表的方法。</a:t>
            </a:r>
            <a:endParaRPr lang="en-US" altLang="zh-CN" sz="2400" dirty="0"/>
          </a:p>
          <a:p>
            <a:r>
              <a:rPr lang="zh-CN" altLang="en-US" sz="2400" dirty="0"/>
              <a:t>例如，下面的语句创建了数据表</a:t>
            </a:r>
            <a:r>
              <a:rPr lang="en-US" altLang="zh-CN" sz="2400" dirty="0"/>
              <a:t>tb1</a:t>
            </a:r>
            <a:r>
              <a:rPr lang="zh-CN" altLang="en-US" sz="2400" dirty="0"/>
              <a:t>，并用</a:t>
            </a:r>
            <a:r>
              <a:rPr lang="en-US" altLang="zh-CN" sz="2400" dirty="0"/>
              <a:t>t1</a:t>
            </a:r>
            <a:r>
              <a:rPr lang="zh-CN" altLang="en-US" sz="2400" dirty="0"/>
              <a:t>来指向，之后利用</a:t>
            </a:r>
            <a:r>
              <a:rPr lang="en-US" altLang="zh-CN" sz="2400" dirty="0"/>
              <a:t>scan</a:t>
            </a:r>
            <a:r>
              <a:rPr lang="zh-CN" altLang="en-US" sz="2400" dirty="0"/>
              <a:t>查看数据表的数据信息。在如下实例中，创建数据表后返回的</a:t>
            </a:r>
            <a:r>
              <a:rPr lang="en-US" altLang="zh-CN" sz="2400" dirty="0"/>
              <a:t>t1</a:t>
            </a:r>
            <a:r>
              <a:rPr lang="zh-CN" altLang="en-US" sz="2400" dirty="0"/>
              <a:t>便是数据表的引用，其执行过程如下。</a:t>
            </a:r>
          </a:p>
        </p:txBody>
      </p:sp>
    </p:spTree>
    <p:extLst>
      <p:ext uri="{BB962C8B-B14F-4D97-AF65-F5344CB8AC3E}">
        <p14:creationId xmlns:p14="http://schemas.microsoft.com/office/powerpoint/2010/main" val="22490814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DD6E64-58E8-4A20-928B-6091FCEF392B}"/>
              </a:ext>
            </a:extLst>
          </p:cNvPr>
          <p:cNvSpPr>
            <a:spLocks noGrp="1"/>
          </p:cNvSpPr>
          <p:nvPr>
            <p:ph type="title"/>
          </p:nvPr>
        </p:nvSpPr>
        <p:spPr/>
        <p:txBody>
          <a:bodyPr>
            <a:normAutofit fontScale="90000"/>
          </a:bodyPr>
          <a:lstStyle/>
          <a:p>
            <a:r>
              <a:rPr lang="en-US" altLang="zh-CN" dirty="0"/>
              <a:t>HBase Shell</a:t>
            </a:r>
            <a:r>
              <a:rPr lang="zh-CN" altLang="en-US" dirty="0"/>
              <a:t>中的对象引用</a:t>
            </a:r>
          </a:p>
        </p:txBody>
      </p:sp>
      <p:sp>
        <p:nvSpPr>
          <p:cNvPr id="3" name="内容占位符 2">
            <a:extLst>
              <a:ext uri="{FF2B5EF4-FFF2-40B4-BE49-F238E27FC236}">
                <a16:creationId xmlns:a16="http://schemas.microsoft.com/office/drawing/2014/main" id="{9ADA4254-506C-4529-B2FF-1B7F4BC585E5}"/>
              </a:ext>
            </a:extLst>
          </p:cNvPr>
          <p:cNvSpPr>
            <a:spLocks noGrp="1"/>
          </p:cNvSpPr>
          <p:nvPr>
            <p:ph idx="1"/>
          </p:nvPr>
        </p:nvSpPr>
        <p:spPr/>
        <p:txBody>
          <a:bodyPr/>
          <a:lstStyle/>
          <a:p>
            <a:endParaRPr lang="zh-CN" altLang="en-US" dirty="0"/>
          </a:p>
        </p:txBody>
      </p:sp>
      <p:pic>
        <p:nvPicPr>
          <p:cNvPr id="4" name="图片 3">
            <a:extLst>
              <a:ext uri="{FF2B5EF4-FFF2-40B4-BE49-F238E27FC236}">
                <a16:creationId xmlns:a16="http://schemas.microsoft.com/office/drawing/2014/main" id="{581754B7-0239-44BB-8452-3297C252EB70}"/>
              </a:ext>
            </a:extLst>
          </p:cNvPr>
          <p:cNvPicPr>
            <a:picLocks noChangeAspect="1"/>
          </p:cNvPicPr>
          <p:nvPr/>
        </p:nvPicPr>
        <p:blipFill>
          <a:blip r:embed="rId2"/>
          <a:stretch>
            <a:fillRect/>
          </a:stretch>
        </p:blipFill>
        <p:spPr>
          <a:xfrm>
            <a:off x="0" y="1501551"/>
            <a:ext cx="9144000" cy="3059331"/>
          </a:xfrm>
          <a:prstGeom prst="rect">
            <a:avLst/>
          </a:prstGeom>
        </p:spPr>
      </p:pic>
    </p:spTree>
    <p:extLst>
      <p:ext uri="{BB962C8B-B14F-4D97-AF65-F5344CB8AC3E}">
        <p14:creationId xmlns:p14="http://schemas.microsoft.com/office/powerpoint/2010/main" val="12876895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06932" y="1259391"/>
            <a:ext cx="5236445" cy="1200329"/>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利用</a:t>
            </a:r>
            <a:r>
              <a:rPr lang="en-US" altLang="zh-CN" sz="3600" b="1" dirty="0" err="1">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Jython</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实现</a:t>
            </a:r>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HBase</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的访问</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06</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8441635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en-US" altLang="zh-CN" dirty="0" err="1"/>
              <a:t>Jython</a:t>
            </a:r>
            <a:r>
              <a:rPr lang="zh-CN" altLang="en-US" dirty="0"/>
              <a:t>与</a:t>
            </a:r>
            <a:r>
              <a:rPr lang="en-US" altLang="zh-CN" dirty="0"/>
              <a:t>HBase</a:t>
            </a:r>
            <a:endParaRPr lang="zh-CN" altLang="en-US" dirty="0"/>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p:txBody>
          <a:bodyPr>
            <a:normAutofit/>
          </a:bodyPr>
          <a:lstStyle/>
          <a:p>
            <a:r>
              <a:rPr lang="zh-CN" altLang="en-US" sz="2600" dirty="0"/>
              <a:t>对于用</a:t>
            </a:r>
            <a:r>
              <a:rPr lang="en-US" altLang="zh-CN" sz="2600" dirty="0"/>
              <a:t>Python</a:t>
            </a:r>
            <a:r>
              <a:rPr lang="zh-CN" altLang="en-US" sz="2600" dirty="0"/>
              <a:t>语言访问</a:t>
            </a:r>
            <a:r>
              <a:rPr lang="en-US" altLang="zh-CN" sz="2600" dirty="0"/>
              <a:t>HBase</a:t>
            </a:r>
            <a:r>
              <a:rPr lang="zh-CN" altLang="en-US" sz="2600" dirty="0"/>
              <a:t>，</a:t>
            </a:r>
            <a:r>
              <a:rPr lang="en-US" altLang="zh-CN" sz="2600" dirty="0"/>
              <a:t>HBase</a:t>
            </a:r>
            <a:r>
              <a:rPr lang="zh-CN" altLang="en-US" sz="2600" dirty="0"/>
              <a:t>的官方文档建议使用</a:t>
            </a:r>
            <a:r>
              <a:rPr lang="en-US" altLang="zh-CN" sz="2600" dirty="0" err="1"/>
              <a:t>Jython</a:t>
            </a:r>
            <a:r>
              <a:rPr lang="zh-CN" altLang="en-US" sz="2600" dirty="0"/>
              <a:t>实现与数据库的交互操作。</a:t>
            </a:r>
          </a:p>
          <a:p>
            <a:r>
              <a:rPr lang="en-US" altLang="zh-CN" sz="2600" dirty="0" err="1"/>
              <a:t>Jython</a:t>
            </a:r>
            <a:r>
              <a:rPr lang="zh-CN" altLang="en-US" sz="2600" dirty="0"/>
              <a:t>是一种完整的语言，而不是一个</a:t>
            </a:r>
            <a:r>
              <a:rPr lang="en-US" altLang="zh-CN" sz="2600" dirty="0"/>
              <a:t>Java</a:t>
            </a:r>
            <a:r>
              <a:rPr lang="zh-CN" altLang="en-US" sz="2600" dirty="0"/>
              <a:t>翻译器或仅仅是一个</a:t>
            </a:r>
            <a:r>
              <a:rPr lang="en-US" altLang="zh-CN" sz="2600" dirty="0"/>
              <a:t>Python</a:t>
            </a:r>
            <a:r>
              <a:rPr lang="zh-CN" altLang="en-US" sz="2600" dirty="0"/>
              <a:t>编译器，它是一个利用</a:t>
            </a:r>
            <a:r>
              <a:rPr lang="en-US" altLang="zh-CN" sz="2600" dirty="0"/>
              <a:t>Java</a:t>
            </a:r>
            <a:r>
              <a:rPr lang="zh-CN" altLang="en-US" sz="2600" dirty="0"/>
              <a:t>语言实现的</a:t>
            </a:r>
            <a:r>
              <a:rPr lang="en-US" altLang="zh-CN" sz="2600" dirty="0"/>
              <a:t>Python</a:t>
            </a:r>
            <a:r>
              <a:rPr lang="zh-CN" altLang="en-US" sz="2600" dirty="0"/>
              <a:t>语言。</a:t>
            </a:r>
            <a:r>
              <a:rPr lang="en-US" altLang="zh-CN" sz="2600" dirty="0" err="1"/>
              <a:t>Jython</a:t>
            </a:r>
            <a:r>
              <a:rPr lang="zh-CN" altLang="en-US" sz="2600" dirty="0"/>
              <a:t>包含很多从</a:t>
            </a:r>
            <a:r>
              <a:rPr lang="en-US" altLang="zh-CN" sz="2600" dirty="0" err="1"/>
              <a:t>CPython</a:t>
            </a:r>
            <a:r>
              <a:rPr lang="zh-CN" altLang="en-US" sz="2600" dirty="0"/>
              <a:t>（</a:t>
            </a:r>
            <a:r>
              <a:rPr lang="en-US" altLang="zh-CN" sz="2600" dirty="0"/>
              <a:t>Python</a:t>
            </a:r>
            <a:r>
              <a:rPr lang="zh-CN" altLang="en-US" sz="2600" dirty="0"/>
              <a:t>）中继承的模块库，同时也提供了所有的</a:t>
            </a:r>
            <a:r>
              <a:rPr lang="en-US" altLang="zh-CN" sz="2600" dirty="0"/>
              <a:t>Java</a:t>
            </a:r>
            <a:r>
              <a:rPr lang="zh-CN" altLang="en-US" sz="2600" dirty="0"/>
              <a:t>类库，从而使得</a:t>
            </a:r>
            <a:r>
              <a:rPr lang="en-US" altLang="zh-CN" sz="2600" dirty="0" err="1"/>
              <a:t>Jython</a:t>
            </a:r>
            <a:r>
              <a:rPr lang="zh-CN" altLang="en-US" sz="2600" dirty="0"/>
              <a:t>可以方便地使用所有</a:t>
            </a:r>
            <a:r>
              <a:rPr lang="en-US" altLang="zh-CN" sz="2600" dirty="0"/>
              <a:t>Java</a:t>
            </a:r>
            <a:r>
              <a:rPr lang="zh-CN" altLang="en-US" sz="2600" dirty="0"/>
              <a:t>的类库。</a:t>
            </a:r>
          </a:p>
          <a:p>
            <a:endParaRPr lang="zh-CN" altLang="en-US" dirty="0"/>
          </a:p>
        </p:txBody>
      </p:sp>
    </p:spTree>
    <p:extLst>
      <p:ext uri="{BB962C8B-B14F-4D97-AF65-F5344CB8AC3E}">
        <p14:creationId xmlns:p14="http://schemas.microsoft.com/office/powerpoint/2010/main" val="28953853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en-US" altLang="zh-CN" dirty="0" err="1"/>
              <a:t>Jython</a:t>
            </a:r>
            <a:r>
              <a:rPr lang="zh-CN" altLang="en-US" dirty="0"/>
              <a:t>环境设置</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395536" y="1059582"/>
            <a:ext cx="8229600" cy="3603847"/>
          </a:xfrm>
        </p:spPr>
        <p:txBody>
          <a:bodyPr>
            <a:noAutofit/>
          </a:bodyPr>
          <a:lstStyle/>
          <a:p>
            <a:r>
              <a:rPr lang="en-US" altLang="zh-CN" sz="2800"/>
              <a:t>Jython</a:t>
            </a:r>
            <a:r>
              <a:rPr lang="zh-CN" altLang="en-US" sz="2800"/>
              <a:t>的安装与配置</a:t>
            </a:r>
            <a:endParaRPr lang="en-US" altLang="zh-CN" sz="2800"/>
          </a:p>
          <a:p>
            <a:pPr lvl="1">
              <a:buFont typeface="Wingdings" panose="05000000000000000000" pitchFamily="2" charset="2"/>
              <a:buChar char="Ø"/>
            </a:pPr>
            <a:r>
              <a:rPr lang="en-US" altLang="zh-CN" sz="2400"/>
              <a:t> </a:t>
            </a:r>
            <a:r>
              <a:rPr lang="zh-CN" altLang="zh-CN" sz="2400"/>
              <a:t>java -jar jython-installer-2.7.0.jar -d /</a:t>
            </a:r>
            <a:r>
              <a:rPr lang="en-US" altLang="zh-CN" sz="2400"/>
              <a:t>opt</a:t>
            </a:r>
            <a:r>
              <a:rPr lang="zh-CN" altLang="zh-CN" sz="2400"/>
              <a:t>/jython</a:t>
            </a:r>
            <a:endParaRPr lang="en-US" altLang="zh-CN" sz="2400"/>
          </a:p>
          <a:p>
            <a:pPr lvl="1">
              <a:buFont typeface="Wingdings" panose="05000000000000000000" pitchFamily="2" charset="2"/>
              <a:buChar char="Ø"/>
            </a:pPr>
            <a:r>
              <a:rPr lang="zh-CN" altLang="zh-CN" sz="2400"/>
              <a:t>注： -d: 指定jython安装目录</a:t>
            </a:r>
          </a:p>
          <a:p>
            <a:pPr lvl="1"/>
            <a:endParaRPr lang="en-US" altLang="zh-CN" sz="2000"/>
          </a:p>
          <a:p>
            <a:r>
              <a:rPr lang="en-US" altLang="zh-CN" sz="2400"/>
              <a:t>profile</a:t>
            </a:r>
            <a:r>
              <a:rPr lang="zh-CN" altLang="en-US" sz="2400"/>
              <a:t>文件中配置环境变量：</a:t>
            </a:r>
            <a:endParaRPr lang="en-US" altLang="zh-CN" sz="2400"/>
          </a:p>
          <a:p>
            <a:pPr lvl="1"/>
            <a:r>
              <a:rPr lang="en-US" altLang="zh-CN" sz="2400"/>
              <a:t>export JYTHON_HOME=/opt/jython</a:t>
            </a:r>
            <a:endParaRPr lang="zh-CN" altLang="en-US" sz="2400"/>
          </a:p>
          <a:p>
            <a:pPr lvl="1"/>
            <a:r>
              <a:rPr lang="en-US" altLang="zh-CN" sz="2400"/>
              <a:t>export PATH=$PATH:$JYTHON_HOME/bin</a:t>
            </a:r>
            <a:endParaRPr lang="zh-CN" altLang="en-US" sz="2400"/>
          </a:p>
          <a:p>
            <a:pPr lvl="1"/>
            <a:r>
              <a:rPr lang="en-US" altLang="zh-CN" sz="2400"/>
              <a:t>export HBASE_CLASSPATH=$JYTHON_HOME/jython.jar</a:t>
            </a:r>
            <a:endParaRPr lang="zh-CN" altLang="en-US" sz="2400"/>
          </a:p>
          <a:p>
            <a:pPr lvl="1"/>
            <a:endParaRPr lang="en-US" altLang="zh-CN" sz="2000" dirty="0"/>
          </a:p>
          <a:p>
            <a:endParaRPr lang="zh-CN" altLang="en-US" sz="2400" dirty="0"/>
          </a:p>
        </p:txBody>
      </p:sp>
    </p:spTree>
    <p:extLst>
      <p:ext uri="{BB962C8B-B14F-4D97-AF65-F5344CB8AC3E}">
        <p14:creationId xmlns:p14="http://schemas.microsoft.com/office/powerpoint/2010/main" val="859069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en-US" altLang="zh-CN" dirty="0" err="1"/>
              <a:t>Jython</a:t>
            </a:r>
            <a:r>
              <a:rPr lang="zh-CN" altLang="en-US" dirty="0"/>
              <a:t>环境设置</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395536" y="1059583"/>
            <a:ext cx="7704856" cy="1008112"/>
          </a:xfrm>
        </p:spPr>
        <p:txBody>
          <a:bodyPr>
            <a:noAutofit/>
          </a:bodyPr>
          <a:lstStyle/>
          <a:p>
            <a:r>
              <a:rPr lang="en-US" altLang="zh-CN" sz="2800"/>
              <a:t> jython classpath</a:t>
            </a:r>
            <a:r>
              <a:rPr lang="zh-CN" altLang="en-US" sz="2800"/>
              <a:t>设置</a:t>
            </a:r>
            <a:endParaRPr lang="en-US" altLang="zh-CN" sz="2800"/>
          </a:p>
          <a:p>
            <a:pPr lvl="1"/>
            <a:r>
              <a:rPr lang="zh-CN" altLang="zh-CN" sz="2000"/>
              <a:t>编辑jython</a:t>
            </a:r>
            <a:r>
              <a:rPr lang="en-US" altLang="zh-CN" sz="2000"/>
              <a:t>/</a:t>
            </a:r>
            <a:r>
              <a:rPr lang="zh-CN" altLang="zh-CN" sz="2000"/>
              <a:t>bin下的jython文件, 在相应位置添加如下内容：    </a:t>
            </a:r>
            <a:endParaRPr lang="en-US" altLang="zh-CN" sz="2000"/>
          </a:p>
          <a:p>
            <a:pPr lvl="1"/>
            <a:endParaRPr lang="en-US" altLang="zh-CN" sz="2000" dirty="0"/>
          </a:p>
          <a:p>
            <a:endParaRPr lang="zh-CN" altLang="en-US" sz="2400" dirty="0"/>
          </a:p>
        </p:txBody>
      </p:sp>
      <p:sp>
        <p:nvSpPr>
          <p:cNvPr id="4" name="文本框 3">
            <a:extLst>
              <a:ext uri="{FF2B5EF4-FFF2-40B4-BE49-F238E27FC236}">
                <a16:creationId xmlns:a16="http://schemas.microsoft.com/office/drawing/2014/main" id="{5C21CA4B-C541-49E3-8F14-6DE6F22E4C74}"/>
              </a:ext>
            </a:extLst>
          </p:cNvPr>
          <p:cNvSpPr txBox="1"/>
          <p:nvPr/>
        </p:nvSpPr>
        <p:spPr>
          <a:xfrm>
            <a:off x="245122" y="2211710"/>
            <a:ext cx="8575350" cy="2031325"/>
          </a:xfrm>
          <a:prstGeom prst="rect">
            <a:avLst/>
          </a:prstGeom>
          <a:noFill/>
        </p:spPr>
        <p:txBody>
          <a:bodyPr wrap="square" rtlCol="0">
            <a:spAutoFit/>
          </a:bodyPr>
          <a:lstStyle/>
          <a:p>
            <a:pPr lvl="1"/>
            <a:r>
              <a:rPr lang="zh-CN" altLang="zh-CN"/>
              <a:t>if [ ! -z "$CLASSPATH" ];then</a:t>
            </a:r>
            <a:br>
              <a:rPr lang="zh-CN" altLang="zh-CN"/>
            </a:br>
            <a:r>
              <a:rPr lang="zh-CN" altLang="zh-CN"/>
              <a:t>    </a:t>
            </a:r>
            <a:r>
              <a:rPr lang="en-US" altLang="zh-CN"/>
              <a:t>  </a:t>
            </a:r>
            <a:r>
              <a:rPr lang="zh-CN" altLang="zh-CN"/>
              <a:t>CLASSPATH=$CLASSPATH:</a:t>
            </a:r>
            <a:r>
              <a:rPr lang="en-US" altLang="zh-CN"/>
              <a:t>$HBASE_HOME</a:t>
            </a:r>
            <a:r>
              <a:rPr lang="zh-CN" altLang="zh-CN"/>
              <a:t>/lib/*</a:t>
            </a:r>
            <a:r>
              <a:rPr lang="en-US" altLang="zh-CN"/>
              <a:t>:$HADOOP_HOME</a:t>
            </a:r>
            <a:r>
              <a:rPr lang="zh-CN" altLang="zh-CN"/>
              <a:t>/share/hadoop/common/lib/*</a:t>
            </a:r>
          </a:p>
          <a:p>
            <a:pPr lvl="1"/>
            <a:r>
              <a:rPr lang="zh-CN" altLang="zh-CN"/>
              <a:t>CP=$CP:$CLASSPATH</a:t>
            </a:r>
            <a:br>
              <a:rPr lang="zh-CN" altLang="zh-CN"/>
            </a:br>
            <a:r>
              <a:rPr lang="zh-CN" altLang="zh-CN"/>
              <a:t>Fi</a:t>
            </a:r>
          </a:p>
          <a:p>
            <a:endParaRPr lang="zh-CN" altLang="en-US"/>
          </a:p>
        </p:txBody>
      </p:sp>
    </p:spTree>
    <p:extLst>
      <p:ext uri="{BB962C8B-B14F-4D97-AF65-F5344CB8AC3E}">
        <p14:creationId xmlns:p14="http://schemas.microsoft.com/office/powerpoint/2010/main" val="129145046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E0AD7A-454C-4556-B976-FECB6E8101D4}"/>
              </a:ext>
            </a:extLst>
          </p:cNvPr>
          <p:cNvSpPr>
            <a:spLocks noGrp="1"/>
          </p:cNvSpPr>
          <p:nvPr>
            <p:ph type="title"/>
          </p:nvPr>
        </p:nvSpPr>
        <p:spPr/>
        <p:txBody>
          <a:bodyPr>
            <a:normAutofit fontScale="90000"/>
          </a:bodyPr>
          <a:lstStyle/>
          <a:p>
            <a:r>
              <a:rPr lang="en-US" altLang="zh-CN" dirty="0" err="1"/>
              <a:t>Jython</a:t>
            </a:r>
            <a:r>
              <a:rPr lang="zh-CN" altLang="en-US" dirty="0"/>
              <a:t>环境设置</a:t>
            </a:r>
          </a:p>
        </p:txBody>
      </p:sp>
      <p:sp>
        <p:nvSpPr>
          <p:cNvPr id="3" name="内容占位符 2">
            <a:extLst>
              <a:ext uri="{FF2B5EF4-FFF2-40B4-BE49-F238E27FC236}">
                <a16:creationId xmlns:a16="http://schemas.microsoft.com/office/drawing/2014/main" id="{B24C4BA5-BEB5-4996-8380-9F4B66953FAA}"/>
              </a:ext>
            </a:extLst>
          </p:cNvPr>
          <p:cNvSpPr>
            <a:spLocks noGrp="1"/>
          </p:cNvSpPr>
          <p:nvPr>
            <p:ph idx="1"/>
          </p:nvPr>
        </p:nvSpPr>
        <p:spPr/>
        <p:txBody>
          <a:bodyPr/>
          <a:lstStyle/>
          <a:p>
            <a:r>
              <a:rPr lang="zh-CN" altLang="en-US"/>
              <a:t>运行</a:t>
            </a:r>
            <a:r>
              <a:rPr lang="en-US" altLang="zh-CN"/>
              <a:t>Jython</a:t>
            </a:r>
            <a:r>
              <a:rPr lang="zh-CN" altLang="en-US"/>
              <a:t>程序：</a:t>
            </a:r>
            <a:endParaRPr lang="en-US" altLang="zh-CN"/>
          </a:p>
          <a:p>
            <a:pPr lvl="1"/>
            <a:r>
              <a:rPr lang="en-US" altLang="zh-CN"/>
              <a:t>jython</a:t>
            </a:r>
            <a:r>
              <a:rPr lang="zh-CN" altLang="en-US"/>
              <a:t>  程序文件名</a:t>
            </a:r>
            <a:endParaRPr lang="zh-CN" altLang="en-US" dirty="0"/>
          </a:p>
        </p:txBody>
      </p:sp>
    </p:spTree>
    <p:extLst>
      <p:ext uri="{BB962C8B-B14F-4D97-AF65-F5344CB8AC3E}">
        <p14:creationId xmlns:p14="http://schemas.microsoft.com/office/powerpoint/2010/main" val="29432604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t>Jython</a:t>
            </a:r>
            <a:r>
              <a:rPr lang="zh-CN" altLang="en-US" dirty="0"/>
              <a:t>访问</a:t>
            </a:r>
            <a:r>
              <a:rPr lang="en-US" altLang="zh-CN" dirty="0"/>
              <a:t>HBase</a:t>
            </a:r>
            <a:endParaRPr lang="zh-CN" altLang="en-US" dirty="0"/>
          </a:p>
        </p:txBody>
      </p:sp>
      <p:sp>
        <p:nvSpPr>
          <p:cNvPr id="6" name="内容占位符 5">
            <a:extLst>
              <a:ext uri="{FF2B5EF4-FFF2-40B4-BE49-F238E27FC236}">
                <a16:creationId xmlns:a16="http://schemas.microsoft.com/office/drawing/2014/main" id="{652D7956-267C-4E18-B2EE-13876871684F}"/>
              </a:ext>
            </a:extLst>
          </p:cNvPr>
          <p:cNvSpPr>
            <a:spLocks noGrp="1"/>
          </p:cNvSpPr>
          <p:nvPr>
            <p:ph idx="1"/>
          </p:nvPr>
        </p:nvSpPr>
        <p:spPr/>
        <p:txBody>
          <a:bodyPr>
            <a:normAutofit/>
          </a:bodyPr>
          <a:lstStyle/>
          <a:p>
            <a:r>
              <a:rPr lang="zh-CN" altLang="en-US" sz="2400" dirty="0"/>
              <a:t>利用</a:t>
            </a:r>
            <a:r>
              <a:rPr lang="en-US" altLang="zh-CN" sz="2400" dirty="0"/>
              <a:t>HBase</a:t>
            </a:r>
            <a:r>
              <a:rPr lang="zh-CN" altLang="en-US" sz="2400" dirty="0"/>
              <a:t>提供的类库编写的一个</a:t>
            </a:r>
            <a:r>
              <a:rPr lang="en-US" altLang="zh-CN" sz="2400" dirty="0" err="1"/>
              <a:t>Jython</a:t>
            </a:r>
            <a:r>
              <a:rPr lang="zh-CN" altLang="en-US" sz="2400" dirty="0"/>
              <a:t>程序，实现数据表</a:t>
            </a:r>
            <a:r>
              <a:rPr lang="en-US" altLang="zh-CN" sz="2400" dirty="0"/>
              <a:t>test</a:t>
            </a:r>
            <a:r>
              <a:rPr lang="zh-CN" altLang="en-US" sz="2400" dirty="0"/>
              <a:t>的创建，在创建成功后，利用</a:t>
            </a:r>
            <a:r>
              <a:rPr lang="en-US" altLang="zh-CN" sz="2400" dirty="0"/>
              <a:t>put</a:t>
            </a:r>
            <a:r>
              <a:rPr lang="zh-CN" altLang="en-US" sz="2400" dirty="0"/>
              <a:t>往数据表中添加一行数据。把该程序存储为文件</a:t>
            </a:r>
            <a:r>
              <a:rPr lang="en-US" altLang="zh-CN" sz="2400" dirty="0"/>
              <a:t>createTable.py</a:t>
            </a:r>
            <a:r>
              <a:rPr lang="zh-CN" altLang="en-US" sz="2400" dirty="0"/>
              <a:t>，其源码如下。</a:t>
            </a:r>
            <a:endParaRPr lang="en-US" altLang="zh-CN" sz="2400" dirty="0"/>
          </a:p>
          <a:p>
            <a:r>
              <a:rPr lang="zh-CN" altLang="en-US" sz="2400" dirty="0"/>
              <a:t>需要注意的是，</a:t>
            </a:r>
            <a:r>
              <a:rPr lang="en-US" altLang="zh-CN" sz="2400" dirty="0"/>
              <a:t>Linux</a:t>
            </a:r>
            <a:r>
              <a:rPr lang="zh-CN" altLang="en-US" sz="2400" dirty="0"/>
              <a:t>系统中常常未能很好的支持中文数据，所以，下面程序中的注释信息有可能会引起</a:t>
            </a:r>
            <a:r>
              <a:rPr lang="en-US" altLang="zh-CN" sz="2400" dirty="0" err="1"/>
              <a:t>Jython</a:t>
            </a:r>
            <a:r>
              <a:rPr lang="zh-CN" altLang="en-US" sz="2400" dirty="0"/>
              <a:t>程序执行异常，再现程序时，可以忽略其中的注释信息。</a:t>
            </a:r>
          </a:p>
        </p:txBody>
      </p:sp>
    </p:spTree>
    <p:extLst>
      <p:ext uri="{BB962C8B-B14F-4D97-AF65-F5344CB8AC3E}">
        <p14:creationId xmlns:p14="http://schemas.microsoft.com/office/powerpoint/2010/main" val="29218690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CDDE7-BB6A-4849-B0BB-D8C762C2B08F}"/>
              </a:ext>
            </a:extLst>
          </p:cNvPr>
          <p:cNvSpPr>
            <a:spLocks noGrp="1"/>
          </p:cNvSpPr>
          <p:nvPr>
            <p:ph type="title"/>
          </p:nvPr>
        </p:nvSpPr>
        <p:spPr/>
        <p:txBody>
          <a:bodyPr>
            <a:normAutofit fontScale="90000"/>
          </a:bodyPr>
          <a:lstStyle/>
          <a:p>
            <a:r>
              <a:rPr lang="en-US" altLang="zh-CN" dirty="0" err="1"/>
              <a:t>Jython</a:t>
            </a:r>
            <a:r>
              <a:rPr lang="zh-CN" altLang="en-US" dirty="0"/>
              <a:t>访问</a:t>
            </a:r>
            <a:r>
              <a:rPr lang="en-US" altLang="zh-CN" dirty="0"/>
              <a:t>HBase</a:t>
            </a:r>
            <a:endParaRPr lang="zh-CN" altLang="en-US" dirty="0"/>
          </a:p>
        </p:txBody>
      </p:sp>
      <p:sp>
        <p:nvSpPr>
          <p:cNvPr id="3" name="内容占位符 2">
            <a:extLst>
              <a:ext uri="{FF2B5EF4-FFF2-40B4-BE49-F238E27FC236}">
                <a16:creationId xmlns:a16="http://schemas.microsoft.com/office/drawing/2014/main" id="{43ECD2D2-3585-4527-84D0-0420DA52AC28}"/>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73D4FB80-6128-48CE-A360-5AF8E582F139}"/>
              </a:ext>
            </a:extLst>
          </p:cNvPr>
          <p:cNvPicPr>
            <a:picLocks noChangeAspect="1"/>
          </p:cNvPicPr>
          <p:nvPr/>
        </p:nvPicPr>
        <p:blipFill>
          <a:blip r:embed="rId2"/>
          <a:stretch>
            <a:fillRect/>
          </a:stretch>
        </p:blipFill>
        <p:spPr>
          <a:xfrm>
            <a:off x="0" y="1426110"/>
            <a:ext cx="9144000" cy="2942553"/>
          </a:xfrm>
          <a:prstGeom prst="rect">
            <a:avLst/>
          </a:prstGeom>
        </p:spPr>
      </p:pic>
    </p:spTree>
    <p:extLst>
      <p:ext uri="{BB962C8B-B14F-4D97-AF65-F5344CB8AC3E}">
        <p14:creationId xmlns:p14="http://schemas.microsoft.com/office/powerpoint/2010/main" val="10668965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20750D-C133-44FB-83F9-6EF4826FB0F6}"/>
              </a:ext>
            </a:extLst>
          </p:cNvPr>
          <p:cNvSpPr>
            <a:spLocks noGrp="1"/>
          </p:cNvSpPr>
          <p:nvPr>
            <p:ph type="title"/>
          </p:nvPr>
        </p:nvSpPr>
        <p:spPr/>
        <p:txBody>
          <a:bodyPr>
            <a:normAutofit fontScale="90000"/>
          </a:bodyPr>
          <a:lstStyle/>
          <a:p>
            <a:r>
              <a:rPr lang="en-US" altLang="zh-CN" dirty="0" err="1"/>
              <a:t>Jython</a:t>
            </a:r>
            <a:r>
              <a:rPr lang="zh-CN" altLang="en-US" dirty="0"/>
              <a:t>访问</a:t>
            </a:r>
            <a:r>
              <a:rPr lang="en-US" altLang="zh-CN" dirty="0"/>
              <a:t>HBase</a:t>
            </a:r>
            <a:endParaRPr lang="zh-CN" altLang="en-US" dirty="0"/>
          </a:p>
        </p:txBody>
      </p:sp>
      <p:sp>
        <p:nvSpPr>
          <p:cNvPr id="3" name="内容占位符 2">
            <a:extLst>
              <a:ext uri="{FF2B5EF4-FFF2-40B4-BE49-F238E27FC236}">
                <a16:creationId xmlns:a16="http://schemas.microsoft.com/office/drawing/2014/main" id="{C3368173-92F3-487E-B6BD-05C1EFDE6E20}"/>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8973BC03-62CD-41FF-8E74-E8A8D6D3643A}"/>
              </a:ext>
            </a:extLst>
          </p:cNvPr>
          <p:cNvPicPr>
            <a:picLocks noChangeAspect="1"/>
          </p:cNvPicPr>
          <p:nvPr/>
        </p:nvPicPr>
        <p:blipFill>
          <a:blip r:embed="rId2"/>
          <a:stretch>
            <a:fillRect/>
          </a:stretch>
        </p:blipFill>
        <p:spPr>
          <a:xfrm>
            <a:off x="0" y="1275606"/>
            <a:ext cx="9144000" cy="3370730"/>
          </a:xfrm>
          <a:prstGeom prst="rect">
            <a:avLst/>
          </a:prstGeom>
        </p:spPr>
      </p:pic>
    </p:spTree>
    <p:extLst>
      <p:ext uri="{BB962C8B-B14F-4D97-AF65-F5344CB8AC3E}">
        <p14:creationId xmlns:p14="http://schemas.microsoft.com/office/powerpoint/2010/main" val="26921662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EBCE3-4BAC-41A3-8827-A4865CA6CEB9}"/>
              </a:ext>
            </a:extLst>
          </p:cNvPr>
          <p:cNvSpPr>
            <a:spLocks noGrp="1"/>
          </p:cNvSpPr>
          <p:nvPr>
            <p:ph type="title"/>
          </p:nvPr>
        </p:nvSpPr>
        <p:spPr/>
        <p:txBody>
          <a:bodyPr>
            <a:normAutofit fontScale="90000"/>
          </a:bodyPr>
          <a:lstStyle/>
          <a:p>
            <a:r>
              <a:rPr lang="en-US" altLang="zh-CN" dirty="0" err="1"/>
              <a:t>Jython</a:t>
            </a:r>
            <a:r>
              <a:rPr lang="zh-CN" altLang="en-US" dirty="0"/>
              <a:t>访问</a:t>
            </a:r>
            <a:r>
              <a:rPr lang="en-US" altLang="zh-CN" dirty="0"/>
              <a:t>HBase</a:t>
            </a:r>
            <a:endParaRPr lang="zh-CN" altLang="en-US" dirty="0"/>
          </a:p>
        </p:txBody>
      </p:sp>
      <p:sp>
        <p:nvSpPr>
          <p:cNvPr id="3" name="内容占位符 2">
            <a:extLst>
              <a:ext uri="{FF2B5EF4-FFF2-40B4-BE49-F238E27FC236}">
                <a16:creationId xmlns:a16="http://schemas.microsoft.com/office/drawing/2014/main" id="{FE1E1AFD-55DA-49BC-969D-C908073020BC}"/>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C452E09F-E539-49E9-B46D-FC8A7A14FFCB}"/>
              </a:ext>
            </a:extLst>
          </p:cNvPr>
          <p:cNvPicPr>
            <a:picLocks noChangeAspect="1"/>
          </p:cNvPicPr>
          <p:nvPr/>
        </p:nvPicPr>
        <p:blipFill>
          <a:blip r:embed="rId2"/>
          <a:stretch>
            <a:fillRect/>
          </a:stretch>
        </p:blipFill>
        <p:spPr>
          <a:xfrm>
            <a:off x="-4154" y="1275606"/>
            <a:ext cx="9144000" cy="3454805"/>
          </a:xfrm>
          <a:prstGeom prst="rect">
            <a:avLst/>
          </a:prstGeom>
        </p:spPr>
      </p:pic>
    </p:spTree>
    <p:extLst>
      <p:ext uri="{BB962C8B-B14F-4D97-AF65-F5344CB8AC3E}">
        <p14:creationId xmlns:p14="http://schemas.microsoft.com/office/powerpoint/2010/main" val="216855965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F4FB29-BC9C-45EE-8E14-7272719DE799}"/>
              </a:ext>
            </a:extLst>
          </p:cNvPr>
          <p:cNvSpPr>
            <a:spLocks noGrp="1"/>
          </p:cNvSpPr>
          <p:nvPr>
            <p:ph type="title"/>
          </p:nvPr>
        </p:nvSpPr>
        <p:spPr/>
        <p:txBody>
          <a:bodyPr>
            <a:normAutofit fontScale="90000"/>
          </a:bodyPr>
          <a:lstStyle/>
          <a:p>
            <a:r>
              <a:rPr lang="en-US" altLang="zh-CN" dirty="0" err="1"/>
              <a:t>Jython</a:t>
            </a:r>
            <a:r>
              <a:rPr lang="zh-CN" altLang="en-US" dirty="0"/>
              <a:t>访问</a:t>
            </a:r>
            <a:r>
              <a:rPr lang="en-US" altLang="zh-CN" dirty="0"/>
              <a:t>HBase</a:t>
            </a:r>
            <a:endParaRPr lang="zh-CN" altLang="en-US" dirty="0"/>
          </a:p>
        </p:txBody>
      </p:sp>
      <p:sp>
        <p:nvSpPr>
          <p:cNvPr id="3" name="内容占位符 2">
            <a:extLst>
              <a:ext uri="{FF2B5EF4-FFF2-40B4-BE49-F238E27FC236}">
                <a16:creationId xmlns:a16="http://schemas.microsoft.com/office/drawing/2014/main" id="{9095C649-6BB0-4827-9125-FE9345ECAECD}"/>
              </a:ext>
            </a:extLst>
          </p:cNvPr>
          <p:cNvSpPr>
            <a:spLocks noGrp="1"/>
          </p:cNvSpPr>
          <p:nvPr>
            <p:ph idx="1"/>
          </p:nvPr>
        </p:nvSpPr>
        <p:spPr/>
        <p:txBody>
          <a:bodyPr/>
          <a:lstStyle/>
          <a:p>
            <a:r>
              <a:rPr lang="zh-CN" altLang="en-US" dirty="0"/>
              <a:t>运行该程序前需先启动</a:t>
            </a:r>
            <a:r>
              <a:rPr lang="en-US" altLang="zh-CN" dirty="0"/>
              <a:t>HBase</a:t>
            </a:r>
            <a:r>
              <a:rPr lang="zh-CN" altLang="en-US" dirty="0"/>
              <a:t>，之后按照如下方式运行该</a:t>
            </a:r>
            <a:r>
              <a:rPr lang="zh-CN" altLang="en-US"/>
              <a:t>程序：</a:t>
            </a:r>
            <a:endParaRPr lang="en-US" altLang="zh-CN"/>
          </a:p>
          <a:p>
            <a:pPr lvl="1"/>
            <a:r>
              <a:rPr lang="en-US" altLang="zh-CN"/>
              <a:t>jython createTable.py</a:t>
            </a:r>
            <a:endParaRPr lang="zh-CN" altLang="en-US" dirty="0"/>
          </a:p>
        </p:txBody>
      </p:sp>
    </p:spTree>
    <p:extLst>
      <p:ext uri="{BB962C8B-B14F-4D97-AF65-F5344CB8AC3E}">
        <p14:creationId xmlns:p14="http://schemas.microsoft.com/office/powerpoint/2010/main" val="120042531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21DA5-6953-443F-8BD4-54857EE977AC}"/>
              </a:ext>
            </a:extLst>
          </p:cNvPr>
          <p:cNvSpPr>
            <a:spLocks noGrp="1"/>
          </p:cNvSpPr>
          <p:nvPr>
            <p:ph type="title"/>
          </p:nvPr>
        </p:nvSpPr>
        <p:spPr/>
        <p:txBody>
          <a:bodyPr>
            <a:normAutofit fontScale="90000"/>
          </a:bodyPr>
          <a:lstStyle/>
          <a:p>
            <a:r>
              <a:rPr lang="en-US" altLang="zh-CN" dirty="0" err="1"/>
              <a:t>Jython</a:t>
            </a:r>
            <a:r>
              <a:rPr lang="zh-CN" altLang="en-US" dirty="0"/>
              <a:t>访问</a:t>
            </a:r>
            <a:r>
              <a:rPr lang="en-US" altLang="zh-CN" dirty="0"/>
              <a:t>HBase</a:t>
            </a:r>
            <a:endParaRPr lang="zh-CN" altLang="en-US" dirty="0"/>
          </a:p>
        </p:txBody>
      </p:sp>
      <p:sp>
        <p:nvSpPr>
          <p:cNvPr id="3" name="内容占位符 2">
            <a:extLst>
              <a:ext uri="{FF2B5EF4-FFF2-40B4-BE49-F238E27FC236}">
                <a16:creationId xmlns:a16="http://schemas.microsoft.com/office/drawing/2014/main" id="{A2FBADB2-F8F4-4AB8-AE85-EF25448C2885}"/>
              </a:ext>
            </a:extLst>
          </p:cNvPr>
          <p:cNvSpPr>
            <a:spLocks noGrp="1"/>
          </p:cNvSpPr>
          <p:nvPr>
            <p:ph idx="1"/>
          </p:nvPr>
        </p:nvSpPr>
        <p:spPr>
          <a:xfrm>
            <a:off x="457200" y="987574"/>
            <a:ext cx="8229600" cy="3394472"/>
          </a:xfrm>
        </p:spPr>
        <p:txBody>
          <a:bodyPr/>
          <a:lstStyle/>
          <a:p>
            <a:r>
              <a:rPr lang="zh-CN" altLang="en-US" dirty="0"/>
              <a:t>查看表中数据</a:t>
            </a:r>
          </a:p>
        </p:txBody>
      </p:sp>
      <p:pic>
        <p:nvPicPr>
          <p:cNvPr id="4" name="图片 3">
            <a:extLst>
              <a:ext uri="{FF2B5EF4-FFF2-40B4-BE49-F238E27FC236}">
                <a16:creationId xmlns:a16="http://schemas.microsoft.com/office/drawing/2014/main" id="{2FD2C737-1AD4-4DBB-B9C5-8D706D7009D5}"/>
              </a:ext>
            </a:extLst>
          </p:cNvPr>
          <p:cNvPicPr>
            <a:picLocks noChangeAspect="1"/>
          </p:cNvPicPr>
          <p:nvPr/>
        </p:nvPicPr>
        <p:blipFill rotWithShape="1">
          <a:blip r:embed="rId2"/>
          <a:srcRect t="37817"/>
          <a:stretch/>
        </p:blipFill>
        <p:spPr>
          <a:xfrm>
            <a:off x="40303" y="1892400"/>
            <a:ext cx="9063394" cy="2705670"/>
          </a:xfrm>
          <a:prstGeom prst="rect">
            <a:avLst/>
          </a:prstGeom>
        </p:spPr>
      </p:pic>
    </p:spTree>
    <p:extLst>
      <p:ext uri="{BB962C8B-B14F-4D97-AF65-F5344CB8AC3E}">
        <p14:creationId xmlns:p14="http://schemas.microsoft.com/office/powerpoint/2010/main" val="5959773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78ED21-368D-4093-9B00-03335AD539D7}"/>
              </a:ext>
            </a:extLst>
          </p:cNvPr>
          <p:cNvSpPr>
            <a:spLocks noGrp="1"/>
          </p:cNvSpPr>
          <p:nvPr>
            <p:ph type="title"/>
          </p:nvPr>
        </p:nvSpPr>
        <p:spPr/>
        <p:txBody>
          <a:bodyPr>
            <a:normAutofit fontScale="90000"/>
          </a:bodyPr>
          <a:lstStyle/>
          <a:p>
            <a:r>
              <a:rPr lang="zh-CN" altLang="en-US" dirty="0"/>
              <a:t>利用</a:t>
            </a:r>
            <a:r>
              <a:rPr lang="en-US" altLang="zh-CN" dirty="0"/>
              <a:t>scan</a:t>
            </a:r>
            <a:r>
              <a:rPr lang="zh-CN" altLang="en-US" dirty="0"/>
              <a:t>遍历</a:t>
            </a:r>
            <a:r>
              <a:rPr lang="en-US" altLang="zh-CN" dirty="0"/>
              <a:t>HBase</a:t>
            </a:r>
            <a:r>
              <a:rPr lang="zh-CN" altLang="en-US" dirty="0"/>
              <a:t>中的数据</a:t>
            </a:r>
          </a:p>
        </p:txBody>
      </p:sp>
      <p:sp>
        <p:nvSpPr>
          <p:cNvPr id="3" name="内容占位符 2">
            <a:extLst>
              <a:ext uri="{FF2B5EF4-FFF2-40B4-BE49-F238E27FC236}">
                <a16:creationId xmlns:a16="http://schemas.microsoft.com/office/drawing/2014/main" id="{44FD7684-E7BE-4979-9AB7-8008B28894AB}"/>
              </a:ext>
            </a:extLst>
          </p:cNvPr>
          <p:cNvSpPr>
            <a:spLocks noGrp="1"/>
          </p:cNvSpPr>
          <p:nvPr>
            <p:ph idx="1"/>
          </p:nvPr>
        </p:nvSpPr>
        <p:spPr/>
        <p:txBody>
          <a:bodyPr>
            <a:normAutofit fontScale="92500"/>
          </a:bodyPr>
          <a:lstStyle/>
          <a:p>
            <a:r>
              <a:rPr lang="en-US" altLang="zh-CN" dirty="0"/>
              <a:t>scan(</a:t>
            </a:r>
            <a:r>
              <a:rPr lang="en-US" altLang="zh-CN" dirty="0" err="1"/>
              <a:t>org.apache.Hadoop.HBase.client.Scan</a:t>
            </a:r>
            <a:r>
              <a:rPr lang="en-US" altLang="zh-CN" dirty="0"/>
              <a:t>)</a:t>
            </a:r>
            <a:r>
              <a:rPr lang="zh-CN" altLang="en-US" dirty="0"/>
              <a:t>通常用于按照指定条件获取一批数据，并且可以通过设置过滤器的方式进行数据的过滤操作，因此更加适用于获取一批满足条件的数据，在逐一对数据进行进一步的访问和处理。</a:t>
            </a:r>
          </a:p>
          <a:p>
            <a:r>
              <a:rPr lang="en-US" altLang="zh-CN" dirty="0"/>
              <a:t>scan</a:t>
            </a:r>
            <a:r>
              <a:rPr lang="zh-CN" altLang="en-US" dirty="0"/>
              <a:t>可以通过</a:t>
            </a:r>
            <a:r>
              <a:rPr lang="en-US" altLang="zh-CN" dirty="0" err="1"/>
              <a:t>setFilter</a:t>
            </a:r>
            <a:r>
              <a:rPr lang="zh-CN" altLang="en-US" dirty="0"/>
              <a:t>方法添加过滤器，这也是分页、多条件查询的基础。</a:t>
            </a:r>
            <a:endParaRPr lang="en-US" altLang="zh-CN" dirty="0"/>
          </a:p>
          <a:p>
            <a:endParaRPr lang="zh-CN" altLang="en-US" dirty="0"/>
          </a:p>
        </p:txBody>
      </p:sp>
    </p:spTree>
    <p:extLst>
      <p:ext uri="{BB962C8B-B14F-4D97-AF65-F5344CB8AC3E}">
        <p14:creationId xmlns:p14="http://schemas.microsoft.com/office/powerpoint/2010/main" val="25201932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3D887B-30F9-41D8-BF6C-11FDEA30D83A}"/>
              </a:ext>
            </a:extLst>
          </p:cNvPr>
          <p:cNvSpPr>
            <a:spLocks noGrp="1"/>
          </p:cNvSpPr>
          <p:nvPr>
            <p:ph type="title"/>
          </p:nvPr>
        </p:nvSpPr>
        <p:spPr/>
        <p:txBody>
          <a:bodyPr>
            <a:normAutofit fontScale="90000"/>
          </a:bodyPr>
          <a:lstStyle/>
          <a:p>
            <a:r>
              <a:rPr lang="zh-CN" altLang="en-US" dirty="0"/>
              <a:t>利用</a:t>
            </a:r>
            <a:r>
              <a:rPr lang="en-US" altLang="zh-CN" dirty="0"/>
              <a:t>scan</a:t>
            </a:r>
            <a:r>
              <a:rPr lang="zh-CN" altLang="en-US" dirty="0"/>
              <a:t>遍历</a:t>
            </a:r>
            <a:r>
              <a:rPr lang="en-US" altLang="zh-CN" dirty="0"/>
              <a:t>HBase</a:t>
            </a:r>
            <a:r>
              <a:rPr lang="zh-CN" altLang="en-US" dirty="0"/>
              <a:t>中的数据</a:t>
            </a:r>
          </a:p>
        </p:txBody>
      </p:sp>
      <p:sp>
        <p:nvSpPr>
          <p:cNvPr id="3" name="内容占位符 2">
            <a:extLst>
              <a:ext uri="{FF2B5EF4-FFF2-40B4-BE49-F238E27FC236}">
                <a16:creationId xmlns:a16="http://schemas.microsoft.com/office/drawing/2014/main" id="{59D19B98-C9F7-4F3F-BF78-37E18271F1C5}"/>
              </a:ext>
            </a:extLst>
          </p:cNvPr>
          <p:cNvSpPr>
            <a:spLocks noGrp="1"/>
          </p:cNvSpPr>
          <p:nvPr>
            <p:ph idx="1"/>
          </p:nvPr>
        </p:nvSpPr>
        <p:spPr/>
        <p:txBody>
          <a:bodyPr/>
          <a:lstStyle/>
          <a:p>
            <a:r>
              <a:rPr lang="zh-CN" altLang="en-US" dirty="0"/>
              <a:t>如下是一个</a:t>
            </a:r>
            <a:r>
              <a:rPr lang="en-US" altLang="zh-CN" dirty="0"/>
              <a:t>scan</a:t>
            </a:r>
            <a:r>
              <a:rPr lang="zh-CN" altLang="en-US" dirty="0"/>
              <a:t>的应用程序，通过</a:t>
            </a:r>
            <a:r>
              <a:rPr lang="en-US" altLang="zh-CN" dirty="0"/>
              <a:t>scan</a:t>
            </a:r>
            <a:r>
              <a:rPr lang="zh-CN" altLang="en-US" dirty="0"/>
              <a:t>具体的数据表返回满足特定列族限定符的数据。</a:t>
            </a:r>
          </a:p>
          <a:p>
            <a:endParaRPr lang="zh-CN" altLang="en-US" dirty="0"/>
          </a:p>
        </p:txBody>
      </p:sp>
      <p:pic>
        <p:nvPicPr>
          <p:cNvPr id="4" name="图片 3">
            <a:extLst>
              <a:ext uri="{FF2B5EF4-FFF2-40B4-BE49-F238E27FC236}">
                <a16:creationId xmlns:a16="http://schemas.microsoft.com/office/drawing/2014/main" id="{1F70B2E1-AD18-4297-A197-8D47F20C1378}"/>
              </a:ext>
            </a:extLst>
          </p:cNvPr>
          <p:cNvPicPr>
            <a:picLocks noChangeAspect="1"/>
          </p:cNvPicPr>
          <p:nvPr/>
        </p:nvPicPr>
        <p:blipFill>
          <a:blip r:embed="rId2"/>
          <a:stretch>
            <a:fillRect/>
          </a:stretch>
        </p:blipFill>
        <p:spPr>
          <a:xfrm>
            <a:off x="0" y="2283718"/>
            <a:ext cx="9144000" cy="2163166"/>
          </a:xfrm>
          <a:prstGeom prst="rect">
            <a:avLst/>
          </a:prstGeom>
        </p:spPr>
      </p:pic>
    </p:spTree>
    <p:extLst>
      <p:ext uri="{BB962C8B-B14F-4D97-AF65-F5344CB8AC3E}">
        <p14:creationId xmlns:p14="http://schemas.microsoft.com/office/powerpoint/2010/main" val="33779802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213D-FAE4-4CA9-8BC6-05E3A7F93EB5}"/>
              </a:ext>
            </a:extLst>
          </p:cNvPr>
          <p:cNvSpPr>
            <a:spLocks noGrp="1"/>
          </p:cNvSpPr>
          <p:nvPr>
            <p:ph type="title"/>
          </p:nvPr>
        </p:nvSpPr>
        <p:spPr/>
        <p:txBody>
          <a:bodyPr>
            <a:normAutofit fontScale="90000"/>
          </a:bodyPr>
          <a:lstStyle/>
          <a:p>
            <a:r>
              <a:rPr lang="zh-CN" altLang="en-US" dirty="0"/>
              <a:t>利用</a:t>
            </a:r>
            <a:r>
              <a:rPr lang="en-US" altLang="zh-CN" dirty="0"/>
              <a:t>scan</a:t>
            </a:r>
            <a:r>
              <a:rPr lang="zh-CN" altLang="en-US" dirty="0"/>
              <a:t>遍历</a:t>
            </a:r>
            <a:r>
              <a:rPr lang="en-US" altLang="zh-CN" dirty="0"/>
              <a:t>HBase</a:t>
            </a:r>
            <a:r>
              <a:rPr lang="zh-CN" altLang="en-US" dirty="0"/>
              <a:t>中的数据</a:t>
            </a:r>
          </a:p>
        </p:txBody>
      </p:sp>
      <p:sp>
        <p:nvSpPr>
          <p:cNvPr id="3" name="内容占位符 2">
            <a:extLst>
              <a:ext uri="{FF2B5EF4-FFF2-40B4-BE49-F238E27FC236}">
                <a16:creationId xmlns:a16="http://schemas.microsoft.com/office/drawing/2014/main" id="{FB9D772D-B4D3-40E7-AF1F-9A7489C07984}"/>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3D2482CF-3D33-41D5-BDD5-492708E813BA}"/>
              </a:ext>
            </a:extLst>
          </p:cNvPr>
          <p:cNvPicPr>
            <a:picLocks noChangeAspect="1"/>
          </p:cNvPicPr>
          <p:nvPr/>
        </p:nvPicPr>
        <p:blipFill>
          <a:blip r:embed="rId2"/>
          <a:stretch>
            <a:fillRect/>
          </a:stretch>
        </p:blipFill>
        <p:spPr>
          <a:xfrm>
            <a:off x="0" y="1603595"/>
            <a:ext cx="9144000" cy="2991028"/>
          </a:xfrm>
          <a:prstGeom prst="rect">
            <a:avLst/>
          </a:prstGeom>
        </p:spPr>
      </p:pic>
    </p:spTree>
    <p:extLst>
      <p:ext uri="{BB962C8B-B14F-4D97-AF65-F5344CB8AC3E}">
        <p14:creationId xmlns:p14="http://schemas.microsoft.com/office/powerpoint/2010/main" val="23813188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37039" y="1691910"/>
            <a:ext cx="5236445" cy="646331"/>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a:solidFill>
                  <a:srgbClr val="00B0F0"/>
                </a:solidFill>
                <a:latin typeface="IrisUPC" panose="020B0604020202020204" pitchFamily="34" charset="-34"/>
                <a:cs typeface="IrisUPC" panose="020B0604020202020204" pitchFamily="34" charset="-34"/>
              </a:rPr>
              <a:t>07</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16717167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2FE54A-DD83-4176-841F-8E0B4430D09C}"/>
              </a:ext>
            </a:extLst>
          </p:cNvPr>
          <p:cNvSpPr>
            <a:spLocks noGrp="1"/>
          </p:cNvSpPr>
          <p:nvPr>
            <p:ph type="title"/>
          </p:nvPr>
        </p:nvSpPr>
        <p:spPr/>
        <p:txBody>
          <a:bodyPr>
            <a:normAutofit fontScale="90000"/>
          </a:bodyPr>
          <a:lstStyle/>
          <a:p>
            <a:r>
              <a:rPr lang="zh-CN" altLang="en-US" dirty="0"/>
              <a:t>本章小结</a:t>
            </a:r>
          </a:p>
        </p:txBody>
      </p:sp>
      <p:sp>
        <p:nvSpPr>
          <p:cNvPr id="3" name="内容占位符 2">
            <a:extLst>
              <a:ext uri="{FF2B5EF4-FFF2-40B4-BE49-F238E27FC236}">
                <a16:creationId xmlns:a16="http://schemas.microsoft.com/office/drawing/2014/main" id="{AD1C9792-D530-4C7A-B08A-E6D0FC18C7CF}"/>
              </a:ext>
            </a:extLst>
          </p:cNvPr>
          <p:cNvSpPr>
            <a:spLocks noGrp="1"/>
          </p:cNvSpPr>
          <p:nvPr>
            <p:ph idx="1"/>
          </p:nvPr>
        </p:nvSpPr>
        <p:spPr>
          <a:xfrm>
            <a:off x="457200" y="1200150"/>
            <a:ext cx="8507288" cy="3711859"/>
          </a:xfrm>
        </p:spPr>
        <p:txBody>
          <a:bodyPr>
            <a:normAutofit/>
          </a:bodyPr>
          <a:lstStyle/>
          <a:p>
            <a:r>
              <a:rPr lang="en-US" altLang="zh-CN" sz="2800" dirty="0"/>
              <a:t>HBase</a:t>
            </a:r>
            <a:r>
              <a:rPr lang="zh-CN" altLang="en-US" sz="2800" dirty="0"/>
              <a:t>是</a:t>
            </a:r>
            <a:r>
              <a:rPr lang="en-US" altLang="zh-CN" sz="2800" dirty="0"/>
              <a:t>Apache</a:t>
            </a:r>
            <a:r>
              <a:rPr lang="zh-CN" altLang="en-US" sz="2800" dirty="0"/>
              <a:t>的</a:t>
            </a:r>
            <a:r>
              <a:rPr lang="en-US" altLang="zh-CN" sz="2800" dirty="0"/>
              <a:t>Hadoop</a:t>
            </a:r>
            <a:r>
              <a:rPr lang="zh-CN" altLang="en-US" sz="2800" dirty="0"/>
              <a:t>项目的子项目，不同于一般的关系数据库，它是一个适合于非结构化数据存储</a:t>
            </a:r>
            <a:r>
              <a:rPr lang="zh-CN" altLang="en-US" sz="2800"/>
              <a:t>的数据库</a:t>
            </a:r>
            <a:r>
              <a:rPr lang="en-US" altLang="zh-CN" sz="2800"/>
              <a:t>;</a:t>
            </a:r>
          </a:p>
          <a:p>
            <a:r>
              <a:rPr lang="en-US" altLang="zh-CN" sz="2800"/>
              <a:t>HBase</a:t>
            </a:r>
            <a:r>
              <a:rPr lang="zh-CN" altLang="en-US" sz="2800" dirty="0"/>
              <a:t>是一个分布式的、面向列的开</a:t>
            </a:r>
            <a:r>
              <a:rPr lang="zh-CN" altLang="en-US" sz="2800"/>
              <a:t>源数据库。</a:t>
            </a:r>
            <a:endParaRPr lang="en-US" altLang="zh-CN" sz="2800"/>
          </a:p>
          <a:p>
            <a:r>
              <a:rPr lang="zh-CN" altLang="en-US" sz="2800"/>
              <a:t>本章</a:t>
            </a:r>
            <a:r>
              <a:rPr lang="zh-CN" altLang="en-US" sz="2800" dirty="0"/>
              <a:t>中首先</a:t>
            </a:r>
            <a:r>
              <a:rPr lang="zh-CN" altLang="en-US" sz="2800"/>
              <a:t>介绍了</a:t>
            </a:r>
            <a:r>
              <a:rPr lang="en-US" altLang="zh-CN" sz="2800"/>
              <a:t>HBase</a:t>
            </a:r>
            <a:r>
              <a:rPr lang="zh-CN" altLang="en-US" sz="2800" dirty="0"/>
              <a:t>的数据模型</a:t>
            </a:r>
            <a:r>
              <a:rPr lang="zh-CN" altLang="en-US" sz="2800"/>
              <a:t>，并对</a:t>
            </a:r>
            <a:r>
              <a:rPr lang="en-US" altLang="zh-CN" sz="2800" dirty="0"/>
              <a:t>HBase Shell</a:t>
            </a:r>
            <a:r>
              <a:rPr lang="zh-CN" altLang="en-US" sz="2800" dirty="0"/>
              <a:t>的交互式应用展开详细叙述，最后介绍了</a:t>
            </a:r>
            <a:r>
              <a:rPr lang="zh-CN" altLang="en-US" sz="2800"/>
              <a:t>如何使用</a:t>
            </a:r>
            <a:r>
              <a:rPr lang="en-US" altLang="zh-CN" sz="2800"/>
              <a:t>Jython</a:t>
            </a:r>
            <a:r>
              <a:rPr lang="zh-CN" altLang="en-US" sz="2800" dirty="0"/>
              <a:t>实现对</a:t>
            </a:r>
            <a:r>
              <a:rPr lang="en-US" altLang="zh-CN" sz="2800" dirty="0"/>
              <a:t>HBase</a:t>
            </a:r>
            <a:r>
              <a:rPr lang="zh-CN" altLang="en-US" sz="2800" dirty="0"/>
              <a:t>的交互访问。</a:t>
            </a:r>
          </a:p>
        </p:txBody>
      </p:sp>
    </p:spTree>
    <p:extLst>
      <p:ext uri="{BB962C8B-B14F-4D97-AF65-F5344CB8AC3E}">
        <p14:creationId xmlns:p14="http://schemas.microsoft.com/office/powerpoint/2010/main" val="20148667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3416320"/>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a:solidFill>
                  <a:srgbClr val="FFC000"/>
                </a:solidFill>
              </a:rPr>
              <a:t>！</a:t>
            </a:r>
            <a:r>
              <a:rPr lang="zh-CN" altLang="en-US" sz="7200">
                <a:solidFill>
                  <a:srgbClr val="FF0000"/>
                </a:solidFill>
              </a:rPr>
              <a:t>           </a:t>
            </a:r>
            <a:endParaRPr lang="zh-CN" altLang="en-US" sz="7200" dirty="0">
              <a:solidFill>
                <a:srgbClr val="FF0000"/>
              </a:solidFill>
            </a:endParaRPr>
          </a:p>
        </p:txBody>
      </p:sp>
    </p:spTree>
    <p:extLst>
      <p:ext uri="{BB962C8B-B14F-4D97-AF65-F5344CB8AC3E}">
        <p14:creationId xmlns:p14="http://schemas.microsoft.com/office/powerpoint/2010/main" val="23990959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2333</TotalTime>
  <Words>5429</Words>
  <Application>Microsoft Office PowerPoint</Application>
  <PresentationFormat>全屏显示(16:9)</PresentationFormat>
  <Paragraphs>517</Paragraphs>
  <Slides>96</Slides>
  <Notes>29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96</vt:i4>
      </vt:variant>
    </vt:vector>
  </HeadingPairs>
  <TitlesOfParts>
    <vt:vector size="104" baseType="lpstr">
      <vt:lpstr>Helvetica Neue</vt:lpstr>
      <vt:lpstr>宋体</vt:lpstr>
      <vt:lpstr>微软雅黑</vt:lpstr>
      <vt:lpstr>Arial</vt:lpstr>
      <vt:lpstr>Calibri</vt:lpstr>
      <vt:lpstr>IrisUPC</vt:lpstr>
      <vt:lpstr>Wingdings</vt:lpstr>
      <vt:lpstr>Office 主题</vt:lpstr>
      <vt:lpstr>第5章 HBase基础与应用</vt:lpstr>
      <vt:lpstr>本章学习目标 </vt:lpstr>
      <vt:lpstr>PowerPoint 演示文稿</vt:lpstr>
      <vt:lpstr>PowerPoint 演示文稿</vt:lpstr>
      <vt:lpstr>HBase简介</vt:lpstr>
      <vt:lpstr>HBase概述</vt:lpstr>
      <vt:lpstr>HBase初识</vt:lpstr>
      <vt:lpstr>HBase特点</vt:lpstr>
      <vt:lpstr>HBase数据模型</vt:lpstr>
      <vt:lpstr>HBase数据模型</vt:lpstr>
      <vt:lpstr>HBase物理模型</vt:lpstr>
      <vt:lpstr>HBase物理模型</vt:lpstr>
      <vt:lpstr>HBase物理模型</vt:lpstr>
      <vt:lpstr>HBase物理模型</vt:lpstr>
      <vt:lpstr>HBase物理模型</vt:lpstr>
      <vt:lpstr>HBase物理模型</vt:lpstr>
      <vt:lpstr>HBase体系结构</vt:lpstr>
      <vt:lpstr>HBase体系结构</vt:lpstr>
      <vt:lpstr>HBase体系结构</vt:lpstr>
      <vt:lpstr>HBase容错性</vt:lpstr>
      <vt:lpstr>HBase的访问方式</vt:lpstr>
      <vt:lpstr>HBase体系结构</vt:lpstr>
      <vt:lpstr>PowerPoint 演示文稿</vt:lpstr>
      <vt:lpstr>安装前的准备</vt:lpstr>
      <vt:lpstr>HBase的安装</vt:lpstr>
      <vt:lpstr>HBase的安装</vt:lpstr>
      <vt:lpstr>PowerPoint 演示文稿</vt:lpstr>
      <vt:lpstr>HBase初探</vt:lpstr>
      <vt:lpstr>HBase初探</vt:lpstr>
      <vt:lpstr>HBase初探</vt:lpstr>
      <vt:lpstr>HBase初探</vt:lpstr>
      <vt:lpstr>HBase初探</vt:lpstr>
      <vt:lpstr>HBase初探</vt:lpstr>
      <vt:lpstr>HBase初探</vt:lpstr>
      <vt:lpstr>HBase初探</vt:lpstr>
      <vt:lpstr>HBase初探</vt:lpstr>
      <vt:lpstr>HBase初探</vt:lpstr>
      <vt:lpstr>HBase初探</vt:lpstr>
      <vt:lpstr>HBase初探</vt:lpstr>
      <vt:lpstr>HBase初探</vt:lpstr>
      <vt:lpstr>PowerPoint 演示文稿</vt:lpstr>
      <vt:lpstr>逻辑/视图</vt:lpstr>
      <vt:lpstr>相关术语</vt:lpstr>
      <vt:lpstr>相关术语</vt:lpstr>
      <vt:lpstr>相关术语</vt:lpstr>
      <vt:lpstr>存储方式</vt:lpstr>
      <vt:lpstr>物理模式/视图</vt:lpstr>
      <vt:lpstr>物理模式/视图</vt:lpstr>
      <vt:lpstr>Hbase数据模型</vt:lpstr>
      <vt:lpstr>行、列存储比较</vt:lpstr>
      <vt:lpstr>命名空间</vt:lpstr>
      <vt:lpstr>命名空间</vt:lpstr>
      <vt:lpstr>命名空间</vt:lpstr>
      <vt:lpstr>PowerPoint 演示文稿</vt:lpstr>
      <vt:lpstr>HBase Shell概述</vt:lpstr>
      <vt:lpstr>HBase Shell概述</vt:lpstr>
      <vt:lpstr>创建表（create）</vt:lpstr>
      <vt:lpstr>创建表（create）</vt:lpstr>
      <vt:lpstr>创建表（create）</vt:lpstr>
      <vt:lpstr>修改表/列族（alter table / column family）</vt:lpstr>
      <vt:lpstr>修改表/列族（alter table / column family）</vt:lpstr>
      <vt:lpstr>修改表/列族（alter table / column family）</vt:lpstr>
      <vt:lpstr>修改表/列族（alter table / column family）</vt:lpstr>
      <vt:lpstr>添加数据（put）</vt:lpstr>
      <vt:lpstr>添加数据（put）</vt:lpstr>
      <vt:lpstr>获取行或单元（get）</vt:lpstr>
      <vt:lpstr>获取行或单元（get）</vt:lpstr>
      <vt:lpstr>过滤器：</vt:lpstr>
      <vt:lpstr>扫描并输出数据（scan）</vt:lpstr>
      <vt:lpstr>扫描并输出数据（scan）</vt:lpstr>
      <vt:lpstr>扫描并输出数据（scan）</vt:lpstr>
      <vt:lpstr>统计表的行数（count）</vt:lpstr>
      <vt:lpstr>统计表的行数（count）</vt:lpstr>
      <vt:lpstr>统计表的行数（count）</vt:lpstr>
      <vt:lpstr>删除指定值（delete）</vt:lpstr>
      <vt:lpstr>删除指定值（delete）</vt:lpstr>
      <vt:lpstr>其他常用shell命令</vt:lpstr>
      <vt:lpstr>HBase Shell中的对象引用</vt:lpstr>
      <vt:lpstr>HBase Shell中的对象引用</vt:lpstr>
      <vt:lpstr>PowerPoint 演示文稿</vt:lpstr>
      <vt:lpstr>Jython与HBase</vt:lpstr>
      <vt:lpstr>Jython环境设置</vt:lpstr>
      <vt:lpstr>Jython环境设置</vt:lpstr>
      <vt:lpstr>Jython环境设置</vt:lpstr>
      <vt:lpstr>Jython访问HBase</vt:lpstr>
      <vt:lpstr>Jython访问HBase</vt:lpstr>
      <vt:lpstr>Jython访问HBase</vt:lpstr>
      <vt:lpstr>Jython访问HBase</vt:lpstr>
      <vt:lpstr>Jython访问HBase</vt:lpstr>
      <vt:lpstr>Jython访问HBase</vt:lpstr>
      <vt:lpstr>利用scan遍历HBase中的数据</vt:lpstr>
      <vt:lpstr>利用scan遍历HBase中的数据</vt:lpstr>
      <vt:lpstr>利用scan遍历HBase中的数据</vt:lpstr>
      <vt:lpstr>PowerPoint 演示文稿</vt:lpstr>
      <vt:lpstr>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Hadoop简介</dc:title>
  <dc:creator>fjnuzs</dc:creator>
  <cp:lastModifiedBy>lenovo</cp:lastModifiedBy>
  <cp:revision>187</cp:revision>
  <dcterms:created xsi:type="dcterms:W3CDTF">2018-05-28T02:49:46Z</dcterms:created>
  <dcterms:modified xsi:type="dcterms:W3CDTF">2022-11-11T07:02:33Z</dcterms:modified>
</cp:coreProperties>
</file>
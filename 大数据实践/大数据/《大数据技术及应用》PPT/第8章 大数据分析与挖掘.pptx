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20.xml" ContentType="application/vnd.openxmlformats-officedocument.presentationml.notesSlide+xml"/>
  <Override PartName="/ppt/tags/tag4.xml" ContentType="application/vnd.openxmlformats-officedocument.presentationml.tags+xml"/>
  <Override PartName="/ppt/notesSlides/notesSlide2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tags/tag5.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6.xml" ContentType="application/vnd.openxmlformats-officedocument.presentationml.tags+xml"/>
  <Override PartName="/ppt/notesSlides/notesSlide24.xml" ContentType="application/vnd.openxmlformats-officedocument.presentationml.notesSlide+xml"/>
  <Override PartName="/ppt/tags/tag7.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heme/themeOverride1.xml" ContentType="application/vnd.openxmlformats-officedocument.themeOverride+xml"/>
  <Override PartName="/ppt/tags/tag8.xml" ContentType="application/vnd.openxmlformats-officedocument.presentationml.tags+xml"/>
  <Override PartName="/ppt/notesSlides/notesSlide27.xml" ContentType="application/vnd.openxmlformats-officedocument.presentationml.notesSlide+xml"/>
  <Override PartName="/ppt/tags/tag9.xml" ContentType="application/vnd.openxmlformats-officedocument.presentationml.tags+xml"/>
  <Override PartName="/ppt/notesSlides/notesSlide28.xml" ContentType="application/vnd.openxmlformats-officedocument.presentationml.notesSlide+xml"/>
  <Override PartName="/ppt/tags/tag10.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1.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12.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13.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4.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9"/>
  </p:notesMasterIdLst>
  <p:handoutMasterIdLst>
    <p:handoutMasterId r:id="rId100"/>
  </p:handoutMasterIdLst>
  <p:sldIdLst>
    <p:sldId id="288" r:id="rId2"/>
    <p:sldId id="290" r:id="rId3"/>
    <p:sldId id="289" r:id="rId4"/>
    <p:sldId id="1110" r:id="rId5"/>
    <p:sldId id="318" r:id="rId6"/>
    <p:sldId id="653" r:id="rId7"/>
    <p:sldId id="654" r:id="rId8"/>
    <p:sldId id="655" r:id="rId9"/>
    <p:sldId id="656" r:id="rId10"/>
    <p:sldId id="582" r:id="rId11"/>
    <p:sldId id="583" r:id="rId12"/>
    <p:sldId id="660" r:id="rId13"/>
    <p:sldId id="661" r:id="rId14"/>
    <p:sldId id="662" r:id="rId15"/>
    <p:sldId id="714" r:id="rId16"/>
    <p:sldId id="663" r:id="rId17"/>
    <p:sldId id="715" r:id="rId18"/>
    <p:sldId id="716" r:id="rId19"/>
    <p:sldId id="1026" r:id="rId20"/>
    <p:sldId id="718" r:id="rId21"/>
    <p:sldId id="768" r:id="rId22"/>
    <p:sldId id="769" r:id="rId23"/>
    <p:sldId id="1111" r:id="rId24"/>
    <p:sldId id="772" r:id="rId25"/>
    <p:sldId id="774" r:id="rId26"/>
    <p:sldId id="586" r:id="rId27"/>
    <p:sldId id="775" r:id="rId28"/>
    <p:sldId id="776" r:id="rId29"/>
    <p:sldId id="584" r:id="rId30"/>
    <p:sldId id="857" r:id="rId31"/>
    <p:sldId id="858" r:id="rId32"/>
    <p:sldId id="859" r:id="rId33"/>
    <p:sldId id="1112" r:id="rId34"/>
    <p:sldId id="861" r:id="rId35"/>
    <p:sldId id="862" r:id="rId36"/>
    <p:sldId id="866" r:id="rId37"/>
    <p:sldId id="867" r:id="rId38"/>
    <p:sldId id="869" r:id="rId39"/>
    <p:sldId id="922" r:id="rId40"/>
    <p:sldId id="923" r:id="rId41"/>
    <p:sldId id="924" r:id="rId42"/>
    <p:sldId id="925" r:id="rId43"/>
    <p:sldId id="926" r:id="rId44"/>
    <p:sldId id="589" r:id="rId45"/>
    <p:sldId id="927" r:id="rId46"/>
    <p:sldId id="928" r:id="rId47"/>
    <p:sldId id="929" r:id="rId48"/>
    <p:sldId id="930" r:id="rId49"/>
    <p:sldId id="931" r:id="rId50"/>
    <p:sldId id="932" r:id="rId51"/>
    <p:sldId id="933" r:id="rId52"/>
    <p:sldId id="934" r:id="rId53"/>
    <p:sldId id="935" r:id="rId54"/>
    <p:sldId id="937" r:id="rId55"/>
    <p:sldId id="938" r:id="rId56"/>
    <p:sldId id="939" r:id="rId57"/>
    <p:sldId id="940" r:id="rId58"/>
    <p:sldId id="941" r:id="rId59"/>
    <p:sldId id="870" r:id="rId60"/>
    <p:sldId id="593" r:id="rId61"/>
    <p:sldId id="994" r:id="rId62"/>
    <p:sldId id="1109" r:id="rId63"/>
    <p:sldId id="997" r:id="rId64"/>
    <p:sldId id="998" r:id="rId65"/>
    <p:sldId id="999" r:id="rId66"/>
    <p:sldId id="1000" r:id="rId67"/>
    <p:sldId id="1001" r:id="rId68"/>
    <p:sldId id="1002" r:id="rId69"/>
    <p:sldId id="1003" r:id="rId70"/>
    <p:sldId id="1004" r:id="rId71"/>
    <p:sldId id="1005" r:id="rId72"/>
    <p:sldId id="1006" r:id="rId73"/>
    <p:sldId id="1007" r:id="rId74"/>
    <p:sldId id="1008" r:id="rId75"/>
    <p:sldId id="1009" r:id="rId76"/>
    <p:sldId id="874" r:id="rId77"/>
    <p:sldId id="873" r:id="rId78"/>
    <p:sldId id="1011" r:id="rId79"/>
    <p:sldId id="1113" r:id="rId80"/>
    <p:sldId id="1013" r:id="rId81"/>
    <p:sldId id="875" r:id="rId82"/>
    <p:sldId id="1114" r:id="rId83"/>
    <p:sldId id="1014" r:id="rId84"/>
    <p:sldId id="1015" r:id="rId85"/>
    <p:sldId id="1016" r:id="rId86"/>
    <p:sldId id="1017" r:id="rId87"/>
    <p:sldId id="1018" r:id="rId88"/>
    <p:sldId id="1019" r:id="rId89"/>
    <p:sldId id="1020" r:id="rId90"/>
    <p:sldId id="1115" r:id="rId91"/>
    <p:sldId id="1022" r:id="rId92"/>
    <p:sldId id="591" r:id="rId93"/>
    <p:sldId id="594" r:id="rId94"/>
    <p:sldId id="1023" r:id="rId95"/>
    <p:sldId id="1025" r:id="rId96"/>
    <p:sldId id="636" r:id="rId97"/>
    <p:sldId id="641" r:id="rId98"/>
  </p:sldIdLst>
  <p:sldSz cx="9144000" cy="5143500" type="screen16x9"/>
  <p:notesSz cx="6858000" cy="9144000"/>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11">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FC14"/>
    <a:srgbClr val="274991"/>
    <a:srgbClr val="5B9BD5"/>
    <a:srgbClr val="0070C0"/>
    <a:srgbClr val="55375F"/>
    <a:srgbClr val="7CA82A"/>
    <a:srgbClr val="442C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660" autoAdjust="0"/>
    <p:restoredTop sz="82800" autoAdjust="0"/>
  </p:normalViewPr>
  <p:slideViewPr>
    <p:cSldViewPr snapToGrid="0">
      <p:cViewPr varScale="1">
        <p:scale>
          <a:sx n="123" d="100"/>
          <a:sy n="123" d="100"/>
        </p:scale>
        <p:origin x="846" y="102"/>
      </p:cViewPr>
      <p:guideLst>
        <p:guide orient="horz" pos="1711"/>
        <p:guide pos="2880"/>
      </p:guideLst>
    </p:cSldViewPr>
  </p:slideViewPr>
  <p:outlineViewPr>
    <p:cViewPr>
      <p:scale>
        <a:sx n="33" d="100"/>
        <a:sy n="33" d="100"/>
      </p:scale>
      <p:origin x="0" y="-108"/>
    </p:cViewPr>
  </p:outlineViewPr>
  <p:notesTextViewPr>
    <p:cViewPr>
      <p:scale>
        <a:sx n="1" d="1"/>
        <a:sy n="1" d="1"/>
      </p:scale>
      <p:origin x="0" y="0"/>
    </p:cViewPr>
  </p:notesTextViewPr>
  <p:sorterViewPr>
    <p:cViewPr>
      <p:scale>
        <a:sx n="121" d="100"/>
        <a:sy n="121" d="100"/>
      </p:scale>
      <p:origin x="0" y="0"/>
    </p:cViewPr>
  </p:sorterViewPr>
  <p:notesViewPr>
    <p:cSldViewPr snapToGrid="0">
      <p:cViewPr varScale="1">
        <p:scale>
          <a:sx n="95" d="100"/>
          <a:sy n="95" d="100"/>
        </p:scale>
        <p:origin x="4042" y="5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oleObject" Target="file:///G:\&#22312;&#32447;&#31934;&#21697;&#35838;&#31243;\Solutions_COC131_tutorial_w1.xls"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G:\&#22312;&#32447;&#31934;&#21697;&#35838;&#31243;\Solutions_COC131_tutorial_w1.xls"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84787498402932"/>
          <c:y val="3.5398332061013803E-2"/>
        </c:manualLayout>
      </c:layout>
      <c:overlay val="0"/>
      <c:spPr>
        <a:noFill/>
        <a:ln w="25400">
          <a:noFill/>
        </a:ln>
        <a:effectLst/>
      </c:spPr>
      <c:txPr>
        <a:bodyPr rot="0" spcFirstLastPara="0" vertOverflow="ellipsis" horzOverflow="overflow" vert="horz" wrap="square" anchor="ctr" anchorCtr="1"/>
        <a:lstStyle/>
        <a:p>
          <a:pPr>
            <a:defRPr lang="zh-CN" sz="800" b="0" i="0" u="none" strike="noStrike" kern="1200" baseline="0">
              <a:solidFill>
                <a:srgbClr val="000000"/>
              </a:solidFill>
              <a:latin typeface="Arial" panose="020B0604020202020204"/>
              <a:ea typeface="Arial" panose="020B0604020202020204"/>
              <a:cs typeface="Arial" panose="020B0604020202020204"/>
            </a:defRPr>
          </a:pPr>
          <a:endParaRPr lang="zh-CN"/>
        </a:p>
      </c:txPr>
    </c:title>
    <c:autoTitleDeleted val="0"/>
    <c:plotArea>
      <c:layout>
        <c:manualLayout>
          <c:layoutTarget val="inner"/>
          <c:xMode val="edge"/>
          <c:yMode val="edge"/>
          <c:x val="6.2880386822137799E-2"/>
          <c:y val="0.17404179929998401"/>
          <c:w val="0.90872300955863505"/>
          <c:h val="0.70501678021518999"/>
        </c:manualLayout>
      </c:layout>
      <c:lineChart>
        <c:grouping val="standard"/>
        <c:varyColors val="0"/>
        <c:ser>
          <c:idx val="0"/>
          <c:order val="0"/>
          <c:tx>
            <c:strRef>
              <c:f>old_faithful!$B$1</c:f>
              <c:strCache>
                <c:ptCount val="1"/>
                <c:pt idx="0">
                  <c:v>F1</c:v>
                </c:pt>
              </c:strCache>
            </c:strRef>
          </c:tx>
          <c:spPr>
            <a:ln w="12700" cap="rnd" cmpd="sng" algn="ctr">
              <a:solidFill>
                <a:srgbClr val="000080"/>
              </a:solidFill>
              <a:prstDash val="solid"/>
              <a:round/>
            </a:ln>
            <a:effectLst/>
          </c:spPr>
          <c:marker>
            <c:symbol val="none"/>
          </c:marker>
          <c:val>
            <c:numRef>
              <c:f>old_faithful!$B$2:$B$231</c:f>
              <c:numCache>
                <c:formatCode>General</c:formatCode>
                <c:ptCount val="230"/>
                <c:pt idx="0">
                  <c:v>2.2000000000000002</c:v>
                </c:pt>
                <c:pt idx="1">
                  <c:v>2</c:v>
                </c:pt>
                <c:pt idx="2">
                  <c:v>1.8</c:v>
                </c:pt>
                <c:pt idx="3">
                  <c:v>1.6</c:v>
                </c:pt>
                <c:pt idx="4">
                  <c:v>1.8</c:v>
                </c:pt>
                <c:pt idx="5">
                  <c:v>1.9</c:v>
                </c:pt>
                <c:pt idx="6">
                  <c:v>2.8</c:v>
                </c:pt>
                <c:pt idx="7">
                  <c:v>2.2000000000000002</c:v>
                </c:pt>
                <c:pt idx="8">
                  <c:v>2.6</c:v>
                </c:pt>
                <c:pt idx="9">
                  <c:v>2.2000000000000002</c:v>
                </c:pt>
                <c:pt idx="10">
                  <c:v>1.8</c:v>
                </c:pt>
                <c:pt idx="11">
                  <c:v>2.2999999999999998</c:v>
                </c:pt>
                <c:pt idx="12">
                  <c:v>1.9</c:v>
                </c:pt>
                <c:pt idx="13">
                  <c:v>2.1</c:v>
                </c:pt>
                <c:pt idx="14">
                  <c:v>2.2000000000000002</c:v>
                </c:pt>
                <c:pt idx="15">
                  <c:v>1.8</c:v>
                </c:pt>
                <c:pt idx="16">
                  <c:v>2.2000000000000002</c:v>
                </c:pt>
                <c:pt idx="17">
                  <c:v>1.9</c:v>
                </c:pt>
                <c:pt idx="18">
                  <c:v>2.2000000000000002</c:v>
                </c:pt>
                <c:pt idx="19">
                  <c:v>2</c:v>
                </c:pt>
                <c:pt idx="20">
                  <c:v>1.9</c:v>
                </c:pt>
                <c:pt idx="21">
                  <c:v>1.8</c:v>
                </c:pt>
                <c:pt idx="22">
                  <c:v>2.1</c:v>
                </c:pt>
                <c:pt idx="23">
                  <c:v>1.9</c:v>
                </c:pt>
                <c:pt idx="24">
                  <c:v>1.7</c:v>
                </c:pt>
                <c:pt idx="25">
                  <c:v>1.8</c:v>
                </c:pt>
                <c:pt idx="26">
                  <c:v>1.9</c:v>
                </c:pt>
                <c:pt idx="27">
                  <c:v>1.6</c:v>
                </c:pt>
                <c:pt idx="28">
                  <c:v>1.8</c:v>
                </c:pt>
                <c:pt idx="29">
                  <c:v>1.6</c:v>
                </c:pt>
                <c:pt idx="30">
                  <c:v>2</c:v>
                </c:pt>
                <c:pt idx="31">
                  <c:v>2.9</c:v>
                </c:pt>
                <c:pt idx="32">
                  <c:v>2</c:v>
                </c:pt>
                <c:pt idx="33">
                  <c:v>1.8</c:v>
                </c:pt>
                <c:pt idx="34">
                  <c:v>1.8</c:v>
                </c:pt>
                <c:pt idx="35">
                  <c:v>2.1</c:v>
                </c:pt>
                <c:pt idx="36">
                  <c:v>1.8</c:v>
                </c:pt>
                <c:pt idx="37">
                  <c:v>2.5</c:v>
                </c:pt>
                <c:pt idx="38">
                  <c:v>1.7</c:v>
                </c:pt>
                <c:pt idx="39">
                  <c:v>2</c:v>
                </c:pt>
                <c:pt idx="40">
                  <c:v>0.8</c:v>
                </c:pt>
                <c:pt idx="41">
                  <c:v>1.7</c:v>
                </c:pt>
                <c:pt idx="42">
                  <c:v>1.7</c:v>
                </c:pt>
                <c:pt idx="43">
                  <c:v>1.8</c:v>
                </c:pt>
                <c:pt idx="44">
                  <c:v>1.9</c:v>
                </c:pt>
                <c:pt idx="45">
                  <c:v>1.9</c:v>
                </c:pt>
                <c:pt idx="46">
                  <c:v>2</c:v>
                </c:pt>
                <c:pt idx="47">
                  <c:v>2.9</c:v>
                </c:pt>
                <c:pt idx="48">
                  <c:v>1.8</c:v>
                </c:pt>
                <c:pt idx="49">
                  <c:v>2.5</c:v>
                </c:pt>
                <c:pt idx="50">
                  <c:v>2.1</c:v>
                </c:pt>
                <c:pt idx="51">
                  <c:v>1.8</c:v>
                </c:pt>
                <c:pt idx="52">
                  <c:v>1.8</c:v>
                </c:pt>
                <c:pt idx="53">
                  <c:v>1.9</c:v>
                </c:pt>
                <c:pt idx="54">
                  <c:v>2</c:v>
                </c:pt>
                <c:pt idx="55">
                  <c:v>1.9</c:v>
                </c:pt>
                <c:pt idx="56">
                  <c:v>1.9</c:v>
                </c:pt>
                <c:pt idx="57">
                  <c:v>1.9</c:v>
                </c:pt>
                <c:pt idx="58">
                  <c:v>1.9</c:v>
                </c:pt>
                <c:pt idx="59">
                  <c:v>2</c:v>
                </c:pt>
                <c:pt idx="60">
                  <c:v>2.4</c:v>
                </c:pt>
                <c:pt idx="61">
                  <c:v>2</c:v>
                </c:pt>
                <c:pt idx="62">
                  <c:v>1.8</c:v>
                </c:pt>
                <c:pt idx="63">
                  <c:v>1.6</c:v>
                </c:pt>
                <c:pt idx="64">
                  <c:v>2.6</c:v>
                </c:pt>
                <c:pt idx="65">
                  <c:v>1.9</c:v>
                </c:pt>
                <c:pt idx="66">
                  <c:v>1.9</c:v>
                </c:pt>
                <c:pt idx="67">
                  <c:v>2</c:v>
                </c:pt>
                <c:pt idx="68">
                  <c:v>1.7</c:v>
                </c:pt>
                <c:pt idx="69">
                  <c:v>2</c:v>
                </c:pt>
                <c:pt idx="70">
                  <c:v>1.9</c:v>
                </c:pt>
                <c:pt idx="71">
                  <c:v>1.8</c:v>
                </c:pt>
                <c:pt idx="72">
                  <c:v>1.8</c:v>
                </c:pt>
                <c:pt idx="73">
                  <c:v>1.9</c:v>
                </c:pt>
                <c:pt idx="74">
                  <c:v>2</c:v>
                </c:pt>
                <c:pt idx="75">
                  <c:v>1.8</c:v>
                </c:pt>
                <c:pt idx="76">
                  <c:v>2.8</c:v>
                </c:pt>
                <c:pt idx="77">
                  <c:v>2</c:v>
                </c:pt>
                <c:pt idx="78">
                  <c:v>1.9</c:v>
                </c:pt>
                <c:pt idx="79">
                  <c:v>1.9</c:v>
                </c:pt>
                <c:pt idx="80">
                  <c:v>1.7</c:v>
                </c:pt>
                <c:pt idx="81">
                  <c:v>2</c:v>
                </c:pt>
                <c:pt idx="82">
                  <c:v>1.9</c:v>
                </c:pt>
                <c:pt idx="83">
                  <c:v>2.1</c:v>
                </c:pt>
                <c:pt idx="84">
                  <c:v>2.1</c:v>
                </c:pt>
                <c:pt idx="85">
                  <c:v>4</c:v>
                </c:pt>
                <c:pt idx="86">
                  <c:v>4.4000000000000004</c:v>
                </c:pt>
                <c:pt idx="87">
                  <c:v>4.3</c:v>
                </c:pt>
                <c:pt idx="88">
                  <c:v>4.8</c:v>
                </c:pt>
                <c:pt idx="89">
                  <c:v>5.5</c:v>
                </c:pt>
                <c:pt idx="90">
                  <c:v>4.9000000000000004</c:v>
                </c:pt>
                <c:pt idx="91">
                  <c:v>4.4000000000000004</c:v>
                </c:pt>
                <c:pt idx="92">
                  <c:v>4.7</c:v>
                </c:pt>
                <c:pt idx="93">
                  <c:v>4.8</c:v>
                </c:pt>
                <c:pt idx="94">
                  <c:v>4.2</c:v>
                </c:pt>
                <c:pt idx="95">
                  <c:v>5</c:v>
                </c:pt>
                <c:pt idx="96">
                  <c:v>4.5</c:v>
                </c:pt>
                <c:pt idx="97">
                  <c:v>4.0999999999999996</c:v>
                </c:pt>
                <c:pt idx="98">
                  <c:v>3.7</c:v>
                </c:pt>
                <c:pt idx="99">
                  <c:v>3.5</c:v>
                </c:pt>
                <c:pt idx="100">
                  <c:v>4.5</c:v>
                </c:pt>
                <c:pt idx="101">
                  <c:v>4.9000000000000004</c:v>
                </c:pt>
                <c:pt idx="102">
                  <c:v>4.2</c:v>
                </c:pt>
                <c:pt idx="103">
                  <c:v>4.8</c:v>
                </c:pt>
                <c:pt idx="104">
                  <c:v>4.5999999999999996</c:v>
                </c:pt>
                <c:pt idx="105">
                  <c:v>4.0999999999999996</c:v>
                </c:pt>
                <c:pt idx="106">
                  <c:v>4.3</c:v>
                </c:pt>
                <c:pt idx="107">
                  <c:v>4.5</c:v>
                </c:pt>
                <c:pt idx="108">
                  <c:v>4</c:v>
                </c:pt>
                <c:pt idx="109">
                  <c:v>4.3</c:v>
                </c:pt>
                <c:pt idx="110">
                  <c:v>4.5</c:v>
                </c:pt>
                <c:pt idx="111">
                  <c:v>3.9</c:v>
                </c:pt>
                <c:pt idx="112">
                  <c:v>3.3</c:v>
                </c:pt>
                <c:pt idx="113">
                  <c:v>3.7</c:v>
                </c:pt>
                <c:pt idx="114">
                  <c:v>4</c:v>
                </c:pt>
                <c:pt idx="115">
                  <c:v>5.3</c:v>
                </c:pt>
                <c:pt idx="116">
                  <c:v>3.5</c:v>
                </c:pt>
                <c:pt idx="117">
                  <c:v>4.5</c:v>
                </c:pt>
                <c:pt idx="118">
                  <c:v>4.2</c:v>
                </c:pt>
                <c:pt idx="119">
                  <c:v>4.2</c:v>
                </c:pt>
                <c:pt idx="120">
                  <c:v>4.3</c:v>
                </c:pt>
                <c:pt idx="121">
                  <c:v>4.7</c:v>
                </c:pt>
                <c:pt idx="122">
                  <c:v>3.8</c:v>
                </c:pt>
                <c:pt idx="123">
                  <c:v>4</c:v>
                </c:pt>
                <c:pt idx="124">
                  <c:v>4.2</c:v>
                </c:pt>
                <c:pt idx="125">
                  <c:v>4.7</c:v>
                </c:pt>
                <c:pt idx="126">
                  <c:v>4.5</c:v>
                </c:pt>
                <c:pt idx="127">
                  <c:v>4.3</c:v>
                </c:pt>
                <c:pt idx="128">
                  <c:v>4.7</c:v>
                </c:pt>
                <c:pt idx="129">
                  <c:v>4.4000000000000004</c:v>
                </c:pt>
                <c:pt idx="130">
                  <c:v>4.5999999999999996</c:v>
                </c:pt>
                <c:pt idx="131">
                  <c:v>4.5</c:v>
                </c:pt>
                <c:pt idx="132">
                  <c:v>5</c:v>
                </c:pt>
                <c:pt idx="133">
                  <c:v>5.0999999999999996</c:v>
                </c:pt>
                <c:pt idx="134">
                  <c:v>4.3</c:v>
                </c:pt>
                <c:pt idx="135">
                  <c:v>4.5</c:v>
                </c:pt>
                <c:pt idx="136">
                  <c:v>4.7</c:v>
                </c:pt>
                <c:pt idx="137">
                  <c:v>3.9</c:v>
                </c:pt>
                <c:pt idx="138">
                  <c:v>4.0999999999999996</c:v>
                </c:pt>
                <c:pt idx="139">
                  <c:v>4.7</c:v>
                </c:pt>
                <c:pt idx="140">
                  <c:v>4.7</c:v>
                </c:pt>
                <c:pt idx="141">
                  <c:v>4.8</c:v>
                </c:pt>
                <c:pt idx="142">
                  <c:v>4.0999999999999996</c:v>
                </c:pt>
                <c:pt idx="143">
                  <c:v>4.7</c:v>
                </c:pt>
                <c:pt idx="144">
                  <c:v>4.2</c:v>
                </c:pt>
                <c:pt idx="145">
                  <c:v>4.0999999999999996</c:v>
                </c:pt>
                <c:pt idx="146">
                  <c:v>3.9</c:v>
                </c:pt>
                <c:pt idx="147">
                  <c:v>3.8</c:v>
                </c:pt>
                <c:pt idx="148">
                  <c:v>4.4000000000000004</c:v>
                </c:pt>
                <c:pt idx="149">
                  <c:v>4.2</c:v>
                </c:pt>
                <c:pt idx="150">
                  <c:v>3.8</c:v>
                </c:pt>
                <c:pt idx="151">
                  <c:v>4.3</c:v>
                </c:pt>
                <c:pt idx="152">
                  <c:v>3.9</c:v>
                </c:pt>
                <c:pt idx="153">
                  <c:v>4.7</c:v>
                </c:pt>
                <c:pt idx="154">
                  <c:v>5</c:v>
                </c:pt>
                <c:pt idx="155">
                  <c:v>4.3</c:v>
                </c:pt>
                <c:pt idx="156">
                  <c:v>4.5999999999999996</c:v>
                </c:pt>
                <c:pt idx="157">
                  <c:v>4.5999999999999996</c:v>
                </c:pt>
                <c:pt idx="158">
                  <c:v>4.9000000000000004</c:v>
                </c:pt>
                <c:pt idx="159">
                  <c:v>4.5999999999999996</c:v>
                </c:pt>
                <c:pt idx="160">
                  <c:v>4.8</c:v>
                </c:pt>
                <c:pt idx="161">
                  <c:v>4.5</c:v>
                </c:pt>
                <c:pt idx="162">
                  <c:v>4.5</c:v>
                </c:pt>
                <c:pt idx="163">
                  <c:v>4.5</c:v>
                </c:pt>
                <c:pt idx="164">
                  <c:v>4</c:v>
                </c:pt>
                <c:pt idx="165">
                  <c:v>4.8</c:v>
                </c:pt>
                <c:pt idx="166">
                  <c:v>4.5999999999999996</c:v>
                </c:pt>
                <c:pt idx="167">
                  <c:v>3.7</c:v>
                </c:pt>
                <c:pt idx="168">
                  <c:v>4.8</c:v>
                </c:pt>
                <c:pt idx="169">
                  <c:v>3.4</c:v>
                </c:pt>
                <c:pt idx="170">
                  <c:v>4.4000000000000004</c:v>
                </c:pt>
                <c:pt idx="171">
                  <c:v>4.4000000000000004</c:v>
                </c:pt>
                <c:pt idx="172">
                  <c:v>4.5</c:v>
                </c:pt>
                <c:pt idx="173">
                  <c:v>4.3</c:v>
                </c:pt>
                <c:pt idx="174">
                  <c:v>4.3</c:v>
                </c:pt>
                <c:pt idx="175">
                  <c:v>4.9000000000000004</c:v>
                </c:pt>
                <c:pt idx="176">
                  <c:v>3.9</c:v>
                </c:pt>
                <c:pt idx="177">
                  <c:v>4.7</c:v>
                </c:pt>
                <c:pt idx="178">
                  <c:v>4.5</c:v>
                </c:pt>
                <c:pt idx="179">
                  <c:v>4.2</c:v>
                </c:pt>
                <c:pt idx="180">
                  <c:v>4.3</c:v>
                </c:pt>
                <c:pt idx="181">
                  <c:v>3.3</c:v>
                </c:pt>
                <c:pt idx="182">
                  <c:v>4.2</c:v>
                </c:pt>
                <c:pt idx="183">
                  <c:v>5</c:v>
                </c:pt>
                <c:pt idx="184">
                  <c:v>4</c:v>
                </c:pt>
                <c:pt idx="185">
                  <c:v>4.8</c:v>
                </c:pt>
                <c:pt idx="186">
                  <c:v>4.4000000000000004</c:v>
                </c:pt>
                <c:pt idx="187">
                  <c:v>4.2</c:v>
                </c:pt>
                <c:pt idx="188">
                  <c:v>4.4000000000000004</c:v>
                </c:pt>
                <c:pt idx="189">
                  <c:v>4.5</c:v>
                </c:pt>
                <c:pt idx="190">
                  <c:v>4.5</c:v>
                </c:pt>
                <c:pt idx="191">
                  <c:v>4.7</c:v>
                </c:pt>
                <c:pt idx="192">
                  <c:v>3.7</c:v>
                </c:pt>
                <c:pt idx="193">
                  <c:v>4.2</c:v>
                </c:pt>
                <c:pt idx="194">
                  <c:v>4.4000000000000004</c:v>
                </c:pt>
                <c:pt idx="195">
                  <c:v>4.2</c:v>
                </c:pt>
                <c:pt idx="196">
                  <c:v>4</c:v>
                </c:pt>
                <c:pt idx="197">
                  <c:v>4.0999999999999996</c:v>
                </c:pt>
                <c:pt idx="198">
                  <c:v>4.5</c:v>
                </c:pt>
                <c:pt idx="199">
                  <c:v>4.2</c:v>
                </c:pt>
                <c:pt idx="200">
                  <c:v>4.5</c:v>
                </c:pt>
                <c:pt idx="201">
                  <c:v>4.3</c:v>
                </c:pt>
                <c:pt idx="202">
                  <c:v>4</c:v>
                </c:pt>
                <c:pt idx="203">
                  <c:v>4.4000000000000004</c:v>
                </c:pt>
                <c:pt idx="204">
                  <c:v>4.5</c:v>
                </c:pt>
                <c:pt idx="205">
                  <c:v>4.3</c:v>
                </c:pt>
                <c:pt idx="206">
                  <c:v>4.4000000000000004</c:v>
                </c:pt>
                <c:pt idx="207">
                  <c:v>3.3</c:v>
                </c:pt>
                <c:pt idx="208">
                  <c:v>4.5999999999999996</c:v>
                </c:pt>
                <c:pt idx="209">
                  <c:v>4.5999999999999996</c:v>
                </c:pt>
                <c:pt idx="210">
                  <c:v>4.5999999999999996</c:v>
                </c:pt>
                <c:pt idx="211">
                  <c:v>4.5</c:v>
                </c:pt>
                <c:pt idx="212">
                  <c:v>5</c:v>
                </c:pt>
                <c:pt idx="213">
                  <c:v>4.3</c:v>
                </c:pt>
                <c:pt idx="214">
                  <c:v>4.2</c:v>
                </c:pt>
                <c:pt idx="215">
                  <c:v>4.5</c:v>
                </c:pt>
                <c:pt idx="216">
                  <c:v>4.4000000000000004</c:v>
                </c:pt>
                <c:pt idx="217">
                  <c:v>4.5999999999999996</c:v>
                </c:pt>
                <c:pt idx="218">
                  <c:v>3.9</c:v>
                </c:pt>
                <c:pt idx="219">
                  <c:v>4.5</c:v>
                </c:pt>
                <c:pt idx="220">
                  <c:v>4</c:v>
                </c:pt>
                <c:pt idx="221">
                  <c:v>4.7</c:v>
                </c:pt>
                <c:pt idx="222">
                  <c:v>4</c:v>
                </c:pt>
                <c:pt idx="223">
                  <c:v>5</c:v>
                </c:pt>
                <c:pt idx="224">
                  <c:v>4.8</c:v>
                </c:pt>
                <c:pt idx="225">
                  <c:v>4.3</c:v>
                </c:pt>
                <c:pt idx="226">
                  <c:v>4.8</c:v>
                </c:pt>
                <c:pt idx="227">
                  <c:v>4.7</c:v>
                </c:pt>
                <c:pt idx="228">
                  <c:v>4.4000000000000004</c:v>
                </c:pt>
                <c:pt idx="229">
                  <c:v>4.0999999999999996</c:v>
                </c:pt>
              </c:numCache>
            </c:numRef>
          </c:val>
          <c:smooth val="0"/>
          <c:extLst>
            <c:ext xmlns:c16="http://schemas.microsoft.com/office/drawing/2014/chart" uri="{C3380CC4-5D6E-409C-BE32-E72D297353CC}">
              <c16:uniqueId val="{00000000-3ADA-4D98-B208-6197864117AE}"/>
            </c:ext>
          </c:extLst>
        </c:ser>
        <c:dLbls>
          <c:showLegendKey val="0"/>
          <c:showVal val="0"/>
          <c:showCatName val="0"/>
          <c:showSerName val="0"/>
          <c:showPercent val="0"/>
          <c:showBubbleSize val="0"/>
        </c:dLbls>
        <c:smooth val="0"/>
        <c:axId val="-634581600"/>
        <c:axId val="-634581056"/>
      </c:lineChart>
      <c:catAx>
        <c:axId val="-634581600"/>
        <c:scaling>
          <c:orientation val="minMax"/>
        </c:scaling>
        <c:delete val="0"/>
        <c:axPos val="b"/>
        <c:numFmt formatCode="General" sourceLinked="1"/>
        <c:majorTickMark val="out"/>
        <c:minorTickMark val="none"/>
        <c:tickLblPos val="nextTo"/>
        <c:spPr>
          <a:noFill/>
          <a:ln w="3175" cap="flat" cmpd="sng" algn="ctr">
            <a:solidFill>
              <a:srgbClr val="000000"/>
            </a:solidFill>
            <a:prstDash val="solid"/>
            <a:round/>
          </a:ln>
          <a:effectLst/>
        </c:spPr>
        <c:txPr>
          <a:bodyPr rot="0" spcFirstLastPara="0" vertOverflow="ellipsis" horzOverflow="overflow" vert="horz" wrap="square" anchor="ctr" anchorCtr="1"/>
          <a:lstStyle/>
          <a:p>
            <a:pPr>
              <a:defRPr lang="zh-CN" sz="800" b="0" i="0" u="none" strike="noStrike" kern="1200" baseline="0">
                <a:solidFill>
                  <a:srgbClr val="000000"/>
                </a:solidFill>
                <a:latin typeface="Arial" panose="020B0604020202020204"/>
                <a:ea typeface="Arial" panose="020B0604020202020204"/>
                <a:cs typeface="Arial" panose="020B0604020202020204"/>
              </a:defRPr>
            </a:pPr>
            <a:endParaRPr lang="zh-CN"/>
          </a:p>
        </c:txPr>
        <c:crossAx val="-634581056"/>
        <c:crosses val="autoZero"/>
        <c:auto val="1"/>
        <c:lblAlgn val="ctr"/>
        <c:lblOffset val="100"/>
        <c:tickLblSkip val="12"/>
        <c:noMultiLvlLbl val="0"/>
      </c:catAx>
      <c:valAx>
        <c:axId val="-634581056"/>
        <c:scaling>
          <c:orientation val="minMax"/>
        </c:scaling>
        <c:delete val="0"/>
        <c:axPos val="l"/>
        <c:majorGridlines>
          <c:spPr>
            <a:ln w="3175" cap="flat" cmpd="sng" algn="ctr">
              <a:solidFill>
                <a:srgbClr val="000000"/>
              </a:solidFill>
              <a:prstDash val="solid"/>
              <a:round/>
            </a:ln>
            <a:effectLst/>
          </c:spPr>
        </c:majorGridlines>
        <c:numFmt formatCode="General" sourceLinked="1"/>
        <c:majorTickMark val="out"/>
        <c:minorTickMark val="none"/>
        <c:tickLblPos val="nextTo"/>
        <c:spPr>
          <a:noFill/>
          <a:ln w="3175" cap="flat" cmpd="sng" algn="ctr">
            <a:solidFill>
              <a:srgbClr val="000000"/>
            </a:solidFill>
            <a:prstDash val="solid"/>
            <a:round/>
          </a:ln>
          <a:effectLst/>
        </c:spPr>
        <c:txPr>
          <a:bodyPr rot="0" spcFirstLastPara="0" vertOverflow="ellipsis" horzOverflow="overflow" vert="horz" wrap="square" anchor="ctr" anchorCtr="1"/>
          <a:lstStyle/>
          <a:p>
            <a:pPr>
              <a:defRPr lang="zh-CN" sz="800" b="0" i="0" u="none" strike="noStrike" kern="1200" baseline="0">
                <a:solidFill>
                  <a:srgbClr val="000000"/>
                </a:solidFill>
                <a:latin typeface="Arial" panose="020B0604020202020204"/>
                <a:ea typeface="Arial" panose="020B0604020202020204"/>
                <a:cs typeface="Arial" panose="020B0604020202020204"/>
              </a:defRPr>
            </a:pPr>
            <a:endParaRPr lang="zh-CN"/>
          </a:p>
        </c:txPr>
        <c:crossAx val="-634581600"/>
        <c:crosses val="autoZero"/>
        <c:crossBetween val="between"/>
      </c:valAx>
      <c:spPr>
        <a:solidFill>
          <a:srgbClr val="C0C0C0"/>
        </a:solidFill>
        <a:ln w="12700">
          <a:solidFill>
            <a:srgbClr val="808080"/>
          </a:solidFill>
          <a:prstDash val="solid"/>
        </a:ln>
        <a:effectLst/>
      </c:spPr>
    </c:plotArea>
    <c:plotVisOnly val="1"/>
    <c:dispBlanksAs val="gap"/>
    <c:showDLblsOverMax val="0"/>
  </c:chart>
  <c:spPr>
    <a:solidFill>
      <a:srgbClr val="FFFFFF"/>
    </a:solidFill>
    <a:ln w="3175" cap="flat" cmpd="sng" algn="ctr">
      <a:solidFill>
        <a:srgbClr val="000000"/>
      </a:solidFill>
      <a:prstDash val="solid"/>
      <a:round/>
    </a:ln>
    <a:effectLst/>
  </c:spPr>
  <c:txPr>
    <a:bodyPr rot="0" spcFirstLastPara="0" vertOverflow="ellipsis" horzOverflow="overflow" vert="horz" wrap="square" anchor="ctr" anchorCtr="1"/>
    <a:lstStyle/>
    <a:p>
      <a:pPr>
        <a:defRPr lang="zh-CN" sz="800" b="0" i="0" u="none" strike="noStrike" baseline="0">
          <a:solidFill>
            <a:srgbClr val="000000"/>
          </a:solidFill>
          <a:latin typeface="Arial" panose="020B0604020202020204"/>
          <a:ea typeface="Arial" panose="020B0604020202020204"/>
          <a:cs typeface="Arial" panose="020B0604020202020204"/>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84787498402932"/>
          <c:y val="3.5608360198500402E-2"/>
        </c:manualLayout>
      </c:layout>
      <c:overlay val="0"/>
      <c:spPr>
        <a:noFill/>
        <a:ln w="25400">
          <a:noFill/>
        </a:ln>
        <a:effectLst/>
      </c:spPr>
      <c:txPr>
        <a:bodyPr rot="0" spcFirstLastPara="0" vertOverflow="ellipsis" horzOverflow="overflow" vert="horz" wrap="square" anchor="ctr" anchorCtr="1"/>
        <a:lstStyle/>
        <a:p>
          <a:pPr>
            <a:defRPr lang="zh-CN" sz="800" b="0" i="0" u="none" strike="noStrike" kern="1200" baseline="0">
              <a:solidFill>
                <a:srgbClr val="000000"/>
              </a:solidFill>
              <a:latin typeface="Arial" panose="020B0604020202020204"/>
              <a:ea typeface="Arial" panose="020B0604020202020204"/>
              <a:cs typeface="Arial" panose="020B0604020202020204"/>
            </a:defRPr>
          </a:pPr>
          <a:endParaRPr lang="zh-CN"/>
        </a:p>
      </c:txPr>
    </c:title>
    <c:autoTitleDeleted val="0"/>
    <c:plotArea>
      <c:layout>
        <c:manualLayout>
          <c:layoutTarget val="inner"/>
          <c:xMode val="edge"/>
          <c:yMode val="edge"/>
          <c:x val="8.7221181721029703E-2"/>
          <c:y val="0.17507443764262701"/>
          <c:w val="0.88438221465974298"/>
          <c:h val="0.70326511392038304"/>
        </c:manualLayout>
      </c:layout>
      <c:lineChart>
        <c:grouping val="standard"/>
        <c:varyColors val="0"/>
        <c:ser>
          <c:idx val="0"/>
          <c:order val="0"/>
          <c:tx>
            <c:strRef>
              <c:f>old_faithful!$C$1</c:f>
              <c:strCache>
                <c:ptCount val="1"/>
                <c:pt idx="0">
                  <c:v>F2</c:v>
                </c:pt>
              </c:strCache>
            </c:strRef>
          </c:tx>
          <c:spPr>
            <a:ln w="12700" cap="rnd" cmpd="sng" algn="ctr">
              <a:solidFill>
                <a:srgbClr val="000080"/>
              </a:solidFill>
              <a:prstDash val="solid"/>
              <a:round/>
            </a:ln>
            <a:effectLst/>
          </c:spPr>
          <c:marker>
            <c:symbol val="none"/>
          </c:marker>
          <c:val>
            <c:numRef>
              <c:f>old_faithful!$C$2:$C$231</c:f>
              <c:numCache>
                <c:formatCode>General</c:formatCode>
                <c:ptCount val="230"/>
                <c:pt idx="0">
                  <c:v>57</c:v>
                </c:pt>
                <c:pt idx="1">
                  <c:v>56</c:v>
                </c:pt>
                <c:pt idx="2">
                  <c:v>50</c:v>
                </c:pt>
                <c:pt idx="3">
                  <c:v>54</c:v>
                </c:pt>
                <c:pt idx="4">
                  <c:v>60</c:v>
                </c:pt>
                <c:pt idx="5">
                  <c:v>54</c:v>
                </c:pt>
                <c:pt idx="6">
                  <c:v>68</c:v>
                </c:pt>
                <c:pt idx="7">
                  <c:v>65</c:v>
                </c:pt>
                <c:pt idx="8">
                  <c:v>58</c:v>
                </c:pt>
                <c:pt idx="9">
                  <c:v>50</c:v>
                </c:pt>
                <c:pt idx="10">
                  <c:v>48</c:v>
                </c:pt>
                <c:pt idx="11">
                  <c:v>54</c:v>
                </c:pt>
                <c:pt idx="12">
                  <c:v>60</c:v>
                </c:pt>
                <c:pt idx="13">
                  <c:v>49</c:v>
                </c:pt>
                <c:pt idx="14">
                  <c:v>60</c:v>
                </c:pt>
                <c:pt idx="15">
                  <c:v>43</c:v>
                </c:pt>
                <c:pt idx="16">
                  <c:v>60</c:v>
                </c:pt>
                <c:pt idx="17">
                  <c:v>50</c:v>
                </c:pt>
                <c:pt idx="18">
                  <c:v>62</c:v>
                </c:pt>
                <c:pt idx="19">
                  <c:v>54</c:v>
                </c:pt>
                <c:pt idx="20">
                  <c:v>62</c:v>
                </c:pt>
                <c:pt idx="21">
                  <c:v>59</c:v>
                </c:pt>
                <c:pt idx="22">
                  <c:v>50</c:v>
                </c:pt>
                <c:pt idx="23">
                  <c:v>51</c:v>
                </c:pt>
                <c:pt idx="24">
                  <c:v>58</c:v>
                </c:pt>
                <c:pt idx="25">
                  <c:v>49</c:v>
                </c:pt>
                <c:pt idx="26">
                  <c:v>50</c:v>
                </c:pt>
                <c:pt idx="27">
                  <c:v>62</c:v>
                </c:pt>
                <c:pt idx="28">
                  <c:v>56</c:v>
                </c:pt>
                <c:pt idx="29">
                  <c:v>51</c:v>
                </c:pt>
                <c:pt idx="30">
                  <c:v>52</c:v>
                </c:pt>
                <c:pt idx="31">
                  <c:v>69</c:v>
                </c:pt>
                <c:pt idx="32">
                  <c:v>53</c:v>
                </c:pt>
                <c:pt idx="33">
                  <c:v>55</c:v>
                </c:pt>
                <c:pt idx="34">
                  <c:v>53</c:v>
                </c:pt>
                <c:pt idx="35">
                  <c:v>61</c:v>
                </c:pt>
                <c:pt idx="36">
                  <c:v>54</c:v>
                </c:pt>
                <c:pt idx="37">
                  <c:v>50</c:v>
                </c:pt>
                <c:pt idx="38">
                  <c:v>65</c:v>
                </c:pt>
                <c:pt idx="39">
                  <c:v>64</c:v>
                </c:pt>
                <c:pt idx="40">
                  <c:v>49</c:v>
                </c:pt>
                <c:pt idx="41">
                  <c:v>54</c:v>
                </c:pt>
                <c:pt idx="42">
                  <c:v>51</c:v>
                </c:pt>
                <c:pt idx="43">
                  <c:v>50</c:v>
                </c:pt>
                <c:pt idx="44">
                  <c:v>78</c:v>
                </c:pt>
                <c:pt idx="45">
                  <c:v>49</c:v>
                </c:pt>
                <c:pt idx="46">
                  <c:v>57</c:v>
                </c:pt>
                <c:pt idx="47">
                  <c:v>57</c:v>
                </c:pt>
                <c:pt idx="48">
                  <c:v>57</c:v>
                </c:pt>
                <c:pt idx="49">
                  <c:v>57</c:v>
                </c:pt>
                <c:pt idx="50">
                  <c:v>62</c:v>
                </c:pt>
                <c:pt idx="51">
                  <c:v>52</c:v>
                </c:pt>
                <c:pt idx="52">
                  <c:v>48</c:v>
                </c:pt>
                <c:pt idx="53">
                  <c:v>50</c:v>
                </c:pt>
                <c:pt idx="54">
                  <c:v>60</c:v>
                </c:pt>
                <c:pt idx="55">
                  <c:v>50</c:v>
                </c:pt>
                <c:pt idx="56">
                  <c:v>50</c:v>
                </c:pt>
                <c:pt idx="57">
                  <c:v>65</c:v>
                </c:pt>
                <c:pt idx="58">
                  <c:v>49</c:v>
                </c:pt>
                <c:pt idx="59">
                  <c:v>51</c:v>
                </c:pt>
                <c:pt idx="60">
                  <c:v>69</c:v>
                </c:pt>
                <c:pt idx="61">
                  <c:v>61</c:v>
                </c:pt>
                <c:pt idx="62">
                  <c:v>55</c:v>
                </c:pt>
                <c:pt idx="63">
                  <c:v>53</c:v>
                </c:pt>
                <c:pt idx="64">
                  <c:v>70</c:v>
                </c:pt>
                <c:pt idx="65">
                  <c:v>50</c:v>
                </c:pt>
                <c:pt idx="66">
                  <c:v>49</c:v>
                </c:pt>
                <c:pt idx="67">
                  <c:v>53</c:v>
                </c:pt>
                <c:pt idx="68">
                  <c:v>49</c:v>
                </c:pt>
                <c:pt idx="69">
                  <c:v>59</c:v>
                </c:pt>
                <c:pt idx="70">
                  <c:v>45</c:v>
                </c:pt>
                <c:pt idx="71">
                  <c:v>65</c:v>
                </c:pt>
                <c:pt idx="72">
                  <c:v>57</c:v>
                </c:pt>
                <c:pt idx="73">
                  <c:v>47</c:v>
                </c:pt>
                <c:pt idx="74">
                  <c:v>57</c:v>
                </c:pt>
                <c:pt idx="75">
                  <c:v>48</c:v>
                </c:pt>
                <c:pt idx="76">
                  <c:v>63</c:v>
                </c:pt>
                <c:pt idx="77">
                  <c:v>62</c:v>
                </c:pt>
                <c:pt idx="78">
                  <c:v>50</c:v>
                </c:pt>
                <c:pt idx="79">
                  <c:v>48</c:v>
                </c:pt>
                <c:pt idx="80">
                  <c:v>47</c:v>
                </c:pt>
                <c:pt idx="81">
                  <c:v>51</c:v>
                </c:pt>
                <c:pt idx="82">
                  <c:v>54</c:v>
                </c:pt>
                <c:pt idx="83">
                  <c:v>52</c:v>
                </c:pt>
                <c:pt idx="84">
                  <c:v>58</c:v>
                </c:pt>
                <c:pt idx="85">
                  <c:v>71</c:v>
                </c:pt>
                <c:pt idx="86">
                  <c:v>86</c:v>
                </c:pt>
                <c:pt idx="87">
                  <c:v>77</c:v>
                </c:pt>
                <c:pt idx="88">
                  <c:v>81</c:v>
                </c:pt>
                <c:pt idx="89">
                  <c:v>89</c:v>
                </c:pt>
                <c:pt idx="90">
                  <c:v>90</c:v>
                </c:pt>
                <c:pt idx="91">
                  <c:v>73</c:v>
                </c:pt>
                <c:pt idx="92">
                  <c:v>83</c:v>
                </c:pt>
                <c:pt idx="93">
                  <c:v>82</c:v>
                </c:pt>
                <c:pt idx="94">
                  <c:v>84</c:v>
                </c:pt>
                <c:pt idx="95">
                  <c:v>85</c:v>
                </c:pt>
                <c:pt idx="96">
                  <c:v>76</c:v>
                </c:pt>
                <c:pt idx="97">
                  <c:v>78</c:v>
                </c:pt>
                <c:pt idx="98">
                  <c:v>74</c:v>
                </c:pt>
                <c:pt idx="99">
                  <c:v>85</c:v>
                </c:pt>
                <c:pt idx="100">
                  <c:v>75</c:v>
                </c:pt>
                <c:pt idx="101">
                  <c:v>76</c:v>
                </c:pt>
                <c:pt idx="102">
                  <c:v>91</c:v>
                </c:pt>
                <c:pt idx="103">
                  <c:v>87</c:v>
                </c:pt>
                <c:pt idx="104">
                  <c:v>93</c:v>
                </c:pt>
                <c:pt idx="105">
                  <c:v>86</c:v>
                </c:pt>
                <c:pt idx="106">
                  <c:v>87</c:v>
                </c:pt>
                <c:pt idx="107">
                  <c:v>80</c:v>
                </c:pt>
                <c:pt idx="108">
                  <c:v>92</c:v>
                </c:pt>
                <c:pt idx="109">
                  <c:v>89</c:v>
                </c:pt>
                <c:pt idx="110">
                  <c:v>84</c:v>
                </c:pt>
                <c:pt idx="111">
                  <c:v>69</c:v>
                </c:pt>
                <c:pt idx="112">
                  <c:v>74</c:v>
                </c:pt>
                <c:pt idx="113">
                  <c:v>71</c:v>
                </c:pt>
                <c:pt idx="114">
                  <c:v>108</c:v>
                </c:pt>
                <c:pt idx="115">
                  <c:v>77</c:v>
                </c:pt>
                <c:pt idx="116">
                  <c:v>73</c:v>
                </c:pt>
                <c:pt idx="117">
                  <c:v>79</c:v>
                </c:pt>
                <c:pt idx="118">
                  <c:v>80</c:v>
                </c:pt>
                <c:pt idx="119">
                  <c:v>73</c:v>
                </c:pt>
                <c:pt idx="120">
                  <c:v>81</c:v>
                </c:pt>
                <c:pt idx="121">
                  <c:v>81</c:v>
                </c:pt>
                <c:pt idx="122">
                  <c:v>71</c:v>
                </c:pt>
                <c:pt idx="123">
                  <c:v>79</c:v>
                </c:pt>
                <c:pt idx="124">
                  <c:v>81</c:v>
                </c:pt>
                <c:pt idx="125">
                  <c:v>74</c:v>
                </c:pt>
                <c:pt idx="126">
                  <c:v>80</c:v>
                </c:pt>
                <c:pt idx="127">
                  <c:v>87</c:v>
                </c:pt>
                <c:pt idx="128">
                  <c:v>82</c:v>
                </c:pt>
                <c:pt idx="129">
                  <c:v>81</c:v>
                </c:pt>
                <c:pt idx="130">
                  <c:v>92</c:v>
                </c:pt>
                <c:pt idx="131">
                  <c:v>88</c:v>
                </c:pt>
                <c:pt idx="132">
                  <c:v>93</c:v>
                </c:pt>
                <c:pt idx="133">
                  <c:v>89</c:v>
                </c:pt>
                <c:pt idx="134">
                  <c:v>79</c:v>
                </c:pt>
                <c:pt idx="135">
                  <c:v>88</c:v>
                </c:pt>
                <c:pt idx="136">
                  <c:v>75</c:v>
                </c:pt>
                <c:pt idx="137">
                  <c:v>77</c:v>
                </c:pt>
                <c:pt idx="138">
                  <c:v>80</c:v>
                </c:pt>
                <c:pt idx="139">
                  <c:v>87</c:v>
                </c:pt>
                <c:pt idx="140">
                  <c:v>85</c:v>
                </c:pt>
                <c:pt idx="141">
                  <c:v>93</c:v>
                </c:pt>
                <c:pt idx="142">
                  <c:v>76</c:v>
                </c:pt>
                <c:pt idx="143">
                  <c:v>80</c:v>
                </c:pt>
                <c:pt idx="144">
                  <c:v>71</c:v>
                </c:pt>
                <c:pt idx="145">
                  <c:v>77</c:v>
                </c:pt>
                <c:pt idx="146">
                  <c:v>76</c:v>
                </c:pt>
                <c:pt idx="147">
                  <c:v>94</c:v>
                </c:pt>
                <c:pt idx="148">
                  <c:v>75</c:v>
                </c:pt>
                <c:pt idx="149">
                  <c:v>83</c:v>
                </c:pt>
                <c:pt idx="150">
                  <c:v>82</c:v>
                </c:pt>
                <c:pt idx="151">
                  <c:v>72</c:v>
                </c:pt>
                <c:pt idx="152">
                  <c:v>77</c:v>
                </c:pt>
                <c:pt idx="153">
                  <c:v>75</c:v>
                </c:pt>
                <c:pt idx="154">
                  <c:v>79</c:v>
                </c:pt>
                <c:pt idx="155">
                  <c:v>72</c:v>
                </c:pt>
                <c:pt idx="156">
                  <c:v>78</c:v>
                </c:pt>
                <c:pt idx="157">
                  <c:v>80</c:v>
                </c:pt>
                <c:pt idx="158">
                  <c:v>88</c:v>
                </c:pt>
                <c:pt idx="159">
                  <c:v>85</c:v>
                </c:pt>
                <c:pt idx="160">
                  <c:v>96</c:v>
                </c:pt>
                <c:pt idx="161">
                  <c:v>80</c:v>
                </c:pt>
                <c:pt idx="162">
                  <c:v>81</c:v>
                </c:pt>
                <c:pt idx="163">
                  <c:v>72</c:v>
                </c:pt>
                <c:pt idx="164">
                  <c:v>75</c:v>
                </c:pt>
                <c:pt idx="165">
                  <c:v>78</c:v>
                </c:pt>
                <c:pt idx="166">
                  <c:v>82</c:v>
                </c:pt>
                <c:pt idx="167">
                  <c:v>84</c:v>
                </c:pt>
                <c:pt idx="168">
                  <c:v>84</c:v>
                </c:pt>
                <c:pt idx="169">
                  <c:v>73</c:v>
                </c:pt>
                <c:pt idx="170">
                  <c:v>78</c:v>
                </c:pt>
                <c:pt idx="171">
                  <c:v>79</c:v>
                </c:pt>
                <c:pt idx="172">
                  <c:v>90</c:v>
                </c:pt>
                <c:pt idx="173">
                  <c:v>87</c:v>
                </c:pt>
                <c:pt idx="174">
                  <c:v>78</c:v>
                </c:pt>
                <c:pt idx="175">
                  <c:v>98</c:v>
                </c:pt>
                <c:pt idx="176">
                  <c:v>84</c:v>
                </c:pt>
                <c:pt idx="177">
                  <c:v>83</c:v>
                </c:pt>
                <c:pt idx="178">
                  <c:v>80</c:v>
                </c:pt>
                <c:pt idx="179">
                  <c:v>88</c:v>
                </c:pt>
                <c:pt idx="180">
                  <c:v>84</c:v>
                </c:pt>
                <c:pt idx="181">
                  <c:v>74</c:v>
                </c:pt>
                <c:pt idx="182">
                  <c:v>76</c:v>
                </c:pt>
                <c:pt idx="183">
                  <c:v>89</c:v>
                </c:pt>
                <c:pt idx="184">
                  <c:v>88</c:v>
                </c:pt>
                <c:pt idx="185">
                  <c:v>78</c:v>
                </c:pt>
                <c:pt idx="186">
                  <c:v>92</c:v>
                </c:pt>
                <c:pt idx="187">
                  <c:v>68</c:v>
                </c:pt>
                <c:pt idx="188">
                  <c:v>87</c:v>
                </c:pt>
                <c:pt idx="189">
                  <c:v>81</c:v>
                </c:pt>
                <c:pt idx="190">
                  <c:v>93</c:v>
                </c:pt>
                <c:pt idx="191">
                  <c:v>84</c:v>
                </c:pt>
                <c:pt idx="192">
                  <c:v>73</c:v>
                </c:pt>
                <c:pt idx="193">
                  <c:v>93</c:v>
                </c:pt>
                <c:pt idx="194">
                  <c:v>87</c:v>
                </c:pt>
                <c:pt idx="195">
                  <c:v>82</c:v>
                </c:pt>
                <c:pt idx="196">
                  <c:v>74</c:v>
                </c:pt>
                <c:pt idx="197">
                  <c:v>80</c:v>
                </c:pt>
                <c:pt idx="198">
                  <c:v>91</c:v>
                </c:pt>
                <c:pt idx="199">
                  <c:v>86</c:v>
                </c:pt>
                <c:pt idx="200">
                  <c:v>79</c:v>
                </c:pt>
                <c:pt idx="201">
                  <c:v>89</c:v>
                </c:pt>
                <c:pt idx="202">
                  <c:v>87</c:v>
                </c:pt>
                <c:pt idx="203">
                  <c:v>76</c:v>
                </c:pt>
                <c:pt idx="204">
                  <c:v>80</c:v>
                </c:pt>
                <c:pt idx="205">
                  <c:v>89</c:v>
                </c:pt>
                <c:pt idx="206">
                  <c:v>93</c:v>
                </c:pt>
                <c:pt idx="207">
                  <c:v>74</c:v>
                </c:pt>
                <c:pt idx="208">
                  <c:v>78</c:v>
                </c:pt>
                <c:pt idx="209">
                  <c:v>87</c:v>
                </c:pt>
                <c:pt idx="210">
                  <c:v>72</c:v>
                </c:pt>
                <c:pt idx="211">
                  <c:v>84</c:v>
                </c:pt>
                <c:pt idx="212">
                  <c:v>84</c:v>
                </c:pt>
                <c:pt idx="213">
                  <c:v>87</c:v>
                </c:pt>
                <c:pt idx="214">
                  <c:v>68</c:v>
                </c:pt>
                <c:pt idx="215">
                  <c:v>86</c:v>
                </c:pt>
                <c:pt idx="216">
                  <c:v>75</c:v>
                </c:pt>
                <c:pt idx="217">
                  <c:v>73</c:v>
                </c:pt>
                <c:pt idx="218">
                  <c:v>77</c:v>
                </c:pt>
                <c:pt idx="219">
                  <c:v>96</c:v>
                </c:pt>
                <c:pt idx="220">
                  <c:v>89</c:v>
                </c:pt>
                <c:pt idx="221">
                  <c:v>84</c:v>
                </c:pt>
                <c:pt idx="222">
                  <c:v>76</c:v>
                </c:pt>
                <c:pt idx="223">
                  <c:v>83</c:v>
                </c:pt>
                <c:pt idx="224">
                  <c:v>85</c:v>
                </c:pt>
                <c:pt idx="225">
                  <c:v>93</c:v>
                </c:pt>
                <c:pt idx="226">
                  <c:v>87</c:v>
                </c:pt>
                <c:pt idx="227">
                  <c:v>78</c:v>
                </c:pt>
                <c:pt idx="228">
                  <c:v>87</c:v>
                </c:pt>
                <c:pt idx="229">
                  <c:v>85</c:v>
                </c:pt>
              </c:numCache>
            </c:numRef>
          </c:val>
          <c:smooth val="0"/>
          <c:extLst>
            <c:ext xmlns:c16="http://schemas.microsoft.com/office/drawing/2014/chart" uri="{C3380CC4-5D6E-409C-BE32-E72D297353CC}">
              <c16:uniqueId val="{00000000-D3FF-4F64-89D5-07B9F9F2661F}"/>
            </c:ext>
          </c:extLst>
        </c:ser>
        <c:dLbls>
          <c:showLegendKey val="0"/>
          <c:showVal val="0"/>
          <c:showCatName val="0"/>
          <c:showSerName val="0"/>
          <c:showPercent val="0"/>
          <c:showBubbleSize val="0"/>
        </c:dLbls>
        <c:smooth val="0"/>
        <c:axId val="-634578336"/>
        <c:axId val="-634577792"/>
      </c:lineChart>
      <c:catAx>
        <c:axId val="-634578336"/>
        <c:scaling>
          <c:orientation val="minMax"/>
        </c:scaling>
        <c:delete val="0"/>
        <c:axPos val="b"/>
        <c:numFmt formatCode="General" sourceLinked="1"/>
        <c:majorTickMark val="out"/>
        <c:minorTickMark val="none"/>
        <c:tickLblPos val="nextTo"/>
        <c:spPr>
          <a:noFill/>
          <a:ln w="3175" cap="flat" cmpd="sng" algn="ctr">
            <a:solidFill>
              <a:srgbClr val="000000"/>
            </a:solidFill>
            <a:prstDash val="solid"/>
            <a:round/>
          </a:ln>
          <a:effectLst/>
        </c:spPr>
        <c:txPr>
          <a:bodyPr rot="0" spcFirstLastPara="0" vertOverflow="ellipsis" horzOverflow="overflow" vert="horz" wrap="square" anchor="ctr" anchorCtr="1"/>
          <a:lstStyle/>
          <a:p>
            <a:pPr>
              <a:defRPr lang="zh-CN" sz="800" b="0" i="0" u="none" strike="noStrike" kern="1200" baseline="0">
                <a:solidFill>
                  <a:srgbClr val="000000"/>
                </a:solidFill>
                <a:latin typeface="Arial" panose="020B0604020202020204"/>
                <a:ea typeface="Arial" panose="020B0604020202020204"/>
                <a:cs typeface="Arial" panose="020B0604020202020204"/>
              </a:defRPr>
            </a:pPr>
            <a:endParaRPr lang="zh-CN"/>
          </a:p>
        </c:txPr>
        <c:crossAx val="-634577792"/>
        <c:crosses val="autoZero"/>
        <c:auto val="1"/>
        <c:lblAlgn val="ctr"/>
        <c:lblOffset val="100"/>
        <c:tickLblSkip val="12"/>
        <c:noMultiLvlLbl val="0"/>
      </c:catAx>
      <c:valAx>
        <c:axId val="-634577792"/>
        <c:scaling>
          <c:orientation val="minMax"/>
        </c:scaling>
        <c:delete val="0"/>
        <c:axPos val="l"/>
        <c:majorGridlines>
          <c:spPr>
            <a:ln w="3175" cap="flat" cmpd="sng" algn="ctr">
              <a:solidFill>
                <a:srgbClr val="000000"/>
              </a:solidFill>
              <a:prstDash val="solid"/>
              <a:round/>
            </a:ln>
            <a:effectLst/>
          </c:spPr>
        </c:majorGridlines>
        <c:numFmt formatCode="General" sourceLinked="1"/>
        <c:majorTickMark val="out"/>
        <c:minorTickMark val="none"/>
        <c:tickLblPos val="nextTo"/>
        <c:spPr>
          <a:noFill/>
          <a:ln w="3175" cap="flat" cmpd="sng" algn="ctr">
            <a:solidFill>
              <a:srgbClr val="000000"/>
            </a:solidFill>
            <a:prstDash val="solid"/>
            <a:round/>
          </a:ln>
          <a:effectLst/>
        </c:spPr>
        <c:txPr>
          <a:bodyPr rot="0" spcFirstLastPara="0" vertOverflow="ellipsis" horzOverflow="overflow" vert="horz" wrap="square" anchor="ctr" anchorCtr="1"/>
          <a:lstStyle/>
          <a:p>
            <a:pPr>
              <a:defRPr lang="zh-CN" sz="800" b="0" i="0" u="none" strike="noStrike" kern="1200" baseline="0">
                <a:solidFill>
                  <a:srgbClr val="000000"/>
                </a:solidFill>
                <a:latin typeface="Arial" panose="020B0604020202020204"/>
                <a:ea typeface="Arial" panose="020B0604020202020204"/>
                <a:cs typeface="Arial" panose="020B0604020202020204"/>
              </a:defRPr>
            </a:pPr>
            <a:endParaRPr lang="zh-CN"/>
          </a:p>
        </c:txPr>
        <c:crossAx val="-634578336"/>
        <c:crosses val="autoZero"/>
        <c:crossBetween val="between"/>
      </c:valAx>
      <c:spPr>
        <a:solidFill>
          <a:srgbClr val="C0C0C0"/>
        </a:solidFill>
        <a:ln w="12700">
          <a:solidFill>
            <a:srgbClr val="808080"/>
          </a:solidFill>
          <a:prstDash val="solid"/>
        </a:ln>
        <a:effectLst/>
      </c:spPr>
    </c:plotArea>
    <c:plotVisOnly val="1"/>
    <c:dispBlanksAs val="gap"/>
    <c:showDLblsOverMax val="0"/>
  </c:chart>
  <c:spPr>
    <a:solidFill>
      <a:srgbClr val="FFFFFF"/>
    </a:solidFill>
    <a:ln w="3175" cap="flat" cmpd="sng" algn="ctr">
      <a:solidFill>
        <a:srgbClr val="000000"/>
      </a:solidFill>
      <a:prstDash val="solid"/>
      <a:round/>
    </a:ln>
    <a:effectLst/>
  </c:spPr>
  <c:txPr>
    <a:bodyPr rot="0" spcFirstLastPara="0" vertOverflow="ellipsis" horzOverflow="overflow" vert="horz" wrap="square" anchor="ctr" anchorCtr="1"/>
    <a:lstStyle/>
    <a:p>
      <a:pPr>
        <a:defRPr lang="zh-CN" sz="800" b="0" i="0" u="none" strike="noStrike" baseline="0">
          <a:solidFill>
            <a:srgbClr val="000000"/>
          </a:solidFill>
          <a:latin typeface="Arial" panose="020B0604020202020204"/>
          <a:ea typeface="Arial" panose="020B0604020202020204"/>
          <a:cs typeface="Arial" panose="020B0604020202020204"/>
        </a:defRPr>
      </a:pPr>
      <a:endParaRPr lang="zh-CN"/>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9BCB7CA-4058-4961-8B72-7F0A36371207}" type="doc">
      <dgm:prSet loTypeId="urn:microsoft.com/office/officeart/2005/8/layout/default#1" loCatId="list" qsTypeId="urn:microsoft.com/office/officeart/2005/8/quickstyle/simple1#2" qsCatId="simple" csTypeId="urn:microsoft.com/office/officeart/2005/8/colors/accent1_2#2" csCatId="accent1" phldr="1"/>
      <dgm:spPr/>
      <dgm:t>
        <a:bodyPr/>
        <a:lstStyle/>
        <a:p>
          <a:endParaRPr lang="zh-CN" altLang="en-US"/>
        </a:p>
      </dgm:t>
    </dgm:pt>
    <dgm:pt modelId="{2A5FC6F5-CC10-47AC-B171-F18D3D8CEB62}">
      <dgm:prSet phldr="0" custT="1">
        <dgm:style>
          <a:lnRef idx="2">
            <a:schemeClr val="accent4"/>
          </a:lnRef>
          <a:fillRef idx="1">
            <a:schemeClr val="lt1"/>
          </a:fillRef>
          <a:effectRef idx="0">
            <a:schemeClr val="accent4"/>
          </a:effectRef>
          <a:fontRef idx="minor">
            <a:schemeClr val="dk1"/>
          </a:fontRef>
        </dgm:style>
      </dgm:prSet>
      <dgm:spPr>
        <a:effectLst>
          <a:outerShdw blurRad="50800" dist="38100" dir="2700000" algn="tl" rotWithShape="0">
            <a:prstClr val="black">
              <a:alpha val="40000"/>
            </a:prstClr>
          </a:outerShdw>
        </a:effectLst>
      </dgm:spPr>
      <dgm:t>
        <a:bodyPr vert="horz" wrap="square" lIns="57150" tIns="57150" rIns="57150" bIns="57150" numCol="1" spcCol="1270" anchor="ctr" anchorCtr="0"/>
        <a:lstStyle/>
        <a:p>
          <a:pPr algn="l">
            <a:lnSpc>
              <a:spcPct val="100000"/>
            </a:lnSpc>
            <a:spcBef>
              <a:spcPct val="0"/>
            </a:spcBef>
            <a:spcAft>
              <a:spcPct val="35000"/>
            </a:spcAft>
          </a:pPr>
          <a:r>
            <a:rPr sz="1400" b="1">
              <a:solidFill>
                <a:srgbClr val="FF0000"/>
              </a:solidFill>
              <a:latin typeface="微软雅黑" panose="020B0503020204020204" pitchFamily="34" charset="-122"/>
              <a:ea typeface="微软雅黑" panose="020B0503020204020204" pitchFamily="34" charset="-122"/>
              <a:sym typeface="+mn-ea"/>
            </a:rPr>
            <a:t>划分聚类方法</a:t>
          </a:r>
          <a:r>
            <a:rPr sz="1400" b="1">
              <a:sym typeface="+mn-ea"/>
            </a:rPr>
            <a:t>(partitioning methods)</a:t>
          </a:r>
          <a:r>
            <a:rPr lang="zh-CN" sz="1400" b="1">
              <a:sym typeface="+mn-ea"/>
            </a:rPr>
            <a:t>：</a:t>
          </a:r>
          <a:r>
            <a:rPr sz="1400" b="1">
              <a:latin typeface="等线" panose="02010600030101010101" pitchFamily="2" charset="-122"/>
              <a:ea typeface="等线" panose="02010600030101010101" pitchFamily="2" charset="-122"/>
              <a:cs typeface="等线" panose="02010600030101010101" pitchFamily="2" charset="-122"/>
              <a:sym typeface="+mn-ea"/>
            </a:rPr>
            <a:t>给定一个有n个对象的数据集，划分聚类技术将构造数据k个划分（k n），每一个划分就代表一个簇。并要求每一个簇至少包含一个对象，每一个对象属于且仅属于一个簇。</a:t>
          </a:r>
        </a:p>
        <a:p>
          <a:pPr algn="l">
            <a:lnSpc>
              <a:spcPct val="100000"/>
            </a:lnSpc>
            <a:spcBef>
              <a:spcPct val="0"/>
            </a:spcBef>
            <a:spcAft>
              <a:spcPct val="35000"/>
            </a:spcAft>
          </a:pPr>
          <a:r>
            <a:rPr sz="1400">
              <a:highlight>
                <a:srgbClr val="00FF00"/>
              </a:highlight>
              <a:sym typeface="+mn-ea"/>
            </a:rPr>
            <a:t>代表算法：K-Means、 K-medoids和CLARANS等算法。</a:t>
          </a:r>
          <a:endParaRPr lang="en-US" sz="1400" b="1" kern="1200">
            <a:solidFill>
              <a:prstClr val="black"/>
            </a:solidFill>
            <a:latin typeface="等线" panose="02010600030101010101" pitchFamily="2" charset="-122"/>
            <a:ea typeface="等线" panose="02010600030101010101" pitchFamily="2" charset="-122"/>
            <a:cs typeface="等线" panose="02010600030101010101" pitchFamily="2" charset="-122"/>
            <a:sym typeface="+mn-ea"/>
          </a:endParaRPr>
        </a:p>
      </dgm:t>
    </dgm:pt>
    <dgm:pt modelId="{D434E9F8-AF12-4185-8617-946E502F6C9F}" type="parTrans" cxnId="{EB2849D3-1B81-4D91-AEA5-F0033DA762D4}">
      <dgm:prSet/>
      <dgm:spPr/>
      <dgm:t>
        <a:bodyPr/>
        <a:lstStyle/>
        <a:p>
          <a:endParaRPr lang="zh-CN" altLang="en-US"/>
        </a:p>
      </dgm:t>
    </dgm:pt>
    <dgm:pt modelId="{9C9736E4-9E86-45EF-90FE-E33F1427DE6F}" type="sibTrans" cxnId="{EB2849D3-1B81-4D91-AEA5-F0033DA762D4}">
      <dgm:prSet/>
      <dgm:spPr/>
      <dgm:t>
        <a:bodyPr/>
        <a:lstStyle/>
        <a:p>
          <a:endParaRPr lang="zh-CN" altLang="en-US"/>
        </a:p>
      </dgm:t>
    </dgm:pt>
    <dgm:pt modelId="{FC55E103-BABA-4ABF-AB50-A81D208E846C}">
      <dgm:prSet phldr="0" custT="1">
        <dgm:style>
          <a:lnRef idx="2">
            <a:schemeClr val="accent4"/>
          </a:lnRef>
          <a:fillRef idx="1">
            <a:schemeClr val="lt1"/>
          </a:fillRef>
          <a:effectRef idx="0">
            <a:schemeClr val="accent4"/>
          </a:effectRef>
          <a:fontRef idx="minor">
            <a:schemeClr val="dk1"/>
          </a:fontRef>
        </dgm:style>
      </dgm:prSet>
      <dgm:spPr>
        <a:effectLst>
          <a:outerShdw blurRad="50800" dist="38100" dir="2700000" algn="tl" rotWithShape="0">
            <a:prstClr val="black">
              <a:alpha val="40000"/>
            </a:prstClr>
          </a:outerShdw>
        </a:effectLst>
      </dgm:spPr>
      <dgm:t>
        <a:bodyPr vert="horz" wrap="square"/>
        <a:lstStyle/>
        <a:p>
          <a:pPr algn="l">
            <a:lnSpc>
              <a:spcPct val="100000"/>
            </a:lnSpc>
            <a:spcBef>
              <a:spcPct val="0"/>
            </a:spcBef>
            <a:spcAft>
              <a:spcPct val="35000"/>
            </a:spcAft>
          </a:pPr>
          <a:endParaRPr sz="1400" b="1">
            <a:solidFill>
              <a:srgbClr val="FF0000"/>
            </a:solidFill>
            <a:latin typeface="微软雅黑" panose="020B0503020204020204" pitchFamily="34" charset="-122"/>
            <a:ea typeface="微软雅黑" panose="020B0503020204020204" pitchFamily="34" charset="-122"/>
            <a:sym typeface="+mn-ea"/>
          </a:endParaRPr>
        </a:p>
        <a:p>
          <a:pPr algn="l">
            <a:lnSpc>
              <a:spcPct val="100000"/>
            </a:lnSpc>
            <a:spcBef>
              <a:spcPct val="0"/>
            </a:spcBef>
            <a:spcAft>
              <a:spcPct val="35000"/>
            </a:spcAft>
          </a:pPr>
          <a:r>
            <a:rPr sz="1400" b="1">
              <a:solidFill>
                <a:srgbClr val="FF0000"/>
              </a:solidFill>
              <a:latin typeface="微软雅黑" panose="020B0503020204020204" pitchFamily="34" charset="-122"/>
              <a:ea typeface="微软雅黑" panose="020B0503020204020204" pitchFamily="34" charset="-122"/>
              <a:sym typeface="+mn-ea"/>
            </a:rPr>
            <a:t>凝聚的层次聚类：</a:t>
          </a:r>
          <a:r>
            <a:rPr sz="1400" b="1">
              <a:latin typeface="等线" panose="02010600030101010101" pitchFamily="2" charset="-122"/>
              <a:ea typeface="等线" panose="02010600030101010101" pitchFamily="2" charset="-122"/>
              <a:sym typeface="+mn-ea"/>
            </a:rPr>
            <a:t>一种自底向上的策略，首先将每个对象作为一个簇，然后合并这些原子簇为越来越大的簇，直到某个终结条件被满足。</a:t>
          </a:r>
        </a:p>
        <a:p>
          <a:pPr algn="l">
            <a:lnSpc>
              <a:spcPct val="100000"/>
            </a:lnSpc>
            <a:spcBef>
              <a:spcPct val="0"/>
            </a:spcBef>
            <a:spcAft>
              <a:spcPct val="35000"/>
            </a:spcAft>
          </a:pPr>
          <a:r>
            <a:rPr sz="1400" b="1">
              <a:latin typeface="等线" panose="02010600030101010101" pitchFamily="2" charset="-122"/>
              <a:ea typeface="等线" panose="02010600030101010101" pitchFamily="2" charset="-122"/>
              <a:sym typeface="+mn-ea"/>
            </a:rPr>
            <a:t>分裂的层次聚类：采用自顶向下的策略，它首先将所有对象置于一个簇中，然后逐渐细分为越来越小的簇，直到达到了某个终结条件。</a:t>
          </a:r>
        </a:p>
        <a:p>
          <a:pPr algn="l">
            <a:lnSpc>
              <a:spcPct val="100000"/>
            </a:lnSpc>
            <a:spcBef>
              <a:spcPct val="0"/>
            </a:spcBef>
            <a:spcAft>
              <a:spcPct val="35000"/>
            </a:spcAft>
          </a:pPr>
          <a:r>
            <a:rPr sz="1500">
              <a:highlight>
                <a:srgbClr val="00FF00"/>
              </a:highlight>
              <a:sym typeface="+mn-ea"/>
            </a:rPr>
            <a:t>代表算法：BRICH、CURE和ROCK等算法。</a:t>
          </a:r>
          <a:endParaRPr lang="en-US" altLang="zh-CN" sz="1500" b="1" kern="1200">
            <a:solidFill>
              <a:prstClr val="black"/>
            </a:solidFill>
            <a:latin typeface="等线" panose="02010600030101010101" pitchFamily="2" charset="-122"/>
            <a:ea typeface="等线" panose="02010600030101010101" pitchFamily="2" charset="-122"/>
            <a:cs typeface="+mn-cs"/>
          </a:endParaRPr>
        </a:p>
        <a:p>
          <a:pPr algn="l">
            <a:lnSpc>
              <a:spcPct val="100000"/>
            </a:lnSpc>
            <a:spcBef>
              <a:spcPct val="0"/>
            </a:spcBef>
            <a:spcAft>
              <a:spcPct val="35000"/>
            </a:spcAft>
          </a:pPr>
          <a:endParaRPr lang="zh-CN" sz="1500" b="1" kern="1200">
            <a:solidFill>
              <a:prstClr val="black"/>
            </a:solidFill>
            <a:latin typeface="等线" panose="02010600030101010101" pitchFamily="2" charset="-122"/>
            <a:ea typeface="等线" panose="02010600030101010101" pitchFamily="2" charset="-122"/>
            <a:cs typeface="+mn-cs"/>
          </a:endParaRPr>
        </a:p>
      </dgm:t>
    </dgm:pt>
    <dgm:pt modelId="{D7F22CC6-B431-4A4D-9C3A-F271F7ADF0FF}" type="parTrans" cxnId="{08913126-E594-46D3-9486-32CA44CAFCF9}">
      <dgm:prSet/>
      <dgm:spPr/>
      <dgm:t>
        <a:bodyPr/>
        <a:lstStyle/>
        <a:p>
          <a:endParaRPr lang="zh-CN" altLang="en-US"/>
        </a:p>
      </dgm:t>
    </dgm:pt>
    <dgm:pt modelId="{56926B01-CF24-47EC-B747-5C1E8C766E74}" type="sibTrans" cxnId="{08913126-E594-46D3-9486-32CA44CAFCF9}">
      <dgm:prSet/>
      <dgm:spPr/>
      <dgm:t>
        <a:bodyPr/>
        <a:lstStyle/>
        <a:p>
          <a:endParaRPr lang="zh-CN" altLang="en-US"/>
        </a:p>
      </dgm:t>
    </dgm:pt>
    <dgm:pt modelId="{A74E8BC6-25D1-4F9B-B016-EC87DC87C9A7}">
      <dgm:prSet phldr="0" custT="1">
        <dgm:style>
          <a:lnRef idx="2">
            <a:schemeClr val="accent4"/>
          </a:lnRef>
          <a:fillRef idx="1">
            <a:schemeClr val="lt1"/>
          </a:fillRef>
          <a:effectRef idx="0">
            <a:schemeClr val="accent4"/>
          </a:effectRef>
          <a:fontRef idx="minor">
            <a:schemeClr val="dk1"/>
          </a:fontRef>
        </dgm:style>
      </dgm:prSet>
      <dgm:spPr>
        <a:effectLst>
          <a:outerShdw blurRad="50800" dist="38100" dir="2700000" algn="tl" rotWithShape="0">
            <a:prstClr val="black">
              <a:alpha val="40000"/>
            </a:prstClr>
          </a:outerShdw>
        </a:effectLst>
      </dgm:spPr>
      <dgm:t>
        <a:bodyPr vert="horz" wrap="square" lIns="57150" tIns="57150" rIns="57150" bIns="57150" numCol="1" spcCol="1270" anchor="ctr" anchorCtr="0"/>
        <a:lstStyle/>
        <a:p>
          <a:pPr algn="l" defTabSz="622300">
            <a:lnSpc>
              <a:spcPct val="90000"/>
            </a:lnSpc>
            <a:spcBef>
              <a:spcPct val="0"/>
            </a:spcBef>
            <a:spcAft>
              <a:spcPct val="35000"/>
            </a:spcAft>
          </a:pPr>
          <a:r>
            <a:rPr sz="1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基于密度的方法(density-based methods)</a:t>
          </a:r>
          <a:r>
            <a:rPr lang="zh-CN" sz="1400" b="1" kern="12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sz="1400" b="1">
              <a:latin typeface="等线" panose="02010600030101010101" pitchFamily="2" charset="-122"/>
              <a:ea typeface="等线" panose="02010600030101010101" pitchFamily="2" charset="-122"/>
              <a:cs typeface="等线" panose="02010600030101010101" pitchFamily="2" charset="-122"/>
              <a:sym typeface="+mn-ea"/>
            </a:rPr>
            <a:t>密度聚类方法的指导思想是，只要一个区域中的点的密度大于某个域值，就把它加到与之相近的聚类中去。这类算法能克服基于距离的算法只能发现“类圆形”的聚类的缺点，可发现任意形状的聚类，且对噪声数据不敏感。</a:t>
          </a:r>
        </a:p>
        <a:p>
          <a:pPr algn="l" defTabSz="622300">
            <a:lnSpc>
              <a:spcPct val="90000"/>
            </a:lnSpc>
            <a:spcBef>
              <a:spcPct val="0"/>
            </a:spcBef>
            <a:spcAft>
              <a:spcPct val="35000"/>
            </a:spcAft>
          </a:pPr>
          <a:r>
            <a:rPr sz="1400">
              <a:highlight>
                <a:srgbClr val="00FF00"/>
              </a:highlight>
              <a:sym typeface="+mn-ea"/>
            </a:rPr>
            <a:t>代表算法：DBSCAN、OPTICS和DENCLUE等算法。</a:t>
          </a:r>
          <a:endParaRPr lang="zh-CN" sz="1400" b="1" kern="1200">
            <a:solidFill>
              <a:schemeClr val="tx1"/>
            </a:solidFill>
            <a:latin typeface="等线" panose="02010600030101010101" pitchFamily="2" charset="-122"/>
            <a:ea typeface="等线" panose="02010600030101010101" pitchFamily="2" charset="-122"/>
            <a:cs typeface="等线" panose="02010600030101010101" pitchFamily="2" charset="-122"/>
          </a:endParaRPr>
        </a:p>
      </dgm:t>
    </dgm:pt>
    <dgm:pt modelId="{5AC5C004-693E-42EF-BE2D-46F86EC119E7}" type="parTrans" cxnId="{7E740961-1A1D-4E86-B1D1-EFE6D5024481}">
      <dgm:prSet/>
      <dgm:spPr/>
      <dgm:t>
        <a:bodyPr/>
        <a:lstStyle/>
        <a:p>
          <a:endParaRPr lang="zh-CN" altLang="en-US"/>
        </a:p>
      </dgm:t>
    </dgm:pt>
    <dgm:pt modelId="{25B5046D-B539-4F2F-8908-CC787D3DEA72}" type="sibTrans" cxnId="{7E740961-1A1D-4E86-B1D1-EFE6D5024481}">
      <dgm:prSet/>
      <dgm:spPr/>
      <dgm:t>
        <a:bodyPr/>
        <a:lstStyle/>
        <a:p>
          <a:endParaRPr lang="zh-CN" altLang="en-US"/>
        </a:p>
      </dgm:t>
    </dgm:pt>
    <dgm:pt modelId="{C84AD586-4D50-4E17-839E-0D3FBBC1A715}">
      <dgm:prSet phldr="0" custT="1">
        <dgm:style>
          <a:lnRef idx="2">
            <a:schemeClr val="accent4"/>
          </a:lnRef>
          <a:fillRef idx="1">
            <a:schemeClr val="lt1"/>
          </a:fillRef>
          <a:effectRef idx="0">
            <a:schemeClr val="accent4"/>
          </a:effectRef>
          <a:fontRef idx="minor">
            <a:schemeClr val="dk1"/>
          </a:fontRef>
        </dgm:style>
      </dgm:prSet>
      <dgm:spPr>
        <a:effectLst>
          <a:outerShdw blurRad="50800" dist="38100" dir="2700000" algn="tl" rotWithShape="0">
            <a:prstClr val="black">
              <a:alpha val="40000"/>
            </a:prstClr>
          </a:outerShdw>
        </a:effectLst>
      </dgm:spPr>
      <dgm:t>
        <a:bodyPr vert="horz" wrap="square" lIns="57150" tIns="57150" rIns="57150" bIns="57150" numCol="1" spcCol="1270" anchor="ctr" anchorCtr="0"/>
        <a:lstStyle/>
        <a:p>
          <a:pPr algn="l" defTabSz="622300">
            <a:lnSpc>
              <a:spcPct val="90000"/>
            </a:lnSpc>
            <a:spcBef>
              <a:spcPct val="0"/>
            </a:spcBef>
            <a:spcAft>
              <a:spcPct val="35000"/>
            </a:spcAft>
          </a:pPr>
          <a:r>
            <a:rPr sz="1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基于网格的方法(grid-basedmethods)</a:t>
          </a:r>
          <a:r>
            <a:rPr lang="zh-CN" sz="1400" b="1" kern="12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sz="1400" b="1" kern="1200">
              <a:solidFill>
                <a:prstClr val="black"/>
              </a:solidFill>
              <a:latin typeface="微软雅黑" panose="020B0503020204020204" pitchFamily="34" charset="-122"/>
              <a:ea typeface="微软雅黑" panose="020B0503020204020204" pitchFamily="34" charset="-122"/>
              <a:cs typeface="+mn-cs"/>
            </a:rPr>
            <a:t> </a:t>
          </a:r>
          <a:r>
            <a:rPr lang="en-US" sz="1400">
              <a:sym typeface="+mn-ea"/>
            </a:rPr>
            <a:t> </a:t>
          </a:r>
        </a:p>
        <a:p>
          <a:pPr algn="l" defTabSz="622300">
            <a:lnSpc>
              <a:spcPct val="90000"/>
            </a:lnSpc>
            <a:spcBef>
              <a:spcPct val="0"/>
            </a:spcBef>
            <a:spcAft>
              <a:spcPct val="35000"/>
            </a:spcAft>
          </a:pPr>
          <a:r>
            <a:rPr sz="1400" b="1">
              <a:latin typeface="等线" panose="02010600030101010101" pitchFamily="2" charset="-122"/>
              <a:ea typeface="等线" panose="02010600030101010101" pitchFamily="2" charset="-122"/>
              <a:sym typeface="+mn-ea"/>
            </a:rPr>
            <a:t>该方法是一种使用多分辨率的网格数据结构。它将对象空间量化为有限数目的单元，这些单元形成了网格结构，所有的聚类操作都在该结构上进行。</a:t>
          </a:r>
        </a:p>
        <a:p>
          <a:pPr algn="l" defTabSz="622300">
            <a:lnSpc>
              <a:spcPct val="90000"/>
            </a:lnSpc>
            <a:spcBef>
              <a:spcPct val="0"/>
            </a:spcBef>
            <a:spcAft>
              <a:spcPct val="35000"/>
            </a:spcAft>
          </a:pPr>
          <a:r>
            <a:rPr lang="en-US" sz="1400">
              <a:sym typeface="+mn-ea"/>
            </a:rPr>
            <a:t>  </a:t>
          </a:r>
          <a:r>
            <a:rPr sz="1400">
              <a:highlight>
                <a:srgbClr val="00FF00"/>
              </a:highlight>
              <a:sym typeface="+mn-ea"/>
            </a:rPr>
            <a:t>代表算法：CLIQUE、 STING等算法。</a:t>
          </a:r>
          <a:endParaRPr lang="zh-CN" sz="1400" b="1" kern="1200">
            <a:solidFill>
              <a:prstClr val="black"/>
            </a:solidFill>
            <a:latin typeface="等线" panose="02010600030101010101" pitchFamily="2" charset="-122"/>
            <a:ea typeface="等线" panose="02010600030101010101" pitchFamily="2" charset="-122"/>
            <a:cs typeface="+mn-cs"/>
            <a:sym typeface="+mn-ea"/>
          </a:endParaRPr>
        </a:p>
      </dgm:t>
    </dgm:pt>
    <dgm:pt modelId="{261B6E8E-834C-4276-9046-801AD2D35065}" type="parTrans" cxnId="{9D424431-93D1-40D3-A53F-7B60691C52D0}">
      <dgm:prSet/>
      <dgm:spPr/>
      <dgm:t>
        <a:bodyPr/>
        <a:lstStyle/>
        <a:p>
          <a:endParaRPr lang="zh-CN" altLang="en-US"/>
        </a:p>
      </dgm:t>
    </dgm:pt>
    <dgm:pt modelId="{E29A8147-950F-455A-97F7-D4D43AD9DC6F}" type="sibTrans" cxnId="{9D424431-93D1-40D3-A53F-7B60691C52D0}">
      <dgm:prSet/>
      <dgm:spPr/>
      <dgm:t>
        <a:bodyPr/>
        <a:lstStyle/>
        <a:p>
          <a:endParaRPr lang="zh-CN" altLang="en-US"/>
        </a:p>
      </dgm:t>
    </dgm:pt>
    <dgm:pt modelId="{95B1ABD2-F4DC-43D3-BD20-2530EB102C43}" type="pres">
      <dgm:prSet presAssocID="{A9BCB7CA-4058-4961-8B72-7F0A36371207}" presName="diagram" presStyleCnt="0">
        <dgm:presLayoutVars>
          <dgm:dir/>
          <dgm:resizeHandles val="exact"/>
        </dgm:presLayoutVars>
      </dgm:prSet>
      <dgm:spPr/>
    </dgm:pt>
    <dgm:pt modelId="{DE671073-EABD-40C6-895B-BF187AA98700}" type="pres">
      <dgm:prSet presAssocID="{2A5FC6F5-CC10-47AC-B171-F18D3D8CEB62}" presName="node" presStyleLbl="node1" presStyleIdx="0" presStyleCnt="4" custScaleX="162727" custScaleY="114482" custLinFactNeighborX="5174" custLinFactNeighborY="5714">
        <dgm:presLayoutVars>
          <dgm:bulletEnabled val="1"/>
        </dgm:presLayoutVars>
      </dgm:prSet>
      <dgm:spPr>
        <a:xfrm>
          <a:off x="409508" y="718"/>
          <a:ext cx="3261315" cy="1811841"/>
        </a:xfrm>
        <a:prstGeom prst="rect">
          <a:avLst/>
        </a:prstGeom>
      </dgm:spPr>
    </dgm:pt>
    <dgm:pt modelId="{19C9195F-357F-4D81-A2BB-122F9286369F}" type="pres">
      <dgm:prSet presAssocID="{9C9736E4-9E86-45EF-90FE-E33F1427DE6F}" presName="sibTrans" presStyleCnt="0"/>
      <dgm:spPr/>
    </dgm:pt>
    <dgm:pt modelId="{BE6D7AD3-975C-4C30-AB56-B0CE0F7D1A39}" type="pres">
      <dgm:prSet presAssocID="{FC55E103-BABA-4ABF-AB50-A81D208E846C}" presName="node" presStyleLbl="node1" presStyleIdx="1" presStyleCnt="4" custScaleX="130031" custScaleY="116520" custLinFactNeighborY="7866">
        <dgm:presLayoutVars>
          <dgm:bulletEnabled val="1"/>
        </dgm:presLayoutVars>
      </dgm:prSet>
      <dgm:spPr/>
    </dgm:pt>
    <dgm:pt modelId="{6E4003B5-975D-4469-8B53-5A6ACD750E07}" type="pres">
      <dgm:prSet presAssocID="{56926B01-CF24-47EC-B747-5C1E8C766E74}" presName="sibTrans" presStyleCnt="0"/>
      <dgm:spPr/>
    </dgm:pt>
    <dgm:pt modelId="{A6F82ED9-5ECB-4EBE-98E3-8BAD1B98551D}" type="pres">
      <dgm:prSet presAssocID="{A74E8BC6-25D1-4F9B-B016-EC87DC87C9A7}" presName="node" presStyleLbl="node1" presStyleIdx="2" presStyleCnt="4" custScaleX="163601" custScaleY="99255" custLinFactNeighborX="4017" custLinFactNeighborY="-3069">
        <dgm:presLayoutVars>
          <dgm:bulletEnabled val="1"/>
        </dgm:presLayoutVars>
      </dgm:prSet>
      <dgm:spPr>
        <a:xfrm>
          <a:off x="417550" y="2116051"/>
          <a:ext cx="3253272" cy="1807380"/>
        </a:xfrm>
        <a:prstGeom prst="rect">
          <a:avLst/>
        </a:prstGeom>
      </dgm:spPr>
    </dgm:pt>
    <dgm:pt modelId="{2FBAA79D-B870-4619-BE92-EE7240C3FE58}" type="pres">
      <dgm:prSet presAssocID="{25B5046D-B539-4F2F-8908-CC787D3DEA72}" presName="sibTrans" presStyleCnt="0"/>
      <dgm:spPr/>
    </dgm:pt>
    <dgm:pt modelId="{DE4A3BF8-84B3-4B8F-A3FE-94BCB6C821D4}" type="pres">
      <dgm:prSet presAssocID="{C84AD586-4D50-4E17-839E-0D3FBBC1A715}" presName="node" presStyleLbl="node1" presStyleIdx="3" presStyleCnt="4" custScaleX="128117" custScaleY="97137" custLinFactNeighborX="4" custLinFactNeighborY="-2233">
        <dgm:presLayoutVars>
          <dgm:bulletEnabled val="1"/>
        </dgm:presLayoutVars>
      </dgm:prSet>
      <dgm:spPr>
        <a:xfrm>
          <a:off x="3974314" y="2119384"/>
          <a:ext cx="3253272" cy="1800715"/>
        </a:xfrm>
        <a:prstGeom prst="rect">
          <a:avLst/>
        </a:prstGeom>
      </dgm:spPr>
    </dgm:pt>
  </dgm:ptLst>
  <dgm:cxnLst>
    <dgm:cxn modelId="{4B90C522-C766-470C-9683-E72A1DA0C399}" type="presOf" srcId="{2A5FC6F5-CC10-47AC-B171-F18D3D8CEB62}" destId="{DE671073-EABD-40C6-895B-BF187AA98700}" srcOrd="0" destOrd="0" presId="urn:microsoft.com/office/officeart/2005/8/layout/default#1"/>
    <dgm:cxn modelId="{08913126-E594-46D3-9486-32CA44CAFCF9}" srcId="{A9BCB7CA-4058-4961-8B72-7F0A36371207}" destId="{FC55E103-BABA-4ABF-AB50-A81D208E846C}" srcOrd="1" destOrd="0" parTransId="{D7F22CC6-B431-4A4D-9C3A-F271F7ADF0FF}" sibTransId="{56926B01-CF24-47EC-B747-5C1E8C766E74}"/>
    <dgm:cxn modelId="{990F0A31-ECD3-4C77-B11B-465291EEA1D6}" type="presOf" srcId="{FC55E103-BABA-4ABF-AB50-A81D208E846C}" destId="{BE6D7AD3-975C-4C30-AB56-B0CE0F7D1A39}" srcOrd="0" destOrd="0" presId="urn:microsoft.com/office/officeart/2005/8/layout/default#1"/>
    <dgm:cxn modelId="{9D424431-93D1-40D3-A53F-7B60691C52D0}" srcId="{A9BCB7CA-4058-4961-8B72-7F0A36371207}" destId="{C84AD586-4D50-4E17-839E-0D3FBBC1A715}" srcOrd="3" destOrd="0" parTransId="{261B6E8E-834C-4276-9046-801AD2D35065}" sibTransId="{E29A8147-950F-455A-97F7-D4D43AD9DC6F}"/>
    <dgm:cxn modelId="{C7709C3A-E902-4354-9026-246A3A817CC6}" type="presOf" srcId="{C84AD586-4D50-4E17-839E-0D3FBBC1A715}" destId="{DE4A3BF8-84B3-4B8F-A3FE-94BCB6C821D4}" srcOrd="0" destOrd="0" presId="urn:microsoft.com/office/officeart/2005/8/layout/default#1"/>
    <dgm:cxn modelId="{7E740961-1A1D-4E86-B1D1-EFE6D5024481}" srcId="{A9BCB7CA-4058-4961-8B72-7F0A36371207}" destId="{A74E8BC6-25D1-4F9B-B016-EC87DC87C9A7}" srcOrd="2" destOrd="0" parTransId="{5AC5C004-693E-42EF-BE2D-46F86EC119E7}" sibTransId="{25B5046D-B539-4F2F-8908-CC787D3DEA72}"/>
    <dgm:cxn modelId="{3BD87982-BAD0-4251-9F92-BCA632BDCD66}" type="presOf" srcId="{A9BCB7CA-4058-4961-8B72-7F0A36371207}" destId="{95B1ABD2-F4DC-43D3-BD20-2530EB102C43}" srcOrd="0" destOrd="0" presId="urn:microsoft.com/office/officeart/2005/8/layout/default#1"/>
    <dgm:cxn modelId="{07F651C2-3B66-4BE6-955C-3A48DF71527A}" type="presOf" srcId="{A74E8BC6-25D1-4F9B-B016-EC87DC87C9A7}" destId="{A6F82ED9-5ECB-4EBE-98E3-8BAD1B98551D}" srcOrd="0" destOrd="0" presId="urn:microsoft.com/office/officeart/2005/8/layout/default#1"/>
    <dgm:cxn modelId="{EB2849D3-1B81-4D91-AEA5-F0033DA762D4}" srcId="{A9BCB7CA-4058-4961-8B72-7F0A36371207}" destId="{2A5FC6F5-CC10-47AC-B171-F18D3D8CEB62}" srcOrd="0" destOrd="0" parTransId="{D434E9F8-AF12-4185-8617-946E502F6C9F}" sibTransId="{9C9736E4-9E86-45EF-90FE-E33F1427DE6F}"/>
    <dgm:cxn modelId="{40AABB70-DA2E-4D55-8C5F-54B9FD553EA1}" type="presParOf" srcId="{95B1ABD2-F4DC-43D3-BD20-2530EB102C43}" destId="{DE671073-EABD-40C6-895B-BF187AA98700}" srcOrd="0" destOrd="0" presId="urn:microsoft.com/office/officeart/2005/8/layout/default#1"/>
    <dgm:cxn modelId="{3971D327-7F57-4C55-966C-6390AE7B000D}" type="presParOf" srcId="{95B1ABD2-F4DC-43D3-BD20-2530EB102C43}" destId="{19C9195F-357F-4D81-A2BB-122F9286369F}" srcOrd="1" destOrd="0" presId="urn:microsoft.com/office/officeart/2005/8/layout/default#1"/>
    <dgm:cxn modelId="{9CFD7403-578F-4888-920F-77FEF340C708}" type="presParOf" srcId="{95B1ABD2-F4DC-43D3-BD20-2530EB102C43}" destId="{BE6D7AD3-975C-4C30-AB56-B0CE0F7D1A39}" srcOrd="2" destOrd="0" presId="urn:microsoft.com/office/officeart/2005/8/layout/default#1"/>
    <dgm:cxn modelId="{F77CACE7-894B-4970-B797-D03B9B9F7157}" type="presParOf" srcId="{95B1ABD2-F4DC-43D3-BD20-2530EB102C43}" destId="{6E4003B5-975D-4469-8B53-5A6ACD750E07}" srcOrd="3" destOrd="0" presId="urn:microsoft.com/office/officeart/2005/8/layout/default#1"/>
    <dgm:cxn modelId="{66221AD5-57BE-4C58-AC08-9414C8998BAA}" type="presParOf" srcId="{95B1ABD2-F4DC-43D3-BD20-2530EB102C43}" destId="{A6F82ED9-5ECB-4EBE-98E3-8BAD1B98551D}" srcOrd="4" destOrd="0" presId="urn:microsoft.com/office/officeart/2005/8/layout/default#1"/>
    <dgm:cxn modelId="{32633942-2ACD-4424-8623-708CCCB2CA63}" type="presParOf" srcId="{95B1ABD2-F4DC-43D3-BD20-2530EB102C43}" destId="{2FBAA79D-B870-4619-BE92-EE7240C3FE58}" srcOrd="5" destOrd="0" presId="urn:microsoft.com/office/officeart/2005/8/layout/default#1"/>
    <dgm:cxn modelId="{820C3A65-C6ED-4109-B38D-C02C0BB07900}" type="presParOf" srcId="{95B1ABD2-F4DC-43D3-BD20-2530EB102C43}" destId="{DE4A3BF8-84B3-4B8F-A3FE-94BCB6C821D4}" srcOrd="6" destOrd="0" presId="urn:microsoft.com/office/officeart/2005/8/layout/defaul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671073-EABD-40C6-895B-BF187AA98700}">
      <dsp:nvSpPr>
        <dsp:cNvPr id="0" name=""/>
        <dsp:cNvSpPr/>
      </dsp:nvSpPr>
      <dsp:spPr>
        <a:xfrm>
          <a:off x="180437" y="120649"/>
          <a:ext cx="4754256" cy="2006834"/>
        </a:xfrm>
        <a:prstGeom prst="rect">
          <a:avLst/>
        </a:prstGeom>
        <a:solidFill>
          <a:schemeClr val="lt1"/>
        </a:solidFill>
        <a:ln w="12700" cap="flat" cmpd="sng" algn="ctr">
          <a:solidFill>
            <a:schemeClr val="accent4"/>
          </a:solidFill>
          <a:prstDash val="solid"/>
          <a:miter lim="800000"/>
        </a:ln>
        <a:effectLst>
          <a:outerShdw blurRad="50800" dist="38100" dir="2700000" algn="tl" rotWithShape="0">
            <a:prstClr val="black">
              <a:alpha val="40000"/>
            </a:prstClr>
          </a:outerShdw>
        </a:effectLst>
      </dsp:spPr>
      <dsp:style>
        <a:lnRef idx="2">
          <a:schemeClr val="accent4"/>
        </a:lnRef>
        <a:fillRef idx="1">
          <a:schemeClr val="lt1"/>
        </a:fillRef>
        <a:effectRef idx="0">
          <a:schemeClr val="accent4"/>
        </a:effectRef>
        <a:fontRef idx="minor">
          <a:schemeClr val="dk1"/>
        </a:fontRef>
      </dsp:style>
      <dsp:txBody>
        <a:bodyPr spcFirstLastPara="0" vert="horz" wrap="square" lIns="57150" tIns="57150" rIns="57150" bIns="57150" numCol="1" spcCol="1270" anchor="ctr" anchorCtr="0">
          <a:noAutofit/>
        </a:bodyPr>
        <a:lstStyle/>
        <a:p>
          <a:pPr marL="0" lvl="0" indent="0" algn="l" defTabSz="622300">
            <a:lnSpc>
              <a:spcPct val="100000"/>
            </a:lnSpc>
            <a:spcBef>
              <a:spcPct val="0"/>
            </a:spcBef>
            <a:spcAft>
              <a:spcPct val="35000"/>
            </a:spcAft>
            <a:buNone/>
          </a:pPr>
          <a:r>
            <a:rPr sz="1400" b="1">
              <a:solidFill>
                <a:srgbClr val="FF0000"/>
              </a:solidFill>
              <a:latin typeface="微软雅黑" panose="020B0503020204020204" pitchFamily="34" charset="-122"/>
              <a:ea typeface="微软雅黑" panose="020B0503020204020204" pitchFamily="34" charset="-122"/>
              <a:sym typeface="+mn-ea"/>
            </a:rPr>
            <a:t>划分聚类方法</a:t>
          </a:r>
          <a:r>
            <a:rPr sz="1400" b="1">
              <a:sym typeface="+mn-ea"/>
            </a:rPr>
            <a:t>(partitioning methods)</a:t>
          </a:r>
          <a:r>
            <a:rPr lang="zh-CN" sz="1400" b="1">
              <a:sym typeface="+mn-ea"/>
            </a:rPr>
            <a:t>：</a:t>
          </a:r>
          <a:r>
            <a:rPr sz="1400" b="1">
              <a:latin typeface="等线" panose="02010600030101010101" pitchFamily="2" charset="-122"/>
              <a:ea typeface="等线" panose="02010600030101010101" pitchFamily="2" charset="-122"/>
              <a:cs typeface="等线" panose="02010600030101010101" pitchFamily="2" charset="-122"/>
              <a:sym typeface="+mn-ea"/>
            </a:rPr>
            <a:t>给定一个有n个对象的数据集，划分聚类技术将构造数据k个划分（k n），每一个划分就代表一个簇。并要求每一个簇至少包含一个对象，每一个对象属于且仅属于一个簇。</a:t>
          </a:r>
        </a:p>
        <a:p>
          <a:pPr marL="0" lvl="0" indent="0" algn="l" defTabSz="622300">
            <a:lnSpc>
              <a:spcPct val="100000"/>
            </a:lnSpc>
            <a:spcBef>
              <a:spcPct val="0"/>
            </a:spcBef>
            <a:spcAft>
              <a:spcPct val="35000"/>
            </a:spcAft>
            <a:buNone/>
          </a:pPr>
          <a:r>
            <a:rPr sz="1400">
              <a:highlight>
                <a:srgbClr val="00FF00"/>
              </a:highlight>
              <a:sym typeface="+mn-ea"/>
            </a:rPr>
            <a:t>代表算法：K-Means、 K-medoids和CLARANS等算法。</a:t>
          </a:r>
          <a:endParaRPr lang="en-US" sz="1400" b="1" kern="1200">
            <a:solidFill>
              <a:prstClr val="black"/>
            </a:solidFill>
            <a:latin typeface="等线" panose="02010600030101010101" pitchFamily="2" charset="-122"/>
            <a:ea typeface="等线" panose="02010600030101010101" pitchFamily="2" charset="-122"/>
            <a:cs typeface="等线" panose="02010600030101010101" pitchFamily="2" charset="-122"/>
            <a:sym typeface="+mn-ea"/>
          </a:endParaRPr>
        </a:p>
      </dsp:txBody>
      <dsp:txXfrm>
        <a:off x="180437" y="120649"/>
        <a:ext cx="4754256" cy="2006834"/>
      </dsp:txXfrm>
    </dsp:sp>
    <dsp:sp modelId="{BE6D7AD3-975C-4C30-AB56-B0CE0F7D1A39}">
      <dsp:nvSpPr>
        <dsp:cNvPr id="0" name=""/>
        <dsp:cNvSpPr/>
      </dsp:nvSpPr>
      <dsp:spPr>
        <a:xfrm>
          <a:off x="5075691" y="140510"/>
          <a:ext cx="3799005" cy="2042559"/>
        </a:xfrm>
        <a:prstGeom prst="rect">
          <a:avLst/>
        </a:prstGeom>
        <a:solidFill>
          <a:schemeClr val="lt1"/>
        </a:solidFill>
        <a:ln w="12700" cap="flat" cmpd="sng" algn="ctr">
          <a:solidFill>
            <a:schemeClr val="accent4"/>
          </a:solidFill>
          <a:prstDash val="solid"/>
          <a:miter lim="800000"/>
        </a:ln>
        <a:effectLst>
          <a:outerShdw blurRad="50800" dist="38100" dir="2700000" algn="tl" rotWithShape="0">
            <a:prstClr val="black">
              <a:alpha val="40000"/>
            </a:prstClr>
          </a:outerShdw>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100000"/>
            </a:lnSpc>
            <a:spcBef>
              <a:spcPct val="0"/>
            </a:spcBef>
            <a:spcAft>
              <a:spcPct val="35000"/>
            </a:spcAft>
            <a:buNone/>
          </a:pPr>
          <a:endParaRPr sz="1400" b="1">
            <a:solidFill>
              <a:srgbClr val="FF0000"/>
            </a:solidFill>
            <a:latin typeface="微软雅黑" panose="020B0503020204020204" pitchFamily="34" charset="-122"/>
            <a:ea typeface="微软雅黑" panose="020B0503020204020204" pitchFamily="34" charset="-122"/>
            <a:sym typeface="+mn-ea"/>
          </a:endParaRPr>
        </a:p>
        <a:p>
          <a:pPr marL="0" lvl="0" indent="0" algn="l" defTabSz="622300">
            <a:lnSpc>
              <a:spcPct val="100000"/>
            </a:lnSpc>
            <a:spcBef>
              <a:spcPct val="0"/>
            </a:spcBef>
            <a:spcAft>
              <a:spcPct val="35000"/>
            </a:spcAft>
            <a:buNone/>
          </a:pPr>
          <a:r>
            <a:rPr sz="1400" b="1">
              <a:solidFill>
                <a:srgbClr val="FF0000"/>
              </a:solidFill>
              <a:latin typeface="微软雅黑" panose="020B0503020204020204" pitchFamily="34" charset="-122"/>
              <a:ea typeface="微软雅黑" panose="020B0503020204020204" pitchFamily="34" charset="-122"/>
              <a:sym typeface="+mn-ea"/>
            </a:rPr>
            <a:t>凝聚的层次聚类：</a:t>
          </a:r>
          <a:r>
            <a:rPr sz="1400" b="1">
              <a:latin typeface="等线" panose="02010600030101010101" pitchFamily="2" charset="-122"/>
              <a:ea typeface="等线" panose="02010600030101010101" pitchFamily="2" charset="-122"/>
              <a:sym typeface="+mn-ea"/>
            </a:rPr>
            <a:t>一种自底向上的策略，首先将每个对象作为一个簇，然后合并这些原子簇为越来越大的簇，直到某个终结条件被满足。</a:t>
          </a:r>
        </a:p>
        <a:p>
          <a:pPr marL="0" lvl="0" indent="0" algn="l" defTabSz="622300">
            <a:lnSpc>
              <a:spcPct val="100000"/>
            </a:lnSpc>
            <a:spcBef>
              <a:spcPct val="0"/>
            </a:spcBef>
            <a:spcAft>
              <a:spcPct val="35000"/>
            </a:spcAft>
            <a:buNone/>
          </a:pPr>
          <a:r>
            <a:rPr sz="1400" b="1">
              <a:latin typeface="等线" panose="02010600030101010101" pitchFamily="2" charset="-122"/>
              <a:ea typeface="等线" panose="02010600030101010101" pitchFamily="2" charset="-122"/>
              <a:sym typeface="+mn-ea"/>
            </a:rPr>
            <a:t>分裂的层次聚类：采用自顶向下的策略，它首先将所有对象置于一个簇中，然后逐渐细分为越来越小的簇，直到达到了某个终结条件。</a:t>
          </a:r>
        </a:p>
        <a:p>
          <a:pPr marL="0" lvl="0" indent="0" algn="l" defTabSz="622300">
            <a:lnSpc>
              <a:spcPct val="100000"/>
            </a:lnSpc>
            <a:spcBef>
              <a:spcPct val="0"/>
            </a:spcBef>
            <a:spcAft>
              <a:spcPct val="35000"/>
            </a:spcAft>
            <a:buNone/>
          </a:pPr>
          <a:r>
            <a:rPr sz="1500">
              <a:highlight>
                <a:srgbClr val="00FF00"/>
              </a:highlight>
              <a:sym typeface="+mn-ea"/>
            </a:rPr>
            <a:t>代表算法：BRICH、CURE和ROCK等算法。</a:t>
          </a:r>
          <a:endParaRPr lang="en-US" altLang="zh-CN" sz="1500" b="1" kern="1200">
            <a:solidFill>
              <a:prstClr val="black"/>
            </a:solidFill>
            <a:latin typeface="等线" panose="02010600030101010101" pitchFamily="2" charset="-122"/>
            <a:ea typeface="等线" panose="02010600030101010101" pitchFamily="2" charset="-122"/>
            <a:cs typeface="+mn-cs"/>
          </a:endParaRPr>
        </a:p>
        <a:p>
          <a:pPr marL="0" lvl="0" indent="0" algn="l" defTabSz="622300">
            <a:lnSpc>
              <a:spcPct val="100000"/>
            </a:lnSpc>
            <a:spcBef>
              <a:spcPct val="0"/>
            </a:spcBef>
            <a:spcAft>
              <a:spcPct val="35000"/>
            </a:spcAft>
            <a:buNone/>
          </a:pPr>
          <a:endParaRPr lang="zh-CN" sz="1500" b="1" kern="1200">
            <a:solidFill>
              <a:prstClr val="black"/>
            </a:solidFill>
            <a:latin typeface="等线" panose="02010600030101010101" pitchFamily="2" charset="-122"/>
            <a:ea typeface="等线" panose="02010600030101010101" pitchFamily="2" charset="-122"/>
            <a:cs typeface="+mn-cs"/>
          </a:endParaRPr>
        </a:p>
      </dsp:txBody>
      <dsp:txXfrm>
        <a:off x="5075691" y="140510"/>
        <a:ext cx="3799005" cy="2042559"/>
      </dsp:txXfrm>
    </dsp:sp>
    <dsp:sp modelId="{A6F82ED9-5ECB-4EBE-98E3-8BAD1B98551D}">
      <dsp:nvSpPr>
        <dsp:cNvPr id="0" name=""/>
        <dsp:cNvSpPr/>
      </dsp:nvSpPr>
      <dsp:spPr>
        <a:xfrm>
          <a:off x="161826" y="2283544"/>
          <a:ext cx="4779791" cy="1739909"/>
        </a:xfrm>
        <a:prstGeom prst="rect">
          <a:avLst/>
        </a:prstGeom>
        <a:solidFill>
          <a:schemeClr val="lt1"/>
        </a:solidFill>
        <a:ln w="12700" cap="flat" cmpd="sng" algn="ctr">
          <a:solidFill>
            <a:schemeClr val="accent4"/>
          </a:solidFill>
          <a:prstDash val="solid"/>
          <a:miter lim="800000"/>
        </a:ln>
        <a:effectLst>
          <a:outerShdw blurRad="50800" dist="38100" dir="2700000" algn="tl" rotWithShape="0">
            <a:prstClr val="black">
              <a:alpha val="40000"/>
            </a:prstClr>
          </a:outerShdw>
        </a:effectLst>
      </dsp:spPr>
      <dsp:style>
        <a:lnRef idx="2">
          <a:schemeClr val="accent4"/>
        </a:lnRef>
        <a:fillRef idx="1">
          <a:schemeClr val="lt1"/>
        </a:fillRef>
        <a:effectRef idx="0">
          <a:schemeClr val="accent4"/>
        </a:effectRef>
        <a:fontRef idx="minor">
          <a:schemeClr val="dk1"/>
        </a:fontRef>
      </dsp:style>
      <dsp:txBody>
        <a:bodyPr spcFirstLastPara="0" vert="horz" wrap="square" lIns="57150" tIns="57150" rIns="57150" bIns="57150" numCol="1" spcCol="1270" anchor="ctr" anchorCtr="0">
          <a:noAutofit/>
        </a:bodyPr>
        <a:lstStyle/>
        <a:p>
          <a:pPr marL="0" lvl="0" indent="0" algn="l" defTabSz="622300">
            <a:lnSpc>
              <a:spcPct val="90000"/>
            </a:lnSpc>
            <a:spcBef>
              <a:spcPct val="0"/>
            </a:spcBef>
            <a:spcAft>
              <a:spcPct val="35000"/>
            </a:spcAft>
            <a:buNone/>
          </a:pPr>
          <a:r>
            <a:rPr sz="1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基于密度的方法(density-based methods)</a:t>
          </a:r>
          <a:r>
            <a:rPr lang="zh-CN" sz="1400" b="1" kern="12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sz="1400" b="1">
              <a:latin typeface="等线" panose="02010600030101010101" pitchFamily="2" charset="-122"/>
              <a:ea typeface="等线" panose="02010600030101010101" pitchFamily="2" charset="-122"/>
              <a:cs typeface="等线" panose="02010600030101010101" pitchFamily="2" charset="-122"/>
              <a:sym typeface="+mn-ea"/>
            </a:rPr>
            <a:t>密度聚类方法的指导思想是，只要一个区域中的点的密度大于某个域值，就把它加到与之相近的聚类中去。这类算法能克服基于距离的算法只能发现“类圆形”的聚类的缺点，可发现任意形状的聚类，且对噪声数据不敏感。</a:t>
          </a:r>
        </a:p>
        <a:p>
          <a:pPr marL="0" lvl="0" indent="0" algn="l" defTabSz="622300">
            <a:lnSpc>
              <a:spcPct val="90000"/>
            </a:lnSpc>
            <a:spcBef>
              <a:spcPct val="0"/>
            </a:spcBef>
            <a:spcAft>
              <a:spcPct val="35000"/>
            </a:spcAft>
            <a:buNone/>
          </a:pPr>
          <a:r>
            <a:rPr sz="1400">
              <a:highlight>
                <a:srgbClr val="00FF00"/>
              </a:highlight>
              <a:sym typeface="+mn-ea"/>
            </a:rPr>
            <a:t>代表算法：DBSCAN、OPTICS和DENCLUE等算法。</a:t>
          </a:r>
          <a:endParaRPr lang="zh-CN" sz="1400" b="1" kern="1200">
            <a:solidFill>
              <a:schemeClr val="tx1"/>
            </a:solidFill>
            <a:latin typeface="等线" panose="02010600030101010101" pitchFamily="2" charset="-122"/>
            <a:ea typeface="等线" panose="02010600030101010101" pitchFamily="2" charset="-122"/>
            <a:cs typeface="等线" panose="02010600030101010101" pitchFamily="2" charset="-122"/>
          </a:endParaRPr>
        </a:p>
      </dsp:txBody>
      <dsp:txXfrm>
        <a:off x="161826" y="2283544"/>
        <a:ext cx="4779791" cy="1739909"/>
      </dsp:txXfrm>
    </dsp:sp>
    <dsp:sp modelId="{DE4A3BF8-84B3-4B8F-A3FE-94BCB6C821D4}">
      <dsp:nvSpPr>
        <dsp:cNvPr id="0" name=""/>
        <dsp:cNvSpPr/>
      </dsp:nvSpPr>
      <dsp:spPr>
        <a:xfrm>
          <a:off x="5116535" y="2316763"/>
          <a:ext cx="3743085" cy="1702781"/>
        </a:xfrm>
        <a:prstGeom prst="rect">
          <a:avLst/>
        </a:prstGeom>
        <a:solidFill>
          <a:schemeClr val="lt1"/>
        </a:solidFill>
        <a:ln w="12700" cap="flat" cmpd="sng" algn="ctr">
          <a:solidFill>
            <a:schemeClr val="accent4"/>
          </a:solidFill>
          <a:prstDash val="solid"/>
          <a:miter lim="800000"/>
        </a:ln>
        <a:effectLst>
          <a:outerShdw blurRad="50800" dist="38100" dir="2700000" algn="tl" rotWithShape="0">
            <a:prstClr val="black">
              <a:alpha val="40000"/>
            </a:prstClr>
          </a:outerShdw>
        </a:effectLst>
      </dsp:spPr>
      <dsp:style>
        <a:lnRef idx="2">
          <a:schemeClr val="accent4"/>
        </a:lnRef>
        <a:fillRef idx="1">
          <a:schemeClr val="lt1"/>
        </a:fillRef>
        <a:effectRef idx="0">
          <a:schemeClr val="accent4"/>
        </a:effectRef>
        <a:fontRef idx="minor">
          <a:schemeClr val="dk1"/>
        </a:fontRef>
      </dsp:style>
      <dsp:txBody>
        <a:bodyPr spcFirstLastPara="0" vert="horz" wrap="square" lIns="57150" tIns="57150" rIns="57150" bIns="57150" numCol="1" spcCol="1270" anchor="ctr" anchorCtr="0">
          <a:noAutofit/>
        </a:bodyPr>
        <a:lstStyle/>
        <a:p>
          <a:pPr marL="0" lvl="0" indent="0" algn="l" defTabSz="622300">
            <a:lnSpc>
              <a:spcPct val="90000"/>
            </a:lnSpc>
            <a:spcBef>
              <a:spcPct val="0"/>
            </a:spcBef>
            <a:spcAft>
              <a:spcPct val="35000"/>
            </a:spcAft>
            <a:buNone/>
          </a:pPr>
          <a:r>
            <a:rPr sz="1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基于网格的方法(grid-basedmethods)</a:t>
          </a:r>
          <a:r>
            <a:rPr lang="zh-CN" sz="1400" b="1" kern="12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sz="1400" b="1" kern="1200">
              <a:solidFill>
                <a:prstClr val="black"/>
              </a:solidFill>
              <a:latin typeface="微软雅黑" panose="020B0503020204020204" pitchFamily="34" charset="-122"/>
              <a:ea typeface="微软雅黑" panose="020B0503020204020204" pitchFamily="34" charset="-122"/>
              <a:cs typeface="+mn-cs"/>
            </a:rPr>
            <a:t> </a:t>
          </a:r>
          <a:r>
            <a:rPr lang="en-US" sz="1400">
              <a:sym typeface="+mn-ea"/>
            </a:rPr>
            <a:t> </a:t>
          </a:r>
        </a:p>
        <a:p>
          <a:pPr marL="0" lvl="0" indent="0" algn="l" defTabSz="622300">
            <a:lnSpc>
              <a:spcPct val="90000"/>
            </a:lnSpc>
            <a:spcBef>
              <a:spcPct val="0"/>
            </a:spcBef>
            <a:spcAft>
              <a:spcPct val="35000"/>
            </a:spcAft>
            <a:buNone/>
          </a:pPr>
          <a:r>
            <a:rPr sz="1400" b="1">
              <a:latin typeface="等线" panose="02010600030101010101" pitchFamily="2" charset="-122"/>
              <a:ea typeface="等线" panose="02010600030101010101" pitchFamily="2" charset="-122"/>
              <a:sym typeface="+mn-ea"/>
            </a:rPr>
            <a:t>该方法是一种使用多分辨率的网格数据结构。它将对象空间量化为有限数目的单元，这些单元形成了网格结构，所有的聚类操作都在该结构上进行。</a:t>
          </a:r>
        </a:p>
        <a:p>
          <a:pPr marL="0" lvl="0" indent="0" algn="l" defTabSz="622300">
            <a:lnSpc>
              <a:spcPct val="90000"/>
            </a:lnSpc>
            <a:spcBef>
              <a:spcPct val="0"/>
            </a:spcBef>
            <a:spcAft>
              <a:spcPct val="35000"/>
            </a:spcAft>
            <a:buNone/>
          </a:pPr>
          <a:r>
            <a:rPr lang="en-US" sz="1400">
              <a:sym typeface="+mn-ea"/>
            </a:rPr>
            <a:t>  </a:t>
          </a:r>
          <a:r>
            <a:rPr sz="1400">
              <a:highlight>
                <a:srgbClr val="00FF00"/>
              </a:highlight>
              <a:sym typeface="+mn-ea"/>
            </a:rPr>
            <a:t>代表算法：CLIQUE、 STING等算法。</a:t>
          </a:r>
          <a:endParaRPr lang="zh-CN" sz="1400" b="1" kern="1200">
            <a:solidFill>
              <a:prstClr val="black"/>
            </a:solidFill>
            <a:latin typeface="等线" panose="02010600030101010101" pitchFamily="2" charset="-122"/>
            <a:ea typeface="等线" panose="02010600030101010101" pitchFamily="2" charset="-122"/>
            <a:cs typeface="+mn-cs"/>
            <a:sym typeface="+mn-ea"/>
          </a:endParaRPr>
        </a:p>
      </dsp:txBody>
      <dsp:txXfrm>
        <a:off x="5116535" y="2316763"/>
        <a:ext cx="3743085" cy="1702781"/>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3D9ACA-1782-4FCB-A0EC-B2FE70654AFE}" type="datetimeFigureOut">
              <a:rPr lang="zh-CN" altLang="en-US" smtClean="0"/>
              <a:t>2022/12/8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6782627-E3EE-4561-A6E9-BC344C6B2724}"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E8BE76-29C8-41AB-8544-889D89FA4F96}" type="datetimeFigureOut">
              <a:rPr lang="zh-CN" altLang="en-US" smtClean="0"/>
              <a:t>2022/12/8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3AD677-048F-409F-AACD-0A0B5EF61C8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so.csdn.net/so/search?q=sklearn&amp;spm=1001.2101.3001.7020"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1</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2</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3</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4</a:t>
            </a:fld>
            <a:endParaRPr lang="zh-CN" altLang="en-US"/>
          </a:p>
        </p:txBody>
      </p:sp>
    </p:spTree>
    <p:extLst>
      <p:ext uri="{BB962C8B-B14F-4D97-AF65-F5344CB8AC3E}">
        <p14:creationId xmlns:p14="http://schemas.microsoft.com/office/powerpoint/2010/main" val="3229287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23</a:t>
            </a:fld>
            <a:endParaRPr lang="zh-CN" altLang="en-US"/>
          </a:p>
        </p:txBody>
      </p:sp>
    </p:spTree>
    <p:extLst>
      <p:ext uri="{BB962C8B-B14F-4D97-AF65-F5344CB8AC3E}">
        <p14:creationId xmlns:p14="http://schemas.microsoft.com/office/powerpoint/2010/main" val="17104858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26</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a:solidFill>
                  <a:schemeClr val="tx1"/>
                </a:solidFill>
                <a:effectLst/>
                <a:latin typeface="+mn-lt"/>
                <a:ea typeface="+mn-ea"/>
                <a:cs typeface="+mn-cs"/>
                <a:hlinkClick r:id="rId3"/>
              </a:rPr>
              <a:t>sklearn</a:t>
            </a:r>
            <a:r>
              <a:rPr lang="zh-CN" altLang="en-US" sz="1200" b="1" i="0" kern="1200">
                <a:solidFill>
                  <a:schemeClr val="tx1"/>
                </a:solidFill>
                <a:effectLst/>
                <a:latin typeface="+mn-lt"/>
                <a:ea typeface="+mn-ea"/>
                <a:cs typeface="+mn-cs"/>
              </a:rPr>
              <a:t>实现</a:t>
            </a:r>
            <a:r>
              <a:rPr lang="en-US" altLang="zh-CN" sz="1200" b="1" i="0" kern="1200">
                <a:solidFill>
                  <a:schemeClr val="tx1"/>
                </a:solidFill>
                <a:effectLst/>
                <a:latin typeface="+mn-lt"/>
                <a:ea typeface="+mn-ea"/>
                <a:cs typeface="+mn-cs"/>
              </a:rPr>
              <a:t>12</a:t>
            </a:r>
            <a:r>
              <a:rPr lang="zh-CN" altLang="en-US" sz="1200" b="1" i="0" kern="1200">
                <a:solidFill>
                  <a:schemeClr val="tx1"/>
                </a:solidFill>
                <a:effectLst/>
                <a:latin typeface="+mn-lt"/>
                <a:ea typeface="+mn-ea"/>
                <a:cs typeface="+mn-cs"/>
              </a:rPr>
              <a:t>种回归模型（</a:t>
            </a:r>
            <a:r>
              <a:rPr lang="en-US" altLang="zh-CN" sz="1200" b="1" i="0" kern="1200">
                <a:solidFill>
                  <a:schemeClr val="tx1"/>
                </a:solidFill>
                <a:effectLst/>
                <a:latin typeface="+mn-lt"/>
                <a:ea typeface="+mn-ea"/>
                <a:cs typeface="+mn-cs"/>
              </a:rPr>
              <a:t>LinearRegression</a:t>
            </a:r>
            <a:r>
              <a:rPr lang="zh-CN" altLang="en-US" sz="1200" b="1" i="0" kern="1200">
                <a:solidFill>
                  <a:schemeClr val="tx1"/>
                </a:solidFill>
                <a:effectLst/>
                <a:latin typeface="+mn-lt"/>
                <a:ea typeface="+mn-ea"/>
                <a:cs typeface="+mn-cs"/>
              </a:rPr>
              <a:t>，</a:t>
            </a:r>
            <a:r>
              <a:rPr lang="en-US" altLang="zh-CN" sz="1200" b="1" i="0" kern="1200">
                <a:solidFill>
                  <a:schemeClr val="tx1"/>
                </a:solidFill>
                <a:effectLst/>
                <a:latin typeface="+mn-lt"/>
                <a:ea typeface="+mn-ea"/>
                <a:cs typeface="+mn-cs"/>
              </a:rPr>
              <a:t>KNN</a:t>
            </a:r>
            <a:r>
              <a:rPr lang="zh-CN" altLang="en-US" sz="1200" b="1" i="0" kern="1200">
                <a:solidFill>
                  <a:schemeClr val="tx1"/>
                </a:solidFill>
                <a:effectLst/>
                <a:latin typeface="+mn-lt"/>
                <a:ea typeface="+mn-ea"/>
                <a:cs typeface="+mn-cs"/>
              </a:rPr>
              <a:t>，</a:t>
            </a:r>
            <a:r>
              <a:rPr lang="en-US" altLang="zh-CN" sz="1200" b="1" i="0" kern="1200">
                <a:solidFill>
                  <a:schemeClr val="tx1"/>
                </a:solidFill>
                <a:effectLst/>
                <a:latin typeface="+mn-lt"/>
                <a:ea typeface="+mn-ea"/>
                <a:cs typeface="+mn-cs"/>
              </a:rPr>
              <a:t>SVR</a:t>
            </a:r>
            <a:r>
              <a:rPr lang="zh-CN" altLang="en-US" sz="1200" b="1" i="0" kern="1200">
                <a:solidFill>
                  <a:schemeClr val="tx1"/>
                </a:solidFill>
                <a:effectLst/>
                <a:latin typeface="+mn-lt"/>
                <a:ea typeface="+mn-ea"/>
                <a:cs typeface="+mn-cs"/>
              </a:rPr>
              <a:t>，</a:t>
            </a:r>
            <a:r>
              <a:rPr lang="en-US" altLang="zh-CN" sz="1200" b="1" i="0" kern="1200">
                <a:solidFill>
                  <a:schemeClr val="tx1"/>
                </a:solidFill>
                <a:effectLst/>
                <a:latin typeface="+mn-lt"/>
                <a:ea typeface="+mn-ea"/>
                <a:cs typeface="+mn-cs"/>
              </a:rPr>
              <a:t>Ridge</a:t>
            </a:r>
            <a:r>
              <a:rPr lang="zh-CN" altLang="en-US" sz="1200" b="1" i="0" kern="1200">
                <a:solidFill>
                  <a:schemeClr val="tx1"/>
                </a:solidFill>
                <a:effectLst/>
                <a:latin typeface="+mn-lt"/>
                <a:ea typeface="+mn-ea"/>
                <a:cs typeface="+mn-cs"/>
              </a:rPr>
              <a:t>，</a:t>
            </a:r>
            <a:r>
              <a:rPr lang="en-US" altLang="zh-CN" sz="1200" b="1" i="0" kern="1200">
                <a:solidFill>
                  <a:schemeClr val="tx1"/>
                </a:solidFill>
                <a:effectLst/>
                <a:latin typeface="+mn-lt"/>
                <a:ea typeface="+mn-ea"/>
                <a:cs typeface="+mn-cs"/>
              </a:rPr>
              <a:t>Lasso</a:t>
            </a:r>
            <a:r>
              <a:rPr lang="zh-CN" altLang="en-US" sz="1200" b="1" i="0" kern="1200">
                <a:solidFill>
                  <a:schemeClr val="tx1"/>
                </a:solidFill>
                <a:effectLst/>
                <a:latin typeface="+mn-lt"/>
                <a:ea typeface="+mn-ea"/>
                <a:cs typeface="+mn-cs"/>
              </a:rPr>
              <a:t>，</a:t>
            </a:r>
            <a:r>
              <a:rPr lang="en-US" altLang="zh-CN" sz="1200" b="1" i="0" kern="1200">
                <a:solidFill>
                  <a:schemeClr val="tx1"/>
                </a:solidFill>
                <a:effectLst/>
                <a:latin typeface="+mn-lt"/>
                <a:ea typeface="+mn-ea"/>
                <a:cs typeface="+mn-cs"/>
              </a:rPr>
              <a:t>MLP</a:t>
            </a:r>
            <a:r>
              <a:rPr lang="zh-CN" altLang="en-US" sz="1200" b="1" i="0" kern="1200">
                <a:solidFill>
                  <a:schemeClr val="tx1"/>
                </a:solidFill>
                <a:effectLst/>
                <a:latin typeface="+mn-lt"/>
                <a:ea typeface="+mn-ea"/>
                <a:cs typeface="+mn-cs"/>
              </a:rPr>
              <a:t>，</a:t>
            </a:r>
            <a:r>
              <a:rPr lang="en-US" altLang="zh-CN" sz="1200" b="1" i="0" kern="1200">
                <a:solidFill>
                  <a:schemeClr val="tx1"/>
                </a:solidFill>
                <a:effectLst/>
                <a:latin typeface="+mn-lt"/>
                <a:ea typeface="+mn-ea"/>
                <a:cs typeface="+mn-cs"/>
              </a:rPr>
              <a:t>DecisionTree</a:t>
            </a:r>
            <a:r>
              <a:rPr lang="zh-CN" altLang="en-US" sz="1200" b="1" i="0" kern="1200">
                <a:solidFill>
                  <a:schemeClr val="tx1"/>
                </a:solidFill>
                <a:effectLst/>
                <a:latin typeface="+mn-lt"/>
                <a:ea typeface="+mn-ea"/>
                <a:cs typeface="+mn-cs"/>
              </a:rPr>
              <a:t>，</a:t>
            </a:r>
            <a:r>
              <a:rPr lang="en-US" altLang="zh-CN" sz="1200" b="1" i="0" kern="1200">
                <a:solidFill>
                  <a:schemeClr val="tx1"/>
                </a:solidFill>
                <a:effectLst/>
                <a:latin typeface="+mn-lt"/>
                <a:ea typeface="+mn-ea"/>
                <a:cs typeface="+mn-cs"/>
              </a:rPr>
              <a:t>ExtraTree</a:t>
            </a:r>
            <a:r>
              <a:rPr lang="zh-CN" altLang="en-US" sz="1200" b="1" i="0" kern="1200">
                <a:solidFill>
                  <a:schemeClr val="tx1"/>
                </a:solidFill>
                <a:effectLst/>
                <a:latin typeface="+mn-lt"/>
                <a:ea typeface="+mn-ea"/>
                <a:cs typeface="+mn-cs"/>
              </a:rPr>
              <a:t>，</a:t>
            </a:r>
            <a:r>
              <a:rPr lang="en-US" altLang="zh-CN" sz="1200" b="1" i="0" kern="1200">
                <a:solidFill>
                  <a:schemeClr val="tx1"/>
                </a:solidFill>
                <a:effectLst/>
                <a:latin typeface="+mn-lt"/>
                <a:ea typeface="+mn-ea"/>
                <a:cs typeface="+mn-cs"/>
              </a:rPr>
              <a:t>RandomForest</a:t>
            </a:r>
            <a:r>
              <a:rPr lang="zh-CN" altLang="en-US" sz="1200" b="1" i="0" kern="1200">
                <a:solidFill>
                  <a:schemeClr val="tx1"/>
                </a:solidFill>
                <a:effectLst/>
                <a:latin typeface="+mn-lt"/>
                <a:ea typeface="+mn-ea"/>
                <a:cs typeface="+mn-cs"/>
              </a:rPr>
              <a:t>，</a:t>
            </a:r>
            <a:r>
              <a:rPr lang="en-US" altLang="zh-CN" sz="1200" b="1" i="0" kern="1200">
                <a:solidFill>
                  <a:schemeClr val="tx1"/>
                </a:solidFill>
                <a:effectLst/>
                <a:latin typeface="+mn-lt"/>
                <a:ea typeface="+mn-ea"/>
                <a:cs typeface="+mn-cs"/>
              </a:rPr>
              <a:t>AdaBoost</a:t>
            </a:r>
            <a:r>
              <a:rPr lang="zh-CN" altLang="en-US" sz="1200" b="1" i="0" kern="1200">
                <a:solidFill>
                  <a:schemeClr val="tx1"/>
                </a:solidFill>
                <a:effectLst/>
                <a:latin typeface="+mn-lt"/>
                <a:ea typeface="+mn-ea"/>
                <a:cs typeface="+mn-cs"/>
              </a:rPr>
              <a:t>，</a:t>
            </a:r>
            <a:r>
              <a:rPr lang="en-US" altLang="zh-CN" sz="1200" b="1" i="0" kern="1200">
                <a:solidFill>
                  <a:schemeClr val="tx1"/>
                </a:solidFill>
                <a:effectLst/>
                <a:latin typeface="+mn-lt"/>
                <a:ea typeface="+mn-ea"/>
                <a:cs typeface="+mn-cs"/>
              </a:rPr>
              <a:t>GradientBoost</a:t>
            </a:r>
            <a:r>
              <a:rPr lang="zh-CN" altLang="en-US" sz="1200" b="1" i="0" kern="1200">
                <a:solidFill>
                  <a:schemeClr val="tx1"/>
                </a:solidFill>
                <a:effectLst/>
                <a:latin typeface="+mn-lt"/>
                <a:ea typeface="+mn-ea"/>
                <a:cs typeface="+mn-cs"/>
              </a:rPr>
              <a:t>，</a:t>
            </a:r>
            <a:r>
              <a:rPr lang="en-US" altLang="zh-CN" sz="1200" b="1" i="0" kern="1200">
                <a:solidFill>
                  <a:schemeClr val="tx1"/>
                </a:solidFill>
                <a:effectLst/>
                <a:latin typeface="+mn-lt"/>
                <a:ea typeface="+mn-ea"/>
                <a:cs typeface="+mn-cs"/>
              </a:rPr>
              <a:t>Bagging</a:t>
            </a:r>
            <a:r>
              <a:rPr lang="zh-CN" altLang="en-US" sz="1200" b="1" i="0" kern="120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33</a:t>
            </a:fld>
            <a:endParaRPr lang="zh-CN" altLang="en-US"/>
          </a:p>
        </p:txBody>
      </p:sp>
    </p:spTree>
    <p:extLst>
      <p:ext uri="{BB962C8B-B14F-4D97-AF65-F5344CB8AC3E}">
        <p14:creationId xmlns:p14="http://schemas.microsoft.com/office/powerpoint/2010/main" val="29751258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37</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a:solidFill>
                  <a:schemeClr val="tx1"/>
                </a:solidFill>
                <a:effectLst/>
                <a:latin typeface="+mn-lt"/>
                <a:ea typeface="+mn-ea"/>
                <a:cs typeface="+mn-cs"/>
              </a:rPr>
              <a:t>CART</a:t>
            </a:r>
            <a:r>
              <a:rPr lang="zh-CN" altLang="en-US" sz="1200" b="1" i="0" kern="1200">
                <a:solidFill>
                  <a:schemeClr val="tx1"/>
                </a:solidFill>
                <a:effectLst/>
                <a:latin typeface="+mn-lt"/>
                <a:ea typeface="+mn-ea"/>
                <a:cs typeface="+mn-cs"/>
              </a:rPr>
              <a:t>分类树算法对连续特征和离散特征的处理</a:t>
            </a:r>
            <a:endParaRPr lang="zh-CN" altLang="en-US" sz="1200" b="0" i="0" kern="1200">
              <a:solidFill>
                <a:schemeClr val="tx1"/>
              </a:solidFill>
              <a:effectLst/>
              <a:latin typeface="+mn-lt"/>
              <a:ea typeface="+mn-ea"/>
              <a:cs typeface="+mn-cs"/>
            </a:endParaRPr>
          </a:p>
          <a:p>
            <a:r>
              <a:rPr lang="zh-CN" altLang="en-US" sz="1200" b="0" i="0" kern="1200">
                <a:solidFill>
                  <a:schemeClr val="tx1"/>
                </a:solidFill>
                <a:effectLst/>
                <a:latin typeface="+mn-lt"/>
                <a:ea typeface="+mn-ea"/>
                <a:cs typeface="+mn-cs"/>
              </a:rPr>
              <a:t>　　</a:t>
            </a:r>
            <a:r>
              <a:rPr lang="en-US" altLang="zh-CN" sz="1200" b="1" i="0" kern="1200">
                <a:solidFill>
                  <a:schemeClr val="tx1"/>
                </a:solidFill>
                <a:effectLst/>
                <a:latin typeface="+mn-lt"/>
                <a:ea typeface="+mn-ea"/>
                <a:cs typeface="+mn-cs"/>
              </a:rPr>
              <a:t>CART</a:t>
            </a:r>
            <a:r>
              <a:rPr lang="zh-CN" altLang="en-US" sz="1200" b="1" i="0" kern="1200">
                <a:solidFill>
                  <a:schemeClr val="tx1"/>
                </a:solidFill>
                <a:effectLst/>
                <a:latin typeface="+mn-lt"/>
                <a:ea typeface="+mn-ea"/>
                <a:cs typeface="+mn-cs"/>
              </a:rPr>
              <a:t>分类树算法对连续值的处理</a:t>
            </a:r>
            <a:r>
              <a:rPr lang="zh-CN" altLang="en-US" sz="1200" b="0" i="0" kern="1200">
                <a:solidFill>
                  <a:schemeClr val="tx1"/>
                </a:solidFill>
                <a:effectLst/>
                <a:latin typeface="+mn-lt"/>
                <a:ea typeface="+mn-ea"/>
                <a:cs typeface="+mn-cs"/>
              </a:rPr>
              <a:t>，思想和</a:t>
            </a:r>
            <a:r>
              <a:rPr lang="en-US" altLang="zh-CN" sz="1200" b="0" i="0" kern="1200">
                <a:solidFill>
                  <a:schemeClr val="tx1"/>
                </a:solidFill>
                <a:effectLst/>
                <a:latin typeface="+mn-lt"/>
                <a:ea typeface="+mn-ea"/>
                <a:cs typeface="+mn-cs"/>
              </a:rPr>
              <a:t>C4.5</a:t>
            </a:r>
            <a:r>
              <a:rPr lang="zh-CN" altLang="en-US" sz="1200" b="0" i="0" kern="1200">
                <a:solidFill>
                  <a:schemeClr val="tx1"/>
                </a:solidFill>
                <a:effectLst/>
                <a:latin typeface="+mn-lt"/>
                <a:ea typeface="+mn-ea"/>
                <a:cs typeface="+mn-cs"/>
              </a:rPr>
              <a:t>相同，都是将连续的特征离散化。唯一区别在选择划分点时，</a:t>
            </a:r>
            <a:r>
              <a:rPr lang="en-US" altLang="zh-CN" sz="1200" b="0" i="0" kern="1200">
                <a:solidFill>
                  <a:schemeClr val="tx1"/>
                </a:solidFill>
                <a:effectLst/>
                <a:latin typeface="+mn-lt"/>
                <a:ea typeface="+mn-ea"/>
                <a:cs typeface="+mn-cs"/>
              </a:rPr>
              <a:t>C4.5</a:t>
            </a:r>
            <a:r>
              <a:rPr lang="zh-CN" altLang="en-US" sz="1200" b="0" i="0" kern="1200">
                <a:solidFill>
                  <a:schemeClr val="tx1"/>
                </a:solidFill>
                <a:effectLst/>
                <a:latin typeface="+mn-lt"/>
                <a:ea typeface="+mn-ea"/>
                <a:cs typeface="+mn-cs"/>
              </a:rPr>
              <a:t>是信息增益比，</a:t>
            </a:r>
            <a:r>
              <a:rPr lang="en-US" altLang="zh-CN" sz="1200" b="0" i="0" kern="1200">
                <a:solidFill>
                  <a:schemeClr val="tx1"/>
                </a:solidFill>
                <a:effectLst/>
                <a:latin typeface="+mn-lt"/>
                <a:ea typeface="+mn-ea"/>
                <a:cs typeface="+mn-cs"/>
              </a:rPr>
              <a:t>CART</a:t>
            </a:r>
            <a:r>
              <a:rPr lang="zh-CN" altLang="en-US" sz="1200" b="0" i="0" kern="1200">
                <a:solidFill>
                  <a:schemeClr val="tx1"/>
                </a:solidFill>
                <a:effectLst/>
                <a:latin typeface="+mn-lt"/>
                <a:ea typeface="+mn-ea"/>
                <a:cs typeface="+mn-cs"/>
              </a:rPr>
              <a:t>是基尼系数。</a:t>
            </a:r>
          </a:p>
          <a:p>
            <a:r>
              <a:rPr lang="zh-CN" altLang="en-US" sz="1200" b="0" i="0" kern="1200">
                <a:solidFill>
                  <a:schemeClr val="tx1"/>
                </a:solidFill>
                <a:effectLst/>
                <a:latin typeface="+mn-lt"/>
                <a:ea typeface="+mn-ea"/>
                <a:cs typeface="+mn-cs"/>
              </a:rPr>
              <a:t>　　具体思路：</a:t>
            </a:r>
            <a:r>
              <a:rPr lang="en-US" altLang="zh-CN" sz="1200" b="0" i="0" kern="1200">
                <a:solidFill>
                  <a:schemeClr val="tx1"/>
                </a:solidFill>
                <a:effectLst/>
                <a:latin typeface="+mn-lt"/>
                <a:ea typeface="+mn-ea"/>
                <a:cs typeface="+mn-cs"/>
              </a:rPr>
              <a:t>m</a:t>
            </a:r>
            <a:r>
              <a:rPr lang="zh-CN" altLang="en-US" sz="1200" b="0" i="0" kern="1200">
                <a:solidFill>
                  <a:schemeClr val="tx1"/>
                </a:solidFill>
                <a:effectLst/>
                <a:latin typeface="+mn-lt"/>
                <a:ea typeface="+mn-ea"/>
                <a:cs typeface="+mn-cs"/>
              </a:rPr>
              <a:t>个样本的连续特征</a:t>
            </a:r>
            <a:r>
              <a:rPr lang="en-US" altLang="zh-CN" sz="1200" b="0" i="0" kern="1200">
                <a:solidFill>
                  <a:schemeClr val="tx1"/>
                </a:solidFill>
                <a:effectLst/>
                <a:latin typeface="+mn-lt"/>
                <a:ea typeface="+mn-ea"/>
                <a:cs typeface="+mn-cs"/>
              </a:rPr>
              <a:t>A</a:t>
            </a:r>
            <a:r>
              <a:rPr lang="zh-CN" altLang="en-US" sz="1200" b="0" i="0" kern="1200">
                <a:solidFill>
                  <a:schemeClr val="tx1"/>
                </a:solidFill>
                <a:effectLst/>
                <a:latin typeface="+mn-lt"/>
                <a:ea typeface="+mn-ea"/>
                <a:cs typeface="+mn-cs"/>
              </a:rPr>
              <a:t>有</a:t>
            </a:r>
            <a:r>
              <a:rPr lang="en-US" altLang="zh-CN" sz="1200" b="0" i="0" kern="1200">
                <a:solidFill>
                  <a:schemeClr val="tx1"/>
                </a:solidFill>
                <a:effectLst/>
                <a:latin typeface="+mn-lt"/>
                <a:ea typeface="+mn-ea"/>
                <a:cs typeface="+mn-cs"/>
              </a:rPr>
              <a:t>m</a:t>
            </a:r>
            <a:r>
              <a:rPr lang="zh-CN" altLang="en-US" sz="1200" b="0" i="0" kern="1200">
                <a:solidFill>
                  <a:schemeClr val="tx1"/>
                </a:solidFill>
                <a:effectLst/>
                <a:latin typeface="+mn-lt"/>
                <a:ea typeface="+mn-ea"/>
                <a:cs typeface="+mn-cs"/>
              </a:rPr>
              <a:t>个，从小到大排列</a:t>
            </a:r>
            <a:r>
              <a:rPr lang="en-US" altLang="zh-CN" sz="1200" b="0" i="0" kern="1200">
                <a:solidFill>
                  <a:schemeClr val="tx1"/>
                </a:solidFill>
                <a:effectLst/>
                <a:latin typeface="+mn-lt"/>
                <a:ea typeface="+mn-ea"/>
                <a:cs typeface="+mn-cs"/>
              </a:rPr>
              <a:t>a1</a:t>
            </a:r>
            <a:r>
              <a:rPr lang="zh-CN" altLang="en-US" sz="1200" b="0" i="0" kern="1200">
                <a:solidFill>
                  <a:schemeClr val="tx1"/>
                </a:solidFill>
                <a:effectLst/>
                <a:latin typeface="+mn-lt"/>
                <a:ea typeface="+mn-ea"/>
                <a:cs typeface="+mn-cs"/>
              </a:rPr>
              <a:t>，</a:t>
            </a:r>
            <a:r>
              <a:rPr lang="en-US" altLang="zh-CN" sz="1200" b="0" i="0" kern="1200">
                <a:solidFill>
                  <a:schemeClr val="tx1"/>
                </a:solidFill>
                <a:effectLst/>
                <a:latin typeface="+mn-lt"/>
                <a:ea typeface="+mn-ea"/>
                <a:cs typeface="+mn-cs"/>
              </a:rPr>
              <a:t>a2</a:t>
            </a:r>
            <a:r>
              <a:rPr lang="zh-CN" altLang="en-US" sz="1200" b="0" i="0" kern="1200">
                <a:solidFill>
                  <a:schemeClr val="tx1"/>
                </a:solidFill>
                <a:effectLst/>
                <a:latin typeface="+mn-lt"/>
                <a:ea typeface="+mn-ea"/>
                <a:cs typeface="+mn-cs"/>
              </a:rPr>
              <a:t>，</a:t>
            </a:r>
            <a:r>
              <a:rPr lang="en-US" altLang="zh-CN" sz="1200" b="0" i="0" kern="1200">
                <a:solidFill>
                  <a:schemeClr val="tx1"/>
                </a:solidFill>
                <a:effectLst/>
                <a:latin typeface="+mn-lt"/>
                <a:ea typeface="+mn-ea"/>
                <a:cs typeface="+mn-cs"/>
              </a:rPr>
              <a:t>......</a:t>
            </a:r>
            <a:r>
              <a:rPr lang="zh-CN" altLang="en-US" sz="1200" b="0" i="0" kern="1200">
                <a:solidFill>
                  <a:schemeClr val="tx1"/>
                </a:solidFill>
                <a:effectLst/>
                <a:latin typeface="+mn-lt"/>
                <a:ea typeface="+mn-ea"/>
                <a:cs typeface="+mn-cs"/>
              </a:rPr>
              <a:t>，</a:t>
            </a:r>
            <a:r>
              <a:rPr lang="en-US" altLang="zh-CN" sz="1200" b="0" i="0" kern="1200">
                <a:solidFill>
                  <a:schemeClr val="tx1"/>
                </a:solidFill>
                <a:effectLst/>
                <a:latin typeface="+mn-lt"/>
                <a:ea typeface="+mn-ea"/>
                <a:cs typeface="+mn-cs"/>
              </a:rPr>
              <a:t>am</a:t>
            </a:r>
            <a:r>
              <a:rPr lang="zh-CN" altLang="en-US" sz="1200" b="0" i="0" kern="1200">
                <a:solidFill>
                  <a:schemeClr val="tx1"/>
                </a:solidFill>
                <a:effectLst/>
                <a:latin typeface="+mn-lt"/>
                <a:ea typeface="+mn-ea"/>
                <a:cs typeface="+mn-cs"/>
              </a:rPr>
              <a:t>，则</a:t>
            </a:r>
            <a:r>
              <a:rPr lang="en-US" altLang="zh-CN" sz="1200" b="0" i="0" kern="1200">
                <a:solidFill>
                  <a:schemeClr val="tx1"/>
                </a:solidFill>
                <a:effectLst/>
                <a:latin typeface="+mn-lt"/>
                <a:ea typeface="+mn-ea"/>
                <a:cs typeface="+mn-cs"/>
              </a:rPr>
              <a:t>CART</a:t>
            </a:r>
            <a:r>
              <a:rPr lang="zh-CN" altLang="en-US" sz="1200" b="0" i="0" kern="1200">
                <a:solidFill>
                  <a:schemeClr val="tx1"/>
                </a:solidFill>
                <a:effectLst/>
                <a:latin typeface="+mn-lt"/>
                <a:ea typeface="+mn-ea"/>
                <a:cs typeface="+mn-cs"/>
              </a:rPr>
              <a:t>取相邻两样本值的平均数做划分点，一共取</a:t>
            </a:r>
            <a:r>
              <a:rPr lang="en-US" altLang="zh-CN" sz="1200" b="0" i="0" kern="1200">
                <a:solidFill>
                  <a:schemeClr val="tx1"/>
                </a:solidFill>
                <a:effectLst/>
                <a:latin typeface="+mn-lt"/>
                <a:ea typeface="+mn-ea"/>
                <a:cs typeface="+mn-cs"/>
              </a:rPr>
              <a:t>m-1</a:t>
            </a:r>
            <a:r>
              <a:rPr lang="zh-CN" altLang="en-US" sz="1200" b="0" i="0" kern="1200">
                <a:solidFill>
                  <a:schemeClr val="tx1"/>
                </a:solidFill>
                <a:effectLst/>
                <a:latin typeface="+mn-lt"/>
                <a:ea typeface="+mn-ea"/>
                <a:cs typeface="+mn-cs"/>
              </a:rPr>
              <a:t>个，其中第</a:t>
            </a:r>
            <a:r>
              <a:rPr lang="en-US" altLang="zh-CN" sz="1200" b="0" i="0" kern="1200">
                <a:solidFill>
                  <a:schemeClr val="tx1"/>
                </a:solidFill>
                <a:effectLst/>
                <a:latin typeface="+mn-lt"/>
                <a:ea typeface="+mn-ea"/>
                <a:cs typeface="+mn-cs"/>
              </a:rPr>
              <a:t>i</a:t>
            </a:r>
            <a:r>
              <a:rPr lang="zh-CN" altLang="en-US" sz="1200" b="0" i="0" kern="1200">
                <a:solidFill>
                  <a:schemeClr val="tx1"/>
                </a:solidFill>
                <a:effectLst/>
                <a:latin typeface="+mn-lt"/>
                <a:ea typeface="+mn-ea"/>
                <a:cs typeface="+mn-cs"/>
              </a:rPr>
              <a:t>个划分点</a:t>
            </a:r>
            <a:r>
              <a:rPr lang="en-US" altLang="zh-CN" sz="1200" b="0" i="0" kern="1200">
                <a:solidFill>
                  <a:schemeClr val="tx1"/>
                </a:solidFill>
                <a:effectLst/>
                <a:latin typeface="+mn-lt"/>
                <a:ea typeface="+mn-ea"/>
                <a:cs typeface="+mn-cs"/>
              </a:rPr>
              <a:t>Ti</a:t>
            </a:r>
            <a:r>
              <a:rPr lang="zh-CN" altLang="en-US" sz="1200" b="0" i="0" kern="1200">
                <a:solidFill>
                  <a:schemeClr val="tx1"/>
                </a:solidFill>
                <a:effectLst/>
                <a:latin typeface="+mn-lt"/>
                <a:ea typeface="+mn-ea"/>
                <a:cs typeface="+mn-cs"/>
              </a:rPr>
              <a:t>表示为：</a:t>
            </a:r>
            <a:r>
              <a:rPr lang="en-US" altLang="zh-CN" sz="1200" b="0" i="0" kern="1200">
                <a:solidFill>
                  <a:schemeClr val="tx1"/>
                </a:solidFill>
                <a:effectLst/>
                <a:latin typeface="+mn-lt"/>
                <a:ea typeface="+mn-ea"/>
                <a:cs typeface="+mn-cs"/>
              </a:rPr>
              <a:t>Ti = (ai + ai+1)/2</a:t>
            </a:r>
            <a:r>
              <a:rPr lang="zh-CN" altLang="en-US" sz="1200" b="0" i="0" kern="1200">
                <a:solidFill>
                  <a:schemeClr val="tx1"/>
                </a:solidFill>
                <a:effectLst/>
                <a:latin typeface="+mn-lt"/>
                <a:ea typeface="+mn-ea"/>
                <a:cs typeface="+mn-cs"/>
              </a:rPr>
              <a:t>。分别计算以这</a:t>
            </a:r>
            <a:r>
              <a:rPr lang="en-US" altLang="zh-CN" sz="1200" b="0" i="0" kern="1200">
                <a:solidFill>
                  <a:schemeClr val="tx1"/>
                </a:solidFill>
                <a:effectLst/>
                <a:latin typeface="+mn-lt"/>
                <a:ea typeface="+mn-ea"/>
                <a:cs typeface="+mn-cs"/>
              </a:rPr>
              <a:t>m-1</a:t>
            </a:r>
            <a:r>
              <a:rPr lang="zh-CN" altLang="en-US" sz="1200" b="0" i="0" kern="1200">
                <a:solidFill>
                  <a:schemeClr val="tx1"/>
                </a:solidFill>
                <a:effectLst/>
                <a:latin typeface="+mn-lt"/>
                <a:ea typeface="+mn-ea"/>
                <a:cs typeface="+mn-cs"/>
              </a:rPr>
              <a:t>个点作为二元分类点时的基尼系数。选择基尼系数最小的点为该连续特征的二元离散分类点。比如取到的基尼系数最小的点为</a:t>
            </a:r>
            <a:r>
              <a:rPr lang="en-US" altLang="zh-CN" sz="1200" b="0" i="0" kern="1200">
                <a:solidFill>
                  <a:schemeClr val="tx1"/>
                </a:solidFill>
                <a:effectLst/>
                <a:latin typeface="+mn-lt"/>
                <a:ea typeface="+mn-ea"/>
                <a:cs typeface="+mn-cs"/>
              </a:rPr>
              <a:t>at</a:t>
            </a:r>
            <a:r>
              <a:rPr lang="zh-CN" altLang="en-US" sz="1200" b="0" i="0" kern="1200">
                <a:solidFill>
                  <a:schemeClr val="tx1"/>
                </a:solidFill>
                <a:effectLst/>
                <a:latin typeface="+mn-lt"/>
                <a:ea typeface="+mn-ea"/>
                <a:cs typeface="+mn-cs"/>
              </a:rPr>
              <a:t>，则小于</a:t>
            </a:r>
            <a:r>
              <a:rPr lang="en-US" altLang="zh-CN" sz="1200" b="0" i="0" kern="1200">
                <a:solidFill>
                  <a:schemeClr val="tx1"/>
                </a:solidFill>
                <a:effectLst/>
                <a:latin typeface="+mn-lt"/>
                <a:ea typeface="+mn-ea"/>
                <a:cs typeface="+mn-cs"/>
              </a:rPr>
              <a:t>at</a:t>
            </a:r>
            <a:r>
              <a:rPr lang="zh-CN" altLang="en-US" sz="1200" b="0" i="0" kern="1200">
                <a:solidFill>
                  <a:schemeClr val="tx1"/>
                </a:solidFill>
                <a:effectLst/>
                <a:latin typeface="+mn-lt"/>
                <a:ea typeface="+mn-ea"/>
                <a:cs typeface="+mn-cs"/>
              </a:rPr>
              <a:t>的值为类别</a:t>
            </a:r>
            <a:r>
              <a:rPr lang="en-US" altLang="zh-CN" sz="1200" b="0" i="0" kern="1200">
                <a:solidFill>
                  <a:schemeClr val="tx1"/>
                </a:solidFill>
                <a:effectLst/>
                <a:latin typeface="+mn-lt"/>
                <a:ea typeface="+mn-ea"/>
                <a:cs typeface="+mn-cs"/>
              </a:rPr>
              <a:t>1</a:t>
            </a:r>
            <a:r>
              <a:rPr lang="zh-CN" altLang="en-US" sz="1200" b="0" i="0" kern="1200">
                <a:solidFill>
                  <a:schemeClr val="tx1"/>
                </a:solidFill>
                <a:effectLst/>
                <a:latin typeface="+mn-lt"/>
                <a:ea typeface="+mn-ea"/>
                <a:cs typeface="+mn-cs"/>
              </a:rPr>
              <a:t>，大于</a:t>
            </a:r>
            <a:r>
              <a:rPr lang="en-US" altLang="zh-CN" sz="1200" b="0" i="0" kern="1200">
                <a:solidFill>
                  <a:schemeClr val="tx1"/>
                </a:solidFill>
                <a:effectLst/>
                <a:latin typeface="+mn-lt"/>
                <a:ea typeface="+mn-ea"/>
                <a:cs typeface="+mn-cs"/>
              </a:rPr>
              <a:t>at</a:t>
            </a:r>
            <a:r>
              <a:rPr lang="zh-CN" altLang="en-US" sz="1200" b="0" i="0" kern="1200">
                <a:solidFill>
                  <a:schemeClr val="tx1"/>
                </a:solidFill>
                <a:effectLst/>
                <a:latin typeface="+mn-lt"/>
                <a:ea typeface="+mn-ea"/>
                <a:cs typeface="+mn-cs"/>
              </a:rPr>
              <a:t>的值为类别</a:t>
            </a:r>
            <a:r>
              <a:rPr lang="en-US" altLang="zh-CN" sz="1200" b="0" i="0" kern="1200">
                <a:solidFill>
                  <a:schemeClr val="tx1"/>
                </a:solidFill>
                <a:effectLst/>
                <a:latin typeface="+mn-lt"/>
                <a:ea typeface="+mn-ea"/>
                <a:cs typeface="+mn-cs"/>
              </a:rPr>
              <a:t>2</a:t>
            </a:r>
            <a:r>
              <a:rPr lang="zh-CN" altLang="en-US" sz="1200" b="0" i="0" kern="1200">
                <a:solidFill>
                  <a:schemeClr val="tx1"/>
                </a:solidFill>
                <a:effectLst/>
                <a:latin typeface="+mn-lt"/>
                <a:ea typeface="+mn-ea"/>
                <a:cs typeface="+mn-cs"/>
              </a:rPr>
              <a:t>，这样就做到了连续特征的离散化。</a:t>
            </a:r>
          </a:p>
          <a:p>
            <a:r>
              <a:rPr lang="zh-CN" altLang="en-US" sz="1200" b="0" i="0" kern="1200">
                <a:solidFill>
                  <a:schemeClr val="tx1"/>
                </a:solidFill>
                <a:effectLst/>
                <a:latin typeface="+mn-lt"/>
                <a:ea typeface="+mn-ea"/>
                <a:cs typeface="+mn-cs"/>
              </a:rPr>
              <a:t>　　注意的是，与</a:t>
            </a:r>
            <a:r>
              <a:rPr lang="en-US" altLang="zh-CN" sz="1200" b="0" i="0" kern="1200">
                <a:solidFill>
                  <a:schemeClr val="tx1"/>
                </a:solidFill>
                <a:effectLst/>
                <a:latin typeface="+mn-lt"/>
                <a:ea typeface="+mn-ea"/>
                <a:cs typeface="+mn-cs"/>
              </a:rPr>
              <a:t>ID3</a:t>
            </a:r>
            <a:r>
              <a:rPr lang="zh-CN" altLang="en-US" sz="1200" b="0" i="0" kern="1200">
                <a:solidFill>
                  <a:schemeClr val="tx1"/>
                </a:solidFill>
                <a:effectLst/>
                <a:latin typeface="+mn-lt"/>
                <a:ea typeface="+mn-ea"/>
                <a:cs typeface="+mn-cs"/>
              </a:rPr>
              <a:t>、</a:t>
            </a:r>
            <a:r>
              <a:rPr lang="en-US" altLang="zh-CN" sz="1200" b="0" i="0" kern="1200">
                <a:solidFill>
                  <a:schemeClr val="tx1"/>
                </a:solidFill>
                <a:effectLst/>
                <a:latin typeface="+mn-lt"/>
                <a:ea typeface="+mn-ea"/>
                <a:cs typeface="+mn-cs"/>
              </a:rPr>
              <a:t>C4.5</a:t>
            </a:r>
            <a:r>
              <a:rPr lang="zh-CN" altLang="en-US" sz="1200" b="0" i="0" kern="1200">
                <a:solidFill>
                  <a:schemeClr val="tx1"/>
                </a:solidFill>
                <a:effectLst/>
                <a:latin typeface="+mn-lt"/>
                <a:ea typeface="+mn-ea"/>
                <a:cs typeface="+mn-cs"/>
              </a:rPr>
              <a:t>处理离散属性不同的是，如果当前节点为连续属性，则该属性在后面还可以参与子节点的产生选择过程。</a:t>
            </a:r>
          </a:p>
          <a:p>
            <a:r>
              <a:rPr lang="zh-CN" altLang="en-US" sz="1200" b="0" i="0" kern="1200">
                <a:solidFill>
                  <a:schemeClr val="tx1"/>
                </a:solidFill>
                <a:effectLst/>
                <a:latin typeface="+mn-lt"/>
                <a:ea typeface="+mn-ea"/>
                <a:cs typeface="+mn-cs"/>
              </a:rPr>
              <a:t>　　</a:t>
            </a:r>
            <a:r>
              <a:rPr lang="en-US" altLang="zh-CN" sz="1200" b="1" i="0" kern="1200">
                <a:solidFill>
                  <a:schemeClr val="tx1"/>
                </a:solidFill>
                <a:effectLst/>
                <a:latin typeface="+mn-lt"/>
                <a:ea typeface="+mn-ea"/>
                <a:cs typeface="+mn-cs"/>
              </a:rPr>
              <a:t>CART</a:t>
            </a:r>
            <a:r>
              <a:rPr lang="zh-CN" altLang="en-US" sz="1200" b="1" i="0" kern="1200">
                <a:solidFill>
                  <a:schemeClr val="tx1"/>
                </a:solidFill>
                <a:effectLst/>
                <a:latin typeface="+mn-lt"/>
                <a:ea typeface="+mn-ea"/>
                <a:cs typeface="+mn-cs"/>
              </a:rPr>
              <a:t>分类树算法对离散值的处理</a:t>
            </a:r>
            <a:r>
              <a:rPr lang="zh-CN" altLang="en-US" sz="1200" b="0" i="0" kern="1200">
                <a:solidFill>
                  <a:schemeClr val="tx1"/>
                </a:solidFill>
                <a:effectLst/>
                <a:latin typeface="+mn-lt"/>
                <a:ea typeface="+mn-ea"/>
                <a:cs typeface="+mn-cs"/>
              </a:rPr>
              <a:t>，采用的思路：不停的二分离散特征。</a:t>
            </a:r>
          </a:p>
          <a:p>
            <a:r>
              <a:rPr lang="zh-CN" altLang="en-US" sz="1200" b="0" i="0" kern="1200">
                <a:solidFill>
                  <a:schemeClr val="tx1"/>
                </a:solidFill>
                <a:effectLst/>
                <a:latin typeface="+mn-lt"/>
                <a:ea typeface="+mn-ea"/>
                <a:cs typeface="+mn-cs"/>
              </a:rPr>
              <a:t>　　在</a:t>
            </a:r>
            <a:r>
              <a:rPr lang="en-US" altLang="zh-CN" sz="1200" b="0" i="0" kern="1200">
                <a:solidFill>
                  <a:schemeClr val="tx1"/>
                </a:solidFill>
                <a:effectLst/>
                <a:latin typeface="+mn-lt"/>
                <a:ea typeface="+mn-ea"/>
                <a:cs typeface="+mn-cs"/>
              </a:rPr>
              <a:t>ID3</a:t>
            </a:r>
            <a:r>
              <a:rPr lang="zh-CN" altLang="en-US" sz="1200" b="0" i="0" kern="1200">
                <a:solidFill>
                  <a:schemeClr val="tx1"/>
                </a:solidFill>
                <a:effectLst/>
                <a:latin typeface="+mn-lt"/>
                <a:ea typeface="+mn-ea"/>
                <a:cs typeface="+mn-cs"/>
              </a:rPr>
              <a:t>、</a:t>
            </a:r>
            <a:r>
              <a:rPr lang="en-US" altLang="zh-CN" sz="1200" b="0" i="0" kern="1200">
                <a:solidFill>
                  <a:schemeClr val="tx1"/>
                </a:solidFill>
                <a:effectLst/>
                <a:latin typeface="+mn-lt"/>
                <a:ea typeface="+mn-ea"/>
                <a:cs typeface="+mn-cs"/>
              </a:rPr>
              <a:t>C4.5</a:t>
            </a:r>
            <a:r>
              <a:rPr lang="zh-CN" altLang="en-US" sz="1200" b="0" i="0" kern="1200">
                <a:solidFill>
                  <a:schemeClr val="tx1"/>
                </a:solidFill>
                <a:effectLst/>
                <a:latin typeface="+mn-lt"/>
                <a:ea typeface="+mn-ea"/>
                <a:cs typeface="+mn-cs"/>
              </a:rPr>
              <a:t>，特征</a:t>
            </a:r>
            <a:r>
              <a:rPr lang="en-US" altLang="zh-CN" sz="1200" b="0" i="0" kern="1200">
                <a:solidFill>
                  <a:schemeClr val="tx1"/>
                </a:solidFill>
                <a:effectLst/>
                <a:latin typeface="+mn-lt"/>
                <a:ea typeface="+mn-ea"/>
                <a:cs typeface="+mn-cs"/>
              </a:rPr>
              <a:t>A</a:t>
            </a:r>
            <a:r>
              <a:rPr lang="zh-CN" altLang="en-US" sz="1200" b="0" i="0" kern="1200">
                <a:solidFill>
                  <a:schemeClr val="tx1"/>
                </a:solidFill>
                <a:effectLst/>
                <a:latin typeface="+mn-lt"/>
                <a:ea typeface="+mn-ea"/>
                <a:cs typeface="+mn-cs"/>
              </a:rPr>
              <a:t>被选取建立决策树节点，如果它有</a:t>
            </a:r>
            <a:r>
              <a:rPr lang="en-US" altLang="zh-CN" sz="1200" b="0" i="0" kern="1200">
                <a:solidFill>
                  <a:schemeClr val="tx1"/>
                </a:solidFill>
                <a:effectLst/>
                <a:latin typeface="+mn-lt"/>
                <a:ea typeface="+mn-ea"/>
                <a:cs typeface="+mn-cs"/>
              </a:rPr>
              <a:t>3</a:t>
            </a:r>
            <a:r>
              <a:rPr lang="zh-CN" altLang="en-US" sz="1200" b="0" i="0" kern="1200">
                <a:solidFill>
                  <a:schemeClr val="tx1"/>
                </a:solidFill>
                <a:effectLst/>
                <a:latin typeface="+mn-lt"/>
                <a:ea typeface="+mn-ea"/>
                <a:cs typeface="+mn-cs"/>
              </a:rPr>
              <a:t>个类别</a:t>
            </a:r>
            <a:r>
              <a:rPr lang="en-US" altLang="zh-CN" sz="1200" b="0" i="0" kern="1200">
                <a:solidFill>
                  <a:schemeClr val="tx1"/>
                </a:solidFill>
                <a:effectLst/>
                <a:latin typeface="+mn-lt"/>
                <a:ea typeface="+mn-ea"/>
                <a:cs typeface="+mn-cs"/>
              </a:rPr>
              <a:t>A1,A2,A3</a:t>
            </a:r>
            <a:r>
              <a:rPr lang="zh-CN" altLang="en-US" sz="1200" b="0" i="0" kern="1200">
                <a:solidFill>
                  <a:schemeClr val="tx1"/>
                </a:solidFill>
                <a:effectLst/>
                <a:latin typeface="+mn-lt"/>
                <a:ea typeface="+mn-ea"/>
                <a:cs typeface="+mn-cs"/>
              </a:rPr>
              <a:t>，我们会在决策树上建立一个三叉点，这样决策树是多叉树。</a:t>
            </a:r>
          </a:p>
          <a:p>
            <a:r>
              <a:rPr lang="zh-CN" altLang="en-US" sz="1200" b="0" i="0" kern="1200">
                <a:solidFill>
                  <a:schemeClr val="tx1"/>
                </a:solidFill>
                <a:effectLst/>
                <a:latin typeface="+mn-lt"/>
                <a:ea typeface="+mn-ea"/>
                <a:cs typeface="+mn-cs"/>
              </a:rPr>
              <a:t>　　</a:t>
            </a:r>
            <a:r>
              <a:rPr lang="en-US" altLang="zh-CN" sz="1200" b="0" i="0" kern="1200">
                <a:solidFill>
                  <a:schemeClr val="tx1"/>
                </a:solidFill>
                <a:effectLst/>
                <a:latin typeface="+mn-lt"/>
                <a:ea typeface="+mn-ea"/>
                <a:cs typeface="+mn-cs"/>
              </a:rPr>
              <a:t>CART</a:t>
            </a:r>
            <a:r>
              <a:rPr lang="zh-CN" altLang="en-US" sz="1200" b="0" i="0" kern="1200">
                <a:solidFill>
                  <a:schemeClr val="tx1"/>
                </a:solidFill>
                <a:effectLst/>
                <a:latin typeface="+mn-lt"/>
                <a:ea typeface="+mn-ea"/>
                <a:cs typeface="+mn-cs"/>
              </a:rPr>
              <a:t>采用的是不停的二分。会考虑把特征</a:t>
            </a:r>
            <a:r>
              <a:rPr lang="en-US" altLang="zh-CN" sz="1200" b="0" i="0" kern="1200">
                <a:solidFill>
                  <a:schemeClr val="tx1"/>
                </a:solidFill>
                <a:effectLst/>
                <a:latin typeface="+mn-lt"/>
                <a:ea typeface="+mn-ea"/>
                <a:cs typeface="+mn-cs"/>
              </a:rPr>
              <a:t>A</a:t>
            </a:r>
            <a:r>
              <a:rPr lang="zh-CN" altLang="en-US" sz="1200" b="0" i="0" kern="1200">
                <a:solidFill>
                  <a:schemeClr val="tx1"/>
                </a:solidFill>
                <a:effectLst/>
                <a:latin typeface="+mn-lt"/>
                <a:ea typeface="+mn-ea"/>
                <a:cs typeface="+mn-cs"/>
              </a:rPr>
              <a:t>分成</a:t>
            </a:r>
            <a:r>
              <a:rPr lang="en-US" altLang="zh-CN" sz="1200" b="0" i="0" kern="1200">
                <a:solidFill>
                  <a:schemeClr val="tx1"/>
                </a:solidFill>
                <a:effectLst/>
                <a:latin typeface="+mn-lt"/>
                <a:ea typeface="+mn-ea"/>
                <a:cs typeface="+mn-cs"/>
              </a:rPr>
              <a:t>{A1}</a:t>
            </a:r>
            <a:r>
              <a:rPr lang="zh-CN" altLang="en-US" sz="1200" b="0" i="0" kern="1200">
                <a:solidFill>
                  <a:schemeClr val="tx1"/>
                </a:solidFill>
                <a:effectLst/>
                <a:latin typeface="+mn-lt"/>
                <a:ea typeface="+mn-ea"/>
                <a:cs typeface="+mn-cs"/>
              </a:rPr>
              <a:t>和</a:t>
            </a:r>
            <a:r>
              <a:rPr lang="en-US" altLang="zh-CN" sz="1200" b="0" i="0" kern="1200">
                <a:solidFill>
                  <a:schemeClr val="tx1"/>
                </a:solidFill>
                <a:effectLst/>
                <a:latin typeface="+mn-lt"/>
                <a:ea typeface="+mn-ea"/>
                <a:cs typeface="+mn-cs"/>
              </a:rPr>
              <a:t>{A2,A3}</a:t>
            </a:r>
            <a:r>
              <a:rPr lang="zh-CN" altLang="en-US" sz="1200" b="0" i="0" kern="1200">
                <a:solidFill>
                  <a:schemeClr val="tx1"/>
                </a:solidFill>
                <a:effectLst/>
                <a:latin typeface="+mn-lt"/>
                <a:ea typeface="+mn-ea"/>
                <a:cs typeface="+mn-cs"/>
              </a:rPr>
              <a:t>、</a:t>
            </a:r>
            <a:r>
              <a:rPr lang="en-US" altLang="zh-CN" sz="1200" b="0" i="0" kern="1200">
                <a:solidFill>
                  <a:schemeClr val="tx1"/>
                </a:solidFill>
                <a:effectLst/>
                <a:latin typeface="+mn-lt"/>
                <a:ea typeface="+mn-ea"/>
                <a:cs typeface="+mn-cs"/>
              </a:rPr>
              <a:t>{A2}</a:t>
            </a:r>
            <a:r>
              <a:rPr lang="zh-CN" altLang="en-US" sz="1200" b="0" i="0" kern="1200">
                <a:solidFill>
                  <a:schemeClr val="tx1"/>
                </a:solidFill>
                <a:effectLst/>
                <a:latin typeface="+mn-lt"/>
                <a:ea typeface="+mn-ea"/>
                <a:cs typeface="+mn-cs"/>
              </a:rPr>
              <a:t>和</a:t>
            </a:r>
            <a:r>
              <a:rPr lang="en-US" altLang="zh-CN" sz="1200" b="0" i="0" kern="1200">
                <a:solidFill>
                  <a:schemeClr val="tx1"/>
                </a:solidFill>
                <a:effectLst/>
                <a:latin typeface="+mn-lt"/>
                <a:ea typeface="+mn-ea"/>
                <a:cs typeface="+mn-cs"/>
              </a:rPr>
              <a:t>{A1,A3}</a:t>
            </a:r>
            <a:r>
              <a:rPr lang="zh-CN" altLang="en-US" sz="1200" b="0" i="0" kern="1200">
                <a:solidFill>
                  <a:schemeClr val="tx1"/>
                </a:solidFill>
                <a:effectLst/>
                <a:latin typeface="+mn-lt"/>
                <a:ea typeface="+mn-ea"/>
                <a:cs typeface="+mn-cs"/>
              </a:rPr>
              <a:t>、</a:t>
            </a:r>
            <a:r>
              <a:rPr lang="en-US" altLang="zh-CN" sz="1200" b="0" i="0" kern="1200">
                <a:solidFill>
                  <a:schemeClr val="tx1"/>
                </a:solidFill>
                <a:effectLst/>
                <a:latin typeface="+mn-lt"/>
                <a:ea typeface="+mn-ea"/>
                <a:cs typeface="+mn-cs"/>
              </a:rPr>
              <a:t>{A3}</a:t>
            </a:r>
            <a:r>
              <a:rPr lang="zh-CN" altLang="en-US" sz="1200" b="0" i="0" kern="1200">
                <a:solidFill>
                  <a:schemeClr val="tx1"/>
                </a:solidFill>
                <a:effectLst/>
                <a:latin typeface="+mn-lt"/>
                <a:ea typeface="+mn-ea"/>
                <a:cs typeface="+mn-cs"/>
              </a:rPr>
              <a:t>和</a:t>
            </a:r>
            <a:r>
              <a:rPr lang="en-US" altLang="zh-CN" sz="1200" b="0" i="0" kern="1200">
                <a:solidFill>
                  <a:schemeClr val="tx1"/>
                </a:solidFill>
                <a:effectLst/>
                <a:latin typeface="+mn-lt"/>
                <a:ea typeface="+mn-ea"/>
                <a:cs typeface="+mn-cs"/>
              </a:rPr>
              <a:t>{A1,A2}</a:t>
            </a:r>
            <a:r>
              <a:rPr lang="zh-CN" altLang="en-US" sz="1200" b="0" i="0" kern="1200">
                <a:solidFill>
                  <a:schemeClr val="tx1"/>
                </a:solidFill>
                <a:effectLst/>
                <a:latin typeface="+mn-lt"/>
                <a:ea typeface="+mn-ea"/>
                <a:cs typeface="+mn-cs"/>
              </a:rPr>
              <a:t>三种情况，找到基尼系数最小的组合，比如</a:t>
            </a:r>
            <a:r>
              <a:rPr lang="en-US" altLang="zh-CN" sz="1200" b="0" i="0" kern="1200">
                <a:solidFill>
                  <a:schemeClr val="tx1"/>
                </a:solidFill>
                <a:effectLst/>
                <a:latin typeface="+mn-lt"/>
                <a:ea typeface="+mn-ea"/>
                <a:cs typeface="+mn-cs"/>
              </a:rPr>
              <a:t>{A2}</a:t>
            </a:r>
            <a:r>
              <a:rPr lang="zh-CN" altLang="en-US" sz="1200" b="0" i="0" kern="1200">
                <a:solidFill>
                  <a:schemeClr val="tx1"/>
                </a:solidFill>
                <a:effectLst/>
                <a:latin typeface="+mn-lt"/>
                <a:ea typeface="+mn-ea"/>
                <a:cs typeface="+mn-cs"/>
              </a:rPr>
              <a:t>和</a:t>
            </a:r>
            <a:r>
              <a:rPr lang="en-US" altLang="zh-CN" sz="1200" b="0" i="0" kern="1200">
                <a:solidFill>
                  <a:schemeClr val="tx1"/>
                </a:solidFill>
                <a:effectLst/>
                <a:latin typeface="+mn-lt"/>
                <a:ea typeface="+mn-ea"/>
                <a:cs typeface="+mn-cs"/>
              </a:rPr>
              <a:t>{A1,A3}</a:t>
            </a:r>
            <a:r>
              <a:rPr lang="zh-CN" altLang="en-US" sz="1200" b="0" i="0" kern="1200">
                <a:solidFill>
                  <a:schemeClr val="tx1"/>
                </a:solidFill>
                <a:effectLst/>
                <a:latin typeface="+mn-lt"/>
                <a:ea typeface="+mn-ea"/>
                <a:cs typeface="+mn-cs"/>
              </a:rPr>
              <a:t>，然后建立二叉树节点，一个节点是</a:t>
            </a:r>
            <a:r>
              <a:rPr lang="en-US" altLang="zh-CN" sz="1200" b="0" i="0" kern="1200">
                <a:solidFill>
                  <a:schemeClr val="tx1"/>
                </a:solidFill>
                <a:effectLst/>
                <a:latin typeface="+mn-lt"/>
                <a:ea typeface="+mn-ea"/>
                <a:cs typeface="+mn-cs"/>
              </a:rPr>
              <a:t>A2</a:t>
            </a:r>
            <a:r>
              <a:rPr lang="zh-CN" altLang="en-US" sz="1200" b="0" i="0" kern="1200">
                <a:solidFill>
                  <a:schemeClr val="tx1"/>
                </a:solidFill>
                <a:effectLst/>
                <a:latin typeface="+mn-lt"/>
                <a:ea typeface="+mn-ea"/>
                <a:cs typeface="+mn-cs"/>
              </a:rPr>
              <a:t>对应的样本，另一个节点是</a:t>
            </a:r>
            <a:r>
              <a:rPr lang="en-US" altLang="zh-CN" sz="1200" b="0" i="0" kern="1200">
                <a:solidFill>
                  <a:schemeClr val="tx1"/>
                </a:solidFill>
                <a:effectLst/>
                <a:latin typeface="+mn-lt"/>
                <a:ea typeface="+mn-ea"/>
                <a:cs typeface="+mn-cs"/>
              </a:rPr>
              <a:t>{A1,A3}</a:t>
            </a:r>
            <a:r>
              <a:rPr lang="zh-CN" altLang="en-US" sz="1200" b="0" i="0" kern="1200">
                <a:solidFill>
                  <a:schemeClr val="tx1"/>
                </a:solidFill>
                <a:effectLst/>
                <a:latin typeface="+mn-lt"/>
                <a:ea typeface="+mn-ea"/>
                <a:cs typeface="+mn-cs"/>
              </a:rPr>
              <a:t>对应的样本。由于这次没有把特征</a:t>
            </a:r>
            <a:r>
              <a:rPr lang="en-US" altLang="zh-CN" sz="1200" b="0" i="0" kern="1200">
                <a:solidFill>
                  <a:schemeClr val="tx1"/>
                </a:solidFill>
                <a:effectLst/>
                <a:latin typeface="+mn-lt"/>
                <a:ea typeface="+mn-ea"/>
                <a:cs typeface="+mn-cs"/>
              </a:rPr>
              <a:t>A</a:t>
            </a:r>
            <a:r>
              <a:rPr lang="zh-CN" altLang="en-US" sz="1200" b="0" i="0" kern="1200">
                <a:solidFill>
                  <a:schemeClr val="tx1"/>
                </a:solidFill>
                <a:effectLst/>
                <a:latin typeface="+mn-lt"/>
                <a:ea typeface="+mn-ea"/>
                <a:cs typeface="+mn-cs"/>
              </a:rPr>
              <a:t>的取值完全分开，后面还有机会对子节点继续选择特征</a:t>
            </a:r>
            <a:r>
              <a:rPr lang="en-US" altLang="zh-CN" sz="1200" b="0" i="0" kern="1200">
                <a:solidFill>
                  <a:schemeClr val="tx1"/>
                </a:solidFill>
                <a:effectLst/>
                <a:latin typeface="+mn-lt"/>
                <a:ea typeface="+mn-ea"/>
                <a:cs typeface="+mn-cs"/>
              </a:rPr>
              <a:t>A</a:t>
            </a:r>
            <a:r>
              <a:rPr lang="zh-CN" altLang="en-US" sz="1200" b="0" i="0" kern="1200">
                <a:solidFill>
                  <a:schemeClr val="tx1"/>
                </a:solidFill>
                <a:effectLst/>
                <a:latin typeface="+mn-lt"/>
                <a:ea typeface="+mn-ea"/>
                <a:cs typeface="+mn-cs"/>
              </a:rPr>
              <a:t>划分</a:t>
            </a:r>
            <a:r>
              <a:rPr lang="en-US" altLang="zh-CN" sz="1200" b="0" i="0" kern="1200">
                <a:solidFill>
                  <a:schemeClr val="tx1"/>
                </a:solidFill>
                <a:effectLst/>
                <a:latin typeface="+mn-lt"/>
                <a:ea typeface="+mn-ea"/>
                <a:cs typeface="+mn-cs"/>
              </a:rPr>
              <a:t>A1</a:t>
            </a:r>
            <a:r>
              <a:rPr lang="zh-CN" altLang="en-US" sz="1200" b="0" i="0" kern="1200">
                <a:solidFill>
                  <a:schemeClr val="tx1"/>
                </a:solidFill>
                <a:effectLst/>
                <a:latin typeface="+mn-lt"/>
                <a:ea typeface="+mn-ea"/>
                <a:cs typeface="+mn-cs"/>
              </a:rPr>
              <a:t>和</a:t>
            </a:r>
            <a:r>
              <a:rPr lang="en-US" altLang="zh-CN" sz="1200" b="0" i="0" kern="1200">
                <a:solidFill>
                  <a:schemeClr val="tx1"/>
                </a:solidFill>
                <a:effectLst/>
                <a:latin typeface="+mn-lt"/>
                <a:ea typeface="+mn-ea"/>
                <a:cs typeface="+mn-cs"/>
              </a:rPr>
              <a:t>A3</a:t>
            </a:r>
            <a:r>
              <a:rPr lang="zh-CN" altLang="en-US" sz="1200" b="0" i="0" kern="1200">
                <a:solidFill>
                  <a:schemeClr val="tx1"/>
                </a:solidFill>
                <a:effectLst/>
                <a:latin typeface="+mn-lt"/>
                <a:ea typeface="+mn-ea"/>
                <a:cs typeface="+mn-cs"/>
              </a:rPr>
              <a:t>。这和</a:t>
            </a:r>
            <a:r>
              <a:rPr lang="en-US" altLang="zh-CN" sz="1200" b="0" i="0" kern="1200">
                <a:solidFill>
                  <a:schemeClr val="tx1"/>
                </a:solidFill>
                <a:effectLst/>
                <a:latin typeface="+mn-lt"/>
                <a:ea typeface="+mn-ea"/>
                <a:cs typeface="+mn-cs"/>
              </a:rPr>
              <a:t>ID3</a:t>
            </a:r>
            <a:r>
              <a:rPr lang="zh-CN" altLang="en-US" sz="1200" b="0" i="0" kern="1200">
                <a:solidFill>
                  <a:schemeClr val="tx1"/>
                </a:solidFill>
                <a:effectLst/>
                <a:latin typeface="+mn-lt"/>
                <a:ea typeface="+mn-ea"/>
                <a:cs typeface="+mn-cs"/>
              </a:rPr>
              <a:t>、</a:t>
            </a:r>
            <a:r>
              <a:rPr lang="en-US" altLang="zh-CN" sz="1200" b="0" i="0" kern="1200">
                <a:solidFill>
                  <a:schemeClr val="tx1"/>
                </a:solidFill>
                <a:effectLst/>
                <a:latin typeface="+mn-lt"/>
                <a:ea typeface="+mn-ea"/>
                <a:cs typeface="+mn-cs"/>
              </a:rPr>
              <a:t>C4.5</a:t>
            </a:r>
            <a:r>
              <a:rPr lang="zh-CN" altLang="en-US" sz="1200" b="0" i="0" kern="1200">
                <a:solidFill>
                  <a:schemeClr val="tx1"/>
                </a:solidFill>
                <a:effectLst/>
                <a:latin typeface="+mn-lt"/>
                <a:ea typeface="+mn-ea"/>
                <a:cs typeface="+mn-cs"/>
              </a:rPr>
              <a:t>不同，在</a:t>
            </a:r>
            <a:r>
              <a:rPr lang="en-US" altLang="zh-CN" sz="1200" b="0" i="0" kern="1200">
                <a:solidFill>
                  <a:schemeClr val="tx1"/>
                </a:solidFill>
                <a:effectLst/>
                <a:latin typeface="+mn-lt"/>
                <a:ea typeface="+mn-ea"/>
                <a:cs typeface="+mn-cs"/>
              </a:rPr>
              <a:t>ID3</a:t>
            </a:r>
            <a:r>
              <a:rPr lang="zh-CN" altLang="en-US" sz="1200" b="0" i="0" kern="1200">
                <a:solidFill>
                  <a:schemeClr val="tx1"/>
                </a:solidFill>
                <a:effectLst/>
                <a:latin typeface="+mn-lt"/>
                <a:ea typeface="+mn-ea"/>
                <a:cs typeface="+mn-cs"/>
              </a:rPr>
              <a:t>或</a:t>
            </a:r>
            <a:r>
              <a:rPr lang="en-US" altLang="zh-CN" sz="1200" b="0" i="0" kern="1200">
                <a:solidFill>
                  <a:schemeClr val="tx1"/>
                </a:solidFill>
                <a:effectLst/>
                <a:latin typeface="+mn-lt"/>
                <a:ea typeface="+mn-ea"/>
                <a:cs typeface="+mn-cs"/>
              </a:rPr>
              <a:t>C4.5</a:t>
            </a:r>
            <a:r>
              <a:rPr lang="zh-CN" altLang="en-US" sz="1200" b="0" i="0" kern="1200">
                <a:solidFill>
                  <a:schemeClr val="tx1"/>
                </a:solidFill>
                <a:effectLst/>
                <a:latin typeface="+mn-lt"/>
                <a:ea typeface="+mn-ea"/>
                <a:cs typeface="+mn-cs"/>
              </a:rPr>
              <a:t>的一颗子树中，离散特征只会参与一次节点的建立。</a:t>
            </a:r>
          </a:p>
          <a:p>
            <a:endParaRPr lang="zh-CN" altLang="en-US"/>
          </a:p>
        </p:txBody>
      </p:sp>
      <p:sp>
        <p:nvSpPr>
          <p:cNvPr id="4" name="灯片编号占位符 3"/>
          <p:cNvSpPr>
            <a:spLocks noGrp="1"/>
          </p:cNvSpPr>
          <p:nvPr>
            <p:ph type="sldNum" sz="quarter" idx="5"/>
          </p:nvPr>
        </p:nvSpPr>
        <p:spPr/>
        <p:txBody>
          <a:bodyPr/>
          <a:lstStyle/>
          <a:p>
            <a:fld id="{793AD677-048F-409F-AACD-0A0B5EF61C8C}" type="slidenum">
              <a:rPr lang="zh-CN" altLang="en-US" smtClean="0"/>
              <a:t>58</a:t>
            </a:fld>
            <a:endParaRPr lang="zh-CN" altLang="en-US"/>
          </a:p>
        </p:txBody>
      </p:sp>
    </p:spTree>
    <p:extLst>
      <p:ext uri="{BB962C8B-B14F-4D97-AF65-F5344CB8AC3E}">
        <p14:creationId xmlns:p14="http://schemas.microsoft.com/office/powerpoint/2010/main" val="7532047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59</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76</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93</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94</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a:p>
        </p:txBody>
      </p:sp>
      <p:sp>
        <p:nvSpPr>
          <p:cNvPr id="4" name="灯片编号占位符 3"/>
          <p:cNvSpPr>
            <a:spLocks noGrp="1"/>
          </p:cNvSpPr>
          <p:nvPr>
            <p:ph type="sldNum" sz="quarter" idx="10"/>
          </p:nvPr>
        </p:nvSpPr>
        <p:spPr/>
        <p:txBody>
          <a:bodyPr/>
          <a:lstStyle/>
          <a:p>
            <a:fld id="{793AD677-048F-409F-AACD-0A0B5EF61C8C}" type="slidenum">
              <a:rPr lang="zh-CN" altLang="en-US" smtClean="0"/>
              <a:t>95</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96</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97</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ACA37975-6AF7-4301-9DC5-87C074AA59D1}" type="datetimeFigureOut">
              <a:rPr lang="zh-CN" altLang="en-US" smtClean="0"/>
              <a:t>2022/12/8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五边形 7"/>
          <p:cNvSpPr/>
          <p:nvPr userDrawn="1"/>
        </p:nvSpPr>
        <p:spPr>
          <a:xfrm>
            <a:off x="0" y="217805"/>
            <a:ext cx="463486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solidFill>
                <a:srgbClr val="FFC000"/>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CA37975-6AF7-4301-9DC5-87C074AA59D1}" type="datetimeFigureOut">
              <a:rPr lang="zh-CN" altLang="en-US" smtClean="0"/>
              <a:t>2022/12/8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ACA37975-6AF7-4301-9DC5-87C074AA59D1}" type="datetimeFigureOut">
              <a:rPr lang="zh-CN" altLang="en-US" smtClean="0"/>
              <a:t>2022/12/8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CA37975-6AF7-4301-9DC5-87C074AA59D1}" type="datetimeFigureOut">
              <a:rPr lang="zh-CN" altLang="en-US" smtClean="0"/>
              <a:t>2022/12/8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hasCustomPrompt="1"/>
          </p:nvPr>
        </p:nvSpPr>
        <p:spPr>
          <a:xfrm>
            <a:off x="629842" y="1878806"/>
            <a:ext cx="3868340"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1878806"/>
            <a:ext cx="3887391"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ACA37975-6AF7-4301-9DC5-87C074AA59D1}" type="datetimeFigureOut">
              <a:rPr lang="zh-CN" altLang="en-US" smtClean="0"/>
              <a:t>2022/12/8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A37975-6AF7-4301-9DC5-87C074AA59D1}" type="datetimeFigureOut">
              <a:rPr lang="zh-CN" altLang="en-US" smtClean="0"/>
              <a:t>2022/12/8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A37975-6AF7-4301-9DC5-87C074AA59D1}" type="datetimeFigureOut">
              <a:rPr lang="zh-CN" altLang="en-US" smtClean="0"/>
              <a:t>2022/12/8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ACA37975-6AF7-4301-9DC5-87C074AA59D1}" type="datetimeFigureOut">
              <a:rPr lang="zh-CN" altLang="en-US" smtClean="0"/>
              <a:t>2022/12/8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a:p>
        </p:txBody>
      </p:sp>
      <p:sp>
        <p:nvSpPr>
          <p:cNvPr id="4" name="Text Placeholder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ACA37975-6AF7-4301-9DC5-87C074AA59D1}" type="datetimeFigureOut">
              <a:rPr lang="zh-CN" altLang="en-US" smtClean="0"/>
              <a:t>2022/12/8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CA37975-6AF7-4301-9DC5-87C074AA59D1}" type="datetimeFigureOut">
              <a:rPr lang="zh-CN" altLang="en-US" smtClean="0"/>
              <a:t>2022/12/8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273844"/>
            <a:ext cx="5800725" cy="4358879"/>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CA37975-6AF7-4301-9DC5-87C074AA59D1}" type="datetimeFigureOut">
              <a:rPr lang="zh-CN" altLang="en-US" smtClean="0"/>
              <a:t>2022/12/8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ACA37975-6AF7-4301-9DC5-87C074AA59D1}" type="datetimeFigureOut">
              <a:rPr lang="zh-CN" altLang="en-US" smtClean="0"/>
              <a:t>2022/12/8</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27987A4-0198-42B4-AAAE-EDBADA4485A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000" b="1"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chart" Target="../charts/chart2.xml"/><Relationship Id="rId4" Type="http://schemas.openxmlformats.org/officeDocument/2006/relationships/chart" Target="../charts/chart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4.jpeg"/><Relationship Id="rId4" Type="http://schemas.openxmlformats.org/officeDocument/2006/relationships/image" Target="../media/image23.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hemeOverride" Target="../theme/themeOverride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31.png"/><Relationship Id="rId5" Type="http://schemas.openxmlformats.org/officeDocument/2006/relationships/image" Target="../media/image26.emf"/><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27.jpeg"/><Relationship Id="rId7"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3.jpeg"/><Relationship Id="rId4" Type="http://schemas.openxmlformats.org/officeDocument/2006/relationships/image" Target="../media/image32.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39.jpeg"/></Relationships>
</file>

<file path=ppt/slides/_rels/slide3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3.xml"/></Relationships>
</file>

<file path=ppt/slides/_rels/slide5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3.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image" Target="../media/image64.jpe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jpeg"/><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slideLayout" Target="../slideLayouts/slideLayout8.xml"/><Relationship Id="rId1" Type="http://schemas.openxmlformats.org/officeDocument/2006/relationships/tags" Target="../tags/tag1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6.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1.xml"/><Relationship Id="rId1" Type="http://schemas.openxmlformats.org/officeDocument/2006/relationships/slideLayout" Target="../slideLayouts/slideLayout8.xml"/><Relationship Id="rId5" Type="http://schemas.openxmlformats.org/officeDocument/2006/relationships/image" Target="../media/image77.jpe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354" y="0"/>
            <a:ext cx="9141291" cy="5143500"/>
          </a:xfrm>
          <a:prstGeom prst="rect">
            <a:avLst/>
          </a:prstGeom>
        </p:spPr>
      </p:pic>
      <p:pic>
        <p:nvPicPr>
          <p:cNvPr id="3" name="图片 2"/>
          <p:cNvPicPr>
            <a:picLocks noChangeAspect="1"/>
          </p:cNvPicPr>
          <p:nvPr/>
        </p:nvPicPr>
        <p:blipFill>
          <a:blip r:embed="rId4"/>
          <a:stretch>
            <a:fillRect/>
          </a:stretch>
        </p:blipFill>
        <p:spPr>
          <a:xfrm>
            <a:off x="1563873" y="1026542"/>
            <a:ext cx="6016254" cy="3090416"/>
          </a:xfrm>
          <a:prstGeom prst="rect">
            <a:avLst/>
          </a:prstGeom>
        </p:spPr>
      </p:pic>
      <p:pic>
        <p:nvPicPr>
          <p:cNvPr id="4" name="图片 3"/>
          <p:cNvPicPr>
            <a:picLocks noChangeAspect="1"/>
          </p:cNvPicPr>
          <p:nvPr/>
        </p:nvPicPr>
        <p:blipFill>
          <a:blip r:embed="rId5"/>
          <a:stretch>
            <a:fillRect/>
          </a:stretch>
        </p:blipFill>
        <p:spPr>
          <a:xfrm>
            <a:off x="1129665" y="0"/>
            <a:ext cx="6884670" cy="4974590"/>
          </a:xfrm>
          <a:prstGeom prst="rect">
            <a:avLst/>
          </a:prstGeom>
        </p:spPr>
      </p:pic>
      <p:sp>
        <p:nvSpPr>
          <p:cNvPr id="5" name="文本框 4"/>
          <p:cNvSpPr txBox="1"/>
          <p:nvPr/>
        </p:nvSpPr>
        <p:spPr>
          <a:xfrm>
            <a:off x="1945784" y="2249468"/>
            <a:ext cx="5224507" cy="646331"/>
          </a:xfrm>
          <a:prstGeom prst="rect">
            <a:avLst/>
          </a:prstGeom>
          <a:noFill/>
        </p:spPr>
        <p:txBody>
          <a:bodyPr wrap="none" rtlCol="0">
            <a:spAutoFit/>
          </a:bodyPr>
          <a:lstStyle/>
          <a:p>
            <a:pPr algn="l"/>
            <a:r>
              <a:rPr lang="zh-CN" altLang="en-US" sz="3600" b="1">
                <a:solidFill>
                  <a:schemeClr val="bg1"/>
                </a:solidFill>
                <a:latin typeface="微软雅黑" panose="020B0503020204020204" pitchFamily="34" charset="-122"/>
                <a:ea typeface="微软雅黑" panose="020B0503020204020204" pitchFamily="34" charset="-122"/>
              </a:rPr>
              <a:t>第8章 大数据分析与挖掘</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1+#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3" presetClass="entr" presetSubtype="16"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1000" fill="hold"/>
                                        <p:tgtEl>
                                          <p:spTgt spid="4"/>
                                        </p:tgtEl>
                                        <p:attrNameLst>
                                          <p:attrName>ppt_w</p:attrName>
                                        </p:attrNameLst>
                                      </p:cBhvr>
                                      <p:tavLst>
                                        <p:tav tm="0">
                                          <p:val>
                                            <p:fltVal val="0"/>
                                          </p:val>
                                        </p:tav>
                                        <p:tav tm="100000">
                                          <p:val>
                                            <p:strVal val="#ppt_w"/>
                                          </p:val>
                                        </p:tav>
                                      </p:tavLst>
                                    </p:anim>
                                    <p:anim calcmode="lin" valueType="num">
                                      <p:cBhvr>
                                        <p:cTn id="13" dur="1000" fill="hold"/>
                                        <p:tgtEl>
                                          <p:spTgt spid="4"/>
                                        </p:tgtEl>
                                        <p:attrNameLst>
                                          <p:attrName>ppt_h</p:attrName>
                                        </p:attrNameLst>
                                      </p:cBhvr>
                                      <p:tavLst>
                                        <p:tav tm="0">
                                          <p:val>
                                            <p:fltVal val="0"/>
                                          </p:val>
                                        </p:tav>
                                        <p:tav tm="100000">
                                          <p:val>
                                            <p:strVal val="#ppt_h"/>
                                          </p:val>
                                        </p:tav>
                                      </p:tavLst>
                                    </p:anim>
                                  </p:childTnLst>
                                </p:cTn>
                              </p:par>
                            </p:childTnLst>
                          </p:cTn>
                        </p:par>
                        <p:par>
                          <p:cTn id="14" fill="hold">
                            <p:stCondLst>
                              <p:cond delay="2000"/>
                            </p:stCondLst>
                            <p:childTnLst>
                              <p:par>
                                <p:cTn id="15" presetID="10" presetClass="entr" presetSubtype="0" fill="hold" grpId="0" nodeType="afterEffect">
                                  <p:stCondLst>
                                    <p:cond delay="0"/>
                                  </p:stCondLst>
                                  <p:iterate type="lt">
                                    <p:tmPct val="14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84" y="-177800"/>
            <a:ext cx="9141291" cy="5143500"/>
          </a:xfrm>
          <a:prstGeom prst="rect">
            <a:avLst/>
          </a:prstGeom>
        </p:spPr>
      </p:pic>
      <p:grpSp>
        <p:nvGrpSpPr>
          <p:cNvPr id="25" name="组合 54"/>
          <p:cNvGrpSpPr/>
          <p:nvPr/>
        </p:nvGrpSpPr>
        <p:grpSpPr bwMode="auto">
          <a:xfrm>
            <a:off x="0" y="349949"/>
            <a:ext cx="9142645" cy="841713"/>
            <a:chOff x="256379" y="27271"/>
            <a:chExt cx="7683149" cy="841022"/>
          </a:xfrm>
        </p:grpSpPr>
        <p:grpSp>
          <p:nvGrpSpPr>
            <p:cNvPr id="26" name="组合 55"/>
            <p:cNvGrpSpPr/>
            <p:nvPr/>
          </p:nvGrpSpPr>
          <p:grpSpPr bwMode="auto">
            <a:xfrm>
              <a:off x="256379" y="27271"/>
              <a:ext cx="7683149" cy="837427"/>
              <a:chOff x="256379" y="27271"/>
              <a:chExt cx="7683149" cy="837427"/>
            </a:xfrm>
          </p:grpSpPr>
          <p:sp>
            <p:nvSpPr>
              <p:cNvPr id="28" name="文本框 57"/>
              <p:cNvSpPr txBox="1">
                <a:spLocks noChangeArrowheads="1"/>
              </p:cNvSpPr>
              <p:nvPr/>
            </p:nvSpPr>
            <p:spPr bwMode="auto">
              <a:xfrm>
                <a:off x="439196" y="27271"/>
                <a:ext cx="1432561" cy="584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3200" b="1">
                    <a:solidFill>
                      <a:srgbClr val="FFC000"/>
                    </a:solidFill>
                    <a:latin typeface="微软雅黑" panose="020B0503020204020204" pitchFamily="34" charset="-122"/>
                    <a:ea typeface="微软雅黑" panose="020B0503020204020204" pitchFamily="34" charset="-122"/>
                  </a:rPr>
                  <a:t>目 录</a:t>
                </a:r>
              </a:p>
            </p:txBody>
          </p:sp>
          <p:cxnSp>
            <p:nvCxnSpPr>
              <p:cNvPr id="29" name="直接连接符 58"/>
              <p:cNvCxnSpPr>
                <a:cxnSpLocks noChangeShapeType="1"/>
              </p:cNvCxnSpPr>
              <p:nvPr/>
            </p:nvCxnSpPr>
            <p:spPr bwMode="auto">
              <a:xfrm flipV="1">
                <a:off x="256379" y="817054"/>
                <a:ext cx="7683149" cy="47644"/>
              </a:xfrm>
              <a:prstGeom prst="line">
                <a:avLst/>
              </a:prstGeom>
              <a:noFill/>
              <a:ln w="6350">
                <a:solidFill>
                  <a:schemeClr val="bg1"/>
                </a:solidFill>
                <a:round/>
              </a:ln>
              <a:extLst>
                <a:ext uri="{909E8E84-426E-40DD-AFC4-6F175D3DCCD1}">
                  <a14:hiddenFill xmlns:a14="http://schemas.microsoft.com/office/drawing/2010/main">
                    <a:noFill/>
                  </a14:hiddenFill>
                </a:ext>
              </a:extLst>
            </p:spPr>
          </p:cxnSp>
        </p:grpSp>
        <p:sp>
          <p:nvSpPr>
            <p:cNvPr id="27" name="文本框 56"/>
            <p:cNvSpPr txBox="1">
              <a:spLocks noChangeArrowheads="1"/>
            </p:cNvSpPr>
            <p:nvPr/>
          </p:nvSpPr>
          <p:spPr bwMode="auto">
            <a:xfrm>
              <a:off x="871257" y="499264"/>
              <a:ext cx="1050505" cy="369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dist" eaLnBrk="1" hangingPunct="1"/>
              <a:r>
                <a:rPr lang="en-US" altLang="zh-CN">
                  <a:solidFill>
                    <a:schemeClr val="bg1"/>
                  </a:solidFill>
                  <a:latin typeface="微软雅黑" panose="020B0503020204020204" pitchFamily="34" charset="-122"/>
                  <a:ea typeface="微软雅黑" panose="020B0503020204020204" pitchFamily="34" charset="-122"/>
                </a:rPr>
                <a:t>Contents</a:t>
              </a:r>
              <a:endParaRPr lang="zh-CN" altLang="en-US">
                <a:solidFill>
                  <a:schemeClr val="bg1"/>
                </a:solidFill>
                <a:latin typeface="微软雅黑" panose="020B0503020204020204" pitchFamily="34" charset="-122"/>
                <a:ea typeface="微软雅黑" panose="020B0503020204020204" pitchFamily="34" charset="-122"/>
              </a:endParaRPr>
            </a:p>
          </p:txBody>
        </p:sp>
      </p:grpSp>
      <p:grpSp>
        <p:nvGrpSpPr>
          <p:cNvPr id="36" name="组合 35"/>
          <p:cNvGrpSpPr/>
          <p:nvPr/>
        </p:nvGrpSpPr>
        <p:grpSpPr>
          <a:xfrm>
            <a:off x="1323340" y="1297940"/>
            <a:ext cx="4714240" cy="518795"/>
            <a:chOff x="903" y="3512"/>
            <a:chExt cx="7424" cy="817"/>
          </a:xfrm>
        </p:grpSpPr>
        <p:grpSp>
          <p:nvGrpSpPr>
            <p:cNvPr id="4" name="组合 3"/>
            <p:cNvGrpSpPr/>
            <p:nvPr/>
          </p:nvGrpSpPr>
          <p:grpSpPr>
            <a:xfrm>
              <a:off x="903" y="3512"/>
              <a:ext cx="7424" cy="817"/>
              <a:chOff x="1264" y="2025"/>
              <a:chExt cx="5382" cy="817"/>
            </a:xfrm>
          </p:grpSpPr>
          <p:sp>
            <p:nvSpPr>
              <p:cNvPr id="10" name="Freeform 6"/>
              <p:cNvSpPr/>
              <p:nvPr/>
            </p:nvSpPr>
            <p:spPr bwMode="auto">
              <a:xfrm>
                <a:off x="1337" y="2026"/>
                <a:ext cx="1029" cy="816"/>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grpSp>
            <p:nvGrpSpPr>
              <p:cNvPr id="3" name="组合 2"/>
              <p:cNvGrpSpPr/>
              <p:nvPr/>
            </p:nvGrpSpPr>
            <p:grpSpPr>
              <a:xfrm>
                <a:off x="1264" y="2025"/>
                <a:ext cx="5382" cy="816"/>
                <a:chOff x="4471" y="2958"/>
                <a:chExt cx="5382" cy="816"/>
              </a:xfrm>
            </p:grpSpPr>
            <p:sp>
              <p:nvSpPr>
                <p:cNvPr id="9" name="Rectangle 5"/>
                <p:cNvSpPr>
                  <a:spLocks noChangeArrowheads="1"/>
                </p:cNvSpPr>
                <p:nvPr/>
              </p:nvSpPr>
              <p:spPr bwMode="auto">
                <a:xfrm>
                  <a:off x="4544" y="2958"/>
                  <a:ext cx="5309" cy="816"/>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11" name="TextBox 144"/>
                <p:cNvSpPr txBox="1"/>
                <p:nvPr/>
              </p:nvSpPr>
              <p:spPr>
                <a:xfrm>
                  <a:off x="4471" y="3015"/>
                  <a:ext cx="816" cy="687"/>
                </a:xfrm>
                <a:prstGeom prst="rect">
                  <a:avLst/>
                </a:prstGeom>
                <a:noFill/>
              </p:spPr>
              <p:txBody>
                <a:bodyPr wrap="square" lIns="68553" tIns="34277" rIns="68553" bIns="34277" rtlCol="0">
                  <a:spAutoFit/>
                </a:bodyPr>
                <a:lstStyle/>
                <a:p>
                  <a:pPr algn="ctr" fontAlgn="base">
                    <a:spcBef>
                      <a:spcPct val="0"/>
                    </a:spcBef>
                    <a:spcAft>
                      <a:spcPct val="0"/>
                    </a:spcAft>
                    <a:buFont typeface="Arial" panose="020B0604020202020204" pitchFamily="34" charset="0"/>
                    <a:buNone/>
                  </a:pPr>
                  <a:r>
                    <a:rPr lang="en-US" sz="2400" b="1">
                      <a:solidFill>
                        <a:schemeClr val="bg1"/>
                      </a:solidFill>
                      <a:latin typeface="微软雅黑" panose="020B0503020204020204" pitchFamily="34" charset="-122"/>
                      <a:ea typeface="微软雅黑" panose="020B0503020204020204" pitchFamily="34" charset="-122"/>
                      <a:sym typeface="+mn-ea"/>
                    </a:rPr>
                    <a:t>8.1</a:t>
                  </a:r>
                  <a:endParaRPr lang="en-US" altLang="en-US" sz="2400" b="1">
                    <a:solidFill>
                      <a:schemeClr val="bg1"/>
                    </a:solidFill>
                    <a:latin typeface="微软雅黑" panose="020B0503020204020204" pitchFamily="34" charset="-122"/>
                    <a:ea typeface="微软雅黑" panose="020B0503020204020204" pitchFamily="34" charset="-122"/>
                    <a:sym typeface="+mn-ea"/>
                  </a:endParaRPr>
                </a:p>
              </p:txBody>
            </p:sp>
          </p:grpSp>
        </p:grpSp>
        <p:sp>
          <p:nvSpPr>
            <p:cNvPr id="100" name="文本框 99"/>
            <p:cNvSpPr txBox="1"/>
            <p:nvPr/>
          </p:nvSpPr>
          <p:spPr>
            <a:xfrm>
              <a:off x="2276" y="3631"/>
              <a:ext cx="6050" cy="580"/>
            </a:xfrm>
            <a:prstGeom prst="rect">
              <a:avLst/>
            </a:prstGeom>
            <a:noFill/>
            <a:ln w="9525">
              <a:noFill/>
            </a:ln>
          </p:spPr>
          <p:txBody>
            <a:bodyPr wrap="square">
              <a:spAutoFit/>
            </a:bodyPr>
            <a:lstStyle/>
            <a:p>
              <a:pPr marL="396240" indent="-396240"/>
              <a:r>
                <a:rPr lang="en-US" sz="1800" b="1">
                  <a:solidFill>
                    <a:schemeClr val="bg1"/>
                  </a:solidFill>
                  <a:latin typeface="等线 Light" panose="02010600030101010101" charset="-122"/>
                  <a:ea typeface="等线" panose="02010600030101010101" pitchFamily="2" charset="-122"/>
                </a:rPr>
                <a:t> </a:t>
              </a:r>
              <a:r>
                <a:rPr sz="1800" b="1">
                  <a:solidFill>
                    <a:schemeClr val="bg1"/>
                  </a:solidFill>
                  <a:latin typeface="等线 Light" panose="02010600030101010101" charset="-122"/>
                  <a:ea typeface="等线" panose="02010600030101010101" pitchFamily="2" charset="-122"/>
                </a:rPr>
                <a:t>数据的描述性分析</a:t>
              </a:r>
            </a:p>
          </p:txBody>
        </p:sp>
      </p:grpSp>
      <p:grpSp>
        <p:nvGrpSpPr>
          <p:cNvPr id="48" name="组合 47"/>
          <p:cNvGrpSpPr/>
          <p:nvPr/>
        </p:nvGrpSpPr>
        <p:grpSpPr>
          <a:xfrm>
            <a:off x="1323340" y="1998980"/>
            <a:ext cx="4714240" cy="518795"/>
            <a:chOff x="903" y="3512"/>
            <a:chExt cx="7424" cy="817"/>
          </a:xfrm>
        </p:grpSpPr>
        <p:grpSp>
          <p:nvGrpSpPr>
            <p:cNvPr id="49" name="组合 48"/>
            <p:cNvGrpSpPr/>
            <p:nvPr/>
          </p:nvGrpSpPr>
          <p:grpSpPr>
            <a:xfrm>
              <a:off x="903" y="3512"/>
              <a:ext cx="7424" cy="817"/>
              <a:chOff x="1264" y="2025"/>
              <a:chExt cx="5382" cy="817"/>
            </a:xfrm>
          </p:grpSpPr>
          <p:sp>
            <p:nvSpPr>
              <p:cNvPr id="50" name="Freeform 6"/>
              <p:cNvSpPr/>
              <p:nvPr/>
            </p:nvSpPr>
            <p:spPr bwMode="auto">
              <a:xfrm>
                <a:off x="1337" y="2026"/>
                <a:ext cx="1029" cy="816"/>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grpSp>
            <p:nvGrpSpPr>
              <p:cNvPr id="51" name="组合 50"/>
              <p:cNvGrpSpPr/>
              <p:nvPr/>
            </p:nvGrpSpPr>
            <p:grpSpPr>
              <a:xfrm>
                <a:off x="1264" y="2025"/>
                <a:ext cx="5382" cy="816"/>
                <a:chOff x="4471" y="2958"/>
                <a:chExt cx="5382" cy="816"/>
              </a:xfrm>
            </p:grpSpPr>
            <p:sp>
              <p:nvSpPr>
                <p:cNvPr id="52" name="Rectangle 5"/>
                <p:cNvSpPr>
                  <a:spLocks noChangeArrowheads="1"/>
                </p:cNvSpPr>
                <p:nvPr/>
              </p:nvSpPr>
              <p:spPr bwMode="auto">
                <a:xfrm>
                  <a:off x="4544" y="2958"/>
                  <a:ext cx="5309" cy="816"/>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53" name="TextBox 144"/>
                <p:cNvSpPr txBox="1"/>
                <p:nvPr/>
              </p:nvSpPr>
              <p:spPr>
                <a:xfrm>
                  <a:off x="4471" y="3015"/>
                  <a:ext cx="816" cy="687"/>
                </a:xfrm>
                <a:prstGeom prst="rect">
                  <a:avLst/>
                </a:prstGeom>
                <a:noFill/>
              </p:spPr>
              <p:txBody>
                <a:bodyPr wrap="square" lIns="68553" tIns="34277" rIns="68553" bIns="34277" rtlCol="0">
                  <a:spAutoFit/>
                </a:bodyPr>
                <a:lstStyle/>
                <a:p>
                  <a:pPr algn="ctr" fontAlgn="base">
                    <a:spcBef>
                      <a:spcPct val="0"/>
                    </a:spcBef>
                    <a:spcAft>
                      <a:spcPct val="0"/>
                    </a:spcAft>
                    <a:buFont typeface="Arial" panose="020B0604020202020204" pitchFamily="34" charset="0"/>
                    <a:buNone/>
                  </a:pPr>
                  <a:r>
                    <a:rPr lang="en-US" sz="2400" b="1">
                      <a:solidFill>
                        <a:schemeClr val="bg1"/>
                      </a:solidFill>
                      <a:latin typeface="微软雅黑" panose="020B0503020204020204" pitchFamily="34" charset="-122"/>
                      <a:ea typeface="微软雅黑" panose="020B0503020204020204" pitchFamily="34" charset="-122"/>
                    </a:rPr>
                    <a:t>8.</a:t>
                  </a:r>
                  <a:r>
                    <a:rPr lang="en-US" sz="2400" b="1">
                      <a:solidFill>
                        <a:schemeClr val="bg1"/>
                      </a:solidFill>
                      <a:latin typeface="微软雅黑" panose="020B0503020204020204" pitchFamily="34" charset="-122"/>
                      <a:ea typeface="微软雅黑" panose="020B0503020204020204" pitchFamily="34" charset="-122"/>
                      <a:sym typeface="+mn-ea"/>
                    </a:rPr>
                    <a:t>2</a:t>
                  </a:r>
                  <a:endParaRPr lang="zh-CN" altLang="en-US" sz="2400" b="1">
                    <a:solidFill>
                      <a:schemeClr val="bg1"/>
                    </a:solidFill>
                    <a:latin typeface="微软雅黑" panose="020B0503020204020204" pitchFamily="34" charset="-122"/>
                  </a:endParaRPr>
                </a:p>
              </p:txBody>
            </p:sp>
          </p:grpSp>
        </p:grpSp>
        <p:sp>
          <p:nvSpPr>
            <p:cNvPr id="54" name="文本框 53"/>
            <p:cNvSpPr txBox="1"/>
            <p:nvPr/>
          </p:nvSpPr>
          <p:spPr>
            <a:xfrm>
              <a:off x="2276" y="3631"/>
              <a:ext cx="6050" cy="580"/>
            </a:xfrm>
            <a:prstGeom prst="rect">
              <a:avLst/>
            </a:prstGeom>
            <a:noFill/>
            <a:ln w="9525">
              <a:noFill/>
            </a:ln>
          </p:spPr>
          <p:txBody>
            <a:bodyPr wrap="square">
              <a:spAutoFit/>
            </a:bodyPr>
            <a:lstStyle/>
            <a:p>
              <a:pPr marL="396240" indent="-396240"/>
              <a:r>
                <a:rPr lang="en-US" sz="1800" b="1">
                  <a:solidFill>
                    <a:schemeClr val="bg1"/>
                  </a:solidFill>
                  <a:latin typeface="等线 Light" panose="02010600030101010101" charset="-122"/>
                  <a:ea typeface="等线" panose="02010600030101010101" pitchFamily="2" charset="-122"/>
                </a:rPr>
                <a:t> </a:t>
              </a:r>
              <a:r>
                <a:rPr sz="1800" b="1">
                  <a:solidFill>
                    <a:schemeClr val="bg1"/>
                  </a:solidFill>
                  <a:latin typeface="等线 Light" panose="02010600030101010101" charset="-122"/>
                  <a:ea typeface="等线" panose="02010600030101010101" pitchFamily="2" charset="-122"/>
                </a:rPr>
                <a:t>回归分析</a:t>
              </a:r>
            </a:p>
          </p:txBody>
        </p:sp>
      </p:grpSp>
      <p:grpSp>
        <p:nvGrpSpPr>
          <p:cNvPr id="56" name="组合 55"/>
          <p:cNvGrpSpPr/>
          <p:nvPr/>
        </p:nvGrpSpPr>
        <p:grpSpPr>
          <a:xfrm>
            <a:off x="1322705" y="2672080"/>
            <a:ext cx="4714240" cy="518795"/>
            <a:chOff x="903" y="3512"/>
            <a:chExt cx="7424" cy="817"/>
          </a:xfrm>
        </p:grpSpPr>
        <p:grpSp>
          <p:nvGrpSpPr>
            <p:cNvPr id="57" name="组合 56"/>
            <p:cNvGrpSpPr/>
            <p:nvPr/>
          </p:nvGrpSpPr>
          <p:grpSpPr>
            <a:xfrm>
              <a:off x="903" y="3512"/>
              <a:ext cx="7424" cy="817"/>
              <a:chOff x="1264" y="2025"/>
              <a:chExt cx="5382" cy="817"/>
            </a:xfrm>
          </p:grpSpPr>
          <p:sp>
            <p:nvSpPr>
              <p:cNvPr id="58" name="Freeform 6"/>
              <p:cNvSpPr/>
              <p:nvPr/>
            </p:nvSpPr>
            <p:spPr bwMode="auto">
              <a:xfrm>
                <a:off x="1337" y="2026"/>
                <a:ext cx="1029" cy="816"/>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grpSp>
            <p:nvGrpSpPr>
              <p:cNvPr id="59" name="组合 58"/>
              <p:cNvGrpSpPr/>
              <p:nvPr/>
            </p:nvGrpSpPr>
            <p:grpSpPr>
              <a:xfrm>
                <a:off x="1264" y="2025"/>
                <a:ext cx="5382" cy="816"/>
                <a:chOff x="4471" y="2958"/>
                <a:chExt cx="5382" cy="816"/>
              </a:xfrm>
            </p:grpSpPr>
            <p:sp>
              <p:nvSpPr>
                <p:cNvPr id="60" name="Rectangle 5"/>
                <p:cNvSpPr>
                  <a:spLocks noChangeArrowheads="1"/>
                </p:cNvSpPr>
                <p:nvPr/>
              </p:nvSpPr>
              <p:spPr bwMode="auto">
                <a:xfrm>
                  <a:off x="4544" y="2958"/>
                  <a:ext cx="5309" cy="816"/>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61" name="TextBox 144"/>
                <p:cNvSpPr txBox="1"/>
                <p:nvPr/>
              </p:nvSpPr>
              <p:spPr>
                <a:xfrm>
                  <a:off x="4471" y="3015"/>
                  <a:ext cx="816" cy="687"/>
                </a:xfrm>
                <a:prstGeom prst="rect">
                  <a:avLst/>
                </a:prstGeom>
                <a:noFill/>
              </p:spPr>
              <p:txBody>
                <a:bodyPr wrap="square" lIns="68553" tIns="34277" rIns="68553" bIns="34277" rtlCol="0">
                  <a:spAutoFit/>
                </a:bodyPr>
                <a:lstStyle/>
                <a:p>
                  <a:pPr algn="ctr" fontAlgn="base">
                    <a:spcBef>
                      <a:spcPct val="0"/>
                    </a:spcBef>
                    <a:spcAft>
                      <a:spcPct val="0"/>
                    </a:spcAft>
                    <a:buFont typeface="Arial" panose="020B0604020202020204" pitchFamily="34" charset="0"/>
                    <a:buNone/>
                  </a:pPr>
                  <a:r>
                    <a:rPr lang="en-US" sz="2400" b="1">
                      <a:solidFill>
                        <a:schemeClr val="bg1"/>
                      </a:solidFill>
                      <a:latin typeface="微软雅黑" panose="020B0503020204020204" pitchFamily="34" charset="-122"/>
                      <a:ea typeface="微软雅黑" panose="020B0503020204020204" pitchFamily="34" charset="-122"/>
                      <a:sym typeface="+mn-ea"/>
                    </a:rPr>
                    <a:t>8.3</a:t>
                  </a:r>
                  <a:endParaRPr lang="en-US" sz="2400" b="1">
                    <a:solidFill>
                      <a:schemeClr val="bg1"/>
                    </a:solidFill>
                    <a:latin typeface="微软雅黑" panose="020B0503020204020204" pitchFamily="34" charset="-122"/>
                    <a:ea typeface="微软雅黑" panose="020B0503020204020204" pitchFamily="34" charset="-122"/>
                  </a:endParaRPr>
                </a:p>
              </p:txBody>
            </p:sp>
          </p:grpSp>
        </p:grpSp>
        <p:sp>
          <p:nvSpPr>
            <p:cNvPr id="62" name="文本框 61"/>
            <p:cNvSpPr txBox="1"/>
            <p:nvPr/>
          </p:nvSpPr>
          <p:spPr>
            <a:xfrm>
              <a:off x="2276" y="3631"/>
              <a:ext cx="6050" cy="580"/>
            </a:xfrm>
            <a:prstGeom prst="rect">
              <a:avLst/>
            </a:prstGeom>
            <a:noFill/>
            <a:ln w="9525">
              <a:noFill/>
            </a:ln>
          </p:spPr>
          <p:txBody>
            <a:bodyPr wrap="square">
              <a:spAutoFit/>
            </a:bodyPr>
            <a:lstStyle/>
            <a:p>
              <a:pPr marL="396240" indent="-396240"/>
              <a:r>
                <a:rPr lang="en-US" sz="1800" b="1">
                  <a:solidFill>
                    <a:schemeClr val="bg1"/>
                  </a:solidFill>
                  <a:latin typeface="等线 Light" panose="02010600030101010101" charset="-122"/>
                  <a:ea typeface="等线" panose="02010600030101010101" pitchFamily="2" charset="-122"/>
                </a:rPr>
                <a:t> </a:t>
              </a:r>
              <a:r>
                <a:rPr sz="1800" b="1">
                  <a:solidFill>
                    <a:schemeClr val="bg1"/>
                  </a:solidFill>
                  <a:latin typeface="等线 Light" panose="02010600030101010101" charset="-122"/>
                  <a:ea typeface="等线" panose="02010600030101010101" pitchFamily="2" charset="-122"/>
                </a:rPr>
                <a:t>分类算法简介</a:t>
              </a:r>
            </a:p>
          </p:txBody>
        </p:sp>
      </p:grpSp>
      <p:grpSp>
        <p:nvGrpSpPr>
          <p:cNvPr id="63" name="组合 62"/>
          <p:cNvGrpSpPr/>
          <p:nvPr/>
        </p:nvGrpSpPr>
        <p:grpSpPr>
          <a:xfrm>
            <a:off x="1322705" y="3390900"/>
            <a:ext cx="4714240" cy="518795"/>
            <a:chOff x="903" y="3512"/>
            <a:chExt cx="7424" cy="817"/>
          </a:xfrm>
        </p:grpSpPr>
        <p:grpSp>
          <p:nvGrpSpPr>
            <p:cNvPr id="64" name="组合 63"/>
            <p:cNvGrpSpPr/>
            <p:nvPr/>
          </p:nvGrpSpPr>
          <p:grpSpPr>
            <a:xfrm>
              <a:off x="903" y="3512"/>
              <a:ext cx="7424" cy="817"/>
              <a:chOff x="1264" y="2025"/>
              <a:chExt cx="5382" cy="817"/>
            </a:xfrm>
          </p:grpSpPr>
          <p:sp>
            <p:nvSpPr>
              <p:cNvPr id="65" name="Freeform 6"/>
              <p:cNvSpPr/>
              <p:nvPr/>
            </p:nvSpPr>
            <p:spPr bwMode="auto">
              <a:xfrm>
                <a:off x="1337" y="2026"/>
                <a:ext cx="1029" cy="816"/>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algn="ctr" fontAlgn="base">
                  <a:spcBef>
                    <a:spcPct val="0"/>
                  </a:spcBef>
                  <a:spcAft>
                    <a:spcPct val="0"/>
                  </a:spcAft>
                </a:pPr>
                <a:endParaRPr lang="zh-CN" altLang="en-US" kern="0">
                  <a:solidFill>
                    <a:schemeClr val="bg1"/>
                  </a:solidFill>
                  <a:ea typeface="宋体" panose="02010600030101010101" pitchFamily="2" charset="-122"/>
                </a:endParaRPr>
              </a:p>
            </p:txBody>
          </p:sp>
          <p:grpSp>
            <p:nvGrpSpPr>
              <p:cNvPr id="66" name="组合 65"/>
              <p:cNvGrpSpPr/>
              <p:nvPr/>
            </p:nvGrpSpPr>
            <p:grpSpPr>
              <a:xfrm>
                <a:off x="1264" y="2025"/>
                <a:ext cx="5382" cy="816"/>
                <a:chOff x="4471" y="2958"/>
                <a:chExt cx="5382" cy="816"/>
              </a:xfrm>
            </p:grpSpPr>
            <p:sp>
              <p:nvSpPr>
                <p:cNvPr id="67" name="Rectangle 5"/>
                <p:cNvSpPr>
                  <a:spLocks noChangeArrowheads="1"/>
                </p:cNvSpPr>
                <p:nvPr/>
              </p:nvSpPr>
              <p:spPr bwMode="auto">
                <a:xfrm>
                  <a:off x="4544" y="2958"/>
                  <a:ext cx="5309" cy="816"/>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algn="ct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68" name="TextBox 144"/>
                <p:cNvSpPr txBox="1"/>
                <p:nvPr/>
              </p:nvSpPr>
              <p:spPr>
                <a:xfrm>
                  <a:off x="4471" y="3015"/>
                  <a:ext cx="816" cy="687"/>
                </a:xfrm>
                <a:prstGeom prst="rect">
                  <a:avLst/>
                </a:prstGeom>
                <a:noFill/>
              </p:spPr>
              <p:txBody>
                <a:bodyPr wrap="square" lIns="68553" tIns="34277" rIns="68553" bIns="34277" rtlCol="0">
                  <a:spAutoFit/>
                </a:bodyPr>
                <a:lstStyle/>
                <a:p>
                  <a:pPr algn="ctr" fontAlgn="base">
                    <a:spcBef>
                      <a:spcPct val="0"/>
                    </a:spcBef>
                    <a:spcAft>
                      <a:spcPct val="0"/>
                    </a:spcAft>
                    <a:buFont typeface="Arial" panose="020B0604020202020204" pitchFamily="34" charset="0"/>
                    <a:buNone/>
                  </a:pPr>
                  <a:r>
                    <a:rPr lang="en-US" sz="2400" b="1">
                      <a:solidFill>
                        <a:schemeClr val="bg1"/>
                      </a:solidFill>
                      <a:latin typeface="微软雅黑" panose="020B0503020204020204" pitchFamily="34" charset="-122"/>
                      <a:ea typeface="微软雅黑" panose="020B0503020204020204" pitchFamily="34" charset="-122"/>
                      <a:sym typeface="+mn-ea"/>
                    </a:rPr>
                    <a:t>8.4</a:t>
                  </a:r>
                  <a:endParaRPr lang="zh-CN" altLang="en-US" sz="2400" b="1">
                    <a:solidFill>
                      <a:schemeClr val="bg1"/>
                    </a:solidFill>
                    <a:latin typeface="微软雅黑" panose="020B0503020204020204" pitchFamily="34" charset="-122"/>
                  </a:endParaRPr>
                </a:p>
              </p:txBody>
            </p:sp>
          </p:grpSp>
        </p:grpSp>
        <p:sp>
          <p:nvSpPr>
            <p:cNvPr id="69" name="文本框 68"/>
            <p:cNvSpPr txBox="1"/>
            <p:nvPr/>
          </p:nvSpPr>
          <p:spPr>
            <a:xfrm>
              <a:off x="2276" y="3631"/>
              <a:ext cx="6050" cy="580"/>
            </a:xfrm>
            <a:prstGeom prst="rect">
              <a:avLst/>
            </a:prstGeom>
            <a:noFill/>
            <a:ln w="9525">
              <a:noFill/>
            </a:ln>
          </p:spPr>
          <p:txBody>
            <a:bodyPr wrap="square">
              <a:spAutoFit/>
            </a:bodyPr>
            <a:lstStyle/>
            <a:p>
              <a:pPr marL="396240" indent="-396240" algn="l"/>
              <a:r>
                <a:rPr sz="1800" b="1">
                  <a:solidFill>
                    <a:schemeClr val="bg1"/>
                  </a:solidFill>
                  <a:latin typeface="等线 Light" panose="02010600030101010101" charset="-122"/>
                  <a:ea typeface="等线" panose="02010600030101010101" pitchFamily="2" charset="-122"/>
                </a:rPr>
                <a:t>聚类算法简介</a:t>
              </a:r>
            </a:p>
          </p:txBody>
        </p:sp>
      </p:grpSp>
      <p:grpSp>
        <p:nvGrpSpPr>
          <p:cNvPr id="5" name="组合 4"/>
          <p:cNvGrpSpPr/>
          <p:nvPr/>
        </p:nvGrpSpPr>
        <p:grpSpPr>
          <a:xfrm>
            <a:off x="1325245" y="4121785"/>
            <a:ext cx="4714240" cy="518795"/>
            <a:chOff x="903" y="3512"/>
            <a:chExt cx="7424" cy="817"/>
          </a:xfrm>
        </p:grpSpPr>
        <p:grpSp>
          <p:nvGrpSpPr>
            <p:cNvPr id="6" name="组合 5"/>
            <p:cNvGrpSpPr/>
            <p:nvPr/>
          </p:nvGrpSpPr>
          <p:grpSpPr>
            <a:xfrm>
              <a:off x="903" y="3512"/>
              <a:ext cx="7424" cy="817"/>
              <a:chOff x="1264" y="2025"/>
              <a:chExt cx="5382" cy="817"/>
            </a:xfrm>
          </p:grpSpPr>
          <p:sp>
            <p:nvSpPr>
              <p:cNvPr id="7" name="Freeform 6"/>
              <p:cNvSpPr/>
              <p:nvPr/>
            </p:nvSpPr>
            <p:spPr bwMode="auto">
              <a:xfrm>
                <a:off x="1337" y="2026"/>
                <a:ext cx="1029" cy="816"/>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algn="ctr" fontAlgn="base">
                  <a:spcBef>
                    <a:spcPct val="0"/>
                  </a:spcBef>
                  <a:spcAft>
                    <a:spcPct val="0"/>
                  </a:spcAft>
                </a:pPr>
                <a:endParaRPr lang="zh-CN" altLang="en-US" kern="0">
                  <a:solidFill>
                    <a:schemeClr val="bg1"/>
                  </a:solidFill>
                  <a:ea typeface="宋体" panose="02010600030101010101" pitchFamily="2" charset="-122"/>
                </a:endParaRPr>
              </a:p>
            </p:txBody>
          </p:sp>
          <p:grpSp>
            <p:nvGrpSpPr>
              <p:cNvPr id="8" name="组合 7"/>
              <p:cNvGrpSpPr/>
              <p:nvPr/>
            </p:nvGrpSpPr>
            <p:grpSpPr>
              <a:xfrm>
                <a:off x="1264" y="2025"/>
                <a:ext cx="5382" cy="816"/>
                <a:chOff x="4471" y="2958"/>
                <a:chExt cx="5382" cy="816"/>
              </a:xfrm>
            </p:grpSpPr>
            <p:sp>
              <p:nvSpPr>
                <p:cNvPr id="12" name="Rectangle 5"/>
                <p:cNvSpPr>
                  <a:spLocks noChangeArrowheads="1"/>
                </p:cNvSpPr>
                <p:nvPr/>
              </p:nvSpPr>
              <p:spPr bwMode="auto">
                <a:xfrm>
                  <a:off x="4544" y="2958"/>
                  <a:ext cx="5309" cy="816"/>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algn="ct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13" name="TextBox 144"/>
                <p:cNvSpPr txBox="1"/>
                <p:nvPr/>
              </p:nvSpPr>
              <p:spPr>
                <a:xfrm>
                  <a:off x="4471" y="3015"/>
                  <a:ext cx="816" cy="687"/>
                </a:xfrm>
                <a:prstGeom prst="rect">
                  <a:avLst/>
                </a:prstGeom>
                <a:noFill/>
              </p:spPr>
              <p:txBody>
                <a:bodyPr wrap="square" lIns="68553" tIns="34277" rIns="68553" bIns="34277" rtlCol="0">
                  <a:spAutoFit/>
                </a:bodyPr>
                <a:lstStyle/>
                <a:p>
                  <a:pPr algn="ctr" fontAlgn="base">
                    <a:spcBef>
                      <a:spcPct val="0"/>
                    </a:spcBef>
                    <a:spcAft>
                      <a:spcPct val="0"/>
                    </a:spcAft>
                    <a:buFont typeface="Arial" panose="020B0604020202020204" pitchFamily="34" charset="0"/>
                    <a:buNone/>
                  </a:pPr>
                  <a:r>
                    <a:rPr lang="en-US" sz="2400" b="1">
                      <a:solidFill>
                        <a:schemeClr val="bg1"/>
                      </a:solidFill>
                      <a:latin typeface="微软雅黑" panose="020B0503020204020204" pitchFamily="34" charset="-122"/>
                      <a:ea typeface="微软雅黑" panose="020B0503020204020204" pitchFamily="34" charset="-122"/>
                      <a:sym typeface="+mn-ea"/>
                    </a:rPr>
                    <a:t>8.5</a:t>
                  </a:r>
                  <a:endParaRPr lang="zh-CN" altLang="en-US" sz="2400" b="1">
                    <a:solidFill>
                      <a:schemeClr val="bg1"/>
                    </a:solidFill>
                    <a:latin typeface="微软雅黑" panose="020B0503020204020204" pitchFamily="34" charset="-122"/>
                  </a:endParaRPr>
                </a:p>
              </p:txBody>
            </p:sp>
          </p:grpSp>
        </p:grpSp>
        <p:sp>
          <p:nvSpPr>
            <p:cNvPr id="14" name="文本框 13"/>
            <p:cNvSpPr txBox="1"/>
            <p:nvPr/>
          </p:nvSpPr>
          <p:spPr>
            <a:xfrm>
              <a:off x="2276" y="3631"/>
              <a:ext cx="6050" cy="580"/>
            </a:xfrm>
            <a:prstGeom prst="rect">
              <a:avLst/>
            </a:prstGeom>
            <a:noFill/>
            <a:ln w="9525">
              <a:noFill/>
            </a:ln>
          </p:spPr>
          <p:txBody>
            <a:bodyPr wrap="square">
              <a:spAutoFit/>
            </a:bodyPr>
            <a:lstStyle/>
            <a:p>
              <a:pPr marL="396240" indent="-396240" algn="l"/>
              <a:r>
                <a:rPr sz="1800" b="1">
                  <a:solidFill>
                    <a:schemeClr val="bg1"/>
                  </a:solidFill>
                  <a:latin typeface="等线 Light" panose="02010600030101010101" charset="-122"/>
                  <a:ea typeface="等线" panose="02010600030101010101" pitchFamily="2" charset="-122"/>
                </a:rPr>
                <a:t>分布式大数据挖掘算法典型案例</a:t>
              </a: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97706" y="0"/>
            <a:ext cx="9141291" cy="5143500"/>
          </a:xfrm>
          <a:prstGeom prst="rect">
            <a:avLst/>
          </a:prstGeom>
        </p:spPr>
      </p:pic>
      <p:grpSp>
        <p:nvGrpSpPr>
          <p:cNvPr id="32" name="组合 14"/>
          <p:cNvGrpSpPr/>
          <p:nvPr/>
        </p:nvGrpSpPr>
        <p:grpSpPr bwMode="auto">
          <a:xfrm>
            <a:off x="2143825" y="2399148"/>
            <a:ext cx="4167679" cy="124642"/>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1940560" y="1654175"/>
            <a:ext cx="6555105" cy="645160"/>
          </a:xfrm>
          <a:prstGeom prst="rect">
            <a:avLst/>
          </a:prstGeom>
          <a:noFill/>
        </p:spPr>
        <p:txBody>
          <a:bodyPr wrap="square">
            <a:spAutoFit/>
          </a:bodyPr>
          <a:lstStyle/>
          <a:p>
            <a:r>
              <a:rPr lang="zh-CN" altLang="en-US" sz="3600" b="1">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数据的描述性分析</a:t>
            </a:r>
          </a:p>
        </p:txBody>
      </p:sp>
      <p:sp>
        <p:nvSpPr>
          <p:cNvPr id="41" name="文本框 40"/>
          <p:cNvSpPr txBox="1">
            <a:spLocks noChangeArrowheads="1"/>
          </p:cNvSpPr>
          <p:nvPr/>
        </p:nvSpPr>
        <p:spPr bwMode="auto">
          <a:xfrm>
            <a:off x="520569" y="1539377"/>
            <a:ext cx="1698527" cy="922020"/>
          </a:xfrm>
          <a:prstGeom prst="rect">
            <a:avLst/>
          </a:prstGeom>
          <a:noFill/>
          <a:ln w="9525">
            <a:noFill/>
            <a:miter lim="800000"/>
          </a:ln>
        </p:spPr>
        <p:txBody>
          <a:bodyPr wrap="square">
            <a:spAutoFit/>
          </a:bodyPr>
          <a:lstStyle/>
          <a:p>
            <a:pPr algn="ctr"/>
            <a:r>
              <a:rPr lang="en-US" altLang="zh-CN" sz="5400">
                <a:solidFill>
                  <a:srgbClr val="00B0F0"/>
                </a:solidFill>
                <a:latin typeface="IrisUPC" panose="020B0604020202020204" pitchFamily="34" charset="-34"/>
                <a:cs typeface="IrisUPC" panose="020B0604020202020204" pitchFamily="34" charset="-34"/>
              </a:rPr>
              <a:t>8.1</a:t>
            </a:r>
          </a:p>
        </p:txBody>
      </p:sp>
      <p:sp>
        <p:nvSpPr>
          <p:cNvPr id="4" name="文本框 3"/>
          <p:cNvSpPr txBox="1"/>
          <p:nvPr/>
        </p:nvSpPr>
        <p:spPr>
          <a:xfrm>
            <a:off x="2143717" y="2668723"/>
            <a:ext cx="2986679" cy="1476375"/>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800">
                <a:solidFill>
                  <a:schemeClr val="bg1"/>
                </a:solidFill>
                <a:latin typeface="微软雅黑" panose="020B0503020204020204" pitchFamily="34" charset="-122"/>
                <a:ea typeface="微软雅黑" panose="020B0503020204020204" pitchFamily="34" charset="-122"/>
              </a:rPr>
              <a:t>数据的集中趋势度量</a:t>
            </a:r>
          </a:p>
          <a:p>
            <a:pPr marL="285750" indent="-285750">
              <a:buFont typeface="Wingdings" panose="05000000000000000000" pitchFamily="2" charset="2"/>
              <a:buChar char="Ø"/>
            </a:pPr>
            <a:r>
              <a:rPr lang="zh-CN" altLang="en-US" sz="1800">
                <a:solidFill>
                  <a:schemeClr val="bg1"/>
                </a:solidFill>
                <a:latin typeface="微软雅黑" panose="020B0503020204020204" pitchFamily="34" charset="-122"/>
                <a:ea typeface="微软雅黑" panose="020B0503020204020204" pitchFamily="34" charset="-122"/>
              </a:rPr>
              <a:t>数据的离散趋势度量</a:t>
            </a:r>
          </a:p>
          <a:p>
            <a:pPr marL="285750" indent="-285750">
              <a:buFont typeface="Wingdings" panose="05000000000000000000" pitchFamily="2" charset="2"/>
              <a:buChar char="Ø"/>
            </a:pPr>
            <a:r>
              <a:rPr lang="zh-CN" altLang="en-US" sz="1800">
                <a:solidFill>
                  <a:schemeClr val="bg1"/>
                </a:solidFill>
                <a:latin typeface="微软雅黑" panose="020B0503020204020204" pitchFamily="34" charset="-122"/>
                <a:ea typeface="微软雅黑" panose="020B0503020204020204" pitchFamily="34" charset="-122"/>
              </a:rPr>
              <a:t>数据的偏态特性度量</a:t>
            </a:r>
          </a:p>
          <a:p>
            <a:pPr marL="285750" indent="-285750">
              <a:buFont typeface="Wingdings" panose="05000000000000000000" pitchFamily="2" charset="2"/>
              <a:buChar char="Ø"/>
            </a:pPr>
            <a:r>
              <a:rPr lang="zh-CN" altLang="en-US" sz="1800">
                <a:solidFill>
                  <a:schemeClr val="bg1"/>
                </a:solidFill>
                <a:latin typeface="微软雅黑" panose="020B0503020204020204" pitchFamily="34" charset="-122"/>
                <a:ea typeface="微软雅黑" panose="020B0503020204020204" pitchFamily="34" charset="-122"/>
              </a:rPr>
              <a:t>数据相关性计算</a:t>
            </a:r>
          </a:p>
          <a:p>
            <a:pPr marL="285750" indent="-285750">
              <a:buFont typeface="Wingdings" panose="05000000000000000000" pitchFamily="2" charset="2"/>
              <a:buChar char="Ø"/>
            </a:pPr>
            <a:endParaRPr lang="zh-CN" altLang="en-US" sz="18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par>
                          <p:cTn id="17" fill="hold">
                            <p:stCondLst>
                              <p:cond delay="1400"/>
                            </p:stCondLst>
                            <p:childTnLst>
                              <p:par>
                                <p:cTn id="18" presetID="1" presetClass="entr" presetSubtype="0" fill="hold" grpId="0" nodeType="afterEffect">
                                  <p:stCondLst>
                                    <p:cond delay="0"/>
                                  </p:stCondLst>
                                  <p:iterate type="wd">
                                    <p:tmAbs val="100"/>
                                  </p:iterate>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48285"/>
            <a:ext cx="4265295" cy="52197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a:t>
            </a:r>
            <a:r>
              <a:rPr lang="en-US" altLang="zh-CN"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err="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数据的</a:t>
            </a:r>
            <a:r>
              <a:rPr lang="zh-CN" alt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描述性分析</a:t>
            </a:r>
            <a:endPar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397564" y="1176791"/>
            <a:ext cx="7969655" cy="2677656"/>
          </a:xfrm>
          <a:prstGeom prst="rect">
            <a:avLst/>
          </a:prstGeom>
          <a:noFill/>
          <a:ln w="9525">
            <a:noFill/>
          </a:ln>
        </p:spPr>
        <p:txBody>
          <a:bodyPr wrap="square">
            <a:spAutoFit/>
          </a:bodyPr>
          <a:lstStyle/>
          <a:p>
            <a:pPr indent="266700">
              <a:lnSpc>
                <a:spcPct val="120000"/>
              </a:lnSpc>
              <a:spcBef>
                <a:spcPts val="0"/>
              </a:spcBef>
              <a:spcAft>
                <a:spcPts val="0"/>
              </a:spcAft>
            </a:pPr>
            <a:r>
              <a:rPr lang="zh-CN" altLang="en-US" sz="2400">
                <a:latin typeface="+mn-ea"/>
              </a:rPr>
              <a:t>    所谓数据的描述性分析方法是指用统计学方法，描述数据的统计特征量，分析数据的分布特性。</a:t>
            </a:r>
            <a:endParaRPr lang="en-US" altLang="zh-CN" sz="2400">
              <a:latin typeface="+mn-ea"/>
            </a:endParaRPr>
          </a:p>
          <a:p>
            <a:pPr indent="266700">
              <a:lnSpc>
                <a:spcPct val="120000"/>
              </a:lnSpc>
              <a:spcBef>
                <a:spcPts val="0"/>
              </a:spcBef>
              <a:spcAft>
                <a:spcPts val="0"/>
              </a:spcAft>
            </a:pPr>
            <a:r>
              <a:rPr lang="en-US" altLang="zh-CN" sz="2400">
                <a:latin typeface="+mn-ea"/>
              </a:rPr>
              <a:t>    </a:t>
            </a:r>
            <a:r>
              <a:rPr lang="zh-CN" altLang="en-US" sz="2400">
                <a:latin typeface="+mn-ea"/>
              </a:rPr>
              <a:t>主要包括数据的集中趋势分析</a:t>
            </a:r>
            <a:r>
              <a:rPr lang="en-US" altLang="zh-CN" sz="2400">
                <a:latin typeface="+mn-ea"/>
              </a:rPr>
              <a:t>(Central tendency)</a:t>
            </a:r>
            <a:r>
              <a:rPr lang="zh-CN" altLang="en-US" sz="2400">
                <a:latin typeface="+mn-ea"/>
              </a:rPr>
              <a:t>、数据离散趋势分析</a:t>
            </a:r>
            <a:r>
              <a:rPr lang="en-US" altLang="zh-CN" sz="2400">
                <a:latin typeface="+mn-ea"/>
              </a:rPr>
              <a:t>(Dispersion tendency)</a:t>
            </a:r>
            <a:r>
              <a:rPr lang="zh-CN" altLang="en-US" sz="2400">
                <a:latin typeface="+mn-ea"/>
              </a:rPr>
              <a:t>、数据的频率分布</a:t>
            </a:r>
            <a:r>
              <a:rPr lang="en-US" altLang="zh-CN" sz="2400">
                <a:latin typeface="+mn-ea"/>
              </a:rPr>
              <a:t>(Frequency distribution)</a:t>
            </a:r>
            <a:r>
              <a:rPr lang="zh-CN" altLang="en-US" sz="2400">
                <a:latin typeface="+mn-ea"/>
              </a:rPr>
              <a:t>等。</a:t>
            </a:r>
            <a:endParaRPr sz="2400">
              <a:latin typeface="等线" panose="02010600030101010101" pitchFamily="2" charset="-122"/>
              <a:ea typeface="等线" panose="02010600030101010101" pitchFamily="2" charset="-122"/>
              <a:cs typeface="等线" panose="02010600030101010101" pitchFamily="2" charset="-122"/>
            </a:endParaRPr>
          </a:p>
          <a:p>
            <a:pPr indent="266700">
              <a:lnSpc>
                <a:spcPct val="100000"/>
              </a:lnSpc>
            </a:pPr>
            <a:r>
              <a:rPr lang="en-US" sz="2400">
                <a:latin typeface="等线" panose="02010600030101010101" pitchFamily="2" charset="-122"/>
                <a:ea typeface="等线" panose="02010600030101010101" pitchFamily="2" charset="-122"/>
                <a:cs typeface="等线" panose="02010600030101010101" pitchFamily="2" charset="-122"/>
              </a:rPr>
              <a:t>   </a:t>
            </a:r>
            <a:endParaRPr sz="2400">
              <a:latin typeface="等线" panose="02010600030101010101" pitchFamily="2" charset="-122"/>
              <a:ea typeface="等线" panose="02010600030101010101" pitchFamily="2" charset="-122"/>
              <a:cs typeface="等线" panose="02010600030101010101" pitchFamily="2" charset="-122"/>
            </a:endParaRPr>
          </a:p>
        </p:txBody>
      </p:sp>
    </p:spTree>
    <p:extLst>
      <p:ext uri="{BB962C8B-B14F-4D97-AF65-F5344CB8AC3E}">
        <p14:creationId xmlns:p14="http://schemas.microsoft.com/office/powerpoint/2010/main" val="15358251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a:fillRect/>
          </a:stretch>
        </p:blipFill>
        <p:spPr>
          <a:xfrm>
            <a:off x="1850390" y="2726690"/>
            <a:ext cx="11377930" cy="368935"/>
          </a:xfrm>
          <a:prstGeom prst="rect">
            <a:avLst/>
          </a:prstGeom>
        </p:spPr>
      </p:pic>
      <p:pic>
        <p:nvPicPr>
          <p:cNvPr id="12" name="图片 11"/>
          <p:cNvPicPr>
            <a:picLocks noChangeAspect="1"/>
          </p:cNvPicPr>
          <p:nvPr/>
        </p:nvPicPr>
        <p:blipFill>
          <a:blip r:embed="rId4"/>
          <a:stretch>
            <a:fillRect/>
          </a:stretch>
        </p:blipFill>
        <p:spPr>
          <a:xfrm>
            <a:off x="2179320" y="2679065"/>
            <a:ext cx="7776845" cy="462280"/>
          </a:xfrm>
          <a:prstGeom prst="rect">
            <a:avLst/>
          </a:prstGeom>
        </p:spPr>
      </p:pic>
      <p:sp>
        <p:nvSpPr>
          <p:cNvPr id="105" name="文本框 104"/>
          <p:cNvSpPr txBox="1"/>
          <p:nvPr/>
        </p:nvSpPr>
        <p:spPr>
          <a:xfrm>
            <a:off x="0" y="248285"/>
            <a:ext cx="4265295" cy="52197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8.1.1数据的集中趋势度量</a:t>
            </a:r>
          </a:p>
        </p:txBody>
      </p:sp>
      <p:sp>
        <p:nvSpPr>
          <p:cNvPr id="100" name="文本框 99"/>
          <p:cNvSpPr txBox="1"/>
          <p:nvPr/>
        </p:nvSpPr>
        <p:spPr>
          <a:xfrm>
            <a:off x="131445" y="831215"/>
            <a:ext cx="8881110" cy="2061210"/>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1">
                <a:latin typeface="+mn-ea"/>
              </a:rPr>
              <a:t>    </a:t>
            </a:r>
            <a:r>
              <a:rPr sz="2000" b="1">
                <a:latin typeface="等线" panose="02010600030101010101" pitchFamily="2" charset="-122"/>
                <a:ea typeface="等线" panose="02010600030101010101" pitchFamily="2" charset="-122"/>
                <a:cs typeface="等线" panose="02010600030101010101" pitchFamily="2" charset="-122"/>
              </a:rPr>
              <a:t>1.均值（Mean） </a:t>
            </a:r>
          </a:p>
          <a:p>
            <a:pPr indent="266700">
              <a:lnSpc>
                <a:spcPct val="120000"/>
              </a:lnSpc>
              <a:spcBef>
                <a:spcPts val="0"/>
              </a:spcBef>
              <a:spcAft>
                <a:spcPts val="0"/>
              </a:spcAft>
            </a:pPr>
            <a:r>
              <a:rPr lang="en-US" sz="2000" b="1">
                <a:latin typeface="等线" panose="02010600030101010101" pitchFamily="2" charset="-122"/>
                <a:ea typeface="等线" panose="02010600030101010101" pitchFamily="2" charset="-122"/>
                <a:cs typeface="等线" panose="02010600030101010101" pitchFamily="2" charset="-122"/>
              </a:rPr>
              <a:t>      </a:t>
            </a:r>
            <a:r>
              <a:rPr sz="2000" u="sng" err="1">
                <a:latin typeface="等线" panose="02010600030101010101" pitchFamily="2" charset="-122"/>
                <a:ea typeface="等线" panose="02010600030101010101" pitchFamily="2" charset="-122"/>
                <a:cs typeface="等线" panose="02010600030101010101" pitchFamily="2" charset="-122"/>
              </a:rPr>
              <a:t>算术平均值</a:t>
            </a:r>
            <a:r>
              <a:rPr sz="2000" err="1">
                <a:latin typeface="等线" panose="02010600030101010101" pitchFamily="2" charset="-122"/>
                <a:ea typeface="等线" panose="02010600030101010101" pitchFamily="2" charset="-122"/>
                <a:cs typeface="等线" panose="02010600030101010101" pitchFamily="2" charset="-122"/>
              </a:rPr>
              <a:t>：计算集合中的所有数据的算术平均值</a:t>
            </a:r>
            <a:r>
              <a:rPr sz="2000">
                <a:latin typeface="等线" panose="02010600030101010101" pitchFamily="2" charset="-122"/>
                <a:ea typeface="等线" panose="02010600030101010101" pitchFamily="2" charset="-122"/>
                <a:cs typeface="等线" panose="02010600030101010101" pitchFamily="2" charset="-122"/>
              </a:rPr>
              <a:t>。</a:t>
            </a:r>
          </a:p>
          <a:p>
            <a:pPr indent="266700">
              <a:lnSpc>
                <a:spcPct val="100000"/>
              </a:lnSpc>
            </a:pPr>
            <a:endParaRPr sz="2000">
              <a:latin typeface="等线" panose="02010600030101010101" pitchFamily="2" charset="-122"/>
              <a:ea typeface="等线" panose="02010600030101010101" pitchFamily="2" charset="-122"/>
              <a:cs typeface="等线" panose="02010600030101010101" pitchFamily="2" charset="-122"/>
            </a:endParaRPr>
          </a:p>
          <a:p>
            <a:pPr indent="266700">
              <a:lnSpc>
                <a:spcPct val="100000"/>
              </a:lnSpc>
            </a:pPr>
            <a:endParaRPr sz="2000">
              <a:latin typeface="等线" panose="02010600030101010101" pitchFamily="2" charset="-122"/>
              <a:ea typeface="等线" panose="02010600030101010101" pitchFamily="2" charset="-122"/>
              <a:cs typeface="等线" panose="02010600030101010101" pitchFamily="2" charset="-122"/>
            </a:endParaRPr>
          </a:p>
          <a:p>
            <a:pPr indent="266700">
              <a:lnSpc>
                <a:spcPct val="100000"/>
              </a:lnSpc>
            </a:pPr>
            <a:endParaRPr sz="2000">
              <a:latin typeface="等线" panose="02010600030101010101" pitchFamily="2" charset="-122"/>
              <a:ea typeface="等线" panose="02010600030101010101" pitchFamily="2" charset="-122"/>
              <a:cs typeface="等线" panose="02010600030101010101" pitchFamily="2" charset="-122"/>
            </a:endParaRPr>
          </a:p>
          <a:p>
            <a:pPr indent="266700">
              <a:lnSpc>
                <a:spcPct val="100000"/>
              </a:lnSpc>
            </a:pPr>
            <a:r>
              <a:rPr lang="en-US" sz="2000" b="1">
                <a:latin typeface="等线" panose="02010600030101010101" pitchFamily="2" charset="-122"/>
                <a:ea typeface="等线" panose="02010600030101010101" pitchFamily="2" charset="-122"/>
                <a:cs typeface="等线" panose="02010600030101010101" pitchFamily="2" charset="-122"/>
              </a:rPr>
              <a:t>   </a:t>
            </a:r>
            <a:endParaRPr sz="2000">
              <a:latin typeface="等线" panose="02010600030101010101" pitchFamily="2" charset="-122"/>
              <a:ea typeface="等线" panose="02010600030101010101" pitchFamily="2" charset="-122"/>
              <a:cs typeface="等线" panose="02010600030101010101" pitchFamily="2" charset="-122"/>
            </a:endParaRPr>
          </a:p>
        </p:txBody>
      </p:sp>
      <p:sp>
        <p:nvSpPr>
          <p:cNvPr id="9" name="文本框 8"/>
          <p:cNvSpPr txBox="1"/>
          <p:nvPr/>
        </p:nvSpPr>
        <p:spPr>
          <a:xfrm>
            <a:off x="789940" y="2599690"/>
            <a:ext cx="7830820" cy="398780"/>
          </a:xfrm>
          <a:prstGeom prst="rect">
            <a:avLst/>
          </a:prstGeom>
          <a:noFill/>
        </p:spPr>
        <p:txBody>
          <a:bodyPr wrap="square" rtlCol="0" anchor="t">
            <a:spAutoFit/>
          </a:bodyPr>
          <a:lstStyle/>
          <a:p>
            <a:r>
              <a:rPr lang="zh-CN" altLang="en-US" sz="2000" u="sng"/>
              <a:t>加权平均</a:t>
            </a:r>
            <a:r>
              <a:rPr lang="zh-CN" altLang="en-US" sz="2000"/>
              <a:t>：又称加权算术平均，集合中每个值</a:t>
            </a:r>
            <a:r>
              <a:rPr lang="en-US" altLang="zh-CN" sz="2000"/>
              <a:t>   </a:t>
            </a:r>
            <a:r>
              <a:rPr lang="zh-CN" altLang="en-US" sz="2000"/>
              <a:t>与一个权值</a:t>
            </a:r>
            <a:r>
              <a:rPr lang="en-US" altLang="zh-CN" sz="2000"/>
              <a:t>     </a:t>
            </a:r>
            <a:r>
              <a:rPr lang="zh-CN" altLang="en-US" sz="2000"/>
              <a:t>相关联。</a:t>
            </a:r>
          </a:p>
        </p:txBody>
      </p:sp>
      <p:sp>
        <p:nvSpPr>
          <p:cNvPr id="107" name="文本框 106"/>
          <p:cNvSpPr txBox="1"/>
          <p:nvPr/>
        </p:nvSpPr>
        <p:spPr>
          <a:xfrm>
            <a:off x="504825" y="3759835"/>
            <a:ext cx="8400415" cy="8915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u="sng">
                <a:latin typeface="Cambria Math" panose="02040503050406030204" charset="0"/>
                <a:ea typeface="等线" panose="02010600030101010101" pitchFamily="2" charset="-122"/>
              </a:rPr>
              <a:t> </a:t>
            </a:r>
            <a:r>
              <a:rPr lang="zh-CN" sz="2000" b="0" u="sng">
                <a:latin typeface="Cambria Math" panose="02040503050406030204" charset="0"/>
                <a:ea typeface="等线" panose="02010600030101010101" pitchFamily="2" charset="-122"/>
              </a:rPr>
              <a:t>截断均值</a:t>
            </a:r>
            <a:r>
              <a:rPr lang="zh-CN" sz="2000" b="0">
                <a:latin typeface="Cambria Math" panose="02040503050406030204" charset="0"/>
                <a:ea typeface="等线" panose="02010600030101010101" pitchFamily="2" charset="-122"/>
              </a:rPr>
              <a:t>：去掉最高和最低值后计算的均值，可以抵消少数极端值的影响，例如：薪水的截断均值可以消除超高收入极端值对平均薪资的影响。</a:t>
            </a:r>
            <a:endParaRPr lang="zh-CN" altLang="en-US" sz="2000"/>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B3638F19-BC29-4C0C-8E47-C2D033290B54}"/>
                  </a:ext>
                </a:extLst>
              </p:cNvPr>
              <p:cNvSpPr/>
              <p:nvPr/>
            </p:nvSpPr>
            <p:spPr>
              <a:xfrm>
                <a:off x="3331055" y="1852186"/>
                <a:ext cx="1368031" cy="52488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𝑥</m:t>
                          </m:r>
                        </m:e>
                      </m:acc>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r>
                            <a:rPr lang="zh-CN" altLang="en-US" sz="1400" i="0">
                              <a:latin typeface="Cambria Math" panose="02040503050406030204" pitchFamily="18" charset="0"/>
                            </a:rPr>
                            <m:t>1</m:t>
                          </m:r>
                        </m:num>
                        <m:den>
                          <m:r>
                            <a:rPr lang="zh-CN" altLang="en-US" sz="1400" i="1">
                              <a:latin typeface="Cambria Math" panose="02040503050406030204" pitchFamily="18" charset="0"/>
                            </a:rPr>
                            <m:t>𝑛</m:t>
                          </m:r>
                        </m:den>
                      </m:f>
                      <m:nary>
                        <m:naryPr>
                          <m:chr m:val="∑"/>
                          <m:limLoc m:val="subSup"/>
                          <m:ctrlPr>
                            <a:rPr lang="zh-CN" altLang="en-US" sz="1400" i="1">
                              <a:latin typeface="Cambria Math" panose="02040503050406030204" pitchFamily="18" charset="0"/>
                            </a:rPr>
                          </m:ctrlPr>
                        </m:naryPr>
                        <m:sub>
                          <m:r>
                            <a:rPr lang="zh-CN" altLang="en-US" sz="1400" i="1">
                              <a:latin typeface="Cambria Math" panose="02040503050406030204" pitchFamily="18" charset="0"/>
                            </a:rPr>
                            <m:t>𝑖</m:t>
                          </m:r>
                          <m:r>
                            <a:rPr lang="zh-CN" altLang="en-US" sz="1400" i="0">
                              <a:latin typeface="Cambria Math" panose="02040503050406030204" pitchFamily="18" charset="0"/>
                            </a:rPr>
                            <m:t>=1</m:t>
                          </m:r>
                        </m:sub>
                        <m:sup>
                          <m:r>
                            <a:rPr lang="zh-CN" altLang="en-US" sz="1400" i="1">
                              <a:latin typeface="Cambria Math" panose="02040503050406030204" pitchFamily="18" charset="0"/>
                            </a:rPr>
                            <m:t>𝑛</m:t>
                          </m:r>
                        </m:sup>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𝑥</m:t>
                              </m:r>
                            </m:e>
                            <m:sub>
                              <m:r>
                                <a:rPr lang="zh-CN" altLang="en-US" sz="1400" i="1">
                                  <a:latin typeface="Cambria Math" panose="02040503050406030204" pitchFamily="18" charset="0"/>
                                </a:rPr>
                                <m:t>𝑖</m:t>
                              </m:r>
                            </m:sub>
                          </m:sSub>
                        </m:e>
                      </m:nary>
                    </m:oMath>
                  </m:oMathPara>
                </a14:m>
                <a:endParaRPr lang="zh-CN" altLang="en-US" sz="1400"/>
              </a:p>
            </p:txBody>
          </p:sp>
        </mc:Choice>
        <mc:Fallback xmlns="">
          <p:sp>
            <p:nvSpPr>
              <p:cNvPr id="2" name="矩形 1">
                <a:extLst>
                  <a:ext uri="{FF2B5EF4-FFF2-40B4-BE49-F238E27FC236}">
                    <a16:creationId xmlns:a16="http://schemas.microsoft.com/office/drawing/2014/main" id="{B3638F19-BC29-4C0C-8E47-C2D033290B54}"/>
                  </a:ext>
                </a:extLst>
              </p:cNvPr>
              <p:cNvSpPr>
                <a:spLocks noRot="1" noChangeAspect="1" noMove="1" noResize="1" noEditPoints="1" noAdjustHandles="1" noChangeArrowheads="1" noChangeShapeType="1" noTextEdit="1"/>
              </p:cNvSpPr>
              <p:nvPr/>
            </p:nvSpPr>
            <p:spPr>
              <a:xfrm>
                <a:off x="3331055" y="1852186"/>
                <a:ext cx="1368031" cy="524887"/>
              </a:xfrm>
              <a:prstGeom prst="rect">
                <a:avLst/>
              </a:prstGeom>
              <a:blipFill>
                <a:blip r:embed="rId5"/>
                <a:stretch>
                  <a:fillRect l="-4000" t="-138372" r="-58222" b="-2104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972618D9-76B2-4E94-8B65-811B46D8013B}"/>
                  </a:ext>
                </a:extLst>
              </p:cNvPr>
              <p:cNvSpPr/>
              <p:nvPr/>
            </p:nvSpPr>
            <p:spPr>
              <a:xfrm>
                <a:off x="3335507" y="3141345"/>
                <a:ext cx="1332581" cy="56489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𝑥</m:t>
                          </m:r>
                        </m:e>
                      </m:acc>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nary>
                            <m:naryPr>
                              <m:chr m:val="∑"/>
                              <m:limLoc m:val="subSup"/>
                              <m:ctrlPr>
                                <a:rPr lang="zh-CN" altLang="en-US" sz="1400" i="1">
                                  <a:latin typeface="Cambria Math" panose="02040503050406030204" pitchFamily="18" charset="0"/>
                                </a:rPr>
                              </m:ctrlPr>
                            </m:naryPr>
                            <m:sub>
                              <m:r>
                                <a:rPr lang="zh-CN" altLang="en-US" sz="1400" i="1">
                                  <a:latin typeface="Cambria Math" panose="02040503050406030204" pitchFamily="18" charset="0"/>
                                </a:rPr>
                                <m:t>𝑖</m:t>
                              </m:r>
                              <m:r>
                                <a:rPr lang="zh-CN" altLang="en-US" sz="1400" i="0">
                                  <a:latin typeface="Cambria Math" panose="02040503050406030204" pitchFamily="18" charset="0"/>
                                </a:rPr>
                                <m:t>=1</m:t>
                              </m:r>
                            </m:sub>
                            <m:sup>
                              <m:r>
                                <a:rPr lang="zh-CN" altLang="en-US" sz="1400" i="1">
                                  <a:latin typeface="Cambria Math" panose="02040503050406030204" pitchFamily="18" charset="0"/>
                                </a:rPr>
                                <m:t>𝑛</m:t>
                              </m:r>
                            </m:sup>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𝑤</m:t>
                                  </m:r>
                                </m:e>
                                <m:sub>
                                  <m:r>
                                    <a:rPr lang="zh-CN" altLang="en-US" sz="1400" i="1">
                                      <a:latin typeface="Cambria Math" panose="02040503050406030204" pitchFamily="18" charset="0"/>
                                    </a:rPr>
                                    <m:t>𝑖</m:t>
                                  </m:r>
                                </m:sub>
                              </m:sSub>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𝑥</m:t>
                                  </m:r>
                                </m:e>
                                <m:sub>
                                  <m:r>
                                    <a:rPr lang="zh-CN" altLang="en-US" sz="1400" i="1">
                                      <a:latin typeface="Cambria Math" panose="02040503050406030204" pitchFamily="18" charset="0"/>
                                    </a:rPr>
                                    <m:t>𝑖</m:t>
                                  </m:r>
                                </m:sub>
                              </m:sSub>
                            </m:e>
                          </m:nary>
                        </m:num>
                        <m:den>
                          <m:nary>
                            <m:naryPr>
                              <m:chr m:val="∑"/>
                              <m:limLoc m:val="subSup"/>
                              <m:ctrlPr>
                                <a:rPr lang="zh-CN" altLang="en-US" sz="1400" i="1">
                                  <a:latin typeface="Cambria Math" panose="02040503050406030204" pitchFamily="18" charset="0"/>
                                </a:rPr>
                              </m:ctrlPr>
                            </m:naryPr>
                            <m:sub>
                              <m:r>
                                <a:rPr lang="zh-CN" altLang="en-US" sz="1400" i="1">
                                  <a:latin typeface="Cambria Math" panose="02040503050406030204" pitchFamily="18" charset="0"/>
                                </a:rPr>
                                <m:t>𝑖</m:t>
                              </m:r>
                              <m:r>
                                <a:rPr lang="zh-CN" altLang="en-US" sz="1400" i="0">
                                  <a:latin typeface="Cambria Math" panose="02040503050406030204" pitchFamily="18" charset="0"/>
                                </a:rPr>
                                <m:t>=1</m:t>
                              </m:r>
                            </m:sub>
                            <m:sup>
                              <m:r>
                                <a:rPr lang="zh-CN" altLang="en-US" sz="1400" i="1">
                                  <a:latin typeface="Cambria Math" panose="02040503050406030204" pitchFamily="18" charset="0"/>
                                </a:rPr>
                                <m:t>𝑛</m:t>
                              </m:r>
                            </m:sup>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𝑤</m:t>
                                  </m:r>
                                </m:e>
                                <m:sub>
                                  <m:r>
                                    <a:rPr lang="zh-CN" altLang="en-US" sz="1400" i="1">
                                      <a:latin typeface="Cambria Math" panose="02040503050406030204" pitchFamily="18" charset="0"/>
                                    </a:rPr>
                                    <m:t>𝑖</m:t>
                                  </m:r>
                                </m:sub>
                              </m:sSub>
                            </m:e>
                          </m:nary>
                        </m:den>
                      </m:f>
                    </m:oMath>
                  </m:oMathPara>
                </a14:m>
                <a:endParaRPr lang="zh-CN" altLang="en-US" sz="1400"/>
              </a:p>
            </p:txBody>
          </p:sp>
        </mc:Choice>
        <mc:Fallback xmlns="">
          <p:sp>
            <p:nvSpPr>
              <p:cNvPr id="3" name="矩形 2">
                <a:extLst>
                  <a:ext uri="{FF2B5EF4-FFF2-40B4-BE49-F238E27FC236}">
                    <a16:creationId xmlns:a16="http://schemas.microsoft.com/office/drawing/2014/main" id="{972618D9-76B2-4E94-8B65-811B46D8013B}"/>
                  </a:ext>
                </a:extLst>
              </p:cNvPr>
              <p:cNvSpPr>
                <a:spLocks noRot="1" noChangeAspect="1" noMove="1" noResize="1" noEditPoints="1" noAdjustHandles="1" noChangeArrowheads="1" noChangeShapeType="1" noTextEdit="1"/>
              </p:cNvSpPr>
              <p:nvPr/>
            </p:nvSpPr>
            <p:spPr>
              <a:xfrm>
                <a:off x="3335507" y="3141345"/>
                <a:ext cx="1332581" cy="564898"/>
              </a:xfrm>
              <a:prstGeom prst="rect">
                <a:avLst/>
              </a:prstGeom>
              <a:blipFill>
                <a:blip r:embed="rId6"/>
                <a:stretch>
                  <a:fillRect t="-55914" r="-2283" b="-84946"/>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48285"/>
            <a:ext cx="4265295" cy="52197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8.1.1数据的集中趋势度量</a:t>
            </a:r>
          </a:p>
        </p:txBody>
      </p:sp>
      <p:sp>
        <p:nvSpPr>
          <p:cNvPr id="100" name="文本框 99"/>
          <p:cNvSpPr txBox="1"/>
          <p:nvPr/>
        </p:nvSpPr>
        <p:spPr>
          <a:xfrm>
            <a:off x="131445" y="840740"/>
            <a:ext cx="9012555" cy="3875035"/>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1">
                <a:latin typeface="+mn-ea"/>
              </a:rPr>
              <a:t>   </a:t>
            </a:r>
            <a:r>
              <a:rPr sz="2000" b="1">
                <a:latin typeface="等线" panose="02010600030101010101" pitchFamily="2" charset="-122"/>
                <a:ea typeface="等线" panose="02010600030101010101" pitchFamily="2" charset="-122"/>
                <a:cs typeface="等线" panose="02010600030101010101" pitchFamily="2" charset="-122"/>
              </a:rPr>
              <a:t>2.中位数（Median） </a:t>
            </a:r>
          </a:p>
          <a:p>
            <a:pPr indent="266700">
              <a:lnSpc>
                <a:spcPct val="120000"/>
              </a:lnSpc>
              <a:spcBef>
                <a:spcPts val="0"/>
              </a:spcBef>
              <a:spcAft>
                <a:spcPts val="0"/>
              </a:spcAft>
            </a:pPr>
            <a:r>
              <a:rPr lang="en-US" sz="2000" b="1">
                <a:latin typeface="等线" panose="02010600030101010101" pitchFamily="2" charset="-122"/>
                <a:ea typeface="等线" panose="02010600030101010101" pitchFamily="2" charset="-122"/>
                <a:cs typeface="等线" panose="02010600030101010101" pitchFamily="2" charset="-122"/>
              </a:rPr>
              <a:t>   </a:t>
            </a:r>
            <a:r>
              <a:rPr sz="2000" err="1">
                <a:latin typeface="等线" panose="02010600030101010101" pitchFamily="2" charset="-122"/>
                <a:ea typeface="等线" panose="02010600030101010101" pitchFamily="2" charset="-122"/>
                <a:cs typeface="等线" panose="02010600030101010101" pitchFamily="2" charset="-122"/>
              </a:rPr>
              <a:t>中位数指的是按顺序排列的一组数据中居于中间位置的数，奇数个数值的中间那个值，或者是偶数个数值的中间两个值的平均值</a:t>
            </a:r>
            <a:r>
              <a:rPr sz="2000">
                <a:latin typeface="等线" panose="02010600030101010101" pitchFamily="2" charset="-122"/>
                <a:ea typeface="等线" panose="02010600030101010101" pitchFamily="2" charset="-122"/>
                <a:cs typeface="等线" panose="02010600030101010101" pitchFamily="2" charset="-122"/>
              </a:rPr>
              <a:t>。</a:t>
            </a:r>
          </a:p>
          <a:p>
            <a:pPr indent="266700">
              <a:lnSpc>
                <a:spcPct val="120000"/>
              </a:lnSpc>
              <a:spcBef>
                <a:spcPts val="0"/>
              </a:spcBef>
              <a:spcAft>
                <a:spcPts val="0"/>
              </a:spcAft>
            </a:pPr>
            <a:r>
              <a:rPr sz="2000">
                <a:latin typeface="等线" panose="02010600030101010101" pitchFamily="2" charset="-122"/>
                <a:ea typeface="等线" panose="02010600030101010101" pitchFamily="2" charset="-122"/>
                <a:cs typeface="等线" panose="02010600030101010101" pitchFamily="2" charset="-122"/>
              </a:rPr>
              <a:t>【</a:t>
            </a:r>
            <a:r>
              <a:rPr sz="1800">
                <a:latin typeface="等线" panose="02010600030101010101" pitchFamily="2" charset="-122"/>
                <a:ea typeface="等线" panose="02010600030101010101" pitchFamily="2" charset="-122"/>
                <a:cs typeface="等线" panose="02010600030101010101" pitchFamily="2" charset="-122"/>
              </a:rPr>
              <a:t>例</a:t>
            </a:r>
            <a:r>
              <a:rPr lang="en-US" altLang="zh-CN" sz="1800" b="1"/>
              <a:t>8.1</a:t>
            </a:r>
            <a:r>
              <a:rPr sz="1800">
                <a:latin typeface="等线" panose="02010600030101010101" pitchFamily="2" charset="-122"/>
                <a:ea typeface="等线" panose="02010600030101010101" pitchFamily="2" charset="-122"/>
                <a:cs typeface="等线" panose="02010600030101010101" pitchFamily="2" charset="-122"/>
              </a:rPr>
              <a:t>】求20个数57, 55, 85, 24, 33, 49, 94, 2, 8, 51, 71, 30, 91, 6, 47, 50, 65, 43,  41, 7的中位数。</a:t>
            </a:r>
          </a:p>
          <a:p>
            <a:pPr indent="266700">
              <a:lnSpc>
                <a:spcPct val="120000"/>
              </a:lnSpc>
              <a:spcBef>
                <a:spcPts val="0"/>
              </a:spcBef>
              <a:spcAft>
                <a:spcPts val="0"/>
              </a:spcAft>
            </a:pPr>
            <a:r>
              <a:rPr lang="en-US" sz="1800">
                <a:latin typeface="等线" panose="02010600030101010101" pitchFamily="2" charset="-122"/>
                <a:ea typeface="等线" panose="02010600030101010101" pitchFamily="2" charset="-122"/>
                <a:cs typeface="等线" panose="02010600030101010101" pitchFamily="2" charset="-122"/>
              </a:rPr>
              <a:t>  </a:t>
            </a:r>
            <a:r>
              <a:rPr sz="1800">
                <a:latin typeface="等线" panose="02010600030101010101" pitchFamily="2" charset="-122"/>
                <a:ea typeface="等线" panose="02010600030101010101" pitchFamily="2" charset="-122"/>
                <a:cs typeface="等线" panose="02010600030101010101" pitchFamily="2" charset="-122"/>
              </a:rPr>
              <a:t>首先对数据从小到大排序，结果为：2 6 7 8 24 30 33 41 43 47 49 50 51 55 57 65 71 85 91 94</a:t>
            </a:r>
            <a:r>
              <a:rPr lang="zh-CN" altLang="en-US" sz="1800">
                <a:latin typeface="等线" panose="02010600030101010101" pitchFamily="2" charset="-122"/>
                <a:ea typeface="等线" panose="02010600030101010101" pitchFamily="2" charset="-122"/>
                <a:cs typeface="等线" panose="02010600030101010101" pitchFamily="2" charset="-122"/>
              </a:rPr>
              <a:t>。</a:t>
            </a:r>
            <a:r>
              <a:rPr sz="1800">
                <a:latin typeface="等线" panose="02010600030101010101" pitchFamily="2" charset="-122"/>
                <a:ea typeface="等线" panose="02010600030101010101" pitchFamily="2" charset="-122"/>
                <a:cs typeface="等线" panose="02010600030101010101" pitchFamily="2" charset="-122"/>
              </a:rPr>
              <a:t>中间两个数为47和49，因此该组数据的中位数为48。</a:t>
            </a:r>
          </a:p>
          <a:p>
            <a:pPr indent="266700">
              <a:lnSpc>
                <a:spcPct val="120000"/>
              </a:lnSpc>
              <a:spcBef>
                <a:spcPts val="0"/>
              </a:spcBef>
              <a:spcAft>
                <a:spcPts val="0"/>
              </a:spcAft>
            </a:pPr>
            <a:r>
              <a:rPr lang="en-US" sz="1800">
                <a:latin typeface="等线" panose="02010600030101010101" pitchFamily="2" charset="-122"/>
                <a:ea typeface="等线" panose="02010600030101010101" pitchFamily="2" charset="-122"/>
                <a:cs typeface="等线" panose="02010600030101010101" pitchFamily="2" charset="-122"/>
              </a:rPr>
              <a:t>  </a:t>
            </a:r>
          </a:p>
          <a:p>
            <a:pPr indent="266700">
              <a:lnSpc>
                <a:spcPct val="120000"/>
              </a:lnSpc>
              <a:spcBef>
                <a:spcPts val="0"/>
              </a:spcBef>
              <a:spcAft>
                <a:spcPts val="0"/>
              </a:spcAft>
            </a:pPr>
            <a:r>
              <a:rPr sz="1800">
                <a:latin typeface="等线" panose="02010600030101010101" pitchFamily="2" charset="-122"/>
                <a:ea typeface="等线" panose="02010600030101010101" pitchFamily="2" charset="-122"/>
                <a:cs typeface="等线" panose="02010600030101010101" pitchFamily="2" charset="-122"/>
              </a:rPr>
              <a:t>相较于均值，中位数有着更好的抗干扰性，例如，在99个年收10万的人中加入一个年收1000万的，可以把平均年收入提高到19.9万，但这一均值实际上并没有很好地反映出这个人群的收入特征，而中位数对这个问题并没有那么敏感。</a:t>
            </a:r>
            <a:r>
              <a:rPr lang="en-US" sz="1800" b="1">
                <a:latin typeface="等线" panose="02010600030101010101" pitchFamily="2" charset="-122"/>
                <a:ea typeface="等线" panose="02010600030101010101" pitchFamily="2" charset="-122"/>
                <a:cs typeface="等线" panose="02010600030101010101" pitchFamily="2" charset="-122"/>
              </a:rPr>
              <a:t>  </a:t>
            </a:r>
            <a:endParaRPr sz="1800">
              <a:latin typeface="等线" panose="02010600030101010101" pitchFamily="2" charset="-122"/>
              <a:ea typeface="等线" panose="02010600030101010101" pitchFamily="2" charset="-122"/>
              <a:cs typeface="等线"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48285"/>
            <a:ext cx="4265295" cy="52197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8.1.1数据的集中趋势度量</a:t>
            </a:r>
          </a:p>
        </p:txBody>
      </p:sp>
      <p:sp>
        <p:nvSpPr>
          <p:cNvPr id="100" name="文本框 99"/>
          <p:cNvSpPr txBox="1"/>
          <p:nvPr/>
        </p:nvSpPr>
        <p:spPr>
          <a:xfrm>
            <a:off x="230505" y="848360"/>
            <a:ext cx="8683625" cy="2030620"/>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1">
                <a:latin typeface="+mn-ea"/>
              </a:rPr>
              <a:t>    </a:t>
            </a:r>
            <a:r>
              <a:rPr sz="2000" b="1"/>
              <a:t>3.众数（Mode）</a:t>
            </a:r>
          </a:p>
          <a:p>
            <a:pPr indent="266700">
              <a:lnSpc>
                <a:spcPct val="130000"/>
              </a:lnSpc>
              <a:spcBef>
                <a:spcPts val="0"/>
              </a:spcBef>
              <a:spcAft>
                <a:spcPts val="0"/>
              </a:spcAft>
            </a:pPr>
            <a:r>
              <a:rPr lang="en-US" sz="2000"/>
              <a:t>   </a:t>
            </a:r>
            <a:r>
              <a:rPr lang="en-US" sz="2000">
                <a:latin typeface="等线" panose="02010600030101010101" pitchFamily="2" charset="-122"/>
                <a:ea typeface="等线" panose="02010600030101010101" pitchFamily="2" charset="-122"/>
                <a:cs typeface="等线" panose="02010600030101010101" pitchFamily="2" charset="-122"/>
              </a:rPr>
              <a:t> </a:t>
            </a:r>
            <a:r>
              <a:rPr sz="2000" err="1">
                <a:latin typeface="等线" panose="02010600030101010101" pitchFamily="2" charset="-122"/>
                <a:ea typeface="等线" panose="02010600030101010101" pitchFamily="2" charset="-122"/>
                <a:cs typeface="等线" panose="02010600030101010101" pitchFamily="2" charset="-122"/>
              </a:rPr>
              <a:t>众数是指在一组数据中出现次数最多的数，即出现频率最高的那个数，众数也被称作数据的“模</a:t>
            </a:r>
            <a:r>
              <a:rPr sz="2000">
                <a:latin typeface="等线" panose="02010600030101010101" pitchFamily="2" charset="-122"/>
                <a:ea typeface="等线" panose="02010600030101010101" pitchFamily="2" charset="-122"/>
                <a:cs typeface="等线" panose="02010600030101010101" pitchFamily="2" charset="-122"/>
              </a:rPr>
              <a:t>”</a:t>
            </a:r>
            <a:r>
              <a:rPr lang="zh-CN" altLang="en-US" sz="2000">
                <a:latin typeface="等线" panose="02010600030101010101" pitchFamily="2" charset="-122"/>
                <a:ea typeface="等线" panose="02010600030101010101" pitchFamily="2" charset="-122"/>
                <a:cs typeface="等线" panose="02010600030101010101" pitchFamily="2" charset="-122"/>
              </a:rPr>
              <a:t>（</a:t>
            </a:r>
            <a:r>
              <a:rPr lang="en-US" altLang="zh-CN" sz="2000">
                <a:latin typeface="等线" panose="02010600030101010101" pitchFamily="2" charset="-122"/>
                <a:ea typeface="等线" panose="02010600030101010101" pitchFamily="2" charset="-122"/>
                <a:cs typeface="等线" panose="02010600030101010101" pitchFamily="2" charset="-122"/>
              </a:rPr>
              <a:t>Mode</a:t>
            </a:r>
            <a:r>
              <a:rPr lang="zh-CN" altLang="en-US" sz="2000">
                <a:latin typeface="等线" panose="02010600030101010101" pitchFamily="2" charset="-122"/>
                <a:ea typeface="等线" panose="02010600030101010101" pitchFamily="2" charset="-122"/>
                <a:cs typeface="等线" panose="02010600030101010101" pitchFamily="2" charset="-122"/>
              </a:rPr>
              <a:t>）</a:t>
            </a:r>
            <a:r>
              <a:rPr sz="2000">
                <a:latin typeface="等线" panose="02010600030101010101" pitchFamily="2" charset="-122"/>
                <a:ea typeface="等线" panose="02010600030101010101" pitchFamily="2" charset="-122"/>
                <a:cs typeface="等线" panose="02010600030101010101" pitchFamily="2" charset="-122"/>
              </a:rPr>
              <a:t>。</a:t>
            </a:r>
          </a:p>
          <a:p>
            <a:pPr indent="266700">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r>
              <a:rPr lang="zh-CN" altLang="en-US" sz="2000">
                <a:latin typeface="等线" panose="02010600030101010101" pitchFamily="2" charset="-122"/>
                <a:ea typeface="等线" panose="02010600030101010101" pitchFamily="2" charset="-122"/>
                <a:cs typeface="等线" panose="02010600030101010101" pitchFamily="2" charset="-122"/>
              </a:rPr>
              <a:t>下</a:t>
            </a:r>
            <a:r>
              <a:rPr sz="2000" err="1">
                <a:latin typeface="等线" panose="02010600030101010101" pitchFamily="2" charset="-122"/>
                <a:ea typeface="等线" panose="02010600030101010101" pitchFamily="2" charset="-122"/>
                <a:cs typeface="等线" panose="02010600030101010101" pitchFamily="2" charset="-122"/>
              </a:rPr>
              <a:t>图是对称数据、右偏数据和左偏数据的中位数、均值和众数位置示意图</a:t>
            </a:r>
            <a:r>
              <a:rPr lang="zh-CN" altLang="en-US" sz="2000">
                <a:latin typeface="等线" panose="02010600030101010101" pitchFamily="2" charset="-122"/>
                <a:ea typeface="等线" panose="02010600030101010101" pitchFamily="2" charset="-122"/>
                <a:cs typeface="等线" panose="02010600030101010101" pitchFamily="2" charset="-122"/>
              </a:rPr>
              <a:t>。</a:t>
            </a:r>
            <a:endParaRPr sz="2000">
              <a:latin typeface="等线" panose="02010600030101010101" pitchFamily="2" charset="-122"/>
              <a:ea typeface="等线" panose="02010600030101010101" pitchFamily="2" charset="-122"/>
              <a:cs typeface="等线" panose="02010600030101010101" pitchFamily="2" charset="-122"/>
            </a:endParaRPr>
          </a:p>
        </p:txBody>
      </p:sp>
      <p:sp>
        <p:nvSpPr>
          <p:cNvPr id="12" name="文本框 11">
            <a:extLst>
              <a:ext uri="{FF2B5EF4-FFF2-40B4-BE49-F238E27FC236}">
                <a16:creationId xmlns:a16="http://schemas.microsoft.com/office/drawing/2014/main" id="{6CCB042D-AE19-433D-99EA-7635C7700FD9}"/>
              </a:ext>
            </a:extLst>
          </p:cNvPr>
          <p:cNvSpPr txBox="1"/>
          <p:nvPr/>
        </p:nvSpPr>
        <p:spPr>
          <a:xfrm>
            <a:off x="1556366" y="4426765"/>
            <a:ext cx="5080000" cy="245110"/>
          </a:xfrm>
          <a:prstGeom prst="rect">
            <a:avLst/>
          </a:prstGeom>
          <a:noFill/>
          <a:ln w="9525">
            <a:noFill/>
          </a:ln>
        </p:spPr>
        <p:txBody>
          <a:bodyPr>
            <a:spAutoFit/>
          </a:bodyPr>
          <a:lstStyle/>
          <a:p>
            <a:pPr indent="0" algn="ctr"/>
            <a:r>
              <a:rPr lang="zh-CN" sz="1000" b="0">
                <a:latin typeface="Cambria Math" panose="02040503050406030204" charset="0"/>
                <a:ea typeface="等线" panose="02010600030101010101" pitchFamily="2" charset="-122"/>
              </a:rPr>
              <a:t>对称数据、右偏数据和左偏数据的中位数、均值和众数位置</a:t>
            </a:r>
            <a:endParaRPr lang="zh-CN" altLang="en-US" sz="1000"/>
          </a:p>
        </p:txBody>
      </p:sp>
      <p:pic>
        <p:nvPicPr>
          <p:cNvPr id="3" name="图片 2">
            <a:extLst>
              <a:ext uri="{FF2B5EF4-FFF2-40B4-BE49-F238E27FC236}">
                <a16:creationId xmlns:a16="http://schemas.microsoft.com/office/drawing/2014/main" id="{CD02F0F4-D892-4FCB-A799-3802E49ADB02}"/>
              </a:ext>
            </a:extLst>
          </p:cNvPr>
          <p:cNvPicPr>
            <a:picLocks noChangeAspect="1"/>
          </p:cNvPicPr>
          <p:nvPr/>
        </p:nvPicPr>
        <p:blipFill>
          <a:blip r:embed="rId3"/>
          <a:stretch>
            <a:fillRect/>
          </a:stretch>
        </p:blipFill>
        <p:spPr>
          <a:xfrm>
            <a:off x="1757717" y="2664558"/>
            <a:ext cx="5157253" cy="153174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48285"/>
            <a:ext cx="4265295" cy="52197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8.1.1数据的集中趋势度量</a:t>
            </a:r>
          </a:p>
        </p:txBody>
      </p:sp>
      <p:sp>
        <p:nvSpPr>
          <p:cNvPr id="4" name="文本框 3"/>
          <p:cNvSpPr txBox="1"/>
          <p:nvPr/>
        </p:nvSpPr>
        <p:spPr>
          <a:xfrm>
            <a:off x="666439" y="3590910"/>
            <a:ext cx="7638415" cy="891540"/>
          </a:xfrm>
          <a:prstGeom prst="rect">
            <a:avLst/>
          </a:prstGeom>
          <a:noFill/>
        </p:spPr>
        <p:txBody>
          <a:bodyPr wrap="square" rtlCol="0" anchor="t">
            <a:spAutoFit/>
          </a:bodyPr>
          <a:lstStyle/>
          <a:p>
            <a:pPr>
              <a:lnSpc>
                <a:spcPct val="130000"/>
              </a:lnSpc>
              <a:spcBef>
                <a:spcPts val="0"/>
              </a:spcBef>
              <a:spcAft>
                <a:spcPts val="0"/>
              </a:spcAft>
            </a:pPr>
            <a:r>
              <a:rPr lang="en-US" altLang="zh-CN" sz="2000"/>
              <a:t>       </a:t>
            </a:r>
            <a:r>
              <a:rPr lang="zh-CN" altLang="en-US" sz="2000" b="1"/>
              <a:t>提示：</a:t>
            </a:r>
            <a:r>
              <a:rPr lang="zh-CN" altLang="en-US" sz="2000"/>
              <a:t>所谓左偏和右偏指的是均值相对于众数的位置，均值在众数左边则为左偏，在右则为右偏</a:t>
            </a:r>
            <a:r>
              <a:rPr lang="zh-CN" altLang="en-US"/>
              <a:t>。</a:t>
            </a:r>
          </a:p>
        </p:txBody>
      </p:sp>
      <p:sp>
        <p:nvSpPr>
          <p:cNvPr id="5" name="矩形 4">
            <a:extLst>
              <a:ext uri="{FF2B5EF4-FFF2-40B4-BE49-F238E27FC236}">
                <a16:creationId xmlns:a16="http://schemas.microsoft.com/office/drawing/2014/main" id="{C6D92AE7-52E3-43D8-893E-1B9B2CA785DE}"/>
              </a:ext>
            </a:extLst>
          </p:cNvPr>
          <p:cNvSpPr/>
          <p:nvPr/>
        </p:nvSpPr>
        <p:spPr>
          <a:xfrm>
            <a:off x="796743" y="1140460"/>
            <a:ext cx="7377809" cy="1661289"/>
          </a:xfrm>
          <a:prstGeom prst="rect">
            <a:avLst/>
          </a:prstGeom>
        </p:spPr>
        <p:txBody>
          <a:bodyPr wrap="square">
            <a:spAutoFit/>
          </a:bodyPr>
          <a:lstStyle/>
          <a:p>
            <a:pPr indent="266700">
              <a:lnSpc>
                <a:spcPct val="130000"/>
              </a:lnSpc>
              <a:spcBef>
                <a:spcPts val="0"/>
              </a:spcBef>
              <a:spcAft>
                <a:spcPts val="0"/>
              </a:spcAft>
            </a:pPr>
            <a:r>
              <a:rPr lang="zh-CN" altLang="en-US" sz="2000">
                <a:latin typeface="等线" panose="02010600030101010101" pitchFamily="2" charset="-122"/>
                <a:cs typeface="等线" panose="02010600030101010101" pitchFamily="2" charset="-122"/>
              </a:rPr>
              <a:t>可以观察到以下现象：</a:t>
            </a:r>
            <a:endParaRPr lang="en-US" altLang="zh-CN" sz="2000">
              <a:latin typeface="等线" panose="02010600030101010101" pitchFamily="2" charset="-122"/>
              <a:cs typeface="等线" panose="02010600030101010101" pitchFamily="2" charset="-122"/>
            </a:endParaRPr>
          </a:p>
          <a:p>
            <a:pPr indent="266700">
              <a:lnSpc>
                <a:spcPct val="130000"/>
              </a:lnSpc>
              <a:spcBef>
                <a:spcPts val="0"/>
              </a:spcBef>
              <a:spcAft>
                <a:spcPts val="0"/>
              </a:spcAft>
            </a:pPr>
            <a:r>
              <a:rPr lang="zh-CN" altLang="en-US" sz="2000">
                <a:latin typeface="等线" panose="02010600030101010101" pitchFamily="2" charset="-122"/>
                <a:cs typeface="等线" panose="02010600030101010101" pitchFamily="2" charset="-122"/>
              </a:rPr>
              <a:t>①对称数据的中位数、均值和众数是重合的；</a:t>
            </a:r>
            <a:endParaRPr lang="en-US" altLang="zh-CN" sz="2000">
              <a:latin typeface="等线" panose="02010600030101010101" pitchFamily="2" charset="-122"/>
              <a:cs typeface="等线" panose="02010600030101010101" pitchFamily="2" charset="-122"/>
            </a:endParaRPr>
          </a:p>
          <a:p>
            <a:pPr indent="266700">
              <a:lnSpc>
                <a:spcPct val="130000"/>
              </a:lnSpc>
              <a:spcBef>
                <a:spcPts val="0"/>
              </a:spcBef>
              <a:spcAft>
                <a:spcPts val="0"/>
              </a:spcAft>
            </a:pPr>
            <a:r>
              <a:rPr lang="zh-CN" altLang="en-US" sz="2000">
                <a:latin typeface="等线" panose="02010600030101010101" pitchFamily="2" charset="-122"/>
                <a:cs typeface="等线" panose="02010600030101010101" pitchFamily="2" charset="-122"/>
              </a:rPr>
              <a:t>②右偏态（正偏离）数据的均值位于中位数和众数的右侧；</a:t>
            </a:r>
            <a:endParaRPr lang="en-US" altLang="zh-CN" sz="2000">
              <a:latin typeface="等线" panose="02010600030101010101" pitchFamily="2" charset="-122"/>
              <a:cs typeface="等线" panose="02010600030101010101" pitchFamily="2" charset="-122"/>
            </a:endParaRPr>
          </a:p>
          <a:p>
            <a:pPr indent="266700">
              <a:lnSpc>
                <a:spcPct val="130000"/>
              </a:lnSpc>
              <a:spcBef>
                <a:spcPts val="0"/>
              </a:spcBef>
              <a:spcAft>
                <a:spcPts val="0"/>
              </a:spcAft>
            </a:pPr>
            <a:r>
              <a:rPr lang="zh-CN" altLang="en-US" sz="2000">
                <a:latin typeface="等线" panose="02010600030101010101" pitchFamily="2" charset="-122"/>
                <a:cs typeface="等线" panose="02010600030101010101" pitchFamily="2" charset="-122"/>
              </a:rPr>
              <a:t>③左偏态（负偏离）数据的均值位于中位数和众数的左侧。</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48285"/>
            <a:ext cx="4265295" cy="52197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8.1.2数据的离散趋势度量</a:t>
            </a:r>
          </a:p>
        </p:txBody>
      </p:sp>
      <p:sp>
        <p:nvSpPr>
          <p:cNvPr id="100" name="文本框 99"/>
          <p:cNvSpPr txBox="1"/>
          <p:nvPr/>
        </p:nvSpPr>
        <p:spPr>
          <a:xfrm>
            <a:off x="131445" y="890806"/>
            <a:ext cx="8881110" cy="1168525"/>
          </a:xfrm>
          <a:prstGeom prst="rect">
            <a:avLst/>
          </a:prstGeom>
          <a:noFill/>
          <a:ln w="9525">
            <a:noFill/>
          </a:ln>
        </p:spPr>
        <p:txBody>
          <a:bodyPr wrap="square">
            <a:spAutoFit/>
          </a:bodyPr>
          <a:lstStyle/>
          <a:p>
            <a:pPr indent="266700">
              <a:lnSpc>
                <a:spcPct val="120000"/>
              </a:lnSpc>
              <a:spcBef>
                <a:spcPts val="0"/>
              </a:spcBef>
              <a:spcAft>
                <a:spcPts val="0"/>
              </a:spcAft>
            </a:pPr>
            <a:r>
              <a:rPr lang="en-US" sz="2000" b="1"/>
              <a:t>    </a:t>
            </a:r>
            <a:r>
              <a:rPr sz="2000" b="1"/>
              <a:t>1.方差（Variance）</a:t>
            </a:r>
          </a:p>
          <a:p>
            <a:pPr indent="266700">
              <a:lnSpc>
                <a:spcPct val="120000"/>
              </a:lnSpc>
              <a:spcBef>
                <a:spcPts val="0"/>
              </a:spcBef>
              <a:spcAft>
                <a:spcPts val="0"/>
              </a:spcAft>
            </a:pPr>
            <a:r>
              <a:rPr lang="en-US" sz="2000"/>
              <a:t>   </a:t>
            </a:r>
            <a:r>
              <a:rPr sz="2000" err="1">
                <a:latin typeface="+mn-ea"/>
              </a:rPr>
              <a:t>在统计描述中，方差是集合中每个数据与均值差的平方和</a:t>
            </a:r>
            <a:r>
              <a:rPr sz="2000">
                <a:latin typeface="+mn-ea"/>
              </a:rPr>
              <a:t>。</a:t>
            </a:r>
            <a:endParaRPr lang="en-US" altLang="zh-CN" sz="2000">
              <a:latin typeface="+mn-ea"/>
            </a:endParaRPr>
          </a:p>
          <a:p>
            <a:pPr indent="266700">
              <a:lnSpc>
                <a:spcPct val="120000"/>
              </a:lnSpc>
              <a:spcBef>
                <a:spcPts val="0"/>
              </a:spcBef>
              <a:spcAft>
                <a:spcPts val="0"/>
              </a:spcAft>
            </a:pPr>
            <a:r>
              <a:rPr lang="en-US" altLang="zh-CN" sz="2000">
                <a:latin typeface="+mn-ea"/>
              </a:rPr>
              <a:t>  </a:t>
            </a:r>
            <a:r>
              <a:rPr sz="2000" err="1">
                <a:latin typeface="+mn-ea"/>
              </a:rPr>
              <a:t>总体方差的计算公式为</a:t>
            </a:r>
            <a:r>
              <a:rPr sz="2000">
                <a:latin typeface="+mn-ea"/>
              </a:rPr>
              <a:t>：</a:t>
            </a:r>
          </a:p>
        </p:txBody>
      </p:sp>
      <mc:AlternateContent xmlns:mc="http://schemas.openxmlformats.org/markup-compatibility/2006" xmlns:a14="http://schemas.microsoft.com/office/drawing/2010/main">
        <mc:Choice Requires="a14">
          <p:sp>
            <p:nvSpPr>
              <p:cNvPr id="3" name="文本框 2"/>
              <p:cNvSpPr txBox="1"/>
              <p:nvPr/>
            </p:nvSpPr>
            <p:spPr>
              <a:xfrm>
                <a:off x="284297" y="2736880"/>
                <a:ext cx="8881110" cy="1198880"/>
              </a:xfrm>
              <a:prstGeom prst="rect">
                <a:avLst/>
              </a:prstGeom>
              <a:noFill/>
              <a:ln w="9525">
                <a:noFill/>
              </a:ln>
            </p:spPr>
            <p:txBody>
              <a:bodyPr wrap="square">
                <a:spAutoFit/>
              </a:bodyPr>
              <a:lstStyle/>
              <a:p>
                <a:pPr indent="266700">
                  <a:lnSpc>
                    <a:spcPct val="120000"/>
                  </a:lnSpc>
                  <a:spcBef>
                    <a:spcPts val="0"/>
                  </a:spcBef>
                  <a:spcAft>
                    <a:spcPts val="0"/>
                  </a:spcAft>
                </a:pPr>
                <a:r>
                  <a:rPr lang="en-US" sz="2000"/>
                  <a:t>  </a:t>
                </a:r>
                <a:r>
                  <a:rPr sz="2000" err="1"/>
                  <a:t>其中，</a:t>
                </a:r>
                <a:r>
                  <a:rPr lang="en-US" sz="2000" i="1" err="1"/>
                  <a:t>N</a:t>
                </a:r>
                <a:r>
                  <a:rPr sz="2000" err="1"/>
                  <a:t>为总体样本个数</a:t>
                </a:r>
                <a:r>
                  <a:rPr sz="2000"/>
                  <a:t>，</a:t>
                </a:r>
                <a14:m>
                  <m:oMath xmlns:m="http://schemas.openxmlformats.org/officeDocument/2006/math">
                    <m:r>
                      <a:rPr lang="en-US" altLang="zh-CN" sz="2000" b="0" i="1">
                        <a:latin typeface="Cambria Math" panose="02040503050406030204" pitchFamily="18" charset="0"/>
                      </a:rPr>
                      <m:t>𝜇</m:t>
                    </m:r>
                  </m:oMath>
                </a14:m>
                <a:r>
                  <a:rPr sz="2000" err="1"/>
                  <a:t>为样本的均值，</a:t>
                </a:r>
                <a14:m>
                  <m:oMath xmlns:m="http://schemas.openxmlformats.org/officeDocument/2006/math">
                    <m:r>
                      <a:rPr lang="en-US" altLang="zh-CN" sz="2000" i="1">
                        <a:latin typeface="Cambria Math" panose="02040503050406030204" pitchFamily="18" charset="0"/>
                      </a:rPr>
                      <m:t>𝜎</m:t>
                    </m:r>
                  </m:oMath>
                </a14:m>
                <a:r>
                  <a:rPr sz="2000" err="1"/>
                  <a:t>表示标准差</a:t>
                </a:r>
                <a:r>
                  <a:rPr sz="2000"/>
                  <a:t>。</a:t>
                </a:r>
              </a:p>
              <a:p>
                <a:pPr indent="266700">
                  <a:lnSpc>
                    <a:spcPct val="120000"/>
                  </a:lnSpc>
                  <a:spcBef>
                    <a:spcPts val="0"/>
                  </a:spcBef>
                  <a:spcAft>
                    <a:spcPts val="0"/>
                  </a:spcAft>
                </a:pPr>
                <a:r>
                  <a:rPr lang="en-US" sz="2000"/>
                  <a:t>  </a:t>
                </a:r>
                <a:r>
                  <a:rPr sz="2000" err="1"/>
                  <a:t>在实际计算中，总体均值难以得到时，应用样本统计量代替总体均值，经校正后，样本方差计算公式</a:t>
                </a:r>
                <a:r>
                  <a:rPr sz="2000"/>
                  <a:t>：</a:t>
                </a:r>
              </a:p>
            </p:txBody>
          </p:sp>
        </mc:Choice>
        <mc:Fallback xmlns="">
          <p:sp>
            <p:nvSpPr>
              <p:cNvPr id="3" name="文本框 2"/>
              <p:cNvSpPr txBox="1">
                <a:spLocks noRot="1" noChangeAspect="1" noMove="1" noResize="1" noEditPoints="1" noAdjustHandles="1" noChangeArrowheads="1" noChangeShapeType="1" noTextEdit="1"/>
              </p:cNvSpPr>
              <p:nvPr/>
            </p:nvSpPr>
            <p:spPr>
              <a:xfrm>
                <a:off x="284297" y="2736880"/>
                <a:ext cx="8881110" cy="1198880"/>
              </a:xfrm>
              <a:prstGeom prst="rect">
                <a:avLst/>
              </a:prstGeom>
              <a:blipFill>
                <a:blip r:embed="rId3"/>
                <a:stretch>
                  <a:fillRect l="-755" t="-508" b="-5584"/>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262890" y="4422775"/>
                <a:ext cx="8881110" cy="435632"/>
              </a:xfrm>
              <a:prstGeom prst="rect">
                <a:avLst/>
              </a:prstGeom>
              <a:noFill/>
              <a:ln w="9525">
                <a:noFill/>
              </a:ln>
            </p:spPr>
            <p:txBody>
              <a:bodyPr wrap="square">
                <a:spAutoFit/>
              </a:bodyPr>
              <a:lstStyle/>
              <a:p>
                <a:pPr indent="266700">
                  <a:lnSpc>
                    <a:spcPct val="120000"/>
                  </a:lnSpc>
                  <a:spcBef>
                    <a:spcPts val="0"/>
                  </a:spcBef>
                  <a:spcAft>
                    <a:spcPts val="0"/>
                  </a:spcAft>
                </a:pPr>
                <a:r>
                  <a:rPr lang="en-US" sz="2000"/>
                  <a:t>  </a:t>
                </a:r>
                <a:r>
                  <a:rPr sz="2000" err="1"/>
                  <a:t>其中</a:t>
                </a:r>
                <a:r>
                  <a:rPr sz="2000"/>
                  <a:t>，</a:t>
                </a:r>
                <a14:m>
                  <m:oMath xmlns:m="http://schemas.openxmlformats.org/officeDocument/2006/math">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rPr>
                          <m:t>𝑥</m:t>
                        </m:r>
                      </m:e>
                    </m:acc>
                  </m:oMath>
                </a14:m>
                <a:r>
                  <a:rPr sz="2000" err="1"/>
                  <a:t>表示样本均值，</a:t>
                </a:r>
                <a:r>
                  <a:rPr lang="en-US" altLang="zh-CN" sz="2000" i="1" err="1"/>
                  <a:t>n</a:t>
                </a:r>
                <a:r>
                  <a:rPr sz="2000" err="1"/>
                  <a:t>为样本个数</a:t>
                </a:r>
                <a:r>
                  <a:rPr sz="2000"/>
                  <a:t>。</a:t>
                </a:r>
              </a:p>
            </p:txBody>
          </p:sp>
        </mc:Choice>
        <mc:Fallback xmlns="">
          <p:sp>
            <p:nvSpPr>
              <p:cNvPr id="4" name="文本框 3"/>
              <p:cNvSpPr txBox="1">
                <a:spLocks noRot="1" noChangeAspect="1" noMove="1" noResize="1" noEditPoints="1" noAdjustHandles="1" noChangeArrowheads="1" noChangeShapeType="1" noTextEdit="1"/>
              </p:cNvSpPr>
              <p:nvPr/>
            </p:nvSpPr>
            <p:spPr>
              <a:xfrm>
                <a:off x="262890" y="4422775"/>
                <a:ext cx="8881110" cy="435632"/>
              </a:xfrm>
              <a:prstGeom prst="rect">
                <a:avLst/>
              </a:prstGeom>
              <a:blipFill>
                <a:blip r:embed="rId4"/>
                <a:stretch>
                  <a:fillRect t="-1408" b="-25352"/>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58DDAE26-AF03-4CBF-B25A-13C7F302CD29}"/>
                  </a:ext>
                </a:extLst>
              </p:cNvPr>
              <p:cNvSpPr/>
              <p:nvPr/>
            </p:nvSpPr>
            <p:spPr>
              <a:xfrm>
                <a:off x="3163473" y="2039620"/>
                <a:ext cx="2146037" cy="6556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sz="1800" i="1">
                              <a:latin typeface="Cambria Math" panose="02040503050406030204" pitchFamily="18" charset="0"/>
                            </a:rPr>
                          </m:ctrlPr>
                        </m:sSupPr>
                        <m:e>
                          <m:r>
                            <a:rPr lang="zh-CN" altLang="en-US" sz="1800" i="1">
                              <a:latin typeface="Cambria Math" panose="02040503050406030204" pitchFamily="18" charset="0"/>
                            </a:rPr>
                            <m:t>𝜎</m:t>
                          </m:r>
                        </m:e>
                        <m:sup>
                          <m:r>
                            <a:rPr lang="zh-CN" altLang="en-US" sz="1800" i="0">
                              <a:latin typeface="Cambria Math" panose="02040503050406030204" pitchFamily="18" charset="0"/>
                            </a:rPr>
                            <m:t>2</m:t>
                          </m:r>
                        </m:sup>
                      </m:sSup>
                      <m:r>
                        <a:rPr lang="zh-CN" altLang="en-US" sz="1800" i="0">
                          <a:latin typeface="Cambria Math" panose="02040503050406030204" pitchFamily="18" charset="0"/>
                        </a:rPr>
                        <m:t>=</m:t>
                      </m:r>
                      <m:f>
                        <m:fPr>
                          <m:ctrlPr>
                            <a:rPr lang="zh-CN" altLang="en-US" sz="1800" i="1">
                              <a:latin typeface="Cambria Math" panose="02040503050406030204" pitchFamily="18" charset="0"/>
                            </a:rPr>
                          </m:ctrlPr>
                        </m:fPr>
                        <m:num>
                          <m:nary>
                            <m:naryPr>
                              <m:chr m:val="∑"/>
                              <m:limLoc m:val="subSup"/>
                              <m:ctrlPr>
                                <a:rPr lang="zh-CN" altLang="en-US" sz="1800" i="1">
                                  <a:latin typeface="Cambria Math" panose="02040503050406030204" pitchFamily="18" charset="0"/>
                                </a:rPr>
                              </m:ctrlPr>
                            </m:naryPr>
                            <m:sub>
                              <m:r>
                                <a:rPr lang="zh-CN" altLang="en-US" sz="1800" i="1">
                                  <a:latin typeface="Cambria Math" panose="02040503050406030204" pitchFamily="18" charset="0"/>
                                </a:rPr>
                                <m:t>𝑖</m:t>
                              </m:r>
                              <m:r>
                                <a:rPr lang="zh-CN" altLang="en-US" sz="1800" i="0">
                                  <a:latin typeface="Cambria Math" panose="02040503050406030204" pitchFamily="18" charset="0"/>
                                </a:rPr>
                                <m:t>=1</m:t>
                              </m:r>
                            </m:sub>
                            <m:sup>
                              <m:r>
                                <a:rPr lang="zh-CN" altLang="en-US" sz="1800" i="1">
                                  <a:latin typeface="Cambria Math" panose="02040503050406030204" pitchFamily="18" charset="0"/>
                                </a:rPr>
                                <m:t>𝑁</m:t>
                              </m:r>
                            </m:sup>
                            <m:e>
                              <m:sSup>
                                <m:sSupPr>
                                  <m:ctrlPr>
                                    <a:rPr lang="zh-CN" altLang="en-US" sz="1800" i="1">
                                      <a:latin typeface="Cambria Math" panose="02040503050406030204" pitchFamily="18" charset="0"/>
                                    </a:rPr>
                                  </m:ctrlPr>
                                </m:sSupPr>
                                <m:e>
                                  <m:d>
                                    <m:dPr>
                                      <m:ctrlPr>
                                        <a:rPr lang="zh-CN" altLang="en-US" sz="1800" i="1">
                                          <a:latin typeface="Cambria Math" panose="02040503050406030204" pitchFamily="18" charset="0"/>
                                        </a:rPr>
                                      </m:ctrlPr>
                                    </m:dPr>
                                    <m:e>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𝑥</m:t>
                                          </m:r>
                                        </m:e>
                                        <m:sub>
                                          <m:r>
                                            <a:rPr lang="zh-CN" altLang="en-US" sz="1800" i="1">
                                              <a:latin typeface="Cambria Math" panose="02040503050406030204" pitchFamily="18" charset="0"/>
                                            </a:rPr>
                                            <m:t>𝑖</m:t>
                                          </m:r>
                                        </m:sub>
                                      </m:sSub>
                                      <m:r>
                                        <a:rPr lang="zh-CN" altLang="en-US" sz="1800" i="0">
                                          <a:latin typeface="Cambria Math" panose="02040503050406030204" pitchFamily="18" charset="0"/>
                                        </a:rPr>
                                        <m:t>−</m:t>
                                      </m:r>
                                      <m:r>
                                        <a:rPr lang="zh-CN" altLang="en-US" sz="1800" i="1">
                                          <a:latin typeface="Cambria Math" panose="02040503050406030204" pitchFamily="18" charset="0"/>
                                        </a:rPr>
                                        <m:t>𝜇</m:t>
                                      </m:r>
                                    </m:e>
                                  </m:d>
                                </m:e>
                                <m:sup>
                                  <m:r>
                                    <a:rPr lang="zh-CN" altLang="en-US" sz="1800" i="0">
                                      <a:latin typeface="Cambria Math" panose="02040503050406030204" pitchFamily="18" charset="0"/>
                                    </a:rPr>
                                    <m:t>2</m:t>
                                  </m:r>
                                </m:sup>
                              </m:sSup>
                            </m:e>
                          </m:nary>
                        </m:num>
                        <m:den>
                          <m:r>
                            <a:rPr lang="zh-CN" altLang="en-US" sz="1800" i="1">
                              <a:latin typeface="Cambria Math" panose="02040503050406030204" pitchFamily="18" charset="0"/>
                            </a:rPr>
                            <m:t>𝑁</m:t>
                          </m:r>
                        </m:den>
                      </m:f>
                    </m:oMath>
                  </m:oMathPara>
                </a14:m>
                <a:endParaRPr lang="zh-CN" altLang="en-US" sz="1800"/>
              </a:p>
            </p:txBody>
          </p:sp>
        </mc:Choice>
        <mc:Fallback xmlns="">
          <p:sp>
            <p:nvSpPr>
              <p:cNvPr id="5" name="矩形 4">
                <a:extLst>
                  <a:ext uri="{FF2B5EF4-FFF2-40B4-BE49-F238E27FC236}">
                    <a16:creationId xmlns:a16="http://schemas.microsoft.com/office/drawing/2014/main" id="{58DDAE26-AF03-4CBF-B25A-13C7F302CD29}"/>
                  </a:ext>
                </a:extLst>
              </p:cNvPr>
              <p:cNvSpPr>
                <a:spLocks noRot="1" noChangeAspect="1" noMove="1" noResize="1" noEditPoints="1" noAdjustHandles="1" noChangeArrowheads="1" noChangeShapeType="1" noTextEdit="1"/>
              </p:cNvSpPr>
              <p:nvPr/>
            </p:nvSpPr>
            <p:spPr>
              <a:xfrm>
                <a:off x="3163473" y="2039620"/>
                <a:ext cx="2146037" cy="65569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AA9CE682-DA6E-4586-8805-55A674515A04}"/>
                  </a:ext>
                </a:extLst>
              </p:cNvPr>
              <p:cNvSpPr/>
              <p:nvPr/>
            </p:nvSpPr>
            <p:spPr>
              <a:xfrm>
                <a:off x="4097536" y="3814737"/>
                <a:ext cx="2143600" cy="64812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sz="1800" i="1">
                              <a:latin typeface="Cambria Math" panose="02040503050406030204" pitchFamily="18" charset="0"/>
                            </a:rPr>
                          </m:ctrlPr>
                        </m:sSupPr>
                        <m:e>
                          <m:r>
                            <a:rPr lang="zh-CN" altLang="en-US" sz="1800" i="1">
                              <a:latin typeface="Cambria Math" panose="02040503050406030204" pitchFamily="18" charset="0"/>
                            </a:rPr>
                            <m:t>𝜎</m:t>
                          </m:r>
                        </m:e>
                        <m:sup>
                          <m:r>
                            <a:rPr lang="zh-CN" altLang="en-US" sz="1800" i="0">
                              <a:latin typeface="Cambria Math" panose="02040503050406030204" pitchFamily="18" charset="0"/>
                            </a:rPr>
                            <m:t>2</m:t>
                          </m:r>
                        </m:sup>
                      </m:sSup>
                      <m:r>
                        <a:rPr lang="zh-CN" altLang="en-US" sz="1800" i="0">
                          <a:latin typeface="Cambria Math" panose="02040503050406030204" pitchFamily="18" charset="0"/>
                        </a:rPr>
                        <m:t>=</m:t>
                      </m:r>
                      <m:f>
                        <m:fPr>
                          <m:ctrlPr>
                            <a:rPr lang="zh-CN" altLang="en-US" sz="1800" i="1">
                              <a:latin typeface="Cambria Math" panose="02040503050406030204" pitchFamily="18" charset="0"/>
                            </a:rPr>
                          </m:ctrlPr>
                        </m:fPr>
                        <m:num>
                          <m:nary>
                            <m:naryPr>
                              <m:chr m:val="∑"/>
                              <m:limLoc m:val="subSup"/>
                              <m:ctrlPr>
                                <a:rPr lang="zh-CN" altLang="en-US" sz="1800" i="1">
                                  <a:latin typeface="Cambria Math" panose="02040503050406030204" pitchFamily="18" charset="0"/>
                                </a:rPr>
                              </m:ctrlPr>
                            </m:naryPr>
                            <m:sub>
                              <m:r>
                                <a:rPr lang="zh-CN" altLang="en-US" sz="1800" i="1">
                                  <a:latin typeface="Cambria Math" panose="02040503050406030204" pitchFamily="18" charset="0"/>
                                </a:rPr>
                                <m:t>𝑖</m:t>
                              </m:r>
                              <m:r>
                                <a:rPr lang="zh-CN" altLang="en-US" sz="1800" i="0">
                                  <a:latin typeface="Cambria Math" panose="02040503050406030204" pitchFamily="18" charset="0"/>
                                </a:rPr>
                                <m:t>=1</m:t>
                              </m:r>
                            </m:sub>
                            <m:sup>
                              <m:r>
                                <a:rPr lang="zh-CN" altLang="en-US" sz="1800" i="1">
                                  <a:latin typeface="Cambria Math" panose="02040503050406030204" pitchFamily="18" charset="0"/>
                                </a:rPr>
                                <m:t>𝑚</m:t>
                              </m:r>
                            </m:sup>
                            <m:e>
                              <m:sSup>
                                <m:sSupPr>
                                  <m:ctrlPr>
                                    <a:rPr lang="zh-CN" altLang="en-US" sz="1800" i="1">
                                      <a:latin typeface="Cambria Math" panose="02040503050406030204" pitchFamily="18" charset="0"/>
                                    </a:rPr>
                                  </m:ctrlPr>
                                </m:sSupPr>
                                <m:e>
                                  <m:d>
                                    <m:dPr>
                                      <m:ctrlPr>
                                        <a:rPr lang="zh-CN" altLang="en-US" sz="1800" i="1">
                                          <a:latin typeface="Cambria Math" panose="02040503050406030204" pitchFamily="18" charset="0"/>
                                        </a:rPr>
                                      </m:ctrlPr>
                                    </m:dPr>
                                    <m:e>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𝑥</m:t>
                                          </m:r>
                                        </m:e>
                                        <m:sub>
                                          <m:r>
                                            <a:rPr lang="zh-CN" altLang="en-US" sz="1800" i="1">
                                              <a:latin typeface="Cambria Math" panose="02040503050406030204" pitchFamily="18" charset="0"/>
                                            </a:rPr>
                                            <m:t>𝑖</m:t>
                                          </m:r>
                                        </m:sub>
                                      </m:sSub>
                                      <m:r>
                                        <a:rPr lang="zh-CN" altLang="en-US" sz="1800" i="0">
                                          <a:latin typeface="Cambria Math" panose="02040503050406030204" pitchFamily="18" charset="0"/>
                                        </a:rPr>
                                        <m:t>−</m:t>
                                      </m:r>
                                      <m:acc>
                                        <m:accPr>
                                          <m:chr m:val="̅"/>
                                          <m:ctrlPr>
                                            <a:rPr lang="zh-CN" altLang="en-US" sz="1800" i="1">
                                              <a:latin typeface="Cambria Math" panose="02040503050406030204" pitchFamily="18" charset="0"/>
                                            </a:rPr>
                                          </m:ctrlPr>
                                        </m:accPr>
                                        <m:e>
                                          <m:r>
                                            <a:rPr lang="zh-CN" altLang="en-US" sz="1800" i="1">
                                              <a:latin typeface="Cambria Math" panose="02040503050406030204" pitchFamily="18" charset="0"/>
                                            </a:rPr>
                                            <m:t>𝑥</m:t>
                                          </m:r>
                                        </m:e>
                                      </m:acc>
                                    </m:e>
                                  </m:d>
                                </m:e>
                                <m:sup>
                                  <m:r>
                                    <a:rPr lang="zh-CN" altLang="en-US" sz="1800" i="0">
                                      <a:latin typeface="Cambria Math" panose="02040503050406030204" pitchFamily="18" charset="0"/>
                                    </a:rPr>
                                    <m:t>2</m:t>
                                  </m:r>
                                </m:sup>
                              </m:sSup>
                            </m:e>
                          </m:nary>
                        </m:num>
                        <m:den>
                          <m:r>
                            <a:rPr lang="zh-CN" altLang="en-US" sz="1800" i="1">
                              <a:latin typeface="Cambria Math" panose="02040503050406030204" pitchFamily="18" charset="0"/>
                            </a:rPr>
                            <m:t>𝑛</m:t>
                          </m:r>
                          <m:r>
                            <a:rPr lang="zh-CN" altLang="en-US" sz="1800" i="0">
                              <a:latin typeface="Cambria Math" panose="02040503050406030204" pitchFamily="18" charset="0"/>
                            </a:rPr>
                            <m:t>−1</m:t>
                          </m:r>
                        </m:den>
                      </m:f>
                    </m:oMath>
                  </m:oMathPara>
                </a14:m>
                <a:endParaRPr lang="zh-CN" altLang="en-US" sz="1800"/>
              </a:p>
            </p:txBody>
          </p:sp>
        </mc:Choice>
        <mc:Fallback xmlns="">
          <p:sp>
            <p:nvSpPr>
              <p:cNvPr id="6" name="矩形 5">
                <a:extLst>
                  <a:ext uri="{FF2B5EF4-FFF2-40B4-BE49-F238E27FC236}">
                    <a16:creationId xmlns:a16="http://schemas.microsoft.com/office/drawing/2014/main" id="{AA9CE682-DA6E-4586-8805-55A674515A04}"/>
                  </a:ext>
                </a:extLst>
              </p:cNvPr>
              <p:cNvSpPr>
                <a:spLocks noRot="1" noChangeAspect="1" noMove="1" noResize="1" noEditPoints="1" noAdjustHandles="1" noChangeArrowheads="1" noChangeShapeType="1" noTextEdit="1"/>
              </p:cNvSpPr>
              <p:nvPr/>
            </p:nvSpPr>
            <p:spPr>
              <a:xfrm>
                <a:off x="4097536" y="3814737"/>
                <a:ext cx="2143600" cy="648126"/>
              </a:xfrm>
              <a:prstGeom prst="rect">
                <a:avLst/>
              </a:prstGeom>
              <a:blipFill>
                <a:blip r:embed="rId6"/>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48285"/>
            <a:ext cx="4265295" cy="52197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8.1.2数据的离散趋势度量</a:t>
            </a:r>
          </a:p>
        </p:txBody>
      </p:sp>
      <p:sp>
        <p:nvSpPr>
          <p:cNvPr id="102" name="文本框 101"/>
          <p:cNvSpPr txBox="1"/>
          <p:nvPr/>
        </p:nvSpPr>
        <p:spPr>
          <a:xfrm>
            <a:off x="623453" y="1227537"/>
            <a:ext cx="7682865" cy="12915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latin typeface="Cambria Math" panose="02040503050406030204" charset="0"/>
                <a:ea typeface="等线" panose="02010600030101010101" pitchFamily="2" charset="-122"/>
              </a:rPr>
              <a:t>   </a:t>
            </a:r>
            <a:r>
              <a:rPr lang="zh-CN" sz="2000" b="0">
                <a:latin typeface="Cambria Math" panose="02040503050406030204" charset="0"/>
                <a:ea typeface="等线" panose="02010600030101010101" pitchFamily="2" charset="-122"/>
              </a:rPr>
              <a:t>方差的值越大说明该数据项波动越大。当数据分布比较分散时，各个数据与平均值的差的平方和较大，方差就较大；当数据分布比较集中时，各个数据与平均值差的平方和较小。</a:t>
            </a:r>
            <a:endParaRPr lang="zh-CN" altLang="en-US" sz="2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1163" y="239395"/>
            <a:ext cx="4467021" cy="523220"/>
          </a:xfrm>
          <a:prstGeom prst="rect">
            <a:avLst/>
          </a:prstGeom>
          <a:noFill/>
        </p:spPr>
        <p:txBody>
          <a:bodyPr wrap="square" rtlCol="0">
            <a:spAutoFit/>
          </a:bodyPr>
          <a:lstStyle/>
          <a:p>
            <a:r>
              <a:rPr 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8.1.2数据的离散趋势度量</a:t>
            </a:r>
          </a:p>
        </p:txBody>
      </p:sp>
      <p:sp>
        <p:nvSpPr>
          <p:cNvPr id="100" name="文本框 99"/>
          <p:cNvSpPr txBox="1"/>
          <p:nvPr/>
        </p:nvSpPr>
        <p:spPr>
          <a:xfrm>
            <a:off x="104140" y="859790"/>
            <a:ext cx="8935720" cy="3784600"/>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1">
                <a:latin typeface="+mn-ea"/>
              </a:rPr>
              <a:t>     </a:t>
            </a:r>
            <a:r>
              <a:rPr sz="2000" b="1">
                <a:latin typeface="等线" panose="02010600030101010101" pitchFamily="2" charset="-122"/>
                <a:ea typeface="等线" panose="02010600030101010101" pitchFamily="2" charset="-122"/>
                <a:cs typeface="等线" panose="02010600030101010101" pitchFamily="2" charset="-122"/>
              </a:rPr>
              <a:t>2.四分位数(Quartile)</a:t>
            </a:r>
            <a:r>
              <a:rPr lang="en-US" sz="2000">
                <a:latin typeface="等线" panose="02010600030101010101" pitchFamily="2" charset="-122"/>
                <a:ea typeface="等线" panose="02010600030101010101" pitchFamily="2" charset="-122"/>
                <a:cs typeface="等线" panose="02010600030101010101" pitchFamily="2" charset="-122"/>
              </a:rPr>
              <a:t> </a:t>
            </a:r>
          </a:p>
          <a:p>
            <a:pPr lvl="1" indent="266700">
              <a:lnSpc>
                <a:spcPct val="120000"/>
              </a:lnSpc>
              <a:spcBef>
                <a:spcPts val="0"/>
              </a:spcBef>
              <a:spcAft>
                <a:spcPts val="0"/>
              </a:spcAft>
            </a:pPr>
            <a:r>
              <a:rPr lang="zh-CN" sz="2000">
                <a:latin typeface="Cambria Math" panose="02040503050406030204" charset="0"/>
                <a:ea typeface="等线" panose="02010600030101010101" pitchFamily="2" charset="-122"/>
                <a:sym typeface="+mn-ea"/>
              </a:rPr>
              <a:t>四分位数也称四分位点，将所有数值按大小顺序排列并分成四等份，处于三个分割点位置的就是四分位数，如图所示：</a:t>
            </a:r>
            <a:endParaRPr lang="en-US" sz="2000">
              <a:latin typeface="Wingdings" panose="05000000000000000000" charset="0"/>
              <a:ea typeface="等线" panose="02010600030101010101" pitchFamily="2" charset="-122"/>
              <a:sym typeface="+mn-ea"/>
            </a:endParaRPr>
          </a:p>
          <a:p>
            <a:pPr lvl="1" indent="266700">
              <a:lnSpc>
                <a:spcPct val="120000"/>
              </a:lnSpc>
              <a:spcBef>
                <a:spcPts val="0"/>
              </a:spcBef>
              <a:spcAft>
                <a:spcPts val="0"/>
              </a:spcAft>
            </a:pPr>
            <a:r>
              <a:rPr lang="en-US" sz="2000">
                <a:latin typeface="Wingdings" panose="05000000000000000000" charset="0"/>
                <a:ea typeface="等线" panose="02010600030101010101" pitchFamily="2" charset="-122"/>
                <a:sym typeface="+mn-ea"/>
              </a:rPr>
              <a:t>l </a:t>
            </a:r>
            <a:r>
              <a:rPr lang="zh-CN" sz="2000">
                <a:latin typeface="Cambria Math" panose="02040503050406030204" charset="0"/>
                <a:ea typeface="等线" panose="02010600030101010101" pitchFamily="2" charset="-122"/>
                <a:sym typeface="+mn-ea"/>
              </a:rPr>
              <a:t>第</a:t>
            </a:r>
            <a:r>
              <a:rPr lang="en-US" sz="2000">
                <a:latin typeface="Cambria Math" panose="02040503050406030204" charset="0"/>
                <a:ea typeface="等线" panose="02010600030101010101" pitchFamily="2" charset="-122"/>
                <a:sym typeface="+mn-ea"/>
              </a:rPr>
              <a:t>1</a:t>
            </a:r>
            <a:r>
              <a:rPr lang="zh-CN" sz="2000">
                <a:latin typeface="Cambria Math" panose="02040503050406030204" charset="0"/>
                <a:ea typeface="等线" panose="02010600030101010101" pitchFamily="2" charset="-122"/>
                <a:sym typeface="+mn-ea"/>
              </a:rPr>
              <a:t>“四分位数” </a:t>
            </a:r>
            <a:r>
              <a:rPr lang="en-US" sz="2000">
                <a:latin typeface="Cambria Math" panose="02040503050406030204" charset="0"/>
                <a:ea typeface="等线" panose="02010600030101010101" pitchFamily="2" charset="-122"/>
                <a:sym typeface="+mn-ea"/>
              </a:rPr>
              <a:t>(Q1)</a:t>
            </a:r>
            <a:r>
              <a:rPr lang="zh-CN" sz="2000">
                <a:latin typeface="Cambria Math" panose="02040503050406030204" charset="0"/>
                <a:ea typeface="等线" panose="02010600030101010101" pitchFamily="2" charset="-122"/>
                <a:sym typeface="+mn-ea"/>
              </a:rPr>
              <a:t>，又称“较小四分位数” </a:t>
            </a:r>
            <a:r>
              <a:rPr lang="en-US" sz="2000">
                <a:latin typeface="Cambria Math" panose="02040503050406030204" charset="0"/>
                <a:ea typeface="等线" panose="02010600030101010101" pitchFamily="2" charset="-122"/>
                <a:cs typeface="Times New Roman" panose="02020603050405020304" pitchFamily="18" charset="0"/>
                <a:sym typeface="+mn-ea"/>
              </a:rPr>
              <a:t>,</a:t>
            </a:r>
            <a:r>
              <a:rPr lang="en-US" sz="2000">
                <a:solidFill>
                  <a:srgbClr val="333333"/>
                </a:solidFill>
                <a:latin typeface="Arial" panose="020B0604020202020204" pitchFamily="34" charset="0"/>
                <a:ea typeface="等线" panose="02010600030101010101" pitchFamily="2" charset="-122"/>
                <a:sym typeface="+mn-ea"/>
              </a:rPr>
              <a:t> </a:t>
            </a:r>
            <a:r>
              <a:rPr lang="zh-CN" sz="2000">
                <a:solidFill>
                  <a:srgbClr val="333333"/>
                </a:solidFill>
                <a:ea typeface="等线" panose="02010600030101010101" pitchFamily="2" charset="-122"/>
                <a:sym typeface="+mn-ea"/>
              </a:rPr>
              <a:t>等于该样本中所有数值由小到大排列后第</a:t>
            </a:r>
            <a:r>
              <a:rPr lang="en-US" sz="2000">
                <a:solidFill>
                  <a:srgbClr val="333333"/>
                </a:solidFill>
                <a:latin typeface="Arial" panose="020B0604020202020204" pitchFamily="34" charset="0"/>
                <a:ea typeface="等线" panose="02010600030101010101" pitchFamily="2" charset="-122"/>
                <a:sym typeface="+mn-ea"/>
              </a:rPr>
              <a:t>25%</a:t>
            </a:r>
            <a:r>
              <a:rPr lang="zh-CN" sz="2000">
                <a:solidFill>
                  <a:srgbClr val="333333"/>
                </a:solidFill>
                <a:ea typeface="等线" panose="02010600030101010101" pitchFamily="2" charset="-122"/>
                <a:sym typeface="+mn-ea"/>
              </a:rPr>
              <a:t>的数字。</a:t>
            </a:r>
            <a:endParaRPr lang="en-US" sz="2000">
              <a:latin typeface="Wingdings" panose="05000000000000000000" charset="0"/>
              <a:ea typeface="等线" panose="02010600030101010101" pitchFamily="2" charset="-122"/>
              <a:sym typeface="+mn-ea"/>
            </a:endParaRPr>
          </a:p>
          <a:p>
            <a:pPr lvl="1" indent="266700">
              <a:lnSpc>
                <a:spcPct val="120000"/>
              </a:lnSpc>
              <a:spcBef>
                <a:spcPts val="0"/>
              </a:spcBef>
              <a:spcAft>
                <a:spcPts val="0"/>
              </a:spcAft>
            </a:pPr>
            <a:r>
              <a:rPr lang="en-US" sz="2000">
                <a:latin typeface="Wingdings" panose="05000000000000000000" charset="0"/>
                <a:ea typeface="等线" panose="02010600030101010101" pitchFamily="2" charset="-122"/>
                <a:sym typeface="+mn-ea"/>
              </a:rPr>
              <a:t>l </a:t>
            </a:r>
            <a:r>
              <a:rPr lang="zh-CN" sz="2000">
                <a:latin typeface="Cambria Math" panose="02040503050406030204" charset="0"/>
                <a:ea typeface="等线" panose="02010600030101010101" pitchFamily="2" charset="-122"/>
                <a:sym typeface="+mn-ea"/>
              </a:rPr>
              <a:t>第</a:t>
            </a:r>
            <a:r>
              <a:rPr lang="en-US" sz="2000">
                <a:latin typeface="Cambria Math" panose="02040503050406030204" charset="0"/>
                <a:ea typeface="等线" panose="02010600030101010101" pitchFamily="2" charset="-122"/>
                <a:sym typeface="+mn-ea"/>
              </a:rPr>
              <a:t>2</a:t>
            </a:r>
            <a:r>
              <a:rPr lang="zh-CN" sz="2000">
                <a:latin typeface="Cambria Math" panose="02040503050406030204" charset="0"/>
                <a:ea typeface="等线" panose="02010600030101010101" pitchFamily="2" charset="-122"/>
                <a:sym typeface="+mn-ea"/>
              </a:rPr>
              <a:t>“四分位数”</a:t>
            </a:r>
            <a:r>
              <a:rPr lang="en-US" sz="2000">
                <a:latin typeface="Cambria Math" panose="02040503050406030204" charset="0"/>
                <a:ea typeface="等线" panose="02010600030101010101" pitchFamily="2" charset="-122"/>
                <a:sym typeface="+mn-ea"/>
              </a:rPr>
              <a:t>(Q2)</a:t>
            </a:r>
            <a:r>
              <a:rPr lang="zh-CN" sz="2000">
                <a:latin typeface="Cambria Math" panose="02040503050406030204" charset="0"/>
                <a:ea typeface="等线" panose="02010600030101010101" pitchFamily="2" charset="-122"/>
                <a:sym typeface="+mn-ea"/>
              </a:rPr>
              <a:t>，又称“中位数” </a:t>
            </a:r>
            <a:r>
              <a:rPr lang="en-US" sz="2000">
                <a:latin typeface="Cambria Math" panose="02040503050406030204" charset="0"/>
                <a:ea typeface="等线" panose="02010600030101010101" pitchFamily="2" charset="-122"/>
                <a:cs typeface="Times New Roman" panose="02020603050405020304" pitchFamily="18" charset="0"/>
                <a:sym typeface="+mn-ea"/>
              </a:rPr>
              <a:t>,</a:t>
            </a:r>
            <a:r>
              <a:rPr lang="en-US" sz="2000">
                <a:solidFill>
                  <a:srgbClr val="333333"/>
                </a:solidFill>
                <a:latin typeface="Arial" panose="020B0604020202020204" pitchFamily="34" charset="0"/>
                <a:ea typeface="等线" panose="02010600030101010101" pitchFamily="2" charset="-122"/>
                <a:sym typeface="+mn-ea"/>
              </a:rPr>
              <a:t> </a:t>
            </a:r>
            <a:r>
              <a:rPr lang="zh-CN" sz="2000">
                <a:solidFill>
                  <a:srgbClr val="333333"/>
                </a:solidFill>
                <a:ea typeface="等线" panose="02010600030101010101" pitchFamily="2" charset="-122"/>
                <a:sym typeface="+mn-ea"/>
              </a:rPr>
              <a:t>等于该样本中所有数值由小到大排列后第</a:t>
            </a:r>
            <a:r>
              <a:rPr lang="en-US" sz="2000">
                <a:solidFill>
                  <a:srgbClr val="333333"/>
                </a:solidFill>
                <a:latin typeface="Arial" panose="020B0604020202020204" pitchFamily="34" charset="0"/>
                <a:ea typeface="等线" panose="02010600030101010101" pitchFamily="2" charset="-122"/>
                <a:sym typeface="+mn-ea"/>
              </a:rPr>
              <a:t>50%</a:t>
            </a:r>
            <a:r>
              <a:rPr lang="zh-CN" sz="2000">
                <a:solidFill>
                  <a:srgbClr val="333333"/>
                </a:solidFill>
                <a:ea typeface="等线" panose="02010600030101010101" pitchFamily="2" charset="-122"/>
                <a:sym typeface="+mn-ea"/>
              </a:rPr>
              <a:t>的数字。</a:t>
            </a:r>
            <a:endParaRPr lang="en-US" sz="2000">
              <a:latin typeface="Wingdings" panose="05000000000000000000" charset="0"/>
              <a:ea typeface="等线" panose="02010600030101010101" pitchFamily="2" charset="-122"/>
              <a:sym typeface="+mn-ea"/>
            </a:endParaRPr>
          </a:p>
          <a:p>
            <a:pPr lvl="1" indent="266700">
              <a:lnSpc>
                <a:spcPct val="120000"/>
              </a:lnSpc>
              <a:spcBef>
                <a:spcPts val="0"/>
              </a:spcBef>
              <a:spcAft>
                <a:spcPts val="0"/>
              </a:spcAft>
            </a:pPr>
            <a:r>
              <a:rPr lang="en-US" sz="2000">
                <a:latin typeface="Wingdings" panose="05000000000000000000" charset="0"/>
                <a:ea typeface="等线" panose="02010600030101010101" pitchFamily="2" charset="-122"/>
                <a:sym typeface="+mn-ea"/>
              </a:rPr>
              <a:t>l </a:t>
            </a:r>
            <a:r>
              <a:rPr lang="zh-CN" sz="2000">
                <a:latin typeface="Cambria Math" panose="02040503050406030204" charset="0"/>
                <a:ea typeface="等线" panose="02010600030101010101" pitchFamily="2" charset="-122"/>
                <a:sym typeface="+mn-ea"/>
              </a:rPr>
              <a:t>第</a:t>
            </a:r>
            <a:r>
              <a:rPr lang="en-US" sz="2000">
                <a:latin typeface="Cambria Math" panose="02040503050406030204" charset="0"/>
                <a:ea typeface="等线" panose="02010600030101010101" pitchFamily="2" charset="-122"/>
                <a:sym typeface="+mn-ea"/>
              </a:rPr>
              <a:t>3</a:t>
            </a:r>
            <a:r>
              <a:rPr lang="zh-CN" sz="2000">
                <a:latin typeface="Cambria Math" panose="02040503050406030204" charset="0"/>
                <a:ea typeface="等线" panose="02010600030101010101" pitchFamily="2" charset="-122"/>
                <a:sym typeface="+mn-ea"/>
              </a:rPr>
              <a:t>“四分位数”</a:t>
            </a:r>
            <a:r>
              <a:rPr lang="en-US" sz="2000">
                <a:latin typeface="Cambria Math" panose="02040503050406030204" charset="0"/>
                <a:ea typeface="等线" panose="02010600030101010101" pitchFamily="2" charset="-122"/>
                <a:sym typeface="+mn-ea"/>
              </a:rPr>
              <a:t>(Q3)</a:t>
            </a:r>
            <a:r>
              <a:rPr lang="zh-CN" sz="2000">
                <a:latin typeface="Cambria Math" panose="02040503050406030204" charset="0"/>
                <a:ea typeface="等线" panose="02010600030101010101" pitchFamily="2" charset="-122"/>
                <a:sym typeface="+mn-ea"/>
              </a:rPr>
              <a:t>，又称“较大四分位数” </a:t>
            </a:r>
            <a:r>
              <a:rPr lang="en-US" sz="2000">
                <a:latin typeface="Cambria Math" panose="02040503050406030204" charset="0"/>
                <a:ea typeface="等线" panose="02010600030101010101" pitchFamily="2" charset="-122"/>
                <a:cs typeface="Times New Roman" panose="02020603050405020304" pitchFamily="18" charset="0"/>
                <a:sym typeface="+mn-ea"/>
              </a:rPr>
              <a:t>,</a:t>
            </a:r>
            <a:r>
              <a:rPr lang="en-US" sz="2000">
                <a:solidFill>
                  <a:srgbClr val="333333"/>
                </a:solidFill>
                <a:latin typeface="Arial" panose="020B0604020202020204" pitchFamily="34" charset="0"/>
                <a:ea typeface="等线" panose="02010600030101010101" pitchFamily="2" charset="-122"/>
                <a:sym typeface="+mn-ea"/>
              </a:rPr>
              <a:t> </a:t>
            </a:r>
            <a:r>
              <a:rPr lang="zh-CN" sz="2000">
                <a:solidFill>
                  <a:srgbClr val="333333"/>
                </a:solidFill>
                <a:ea typeface="等线" panose="02010600030101010101" pitchFamily="2" charset="-122"/>
                <a:sym typeface="+mn-ea"/>
              </a:rPr>
              <a:t>等于该样本中所有数值由小到大排列后第</a:t>
            </a:r>
            <a:r>
              <a:rPr lang="en-US" sz="2000">
                <a:solidFill>
                  <a:srgbClr val="333333"/>
                </a:solidFill>
                <a:latin typeface="Arial" panose="020B0604020202020204" pitchFamily="34" charset="0"/>
                <a:ea typeface="等线" panose="02010600030101010101" pitchFamily="2" charset="-122"/>
                <a:sym typeface="+mn-ea"/>
              </a:rPr>
              <a:t>75%</a:t>
            </a:r>
            <a:r>
              <a:rPr lang="zh-CN" sz="2000">
                <a:solidFill>
                  <a:srgbClr val="333333"/>
                </a:solidFill>
                <a:ea typeface="等线" panose="02010600030101010101" pitchFamily="2" charset="-122"/>
                <a:sym typeface="+mn-ea"/>
              </a:rPr>
              <a:t>的数字。</a:t>
            </a:r>
            <a:endParaRPr lang="en-US" sz="2000">
              <a:latin typeface="Wingdings" panose="05000000000000000000" charset="0"/>
              <a:ea typeface="等线" panose="02010600030101010101" pitchFamily="2" charset="-122"/>
              <a:sym typeface="+mn-ea"/>
            </a:endParaRPr>
          </a:p>
          <a:p>
            <a:pPr lvl="1" indent="266700">
              <a:lnSpc>
                <a:spcPct val="120000"/>
              </a:lnSpc>
              <a:spcBef>
                <a:spcPts val="0"/>
              </a:spcBef>
              <a:spcAft>
                <a:spcPts val="0"/>
              </a:spcAft>
            </a:pPr>
            <a:r>
              <a:rPr lang="en-US" sz="2000">
                <a:latin typeface="Wingdings" panose="05000000000000000000" charset="0"/>
                <a:ea typeface="等线" panose="02010600030101010101" pitchFamily="2" charset="-122"/>
                <a:sym typeface="+mn-ea"/>
              </a:rPr>
              <a:t>l 四分位距</a:t>
            </a:r>
            <a:r>
              <a:rPr lang="zh-CN" altLang="en-US" sz="2000">
                <a:latin typeface="Wingdings" panose="05000000000000000000" charset="0"/>
                <a:ea typeface="等线" panose="02010600030101010101" pitchFamily="2" charset="-122"/>
                <a:sym typeface="+mn-ea"/>
              </a:rPr>
              <a:t>：</a:t>
            </a:r>
            <a:r>
              <a:rPr lang="en-US" sz="2000">
                <a:latin typeface="Wingdings" panose="05000000000000000000" charset="0"/>
                <a:ea typeface="等线" panose="02010600030101010101" pitchFamily="2" charset="-122"/>
                <a:sym typeface="+mn-ea"/>
              </a:rPr>
              <a:t> 第三“四分位数”与第一“四分位数”的差距</a:t>
            </a:r>
            <a:r>
              <a:rPr lang="en-US" sz="2000">
                <a:latin typeface="等线" panose="02010600030101010101" pitchFamily="2" charset="-122"/>
                <a:ea typeface="等线" panose="02010600030101010101" pitchFamily="2" charset="-122"/>
                <a:cs typeface="等线" panose="02010600030101010101" pitchFamily="2" charset="-122"/>
              </a:rPr>
              <a:t> </a:t>
            </a:r>
            <a:r>
              <a:rPr lang="en-US" sz="2000" b="1">
                <a:latin typeface="等线" panose="02010600030101010101" pitchFamily="2" charset="-122"/>
                <a:ea typeface="等线" panose="02010600030101010101" pitchFamily="2" charset="-122"/>
                <a:cs typeface="等线" panose="02010600030101010101" pitchFamily="2" charset="-122"/>
              </a:rPr>
              <a:t>  </a:t>
            </a:r>
            <a:r>
              <a:rPr lang="en-US" sz="2000">
                <a:latin typeface="等线" panose="02010600030101010101" pitchFamily="2" charset="-122"/>
                <a:ea typeface="等线" panose="02010600030101010101" pitchFamily="2" charset="-122"/>
                <a:cs typeface="等线" panose="02010600030101010101" pitchFamily="2" charset="-122"/>
              </a:rPr>
              <a:t>  </a:t>
            </a:r>
            <a:endParaRPr sz="2000">
              <a:latin typeface="等线" panose="02010600030101010101" pitchFamily="2" charset="-122"/>
              <a:ea typeface="等线" panose="02010600030101010101" pitchFamily="2" charset="-122"/>
              <a:cs typeface="等线"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 y="239395"/>
            <a:ext cx="4528185" cy="523220"/>
          </a:xfrm>
          <a:prstGeom prst="rect">
            <a:avLst/>
          </a:prstGeom>
          <a:noFill/>
        </p:spPr>
        <p:txBody>
          <a:bodyPr wrap="square" rtlCol="0">
            <a:spAutoFit/>
          </a:bodyPr>
          <a:lstStyle/>
          <a:p>
            <a:r>
              <a:rPr 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8.1.2数据的离散趋势度量</a:t>
            </a:r>
          </a:p>
        </p:txBody>
      </p:sp>
      <p:graphicFrame>
        <p:nvGraphicFramePr>
          <p:cNvPr id="10" name="表格 9"/>
          <p:cNvGraphicFramePr/>
          <p:nvPr/>
        </p:nvGraphicFramePr>
        <p:xfrm>
          <a:off x="2032000" y="2921000"/>
          <a:ext cx="416560" cy="59436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0">
                <a:tc>
                  <a:txBody>
                    <a:bodyPr/>
                    <a:lstStyle/>
                    <a:p>
                      <a:pPr indent="0">
                        <a:buNone/>
                      </a:pPr>
                      <a:endParaRPr lang="zh-CN" altLang="en-US" b="0"/>
                    </a:p>
                  </a:txBody>
                  <a:tcPr>
                    <a:lnL>
                      <a:noFill/>
                    </a:lnL>
                    <a:lnR>
                      <a:noFill/>
                    </a:lnR>
                    <a:lnT cap="flat">
                      <a:noFill/>
                    </a:lnT>
                    <a:lnB cap="flat">
                      <a:noFill/>
                    </a:lnB>
                    <a:lnTlToBr>
                      <a:noFill/>
                    </a:lnTlToBr>
                    <a:lnBlToTr>
                      <a:noFill/>
                    </a:lnBlToTr>
                    <a:noFill/>
                  </a:tcPr>
                </a:tc>
                <a:tc>
                  <a:txBody>
                    <a:bodyPr/>
                    <a:lstStyle/>
                    <a:p>
                      <a:pPr>
                        <a:buNone/>
                      </a:pPr>
                      <a:endParaRPr lang="zh-CN" altLang="en-US"/>
                    </a:p>
                  </a:txBody>
                  <a:tcPr>
                    <a:lnL>
                      <a:noFill/>
                    </a:lnL>
                    <a:lnR>
                      <a:noFill/>
                    </a:lnR>
                    <a:lnT>
                      <a:noFill/>
                    </a:lnT>
                    <a:lnB cap="flat">
                      <a:noFill/>
                    </a:lnB>
                    <a:lnTlToBr>
                      <a:noFill/>
                    </a:lnTlToBr>
                    <a:lnBlToTr>
                      <a:noFill/>
                    </a:lnBlToTr>
                    <a:solidFill>
                      <a:srgbClr val="FFFFFF"/>
                    </a:solidFill>
                  </a:tcPr>
                </a:tc>
                <a:extLst>
                  <a:ext uri="{0D108BD9-81ED-4DB2-BD59-A6C34878D82A}">
                    <a16:rowId xmlns:a16="http://schemas.microsoft.com/office/drawing/2014/main" val="10000"/>
                  </a:ext>
                </a:extLst>
              </a:tr>
              <a:tr h="0">
                <a:tc>
                  <a:txBody>
                    <a:bodyPr/>
                    <a:lstStyle/>
                    <a:p>
                      <a:pPr indent="0">
                        <a:buNone/>
                      </a:pPr>
                      <a:endParaRPr lang="zh-CN" altLang="en-US"/>
                    </a:p>
                  </a:txBody>
                  <a:tcPr>
                    <a:lnL>
                      <a:noFill/>
                    </a:lnL>
                    <a:lnR>
                      <a:noFill/>
                    </a:lnR>
                    <a:lnT cap="flat">
                      <a:noFill/>
                    </a:lnT>
                    <a:lnB cap="flat">
                      <a:noFill/>
                    </a:lnB>
                    <a:lnTlToBr>
                      <a:noFill/>
                    </a:lnTlToBr>
                    <a:lnBlToTr>
                      <a:noFill/>
                    </a:lnBlToTr>
                    <a:noFill/>
                  </a:tcPr>
                </a:tc>
                <a:tc>
                  <a:txBody>
                    <a:bodyPr/>
                    <a:lstStyle/>
                    <a:p>
                      <a:pPr indent="0">
                        <a:buNone/>
                      </a:pPr>
                      <a:endParaRPr lang="zh-CN" altLang="en-US"/>
                    </a:p>
                  </a:txBody>
                  <a:tcPr>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29" name="Group 9"/>
          <p:cNvGrpSpPr/>
          <p:nvPr/>
        </p:nvGrpSpPr>
        <p:grpSpPr>
          <a:xfrm>
            <a:off x="1850258" y="1281146"/>
            <a:ext cx="4499610" cy="403626"/>
            <a:chOff x="0" y="0"/>
            <a:chExt cx="3456" cy="497"/>
          </a:xfrm>
        </p:grpSpPr>
        <p:sp>
          <p:nvSpPr>
            <p:cNvPr id="30" name="Text Box 10"/>
            <p:cNvSpPr txBox="1">
              <a:spLocks noChangeArrowheads="1"/>
            </p:cNvSpPr>
            <p:nvPr/>
          </p:nvSpPr>
          <p:spPr bwMode="auto">
            <a:xfrm>
              <a:off x="0" y="0"/>
              <a:ext cx="864" cy="497"/>
            </a:xfrm>
            <a:prstGeom prst="rect">
              <a:avLst/>
            </a:prstGeom>
            <a:solidFill>
              <a:srgbClr val="FF0000"/>
            </a:solidFill>
            <a:ln>
              <a:noFill/>
            </a:ln>
            <a:effectLst>
              <a:outerShdw dist="53882" dir="2700000" algn="ctr" rotWithShape="0">
                <a:srgbClr val="E7E6E6"/>
              </a:outerShdw>
            </a:effectLst>
          </p:spPr>
          <p:txBody>
            <a:bodyPr wrap="square">
              <a:noAutofit/>
            </a:bodyPr>
            <a:lstStyle/>
            <a:p>
              <a:pPr algn="ctr" eaLnBrk="0" hangingPunct="0">
                <a:lnSpc>
                  <a:spcPct val="120000"/>
                </a:lnSpc>
              </a:pPr>
              <a:r>
                <a:rPr lang="en-US" altLang="zh-CN" sz="1050" kern="1200">
                  <a:solidFill>
                    <a:srgbClr val="000000"/>
                  </a:solidFill>
                  <a:effectLst>
                    <a:outerShdw blurRad="38100" dist="38100" dir="2700000" algn="tl">
                      <a:srgbClr val="FFFFFF"/>
                    </a:outerShdw>
                  </a:effectLst>
                  <a:latin typeface="Arial" panose="020B0604020202020204"/>
                  <a:ea typeface="等线" panose="02010600030101010101" pitchFamily="2" charset="-122"/>
                  <a:cs typeface="Times New Roman" panose="02020603050405020304"/>
                  <a:sym typeface="Times New Roman" panose="02020603050405020304"/>
                </a:rPr>
                <a:t>25%</a:t>
              </a:r>
              <a:endParaRPr lang="en-US" altLang="zh-CN" sz="1050" kern="0">
                <a:latin typeface="等线" panose="02010600030101010101" pitchFamily="2" charset="-122"/>
                <a:ea typeface="等线" panose="02010600030101010101" pitchFamily="2" charset="-122"/>
                <a:cs typeface="Times New Roman" panose="02020603050405020304"/>
                <a:sym typeface="Times New Roman" panose="02020603050405020304"/>
              </a:endParaRPr>
            </a:p>
          </p:txBody>
        </p:sp>
        <p:sp>
          <p:nvSpPr>
            <p:cNvPr id="31" name="Text Box 11"/>
            <p:cNvSpPr txBox="1">
              <a:spLocks noChangeArrowheads="1"/>
            </p:cNvSpPr>
            <p:nvPr/>
          </p:nvSpPr>
          <p:spPr bwMode="auto">
            <a:xfrm>
              <a:off x="864" y="0"/>
              <a:ext cx="864" cy="497"/>
            </a:xfrm>
            <a:prstGeom prst="rect">
              <a:avLst/>
            </a:prstGeom>
            <a:solidFill>
              <a:srgbClr val="FF33CC"/>
            </a:solidFill>
            <a:ln>
              <a:noFill/>
            </a:ln>
            <a:effectLst>
              <a:outerShdw dist="53882" dir="2700000" algn="ctr" rotWithShape="0">
                <a:srgbClr val="E7E6E6"/>
              </a:outerShdw>
            </a:effectLst>
          </p:spPr>
          <p:txBody>
            <a:bodyPr wrap="square">
              <a:noAutofit/>
            </a:bodyPr>
            <a:lstStyle/>
            <a:p>
              <a:pPr algn="ctr" eaLnBrk="0" hangingPunct="0">
                <a:lnSpc>
                  <a:spcPct val="120000"/>
                </a:lnSpc>
              </a:pPr>
              <a:r>
                <a:rPr lang="en-US" altLang="zh-CN" sz="1050" kern="1200">
                  <a:solidFill>
                    <a:srgbClr val="000000"/>
                  </a:solidFill>
                  <a:effectLst>
                    <a:outerShdw blurRad="38100" dist="38100" dir="2700000" algn="tl">
                      <a:srgbClr val="FFFFFF"/>
                    </a:outerShdw>
                  </a:effectLst>
                  <a:latin typeface="Arial" panose="020B0604020202020204"/>
                  <a:ea typeface="等线" panose="02010600030101010101" pitchFamily="2" charset="-122"/>
                  <a:cs typeface="Times New Roman" panose="02020603050405020304"/>
                  <a:sym typeface="Times New Roman" panose="02020603050405020304"/>
                </a:rPr>
                <a:t>25%</a:t>
              </a:r>
              <a:endParaRPr lang="en-US" altLang="zh-CN" sz="1050" kern="0">
                <a:latin typeface="等线" panose="02010600030101010101" pitchFamily="2" charset="-122"/>
                <a:ea typeface="等线" panose="02010600030101010101" pitchFamily="2" charset="-122"/>
                <a:cs typeface="Times New Roman" panose="02020603050405020304"/>
                <a:sym typeface="Times New Roman" panose="02020603050405020304"/>
              </a:endParaRPr>
            </a:p>
          </p:txBody>
        </p:sp>
        <p:sp>
          <p:nvSpPr>
            <p:cNvPr id="32" name="Text Box 12"/>
            <p:cNvSpPr txBox="1">
              <a:spLocks noChangeArrowheads="1"/>
            </p:cNvSpPr>
            <p:nvPr/>
          </p:nvSpPr>
          <p:spPr bwMode="auto">
            <a:xfrm>
              <a:off x="1728" y="0"/>
              <a:ext cx="864" cy="497"/>
            </a:xfrm>
            <a:prstGeom prst="rect">
              <a:avLst/>
            </a:prstGeom>
            <a:solidFill>
              <a:srgbClr val="0563C1"/>
            </a:solidFill>
            <a:ln>
              <a:noFill/>
            </a:ln>
            <a:effectLst>
              <a:outerShdw dist="53882" dir="2700000" algn="ctr" rotWithShape="0">
                <a:srgbClr val="E7E6E6"/>
              </a:outerShdw>
            </a:effectLst>
          </p:spPr>
          <p:txBody>
            <a:bodyPr wrap="square">
              <a:noAutofit/>
            </a:bodyPr>
            <a:lstStyle/>
            <a:p>
              <a:pPr algn="ctr" eaLnBrk="0" hangingPunct="0">
                <a:lnSpc>
                  <a:spcPct val="120000"/>
                </a:lnSpc>
              </a:pPr>
              <a:r>
                <a:rPr lang="en-US" altLang="zh-CN" sz="1050" kern="1200">
                  <a:solidFill>
                    <a:srgbClr val="000000"/>
                  </a:solidFill>
                  <a:effectLst>
                    <a:outerShdw blurRad="38100" dist="38100" dir="2700000" algn="tl">
                      <a:srgbClr val="FFFFFF"/>
                    </a:outerShdw>
                  </a:effectLst>
                  <a:latin typeface="Arial" panose="020B0604020202020204"/>
                  <a:ea typeface="等线" panose="02010600030101010101" pitchFamily="2" charset="-122"/>
                  <a:cs typeface="Times New Roman" panose="02020603050405020304"/>
                  <a:sym typeface="Times New Roman" panose="02020603050405020304"/>
                </a:rPr>
                <a:t>25%</a:t>
              </a:r>
              <a:endParaRPr lang="en-US" altLang="zh-CN" sz="1050" kern="0">
                <a:latin typeface="等线" panose="02010600030101010101" pitchFamily="2" charset="-122"/>
                <a:ea typeface="等线" panose="02010600030101010101" pitchFamily="2" charset="-122"/>
                <a:cs typeface="Times New Roman" panose="02020603050405020304"/>
                <a:sym typeface="Times New Roman" panose="02020603050405020304"/>
              </a:endParaRPr>
            </a:p>
          </p:txBody>
        </p:sp>
        <p:sp>
          <p:nvSpPr>
            <p:cNvPr id="33" name="Text Box 13"/>
            <p:cNvSpPr txBox="1">
              <a:spLocks noChangeArrowheads="1"/>
            </p:cNvSpPr>
            <p:nvPr/>
          </p:nvSpPr>
          <p:spPr bwMode="auto">
            <a:xfrm>
              <a:off x="2592" y="0"/>
              <a:ext cx="864" cy="497"/>
            </a:xfrm>
            <a:prstGeom prst="rect">
              <a:avLst/>
            </a:prstGeom>
            <a:solidFill>
              <a:srgbClr val="00FF00"/>
            </a:solidFill>
            <a:ln>
              <a:noFill/>
            </a:ln>
            <a:effectLst>
              <a:outerShdw dist="53882" dir="2700000" algn="ctr" rotWithShape="0">
                <a:srgbClr val="E7E6E6"/>
              </a:outerShdw>
            </a:effectLst>
          </p:spPr>
          <p:txBody>
            <a:bodyPr wrap="square">
              <a:noAutofit/>
            </a:bodyPr>
            <a:lstStyle/>
            <a:p>
              <a:pPr algn="ctr" eaLnBrk="0" hangingPunct="0">
                <a:lnSpc>
                  <a:spcPct val="120000"/>
                </a:lnSpc>
              </a:pPr>
              <a:r>
                <a:rPr lang="en-US" altLang="zh-CN" sz="1050" kern="1200">
                  <a:solidFill>
                    <a:srgbClr val="000000"/>
                  </a:solidFill>
                  <a:effectLst>
                    <a:outerShdw blurRad="38100" dist="38100" dir="2700000" algn="tl">
                      <a:srgbClr val="FFFFFF"/>
                    </a:outerShdw>
                  </a:effectLst>
                  <a:latin typeface="Arial" panose="020B0604020202020204"/>
                  <a:ea typeface="等线" panose="02010600030101010101" pitchFamily="2" charset="-122"/>
                  <a:cs typeface="Times New Roman" panose="02020603050405020304"/>
                  <a:sym typeface="Times New Roman" panose="02020603050405020304"/>
                </a:rPr>
                <a:t>25%</a:t>
              </a:r>
              <a:endParaRPr lang="en-US" altLang="zh-CN" sz="1050" kern="0">
                <a:latin typeface="等线" panose="02010600030101010101" pitchFamily="2" charset="-122"/>
                <a:ea typeface="等线" panose="02010600030101010101" pitchFamily="2" charset="-122"/>
                <a:cs typeface="Times New Roman" panose="02020603050405020304"/>
                <a:sym typeface="Times New Roman" panose="02020603050405020304"/>
              </a:endParaRPr>
            </a:p>
          </p:txBody>
        </p:sp>
      </p:grpSp>
      <p:sp>
        <p:nvSpPr>
          <p:cNvPr id="102" name="文本框 101"/>
          <p:cNvSpPr txBox="1"/>
          <p:nvPr/>
        </p:nvSpPr>
        <p:spPr>
          <a:xfrm>
            <a:off x="789305" y="2708275"/>
            <a:ext cx="7565390" cy="12915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latin typeface="Cambria Math" panose="02040503050406030204" charset="0"/>
                <a:ea typeface="等线" panose="02010600030101010101" pitchFamily="2" charset="-122"/>
              </a:rPr>
              <a:t>    </a:t>
            </a:r>
            <a:r>
              <a:rPr lang="zh-CN" sz="2000" b="0">
                <a:latin typeface="Cambria Math" panose="02040503050406030204" charset="0"/>
                <a:ea typeface="等线" panose="02010600030101010101" pitchFamily="2" charset="-122"/>
              </a:rPr>
              <a:t>例如，有一组数据：</a:t>
            </a:r>
            <a:r>
              <a:rPr lang="en-US" sz="2000" b="0">
                <a:latin typeface="Cambria Math" panose="02040503050406030204" charset="0"/>
                <a:ea typeface="等线" panose="02010600030101010101" pitchFamily="2" charset="-122"/>
                <a:cs typeface="Times New Roman" panose="02020603050405020304" pitchFamily="18" charset="0"/>
              </a:rPr>
              <a:t>6, 7, </a:t>
            </a:r>
            <a:r>
              <a:rPr lang="en-US" sz="2000" b="1">
                <a:latin typeface="Cambria Math" panose="02040503050406030204" charset="0"/>
                <a:ea typeface="等线" panose="02010600030101010101" pitchFamily="2" charset="-122"/>
                <a:cs typeface="Times New Roman" panose="02020603050405020304" pitchFamily="18" charset="0"/>
              </a:rPr>
              <a:t>15</a:t>
            </a:r>
            <a:r>
              <a:rPr lang="en-US" sz="2000" b="0">
                <a:latin typeface="Cambria Math" panose="02040503050406030204" charset="0"/>
                <a:ea typeface="等线" panose="02010600030101010101" pitchFamily="2" charset="-122"/>
                <a:cs typeface="Times New Roman" panose="02020603050405020304" pitchFamily="18" charset="0"/>
              </a:rPr>
              <a:t>, 36, 39, </a:t>
            </a:r>
            <a:r>
              <a:rPr lang="en-US" sz="2000" b="1">
                <a:latin typeface="Cambria Math" panose="02040503050406030204" charset="0"/>
                <a:ea typeface="等线" panose="02010600030101010101" pitchFamily="2" charset="-122"/>
                <a:cs typeface="Times New Roman" panose="02020603050405020304" pitchFamily="18" charset="0"/>
              </a:rPr>
              <a:t>40</a:t>
            </a:r>
            <a:r>
              <a:rPr lang="en-US" sz="2000" b="0">
                <a:latin typeface="Cambria Math" panose="02040503050406030204" charset="0"/>
                <a:ea typeface="等线" panose="02010600030101010101" pitchFamily="2" charset="-122"/>
                <a:cs typeface="Times New Roman" panose="02020603050405020304" pitchFamily="18" charset="0"/>
              </a:rPr>
              <a:t>, 41, 42, </a:t>
            </a:r>
            <a:r>
              <a:rPr lang="en-US" sz="2000" b="1">
                <a:latin typeface="Cambria Math" panose="02040503050406030204" charset="0"/>
                <a:ea typeface="等线" panose="02010600030101010101" pitchFamily="2" charset="-122"/>
                <a:cs typeface="Times New Roman" panose="02020603050405020304" pitchFamily="18" charset="0"/>
              </a:rPr>
              <a:t>43</a:t>
            </a:r>
            <a:r>
              <a:rPr lang="en-US" sz="2000" b="0">
                <a:latin typeface="Cambria Math" panose="02040503050406030204" charset="0"/>
                <a:ea typeface="等线" panose="02010600030101010101" pitchFamily="2" charset="-122"/>
                <a:cs typeface="Times New Roman" panose="02020603050405020304" pitchFamily="18" charset="0"/>
              </a:rPr>
              <a:t>, 47, 49</a:t>
            </a:r>
            <a:r>
              <a:rPr lang="zh-CN" sz="2000" b="0">
                <a:latin typeface="Cambria Math" panose="02040503050406030204" charset="0"/>
                <a:ea typeface="等线" panose="02010600030101010101" pitchFamily="2" charset="-122"/>
              </a:rPr>
              <a:t>，将其分为四等分，根据四分位数的定义可知</a:t>
            </a:r>
            <a:r>
              <a:rPr lang="en-US" sz="2000" b="0">
                <a:latin typeface="Cambria Math" panose="02040503050406030204" charset="0"/>
                <a:ea typeface="等线" panose="02010600030101010101" pitchFamily="2" charset="-122"/>
              </a:rPr>
              <a:t>1</a:t>
            </a:r>
            <a:r>
              <a:rPr lang="en-US" sz="2000" b="0">
                <a:latin typeface="Cambria Math" panose="02040503050406030204" charset="0"/>
                <a:ea typeface="等线" panose="02010600030101010101" pitchFamily="2" charset="-122"/>
                <a:cs typeface="Times New Roman" panose="02020603050405020304" pitchFamily="18" charset="0"/>
              </a:rPr>
              <a:t>5</a:t>
            </a:r>
            <a:r>
              <a:rPr lang="zh-CN" sz="2000" b="0">
                <a:latin typeface="Cambria Math" panose="02040503050406030204" charset="0"/>
                <a:ea typeface="等线" panose="02010600030101010101" pitchFamily="2" charset="-122"/>
              </a:rPr>
              <a:t>是第</a:t>
            </a:r>
            <a:r>
              <a:rPr lang="en-US" sz="2000" b="0">
                <a:latin typeface="Cambria Math" panose="02040503050406030204" charset="0"/>
                <a:ea typeface="等线" panose="02010600030101010101" pitchFamily="2" charset="-122"/>
              </a:rPr>
              <a:t>1</a:t>
            </a:r>
            <a:r>
              <a:rPr lang="zh-CN" sz="2000" b="0">
                <a:latin typeface="Cambria Math" panose="02040503050406030204" charset="0"/>
                <a:ea typeface="等线" panose="02010600030101010101" pitchFamily="2" charset="-122"/>
              </a:rPr>
              <a:t>四分位数，</a:t>
            </a:r>
            <a:r>
              <a:rPr lang="en-US" sz="2000" b="0">
                <a:latin typeface="Cambria Math" panose="02040503050406030204" charset="0"/>
                <a:ea typeface="等线" panose="02010600030101010101" pitchFamily="2" charset="-122"/>
              </a:rPr>
              <a:t>40</a:t>
            </a:r>
            <a:r>
              <a:rPr lang="zh-CN" sz="2000" b="0">
                <a:latin typeface="Cambria Math" panose="02040503050406030204" charset="0"/>
                <a:ea typeface="等线" panose="02010600030101010101" pitchFamily="2" charset="-122"/>
              </a:rPr>
              <a:t>是第</a:t>
            </a:r>
            <a:r>
              <a:rPr lang="en-US" sz="2000" b="0">
                <a:latin typeface="Cambria Math" panose="02040503050406030204" charset="0"/>
                <a:ea typeface="等线" panose="02010600030101010101" pitchFamily="2" charset="-122"/>
              </a:rPr>
              <a:t>2</a:t>
            </a:r>
            <a:r>
              <a:rPr lang="zh-CN" sz="2000" b="0">
                <a:latin typeface="Cambria Math" panose="02040503050406030204" charset="0"/>
                <a:ea typeface="等线" panose="02010600030101010101" pitchFamily="2" charset="-122"/>
              </a:rPr>
              <a:t>四分位数，</a:t>
            </a:r>
            <a:r>
              <a:rPr lang="en-US" sz="2000" b="0">
                <a:latin typeface="Cambria Math" panose="02040503050406030204" charset="0"/>
                <a:ea typeface="等线" panose="02010600030101010101" pitchFamily="2" charset="-122"/>
              </a:rPr>
              <a:t>43</a:t>
            </a:r>
            <a:r>
              <a:rPr lang="zh-CN" sz="2000" b="0">
                <a:latin typeface="Cambria Math" panose="02040503050406030204" charset="0"/>
                <a:ea typeface="等线" panose="02010600030101010101" pitchFamily="2" charset="-122"/>
              </a:rPr>
              <a:t>是第</a:t>
            </a:r>
            <a:r>
              <a:rPr lang="en-US" sz="2000" b="0">
                <a:latin typeface="Cambria Math" panose="02040503050406030204" charset="0"/>
                <a:ea typeface="等线" panose="02010600030101010101" pitchFamily="2" charset="-122"/>
              </a:rPr>
              <a:t>3</a:t>
            </a:r>
            <a:r>
              <a:rPr lang="zh-CN" sz="2000" b="0">
                <a:latin typeface="Cambria Math" panose="02040503050406030204" charset="0"/>
                <a:ea typeface="等线" panose="02010600030101010101" pitchFamily="2" charset="-122"/>
              </a:rPr>
              <a:t>四分位数。</a:t>
            </a:r>
            <a:endParaRPr lang="zh-CN" altLang="en-US" sz="2000"/>
          </a:p>
        </p:txBody>
      </p:sp>
      <p:sp>
        <p:nvSpPr>
          <p:cNvPr id="2" name="文本框 1"/>
          <p:cNvSpPr txBox="1"/>
          <p:nvPr/>
        </p:nvSpPr>
        <p:spPr>
          <a:xfrm>
            <a:off x="2584173" y="2106128"/>
            <a:ext cx="2881543" cy="307777"/>
          </a:xfrm>
          <a:prstGeom prst="rect">
            <a:avLst/>
          </a:prstGeom>
          <a:noFill/>
          <a:ln w="9525">
            <a:noFill/>
          </a:ln>
        </p:spPr>
        <p:txBody>
          <a:bodyPr wrap="square">
            <a:spAutoFit/>
          </a:bodyPr>
          <a:lstStyle/>
          <a:p>
            <a:pPr indent="0" algn="ctr"/>
            <a:r>
              <a:rPr lang="zh-CN" sz="1400" b="0">
                <a:latin typeface="Cambria Math" panose="02040503050406030204" charset="0"/>
                <a:ea typeface="等线" panose="02010600030101010101" pitchFamily="2" charset="-122"/>
              </a:rPr>
              <a:t>四分位数示意图</a:t>
            </a:r>
            <a:endParaRPr lang="zh-CN" altLang="en-US" sz="2400"/>
          </a:p>
        </p:txBody>
      </p:sp>
      <p:sp>
        <p:nvSpPr>
          <p:cNvPr id="4" name="文本框 3">
            <a:extLst>
              <a:ext uri="{FF2B5EF4-FFF2-40B4-BE49-F238E27FC236}">
                <a16:creationId xmlns:a16="http://schemas.microsoft.com/office/drawing/2014/main" id="{C4B8C4F2-73D6-4567-AEAE-EAD1DC7AE813}"/>
              </a:ext>
            </a:extLst>
          </p:cNvPr>
          <p:cNvSpPr txBox="1"/>
          <p:nvPr/>
        </p:nvSpPr>
        <p:spPr>
          <a:xfrm>
            <a:off x="2718735" y="1773388"/>
            <a:ext cx="389850" cy="300082"/>
          </a:xfrm>
          <a:prstGeom prst="rect">
            <a:avLst/>
          </a:prstGeom>
          <a:noFill/>
        </p:spPr>
        <p:txBody>
          <a:bodyPr wrap="none" rtlCol="0">
            <a:spAutoFit/>
          </a:bodyPr>
          <a:lstStyle/>
          <a:p>
            <a:r>
              <a:rPr lang="en-US" altLang="zh-CN"/>
              <a:t>Q1</a:t>
            </a:r>
            <a:endParaRPr lang="zh-CN" altLang="en-US"/>
          </a:p>
        </p:txBody>
      </p:sp>
      <p:sp>
        <p:nvSpPr>
          <p:cNvPr id="18" name="文本框 17">
            <a:extLst>
              <a:ext uri="{FF2B5EF4-FFF2-40B4-BE49-F238E27FC236}">
                <a16:creationId xmlns:a16="http://schemas.microsoft.com/office/drawing/2014/main" id="{CDF88857-C4EB-407F-934D-64E7354F1C3F}"/>
              </a:ext>
            </a:extLst>
          </p:cNvPr>
          <p:cNvSpPr txBox="1"/>
          <p:nvPr/>
        </p:nvSpPr>
        <p:spPr>
          <a:xfrm>
            <a:off x="3905138" y="1746400"/>
            <a:ext cx="389850" cy="300082"/>
          </a:xfrm>
          <a:prstGeom prst="rect">
            <a:avLst/>
          </a:prstGeom>
          <a:noFill/>
        </p:spPr>
        <p:txBody>
          <a:bodyPr wrap="none" rtlCol="0">
            <a:spAutoFit/>
          </a:bodyPr>
          <a:lstStyle/>
          <a:p>
            <a:r>
              <a:rPr lang="en-US" altLang="zh-CN"/>
              <a:t>Q2</a:t>
            </a:r>
            <a:endParaRPr lang="zh-CN" altLang="en-US"/>
          </a:p>
        </p:txBody>
      </p:sp>
      <p:sp>
        <p:nvSpPr>
          <p:cNvPr id="19" name="文本框 18">
            <a:extLst>
              <a:ext uri="{FF2B5EF4-FFF2-40B4-BE49-F238E27FC236}">
                <a16:creationId xmlns:a16="http://schemas.microsoft.com/office/drawing/2014/main" id="{00423A72-A2F8-4C00-BD3D-C75D52070BC1}"/>
              </a:ext>
            </a:extLst>
          </p:cNvPr>
          <p:cNvSpPr txBox="1"/>
          <p:nvPr/>
        </p:nvSpPr>
        <p:spPr>
          <a:xfrm>
            <a:off x="5030041" y="1773388"/>
            <a:ext cx="389850" cy="300082"/>
          </a:xfrm>
          <a:prstGeom prst="rect">
            <a:avLst/>
          </a:prstGeom>
          <a:noFill/>
        </p:spPr>
        <p:txBody>
          <a:bodyPr wrap="none" rtlCol="0">
            <a:spAutoFit/>
          </a:bodyPr>
          <a:lstStyle/>
          <a:p>
            <a:r>
              <a:rPr lang="en-US" altLang="zh-CN"/>
              <a:t>Q3</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21407" y="239395"/>
            <a:ext cx="4506777" cy="52322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8.1.2数据的离散趋势度量</a:t>
            </a:r>
          </a:p>
        </p:txBody>
      </p:sp>
      <p:sp>
        <p:nvSpPr>
          <p:cNvPr id="100" name="文本框 99"/>
          <p:cNvSpPr txBox="1"/>
          <p:nvPr/>
        </p:nvSpPr>
        <p:spPr>
          <a:xfrm>
            <a:off x="299865" y="908721"/>
            <a:ext cx="4541256" cy="3415030"/>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1">
                <a:latin typeface="+mn-ea"/>
              </a:rPr>
              <a:t>    </a:t>
            </a:r>
            <a:r>
              <a:rPr sz="2000" b="1">
                <a:latin typeface="等线" panose="02010600030101010101" pitchFamily="2" charset="-122"/>
                <a:ea typeface="等线" panose="02010600030101010101" pitchFamily="2" charset="-122"/>
                <a:cs typeface="等线" panose="02010600030101010101" pitchFamily="2" charset="-122"/>
              </a:rPr>
              <a:t>3.五数概括</a:t>
            </a:r>
          </a:p>
          <a:p>
            <a:pPr indent="266700">
              <a:lnSpc>
                <a:spcPct val="120000"/>
              </a:lnSpc>
              <a:spcBef>
                <a:spcPts val="0"/>
              </a:spcBef>
              <a:spcAft>
                <a:spcPts val="0"/>
              </a:spcAft>
            </a:pPr>
            <a:r>
              <a:rPr lang="en-US" sz="2000">
                <a:ea typeface="等线" panose="02010600030101010101" pitchFamily="2" charset="-122"/>
              </a:rPr>
              <a:t>     </a:t>
            </a:r>
            <a:r>
              <a:rPr sz="2000">
                <a:ea typeface="等线" panose="02010600030101010101" pitchFamily="2" charset="-122"/>
              </a:rPr>
              <a:t>数据分布形状的完整概括可以用所谓的“五数概括”来描述，包括中位数、四分位数Q1和Q3，最小和最大观测值。五数概括通常用箱形图（盒图）进行可视化表示。</a:t>
            </a:r>
          </a:p>
          <a:p>
            <a:pPr indent="266700">
              <a:lnSpc>
                <a:spcPct val="120000"/>
              </a:lnSpc>
              <a:spcBef>
                <a:spcPts val="0"/>
              </a:spcBef>
              <a:spcAft>
                <a:spcPts val="0"/>
              </a:spcAft>
            </a:pPr>
            <a:r>
              <a:rPr lang="en-US" sz="2000">
                <a:ea typeface="等线" panose="02010600030101010101" pitchFamily="2" charset="-122"/>
              </a:rPr>
              <a:t>     </a:t>
            </a:r>
            <a:r>
              <a:rPr sz="2000" err="1">
                <a:ea typeface="等线" panose="02010600030101010101" pitchFamily="2" charset="-122"/>
              </a:rPr>
              <a:t>箱形图（Box</a:t>
            </a:r>
            <a:r>
              <a:rPr sz="2000">
                <a:ea typeface="等线" panose="02010600030101010101" pitchFamily="2" charset="-122"/>
              </a:rPr>
              <a:t> </a:t>
            </a:r>
            <a:r>
              <a:rPr sz="2000" err="1">
                <a:ea typeface="等线" panose="02010600030101010101" pitchFamily="2" charset="-122"/>
              </a:rPr>
              <a:t>plot）又称为盒图，是对五数概括的可视化，数据分布用一个盒子来表示，如图所示</a:t>
            </a:r>
            <a:r>
              <a:rPr sz="2000">
                <a:ea typeface="等线" panose="02010600030101010101" pitchFamily="2" charset="-122"/>
              </a:rPr>
              <a:t>。</a:t>
            </a:r>
          </a:p>
        </p:txBody>
      </p:sp>
      <p:graphicFrame>
        <p:nvGraphicFramePr>
          <p:cNvPr id="10" name="表格 9"/>
          <p:cNvGraphicFramePr/>
          <p:nvPr/>
        </p:nvGraphicFramePr>
        <p:xfrm>
          <a:off x="2032000" y="2921000"/>
          <a:ext cx="416560" cy="59436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0">
                <a:tc>
                  <a:txBody>
                    <a:bodyPr/>
                    <a:lstStyle/>
                    <a:p>
                      <a:pPr indent="0">
                        <a:buNone/>
                      </a:pPr>
                      <a:endParaRPr lang="zh-CN" altLang="en-US" b="0"/>
                    </a:p>
                  </a:txBody>
                  <a:tcPr>
                    <a:lnL>
                      <a:noFill/>
                    </a:lnL>
                    <a:lnR>
                      <a:noFill/>
                    </a:lnR>
                    <a:lnT cap="flat">
                      <a:noFill/>
                    </a:lnT>
                    <a:lnB cap="flat">
                      <a:noFill/>
                    </a:lnB>
                    <a:lnTlToBr>
                      <a:noFill/>
                    </a:lnTlToBr>
                    <a:lnBlToTr>
                      <a:noFill/>
                    </a:lnBlToTr>
                    <a:noFill/>
                  </a:tcPr>
                </a:tc>
                <a:tc>
                  <a:txBody>
                    <a:bodyPr/>
                    <a:lstStyle/>
                    <a:p>
                      <a:pPr>
                        <a:buNone/>
                      </a:pPr>
                      <a:endParaRPr lang="zh-CN" altLang="en-US"/>
                    </a:p>
                  </a:txBody>
                  <a:tcPr>
                    <a:lnL>
                      <a:noFill/>
                    </a:lnL>
                    <a:lnR>
                      <a:noFill/>
                    </a:lnR>
                    <a:lnT>
                      <a:noFill/>
                    </a:lnT>
                    <a:lnB cap="flat">
                      <a:noFill/>
                    </a:lnB>
                    <a:lnTlToBr>
                      <a:noFill/>
                    </a:lnTlToBr>
                    <a:lnBlToTr>
                      <a:noFill/>
                    </a:lnBlToTr>
                    <a:solidFill>
                      <a:srgbClr val="FFFFFF"/>
                    </a:solidFill>
                  </a:tcPr>
                </a:tc>
                <a:extLst>
                  <a:ext uri="{0D108BD9-81ED-4DB2-BD59-A6C34878D82A}">
                    <a16:rowId xmlns:a16="http://schemas.microsoft.com/office/drawing/2014/main" val="10000"/>
                  </a:ext>
                </a:extLst>
              </a:tr>
              <a:tr h="0">
                <a:tc>
                  <a:txBody>
                    <a:bodyPr/>
                    <a:lstStyle/>
                    <a:p>
                      <a:pPr indent="0">
                        <a:buNone/>
                      </a:pPr>
                      <a:endParaRPr lang="zh-CN" altLang="en-US"/>
                    </a:p>
                  </a:txBody>
                  <a:tcPr>
                    <a:lnL>
                      <a:noFill/>
                    </a:lnL>
                    <a:lnR>
                      <a:noFill/>
                    </a:lnR>
                    <a:lnT cap="flat">
                      <a:noFill/>
                    </a:lnT>
                    <a:lnB cap="flat">
                      <a:noFill/>
                    </a:lnB>
                    <a:lnTlToBr>
                      <a:noFill/>
                    </a:lnTlToBr>
                    <a:lnBlToTr>
                      <a:noFill/>
                    </a:lnBlToTr>
                    <a:noFill/>
                  </a:tcPr>
                </a:tc>
                <a:tc>
                  <a:txBody>
                    <a:bodyPr/>
                    <a:lstStyle/>
                    <a:p>
                      <a:pPr indent="0">
                        <a:buNone/>
                      </a:pPr>
                      <a:endParaRPr lang="zh-CN" altLang="en-US"/>
                    </a:p>
                  </a:txBody>
                  <a:tcPr>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34" name="图片 3"/>
          <p:cNvPicPr>
            <a:picLocks noChangeAspect="1"/>
          </p:cNvPicPr>
          <p:nvPr/>
        </p:nvPicPr>
        <p:blipFill>
          <a:blip r:embed="rId3"/>
          <a:srcRect l="9395" t="3163" r="6977" b="2512"/>
          <a:stretch>
            <a:fillRect/>
          </a:stretch>
        </p:blipFill>
        <p:spPr>
          <a:xfrm>
            <a:off x="5104017" y="1126733"/>
            <a:ext cx="3266260" cy="2210901"/>
          </a:xfrm>
          <a:prstGeom prst="rect">
            <a:avLst/>
          </a:prstGeom>
          <a:ln>
            <a:solidFill>
              <a:schemeClr val="accent1"/>
            </a:solidFill>
          </a:ln>
        </p:spPr>
      </p:pic>
      <p:sp>
        <p:nvSpPr>
          <p:cNvPr id="102" name="文本框 101"/>
          <p:cNvSpPr txBox="1"/>
          <p:nvPr/>
        </p:nvSpPr>
        <p:spPr>
          <a:xfrm>
            <a:off x="5789021" y="3435337"/>
            <a:ext cx="2337596" cy="307777"/>
          </a:xfrm>
          <a:prstGeom prst="rect">
            <a:avLst/>
          </a:prstGeom>
          <a:noFill/>
          <a:ln w="9525">
            <a:noFill/>
          </a:ln>
        </p:spPr>
        <p:txBody>
          <a:bodyPr wrap="square">
            <a:spAutoFit/>
          </a:bodyPr>
          <a:lstStyle/>
          <a:p>
            <a:pPr indent="0" algn="ctr"/>
            <a:r>
              <a:rPr lang="zh-CN" sz="1400" b="0">
                <a:latin typeface="Cambria Math" panose="02040503050406030204" charset="0"/>
                <a:ea typeface="等线" panose="02010600030101010101" pitchFamily="2" charset="-122"/>
              </a:rPr>
              <a:t>箱形图（</a:t>
            </a:r>
            <a:r>
              <a:rPr lang="en-US" sz="1400" b="0">
                <a:latin typeface="Cambria Math" panose="02040503050406030204" charset="0"/>
                <a:ea typeface="等线" panose="02010600030101010101" pitchFamily="2" charset="-122"/>
                <a:cs typeface="Times New Roman" panose="02020603050405020304" pitchFamily="18" charset="0"/>
              </a:rPr>
              <a:t>Box plot</a:t>
            </a:r>
            <a:r>
              <a:rPr lang="zh-CN" sz="1400" b="0">
                <a:ea typeface="等线" panose="02010600030101010101" pitchFamily="2" charset="-122"/>
              </a:rPr>
              <a:t>）示例</a:t>
            </a:r>
            <a:endParaRPr lang="zh-CN" altLang="en-US" sz="24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953135"/>
          </a:xfrm>
          <a:prstGeom prst="rect">
            <a:avLst/>
          </a:prstGeom>
          <a:noFill/>
        </p:spPr>
        <p:txBody>
          <a:bodyPr wrap="square" rtlCol="0">
            <a:spAutoFit/>
          </a:bodyPr>
          <a:lstStyle/>
          <a:p>
            <a:r>
              <a:rPr 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8.1.2数据的离散趋势度量</a:t>
            </a:r>
          </a:p>
          <a:p>
            <a:endPar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186372" y="864235"/>
            <a:ext cx="4822950" cy="3392339"/>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1">
                <a:latin typeface="+mn-ea"/>
              </a:rPr>
              <a:t>  </a:t>
            </a:r>
            <a:r>
              <a:rPr lang="en-US" sz="2000">
                <a:ea typeface="等线" panose="02010600030101010101" pitchFamily="2" charset="-122"/>
              </a:rPr>
              <a:t>  </a:t>
            </a:r>
            <a:r>
              <a:rPr sz="2000" err="1">
                <a:ea typeface="等线" panose="02010600030101010101" pitchFamily="2" charset="-122"/>
              </a:rPr>
              <a:t>在箱形图中，盒子两端是第一和第三“四分位数</a:t>
            </a:r>
            <a:r>
              <a:rPr sz="2000">
                <a:ea typeface="等线" panose="02010600030101010101" pitchFamily="2" charset="-122"/>
              </a:rPr>
              <a:t>” ，“中位数”</a:t>
            </a:r>
            <a:r>
              <a:rPr sz="2000" err="1">
                <a:ea typeface="等线" panose="02010600030101010101" pitchFamily="2" charset="-122"/>
              </a:rPr>
              <a:t>在盒子里用一条线标记出来</a:t>
            </a:r>
            <a:r>
              <a:rPr sz="2000">
                <a:ea typeface="等线" panose="02010600030101010101" pitchFamily="2" charset="-122"/>
              </a:rPr>
              <a:t>，“</a:t>
            </a:r>
            <a:r>
              <a:rPr sz="2000" err="1">
                <a:ea typeface="等线" panose="02010600030101010101" pitchFamily="2" charset="-122"/>
              </a:rPr>
              <a:t>外边界”是盒子外面延伸到最大值和最小值的两条线，也称为“胡须</a:t>
            </a:r>
            <a:r>
              <a:rPr sz="2000">
                <a:ea typeface="等线" panose="02010600030101010101" pitchFamily="2" charset="-122"/>
              </a:rPr>
              <a:t>”。</a:t>
            </a:r>
            <a:endParaRPr lang="en-US" altLang="zh-CN" sz="2000">
              <a:ea typeface="等线" panose="02010600030101010101" pitchFamily="2" charset="-122"/>
            </a:endParaRPr>
          </a:p>
          <a:p>
            <a:pPr indent="266700">
              <a:lnSpc>
                <a:spcPct val="120000"/>
              </a:lnSpc>
              <a:spcBef>
                <a:spcPts val="0"/>
              </a:spcBef>
              <a:spcAft>
                <a:spcPts val="0"/>
              </a:spcAft>
            </a:pPr>
            <a:endParaRPr sz="2000">
              <a:ea typeface="等线" panose="02010600030101010101" pitchFamily="2" charset="-122"/>
            </a:endParaRPr>
          </a:p>
          <a:p>
            <a:pPr indent="266700">
              <a:lnSpc>
                <a:spcPct val="120000"/>
              </a:lnSpc>
              <a:spcBef>
                <a:spcPts val="0"/>
              </a:spcBef>
              <a:spcAft>
                <a:spcPts val="0"/>
              </a:spcAft>
            </a:pPr>
            <a:r>
              <a:rPr lang="en-US" sz="2000">
                <a:ea typeface="等线" panose="02010600030101010101" pitchFamily="2" charset="-122"/>
              </a:rPr>
              <a:t>    </a:t>
            </a:r>
            <a:r>
              <a:rPr sz="2000" err="1">
                <a:ea typeface="等线" panose="02010600030101010101" pitchFamily="2" charset="-122"/>
              </a:rPr>
              <a:t>例如</a:t>
            </a:r>
            <a:r>
              <a:rPr sz="2000">
                <a:ea typeface="等线" panose="02010600030101010101" pitchFamily="2" charset="-122"/>
              </a:rPr>
              <a:t>，</a:t>
            </a:r>
            <a:r>
              <a:rPr lang="zh-CN" sz="2000">
                <a:ea typeface="等线" panose="02010600030101010101" pitchFamily="2" charset="-122"/>
              </a:rPr>
              <a:t>右</a:t>
            </a:r>
            <a:r>
              <a:rPr sz="2000">
                <a:ea typeface="等线" panose="02010600030101010101" pitchFamily="2" charset="-122"/>
              </a:rPr>
              <a:t>图是学生成绩分布的箱形，可以从图中观察到学生的英语成绩相对其它科目普遍较好，而数学则大部分都处于80分以下，成绩集中在65~78之间。</a:t>
            </a:r>
          </a:p>
        </p:txBody>
      </p:sp>
      <p:sp>
        <p:nvSpPr>
          <p:cNvPr id="102" name="文本框 101"/>
          <p:cNvSpPr txBox="1"/>
          <p:nvPr/>
        </p:nvSpPr>
        <p:spPr>
          <a:xfrm>
            <a:off x="5838091" y="3392805"/>
            <a:ext cx="2856353" cy="307777"/>
          </a:xfrm>
          <a:prstGeom prst="rect">
            <a:avLst/>
          </a:prstGeom>
          <a:noFill/>
          <a:ln w="9525">
            <a:noFill/>
          </a:ln>
        </p:spPr>
        <p:txBody>
          <a:bodyPr wrap="square">
            <a:spAutoFit/>
          </a:bodyPr>
          <a:lstStyle/>
          <a:p>
            <a:pPr indent="0" algn="ctr"/>
            <a:r>
              <a:rPr sz="1400" b="0" err="1">
                <a:latin typeface="等线" panose="02010600030101010101" pitchFamily="2" charset="-122"/>
                <a:ea typeface="等线" panose="02010600030101010101" pitchFamily="2" charset="-122"/>
              </a:rPr>
              <a:t>学生成绩分布箱形图示例</a:t>
            </a:r>
            <a:endParaRPr sz="1400" b="0">
              <a:latin typeface="等线" panose="02010600030101010101" pitchFamily="2" charset="-122"/>
              <a:ea typeface="等线" panose="02010600030101010101" pitchFamily="2" charset="-122"/>
            </a:endParaRPr>
          </a:p>
        </p:txBody>
      </p:sp>
      <p:pic>
        <p:nvPicPr>
          <p:cNvPr id="35" name="图片 1"/>
          <p:cNvPicPr>
            <a:picLocks noChangeAspect="1"/>
          </p:cNvPicPr>
          <p:nvPr/>
        </p:nvPicPr>
        <p:blipFill>
          <a:blip r:embed="rId3"/>
          <a:stretch>
            <a:fillRect/>
          </a:stretch>
        </p:blipFill>
        <p:spPr>
          <a:xfrm>
            <a:off x="5300657" y="1305849"/>
            <a:ext cx="3520495" cy="1863400"/>
          </a:xfrm>
          <a:prstGeom prst="rect">
            <a:avLst/>
          </a:prstGeom>
          <a:ln>
            <a:solidFill>
              <a:schemeClr val="accent1"/>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953135"/>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8.1.2数据的离散趋势度量</a:t>
            </a:r>
          </a:p>
          <a:p>
            <a:endPar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95250" y="1024890"/>
            <a:ext cx="8822690" cy="1568450"/>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1">
                <a:latin typeface="+mn-ea"/>
              </a:rPr>
              <a:t>   </a:t>
            </a:r>
            <a:r>
              <a:rPr sz="2000" b="1"/>
              <a:t>4.离散系数</a:t>
            </a:r>
          </a:p>
          <a:p>
            <a:pPr indent="266700">
              <a:lnSpc>
                <a:spcPct val="120000"/>
              </a:lnSpc>
              <a:spcBef>
                <a:spcPts val="0"/>
              </a:spcBef>
              <a:spcAft>
                <a:spcPts val="0"/>
              </a:spcAft>
            </a:pPr>
            <a:r>
              <a:rPr lang="en-US" sz="2000">
                <a:ea typeface="等线" panose="02010600030101010101" pitchFamily="2" charset="-122"/>
              </a:rPr>
              <a:t>    </a:t>
            </a:r>
            <a:r>
              <a:rPr sz="2000">
                <a:ea typeface="等线" panose="02010600030101010101" pitchFamily="2" charset="-122"/>
              </a:rPr>
              <a:t>离散系数（Coefficient of Variation）又称变异系数，样本的变异系数是样本标准差与样本平均数之比：</a:t>
            </a:r>
          </a:p>
          <a:p>
            <a:pPr indent="266700">
              <a:lnSpc>
                <a:spcPct val="120000"/>
              </a:lnSpc>
              <a:spcBef>
                <a:spcPts val="0"/>
              </a:spcBef>
              <a:spcAft>
                <a:spcPts val="0"/>
              </a:spcAft>
            </a:pPr>
            <a:r>
              <a:rPr lang="en-US" sz="2000">
                <a:ea typeface="等线" panose="02010600030101010101" pitchFamily="2" charset="-122"/>
              </a:rPr>
              <a:t>     </a:t>
            </a:r>
            <a:endParaRPr sz="2000">
              <a:ea typeface="等线" panose="02010600030101010101" pitchFamily="2" charset="-122"/>
            </a:endParaRPr>
          </a:p>
        </p:txBody>
      </p:sp>
      <p:graphicFrame>
        <p:nvGraphicFramePr>
          <p:cNvPr id="10" name="表格 9"/>
          <p:cNvGraphicFramePr/>
          <p:nvPr/>
        </p:nvGraphicFramePr>
        <p:xfrm>
          <a:off x="2032000" y="2921000"/>
          <a:ext cx="416560" cy="59436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0">
                <a:tc>
                  <a:txBody>
                    <a:bodyPr/>
                    <a:lstStyle/>
                    <a:p>
                      <a:pPr indent="0">
                        <a:buNone/>
                      </a:pPr>
                      <a:endParaRPr lang="zh-CN" altLang="en-US" b="0"/>
                    </a:p>
                  </a:txBody>
                  <a:tcPr>
                    <a:lnL>
                      <a:noFill/>
                    </a:lnL>
                    <a:lnR>
                      <a:noFill/>
                    </a:lnR>
                    <a:lnT cap="flat">
                      <a:noFill/>
                    </a:lnT>
                    <a:lnB cap="flat">
                      <a:noFill/>
                    </a:lnB>
                    <a:lnTlToBr>
                      <a:noFill/>
                    </a:lnTlToBr>
                    <a:lnBlToTr>
                      <a:noFill/>
                    </a:lnBlToTr>
                    <a:noFill/>
                  </a:tcPr>
                </a:tc>
                <a:tc>
                  <a:txBody>
                    <a:bodyPr/>
                    <a:lstStyle/>
                    <a:p>
                      <a:pPr>
                        <a:buNone/>
                      </a:pPr>
                      <a:endParaRPr lang="zh-CN" altLang="en-US"/>
                    </a:p>
                  </a:txBody>
                  <a:tcPr>
                    <a:lnL>
                      <a:noFill/>
                    </a:lnL>
                    <a:lnR>
                      <a:noFill/>
                    </a:lnR>
                    <a:lnT>
                      <a:noFill/>
                    </a:lnT>
                    <a:lnB cap="flat">
                      <a:noFill/>
                    </a:lnB>
                    <a:lnTlToBr>
                      <a:noFill/>
                    </a:lnTlToBr>
                    <a:lnBlToTr>
                      <a:noFill/>
                    </a:lnBlToTr>
                    <a:solidFill>
                      <a:srgbClr val="FFFFFF"/>
                    </a:solidFill>
                  </a:tcPr>
                </a:tc>
                <a:extLst>
                  <a:ext uri="{0D108BD9-81ED-4DB2-BD59-A6C34878D82A}">
                    <a16:rowId xmlns:a16="http://schemas.microsoft.com/office/drawing/2014/main" val="10000"/>
                  </a:ext>
                </a:extLst>
              </a:tr>
              <a:tr h="0">
                <a:tc>
                  <a:txBody>
                    <a:bodyPr/>
                    <a:lstStyle/>
                    <a:p>
                      <a:pPr indent="0">
                        <a:buNone/>
                      </a:pPr>
                      <a:endParaRPr lang="zh-CN" altLang="en-US"/>
                    </a:p>
                  </a:txBody>
                  <a:tcPr>
                    <a:lnL>
                      <a:noFill/>
                    </a:lnL>
                    <a:lnR>
                      <a:noFill/>
                    </a:lnR>
                    <a:lnT cap="flat">
                      <a:noFill/>
                    </a:lnT>
                    <a:lnB cap="flat">
                      <a:noFill/>
                    </a:lnB>
                    <a:lnTlToBr>
                      <a:noFill/>
                    </a:lnTlToBr>
                    <a:lnBlToTr>
                      <a:noFill/>
                    </a:lnBlToTr>
                    <a:noFill/>
                  </a:tcPr>
                </a:tc>
                <a:tc>
                  <a:txBody>
                    <a:bodyPr/>
                    <a:lstStyle/>
                    <a:p>
                      <a:pPr indent="0">
                        <a:buNone/>
                      </a:pPr>
                      <a:endParaRPr lang="zh-CN" altLang="en-US"/>
                    </a:p>
                  </a:txBody>
                  <a:tcPr>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1" name="文本框 100"/>
          <p:cNvSpPr txBox="1"/>
          <p:nvPr/>
        </p:nvSpPr>
        <p:spPr>
          <a:xfrm>
            <a:off x="2712202" y="3270250"/>
            <a:ext cx="3335237" cy="261610"/>
          </a:xfrm>
          <a:prstGeom prst="rect">
            <a:avLst/>
          </a:prstGeom>
          <a:noFill/>
          <a:ln w="9525">
            <a:noFill/>
          </a:ln>
        </p:spPr>
        <p:txBody>
          <a:bodyPr wrap="square">
            <a:spAutoFit/>
          </a:bodyPr>
          <a:lstStyle/>
          <a:p>
            <a:pPr indent="0" algn="ctr"/>
            <a:r>
              <a:rPr lang="zh-CN" sz="1100" b="0">
                <a:latin typeface="Cambria Math" panose="02040503050406030204" charset="0"/>
                <a:ea typeface="等线" panose="02010600030101010101" pitchFamily="2" charset="-122"/>
              </a:rPr>
              <a:t>表：成人与幼儿数据</a:t>
            </a:r>
            <a:endParaRPr lang="zh-CN" altLang="en-US" sz="1100"/>
          </a:p>
        </p:txBody>
      </p:sp>
      <p:sp>
        <p:nvSpPr>
          <p:cNvPr id="3" name="文本框 2"/>
          <p:cNvSpPr txBox="1"/>
          <p:nvPr/>
        </p:nvSpPr>
        <p:spPr>
          <a:xfrm>
            <a:off x="278130" y="2593340"/>
            <a:ext cx="9041765" cy="706755"/>
          </a:xfrm>
          <a:prstGeom prst="rect">
            <a:avLst/>
          </a:prstGeom>
          <a:noFill/>
          <a:ln w="9525">
            <a:noFill/>
          </a:ln>
        </p:spPr>
        <p:txBody>
          <a:bodyPr wrap="square">
            <a:spAutoFit/>
          </a:bodyPr>
          <a:lstStyle/>
          <a:p>
            <a:pPr indent="266700"/>
            <a:r>
              <a:rPr lang="zh-CN" sz="2000" b="1">
                <a:latin typeface="等线" panose="02010600030101010101" pitchFamily="2" charset="-122"/>
                <a:ea typeface="等线" panose="02010600030101010101" pitchFamily="2" charset="-122"/>
                <a:cs typeface="等线" panose="02010600030101010101" pitchFamily="2" charset="-122"/>
              </a:rPr>
              <a:t>【例</a:t>
            </a:r>
            <a:r>
              <a:rPr lang="en-US" altLang="zh-CN" sz="2000" b="1">
                <a:latin typeface="等线" panose="02010600030101010101" pitchFamily="2" charset="-122"/>
                <a:cs typeface="等线" panose="02010600030101010101" pitchFamily="2" charset="-122"/>
              </a:rPr>
              <a:t>8.2</a:t>
            </a:r>
            <a:r>
              <a:rPr lang="zh-CN" sz="2000" b="1">
                <a:latin typeface="等线" panose="02010600030101010101" pitchFamily="2" charset="-122"/>
                <a:ea typeface="等线" panose="02010600030101010101" pitchFamily="2" charset="-122"/>
                <a:cs typeface="等线" panose="02010600030101010101" pitchFamily="2" charset="-122"/>
              </a:rPr>
              <a:t>】下</a:t>
            </a:r>
            <a:r>
              <a:rPr lang="zh-CN" sz="2000" b="0">
                <a:latin typeface="等线" panose="02010600030101010101" pitchFamily="2" charset="-122"/>
                <a:ea typeface="等线" panose="02010600030101010101" pitchFamily="2" charset="-122"/>
                <a:cs typeface="等线" panose="02010600030101010101" pitchFamily="2" charset="-122"/>
              </a:rPr>
              <a:t>表中有两组分别代表成人和幼儿的数据，用离散系数比较两组数据的分布特性。</a:t>
            </a:r>
            <a:endParaRPr lang="zh-CN" altLang="en-US" sz="2000">
              <a:latin typeface="等线" panose="02010600030101010101" pitchFamily="2" charset="-122"/>
              <a:ea typeface="等线" panose="02010600030101010101" pitchFamily="2" charset="-122"/>
              <a:cs typeface="等线" panose="02010600030101010101" pitchFamily="2" charset="-122"/>
            </a:endParaRPr>
          </a:p>
        </p:txBody>
      </p:sp>
      <p:graphicFrame>
        <p:nvGraphicFramePr>
          <p:cNvPr id="4" name="表格 3"/>
          <p:cNvGraphicFramePr/>
          <p:nvPr>
            <p:custDataLst>
              <p:tags r:id="rId1"/>
            </p:custDataLst>
            <p:extLst>
              <p:ext uri="{D42A27DB-BD31-4B8C-83A1-F6EECF244321}">
                <p14:modId xmlns:p14="http://schemas.microsoft.com/office/powerpoint/2010/main" val="3217686139"/>
              </p:ext>
            </p:extLst>
          </p:nvPr>
        </p:nvGraphicFramePr>
        <p:xfrm>
          <a:off x="1864360" y="3509010"/>
          <a:ext cx="5441541" cy="1356995"/>
        </p:xfrm>
        <a:graphic>
          <a:graphicData uri="http://schemas.openxmlformats.org/drawingml/2006/table">
            <a:tbl>
              <a:tblPr firstRow="1" bandRow="1">
                <a:tableStyleId>{5940675A-B579-460E-94D1-54222C63F5DA}</a:tableStyleId>
              </a:tblPr>
              <a:tblGrid>
                <a:gridCol w="484128">
                  <a:extLst>
                    <a:ext uri="{9D8B030D-6E8A-4147-A177-3AD203B41FA5}">
                      <a16:colId xmlns:a16="http://schemas.microsoft.com/office/drawing/2014/main" val="20000"/>
                    </a:ext>
                  </a:extLst>
                </a:gridCol>
                <a:gridCol w="3238996">
                  <a:extLst>
                    <a:ext uri="{9D8B030D-6E8A-4147-A177-3AD203B41FA5}">
                      <a16:colId xmlns:a16="http://schemas.microsoft.com/office/drawing/2014/main" val="20001"/>
                    </a:ext>
                  </a:extLst>
                </a:gridCol>
                <a:gridCol w="590140">
                  <a:extLst>
                    <a:ext uri="{9D8B030D-6E8A-4147-A177-3AD203B41FA5}">
                      <a16:colId xmlns:a16="http://schemas.microsoft.com/office/drawing/2014/main" val="20002"/>
                    </a:ext>
                  </a:extLst>
                </a:gridCol>
                <a:gridCol w="523843">
                  <a:extLst>
                    <a:ext uri="{9D8B030D-6E8A-4147-A177-3AD203B41FA5}">
                      <a16:colId xmlns:a16="http://schemas.microsoft.com/office/drawing/2014/main" val="20003"/>
                    </a:ext>
                  </a:extLst>
                </a:gridCol>
                <a:gridCol w="604434">
                  <a:extLst>
                    <a:ext uri="{9D8B030D-6E8A-4147-A177-3AD203B41FA5}">
                      <a16:colId xmlns:a16="http://schemas.microsoft.com/office/drawing/2014/main" val="20004"/>
                    </a:ext>
                  </a:extLst>
                </a:gridCol>
              </a:tblGrid>
              <a:tr h="205740">
                <a:tc>
                  <a:txBody>
                    <a:bodyPr/>
                    <a:lstStyle/>
                    <a:p>
                      <a:pPr indent="0">
                        <a:buNone/>
                      </a:pPr>
                      <a:r>
                        <a:rPr lang="en-US" sz="1100" b="1">
                          <a:latin typeface="等线" panose="02010600030101010101" pitchFamily="2" charset="-122"/>
                          <a:ea typeface="等线" panose="02010600030101010101" pitchFamily="2" charset="-122"/>
                          <a:cs typeface="等线" panose="02010600030101010101" pitchFamily="2" charset="-122"/>
                        </a:rPr>
                        <a:t>组别</a:t>
                      </a:r>
                      <a:endParaRPr lang="en-US" altLang="en-US" sz="1100" b="1">
                        <a:latin typeface="等线" panose="02010600030101010101" pitchFamily="2" charset="-122"/>
                        <a:ea typeface="等线" panose="02010600030101010101" pitchFamily="2" charset="-122"/>
                        <a:cs typeface="等线" panose="02010600030101010101" pitchFamily="2" charset="-122"/>
                      </a:endParaRPr>
                    </a:p>
                  </a:txBody>
                  <a:tcPr marL="68580" marR="6858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gradFill>
                      <a:gsLst>
                        <a:gs pos="9000">
                          <a:srgbClr val="F4D8CE"/>
                        </a:gs>
                        <a:gs pos="100000">
                          <a:srgbClr val="E0805E"/>
                        </a:gs>
                      </a:gsLst>
                      <a:lin scaled="1"/>
                    </a:gradFill>
                  </a:tcPr>
                </a:tc>
                <a:tc>
                  <a:txBody>
                    <a:bodyPr/>
                    <a:lstStyle/>
                    <a:p>
                      <a:pPr indent="0" algn="ctr">
                        <a:buNone/>
                      </a:pPr>
                      <a:r>
                        <a:rPr lang="en-US" sz="1100" b="1">
                          <a:latin typeface="等线" panose="02010600030101010101" pitchFamily="2" charset="-122"/>
                          <a:ea typeface="等线" panose="02010600030101010101" pitchFamily="2" charset="-122"/>
                          <a:cs typeface="等线" panose="02010600030101010101" pitchFamily="2" charset="-122"/>
                        </a:rPr>
                        <a:t>数据</a:t>
                      </a:r>
                      <a:endParaRPr lang="en-US" altLang="en-US" sz="1100" b="1">
                        <a:latin typeface="等线" panose="02010600030101010101" pitchFamily="2" charset="-122"/>
                        <a:ea typeface="等线" panose="02010600030101010101" pitchFamily="2" charset="-122"/>
                        <a:cs typeface="等线" panose="02010600030101010101" pitchFamily="2" charset="-122"/>
                      </a:endParaRPr>
                    </a:p>
                  </a:txBody>
                  <a:tcPr marL="68580" marR="6858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gradFill>
                      <a:gsLst>
                        <a:gs pos="9000">
                          <a:srgbClr val="F4D8CE"/>
                        </a:gs>
                        <a:gs pos="100000">
                          <a:srgbClr val="E0805E"/>
                        </a:gs>
                      </a:gsLst>
                      <a:lin scaled="1"/>
                    </a:gradFill>
                  </a:tcPr>
                </a:tc>
                <a:tc>
                  <a:txBody>
                    <a:bodyPr/>
                    <a:lstStyle/>
                    <a:p>
                      <a:pPr indent="0">
                        <a:buNone/>
                      </a:pPr>
                      <a:r>
                        <a:rPr lang="en-US" sz="1100" b="1">
                          <a:latin typeface="等线" panose="02010600030101010101" pitchFamily="2" charset="-122"/>
                          <a:ea typeface="等线" panose="02010600030101010101" pitchFamily="2" charset="-122"/>
                          <a:cs typeface="等线" panose="02010600030101010101" pitchFamily="2" charset="-122"/>
                        </a:rPr>
                        <a:t>均值</a:t>
                      </a:r>
                      <a:endParaRPr lang="en-US" altLang="en-US" sz="1100" b="1">
                        <a:latin typeface="等线" panose="02010600030101010101" pitchFamily="2" charset="-122"/>
                        <a:ea typeface="等线" panose="02010600030101010101" pitchFamily="2" charset="-122"/>
                        <a:cs typeface="等线" panose="02010600030101010101" pitchFamily="2" charset="-122"/>
                      </a:endParaRPr>
                    </a:p>
                  </a:txBody>
                  <a:tcPr marL="68580" marR="6858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gradFill>
                      <a:gsLst>
                        <a:gs pos="9000">
                          <a:srgbClr val="F4D8CE"/>
                        </a:gs>
                        <a:gs pos="100000">
                          <a:srgbClr val="E0805E"/>
                        </a:gs>
                      </a:gsLst>
                      <a:lin scaled="1"/>
                    </a:gradFill>
                  </a:tcPr>
                </a:tc>
                <a:tc>
                  <a:txBody>
                    <a:bodyPr/>
                    <a:lstStyle/>
                    <a:p>
                      <a:pPr indent="0">
                        <a:buNone/>
                      </a:pPr>
                      <a:r>
                        <a:rPr lang="en-US" sz="1100" b="1">
                          <a:latin typeface="等线" panose="02010600030101010101" pitchFamily="2" charset="-122"/>
                          <a:ea typeface="等线" panose="02010600030101010101" pitchFamily="2" charset="-122"/>
                          <a:cs typeface="等线" panose="02010600030101010101" pitchFamily="2" charset="-122"/>
                        </a:rPr>
                        <a:t>标准差</a:t>
                      </a:r>
                      <a:endParaRPr lang="en-US" altLang="en-US" sz="1100" b="1">
                        <a:latin typeface="等线" panose="02010600030101010101" pitchFamily="2" charset="-122"/>
                        <a:ea typeface="等线" panose="02010600030101010101" pitchFamily="2" charset="-122"/>
                        <a:cs typeface="等线" panose="02010600030101010101" pitchFamily="2" charset="-122"/>
                      </a:endParaRPr>
                    </a:p>
                  </a:txBody>
                  <a:tcPr marL="68580" marR="6858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gradFill>
                      <a:gsLst>
                        <a:gs pos="9000">
                          <a:srgbClr val="F4D8CE"/>
                        </a:gs>
                        <a:gs pos="100000">
                          <a:srgbClr val="E0805E"/>
                        </a:gs>
                      </a:gsLst>
                      <a:lin scaled="1"/>
                    </a:gradFill>
                  </a:tcPr>
                </a:tc>
                <a:tc>
                  <a:txBody>
                    <a:bodyPr/>
                    <a:lstStyle/>
                    <a:p>
                      <a:pPr indent="0">
                        <a:buNone/>
                      </a:pPr>
                      <a:r>
                        <a:rPr lang="en-US" sz="1100" b="1">
                          <a:latin typeface="等线" panose="02010600030101010101" pitchFamily="2" charset="-122"/>
                          <a:ea typeface="等线" panose="02010600030101010101" pitchFamily="2" charset="-122"/>
                          <a:cs typeface="等线" panose="02010600030101010101" pitchFamily="2" charset="-122"/>
                        </a:rPr>
                        <a:t>离散系数</a:t>
                      </a:r>
                      <a:endParaRPr lang="en-US" altLang="en-US" sz="1100" b="1">
                        <a:latin typeface="等线" panose="02010600030101010101" pitchFamily="2" charset="-122"/>
                        <a:ea typeface="等线" panose="02010600030101010101" pitchFamily="2" charset="-122"/>
                        <a:cs typeface="等线" panose="02010600030101010101" pitchFamily="2" charset="-122"/>
                      </a:endParaRPr>
                    </a:p>
                  </a:txBody>
                  <a:tcPr marL="68580" marR="6858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gradFill>
                      <a:gsLst>
                        <a:gs pos="9000">
                          <a:srgbClr val="F4D8CE"/>
                        </a:gs>
                        <a:gs pos="100000">
                          <a:srgbClr val="E0805E"/>
                        </a:gs>
                      </a:gsLst>
                      <a:lin scaled="1"/>
                    </a:gradFill>
                  </a:tcPr>
                </a:tc>
                <a:extLst>
                  <a:ext uri="{0D108BD9-81ED-4DB2-BD59-A6C34878D82A}">
                    <a16:rowId xmlns:a16="http://schemas.microsoft.com/office/drawing/2014/main" val="10000"/>
                  </a:ext>
                </a:extLst>
              </a:tr>
              <a:tr h="487045">
                <a:tc>
                  <a:txBody>
                    <a:bodyPr/>
                    <a:lstStyle/>
                    <a:p>
                      <a:pPr indent="0">
                        <a:buNone/>
                      </a:pPr>
                      <a:r>
                        <a:rPr lang="en-US" sz="1100" b="1">
                          <a:latin typeface="等线" panose="02010600030101010101" pitchFamily="2" charset="-122"/>
                          <a:ea typeface="等线" panose="02010600030101010101" pitchFamily="2" charset="-122"/>
                          <a:cs typeface="等线" panose="02010600030101010101" pitchFamily="2" charset="-122"/>
                        </a:rPr>
                        <a:t>成人</a:t>
                      </a:r>
                      <a:endParaRPr lang="en-US" altLang="en-US" sz="1100" b="1">
                        <a:latin typeface="等线" panose="02010600030101010101" pitchFamily="2" charset="-122"/>
                        <a:ea typeface="等线" panose="02010600030101010101" pitchFamily="2" charset="-122"/>
                        <a:cs typeface="等线" panose="02010600030101010101" pitchFamily="2" charset="-122"/>
                      </a:endParaRPr>
                    </a:p>
                  </a:txBody>
                  <a:tcPr marL="68580" marR="6858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gradFill>
                      <a:gsLst>
                        <a:gs pos="9000">
                          <a:srgbClr val="F4D8CE"/>
                        </a:gs>
                        <a:gs pos="100000">
                          <a:srgbClr val="E0805E"/>
                        </a:gs>
                      </a:gsLst>
                      <a:lin scaled="1"/>
                    </a:gradFill>
                  </a:tcPr>
                </a:tc>
                <a:tc>
                  <a:txBody>
                    <a:bodyPr/>
                    <a:lstStyle/>
                    <a:p>
                      <a:pPr indent="0">
                        <a:buNone/>
                      </a:pPr>
                      <a:r>
                        <a:rPr lang="en-US" sz="1100" b="0">
                          <a:latin typeface="等线" panose="02010600030101010101" pitchFamily="2" charset="-122"/>
                          <a:ea typeface="等线" panose="02010600030101010101" pitchFamily="2" charset="-122"/>
                          <a:cs typeface="等线" panose="02010600030101010101" pitchFamily="2" charset="-122"/>
                        </a:rPr>
                        <a:t>166，167，169，169，169，170，170，171，171，171，171，172，173，173，173，175，175，176，177，179</a:t>
                      </a:r>
                      <a:endParaRPr lang="en-US" altLang="en-US" sz="1100" b="0">
                        <a:latin typeface="等线" panose="02010600030101010101" pitchFamily="2" charset="-122"/>
                        <a:ea typeface="等线" panose="02010600030101010101" pitchFamily="2" charset="-122"/>
                        <a:cs typeface="等线" panose="02010600030101010101" pitchFamily="2" charset="-122"/>
                      </a:endParaRPr>
                    </a:p>
                  </a:txBody>
                  <a:tcPr marL="68580" marR="6858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buNone/>
                      </a:pPr>
                      <a:r>
                        <a:rPr lang="en-US" sz="1100" b="0">
                          <a:latin typeface="等线" panose="02010600030101010101" pitchFamily="2" charset="-122"/>
                          <a:ea typeface="等线" panose="02010600030101010101" pitchFamily="2" charset="-122"/>
                          <a:cs typeface="等线" panose="02010600030101010101" pitchFamily="2" charset="-122"/>
                        </a:rPr>
                        <a:t>171.85</a:t>
                      </a:r>
                      <a:endParaRPr lang="en-US" altLang="en-US" sz="1100" b="0">
                        <a:latin typeface="等线" panose="02010600030101010101" pitchFamily="2" charset="-122"/>
                        <a:ea typeface="等线" panose="02010600030101010101" pitchFamily="2" charset="-122"/>
                        <a:cs typeface="等线" panose="02010600030101010101" pitchFamily="2" charset="-122"/>
                      </a:endParaRPr>
                    </a:p>
                  </a:txBody>
                  <a:tcPr marL="68580" marR="6858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buNone/>
                      </a:pPr>
                      <a:r>
                        <a:rPr lang="en-US" sz="1100" b="0">
                          <a:latin typeface="等线" panose="02010600030101010101" pitchFamily="2" charset="-122"/>
                          <a:ea typeface="等线" panose="02010600030101010101" pitchFamily="2" charset="-122"/>
                          <a:cs typeface="等线" panose="02010600030101010101" pitchFamily="2" charset="-122"/>
                        </a:rPr>
                        <a:t>3.33</a:t>
                      </a:r>
                      <a:endParaRPr lang="en-US" altLang="en-US" sz="1100" b="0">
                        <a:latin typeface="等线" panose="02010600030101010101" pitchFamily="2" charset="-122"/>
                        <a:ea typeface="等线" panose="02010600030101010101" pitchFamily="2" charset="-122"/>
                        <a:cs typeface="等线" panose="02010600030101010101" pitchFamily="2" charset="-122"/>
                      </a:endParaRPr>
                    </a:p>
                  </a:txBody>
                  <a:tcPr marL="68580" marR="6858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buNone/>
                      </a:pPr>
                      <a:r>
                        <a:rPr lang="en-US" sz="1100" b="0">
                          <a:latin typeface="等线" panose="02010600030101010101" pitchFamily="2" charset="-122"/>
                          <a:ea typeface="等线" panose="02010600030101010101" pitchFamily="2" charset="-122"/>
                          <a:cs typeface="等线" panose="02010600030101010101" pitchFamily="2" charset="-122"/>
                        </a:rPr>
                        <a:t>0.0194</a:t>
                      </a:r>
                      <a:endParaRPr lang="en-US" altLang="en-US" sz="1100" b="0">
                        <a:latin typeface="等线" panose="02010600030101010101" pitchFamily="2" charset="-122"/>
                        <a:ea typeface="等线" panose="02010600030101010101" pitchFamily="2" charset="-122"/>
                        <a:cs typeface="等线" panose="02010600030101010101" pitchFamily="2" charset="-122"/>
                      </a:endParaRPr>
                    </a:p>
                  </a:txBody>
                  <a:tcPr marL="68580" marR="6858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499745">
                <a:tc>
                  <a:txBody>
                    <a:bodyPr/>
                    <a:lstStyle/>
                    <a:p>
                      <a:pPr indent="0">
                        <a:buNone/>
                      </a:pPr>
                      <a:r>
                        <a:rPr lang="en-US" sz="1100" b="1">
                          <a:latin typeface="等线" panose="02010600030101010101" pitchFamily="2" charset="-122"/>
                          <a:ea typeface="等线" panose="02010600030101010101" pitchFamily="2" charset="-122"/>
                          <a:cs typeface="等线" panose="02010600030101010101" pitchFamily="2" charset="-122"/>
                        </a:rPr>
                        <a:t>幼儿</a:t>
                      </a:r>
                      <a:endParaRPr lang="en-US" altLang="en-US" sz="1100" b="1">
                        <a:latin typeface="等线" panose="02010600030101010101" pitchFamily="2" charset="-122"/>
                        <a:ea typeface="等线" panose="02010600030101010101" pitchFamily="2" charset="-122"/>
                        <a:cs typeface="等线" panose="02010600030101010101" pitchFamily="2" charset="-122"/>
                      </a:endParaRPr>
                    </a:p>
                  </a:txBody>
                  <a:tcPr marL="68580" marR="6858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gradFill>
                      <a:gsLst>
                        <a:gs pos="9000">
                          <a:srgbClr val="F4D8CE"/>
                        </a:gs>
                        <a:gs pos="100000">
                          <a:srgbClr val="E0805E"/>
                        </a:gs>
                      </a:gsLst>
                      <a:lin scaled="1"/>
                    </a:gradFill>
                  </a:tcPr>
                </a:tc>
                <a:tc>
                  <a:txBody>
                    <a:bodyPr/>
                    <a:lstStyle/>
                    <a:p>
                      <a:pPr indent="0">
                        <a:buNone/>
                      </a:pPr>
                      <a:r>
                        <a:rPr lang="en-US" sz="1100" b="0">
                          <a:latin typeface="等线" panose="02010600030101010101" pitchFamily="2" charset="-122"/>
                          <a:ea typeface="等线" panose="02010600030101010101" pitchFamily="2" charset="-122"/>
                          <a:cs typeface="等线" panose="02010600030101010101" pitchFamily="2" charset="-122"/>
                        </a:rPr>
                        <a:t>67，68，69，70，70，71，71，71，72，72，72，72，72，72，73，74，75，76，76，77</a:t>
                      </a:r>
                      <a:endParaRPr lang="en-US" altLang="en-US" sz="1100" b="0">
                        <a:latin typeface="等线" panose="02010600030101010101" pitchFamily="2" charset="-122"/>
                        <a:ea typeface="等线" panose="02010600030101010101" pitchFamily="2" charset="-122"/>
                        <a:cs typeface="等线" panose="02010600030101010101" pitchFamily="2" charset="-122"/>
                      </a:endParaRPr>
                    </a:p>
                  </a:txBody>
                  <a:tcPr marL="68580" marR="6858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buNone/>
                      </a:pPr>
                      <a:r>
                        <a:rPr lang="en-US" sz="1100" b="0">
                          <a:latin typeface="等线" panose="02010600030101010101" pitchFamily="2" charset="-122"/>
                          <a:ea typeface="等线" panose="02010600030101010101" pitchFamily="2" charset="-122"/>
                          <a:cs typeface="等线" panose="02010600030101010101" pitchFamily="2" charset="-122"/>
                        </a:rPr>
                        <a:t>72.00</a:t>
                      </a:r>
                      <a:endParaRPr lang="en-US" altLang="en-US" sz="1100" b="0">
                        <a:latin typeface="等线" panose="02010600030101010101" pitchFamily="2" charset="-122"/>
                        <a:ea typeface="等线" panose="02010600030101010101" pitchFamily="2" charset="-122"/>
                        <a:cs typeface="等线" panose="02010600030101010101" pitchFamily="2" charset="-122"/>
                      </a:endParaRPr>
                    </a:p>
                  </a:txBody>
                  <a:tcPr marL="68580" marR="6858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buNone/>
                      </a:pPr>
                      <a:r>
                        <a:rPr lang="en-US" sz="1100" b="0">
                          <a:latin typeface="等线" panose="02010600030101010101" pitchFamily="2" charset="-122"/>
                          <a:ea typeface="等线" panose="02010600030101010101" pitchFamily="2" charset="-122"/>
                          <a:cs typeface="等线" panose="02010600030101010101" pitchFamily="2" charset="-122"/>
                        </a:rPr>
                        <a:t>2.64</a:t>
                      </a:r>
                      <a:endParaRPr lang="en-US" altLang="en-US" sz="1100" b="0">
                        <a:latin typeface="等线" panose="02010600030101010101" pitchFamily="2" charset="-122"/>
                        <a:ea typeface="等线" panose="02010600030101010101" pitchFamily="2" charset="-122"/>
                        <a:cs typeface="等线" panose="02010600030101010101" pitchFamily="2" charset="-122"/>
                      </a:endParaRPr>
                    </a:p>
                  </a:txBody>
                  <a:tcPr marL="68580" marR="6858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buNone/>
                      </a:pPr>
                      <a:r>
                        <a:rPr lang="en-US" sz="1100" b="0">
                          <a:latin typeface="等线" panose="02010600030101010101" pitchFamily="2" charset="-122"/>
                          <a:ea typeface="等线" panose="02010600030101010101" pitchFamily="2" charset="-122"/>
                          <a:cs typeface="等线" panose="02010600030101010101" pitchFamily="2" charset="-122"/>
                        </a:rPr>
                        <a:t>0.0367</a:t>
                      </a:r>
                      <a:endParaRPr lang="en-US" altLang="en-US" sz="1100" b="0">
                        <a:latin typeface="等线" panose="02010600030101010101" pitchFamily="2" charset="-122"/>
                        <a:ea typeface="等线" panose="02010600030101010101" pitchFamily="2" charset="-122"/>
                        <a:cs typeface="等线" panose="02010600030101010101" pitchFamily="2" charset="-122"/>
                      </a:endParaRPr>
                    </a:p>
                  </a:txBody>
                  <a:tcPr marL="68580" marR="6858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BE073E43-A514-4EDB-8AE9-E05C01A4F717}"/>
                  </a:ext>
                </a:extLst>
              </p:cNvPr>
              <p:cNvSpPr/>
              <p:nvPr/>
            </p:nvSpPr>
            <p:spPr>
              <a:xfrm>
                <a:off x="3659899" y="2031555"/>
                <a:ext cx="831381" cy="5123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𝐶</m:t>
                          </m:r>
                        </m:e>
                        <m:sub>
                          <m:r>
                            <a:rPr lang="zh-CN" altLang="en-US" sz="1600" i="1">
                              <a:latin typeface="Cambria Math" panose="02040503050406030204" pitchFamily="18" charset="0"/>
                            </a:rPr>
                            <m:t>𝑣</m:t>
                          </m:r>
                        </m:sub>
                      </m:sSub>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𝜎</m:t>
                          </m:r>
                        </m:num>
                        <m:den>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𝑥</m:t>
                              </m:r>
                            </m:e>
                          </m:acc>
                        </m:den>
                      </m:f>
                    </m:oMath>
                  </m:oMathPara>
                </a14:m>
                <a:endParaRPr lang="zh-CN" altLang="en-US" sz="1600"/>
              </a:p>
            </p:txBody>
          </p:sp>
        </mc:Choice>
        <mc:Fallback xmlns="">
          <p:sp>
            <p:nvSpPr>
              <p:cNvPr id="5" name="矩形 4">
                <a:extLst>
                  <a:ext uri="{FF2B5EF4-FFF2-40B4-BE49-F238E27FC236}">
                    <a16:creationId xmlns:a16="http://schemas.microsoft.com/office/drawing/2014/main" id="{BE073E43-A514-4EDB-8AE9-E05C01A4F717}"/>
                  </a:ext>
                </a:extLst>
              </p:cNvPr>
              <p:cNvSpPr>
                <a:spLocks noRot="1" noChangeAspect="1" noMove="1" noResize="1" noEditPoints="1" noAdjustHandles="1" noChangeArrowheads="1" noChangeShapeType="1" noTextEdit="1"/>
              </p:cNvSpPr>
              <p:nvPr/>
            </p:nvSpPr>
            <p:spPr>
              <a:xfrm>
                <a:off x="3659899" y="2031555"/>
                <a:ext cx="831381" cy="512384"/>
              </a:xfrm>
              <a:prstGeom prst="rect">
                <a:avLst/>
              </a:prstGeom>
              <a:blipFill>
                <a:blip r:embed="rId4"/>
                <a:stretch>
                  <a:fillRect r="-21898"/>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953135"/>
          </a:xfrm>
          <a:prstGeom prst="rect">
            <a:avLst/>
          </a:prstGeom>
          <a:noFill/>
        </p:spPr>
        <p:txBody>
          <a:bodyPr wrap="square" rtlCol="0">
            <a:spAutoFit/>
          </a:bodyPr>
          <a:lstStyle/>
          <a:p>
            <a:r>
              <a:rPr 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8.1.2数据的离散趋势度量</a:t>
            </a:r>
          </a:p>
          <a:p>
            <a:endPar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445770" y="982980"/>
            <a:ext cx="8385810" cy="1545872"/>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1">
                <a:latin typeface="+mn-ea"/>
              </a:rPr>
              <a:t> </a:t>
            </a:r>
            <a:r>
              <a:rPr lang="en-US" sz="2000">
                <a:ea typeface="等线" panose="02010600030101010101" pitchFamily="2" charset="-122"/>
              </a:rPr>
              <a:t>  </a:t>
            </a: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两组数据平均值相差很大，标准差不能判断各自数据差异的大小。但通过计算离散系数可以看出，虽然成人组的标准差大于幼儿组，但是幼儿组的离散系数明显大于成人组，因此可以说明，幼儿组的身高差异比成人组大。</a:t>
            </a:r>
            <a:r>
              <a:rPr lang="en-US" sz="2000">
                <a:latin typeface="等线" panose="02010600030101010101" pitchFamily="2" charset="-122"/>
                <a:ea typeface="等线" panose="02010600030101010101" pitchFamily="2" charset="-122"/>
                <a:cs typeface="等线" panose="02010600030101010101" pitchFamily="2" charset="-122"/>
              </a:rPr>
              <a:t>    </a:t>
            </a:r>
          </a:p>
        </p:txBody>
      </p:sp>
      <p:graphicFrame>
        <p:nvGraphicFramePr>
          <p:cNvPr id="10" name="表格 9"/>
          <p:cNvGraphicFramePr/>
          <p:nvPr/>
        </p:nvGraphicFramePr>
        <p:xfrm>
          <a:off x="2032000" y="2921000"/>
          <a:ext cx="416560" cy="59436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0">
                <a:tc>
                  <a:txBody>
                    <a:bodyPr/>
                    <a:lstStyle/>
                    <a:p>
                      <a:pPr indent="0">
                        <a:buNone/>
                      </a:pPr>
                      <a:endParaRPr lang="zh-CN" altLang="en-US" b="0"/>
                    </a:p>
                  </a:txBody>
                  <a:tcPr>
                    <a:lnL>
                      <a:noFill/>
                    </a:lnL>
                    <a:lnR>
                      <a:noFill/>
                    </a:lnR>
                    <a:lnT cap="flat">
                      <a:noFill/>
                    </a:lnT>
                    <a:lnB cap="flat">
                      <a:noFill/>
                    </a:lnB>
                    <a:lnTlToBr>
                      <a:noFill/>
                    </a:lnTlToBr>
                    <a:lnBlToTr>
                      <a:noFill/>
                    </a:lnBlToTr>
                    <a:noFill/>
                  </a:tcPr>
                </a:tc>
                <a:tc>
                  <a:txBody>
                    <a:bodyPr/>
                    <a:lstStyle/>
                    <a:p>
                      <a:pPr>
                        <a:buNone/>
                      </a:pPr>
                      <a:endParaRPr lang="zh-CN" altLang="en-US"/>
                    </a:p>
                  </a:txBody>
                  <a:tcPr>
                    <a:lnL>
                      <a:noFill/>
                    </a:lnL>
                    <a:lnR>
                      <a:noFill/>
                    </a:lnR>
                    <a:lnT>
                      <a:noFill/>
                    </a:lnT>
                    <a:lnB cap="flat">
                      <a:noFill/>
                    </a:lnB>
                    <a:lnTlToBr>
                      <a:noFill/>
                    </a:lnTlToBr>
                    <a:lnBlToTr>
                      <a:noFill/>
                    </a:lnBlToTr>
                    <a:solidFill>
                      <a:srgbClr val="FFFFFF"/>
                    </a:solidFill>
                  </a:tcPr>
                </a:tc>
                <a:extLst>
                  <a:ext uri="{0D108BD9-81ED-4DB2-BD59-A6C34878D82A}">
                    <a16:rowId xmlns:a16="http://schemas.microsoft.com/office/drawing/2014/main" val="10000"/>
                  </a:ext>
                </a:extLst>
              </a:tr>
              <a:tr h="0">
                <a:tc>
                  <a:txBody>
                    <a:bodyPr/>
                    <a:lstStyle/>
                    <a:p>
                      <a:pPr indent="0">
                        <a:buNone/>
                      </a:pPr>
                      <a:endParaRPr lang="zh-CN" altLang="en-US"/>
                    </a:p>
                  </a:txBody>
                  <a:tcPr>
                    <a:lnL>
                      <a:noFill/>
                    </a:lnL>
                    <a:lnR>
                      <a:noFill/>
                    </a:lnR>
                    <a:lnT cap="flat">
                      <a:noFill/>
                    </a:lnT>
                    <a:lnB cap="flat">
                      <a:noFill/>
                    </a:lnB>
                    <a:lnTlToBr>
                      <a:noFill/>
                    </a:lnTlToBr>
                    <a:lnBlToTr>
                      <a:noFill/>
                    </a:lnBlToTr>
                    <a:noFill/>
                  </a:tcPr>
                </a:tc>
                <a:tc>
                  <a:txBody>
                    <a:bodyPr/>
                    <a:lstStyle/>
                    <a:p>
                      <a:pPr indent="0">
                        <a:buNone/>
                      </a:pPr>
                      <a:endParaRPr lang="zh-CN" altLang="en-US"/>
                    </a:p>
                  </a:txBody>
                  <a:tcPr>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953135"/>
          </a:xfrm>
          <a:prstGeom prst="rect">
            <a:avLst/>
          </a:prstGeom>
          <a:noFill/>
        </p:spPr>
        <p:txBody>
          <a:bodyPr wrap="square" rtlCol="0">
            <a:spAutoFit/>
          </a:bodyPr>
          <a:lstStyle/>
          <a:p>
            <a:r>
              <a:rPr 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8.1.3数据的偏态特性度量</a:t>
            </a:r>
          </a:p>
          <a:p>
            <a:endPar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161290" y="752475"/>
            <a:ext cx="8822690" cy="1660525"/>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1">
                <a:latin typeface="+mn-ea"/>
              </a:rPr>
              <a:t> </a:t>
            </a:r>
            <a:r>
              <a:rPr lang="en-US" sz="2000">
                <a:ea typeface="等线" panose="02010600030101010101" pitchFamily="2" charset="-122"/>
              </a:rPr>
              <a:t>  </a:t>
            </a:r>
            <a:r>
              <a:rPr lang="en-US" sz="2000" b="1">
                <a:ea typeface="等线" panose="02010600030101010101" pitchFamily="2" charset="-122"/>
              </a:rPr>
              <a:t>1.偏度(Skewness)  </a:t>
            </a:r>
            <a:endParaRPr lang="en-US" sz="2000">
              <a:ea typeface="等线" panose="02010600030101010101" pitchFamily="2" charset="-122"/>
            </a:endParaRPr>
          </a:p>
          <a:p>
            <a:pPr indent="266700">
              <a:lnSpc>
                <a:spcPct val="130000"/>
              </a:lnSpc>
              <a:spcBef>
                <a:spcPts val="0"/>
              </a:spcBef>
              <a:spcAft>
                <a:spcPts val="0"/>
              </a:spcAft>
            </a:pPr>
            <a:r>
              <a:rPr lang="en-US" sz="2000">
                <a:ea typeface="等线" panose="02010600030101010101" pitchFamily="2" charset="-122"/>
              </a:rPr>
              <a:t>   </a:t>
            </a:r>
            <a:r>
              <a:rPr sz="2000">
                <a:ea typeface="等线" panose="02010600030101010101" pitchFamily="2" charset="-122"/>
              </a:rPr>
              <a:t>偏度是描述分布“偏离对称性程度”的特征数，也称为偏态系数，是统计数据分布偏斜方向和程度的度量。</a:t>
            </a:r>
          </a:p>
          <a:p>
            <a:pPr indent="266700">
              <a:lnSpc>
                <a:spcPct val="130000"/>
              </a:lnSpc>
              <a:spcBef>
                <a:spcPts val="0"/>
              </a:spcBef>
              <a:spcAft>
                <a:spcPts val="0"/>
              </a:spcAft>
            </a:pPr>
            <a:r>
              <a:rPr lang="en-US" sz="2000">
                <a:ea typeface="等线" panose="02010600030101010101" pitchFamily="2" charset="-122"/>
              </a:rPr>
              <a:t>   </a:t>
            </a:r>
            <a:r>
              <a:rPr sz="2000">
                <a:ea typeface="等线" panose="02010600030101010101" pitchFamily="2" charset="-122"/>
              </a:rPr>
              <a:t>偏度被定义为三阶标准中心矩：</a:t>
            </a:r>
          </a:p>
        </p:txBody>
      </p:sp>
      <p:graphicFrame>
        <p:nvGraphicFramePr>
          <p:cNvPr id="10" name="表格 9"/>
          <p:cNvGraphicFramePr/>
          <p:nvPr/>
        </p:nvGraphicFramePr>
        <p:xfrm>
          <a:off x="2032000" y="2921000"/>
          <a:ext cx="416560" cy="59436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0">
                <a:tc>
                  <a:txBody>
                    <a:bodyPr/>
                    <a:lstStyle/>
                    <a:p>
                      <a:pPr indent="0">
                        <a:buNone/>
                      </a:pPr>
                      <a:endParaRPr lang="zh-CN" altLang="en-US" b="0"/>
                    </a:p>
                  </a:txBody>
                  <a:tcPr>
                    <a:lnL>
                      <a:noFill/>
                    </a:lnL>
                    <a:lnR>
                      <a:noFill/>
                    </a:lnR>
                    <a:lnT cap="flat">
                      <a:noFill/>
                    </a:lnT>
                    <a:lnB cap="flat">
                      <a:noFill/>
                    </a:lnB>
                    <a:lnTlToBr>
                      <a:noFill/>
                    </a:lnTlToBr>
                    <a:lnBlToTr>
                      <a:noFill/>
                    </a:lnBlToTr>
                    <a:noFill/>
                  </a:tcPr>
                </a:tc>
                <a:tc>
                  <a:txBody>
                    <a:bodyPr/>
                    <a:lstStyle/>
                    <a:p>
                      <a:pPr>
                        <a:buNone/>
                      </a:pPr>
                      <a:endParaRPr lang="zh-CN" altLang="en-US"/>
                    </a:p>
                  </a:txBody>
                  <a:tcPr>
                    <a:lnL>
                      <a:noFill/>
                    </a:lnL>
                    <a:lnR>
                      <a:noFill/>
                    </a:lnR>
                    <a:lnT>
                      <a:noFill/>
                    </a:lnT>
                    <a:lnB cap="flat">
                      <a:noFill/>
                    </a:lnB>
                    <a:lnTlToBr>
                      <a:noFill/>
                    </a:lnTlToBr>
                    <a:lnBlToTr>
                      <a:noFill/>
                    </a:lnBlToTr>
                    <a:solidFill>
                      <a:srgbClr val="FFFFFF"/>
                    </a:solidFill>
                  </a:tcPr>
                </a:tc>
                <a:extLst>
                  <a:ext uri="{0D108BD9-81ED-4DB2-BD59-A6C34878D82A}">
                    <a16:rowId xmlns:a16="http://schemas.microsoft.com/office/drawing/2014/main" val="10000"/>
                  </a:ext>
                </a:extLst>
              </a:tr>
              <a:tr h="0">
                <a:tc>
                  <a:txBody>
                    <a:bodyPr/>
                    <a:lstStyle/>
                    <a:p>
                      <a:pPr indent="0">
                        <a:buNone/>
                      </a:pPr>
                      <a:endParaRPr lang="zh-CN" altLang="en-US"/>
                    </a:p>
                  </a:txBody>
                  <a:tcPr>
                    <a:lnL>
                      <a:noFill/>
                    </a:lnL>
                    <a:lnR>
                      <a:noFill/>
                    </a:lnR>
                    <a:lnT cap="flat">
                      <a:noFill/>
                    </a:lnT>
                    <a:lnB cap="flat">
                      <a:noFill/>
                    </a:lnB>
                    <a:lnTlToBr>
                      <a:noFill/>
                    </a:lnTlToBr>
                    <a:lnBlToTr>
                      <a:noFill/>
                    </a:lnBlToTr>
                    <a:noFill/>
                  </a:tcPr>
                </a:tc>
                <a:tc>
                  <a:txBody>
                    <a:bodyPr/>
                    <a:lstStyle/>
                    <a:p>
                      <a:pPr indent="0">
                        <a:buNone/>
                      </a:pPr>
                      <a:endParaRPr lang="zh-CN" altLang="en-US"/>
                    </a:p>
                  </a:txBody>
                  <a:tcPr>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3" name="文本框 2"/>
              <p:cNvSpPr txBox="1"/>
              <p:nvPr/>
            </p:nvSpPr>
            <p:spPr>
              <a:xfrm>
                <a:off x="296545" y="2550160"/>
                <a:ext cx="9041765" cy="398780"/>
              </a:xfrm>
              <a:prstGeom prst="rect">
                <a:avLst/>
              </a:prstGeom>
              <a:noFill/>
              <a:ln w="9525">
                <a:noFill/>
              </a:ln>
            </p:spPr>
            <p:txBody>
              <a:bodyPr wrap="square">
                <a:spAutoFit/>
              </a:bodyPr>
              <a:lstStyle/>
              <a:p>
                <a:pPr indent="266700"/>
                <a:r>
                  <a:rPr lang="en-US" altLang="zh-CN" sz="2000">
                    <a:latin typeface="等线" panose="02010600030101010101" pitchFamily="2" charset="-122"/>
                    <a:ea typeface="等线" panose="02010600030101010101" pitchFamily="2" charset="-122"/>
                    <a:cs typeface="等线" panose="02010600030101010101" pitchFamily="2" charset="-122"/>
                  </a:rPr>
                  <a:t> </a:t>
                </a:r>
                <a:r>
                  <a:rPr lang="zh-CN" sz="2000">
                    <a:latin typeface="等线" panose="02010600030101010101" pitchFamily="2" charset="-122"/>
                    <a:ea typeface="等线" panose="02010600030101010101" pitchFamily="2" charset="-122"/>
                    <a:cs typeface="等线" panose="02010600030101010101" pitchFamily="2" charset="-122"/>
                  </a:rPr>
                  <a:t>公式中，</a:t>
                </a:r>
                <a:r>
                  <a:rPr lang="en-US" altLang="zh-CN" sz="2000">
                    <a:latin typeface="等线" panose="02010600030101010101" pitchFamily="2" charset="-122"/>
                    <a:ea typeface="等线" panose="02010600030101010101" pitchFamily="2" charset="-122"/>
                    <a:cs typeface="等线" panose="02010600030101010101" pitchFamily="2" charset="-122"/>
                  </a:rPr>
                  <a:t>E</a:t>
                </a:r>
                <a:r>
                  <a:rPr lang="zh-CN" sz="2000">
                    <a:latin typeface="等线" panose="02010600030101010101" pitchFamily="2" charset="-122"/>
                    <a:ea typeface="等线" panose="02010600030101010101" pitchFamily="2" charset="-122"/>
                    <a:cs typeface="等线" panose="02010600030101010101" pitchFamily="2" charset="-122"/>
                  </a:rPr>
                  <a:t>表示期望(Expectation)，</a:t>
                </a:r>
                <a14:m>
                  <m:oMath xmlns:m="http://schemas.openxmlformats.org/officeDocument/2006/math">
                    <m:r>
                      <a:rPr lang="en-US" altLang="zh-CN" sz="1800" i="1">
                        <a:latin typeface="Cambria Math" panose="02040503050406030204" pitchFamily="18" charset="0"/>
                      </a:rPr>
                      <m:t>𝜇</m:t>
                    </m:r>
                  </m:oMath>
                </a14:m>
                <a:r>
                  <a:rPr lang="zh-CN" sz="2000">
                    <a:latin typeface="等线" panose="02010600030101010101" pitchFamily="2" charset="-122"/>
                    <a:ea typeface="等线" panose="02010600030101010101" pitchFamily="2" charset="-122"/>
                    <a:cs typeface="等线" panose="02010600030101010101" pitchFamily="2" charset="-122"/>
                  </a:rPr>
                  <a:t>表示均值</a:t>
                </a:r>
                <a:r>
                  <a:rPr lang="zh-CN" altLang="en-US" sz="2000">
                    <a:latin typeface="等线" panose="02010600030101010101" pitchFamily="2" charset="-122"/>
                    <a:cs typeface="等线" panose="02010600030101010101" pitchFamily="2" charset="-122"/>
                  </a:rPr>
                  <a:t>，</a:t>
                </a:r>
                <a:r>
                  <a:rPr lang="en-US" altLang="zh-CN" sz="2000">
                    <a:latin typeface="等线" panose="02010600030101010101" pitchFamily="2" charset="-122"/>
                    <a:cs typeface="等线" panose="02010600030101010101" pitchFamily="2" charset="-122"/>
                  </a:rPr>
                  <a:t>σ</a:t>
                </a:r>
                <a:r>
                  <a:rPr lang="zh-CN" altLang="en-US" sz="2000">
                    <a:latin typeface="等线" panose="02010600030101010101" pitchFamily="2" charset="-122"/>
                    <a:cs typeface="等线" panose="02010600030101010101" pitchFamily="2" charset="-122"/>
                  </a:rPr>
                  <a:t>表示标准差</a:t>
                </a:r>
                <a:r>
                  <a:rPr lang="zh-CN" sz="2000">
                    <a:latin typeface="等线" panose="02010600030101010101" pitchFamily="2" charset="-122"/>
                    <a:ea typeface="等线" panose="02010600030101010101" pitchFamily="2" charset="-122"/>
                    <a:cs typeface="等线" panose="02010600030101010101" pitchFamily="2" charset="-122"/>
                  </a:rPr>
                  <a:t>。</a:t>
                </a:r>
              </a:p>
            </p:txBody>
          </p:sp>
        </mc:Choice>
        <mc:Fallback xmlns="">
          <p:sp>
            <p:nvSpPr>
              <p:cNvPr id="3" name="文本框 2"/>
              <p:cNvSpPr txBox="1">
                <a:spLocks noRot="1" noChangeAspect="1" noMove="1" noResize="1" noEditPoints="1" noAdjustHandles="1" noChangeArrowheads="1" noChangeShapeType="1" noTextEdit="1"/>
              </p:cNvSpPr>
              <p:nvPr/>
            </p:nvSpPr>
            <p:spPr>
              <a:xfrm>
                <a:off x="296545" y="2550160"/>
                <a:ext cx="9041765" cy="398780"/>
              </a:xfrm>
              <a:prstGeom prst="rect">
                <a:avLst/>
              </a:prstGeom>
              <a:blipFill>
                <a:blip r:embed="rId3"/>
                <a:stretch>
                  <a:fillRect t="-7576" b="-25758"/>
                </a:stretch>
              </a:blipFill>
              <a:ln w="9525">
                <a:noFill/>
              </a:ln>
            </p:spPr>
            <p:txBody>
              <a:bodyPr/>
              <a:lstStyle/>
              <a:p>
                <a:r>
                  <a:rPr lang="zh-CN" altLang="en-US">
                    <a:noFill/>
                  </a:rPr>
                  <a:t> </a:t>
                </a:r>
              </a:p>
            </p:txBody>
          </p:sp>
        </mc:Fallback>
      </mc:AlternateContent>
      <p:sp>
        <p:nvSpPr>
          <p:cNvPr id="102" name="文本框 101"/>
          <p:cNvSpPr txBox="1"/>
          <p:nvPr/>
        </p:nvSpPr>
        <p:spPr>
          <a:xfrm>
            <a:off x="498485" y="3154597"/>
            <a:ext cx="8590240" cy="807016"/>
          </a:xfrm>
          <a:prstGeom prst="rect">
            <a:avLst/>
          </a:prstGeom>
          <a:noFill/>
          <a:ln w="9525">
            <a:noFill/>
          </a:ln>
        </p:spPr>
        <p:txBody>
          <a:bodyPr wrap="square">
            <a:spAutoFit/>
          </a:bodyPr>
          <a:lstStyle/>
          <a:p>
            <a:pPr indent="266700">
              <a:lnSpc>
                <a:spcPct val="120000"/>
              </a:lnSpc>
              <a:spcBef>
                <a:spcPts val="0"/>
              </a:spcBef>
              <a:spcAft>
                <a:spcPts val="0"/>
              </a:spcAft>
            </a:pPr>
            <a:r>
              <a:rPr lang="zh-CN" sz="2000" b="0">
                <a:ea typeface="等线" panose="02010600030101010101" pitchFamily="2" charset="-122"/>
              </a:rPr>
              <a:t>偏度大于</a:t>
            </a:r>
            <a:r>
              <a:rPr lang="zh-CN" sz="2000" b="0">
                <a:ea typeface="等线" panose="02010600030101010101" pitchFamily="2" charset="-122"/>
                <a:cs typeface="Times New Roman" panose="02020603050405020304" pitchFamily="18" charset="0"/>
              </a:rPr>
              <a:t>0为正偏态分布（也称为右偏态</a:t>
            </a:r>
            <a:r>
              <a:rPr lang="zh-CN" altLang="en-US" sz="2000" b="0">
                <a:ea typeface="等线" panose="02010600030101010101" pitchFamily="2" charset="-122"/>
                <a:cs typeface="Times New Roman" panose="02020603050405020304" pitchFamily="18" charset="0"/>
              </a:rPr>
              <a:t>）</a:t>
            </a:r>
            <a:r>
              <a:rPr lang="zh-CN" sz="2000" b="0">
                <a:solidFill>
                  <a:srgbClr val="333333"/>
                </a:solidFill>
                <a:latin typeface="Arial" panose="020B0604020202020204" pitchFamily="34" charset="0"/>
                <a:ea typeface="等线" panose="02010600030101010101" pitchFamily="2" charset="-122"/>
              </a:rPr>
              <a:t>。</a:t>
            </a:r>
            <a:endParaRPr lang="zh-CN" sz="2000" b="0">
              <a:ea typeface="等线" panose="02010600030101010101" pitchFamily="2" charset="-122"/>
            </a:endParaRPr>
          </a:p>
          <a:p>
            <a:pPr indent="266700">
              <a:lnSpc>
                <a:spcPct val="120000"/>
              </a:lnSpc>
              <a:spcBef>
                <a:spcPts val="0"/>
              </a:spcBef>
              <a:spcAft>
                <a:spcPts val="0"/>
              </a:spcAft>
            </a:pPr>
            <a:r>
              <a:rPr lang="zh-CN" sz="2000" b="0">
                <a:ea typeface="等线" panose="02010600030101010101" pitchFamily="2" charset="-122"/>
              </a:rPr>
              <a:t>偏度小</a:t>
            </a:r>
            <a:r>
              <a:rPr lang="zh-CN" sz="2000" b="0">
                <a:ea typeface="等线" panose="02010600030101010101" pitchFamily="2" charset="-122"/>
                <a:cs typeface="Times New Roman" panose="02020603050405020304" pitchFamily="18" charset="0"/>
              </a:rPr>
              <a:t>0为负偏态分布（也称为左偏态</a:t>
            </a:r>
            <a:r>
              <a:rPr lang="zh-CN" altLang="en-US" sz="2000" b="0">
                <a:ea typeface="等线" panose="02010600030101010101" pitchFamily="2" charset="-122"/>
                <a:cs typeface="Times New Roman" panose="02020603050405020304" pitchFamily="18" charset="0"/>
              </a:rPr>
              <a:t>）</a:t>
            </a:r>
            <a:r>
              <a:rPr lang="zh-CN" sz="2000" b="0">
                <a:solidFill>
                  <a:srgbClr val="333333"/>
                </a:solidFill>
                <a:latin typeface="Arial" panose="020B0604020202020204" pitchFamily="34" charset="0"/>
                <a:ea typeface="等线" panose="02010600030101010101" pitchFamily="2" charset="-122"/>
              </a:rPr>
              <a:t>。</a:t>
            </a:r>
            <a:endParaRPr lang="zh-CN" altLang="en-US" sz="2000"/>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531F5E6A-F0AC-4086-83A6-B5736B18F56F}"/>
                  </a:ext>
                </a:extLst>
              </p:cNvPr>
              <p:cNvSpPr/>
              <p:nvPr/>
            </p:nvSpPr>
            <p:spPr>
              <a:xfrm>
                <a:off x="4271290" y="1698466"/>
                <a:ext cx="2735557" cy="8174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800" i="1">
                          <a:latin typeface="Cambria Math" panose="02040503050406030204" pitchFamily="18" charset="0"/>
                        </a:rPr>
                        <m:t>𝑆𝑘𝑒𝑤</m:t>
                      </m:r>
                      <m:d>
                        <m:dPr>
                          <m:ctrlPr>
                            <a:rPr lang="zh-CN" altLang="en-US" sz="1800" i="1">
                              <a:latin typeface="Cambria Math" panose="02040503050406030204" pitchFamily="18" charset="0"/>
                            </a:rPr>
                          </m:ctrlPr>
                        </m:dPr>
                        <m:e>
                          <m:r>
                            <a:rPr lang="zh-CN" altLang="en-US" sz="1800" i="1">
                              <a:latin typeface="Cambria Math" panose="02040503050406030204" pitchFamily="18" charset="0"/>
                            </a:rPr>
                            <m:t>𝑋</m:t>
                          </m:r>
                        </m:e>
                      </m:d>
                      <m:r>
                        <a:rPr lang="zh-CN" altLang="en-US" sz="1800" i="0">
                          <a:latin typeface="Cambria Math" panose="02040503050406030204" pitchFamily="18" charset="0"/>
                        </a:rPr>
                        <m:t>=</m:t>
                      </m:r>
                      <m:r>
                        <a:rPr lang="zh-CN" altLang="en-US" sz="1800" i="1">
                          <a:latin typeface="Cambria Math" panose="02040503050406030204" pitchFamily="18" charset="0"/>
                        </a:rPr>
                        <m:t>𝐸</m:t>
                      </m:r>
                      <m:d>
                        <m:dPr>
                          <m:begChr m:val="["/>
                          <m:endChr m:val="]"/>
                          <m:ctrlPr>
                            <a:rPr lang="zh-CN" altLang="en-US" sz="1800" i="1">
                              <a:latin typeface="Cambria Math" panose="02040503050406030204" pitchFamily="18" charset="0"/>
                            </a:rPr>
                          </m:ctrlPr>
                        </m:dPr>
                        <m:e>
                          <m:sSup>
                            <m:sSupPr>
                              <m:ctrlPr>
                                <a:rPr lang="zh-CN" altLang="en-US" sz="1800" i="1">
                                  <a:latin typeface="Cambria Math" panose="02040503050406030204" pitchFamily="18" charset="0"/>
                                </a:rPr>
                              </m:ctrlPr>
                            </m:sSupPr>
                            <m:e>
                              <m:d>
                                <m:dPr>
                                  <m:ctrlPr>
                                    <a:rPr lang="zh-CN" altLang="en-US" sz="1800" i="1">
                                      <a:latin typeface="Cambria Math" panose="02040503050406030204" pitchFamily="18" charset="0"/>
                                    </a:rPr>
                                  </m:ctrlPr>
                                </m:dPr>
                                <m:e>
                                  <m:f>
                                    <m:fPr>
                                      <m:ctrlPr>
                                        <a:rPr lang="zh-CN" altLang="en-US" sz="1800" i="1">
                                          <a:latin typeface="Cambria Math" panose="02040503050406030204" pitchFamily="18" charset="0"/>
                                        </a:rPr>
                                      </m:ctrlPr>
                                    </m:fPr>
                                    <m:num>
                                      <m:r>
                                        <a:rPr lang="zh-CN" altLang="en-US" sz="1800" i="1">
                                          <a:latin typeface="Cambria Math" panose="02040503050406030204" pitchFamily="18" charset="0"/>
                                        </a:rPr>
                                        <m:t>𝑋</m:t>
                                      </m:r>
                                      <m:r>
                                        <a:rPr lang="zh-CN" altLang="en-US" sz="1800" i="0">
                                          <a:latin typeface="Cambria Math" panose="02040503050406030204" pitchFamily="18" charset="0"/>
                                        </a:rPr>
                                        <m:t>−</m:t>
                                      </m:r>
                                      <m:r>
                                        <a:rPr lang="zh-CN" altLang="en-US" sz="1800" i="1">
                                          <a:latin typeface="Cambria Math" panose="02040503050406030204" pitchFamily="18" charset="0"/>
                                        </a:rPr>
                                        <m:t>𝜇</m:t>
                                      </m:r>
                                    </m:num>
                                    <m:den>
                                      <m:r>
                                        <a:rPr lang="zh-CN" altLang="en-US" sz="1800" i="1">
                                          <a:latin typeface="Cambria Math" panose="02040503050406030204" pitchFamily="18" charset="0"/>
                                        </a:rPr>
                                        <m:t>𝜎</m:t>
                                      </m:r>
                                    </m:den>
                                  </m:f>
                                </m:e>
                              </m:d>
                            </m:e>
                            <m:sup>
                              <m:r>
                                <a:rPr lang="zh-CN" altLang="en-US" sz="1800" i="0">
                                  <a:latin typeface="Cambria Math" panose="02040503050406030204" pitchFamily="18" charset="0"/>
                                </a:rPr>
                                <m:t>3</m:t>
                              </m:r>
                            </m:sup>
                          </m:sSup>
                        </m:e>
                      </m:d>
                    </m:oMath>
                  </m:oMathPara>
                </a14:m>
                <a:endParaRPr lang="zh-CN" altLang="en-US" sz="1800"/>
              </a:p>
            </p:txBody>
          </p:sp>
        </mc:Choice>
        <mc:Fallback xmlns="">
          <p:sp>
            <p:nvSpPr>
              <p:cNvPr id="2" name="矩形 1">
                <a:extLst>
                  <a:ext uri="{FF2B5EF4-FFF2-40B4-BE49-F238E27FC236}">
                    <a16:creationId xmlns:a16="http://schemas.microsoft.com/office/drawing/2014/main" id="{531F5E6A-F0AC-4086-83A6-B5736B18F56F}"/>
                  </a:ext>
                </a:extLst>
              </p:cNvPr>
              <p:cNvSpPr>
                <a:spLocks noRot="1" noChangeAspect="1" noMove="1" noResize="1" noEditPoints="1" noAdjustHandles="1" noChangeArrowheads="1" noChangeShapeType="1" noTextEdit="1"/>
              </p:cNvSpPr>
              <p:nvPr/>
            </p:nvSpPr>
            <p:spPr>
              <a:xfrm>
                <a:off x="4271290" y="1698466"/>
                <a:ext cx="2735557" cy="817403"/>
              </a:xfrm>
              <a:prstGeom prst="rect">
                <a:avLst/>
              </a:prstGeom>
              <a:blipFill>
                <a:blip r:embed="rId4"/>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953135"/>
          </a:xfrm>
          <a:prstGeom prst="rect">
            <a:avLst/>
          </a:prstGeom>
          <a:noFill/>
        </p:spPr>
        <p:txBody>
          <a:bodyPr wrap="square" rtlCol="0">
            <a:spAutoFit/>
          </a:bodyPr>
          <a:lstStyle/>
          <a:p>
            <a:r>
              <a:rPr 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8.1.3数据的偏态特性度量</a:t>
            </a:r>
          </a:p>
          <a:p>
            <a:endPar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20955" y="866140"/>
            <a:ext cx="8822690" cy="460375"/>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1">
                <a:latin typeface="+mn-ea"/>
              </a:rPr>
              <a:t> </a:t>
            </a:r>
            <a:r>
              <a:rPr lang="en-US" sz="2000">
                <a:ea typeface="等线" panose="02010600030101010101" pitchFamily="2" charset="-122"/>
              </a:rPr>
              <a:t>   </a:t>
            </a:r>
            <a:r>
              <a:rPr lang="en-US" sz="2000" b="1">
                <a:ea typeface="等线" panose="02010600030101010101" pitchFamily="2" charset="-122"/>
              </a:rPr>
              <a:t>   </a:t>
            </a:r>
            <a:r>
              <a:rPr sz="2000" b="1">
                <a:ea typeface="等线" panose="02010600030101010101" pitchFamily="2" charset="-122"/>
              </a:rPr>
              <a:t>2.峰度(Kurtosis)</a:t>
            </a:r>
          </a:p>
        </p:txBody>
      </p:sp>
      <p:graphicFrame>
        <p:nvGraphicFramePr>
          <p:cNvPr id="10" name="表格 9"/>
          <p:cNvGraphicFramePr/>
          <p:nvPr/>
        </p:nvGraphicFramePr>
        <p:xfrm>
          <a:off x="2032000" y="2921000"/>
          <a:ext cx="416560" cy="59436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0">
                <a:tc>
                  <a:txBody>
                    <a:bodyPr/>
                    <a:lstStyle/>
                    <a:p>
                      <a:pPr indent="0">
                        <a:buNone/>
                      </a:pPr>
                      <a:endParaRPr lang="zh-CN" altLang="en-US" b="0"/>
                    </a:p>
                  </a:txBody>
                  <a:tcPr>
                    <a:lnL>
                      <a:noFill/>
                    </a:lnL>
                    <a:lnR>
                      <a:noFill/>
                    </a:lnR>
                    <a:lnT cap="flat">
                      <a:noFill/>
                    </a:lnT>
                    <a:lnB cap="flat">
                      <a:noFill/>
                    </a:lnB>
                    <a:lnTlToBr>
                      <a:noFill/>
                    </a:lnTlToBr>
                    <a:lnBlToTr>
                      <a:noFill/>
                    </a:lnBlToTr>
                    <a:noFill/>
                  </a:tcPr>
                </a:tc>
                <a:tc>
                  <a:txBody>
                    <a:bodyPr/>
                    <a:lstStyle/>
                    <a:p>
                      <a:pPr>
                        <a:buNone/>
                      </a:pPr>
                      <a:endParaRPr lang="zh-CN" altLang="en-US"/>
                    </a:p>
                  </a:txBody>
                  <a:tcPr>
                    <a:lnL>
                      <a:noFill/>
                    </a:lnL>
                    <a:lnR>
                      <a:noFill/>
                    </a:lnR>
                    <a:lnT>
                      <a:noFill/>
                    </a:lnT>
                    <a:lnB cap="flat">
                      <a:noFill/>
                    </a:lnB>
                    <a:lnTlToBr>
                      <a:noFill/>
                    </a:lnTlToBr>
                    <a:lnBlToTr>
                      <a:noFill/>
                    </a:lnBlToTr>
                    <a:solidFill>
                      <a:srgbClr val="FFFFFF"/>
                    </a:solidFill>
                  </a:tcPr>
                </a:tc>
                <a:extLst>
                  <a:ext uri="{0D108BD9-81ED-4DB2-BD59-A6C34878D82A}">
                    <a16:rowId xmlns:a16="http://schemas.microsoft.com/office/drawing/2014/main" val="10000"/>
                  </a:ext>
                </a:extLst>
              </a:tr>
              <a:tr h="0">
                <a:tc>
                  <a:txBody>
                    <a:bodyPr/>
                    <a:lstStyle/>
                    <a:p>
                      <a:pPr indent="0">
                        <a:buNone/>
                      </a:pPr>
                      <a:endParaRPr lang="zh-CN" altLang="en-US"/>
                    </a:p>
                  </a:txBody>
                  <a:tcPr>
                    <a:lnL>
                      <a:noFill/>
                    </a:lnL>
                    <a:lnR>
                      <a:noFill/>
                    </a:lnR>
                    <a:lnT cap="flat">
                      <a:noFill/>
                    </a:lnT>
                    <a:lnB cap="flat">
                      <a:noFill/>
                    </a:lnB>
                    <a:lnTlToBr>
                      <a:noFill/>
                    </a:lnTlToBr>
                    <a:lnBlToTr>
                      <a:noFill/>
                    </a:lnBlToTr>
                    <a:noFill/>
                  </a:tcPr>
                </a:tc>
                <a:tc>
                  <a:txBody>
                    <a:bodyPr/>
                    <a:lstStyle/>
                    <a:p>
                      <a:pPr indent="0">
                        <a:buNone/>
                      </a:pPr>
                      <a:endParaRPr lang="zh-CN" altLang="en-US"/>
                    </a:p>
                  </a:txBody>
                  <a:tcPr>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文本框 2"/>
          <p:cNvSpPr txBox="1"/>
          <p:nvPr/>
        </p:nvSpPr>
        <p:spPr>
          <a:xfrm>
            <a:off x="342265" y="1326515"/>
            <a:ext cx="8458835" cy="16916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a:latin typeface="等线" panose="02010600030101010101" pitchFamily="2" charset="-122"/>
                <a:ea typeface="等线" panose="02010600030101010101" pitchFamily="2" charset="-122"/>
                <a:cs typeface="等线" panose="02010600030101010101" pitchFamily="2" charset="-122"/>
                <a:sym typeface="+mn-ea"/>
              </a:rPr>
              <a:t> </a:t>
            </a:r>
            <a:r>
              <a:rPr lang="zh-CN" sz="2000">
                <a:latin typeface="等线" panose="02010600030101010101" pitchFamily="2" charset="-122"/>
                <a:ea typeface="等线" panose="02010600030101010101" pitchFamily="2" charset="-122"/>
                <a:cs typeface="等线" panose="02010600030101010101" pitchFamily="2" charset="-122"/>
                <a:sym typeface="+mn-ea"/>
              </a:rPr>
              <a:t>峰度系数是用来反映频数分布曲线顶端尖峭或扁平程度的指标。通过对峰度系数的测量，我们能够判定数据分布相对于正态分布而言是更陡峭还是平缓。</a:t>
            </a:r>
          </a:p>
          <a:p>
            <a:pPr indent="266700">
              <a:lnSpc>
                <a:spcPct val="130000"/>
              </a:lnSpc>
              <a:spcBef>
                <a:spcPts val="0"/>
              </a:spcBef>
              <a:spcAft>
                <a:spcPts val="0"/>
              </a:spcAft>
            </a:pPr>
            <a:r>
              <a:rPr lang="en-US" altLang="zh-CN" sz="2000">
                <a:latin typeface="等线" panose="02010600030101010101" pitchFamily="2" charset="-122"/>
                <a:ea typeface="等线" panose="02010600030101010101" pitchFamily="2" charset="-122"/>
                <a:cs typeface="等线" panose="02010600030101010101" pitchFamily="2" charset="-122"/>
                <a:sym typeface="+mn-ea"/>
              </a:rPr>
              <a:t> </a:t>
            </a:r>
            <a:r>
              <a:rPr lang="zh-CN" sz="2000">
                <a:latin typeface="等线" panose="02010600030101010101" pitchFamily="2" charset="-122"/>
                <a:ea typeface="等线" panose="02010600030101010101" pitchFamily="2" charset="-122"/>
                <a:cs typeface="等线" panose="02010600030101010101" pitchFamily="2" charset="-122"/>
                <a:sym typeface="+mn-ea"/>
              </a:rPr>
              <a:t>峰度被定义为四阶标准中心矩：</a:t>
            </a:r>
          </a:p>
        </p:txBody>
      </p:sp>
      <p:sp>
        <p:nvSpPr>
          <p:cNvPr id="4" name="文本框 3"/>
          <p:cNvSpPr txBox="1"/>
          <p:nvPr/>
        </p:nvSpPr>
        <p:spPr>
          <a:xfrm>
            <a:off x="395605" y="3622040"/>
            <a:ext cx="6646545" cy="398780"/>
          </a:xfrm>
          <a:prstGeom prst="rect">
            <a:avLst/>
          </a:prstGeom>
          <a:noFill/>
        </p:spPr>
        <p:txBody>
          <a:bodyPr wrap="square" rtlCol="0" anchor="t">
            <a:spAutoFit/>
          </a:bodyPr>
          <a:lstStyle/>
          <a:p>
            <a:pPr indent="266700"/>
            <a:r>
              <a:rPr lang="zh-CN" sz="2000">
                <a:latin typeface="等线" panose="02010600030101010101" pitchFamily="2" charset="-122"/>
                <a:ea typeface="等线" panose="02010600030101010101" pitchFamily="2" charset="-122"/>
                <a:cs typeface="等线" panose="02010600030101010101" pitchFamily="2" charset="-122"/>
                <a:sym typeface="+mn-ea"/>
              </a:rPr>
              <a:t>公式中的“-3”是为了让正态分布数据的峰度为0。</a:t>
            </a:r>
            <a:endParaRPr lang="zh-CN" altLang="en-US" sz="2000"/>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8506A278-896F-4AC4-AE69-E795A7D0C4D2}"/>
                  </a:ext>
                </a:extLst>
              </p:cNvPr>
              <p:cNvSpPr/>
              <p:nvPr/>
            </p:nvSpPr>
            <p:spPr>
              <a:xfrm>
                <a:off x="4367521" y="2489468"/>
                <a:ext cx="2815579" cy="7358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𝑆𝑘𝑒𝑤</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𝑋</m:t>
                          </m:r>
                        </m:e>
                      </m:d>
                      <m:r>
                        <a:rPr lang="zh-CN" altLang="en-US" sz="1600" i="0">
                          <a:latin typeface="Cambria Math" panose="02040503050406030204" pitchFamily="18" charset="0"/>
                        </a:rPr>
                        <m:t>=</m:t>
                      </m:r>
                      <m:r>
                        <a:rPr lang="zh-CN" altLang="en-US" sz="1600" i="1">
                          <a:latin typeface="Cambria Math" panose="02040503050406030204" pitchFamily="18" charset="0"/>
                        </a:rPr>
                        <m:t>𝐸</m:t>
                      </m:r>
                      <m:d>
                        <m:dPr>
                          <m:begChr m:val="["/>
                          <m:endChr m:val="]"/>
                          <m:ctrlPr>
                            <a:rPr lang="zh-CN" altLang="en-US" sz="1600" i="1">
                              <a:latin typeface="Cambria Math" panose="02040503050406030204" pitchFamily="18" charset="0"/>
                            </a:rPr>
                          </m:ctrlPr>
                        </m:dPr>
                        <m:e>
                          <m:sSup>
                            <m:sSupPr>
                              <m:ctrlPr>
                                <a:rPr lang="zh-CN" altLang="en-US" sz="1600" i="1">
                                  <a:latin typeface="Cambria Math" panose="02040503050406030204" pitchFamily="18" charset="0"/>
                                </a:rPr>
                              </m:ctrlPr>
                            </m:sSupPr>
                            <m:e>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𝑋</m:t>
                                      </m:r>
                                      <m:r>
                                        <a:rPr lang="zh-CN" altLang="en-US" sz="1600" i="0">
                                          <a:latin typeface="Cambria Math" panose="02040503050406030204" pitchFamily="18" charset="0"/>
                                        </a:rPr>
                                        <m:t>−</m:t>
                                      </m:r>
                                      <m:r>
                                        <a:rPr lang="zh-CN" altLang="en-US" sz="1600" i="1">
                                          <a:latin typeface="Cambria Math" panose="02040503050406030204" pitchFamily="18" charset="0"/>
                                        </a:rPr>
                                        <m:t>𝜇</m:t>
                                      </m:r>
                                    </m:num>
                                    <m:den>
                                      <m:r>
                                        <a:rPr lang="zh-CN" altLang="en-US" sz="1600" i="1">
                                          <a:latin typeface="Cambria Math" panose="02040503050406030204" pitchFamily="18" charset="0"/>
                                        </a:rPr>
                                        <m:t>𝜎</m:t>
                                      </m:r>
                                    </m:den>
                                  </m:f>
                                </m:e>
                              </m:d>
                            </m:e>
                            <m:sup>
                              <m:r>
                                <a:rPr lang="zh-CN" altLang="en-US" sz="1600" i="0">
                                  <a:latin typeface="Cambria Math" panose="02040503050406030204" pitchFamily="18" charset="0"/>
                                </a:rPr>
                                <m:t>4</m:t>
                              </m:r>
                            </m:sup>
                          </m:sSup>
                        </m:e>
                      </m:d>
                      <m:r>
                        <a:rPr lang="zh-CN" altLang="en-US" sz="1600" i="0">
                          <a:latin typeface="Cambria Math" panose="02040503050406030204" pitchFamily="18" charset="0"/>
                        </a:rPr>
                        <m:t>−3</m:t>
                      </m:r>
                    </m:oMath>
                  </m:oMathPara>
                </a14:m>
                <a:endParaRPr lang="zh-CN" altLang="en-US" sz="1600"/>
              </a:p>
            </p:txBody>
          </p:sp>
        </mc:Choice>
        <mc:Fallback xmlns="">
          <p:sp>
            <p:nvSpPr>
              <p:cNvPr id="6" name="矩形 5">
                <a:extLst>
                  <a:ext uri="{FF2B5EF4-FFF2-40B4-BE49-F238E27FC236}">
                    <a16:creationId xmlns:a16="http://schemas.microsoft.com/office/drawing/2014/main" id="{8506A278-896F-4AC4-AE69-E795A7D0C4D2}"/>
                  </a:ext>
                </a:extLst>
              </p:cNvPr>
              <p:cNvSpPr>
                <a:spLocks noRot="1" noChangeAspect="1" noMove="1" noResize="1" noEditPoints="1" noAdjustHandles="1" noChangeArrowheads="1" noChangeShapeType="1" noTextEdit="1"/>
              </p:cNvSpPr>
              <p:nvPr/>
            </p:nvSpPr>
            <p:spPr>
              <a:xfrm>
                <a:off x="4367521" y="2489468"/>
                <a:ext cx="2815579" cy="735842"/>
              </a:xfrm>
              <a:prstGeom prst="rect">
                <a:avLst/>
              </a:prstGeom>
              <a:blipFill>
                <a:blip r:embed="rId3"/>
                <a:stretch>
                  <a:fillRect/>
                </a:stretch>
              </a:blipFill>
            </p:spPr>
            <p:txBody>
              <a:bodyPr/>
              <a:lstStyle/>
              <a:p>
                <a:r>
                  <a:rPr lang="zh-CN" altLang="en-US">
                    <a:noFill/>
                  </a:rPr>
                  <a:t> </a:t>
                </a:r>
              </a:p>
            </p:txBody>
          </p:sp>
        </mc:Fallback>
      </mc:AlternateContent>
      <p:pic>
        <p:nvPicPr>
          <p:cNvPr id="11" name="图片 193540">
            <a:extLst>
              <a:ext uri="{FF2B5EF4-FFF2-40B4-BE49-F238E27FC236}">
                <a16:creationId xmlns:a16="http://schemas.microsoft.com/office/drawing/2014/main" id="{0D17C1B5-5EDC-4740-B6C5-91CD1161D8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6127115" y="3124518"/>
            <a:ext cx="2390140" cy="1416685"/>
          </a:xfrm>
          <a:prstGeom prst="rect">
            <a:avLst/>
          </a:prstGeom>
          <a:noFill/>
          <a:ln>
            <a:noFill/>
          </a:ln>
        </p:spPr>
      </p:pic>
      <p:sp>
        <p:nvSpPr>
          <p:cNvPr id="12" name="文本框 11">
            <a:extLst>
              <a:ext uri="{FF2B5EF4-FFF2-40B4-BE49-F238E27FC236}">
                <a16:creationId xmlns:a16="http://schemas.microsoft.com/office/drawing/2014/main" id="{0822ACFC-F482-42B7-ADCF-AB1CF14FD178}"/>
              </a:ext>
            </a:extLst>
          </p:cNvPr>
          <p:cNvSpPr txBox="1"/>
          <p:nvPr/>
        </p:nvSpPr>
        <p:spPr>
          <a:xfrm>
            <a:off x="6556768" y="4586605"/>
            <a:ext cx="2244332" cy="245110"/>
          </a:xfrm>
          <a:prstGeom prst="rect">
            <a:avLst/>
          </a:prstGeom>
          <a:noFill/>
          <a:ln w="9525">
            <a:noFill/>
          </a:ln>
        </p:spPr>
        <p:txBody>
          <a:bodyPr wrap="square">
            <a:spAutoFit/>
          </a:bodyPr>
          <a:lstStyle/>
          <a:p>
            <a:pPr indent="0" algn="ctr"/>
            <a:r>
              <a:rPr lang="en-US" sz="900" b="0">
                <a:latin typeface="Cambria Math" panose="02040503050406030204" charset="0"/>
                <a:ea typeface="等线" panose="02010600030101010101" pitchFamily="2" charset="-122"/>
                <a:cs typeface="Times New Roman" panose="02020603050405020304" pitchFamily="18" charset="0"/>
              </a:rPr>
              <a:t> </a:t>
            </a:r>
            <a:r>
              <a:rPr lang="zh-CN" sz="1000" b="0">
                <a:latin typeface="Cambria Math" panose="02040503050406030204" charset="0"/>
                <a:ea typeface="等线" panose="02010600030101010101" pitchFamily="2" charset="-122"/>
              </a:rPr>
              <a:t>峰度和曲线形状示意图</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953135"/>
          </a:xfrm>
          <a:prstGeom prst="rect">
            <a:avLst/>
          </a:prstGeom>
          <a:noFill/>
        </p:spPr>
        <p:txBody>
          <a:bodyPr wrap="square" rtlCol="0">
            <a:spAutoFit/>
          </a:bodyPr>
          <a:lstStyle/>
          <a:p>
            <a:r>
              <a:rPr 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8.1.3数据的偏态特性度量</a:t>
            </a:r>
          </a:p>
          <a:p>
            <a:endPar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graphicFrame>
        <p:nvGraphicFramePr>
          <p:cNvPr id="10" name="表格 9"/>
          <p:cNvGraphicFramePr/>
          <p:nvPr/>
        </p:nvGraphicFramePr>
        <p:xfrm>
          <a:off x="2032000" y="2921000"/>
          <a:ext cx="416560" cy="59436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0">
                <a:tc>
                  <a:txBody>
                    <a:bodyPr/>
                    <a:lstStyle/>
                    <a:p>
                      <a:pPr indent="0">
                        <a:buNone/>
                      </a:pPr>
                      <a:endParaRPr lang="zh-CN" altLang="en-US" b="0"/>
                    </a:p>
                  </a:txBody>
                  <a:tcPr>
                    <a:lnL>
                      <a:noFill/>
                    </a:lnL>
                    <a:lnR>
                      <a:noFill/>
                    </a:lnR>
                    <a:lnT cap="flat">
                      <a:noFill/>
                    </a:lnT>
                    <a:lnB cap="flat">
                      <a:noFill/>
                    </a:lnB>
                    <a:lnTlToBr>
                      <a:noFill/>
                    </a:lnTlToBr>
                    <a:lnBlToTr>
                      <a:noFill/>
                    </a:lnBlToTr>
                    <a:noFill/>
                  </a:tcPr>
                </a:tc>
                <a:tc>
                  <a:txBody>
                    <a:bodyPr/>
                    <a:lstStyle/>
                    <a:p>
                      <a:pPr>
                        <a:buNone/>
                      </a:pPr>
                      <a:endParaRPr lang="zh-CN" altLang="en-US"/>
                    </a:p>
                  </a:txBody>
                  <a:tcPr>
                    <a:lnL>
                      <a:noFill/>
                    </a:lnL>
                    <a:lnR>
                      <a:noFill/>
                    </a:lnR>
                    <a:lnT>
                      <a:noFill/>
                    </a:lnT>
                    <a:lnB cap="flat">
                      <a:noFill/>
                    </a:lnB>
                    <a:lnTlToBr>
                      <a:noFill/>
                    </a:lnTlToBr>
                    <a:lnBlToTr>
                      <a:noFill/>
                    </a:lnBlToTr>
                    <a:solidFill>
                      <a:srgbClr val="FFFFFF"/>
                    </a:solidFill>
                  </a:tcPr>
                </a:tc>
                <a:extLst>
                  <a:ext uri="{0D108BD9-81ED-4DB2-BD59-A6C34878D82A}">
                    <a16:rowId xmlns:a16="http://schemas.microsoft.com/office/drawing/2014/main" val="10000"/>
                  </a:ext>
                </a:extLst>
              </a:tr>
              <a:tr h="0">
                <a:tc>
                  <a:txBody>
                    <a:bodyPr/>
                    <a:lstStyle/>
                    <a:p>
                      <a:pPr indent="0">
                        <a:buNone/>
                      </a:pPr>
                      <a:endParaRPr lang="zh-CN" altLang="en-US"/>
                    </a:p>
                  </a:txBody>
                  <a:tcPr>
                    <a:lnL>
                      <a:noFill/>
                    </a:lnL>
                    <a:lnR>
                      <a:noFill/>
                    </a:lnR>
                    <a:lnT cap="flat">
                      <a:noFill/>
                    </a:lnT>
                    <a:lnB cap="flat">
                      <a:noFill/>
                    </a:lnB>
                    <a:lnTlToBr>
                      <a:noFill/>
                    </a:lnTlToBr>
                    <a:lnBlToTr>
                      <a:noFill/>
                    </a:lnBlToTr>
                    <a:noFill/>
                  </a:tcPr>
                </a:tc>
                <a:tc>
                  <a:txBody>
                    <a:bodyPr/>
                    <a:lstStyle/>
                    <a:p>
                      <a:pPr indent="0">
                        <a:buNone/>
                      </a:pPr>
                      <a:endParaRPr lang="zh-CN" altLang="en-US"/>
                    </a:p>
                  </a:txBody>
                  <a:tcPr>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文本框 2"/>
          <p:cNvSpPr txBox="1"/>
          <p:nvPr/>
        </p:nvSpPr>
        <p:spPr>
          <a:xfrm>
            <a:off x="132715" y="829310"/>
            <a:ext cx="8458835" cy="2091690"/>
          </a:xfrm>
          <a:prstGeom prst="rect">
            <a:avLst/>
          </a:prstGeom>
          <a:noFill/>
          <a:ln w="9525">
            <a:noFill/>
          </a:ln>
        </p:spPr>
        <p:txBody>
          <a:bodyPr wrap="square">
            <a:spAutoFit/>
          </a:bodyPr>
          <a:lstStyle/>
          <a:p>
            <a:pPr indent="266700">
              <a:lnSpc>
                <a:spcPct val="130000"/>
              </a:lnSpc>
              <a:spcBef>
                <a:spcPts val="0"/>
              </a:spcBef>
              <a:spcAft>
                <a:spcPts val="0"/>
              </a:spcAft>
            </a:pPr>
            <a:r>
              <a:rPr sz="2000">
                <a:latin typeface="等线" panose="02010600030101010101" pitchFamily="2" charset="-122"/>
                <a:ea typeface="等线" panose="02010600030101010101" pitchFamily="2" charset="-122"/>
                <a:cs typeface="等线" panose="02010600030101010101" pitchFamily="2" charset="-122"/>
                <a:sym typeface="+mn-ea"/>
              </a:rPr>
              <a:t>【例】用Excel软件对数据进行“描述统计”</a:t>
            </a:r>
          </a:p>
          <a:p>
            <a:pPr indent="266700">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sym typeface="+mn-ea"/>
              </a:rPr>
              <a:t>  </a:t>
            </a:r>
            <a:r>
              <a:rPr sz="2000">
                <a:latin typeface="等线" panose="02010600030101010101" pitchFamily="2" charset="-122"/>
                <a:ea typeface="等线" panose="02010600030101010101" pitchFamily="2" charset="-122"/>
                <a:cs typeface="等线" panose="02010600030101010101" pitchFamily="2" charset="-122"/>
                <a:sym typeface="+mn-ea"/>
              </a:rPr>
              <a:t>使用Excel软件可以对很方便地对数据进行描述性统计，在使用该功能前，需要加载“分析工具库“加载项，然后在”数据“菜单的”数据分析“工具中选择”描述统计“功能即可完成。Excel中进行统计性描述分析的界面如</a:t>
            </a:r>
            <a:r>
              <a:rPr lang="zh-CN" sz="2000">
                <a:latin typeface="等线" panose="02010600030101010101" pitchFamily="2" charset="-122"/>
                <a:ea typeface="等线" panose="02010600030101010101" pitchFamily="2" charset="-122"/>
                <a:cs typeface="等线" panose="02010600030101010101" pitchFamily="2" charset="-122"/>
                <a:sym typeface="+mn-ea"/>
              </a:rPr>
              <a:t>下</a:t>
            </a:r>
            <a:r>
              <a:rPr sz="2000">
                <a:latin typeface="等线" panose="02010600030101010101" pitchFamily="2" charset="-122"/>
                <a:ea typeface="等线" panose="02010600030101010101" pitchFamily="2" charset="-122"/>
                <a:cs typeface="等线" panose="02010600030101010101" pitchFamily="2" charset="-122"/>
                <a:sym typeface="+mn-ea"/>
              </a:rPr>
              <a:t>图所示。</a:t>
            </a:r>
          </a:p>
        </p:txBody>
      </p:sp>
      <p:pic>
        <p:nvPicPr>
          <p:cNvPr id="6" name="图片 5"/>
          <p:cNvPicPr>
            <a:picLocks noChangeAspect="1"/>
          </p:cNvPicPr>
          <p:nvPr/>
        </p:nvPicPr>
        <p:blipFill>
          <a:blip r:embed="rId3"/>
          <a:stretch>
            <a:fillRect/>
          </a:stretch>
        </p:blipFill>
        <p:spPr>
          <a:xfrm>
            <a:off x="1674551" y="2499042"/>
            <a:ext cx="4655130" cy="2322513"/>
          </a:xfrm>
          <a:prstGeom prst="rect">
            <a:avLst/>
          </a:prstGeom>
          <a:ln>
            <a:solidFill>
              <a:srgbClr val="274991"/>
            </a:solidFill>
          </a:ln>
        </p:spPr>
      </p:pic>
      <p:sp>
        <p:nvSpPr>
          <p:cNvPr id="111" name="文本框 110"/>
          <p:cNvSpPr txBox="1"/>
          <p:nvPr/>
        </p:nvSpPr>
        <p:spPr>
          <a:xfrm>
            <a:off x="2324227" y="4821872"/>
            <a:ext cx="3327316" cy="261610"/>
          </a:xfrm>
          <a:prstGeom prst="rect">
            <a:avLst/>
          </a:prstGeom>
          <a:noFill/>
          <a:ln w="9525">
            <a:noFill/>
          </a:ln>
        </p:spPr>
        <p:txBody>
          <a:bodyPr wrap="square">
            <a:spAutoFit/>
          </a:bodyPr>
          <a:lstStyle/>
          <a:p>
            <a:pPr indent="0" algn="ctr"/>
            <a:r>
              <a:rPr lang="en-US" sz="1100" b="0">
                <a:latin typeface="Cambria Math" panose="02040503050406030204" charset="0"/>
                <a:ea typeface="等线" panose="02010600030101010101" pitchFamily="2" charset="-122"/>
              </a:rPr>
              <a:t>E</a:t>
            </a:r>
            <a:r>
              <a:rPr lang="en-US" sz="1100" b="0">
                <a:latin typeface="Cambria Math" panose="02040503050406030204" charset="0"/>
                <a:ea typeface="等线" panose="02010600030101010101" pitchFamily="2" charset="-122"/>
                <a:cs typeface="Times New Roman" panose="02020603050405020304" pitchFamily="18" charset="0"/>
              </a:rPr>
              <a:t>xcel</a:t>
            </a:r>
            <a:r>
              <a:rPr lang="zh-CN" sz="1100" b="0">
                <a:latin typeface="Cambria Math" panose="02040503050406030204" charset="0"/>
                <a:ea typeface="等线" panose="02010600030101010101" pitchFamily="2" charset="-122"/>
              </a:rPr>
              <a:t>的数据描述性统计示意图</a:t>
            </a:r>
            <a:endParaRPr lang="zh-CN" altLang="en-US" sz="1100"/>
          </a:p>
        </p:txBody>
      </p:sp>
      <p:pic>
        <p:nvPicPr>
          <p:cNvPr id="7" name="图片 6">
            <a:extLst>
              <a:ext uri="{FF2B5EF4-FFF2-40B4-BE49-F238E27FC236}">
                <a16:creationId xmlns:a16="http://schemas.microsoft.com/office/drawing/2014/main" id="{79E61984-A032-4A6B-BDB9-7041CE35AA8A}"/>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5156115" y="3183580"/>
            <a:ext cx="1051723" cy="1529006"/>
          </a:xfrm>
          <a:prstGeom prst="rect">
            <a:avLst/>
          </a:prstGeom>
        </p:spPr>
      </p:pic>
      <p:sp>
        <p:nvSpPr>
          <p:cNvPr id="8" name="椭圆 7">
            <a:extLst>
              <a:ext uri="{FF2B5EF4-FFF2-40B4-BE49-F238E27FC236}">
                <a16:creationId xmlns:a16="http://schemas.microsoft.com/office/drawing/2014/main" id="{A401DF6B-F8DD-4246-9523-59F00E384FBF}"/>
              </a:ext>
            </a:extLst>
          </p:cNvPr>
          <p:cNvSpPr/>
          <p:nvPr/>
        </p:nvSpPr>
        <p:spPr>
          <a:xfrm>
            <a:off x="6058930" y="2537804"/>
            <a:ext cx="297815" cy="130175"/>
          </a:xfrm>
          <a:prstGeom prst="ellipse">
            <a:avLst/>
          </a:prstGeom>
          <a:noFill/>
          <a:ln>
            <a:solidFill>
              <a:srgbClr val="FF0000"/>
            </a:solidFill>
          </a:ln>
        </p:spPr>
        <p:style>
          <a:lnRef idx="2">
            <a:schemeClr val="accent4"/>
          </a:lnRef>
          <a:fillRef idx="1">
            <a:schemeClr val="lt1"/>
          </a:fillRef>
          <a:effectRef idx="0">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8.1.4</a:t>
            </a:r>
            <a:r>
              <a:rPr lang="en-US" altLang="zh-CN"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数据相关性计算</a:t>
            </a:r>
          </a:p>
        </p:txBody>
      </p:sp>
      <p:graphicFrame>
        <p:nvGraphicFramePr>
          <p:cNvPr id="10" name="表格 9"/>
          <p:cNvGraphicFramePr/>
          <p:nvPr>
            <p:custDataLst>
              <p:tags r:id="rId1"/>
            </p:custDataLst>
          </p:nvPr>
        </p:nvGraphicFramePr>
        <p:xfrm>
          <a:off x="2032000" y="2921000"/>
          <a:ext cx="416560" cy="59436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0">
                <a:tc>
                  <a:txBody>
                    <a:bodyPr/>
                    <a:lstStyle/>
                    <a:p>
                      <a:pPr indent="0">
                        <a:buNone/>
                      </a:pPr>
                      <a:endParaRPr lang="zh-CN" altLang="en-US" b="0"/>
                    </a:p>
                  </a:txBody>
                  <a:tcPr>
                    <a:lnL>
                      <a:noFill/>
                    </a:lnL>
                    <a:lnR>
                      <a:noFill/>
                    </a:lnR>
                    <a:lnT cap="flat">
                      <a:noFill/>
                    </a:lnT>
                    <a:lnB cap="flat">
                      <a:noFill/>
                    </a:lnB>
                    <a:lnTlToBr>
                      <a:noFill/>
                    </a:lnTlToBr>
                    <a:lnBlToTr>
                      <a:noFill/>
                    </a:lnBlToTr>
                    <a:noFill/>
                  </a:tcPr>
                </a:tc>
                <a:tc>
                  <a:txBody>
                    <a:bodyPr/>
                    <a:lstStyle/>
                    <a:p>
                      <a:pPr>
                        <a:buNone/>
                      </a:pPr>
                      <a:endParaRPr lang="zh-CN" altLang="en-US"/>
                    </a:p>
                  </a:txBody>
                  <a:tcPr>
                    <a:lnL>
                      <a:noFill/>
                    </a:lnL>
                    <a:lnR>
                      <a:noFill/>
                    </a:lnR>
                    <a:lnT>
                      <a:noFill/>
                    </a:lnT>
                    <a:lnB cap="flat">
                      <a:noFill/>
                    </a:lnB>
                    <a:lnTlToBr>
                      <a:noFill/>
                    </a:lnTlToBr>
                    <a:lnBlToTr>
                      <a:noFill/>
                    </a:lnBlToTr>
                    <a:solidFill>
                      <a:srgbClr val="FFFFFF"/>
                    </a:solidFill>
                  </a:tcPr>
                </a:tc>
                <a:extLst>
                  <a:ext uri="{0D108BD9-81ED-4DB2-BD59-A6C34878D82A}">
                    <a16:rowId xmlns:a16="http://schemas.microsoft.com/office/drawing/2014/main" val="10000"/>
                  </a:ext>
                </a:extLst>
              </a:tr>
              <a:tr h="0">
                <a:tc>
                  <a:txBody>
                    <a:bodyPr/>
                    <a:lstStyle/>
                    <a:p>
                      <a:pPr indent="0">
                        <a:buNone/>
                      </a:pPr>
                      <a:endParaRPr lang="zh-CN" altLang="en-US"/>
                    </a:p>
                  </a:txBody>
                  <a:tcPr>
                    <a:lnL>
                      <a:noFill/>
                    </a:lnL>
                    <a:lnR>
                      <a:noFill/>
                    </a:lnR>
                    <a:lnT cap="flat">
                      <a:noFill/>
                    </a:lnT>
                    <a:lnB cap="flat">
                      <a:noFill/>
                    </a:lnB>
                    <a:lnTlToBr>
                      <a:noFill/>
                    </a:lnTlToBr>
                    <a:lnBlToTr>
                      <a:noFill/>
                    </a:lnBlToTr>
                    <a:noFill/>
                  </a:tcPr>
                </a:tc>
                <a:tc>
                  <a:txBody>
                    <a:bodyPr/>
                    <a:lstStyle/>
                    <a:p>
                      <a:pPr indent="0">
                        <a:buNone/>
                      </a:pPr>
                      <a:endParaRPr lang="zh-CN" altLang="en-US"/>
                    </a:p>
                  </a:txBody>
                  <a:tcPr>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文本框 2"/>
          <p:cNvSpPr txBox="1"/>
          <p:nvPr/>
        </p:nvSpPr>
        <p:spPr>
          <a:xfrm>
            <a:off x="406400" y="975360"/>
            <a:ext cx="8522970" cy="20916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a:latin typeface="等线" panose="02010600030101010101" pitchFamily="2" charset="-122"/>
                <a:ea typeface="等线" panose="02010600030101010101" pitchFamily="2" charset="-122"/>
                <a:cs typeface="等线" panose="02010600030101010101" pitchFamily="2" charset="-122"/>
                <a:sym typeface="+mn-ea"/>
              </a:rPr>
              <a:t>   </a:t>
            </a:r>
            <a:r>
              <a:rPr lang="zh-CN" sz="2000">
                <a:latin typeface="等线" panose="02010600030101010101" pitchFamily="2" charset="-122"/>
                <a:ea typeface="等线" panose="02010600030101010101" pitchFamily="2" charset="-122"/>
                <a:cs typeface="等线" panose="02010600030101010101" pitchFamily="2" charset="-122"/>
                <a:sym typeface="+mn-ea"/>
              </a:rPr>
              <a:t>大多数据包含了多个维度，想要分析两个多维度数据之间的关系，可以用协方差和Pearson相关系数等方法。</a:t>
            </a:r>
          </a:p>
          <a:p>
            <a:pPr indent="266700">
              <a:lnSpc>
                <a:spcPct val="130000"/>
              </a:lnSpc>
              <a:spcBef>
                <a:spcPts val="0"/>
              </a:spcBef>
              <a:spcAft>
                <a:spcPts val="0"/>
              </a:spcAft>
            </a:pPr>
            <a:r>
              <a:rPr lang="en-US" altLang="zh-CN" sz="2000">
                <a:latin typeface="等线" panose="02010600030101010101" pitchFamily="2" charset="-122"/>
                <a:ea typeface="等线" panose="02010600030101010101" pitchFamily="2" charset="-122"/>
                <a:cs typeface="等线" panose="02010600030101010101" pitchFamily="2" charset="-122"/>
                <a:sym typeface="+mn-ea"/>
              </a:rPr>
              <a:t>   </a:t>
            </a:r>
            <a:r>
              <a:rPr lang="zh-CN" sz="2000">
                <a:latin typeface="等线" panose="02010600030101010101" pitchFamily="2" charset="-122"/>
                <a:ea typeface="等线" panose="02010600030101010101" pitchFamily="2" charset="-122"/>
                <a:cs typeface="等线" panose="02010600030101010101" pitchFamily="2" charset="-122"/>
                <a:sym typeface="+mn-ea"/>
              </a:rPr>
              <a:t>例如，下表是一个班级某门课程的笔试成绩和实验成绩，想要分析两个成绩之间是否有相关性（是否笔记成绩较好的学生，实验成绩也相对较好）。</a:t>
            </a:r>
          </a:p>
        </p:txBody>
      </p:sp>
      <p:graphicFrame>
        <p:nvGraphicFramePr>
          <p:cNvPr id="4" name="表格 3"/>
          <p:cNvGraphicFramePr/>
          <p:nvPr>
            <p:custDataLst>
              <p:tags r:id="rId2"/>
            </p:custDataLst>
            <p:extLst>
              <p:ext uri="{D42A27DB-BD31-4B8C-83A1-F6EECF244321}">
                <p14:modId xmlns:p14="http://schemas.microsoft.com/office/powerpoint/2010/main" val="1927985879"/>
              </p:ext>
            </p:extLst>
          </p:nvPr>
        </p:nvGraphicFramePr>
        <p:xfrm>
          <a:off x="1920547" y="3558175"/>
          <a:ext cx="5223394" cy="509270"/>
        </p:xfrm>
        <a:graphic>
          <a:graphicData uri="http://schemas.openxmlformats.org/drawingml/2006/table">
            <a:tbl>
              <a:tblPr firstRow="1" bandRow="1">
                <a:tableStyleId>{5940675A-B579-460E-94D1-54222C63F5DA}</a:tableStyleId>
              </a:tblPr>
              <a:tblGrid>
                <a:gridCol w="782898">
                  <a:extLst>
                    <a:ext uri="{9D8B030D-6E8A-4147-A177-3AD203B41FA5}">
                      <a16:colId xmlns:a16="http://schemas.microsoft.com/office/drawing/2014/main" val="20000"/>
                    </a:ext>
                  </a:extLst>
                </a:gridCol>
                <a:gridCol w="336401">
                  <a:extLst>
                    <a:ext uri="{9D8B030D-6E8A-4147-A177-3AD203B41FA5}">
                      <a16:colId xmlns:a16="http://schemas.microsoft.com/office/drawing/2014/main" val="20001"/>
                    </a:ext>
                  </a:extLst>
                </a:gridCol>
                <a:gridCol w="348634">
                  <a:extLst>
                    <a:ext uri="{9D8B030D-6E8A-4147-A177-3AD203B41FA5}">
                      <a16:colId xmlns:a16="http://schemas.microsoft.com/office/drawing/2014/main" val="20002"/>
                    </a:ext>
                  </a:extLst>
                </a:gridCol>
                <a:gridCol w="351692">
                  <a:extLst>
                    <a:ext uri="{9D8B030D-6E8A-4147-A177-3AD203B41FA5}">
                      <a16:colId xmlns:a16="http://schemas.microsoft.com/office/drawing/2014/main" val="20003"/>
                    </a:ext>
                  </a:extLst>
                </a:gridCol>
                <a:gridCol w="354751">
                  <a:extLst>
                    <a:ext uri="{9D8B030D-6E8A-4147-A177-3AD203B41FA5}">
                      <a16:colId xmlns:a16="http://schemas.microsoft.com/office/drawing/2014/main" val="20004"/>
                    </a:ext>
                  </a:extLst>
                </a:gridCol>
                <a:gridCol w="354750">
                  <a:extLst>
                    <a:ext uri="{9D8B030D-6E8A-4147-A177-3AD203B41FA5}">
                      <a16:colId xmlns:a16="http://schemas.microsoft.com/office/drawing/2014/main" val="20005"/>
                    </a:ext>
                  </a:extLst>
                </a:gridCol>
                <a:gridCol w="336401">
                  <a:extLst>
                    <a:ext uri="{9D8B030D-6E8A-4147-A177-3AD203B41FA5}">
                      <a16:colId xmlns:a16="http://schemas.microsoft.com/office/drawing/2014/main" val="20006"/>
                    </a:ext>
                  </a:extLst>
                </a:gridCol>
                <a:gridCol w="345575">
                  <a:extLst>
                    <a:ext uri="{9D8B030D-6E8A-4147-A177-3AD203B41FA5}">
                      <a16:colId xmlns:a16="http://schemas.microsoft.com/office/drawing/2014/main" val="20007"/>
                    </a:ext>
                  </a:extLst>
                </a:gridCol>
                <a:gridCol w="330285">
                  <a:extLst>
                    <a:ext uri="{9D8B030D-6E8A-4147-A177-3AD203B41FA5}">
                      <a16:colId xmlns:a16="http://schemas.microsoft.com/office/drawing/2014/main" val="20008"/>
                    </a:ext>
                  </a:extLst>
                </a:gridCol>
                <a:gridCol w="321111">
                  <a:extLst>
                    <a:ext uri="{9D8B030D-6E8A-4147-A177-3AD203B41FA5}">
                      <a16:colId xmlns:a16="http://schemas.microsoft.com/office/drawing/2014/main" val="20009"/>
                    </a:ext>
                  </a:extLst>
                </a:gridCol>
                <a:gridCol w="354750">
                  <a:extLst>
                    <a:ext uri="{9D8B030D-6E8A-4147-A177-3AD203B41FA5}">
                      <a16:colId xmlns:a16="http://schemas.microsoft.com/office/drawing/2014/main" val="20010"/>
                    </a:ext>
                  </a:extLst>
                </a:gridCol>
                <a:gridCol w="327227">
                  <a:extLst>
                    <a:ext uri="{9D8B030D-6E8A-4147-A177-3AD203B41FA5}">
                      <a16:colId xmlns:a16="http://schemas.microsoft.com/office/drawing/2014/main" val="20011"/>
                    </a:ext>
                  </a:extLst>
                </a:gridCol>
                <a:gridCol w="342518">
                  <a:extLst>
                    <a:ext uri="{9D8B030D-6E8A-4147-A177-3AD203B41FA5}">
                      <a16:colId xmlns:a16="http://schemas.microsoft.com/office/drawing/2014/main" val="20012"/>
                    </a:ext>
                  </a:extLst>
                </a:gridCol>
                <a:gridCol w="336401">
                  <a:extLst>
                    <a:ext uri="{9D8B030D-6E8A-4147-A177-3AD203B41FA5}">
                      <a16:colId xmlns:a16="http://schemas.microsoft.com/office/drawing/2014/main" val="20013"/>
                    </a:ext>
                  </a:extLst>
                </a:gridCol>
              </a:tblGrid>
              <a:tr h="254635">
                <a:tc>
                  <a:txBody>
                    <a:bodyPr/>
                    <a:lstStyle/>
                    <a:p>
                      <a:pPr indent="0">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笔试成绩</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41</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81</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66</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66</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67</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38</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10</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69</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44</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41</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49</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25</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58</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4635">
                <a:tc>
                  <a:txBody>
                    <a:bodyPr/>
                    <a:lstStyle/>
                    <a:p>
                      <a:pPr indent="0">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实验成绩</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48</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97</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85</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25</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97</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10</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85</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87</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88</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40</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85</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28</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等线" panose="02010600030101010101" pitchFamily="2" charset="-122"/>
                          <a:ea typeface="等线" panose="02010600030101010101" pitchFamily="2" charset="-122"/>
                          <a:cs typeface="等线" panose="02010600030101010101" pitchFamily="2" charset="-122"/>
                        </a:rPr>
                        <a:t>86</a:t>
                      </a:r>
                      <a:endParaRPr lang="en-US" altLang="en-US" sz="1200" b="0">
                        <a:solidFill>
                          <a:srgbClr val="000000"/>
                        </a:solidFill>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0" name="文本框 99"/>
          <p:cNvSpPr txBox="1"/>
          <p:nvPr/>
        </p:nvSpPr>
        <p:spPr>
          <a:xfrm>
            <a:off x="1872615" y="3208020"/>
            <a:ext cx="5080000" cy="261610"/>
          </a:xfrm>
          <a:prstGeom prst="rect">
            <a:avLst/>
          </a:prstGeom>
          <a:noFill/>
          <a:ln w="9525">
            <a:noFill/>
          </a:ln>
        </p:spPr>
        <p:txBody>
          <a:bodyPr>
            <a:spAutoFit/>
          </a:bodyPr>
          <a:lstStyle/>
          <a:p>
            <a:pPr indent="0" algn="ctr"/>
            <a:r>
              <a:rPr lang="zh-CN" sz="1100" b="0">
                <a:ea typeface="等线" panose="02010600030101010101" pitchFamily="2" charset="-122"/>
              </a:rPr>
              <a:t>表</a:t>
            </a:r>
            <a:r>
              <a:rPr lang="en-US" sz="1100" b="0">
                <a:latin typeface="Cambria Math" panose="02040503050406030204" charset="0"/>
                <a:ea typeface="等线" panose="02010600030101010101" pitchFamily="2" charset="-122"/>
                <a:cs typeface="Times New Roman" panose="02020603050405020304" pitchFamily="18" charset="0"/>
              </a:rPr>
              <a:t> </a:t>
            </a:r>
            <a:r>
              <a:rPr lang="zh-CN" altLang="en-US" sz="1100" b="0">
                <a:latin typeface="Cambria Math" panose="02040503050406030204" charset="0"/>
                <a:ea typeface="等线" panose="02010600030101010101" pitchFamily="2" charset="-122"/>
                <a:cs typeface="Times New Roman" panose="02020603050405020304" pitchFamily="18" charset="0"/>
              </a:rPr>
              <a:t>：</a:t>
            </a:r>
            <a:r>
              <a:rPr lang="zh-CN" sz="1100" b="0">
                <a:latin typeface="Cambria Math" panose="02040503050406030204" charset="0"/>
                <a:ea typeface="等线" panose="02010600030101010101" pitchFamily="2" charset="-122"/>
              </a:rPr>
              <a:t>某课程的笔试成绩与实验成绩</a:t>
            </a:r>
            <a:endParaRPr lang="zh-CN" altLang="en-US" sz="18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8.1.4数据相关性计算</a:t>
            </a:r>
          </a:p>
        </p:txBody>
      </p:sp>
      <p:graphicFrame>
        <p:nvGraphicFramePr>
          <p:cNvPr id="10" name="表格 9"/>
          <p:cNvGraphicFramePr/>
          <p:nvPr>
            <p:custDataLst>
              <p:tags r:id="rId1"/>
            </p:custDataLst>
          </p:nvPr>
        </p:nvGraphicFramePr>
        <p:xfrm>
          <a:off x="2032000" y="2921000"/>
          <a:ext cx="416560" cy="59436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0">
                <a:tc>
                  <a:txBody>
                    <a:bodyPr/>
                    <a:lstStyle/>
                    <a:p>
                      <a:pPr indent="0">
                        <a:buNone/>
                      </a:pPr>
                      <a:endParaRPr lang="zh-CN" altLang="en-US" b="0"/>
                    </a:p>
                  </a:txBody>
                  <a:tcPr>
                    <a:lnL>
                      <a:noFill/>
                    </a:lnL>
                    <a:lnR>
                      <a:noFill/>
                    </a:lnR>
                    <a:lnT cap="flat">
                      <a:noFill/>
                    </a:lnT>
                    <a:lnB cap="flat">
                      <a:noFill/>
                    </a:lnB>
                    <a:lnTlToBr>
                      <a:noFill/>
                    </a:lnTlToBr>
                    <a:lnBlToTr>
                      <a:noFill/>
                    </a:lnBlToTr>
                    <a:noFill/>
                  </a:tcPr>
                </a:tc>
                <a:tc>
                  <a:txBody>
                    <a:bodyPr/>
                    <a:lstStyle/>
                    <a:p>
                      <a:pPr>
                        <a:buNone/>
                      </a:pPr>
                      <a:endParaRPr lang="zh-CN" altLang="en-US"/>
                    </a:p>
                  </a:txBody>
                  <a:tcPr>
                    <a:lnL>
                      <a:noFill/>
                    </a:lnL>
                    <a:lnR>
                      <a:noFill/>
                    </a:lnR>
                    <a:lnT>
                      <a:noFill/>
                    </a:lnT>
                    <a:lnB cap="flat">
                      <a:noFill/>
                    </a:lnB>
                    <a:lnTlToBr>
                      <a:noFill/>
                    </a:lnTlToBr>
                    <a:lnBlToTr>
                      <a:noFill/>
                    </a:lnBlToTr>
                    <a:solidFill>
                      <a:srgbClr val="FFFFFF"/>
                    </a:solidFill>
                  </a:tcPr>
                </a:tc>
                <a:extLst>
                  <a:ext uri="{0D108BD9-81ED-4DB2-BD59-A6C34878D82A}">
                    <a16:rowId xmlns:a16="http://schemas.microsoft.com/office/drawing/2014/main" val="10000"/>
                  </a:ext>
                </a:extLst>
              </a:tr>
              <a:tr h="0">
                <a:tc>
                  <a:txBody>
                    <a:bodyPr/>
                    <a:lstStyle/>
                    <a:p>
                      <a:pPr indent="0">
                        <a:buNone/>
                      </a:pPr>
                      <a:endParaRPr lang="zh-CN" altLang="en-US"/>
                    </a:p>
                  </a:txBody>
                  <a:tcPr>
                    <a:lnL>
                      <a:noFill/>
                    </a:lnL>
                    <a:lnR>
                      <a:noFill/>
                    </a:lnR>
                    <a:lnT cap="flat">
                      <a:noFill/>
                    </a:lnT>
                    <a:lnB cap="flat">
                      <a:noFill/>
                    </a:lnB>
                    <a:lnTlToBr>
                      <a:noFill/>
                    </a:lnTlToBr>
                    <a:lnBlToTr>
                      <a:noFill/>
                    </a:lnBlToTr>
                    <a:noFill/>
                  </a:tcPr>
                </a:tc>
                <a:tc>
                  <a:txBody>
                    <a:bodyPr/>
                    <a:lstStyle/>
                    <a:p>
                      <a:pPr indent="0">
                        <a:buNone/>
                      </a:pPr>
                      <a:endParaRPr lang="zh-CN" altLang="en-US"/>
                    </a:p>
                  </a:txBody>
                  <a:tcPr>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文本框 2"/>
          <p:cNvSpPr txBox="1"/>
          <p:nvPr/>
        </p:nvSpPr>
        <p:spPr>
          <a:xfrm>
            <a:off x="397510" y="975360"/>
            <a:ext cx="8522970"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a:latin typeface="等线" panose="02010600030101010101" pitchFamily="2" charset="-122"/>
                <a:ea typeface="等线" panose="02010600030101010101" pitchFamily="2" charset="-122"/>
                <a:cs typeface="等线" panose="02010600030101010101" pitchFamily="2" charset="-122"/>
                <a:sym typeface="+mn-ea"/>
              </a:rPr>
              <a:t> </a:t>
            </a:r>
            <a:r>
              <a:rPr lang="zh-CN" sz="2000">
                <a:latin typeface="等线" panose="02010600030101010101" pitchFamily="2" charset="-122"/>
                <a:ea typeface="等线" panose="02010600030101010101" pitchFamily="2" charset="-122"/>
                <a:cs typeface="等线" panose="02010600030101010101" pitchFamily="2" charset="-122"/>
                <a:sym typeface="+mn-ea"/>
              </a:rPr>
              <a:t>再如，有两个时间序列数据（如图所示），它们之间是否相关性？</a:t>
            </a:r>
          </a:p>
        </p:txBody>
      </p:sp>
      <p:graphicFrame>
        <p:nvGraphicFramePr>
          <p:cNvPr id="193539" name="图表 193539"/>
          <p:cNvGraphicFramePr/>
          <p:nvPr/>
        </p:nvGraphicFramePr>
        <p:xfrm>
          <a:off x="308293" y="1561783"/>
          <a:ext cx="4195445" cy="213804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93542" name="图表 193542"/>
          <p:cNvGraphicFramePr/>
          <p:nvPr/>
        </p:nvGraphicFramePr>
        <p:xfrm>
          <a:off x="4700905" y="1562100"/>
          <a:ext cx="4096385" cy="2138680"/>
        </p:xfrm>
        <a:graphic>
          <a:graphicData uri="http://schemas.openxmlformats.org/drawingml/2006/chart">
            <c:chart xmlns:c="http://schemas.openxmlformats.org/drawingml/2006/chart" xmlns:r="http://schemas.openxmlformats.org/officeDocument/2006/relationships" r:id="rId5"/>
          </a:graphicData>
        </a:graphic>
      </p:graphicFrame>
      <p:sp>
        <p:nvSpPr>
          <p:cNvPr id="2" name="文本框 1"/>
          <p:cNvSpPr txBox="1"/>
          <p:nvPr/>
        </p:nvSpPr>
        <p:spPr>
          <a:xfrm>
            <a:off x="308610" y="3949065"/>
            <a:ext cx="7984490" cy="8915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lang="zh-CN" sz="2000" b="0">
                <a:ea typeface="等线" panose="02010600030101010101" pitchFamily="2" charset="-122"/>
              </a:rPr>
              <a:t>使用统计方法分析数据之间相关性的常用方法有：</a:t>
            </a:r>
            <a:r>
              <a:rPr lang="zh-CN" sz="2000" b="1">
                <a:ea typeface="等线" panose="02010600030101010101" pitchFamily="2" charset="-122"/>
              </a:rPr>
              <a:t>协方差</a:t>
            </a:r>
            <a:r>
              <a:rPr lang="zh-CN" sz="2000" b="0">
                <a:ea typeface="等线" panose="02010600030101010101" pitchFamily="2" charset="-122"/>
              </a:rPr>
              <a:t>、</a:t>
            </a:r>
            <a:r>
              <a:rPr lang="zh-CN" sz="2000" b="1">
                <a:ea typeface="等线" panose="02010600030101010101" pitchFamily="2" charset="-122"/>
              </a:rPr>
              <a:t>皮尔逊相关系数</a:t>
            </a:r>
            <a:r>
              <a:rPr lang="zh-CN" sz="2000" b="0">
                <a:ea typeface="等线" panose="02010600030101010101" pitchFamily="2" charset="-122"/>
              </a:rPr>
              <a:t>和</a:t>
            </a:r>
            <a:r>
              <a:rPr lang="zh-CN" sz="2000" b="1">
                <a:ea typeface="等线" panose="02010600030101010101" pitchFamily="2" charset="-122"/>
              </a:rPr>
              <a:t>斯皮尔曼秩相关系数</a:t>
            </a:r>
            <a:r>
              <a:rPr lang="zh-CN" sz="2000" b="0">
                <a:ea typeface="等线" panose="02010600030101010101" pitchFamily="2" charset="-122"/>
              </a:rPr>
              <a:t>。</a:t>
            </a:r>
            <a:endParaRPr lang="zh-CN" altLang="en-US" sz="2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953135"/>
          </a:xfrm>
          <a:prstGeom prst="rect">
            <a:avLst/>
          </a:prstGeom>
          <a:noFill/>
        </p:spPr>
        <p:txBody>
          <a:bodyPr wrap="square" rtlCol="0">
            <a:spAutoFit/>
          </a:bodyPr>
          <a:lstStyle/>
          <a:p>
            <a:r>
              <a:rPr 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8.1.4数据相关性计算</a:t>
            </a:r>
          </a:p>
          <a:p>
            <a:endPar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107950" y="875665"/>
            <a:ext cx="8822690" cy="460375"/>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1">
                <a:latin typeface="+mn-ea"/>
              </a:rPr>
              <a:t> </a:t>
            </a:r>
            <a:r>
              <a:rPr lang="en-US" sz="2000">
                <a:ea typeface="等线" panose="02010600030101010101" pitchFamily="2" charset="-122"/>
              </a:rPr>
              <a:t>      </a:t>
            </a:r>
            <a:r>
              <a:rPr sz="2000" b="1">
                <a:ea typeface="等线" panose="02010600030101010101" pitchFamily="2" charset="-122"/>
              </a:rPr>
              <a:t>1.协方差</a:t>
            </a:r>
          </a:p>
        </p:txBody>
      </p:sp>
      <p:graphicFrame>
        <p:nvGraphicFramePr>
          <p:cNvPr id="10" name="表格 9"/>
          <p:cNvGraphicFramePr/>
          <p:nvPr>
            <p:custDataLst>
              <p:tags r:id="rId1"/>
            </p:custDataLst>
          </p:nvPr>
        </p:nvGraphicFramePr>
        <p:xfrm>
          <a:off x="2032000" y="2921000"/>
          <a:ext cx="416560" cy="59436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0">
                <a:tc>
                  <a:txBody>
                    <a:bodyPr/>
                    <a:lstStyle/>
                    <a:p>
                      <a:pPr indent="0">
                        <a:buNone/>
                      </a:pPr>
                      <a:endParaRPr lang="zh-CN" altLang="en-US" b="0"/>
                    </a:p>
                  </a:txBody>
                  <a:tcPr>
                    <a:lnL>
                      <a:noFill/>
                    </a:lnL>
                    <a:lnR>
                      <a:noFill/>
                    </a:lnR>
                    <a:lnT cap="flat">
                      <a:noFill/>
                    </a:lnT>
                    <a:lnB cap="flat">
                      <a:noFill/>
                    </a:lnB>
                    <a:lnTlToBr>
                      <a:noFill/>
                    </a:lnTlToBr>
                    <a:lnBlToTr>
                      <a:noFill/>
                    </a:lnBlToTr>
                    <a:noFill/>
                  </a:tcPr>
                </a:tc>
                <a:tc>
                  <a:txBody>
                    <a:bodyPr/>
                    <a:lstStyle/>
                    <a:p>
                      <a:pPr>
                        <a:buNone/>
                      </a:pPr>
                      <a:endParaRPr lang="zh-CN" altLang="en-US"/>
                    </a:p>
                  </a:txBody>
                  <a:tcPr>
                    <a:lnL>
                      <a:noFill/>
                    </a:lnL>
                    <a:lnR>
                      <a:noFill/>
                    </a:lnR>
                    <a:lnT>
                      <a:noFill/>
                    </a:lnT>
                    <a:lnB cap="flat">
                      <a:noFill/>
                    </a:lnB>
                    <a:lnTlToBr>
                      <a:noFill/>
                    </a:lnTlToBr>
                    <a:lnBlToTr>
                      <a:noFill/>
                    </a:lnBlToTr>
                    <a:solidFill>
                      <a:srgbClr val="FFFFFF"/>
                    </a:solidFill>
                  </a:tcPr>
                </a:tc>
                <a:extLst>
                  <a:ext uri="{0D108BD9-81ED-4DB2-BD59-A6C34878D82A}">
                    <a16:rowId xmlns:a16="http://schemas.microsoft.com/office/drawing/2014/main" val="10000"/>
                  </a:ext>
                </a:extLst>
              </a:tr>
              <a:tr h="0">
                <a:tc>
                  <a:txBody>
                    <a:bodyPr/>
                    <a:lstStyle/>
                    <a:p>
                      <a:pPr indent="0">
                        <a:buNone/>
                      </a:pPr>
                      <a:endParaRPr lang="zh-CN" altLang="en-US"/>
                    </a:p>
                  </a:txBody>
                  <a:tcPr>
                    <a:lnL>
                      <a:noFill/>
                    </a:lnL>
                    <a:lnR>
                      <a:noFill/>
                    </a:lnR>
                    <a:lnT cap="flat">
                      <a:noFill/>
                    </a:lnT>
                    <a:lnB cap="flat">
                      <a:noFill/>
                    </a:lnB>
                    <a:lnTlToBr>
                      <a:noFill/>
                    </a:lnTlToBr>
                    <a:lnBlToTr>
                      <a:noFill/>
                    </a:lnBlToTr>
                    <a:noFill/>
                  </a:tcPr>
                </a:tc>
                <a:tc>
                  <a:txBody>
                    <a:bodyPr/>
                    <a:lstStyle/>
                    <a:p>
                      <a:pPr indent="0">
                        <a:buNone/>
                      </a:pPr>
                      <a:endParaRPr lang="zh-CN" altLang="en-US"/>
                    </a:p>
                  </a:txBody>
                  <a:tcPr>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文本框 2"/>
          <p:cNvSpPr txBox="1"/>
          <p:nvPr/>
        </p:nvSpPr>
        <p:spPr>
          <a:xfrm>
            <a:off x="173355" y="1336040"/>
            <a:ext cx="8458835" cy="891540"/>
          </a:xfrm>
          <a:prstGeom prst="rect">
            <a:avLst/>
          </a:prstGeom>
          <a:noFill/>
          <a:ln w="9525">
            <a:noFill/>
          </a:ln>
        </p:spPr>
        <p:txBody>
          <a:bodyPr wrap="square">
            <a:spAutoFit/>
          </a:bodyPr>
          <a:lstStyle/>
          <a:p>
            <a:pPr indent="266700">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sym typeface="+mn-ea"/>
              </a:rPr>
              <a:t>  </a:t>
            </a:r>
            <a:r>
              <a:rPr sz="2000">
                <a:latin typeface="等线" panose="02010600030101010101" pitchFamily="2" charset="-122"/>
                <a:ea typeface="等线" panose="02010600030101010101" pitchFamily="2" charset="-122"/>
                <a:cs typeface="等线" panose="02010600030101010101" pitchFamily="2" charset="-122"/>
                <a:sym typeface="+mn-ea"/>
              </a:rPr>
              <a:t>两个实数随机变量X与Y的数学期望值分别为E(X)=μ与E(Y)=ν，它们之间的协方差定义为：</a:t>
            </a:r>
          </a:p>
        </p:txBody>
      </p:sp>
      <p:sp>
        <p:nvSpPr>
          <p:cNvPr id="4" name="文本框 3"/>
          <p:cNvSpPr txBox="1"/>
          <p:nvPr/>
        </p:nvSpPr>
        <p:spPr>
          <a:xfrm>
            <a:off x="342900" y="2437130"/>
            <a:ext cx="2822331" cy="398780"/>
          </a:xfrm>
          <a:prstGeom prst="rect">
            <a:avLst/>
          </a:prstGeom>
          <a:noFill/>
        </p:spPr>
        <p:txBody>
          <a:bodyPr wrap="square" rtlCol="0" anchor="t">
            <a:spAutoFit/>
          </a:bodyPr>
          <a:lstStyle/>
          <a:p>
            <a:pPr indent="266700"/>
            <a:r>
              <a:rPr lang="zh-CN" sz="2000">
                <a:latin typeface="等线" panose="02010600030101010101" pitchFamily="2" charset="-122"/>
                <a:ea typeface="等线" panose="02010600030101010101" pitchFamily="2" charset="-122"/>
                <a:cs typeface="等线" panose="02010600030101010101" pitchFamily="2" charset="-122"/>
                <a:sym typeface="+mn-ea"/>
              </a:rPr>
              <a:t>上式也可以表示为：</a:t>
            </a:r>
          </a:p>
        </p:txBody>
      </p:sp>
      <p:sp>
        <p:nvSpPr>
          <p:cNvPr id="8" name="文本框 7"/>
          <p:cNvSpPr txBox="1"/>
          <p:nvPr/>
        </p:nvSpPr>
        <p:spPr>
          <a:xfrm>
            <a:off x="342900" y="2921000"/>
            <a:ext cx="2989580" cy="398780"/>
          </a:xfrm>
          <a:prstGeom prst="rect">
            <a:avLst/>
          </a:prstGeom>
          <a:noFill/>
        </p:spPr>
        <p:txBody>
          <a:bodyPr wrap="none" rtlCol="0">
            <a:spAutoFit/>
          </a:bodyPr>
          <a:lstStyle/>
          <a:p>
            <a:pPr indent="266700"/>
            <a:r>
              <a:rPr lang="zh-CN" sz="2000">
                <a:latin typeface="等线" panose="02010600030101010101" pitchFamily="2" charset="-122"/>
                <a:ea typeface="等线" panose="02010600030101010101" pitchFamily="2" charset="-122"/>
                <a:cs typeface="等线" panose="02010600030101010101" pitchFamily="2" charset="-122"/>
                <a:sym typeface="+mn-ea"/>
              </a:rPr>
              <a:t>协方差具有以下性质：</a:t>
            </a:r>
          </a:p>
        </p:txBody>
      </p:sp>
      <p:sp>
        <p:nvSpPr>
          <p:cNvPr id="102" name="文本框 101"/>
          <p:cNvSpPr txBox="1"/>
          <p:nvPr/>
        </p:nvSpPr>
        <p:spPr>
          <a:xfrm>
            <a:off x="621665" y="3300730"/>
            <a:ext cx="8522335" cy="1568450"/>
          </a:xfrm>
          <a:prstGeom prst="rect">
            <a:avLst/>
          </a:prstGeom>
          <a:noFill/>
          <a:ln w="9525">
            <a:noFill/>
          </a:ln>
        </p:spPr>
        <p:txBody>
          <a:bodyPr wrap="square">
            <a:spAutoFit/>
          </a:bodyPr>
          <a:lstStyle/>
          <a:p>
            <a:pPr marL="171450" indent="-171450">
              <a:lnSpc>
                <a:spcPct val="120000"/>
              </a:lnSpc>
              <a:spcBef>
                <a:spcPts val="0"/>
              </a:spcBef>
              <a:spcAft>
                <a:spcPts val="0"/>
              </a:spcAft>
              <a:buFont typeface="Wingdings" panose="05000000000000000000" charset="0"/>
              <a:buChar char="l"/>
            </a:pPr>
            <a:r>
              <a:rPr lang="en-US" altLang="zh-CN" sz="2000" b="0">
                <a:latin typeface="Cambria Math" panose="02040503050406030204" charset="0"/>
                <a:ea typeface="等线" panose="02010600030101010101" pitchFamily="2" charset="-122"/>
              </a:rPr>
              <a:t> </a:t>
            </a:r>
            <a:r>
              <a:rPr lang="zh-CN" sz="2000" b="0">
                <a:latin typeface="Cambria Math" panose="02040503050406030204" charset="0"/>
                <a:ea typeface="等线" panose="02010600030101010101" pitchFamily="2" charset="-122"/>
              </a:rPr>
              <a:t>如果两个变量的变化趋势一致，那么两个变量之间的协方差就是</a:t>
            </a:r>
            <a:r>
              <a:rPr lang="zh-CN" sz="2000" b="1">
                <a:latin typeface="Cambria Math" panose="02040503050406030204" charset="0"/>
                <a:ea typeface="等线" panose="02010600030101010101" pitchFamily="2" charset="-122"/>
              </a:rPr>
              <a:t>正值</a:t>
            </a:r>
            <a:r>
              <a:rPr lang="zh-CN" sz="2000" b="0">
                <a:latin typeface="Cambria Math" panose="02040503050406030204" charset="0"/>
                <a:ea typeface="等线" panose="02010600030101010101" pitchFamily="2" charset="-122"/>
              </a:rPr>
              <a:t>。</a:t>
            </a:r>
          </a:p>
          <a:p>
            <a:pPr marL="171450" indent="-171450">
              <a:lnSpc>
                <a:spcPct val="120000"/>
              </a:lnSpc>
              <a:spcBef>
                <a:spcPts val="0"/>
              </a:spcBef>
              <a:spcAft>
                <a:spcPts val="0"/>
              </a:spcAft>
              <a:buFont typeface="Wingdings" panose="05000000000000000000" charset="0"/>
              <a:buChar char="l"/>
            </a:pPr>
            <a:r>
              <a:rPr lang="en-US" altLang="zh-CN" sz="2000" b="0">
                <a:latin typeface="Cambria Math" panose="02040503050406030204" charset="0"/>
                <a:ea typeface="等线" panose="02010600030101010101" pitchFamily="2" charset="-122"/>
              </a:rPr>
              <a:t> </a:t>
            </a:r>
            <a:r>
              <a:rPr lang="zh-CN" sz="2000" b="0">
                <a:latin typeface="Cambria Math" panose="02040503050406030204" charset="0"/>
                <a:ea typeface="等线" panose="02010600030101010101" pitchFamily="2" charset="-122"/>
              </a:rPr>
              <a:t>如果两个变量的变化趋势相反，那么两个变量之间的协方差就是</a:t>
            </a:r>
            <a:r>
              <a:rPr lang="zh-CN" sz="2000" b="1">
                <a:latin typeface="Cambria Math" panose="02040503050406030204" charset="0"/>
                <a:ea typeface="等线" panose="02010600030101010101" pitchFamily="2" charset="-122"/>
              </a:rPr>
              <a:t>负值</a:t>
            </a:r>
            <a:r>
              <a:rPr lang="zh-CN" sz="2000" b="0">
                <a:latin typeface="Cambria Math" panose="02040503050406030204" charset="0"/>
                <a:ea typeface="等线" panose="02010600030101010101" pitchFamily="2" charset="-122"/>
              </a:rPr>
              <a:t>。</a:t>
            </a:r>
          </a:p>
          <a:p>
            <a:pPr marL="171450" indent="-171450">
              <a:lnSpc>
                <a:spcPct val="120000"/>
              </a:lnSpc>
              <a:spcBef>
                <a:spcPts val="0"/>
              </a:spcBef>
              <a:spcAft>
                <a:spcPts val="0"/>
              </a:spcAft>
              <a:buFont typeface="Wingdings" panose="05000000000000000000" charset="0"/>
              <a:buChar char="l"/>
            </a:pPr>
            <a:r>
              <a:rPr lang="en-US" altLang="zh-CN" sz="2000" b="0">
                <a:latin typeface="Cambria Math" panose="02040503050406030204" charset="0"/>
                <a:ea typeface="等线" panose="02010600030101010101" pitchFamily="2" charset="-122"/>
              </a:rPr>
              <a:t> </a:t>
            </a:r>
            <a:r>
              <a:rPr lang="zh-CN" sz="2000" b="0">
                <a:latin typeface="Cambria Math" panose="02040503050406030204" charset="0"/>
                <a:ea typeface="等线" panose="02010600030101010101" pitchFamily="2" charset="-122"/>
              </a:rPr>
              <a:t>如果</a:t>
            </a:r>
            <a:r>
              <a:rPr lang="en-US" sz="2000" b="0">
                <a:latin typeface="Cambria Math" panose="02040503050406030204" charset="0"/>
                <a:ea typeface="等线" panose="02010600030101010101" pitchFamily="2" charset="-122"/>
              </a:rPr>
              <a:t>X</a:t>
            </a:r>
            <a:r>
              <a:rPr lang="zh-CN" sz="2000" b="0">
                <a:latin typeface="Cambria Math" panose="02040503050406030204" charset="0"/>
                <a:ea typeface="等线" panose="02010600030101010101" pitchFamily="2" charset="-122"/>
              </a:rPr>
              <a:t>与</a:t>
            </a:r>
            <a:r>
              <a:rPr lang="en-US" sz="2000" b="0">
                <a:latin typeface="Cambria Math" panose="02040503050406030204" charset="0"/>
                <a:ea typeface="等线" panose="02010600030101010101" pitchFamily="2" charset="-122"/>
              </a:rPr>
              <a:t>Y</a:t>
            </a:r>
            <a:r>
              <a:rPr lang="zh-CN" sz="2000" b="0">
                <a:latin typeface="Cambria Math" panose="02040503050406030204" charset="0"/>
                <a:ea typeface="等线" panose="02010600030101010101" pitchFamily="2" charset="-122"/>
              </a:rPr>
              <a:t>是统计独立的，那么二者之间的协方差就是</a:t>
            </a:r>
            <a:r>
              <a:rPr lang="en-US" sz="2000" b="0">
                <a:latin typeface="Cambria Math" panose="02040503050406030204" charset="0"/>
                <a:ea typeface="等线" panose="02010600030101010101" pitchFamily="2" charset="-122"/>
              </a:rPr>
              <a:t>0</a:t>
            </a:r>
            <a:r>
              <a:rPr lang="zh-CN" sz="2000" b="0">
                <a:latin typeface="Cambria Math" panose="02040503050406030204" charset="0"/>
                <a:ea typeface="等线" panose="02010600030101010101" pitchFamily="2" charset="-122"/>
              </a:rPr>
              <a:t>。但是，反过来并不成立。即如果</a:t>
            </a:r>
            <a:r>
              <a:rPr lang="en-US" sz="2000" b="0">
                <a:latin typeface="Cambria Math" panose="02040503050406030204" charset="0"/>
                <a:ea typeface="等线" panose="02010600030101010101" pitchFamily="2" charset="-122"/>
              </a:rPr>
              <a:t>X</a:t>
            </a:r>
            <a:r>
              <a:rPr lang="zh-CN" sz="2000" b="0">
                <a:latin typeface="Cambria Math" panose="02040503050406030204" charset="0"/>
                <a:ea typeface="等线" panose="02010600030101010101" pitchFamily="2" charset="-122"/>
              </a:rPr>
              <a:t>与</a:t>
            </a:r>
            <a:r>
              <a:rPr lang="en-US" sz="2000" b="0">
                <a:latin typeface="Cambria Math" panose="02040503050406030204" charset="0"/>
                <a:ea typeface="等线" panose="02010600030101010101" pitchFamily="2" charset="-122"/>
              </a:rPr>
              <a:t>Y</a:t>
            </a:r>
            <a:r>
              <a:rPr lang="zh-CN" sz="2000" b="0">
                <a:latin typeface="Cambria Math" panose="02040503050406030204" charset="0"/>
                <a:ea typeface="等线" panose="02010600030101010101" pitchFamily="2" charset="-122"/>
              </a:rPr>
              <a:t>的协方差为</a:t>
            </a:r>
            <a:r>
              <a:rPr lang="en-US" sz="2000" b="0">
                <a:latin typeface="Cambria Math" panose="02040503050406030204" charset="0"/>
                <a:ea typeface="等线" panose="02010600030101010101" pitchFamily="2" charset="-122"/>
              </a:rPr>
              <a:t>0</a:t>
            </a:r>
            <a:r>
              <a:rPr lang="zh-CN" sz="2000" b="0">
                <a:latin typeface="Cambria Math" panose="02040503050406030204" charset="0"/>
                <a:ea typeface="等线" panose="02010600030101010101" pitchFamily="2" charset="-122"/>
              </a:rPr>
              <a:t>，二者并不一定是统计独立的。</a:t>
            </a:r>
            <a:endParaRPr lang="zh-CN" altLang="en-US" sz="2000"/>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A219D2C1-2F6E-47B4-8905-09B208EA2FA7}"/>
                  </a:ext>
                </a:extLst>
              </p:cNvPr>
              <p:cNvSpPr/>
              <p:nvPr/>
            </p:nvSpPr>
            <p:spPr>
              <a:xfrm>
                <a:off x="2535856" y="1837724"/>
                <a:ext cx="329500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800" i="1">
                              <a:latin typeface="Cambria Math" panose="02040503050406030204" pitchFamily="18" charset="0"/>
                            </a:rPr>
                          </m:ctrlPr>
                        </m:dPr>
                        <m:e>
                          <m:func>
                            <m:funcPr>
                              <m:ctrlPr>
                                <a:rPr lang="zh-CN" altLang="en-US" sz="1800" i="1">
                                  <a:latin typeface="Cambria Math" panose="02040503050406030204" pitchFamily="18" charset="0"/>
                                </a:rPr>
                              </m:ctrlPr>
                            </m:funcPr>
                            <m:fName>
                              <m:r>
                                <m:rPr>
                                  <m:sty m:val="p"/>
                                </m:rPr>
                                <a:rPr lang="zh-CN" altLang="en-US" sz="1800">
                                  <a:latin typeface="Cambria Math" panose="02040503050406030204" pitchFamily="18" charset="0"/>
                                </a:rPr>
                                <m:t>cov</m:t>
                              </m:r>
                            </m:fName>
                            <m:e>
                              <m:d>
                                <m:dPr>
                                  <m:endChr m:val=""/>
                                  <m:ctrlPr>
                                    <a:rPr lang="zh-CN" altLang="en-US" sz="1800" i="1">
                                      <a:latin typeface="Cambria Math" panose="02040503050406030204" pitchFamily="18" charset="0"/>
                                    </a:rPr>
                                  </m:ctrlPr>
                                </m:dPr>
                                <m:e>
                                  <m:r>
                                    <a:rPr lang="zh-CN" altLang="en-US" sz="1800" i="1">
                                      <a:latin typeface="Cambria Math" panose="02040503050406030204" pitchFamily="18" charset="0"/>
                                    </a:rPr>
                                    <m:t>𝑋</m:t>
                                  </m:r>
                                  <m:r>
                                    <a:rPr lang="zh-CN" altLang="en-US" sz="1800">
                                      <a:latin typeface="Cambria Math" panose="02040503050406030204" pitchFamily="18" charset="0"/>
                                    </a:rPr>
                                    <m:t>,</m:t>
                                  </m:r>
                                  <m:r>
                                    <a:rPr lang="zh-CN" altLang="en-US" sz="1800" i="1">
                                      <a:latin typeface="Cambria Math" panose="02040503050406030204" pitchFamily="18" charset="0"/>
                                    </a:rPr>
                                    <m:t>𝑌</m:t>
                                  </m:r>
                                </m:e>
                              </m:d>
                            </m:e>
                          </m:func>
                          <m:r>
                            <a:rPr lang="zh-CN" altLang="en-US" sz="1800" i="0">
                              <a:latin typeface="Cambria Math" panose="02040503050406030204" pitchFamily="18" charset="0"/>
                            </a:rPr>
                            <m:t>)=</m:t>
                          </m:r>
                          <m:r>
                            <a:rPr lang="zh-CN" altLang="en-US" sz="1800" i="1">
                              <a:latin typeface="Cambria Math" panose="02040503050406030204" pitchFamily="18" charset="0"/>
                            </a:rPr>
                            <m:t>𝐸</m:t>
                          </m:r>
                          <m:r>
                            <a:rPr lang="zh-CN" altLang="en-US" sz="1800" i="0">
                              <a:latin typeface="Cambria Math" panose="02040503050406030204" pitchFamily="18" charset="0"/>
                            </a:rPr>
                            <m:t>((</m:t>
                          </m:r>
                          <m:r>
                            <a:rPr lang="zh-CN" altLang="en-US" sz="1800" i="1">
                              <a:latin typeface="Cambria Math" panose="02040503050406030204" pitchFamily="18" charset="0"/>
                            </a:rPr>
                            <m:t>𝑋</m:t>
                          </m:r>
                          <m:r>
                            <a:rPr lang="zh-CN" altLang="en-US" sz="1800" i="0">
                              <a:latin typeface="Cambria Math" panose="02040503050406030204" pitchFamily="18" charset="0"/>
                            </a:rPr>
                            <m:t>−</m:t>
                          </m:r>
                          <m:r>
                            <a:rPr lang="zh-CN" altLang="en-US" sz="1800" i="1">
                              <a:latin typeface="Cambria Math" panose="02040503050406030204" pitchFamily="18" charset="0"/>
                            </a:rPr>
                            <m:t>𝜇</m:t>
                          </m:r>
                          <m:r>
                            <a:rPr lang="zh-CN" altLang="en-US" sz="1800" i="0">
                              <a:latin typeface="Cambria Math" panose="02040503050406030204" pitchFamily="18" charset="0"/>
                            </a:rPr>
                            <m:t>)(</m:t>
                          </m:r>
                          <m:r>
                            <a:rPr lang="zh-CN" altLang="en-US" sz="1800" i="1">
                              <a:latin typeface="Cambria Math" panose="02040503050406030204" pitchFamily="18" charset="0"/>
                            </a:rPr>
                            <m:t>𝑌</m:t>
                          </m:r>
                          <m:r>
                            <a:rPr lang="zh-CN" altLang="en-US" sz="1800" i="0">
                              <a:latin typeface="Cambria Math" panose="02040503050406030204" pitchFamily="18" charset="0"/>
                            </a:rPr>
                            <m:t>−</m:t>
                          </m:r>
                          <m:r>
                            <a:rPr lang="zh-CN" altLang="en-US" sz="1800" i="1">
                              <a:latin typeface="Cambria Math" panose="02040503050406030204" pitchFamily="18" charset="0"/>
                            </a:rPr>
                            <m:t>𝜈</m:t>
                          </m:r>
                          <m:r>
                            <a:rPr lang="zh-CN" altLang="en-US" sz="1800" i="0">
                              <a:latin typeface="Cambria Math" panose="02040503050406030204" pitchFamily="18" charset="0"/>
                            </a:rPr>
                            <m:t>)</m:t>
                          </m:r>
                        </m:e>
                      </m:d>
                    </m:oMath>
                  </m:oMathPara>
                </a14:m>
                <a:endParaRPr lang="zh-CN" altLang="en-US" sz="1800"/>
              </a:p>
            </p:txBody>
          </p:sp>
        </mc:Choice>
        <mc:Fallback xmlns="">
          <p:sp>
            <p:nvSpPr>
              <p:cNvPr id="2" name="矩形 1">
                <a:extLst>
                  <a:ext uri="{FF2B5EF4-FFF2-40B4-BE49-F238E27FC236}">
                    <a16:creationId xmlns:a16="http://schemas.microsoft.com/office/drawing/2014/main" id="{A219D2C1-2F6E-47B4-8905-09B208EA2FA7}"/>
                  </a:ext>
                </a:extLst>
              </p:cNvPr>
              <p:cNvSpPr>
                <a:spLocks noRot="1" noChangeAspect="1" noMove="1" noResize="1" noEditPoints="1" noAdjustHandles="1" noChangeArrowheads="1" noChangeShapeType="1" noTextEdit="1"/>
              </p:cNvSpPr>
              <p:nvPr/>
            </p:nvSpPr>
            <p:spPr>
              <a:xfrm>
                <a:off x="2535856" y="1837724"/>
                <a:ext cx="3295005" cy="369332"/>
              </a:xfrm>
              <a:prstGeom prst="rect">
                <a:avLst/>
              </a:prstGeom>
              <a:blipFill>
                <a:blip r:embed="rId4"/>
                <a:stretch>
                  <a:fillRect t="-119672" r="-14787" b="-1836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FAAF9A48-D0F6-4654-B31D-6DB4EAC8E008}"/>
                  </a:ext>
                </a:extLst>
              </p:cNvPr>
              <p:cNvSpPr/>
              <p:nvPr/>
            </p:nvSpPr>
            <p:spPr>
              <a:xfrm>
                <a:off x="3408251" y="2421709"/>
                <a:ext cx="366305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zh-CN" altLang="en-US" sz="2400" i="1">
                              <a:latin typeface="Cambria Math" panose="02040503050406030204" pitchFamily="18" charset="0"/>
                            </a:rPr>
                          </m:ctrlPr>
                        </m:funcPr>
                        <m:fName>
                          <m:r>
                            <m:rPr>
                              <m:sty m:val="p"/>
                            </m:rPr>
                            <a:rPr lang="zh-CN" altLang="en-US" sz="2400">
                              <a:latin typeface="Cambria Math" panose="02040503050406030204" pitchFamily="18" charset="0"/>
                            </a:rPr>
                            <m:t>cov</m:t>
                          </m:r>
                        </m:fName>
                        <m:e>
                          <m:d>
                            <m:dPr>
                              <m:endChr m:val=""/>
                              <m:ctrlPr>
                                <a:rPr lang="zh-CN" altLang="en-US" sz="2400" i="1">
                                  <a:latin typeface="Cambria Math" panose="02040503050406030204" pitchFamily="18" charset="0"/>
                                </a:rPr>
                              </m:ctrlPr>
                            </m:dPr>
                            <m:e>
                              <m:r>
                                <a:rPr lang="zh-CN" altLang="en-US" sz="2400" i="1">
                                  <a:latin typeface="Cambria Math" panose="02040503050406030204" pitchFamily="18" charset="0"/>
                                </a:rPr>
                                <m:t>𝑋</m:t>
                              </m:r>
                              <m:r>
                                <a:rPr lang="zh-CN" altLang="en-US" sz="2400">
                                  <a:latin typeface="Cambria Math" panose="02040503050406030204" pitchFamily="18" charset="0"/>
                                </a:rPr>
                                <m:t>,</m:t>
                              </m:r>
                              <m:r>
                                <a:rPr lang="zh-CN" altLang="en-US" sz="2400" i="1">
                                  <a:latin typeface="Cambria Math" panose="02040503050406030204" pitchFamily="18" charset="0"/>
                                </a:rPr>
                                <m:t>𝑌</m:t>
                              </m:r>
                            </m:e>
                          </m:d>
                        </m:e>
                      </m:func>
                      <m:r>
                        <a:rPr lang="zh-CN" altLang="en-US" sz="2400" i="0">
                          <a:latin typeface="Cambria Math" panose="02040503050406030204" pitchFamily="18" charset="0"/>
                        </a:rPr>
                        <m:t>)=</m:t>
                      </m:r>
                      <m:r>
                        <a:rPr lang="zh-CN" altLang="en-US" sz="2400" i="1">
                          <a:latin typeface="Cambria Math" panose="02040503050406030204" pitchFamily="18" charset="0"/>
                        </a:rPr>
                        <m:t>𝐸</m:t>
                      </m:r>
                      <m:r>
                        <a:rPr lang="zh-CN" altLang="en-US" sz="2400" i="0">
                          <a:latin typeface="Cambria Math" panose="02040503050406030204" pitchFamily="18" charset="0"/>
                        </a:rPr>
                        <m:t>(</m:t>
                      </m:r>
                      <m:r>
                        <a:rPr lang="zh-CN" altLang="en-US" sz="2400" i="1">
                          <a:latin typeface="Cambria Math" panose="02040503050406030204" pitchFamily="18" charset="0"/>
                        </a:rPr>
                        <m:t>𝑋</m:t>
                      </m:r>
                      <m:r>
                        <a:rPr lang="zh-CN" altLang="en-US" sz="2400" i="0">
                          <a:latin typeface="Cambria Math" panose="02040503050406030204" pitchFamily="18" charset="0"/>
                        </a:rPr>
                        <m:t>⋅</m:t>
                      </m:r>
                      <m:r>
                        <a:rPr lang="zh-CN" altLang="en-US" sz="2400" i="1">
                          <a:latin typeface="Cambria Math" panose="02040503050406030204" pitchFamily="18" charset="0"/>
                        </a:rPr>
                        <m:t>𝑌</m:t>
                      </m:r>
                      <m:r>
                        <a:rPr lang="zh-CN" altLang="en-US" sz="2400" i="0">
                          <a:latin typeface="Cambria Math" panose="02040503050406030204" pitchFamily="18" charset="0"/>
                        </a:rPr>
                        <m:t>)−</m:t>
                      </m:r>
                      <m:r>
                        <a:rPr lang="zh-CN" altLang="en-US" sz="2400" i="1">
                          <a:latin typeface="Cambria Math" panose="02040503050406030204" pitchFamily="18" charset="0"/>
                        </a:rPr>
                        <m:t>𝜇𝜈</m:t>
                      </m:r>
                    </m:oMath>
                  </m:oMathPara>
                </a14:m>
                <a:endParaRPr lang="zh-CN" altLang="en-US" sz="2400"/>
              </a:p>
            </p:txBody>
          </p:sp>
        </mc:Choice>
        <mc:Fallback xmlns="">
          <p:sp>
            <p:nvSpPr>
              <p:cNvPr id="5" name="矩形 4">
                <a:extLst>
                  <a:ext uri="{FF2B5EF4-FFF2-40B4-BE49-F238E27FC236}">
                    <a16:creationId xmlns:a16="http://schemas.microsoft.com/office/drawing/2014/main" id="{FAAF9A48-D0F6-4654-B31D-6DB4EAC8E008}"/>
                  </a:ext>
                </a:extLst>
              </p:cNvPr>
              <p:cNvSpPr>
                <a:spLocks noRot="1" noChangeAspect="1" noMove="1" noResize="1" noEditPoints="1" noAdjustHandles="1" noChangeArrowheads="1" noChangeShapeType="1" noTextEdit="1"/>
              </p:cNvSpPr>
              <p:nvPr/>
            </p:nvSpPr>
            <p:spPr>
              <a:xfrm>
                <a:off x="3408251" y="2421709"/>
                <a:ext cx="3663054" cy="461665"/>
              </a:xfrm>
              <a:prstGeom prst="rect">
                <a:avLst/>
              </a:prstGeom>
              <a:blipFill>
                <a:blip r:embed="rId5"/>
                <a:stretch>
                  <a:fillRect t="-130263" b="-194737"/>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953135"/>
          </a:xfrm>
          <a:prstGeom prst="rect">
            <a:avLst/>
          </a:prstGeom>
          <a:noFill/>
        </p:spPr>
        <p:txBody>
          <a:bodyPr wrap="square" rtlCol="0">
            <a:spAutoFit/>
          </a:bodyPr>
          <a:lstStyle/>
          <a:p>
            <a:r>
              <a:rPr 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8.1.4数据相关性计算</a:t>
            </a:r>
          </a:p>
          <a:p>
            <a:endPar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60655" y="1000125"/>
            <a:ext cx="8458835" cy="460960"/>
          </a:xfrm>
          <a:prstGeom prst="rect">
            <a:avLst/>
          </a:prstGeom>
          <a:noFill/>
          <a:ln w="9525">
            <a:noFill/>
          </a:ln>
        </p:spPr>
        <p:txBody>
          <a:bodyPr wrap="square">
            <a:spAutoFit/>
          </a:bodyPr>
          <a:lstStyle/>
          <a:p>
            <a:pPr indent="266700">
              <a:lnSpc>
                <a:spcPct val="130000"/>
              </a:lnSpc>
              <a:spcBef>
                <a:spcPts val="0"/>
              </a:spcBef>
              <a:spcAft>
                <a:spcPts val="0"/>
              </a:spcAft>
            </a:pPr>
            <a:r>
              <a:rPr lang="zh-CN" altLang="en-US" sz="2000">
                <a:latin typeface="等线" panose="02010600030101010101" pitchFamily="2" charset="-122"/>
                <a:cs typeface="等线" panose="02010600030101010101" pitchFamily="2" charset="-122"/>
                <a:sym typeface="+mn-ea"/>
              </a:rPr>
              <a:t>两个随机变量 </a:t>
            </a:r>
            <a:r>
              <a:rPr lang="en-US" altLang="zh-CN" sz="2000">
                <a:latin typeface="等线" panose="02010600030101010101" pitchFamily="2" charset="-122"/>
                <a:cs typeface="等线" panose="02010600030101010101" pitchFamily="2" charset="-122"/>
                <a:sym typeface="+mn-ea"/>
              </a:rPr>
              <a:t>X </a:t>
            </a:r>
            <a:r>
              <a:rPr lang="zh-CN" altLang="en-US" sz="2000">
                <a:latin typeface="等线" panose="02010600030101010101" pitchFamily="2" charset="-122"/>
                <a:cs typeface="等线" panose="02010600030101010101" pitchFamily="2" charset="-122"/>
                <a:sym typeface="+mn-ea"/>
              </a:rPr>
              <a:t>与 </a:t>
            </a:r>
            <a:r>
              <a:rPr lang="en-US" altLang="zh-CN" sz="2000">
                <a:latin typeface="等线" panose="02010600030101010101" pitchFamily="2" charset="-122"/>
                <a:cs typeface="等线" panose="02010600030101010101" pitchFamily="2" charset="-122"/>
                <a:sym typeface="+mn-ea"/>
              </a:rPr>
              <a:t>Y </a:t>
            </a:r>
            <a:r>
              <a:rPr lang="zh-CN" altLang="en-US" sz="2000">
                <a:latin typeface="等线" panose="02010600030101010101" pitchFamily="2" charset="-122"/>
                <a:cs typeface="等线" panose="02010600030101010101" pitchFamily="2" charset="-122"/>
                <a:sym typeface="+mn-ea"/>
              </a:rPr>
              <a:t>之间的相互关系，一般有如下图所示的</a:t>
            </a:r>
            <a:r>
              <a:rPr lang="en-US" altLang="zh-CN" sz="2000">
                <a:latin typeface="等线" panose="02010600030101010101" pitchFamily="2" charset="-122"/>
                <a:cs typeface="等线" panose="02010600030101010101" pitchFamily="2" charset="-122"/>
                <a:sym typeface="+mn-ea"/>
              </a:rPr>
              <a:t>3</a:t>
            </a:r>
            <a:r>
              <a:rPr lang="zh-CN" altLang="en-US" sz="2000">
                <a:latin typeface="等线" panose="02010600030101010101" pitchFamily="2" charset="-122"/>
                <a:cs typeface="等线" panose="02010600030101010101" pitchFamily="2" charset="-122"/>
                <a:sym typeface="+mn-ea"/>
              </a:rPr>
              <a:t>种情况：</a:t>
            </a:r>
            <a:endParaRPr sz="2000">
              <a:latin typeface="等线" panose="02010600030101010101" pitchFamily="2" charset="-122"/>
              <a:ea typeface="等线" panose="02010600030101010101" pitchFamily="2" charset="-122"/>
              <a:cs typeface="等线" panose="02010600030101010101" pitchFamily="2" charset="-122"/>
              <a:sym typeface="+mn-ea"/>
            </a:endParaRPr>
          </a:p>
        </p:txBody>
      </p:sp>
      <p:pic>
        <p:nvPicPr>
          <p:cNvPr id="3075" name="Picture 2" descr="http://img.my.csdn.net/uploads/201210/18/1350573643_1765.jpg">
            <a:extLst>
              <a:ext uri="{FF2B5EF4-FFF2-40B4-BE49-F238E27FC236}">
                <a16:creationId xmlns:a16="http://schemas.microsoft.com/office/drawing/2014/main" id="{1F3D5BE4-0AC3-4631-AC03-ABAC07E569C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68437" y="1588344"/>
            <a:ext cx="1616075" cy="1403350"/>
          </a:xfrm>
          <a:prstGeom prst="rect">
            <a:avLst/>
          </a:prstGeom>
          <a:noFill/>
          <a:extLst>
            <a:ext uri="{909E8E84-426E-40DD-AFC4-6F175D3DCCD1}">
              <a14:hiddenFill xmlns:a14="http://schemas.microsoft.com/office/drawing/2010/main">
                <a:solidFill>
                  <a:srgbClr val="FFFFFF"/>
                </a:solidFill>
              </a14:hiddenFill>
            </a:ext>
          </a:extLst>
        </p:spPr>
      </p:pic>
      <p:pic>
        <p:nvPicPr>
          <p:cNvPr id="3073" name="Picture 4" descr="http://img.my.csdn.net/uploads/201210/18/1350573766_4458.jpg">
            <a:extLst>
              <a:ext uri="{FF2B5EF4-FFF2-40B4-BE49-F238E27FC236}">
                <a16:creationId xmlns:a16="http://schemas.microsoft.com/office/drawing/2014/main" id="{68FCF33F-3ADA-4B96-92B9-87472351363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59125" y="1608982"/>
            <a:ext cx="1573212" cy="140335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6" descr="http://img.my.csdn.net/uploads/201210/18/1350573858_7400.jpg">
            <a:extLst>
              <a:ext uri="{FF2B5EF4-FFF2-40B4-BE49-F238E27FC236}">
                <a16:creationId xmlns:a16="http://schemas.microsoft.com/office/drawing/2014/main" id="{34592B2C-101F-41AE-838F-555AA62DB80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00600" y="1607394"/>
            <a:ext cx="1576387" cy="14033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1C65DE6C-2D26-4E91-91D2-A6902653C228}"/>
              </a:ext>
            </a:extLst>
          </p:cNvPr>
          <p:cNvSpPr>
            <a:spLocks noChangeArrowheads="1"/>
          </p:cNvSpPr>
          <p:nvPr/>
        </p:nvSpPr>
        <p:spPr bwMode="auto">
          <a:xfrm>
            <a:off x="1278325" y="1183774"/>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a:extLst>
              <a:ext uri="{FF2B5EF4-FFF2-40B4-BE49-F238E27FC236}">
                <a16:creationId xmlns:a16="http://schemas.microsoft.com/office/drawing/2014/main" id="{81B93403-DB2B-4A1D-8765-9B0C9269935B}"/>
              </a:ext>
            </a:extLst>
          </p:cNvPr>
          <p:cNvSpPr/>
          <p:nvPr/>
        </p:nvSpPr>
        <p:spPr>
          <a:xfrm>
            <a:off x="663892" y="3432686"/>
            <a:ext cx="7816215" cy="1200329"/>
          </a:xfrm>
          <a:prstGeom prst="rect">
            <a:avLst/>
          </a:prstGeom>
        </p:spPr>
        <p:txBody>
          <a:bodyPr wrap="square">
            <a:spAutoFit/>
          </a:bodyPr>
          <a:lstStyle/>
          <a:p>
            <a:pPr marL="285750" indent="-285750">
              <a:buFont typeface="Wingdings" panose="05000000000000000000" pitchFamily="2" charset="2"/>
              <a:buChar char="u"/>
            </a:pPr>
            <a:r>
              <a:rPr lang="en-US" altLang="zh-CN" sz="1800"/>
              <a:t>X </a:t>
            </a:r>
            <a:r>
              <a:rPr lang="zh-CN" altLang="en-US" sz="1800"/>
              <a:t>与</a:t>
            </a:r>
            <a:r>
              <a:rPr lang="en-US" altLang="zh-CN" sz="1800"/>
              <a:t>Y </a:t>
            </a:r>
            <a:r>
              <a:rPr lang="zh-CN" altLang="en-US" sz="1800"/>
              <a:t>正相关时，它们的分布大部分在区域</a:t>
            </a:r>
            <a:r>
              <a:rPr lang="en-US" altLang="zh-CN" sz="1800"/>
              <a:t>(1)</a:t>
            </a:r>
            <a:r>
              <a:rPr lang="zh-CN" altLang="en-US" sz="1800"/>
              <a:t>和</a:t>
            </a:r>
            <a:r>
              <a:rPr lang="en-US" altLang="zh-CN" sz="1800"/>
              <a:t>(3)</a:t>
            </a:r>
            <a:r>
              <a:rPr lang="zh-CN" altLang="en-US" sz="1800"/>
              <a:t>中，有</a:t>
            </a:r>
            <a:r>
              <a:rPr lang="en-US" altLang="zh-CN" sz="1800"/>
              <a:t>cov(X, Y)&gt;0</a:t>
            </a:r>
            <a:r>
              <a:rPr lang="zh-CN" altLang="en-US" sz="1800"/>
              <a:t>。</a:t>
            </a:r>
          </a:p>
          <a:p>
            <a:pPr marL="285750" indent="-285750">
              <a:buFont typeface="Wingdings" panose="05000000000000000000" pitchFamily="2" charset="2"/>
              <a:buChar char="u"/>
            </a:pPr>
            <a:r>
              <a:rPr lang="zh-CN" altLang="en-US" sz="1800"/>
              <a:t>当 </a:t>
            </a:r>
            <a:r>
              <a:rPr lang="en-US" altLang="zh-CN" sz="1800"/>
              <a:t>X</a:t>
            </a:r>
            <a:r>
              <a:rPr lang="zh-CN" altLang="en-US" sz="1800"/>
              <a:t>与 </a:t>
            </a:r>
            <a:r>
              <a:rPr lang="en-US" altLang="zh-CN" sz="1800"/>
              <a:t>Y</a:t>
            </a:r>
            <a:r>
              <a:rPr lang="zh-CN" altLang="en-US" sz="1800"/>
              <a:t>负相关时，它们的分布大部分在区域</a:t>
            </a:r>
            <a:r>
              <a:rPr lang="en-US" altLang="zh-CN" sz="1800"/>
              <a:t>(2)</a:t>
            </a:r>
            <a:r>
              <a:rPr lang="zh-CN" altLang="en-US" sz="1800"/>
              <a:t>和</a:t>
            </a:r>
            <a:r>
              <a:rPr lang="en-US" altLang="zh-CN" sz="1800"/>
              <a:t>(4)</a:t>
            </a:r>
            <a:r>
              <a:rPr lang="zh-CN" altLang="en-US" sz="1800"/>
              <a:t>中，有</a:t>
            </a:r>
            <a:r>
              <a:rPr lang="en-US" altLang="zh-CN" sz="1800"/>
              <a:t>cov(X, Y)&lt;0 </a:t>
            </a:r>
            <a:r>
              <a:rPr lang="zh-CN" altLang="en-US" sz="1800"/>
              <a:t>。</a:t>
            </a:r>
          </a:p>
          <a:p>
            <a:pPr marL="285750" indent="-285750">
              <a:buFont typeface="Wingdings" panose="05000000000000000000" pitchFamily="2" charset="2"/>
              <a:buChar char="u"/>
            </a:pPr>
            <a:r>
              <a:rPr lang="zh-CN" altLang="en-US" sz="1800"/>
              <a:t>当 </a:t>
            </a:r>
            <a:r>
              <a:rPr lang="en-US" altLang="zh-CN" sz="1800"/>
              <a:t>X</a:t>
            </a:r>
            <a:r>
              <a:rPr lang="zh-CN" altLang="en-US" sz="1800"/>
              <a:t>与 </a:t>
            </a:r>
            <a:r>
              <a:rPr lang="en-US" altLang="zh-CN" sz="1800"/>
              <a:t>Y</a:t>
            </a:r>
            <a:r>
              <a:rPr lang="zh-CN" altLang="en-US" sz="1800"/>
              <a:t>不相关时，它们在区域</a:t>
            </a:r>
            <a:r>
              <a:rPr lang="en-US" altLang="zh-CN" sz="1800"/>
              <a:t>(1)</a:t>
            </a:r>
            <a:r>
              <a:rPr lang="zh-CN" altLang="en-US" sz="1800"/>
              <a:t>和</a:t>
            </a:r>
            <a:r>
              <a:rPr lang="en-US" altLang="zh-CN" sz="1800"/>
              <a:t>(3)</a:t>
            </a:r>
            <a:r>
              <a:rPr lang="zh-CN" altLang="en-US" sz="1800"/>
              <a:t>中的分布，与在区域</a:t>
            </a:r>
            <a:r>
              <a:rPr lang="en-US" altLang="zh-CN" sz="1800"/>
              <a:t>(2)</a:t>
            </a:r>
            <a:r>
              <a:rPr lang="zh-CN" altLang="en-US" sz="1800"/>
              <a:t>和</a:t>
            </a:r>
            <a:r>
              <a:rPr lang="en-US" altLang="zh-CN" sz="1800"/>
              <a:t>(4)</a:t>
            </a:r>
            <a:r>
              <a:rPr lang="zh-CN" altLang="en-US" sz="1800"/>
              <a:t>中的分布几乎一样多，有</a:t>
            </a:r>
            <a:r>
              <a:rPr lang="en-US" altLang="zh-CN" sz="1800"/>
              <a:t>cov(X, Y)=0 </a:t>
            </a:r>
            <a:r>
              <a:rPr lang="zh-CN" altLang="en-US" sz="1800"/>
              <a:t>。</a:t>
            </a:r>
          </a:p>
        </p:txBody>
      </p:sp>
    </p:spTree>
    <p:extLst>
      <p:ext uri="{BB962C8B-B14F-4D97-AF65-F5344CB8AC3E}">
        <p14:creationId xmlns:p14="http://schemas.microsoft.com/office/powerpoint/2010/main" val="29102486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953135"/>
          </a:xfrm>
          <a:prstGeom prst="rect">
            <a:avLst/>
          </a:prstGeom>
          <a:noFill/>
        </p:spPr>
        <p:txBody>
          <a:bodyPr wrap="square" rtlCol="0">
            <a:spAutoFit/>
          </a:bodyPr>
          <a:lstStyle/>
          <a:p>
            <a:r>
              <a:rPr 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8.1.4数据相关性计算</a:t>
            </a:r>
          </a:p>
          <a:p>
            <a:endPar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graphicFrame>
        <p:nvGraphicFramePr>
          <p:cNvPr id="10" name="表格 9"/>
          <p:cNvGraphicFramePr/>
          <p:nvPr>
            <p:custDataLst>
              <p:tags r:id="rId1"/>
            </p:custDataLst>
          </p:nvPr>
        </p:nvGraphicFramePr>
        <p:xfrm>
          <a:off x="2032000" y="2921000"/>
          <a:ext cx="416560" cy="59436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0">
                <a:tc>
                  <a:txBody>
                    <a:bodyPr/>
                    <a:lstStyle/>
                    <a:p>
                      <a:pPr indent="0">
                        <a:buNone/>
                      </a:pPr>
                      <a:endParaRPr lang="zh-CN" altLang="en-US" b="0"/>
                    </a:p>
                  </a:txBody>
                  <a:tcPr>
                    <a:lnL>
                      <a:noFill/>
                    </a:lnL>
                    <a:lnR>
                      <a:noFill/>
                    </a:lnR>
                    <a:lnT cap="flat">
                      <a:noFill/>
                    </a:lnT>
                    <a:lnB cap="flat">
                      <a:noFill/>
                    </a:lnB>
                    <a:lnTlToBr>
                      <a:noFill/>
                    </a:lnTlToBr>
                    <a:lnBlToTr>
                      <a:noFill/>
                    </a:lnBlToTr>
                    <a:noFill/>
                  </a:tcPr>
                </a:tc>
                <a:tc>
                  <a:txBody>
                    <a:bodyPr/>
                    <a:lstStyle/>
                    <a:p>
                      <a:pPr>
                        <a:buNone/>
                      </a:pPr>
                      <a:endParaRPr lang="zh-CN" altLang="en-US"/>
                    </a:p>
                  </a:txBody>
                  <a:tcPr>
                    <a:lnL>
                      <a:noFill/>
                    </a:lnL>
                    <a:lnR>
                      <a:noFill/>
                    </a:lnR>
                    <a:lnT>
                      <a:noFill/>
                    </a:lnT>
                    <a:lnB cap="flat">
                      <a:noFill/>
                    </a:lnB>
                    <a:lnTlToBr>
                      <a:noFill/>
                    </a:lnTlToBr>
                    <a:lnBlToTr>
                      <a:noFill/>
                    </a:lnBlToTr>
                    <a:solidFill>
                      <a:srgbClr val="FFFFFF"/>
                    </a:solidFill>
                  </a:tcPr>
                </a:tc>
                <a:extLst>
                  <a:ext uri="{0D108BD9-81ED-4DB2-BD59-A6C34878D82A}">
                    <a16:rowId xmlns:a16="http://schemas.microsoft.com/office/drawing/2014/main" val="10000"/>
                  </a:ext>
                </a:extLst>
              </a:tr>
              <a:tr h="0">
                <a:tc>
                  <a:txBody>
                    <a:bodyPr/>
                    <a:lstStyle/>
                    <a:p>
                      <a:pPr indent="0">
                        <a:buNone/>
                      </a:pPr>
                      <a:endParaRPr lang="zh-CN" altLang="en-US"/>
                    </a:p>
                  </a:txBody>
                  <a:tcPr>
                    <a:lnL>
                      <a:noFill/>
                    </a:lnL>
                    <a:lnR>
                      <a:noFill/>
                    </a:lnR>
                    <a:lnT cap="flat">
                      <a:noFill/>
                    </a:lnT>
                    <a:lnB cap="flat">
                      <a:noFill/>
                    </a:lnB>
                    <a:lnTlToBr>
                      <a:noFill/>
                    </a:lnTlToBr>
                    <a:lnBlToTr>
                      <a:noFill/>
                    </a:lnBlToTr>
                    <a:noFill/>
                  </a:tcPr>
                </a:tc>
                <a:tc>
                  <a:txBody>
                    <a:bodyPr/>
                    <a:lstStyle/>
                    <a:p>
                      <a:pPr indent="0">
                        <a:buNone/>
                      </a:pPr>
                      <a:endParaRPr lang="zh-CN" altLang="en-US"/>
                    </a:p>
                  </a:txBody>
                  <a:tcPr>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文本框 2"/>
          <p:cNvSpPr txBox="1"/>
          <p:nvPr/>
        </p:nvSpPr>
        <p:spPr>
          <a:xfrm>
            <a:off x="588010" y="922020"/>
            <a:ext cx="8458835" cy="491490"/>
          </a:xfrm>
          <a:prstGeom prst="rect">
            <a:avLst/>
          </a:prstGeom>
          <a:noFill/>
          <a:ln w="9525">
            <a:noFill/>
          </a:ln>
        </p:spPr>
        <p:txBody>
          <a:bodyPr wrap="square">
            <a:spAutoFit/>
          </a:bodyPr>
          <a:lstStyle/>
          <a:p>
            <a:pPr indent="266700">
              <a:lnSpc>
                <a:spcPct val="130000"/>
              </a:lnSpc>
              <a:spcBef>
                <a:spcPts val="0"/>
              </a:spcBef>
              <a:spcAft>
                <a:spcPts val="0"/>
              </a:spcAft>
            </a:pPr>
            <a:r>
              <a:rPr sz="2000" b="1">
                <a:latin typeface="等线" panose="02010600030101010101" pitchFamily="2" charset="-122"/>
                <a:ea typeface="等线" panose="02010600030101010101" pitchFamily="2" charset="-122"/>
                <a:cs typeface="等线" panose="02010600030101010101" pitchFamily="2" charset="-122"/>
                <a:sym typeface="+mn-ea"/>
              </a:rPr>
              <a:t>2.皮尔逊相关系数</a:t>
            </a:r>
          </a:p>
        </p:txBody>
      </p:sp>
      <p:sp>
        <p:nvSpPr>
          <p:cNvPr id="102" name="文本框 101"/>
          <p:cNvSpPr txBox="1"/>
          <p:nvPr/>
        </p:nvSpPr>
        <p:spPr>
          <a:xfrm>
            <a:off x="396240" y="1322705"/>
            <a:ext cx="7557770" cy="16916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latin typeface="Cambria Math" panose="02040503050406030204" charset="0"/>
                <a:ea typeface="等线" panose="02010600030101010101" pitchFamily="2" charset="-122"/>
              </a:rPr>
              <a:t>    </a:t>
            </a:r>
            <a:r>
              <a:rPr lang="zh-CN" sz="2000" b="0">
                <a:latin typeface="Cambria Math" panose="02040503050406030204" charset="0"/>
                <a:ea typeface="等线" panose="02010600030101010101" pitchFamily="2" charset="-122"/>
              </a:rPr>
              <a:t>皮尔逊相关系数（</a:t>
            </a:r>
            <a:r>
              <a:rPr lang="en-US" sz="2000" b="0">
                <a:latin typeface="Cambria Math" panose="02040503050406030204" charset="0"/>
                <a:ea typeface="等线" panose="02010600030101010101" pitchFamily="2" charset="-122"/>
              </a:rPr>
              <a:t>Pearson correlation coefficient</a:t>
            </a:r>
            <a:r>
              <a:rPr lang="zh-CN" sz="2000" b="0">
                <a:latin typeface="Cambria Math" panose="02040503050406030204" charset="0"/>
                <a:ea typeface="等线" panose="02010600030101010101" pitchFamily="2" charset="-122"/>
              </a:rPr>
              <a:t>）也称为简单相关系数，是</a:t>
            </a:r>
            <a:r>
              <a:rPr lang="zh-CN" sz="2000" b="1">
                <a:latin typeface="Cambria Math" panose="02040503050406030204" charset="0"/>
                <a:ea typeface="等线" panose="02010600030101010101" pitchFamily="2" charset="-122"/>
              </a:rPr>
              <a:t>标准化的协方差</a:t>
            </a:r>
            <a:r>
              <a:rPr lang="zh-CN" sz="2000" b="0">
                <a:latin typeface="Cambria Math" panose="02040503050406030204" charset="0"/>
                <a:ea typeface="等线" panose="02010600030101010101" pitchFamily="2" charset="-122"/>
              </a:rPr>
              <a:t>，它的取值范围是</a:t>
            </a:r>
            <a:r>
              <a:rPr lang="en-US" sz="2000" b="0">
                <a:latin typeface="Cambria Math" panose="02040503050406030204" charset="0"/>
                <a:ea typeface="等线" panose="02010600030101010101" pitchFamily="2" charset="-122"/>
              </a:rPr>
              <a:t>[-1,1]</a:t>
            </a:r>
            <a:r>
              <a:rPr lang="zh-CN" sz="2000" b="0">
                <a:latin typeface="Cambria Math" panose="02040503050406030204" charset="0"/>
                <a:ea typeface="等线" panose="02010600030101010101" pitchFamily="2" charset="-122"/>
              </a:rPr>
              <a:t>。</a:t>
            </a:r>
          </a:p>
          <a:p>
            <a:pPr indent="266700">
              <a:lnSpc>
                <a:spcPct val="130000"/>
              </a:lnSpc>
              <a:spcBef>
                <a:spcPts val="0"/>
              </a:spcBef>
              <a:spcAft>
                <a:spcPts val="0"/>
              </a:spcAft>
            </a:pPr>
            <a:r>
              <a:rPr lang="en-US" altLang="zh-CN" sz="2000" b="0">
                <a:latin typeface="Cambria Math" panose="02040503050406030204" charset="0"/>
                <a:ea typeface="等线" panose="02010600030101010101" pitchFamily="2" charset="-122"/>
              </a:rPr>
              <a:t>   </a:t>
            </a:r>
            <a:r>
              <a:rPr lang="zh-CN" sz="2000" b="0">
                <a:latin typeface="Cambria Math" panose="02040503050406030204" charset="0"/>
                <a:ea typeface="等线" panose="02010600030101010101" pitchFamily="2" charset="-122"/>
              </a:rPr>
              <a:t>两个变量之间的皮尔逊相关系数被定义为两个变量之间的协方差和标准差的商：</a:t>
            </a:r>
            <a:endParaRPr lang="zh-CN" altLang="en-US" sz="2000"/>
          </a:p>
        </p:txBody>
      </p:sp>
      <p:sp>
        <p:nvSpPr>
          <p:cNvPr id="103" name="文本框 102"/>
          <p:cNvSpPr txBox="1"/>
          <p:nvPr/>
        </p:nvSpPr>
        <p:spPr>
          <a:xfrm>
            <a:off x="793115" y="3570605"/>
            <a:ext cx="5617210" cy="560705"/>
          </a:xfrm>
          <a:prstGeom prst="rect">
            <a:avLst/>
          </a:prstGeom>
          <a:noFill/>
          <a:ln w="9525">
            <a:noFill/>
          </a:ln>
        </p:spPr>
        <p:txBody>
          <a:bodyPr wrap="square">
            <a:spAutoFit/>
          </a:bodyPr>
          <a:lstStyle/>
          <a:p>
            <a:pPr indent="266700"/>
            <a:endParaRPr lang="en-US" sz="1050" b="0">
              <a:latin typeface="Cambria Math" panose="02040503050406030204" charset="0"/>
              <a:ea typeface="等线" panose="02010600030101010101" pitchFamily="2" charset="-122"/>
              <a:cs typeface="Times New Roman" panose="02020603050405020304" pitchFamily="18" charset="0"/>
            </a:endParaRPr>
          </a:p>
          <a:p>
            <a:pPr indent="266700"/>
            <a:r>
              <a:rPr lang="en-US" sz="1050" b="0">
                <a:latin typeface="Cambria Math" panose="02040503050406030204" charset="0"/>
                <a:ea typeface="等线" panose="02010600030101010101" pitchFamily="2" charset="-122"/>
                <a:cs typeface="Times New Roman" panose="02020603050405020304" pitchFamily="18" charset="0"/>
              </a:rPr>
              <a:t> </a:t>
            </a:r>
            <a:r>
              <a:rPr lang="zh-CN" sz="2000" b="0">
                <a:latin typeface="Cambria Math" panose="02040503050406030204" charset="0"/>
                <a:ea typeface="等线" panose="02010600030101010101" pitchFamily="2" charset="-122"/>
              </a:rPr>
              <a:t>上式定义了随机变量的</a:t>
            </a:r>
            <a:r>
              <a:rPr lang="zh-CN" sz="2000" b="1">
                <a:latin typeface="Cambria Math" panose="02040503050406030204" charset="0"/>
                <a:ea typeface="等线" panose="02010600030101010101" pitchFamily="2" charset="-122"/>
              </a:rPr>
              <a:t>总体</a:t>
            </a:r>
            <a:r>
              <a:rPr lang="zh-CN" sz="2000" b="0">
                <a:latin typeface="Cambria Math" panose="02040503050406030204" charset="0"/>
                <a:ea typeface="等线" panose="02010600030101010101" pitchFamily="2" charset="-122"/>
              </a:rPr>
              <a:t>相关系数。</a:t>
            </a:r>
            <a:endParaRPr lang="zh-CN" altLang="en-US" sz="2000"/>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C311DBF7-0175-49D1-B2DB-8D62ECD71215}"/>
                  </a:ext>
                </a:extLst>
              </p:cNvPr>
              <p:cNvSpPr/>
              <p:nvPr/>
            </p:nvSpPr>
            <p:spPr>
              <a:xfrm>
                <a:off x="2579029" y="2997600"/>
                <a:ext cx="3093539" cy="5298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𝜌</m:t>
                          </m:r>
                        </m:e>
                        <m:sub>
                          <m:r>
                            <a:rPr lang="zh-CN" altLang="en-US" i="1">
                              <a:latin typeface="Cambria Math" panose="02040503050406030204" pitchFamily="18" charset="0"/>
                            </a:rPr>
                            <m:t>𝑋𝑌</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d>
                            <m:dPr>
                              <m:begChr m:val=""/>
                              <m:ctrlPr>
                                <a:rPr lang="zh-CN" altLang="en-US" i="1">
                                  <a:latin typeface="Cambria Math" panose="02040503050406030204" pitchFamily="18" charset="0"/>
                                </a:rPr>
                              </m:ctrlPr>
                            </m:dPr>
                            <m:e>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cov</m:t>
                                  </m:r>
                                </m:fName>
                                <m:e>
                                  <m:d>
                                    <m:dPr>
                                      <m:endChr m:val=""/>
                                      <m:ctrlPr>
                                        <a:rPr lang="zh-CN" altLang="en-US" i="1">
                                          <a:latin typeface="Cambria Math" panose="02040503050406030204" pitchFamily="18" charset="0"/>
                                        </a:rPr>
                                      </m:ctrlPr>
                                    </m:dPr>
                                    <m:e>
                                      <m:r>
                                        <a:rPr lang="en-US" altLang="zh-CN" b="0" i="1" smtClean="0">
                                          <a:latin typeface="Cambria Math" panose="02040503050406030204" pitchFamily="18" charset="0"/>
                                        </a:rPr>
                                        <m:t>𝑋</m:t>
                                      </m:r>
                                      <m:r>
                                        <a:rPr lang="en-US" altLang="zh-CN" b="0" i="1" smtClean="0">
                                          <a:latin typeface="Cambria Math" panose="02040503050406030204" pitchFamily="18" charset="0"/>
                                        </a:rPr>
                                        <m:t>,</m:t>
                                      </m:r>
                                      <m:r>
                                        <a:rPr lang="en-US" altLang="zh-CN" b="0" i="1" smtClean="0">
                                          <a:latin typeface="Cambria Math" panose="02040503050406030204" pitchFamily="18" charset="0"/>
                                        </a:rPr>
                                        <m:t>𝑌</m:t>
                                      </m:r>
                                    </m:e>
                                  </m:d>
                                </m:e>
                              </m:func>
                            </m:e>
                          </m:d>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𝜎</m:t>
                              </m:r>
                            </m:e>
                            <m:sub>
                              <m:r>
                                <a:rPr lang="zh-CN" altLang="en-US" i="1">
                                  <a:latin typeface="Cambria Math" panose="02040503050406030204" pitchFamily="18" charset="0"/>
                                </a:rPr>
                                <m:t>𝑋</m:t>
                              </m:r>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𝜎</m:t>
                              </m:r>
                            </m:e>
                            <m:sub>
                              <m:r>
                                <a:rPr lang="zh-CN" altLang="en-US" i="1">
                                  <a:latin typeface="Cambria Math" panose="02040503050406030204" pitchFamily="18" charset="0"/>
                                </a:rPr>
                                <m:t>𝑌</m:t>
                              </m:r>
                            </m:sub>
                          </m:sSub>
                        </m:den>
                      </m:f>
                      <m:r>
                        <a:rPr lang="zh-CN" altLang="en-US" i="0">
                          <a:latin typeface="Cambria Math" panose="02040503050406030204" pitchFamily="18" charset="0"/>
                        </a:rPr>
                        <m:t>=</m:t>
                      </m:r>
                      <m:f>
                        <m:fPr>
                          <m:ctrlPr>
                            <a:rPr lang="zh-CN" altLang="en-US" i="1">
                              <a:latin typeface="Cambria Math" panose="02040503050406030204" pitchFamily="18" charset="0"/>
                            </a:rPr>
                          </m:ctrlPr>
                        </m:fPr>
                        <m:num>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𝐸</m:t>
                              </m:r>
                              <m:r>
                                <a:rPr lang="zh-CN" altLang="en-US" i="0">
                                  <a:latin typeface="Cambria Math" panose="02040503050406030204" pitchFamily="18" charset="0"/>
                                </a:rPr>
                                <m:t>[</m:t>
                              </m:r>
                              <m:r>
                                <a:rPr lang="zh-CN" altLang="en-US" i="1">
                                  <a:latin typeface="Cambria Math" panose="02040503050406030204" pitchFamily="18" charset="0"/>
                                </a:rPr>
                                <m:t>𝑋</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𝜇</m:t>
                                  </m:r>
                                </m:e>
                                <m:sub>
                                  <m:r>
                                    <a:rPr lang="zh-CN" altLang="en-US" i="1">
                                      <a:latin typeface="Cambria Math" panose="02040503050406030204" pitchFamily="18" charset="0"/>
                                    </a:rPr>
                                    <m:t>𝑋</m:t>
                                  </m:r>
                                </m:sub>
                              </m:sSub>
                              <m:r>
                                <a:rPr lang="zh-CN" altLang="en-US" i="0">
                                  <a:latin typeface="Cambria Math" panose="02040503050406030204" pitchFamily="18" charset="0"/>
                                </a:rPr>
                                <m:t>)(</m:t>
                              </m:r>
                              <m:r>
                                <a:rPr lang="zh-CN" altLang="en-US" i="1">
                                  <a:latin typeface="Cambria Math" panose="02040503050406030204" pitchFamily="18" charset="0"/>
                                </a:rPr>
                                <m:t>𝑌</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𝜇</m:t>
                                  </m:r>
                                </m:e>
                                <m:sub>
                                  <m:r>
                                    <a:rPr lang="zh-CN" altLang="en-US" i="1">
                                      <a:latin typeface="Cambria Math" panose="02040503050406030204" pitchFamily="18" charset="0"/>
                                    </a:rPr>
                                    <m:t>𝑌</m:t>
                                  </m:r>
                                </m:sub>
                              </m:sSub>
                              <m:r>
                                <a:rPr lang="zh-CN" altLang="en-US" i="0">
                                  <a:latin typeface="Cambria Math" panose="02040503050406030204" pitchFamily="18" charset="0"/>
                                </a:rPr>
                                <m:t>)</m:t>
                              </m:r>
                            </m:e>
                          </m:d>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𝜎</m:t>
                              </m:r>
                            </m:e>
                            <m:sub>
                              <m:r>
                                <a:rPr lang="zh-CN" altLang="en-US" i="1">
                                  <a:latin typeface="Cambria Math" panose="02040503050406030204" pitchFamily="18" charset="0"/>
                                </a:rPr>
                                <m:t>𝑋</m:t>
                              </m:r>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𝜎</m:t>
                              </m:r>
                            </m:e>
                            <m:sub>
                              <m:r>
                                <a:rPr lang="zh-CN" altLang="en-US" i="1">
                                  <a:latin typeface="Cambria Math" panose="02040503050406030204" pitchFamily="18" charset="0"/>
                                </a:rPr>
                                <m:t>𝑌</m:t>
                              </m:r>
                            </m:sub>
                          </m:sSub>
                        </m:den>
                      </m:f>
                    </m:oMath>
                  </m:oMathPara>
                </a14:m>
                <a:endParaRPr lang="zh-CN" altLang="en-US"/>
              </a:p>
            </p:txBody>
          </p:sp>
        </mc:Choice>
        <mc:Fallback xmlns="">
          <p:sp>
            <p:nvSpPr>
              <p:cNvPr id="2" name="矩形 1">
                <a:extLst>
                  <a:ext uri="{FF2B5EF4-FFF2-40B4-BE49-F238E27FC236}">
                    <a16:creationId xmlns:a16="http://schemas.microsoft.com/office/drawing/2014/main" id="{C311DBF7-0175-49D1-B2DB-8D62ECD71215}"/>
                  </a:ext>
                </a:extLst>
              </p:cNvPr>
              <p:cNvSpPr>
                <a:spLocks noRot="1" noChangeAspect="1" noMove="1" noResize="1" noEditPoints="1" noAdjustHandles="1" noChangeArrowheads="1" noChangeShapeType="1" noTextEdit="1"/>
              </p:cNvSpPr>
              <p:nvPr/>
            </p:nvSpPr>
            <p:spPr>
              <a:xfrm>
                <a:off x="2579029" y="2997600"/>
                <a:ext cx="3093539" cy="529889"/>
              </a:xfrm>
              <a:prstGeom prst="rect">
                <a:avLst/>
              </a:prstGeom>
              <a:blipFill>
                <a:blip r:embed="rId4"/>
                <a:stretch>
                  <a:fillRect t="-60920" r="-9843" b="-49425"/>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953135"/>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8.1.4数据相关性计算</a:t>
            </a:r>
          </a:p>
          <a:p>
            <a:endPar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graphicFrame>
        <p:nvGraphicFramePr>
          <p:cNvPr id="10" name="表格 9"/>
          <p:cNvGraphicFramePr/>
          <p:nvPr>
            <p:custDataLst>
              <p:tags r:id="rId1"/>
            </p:custDataLst>
          </p:nvPr>
        </p:nvGraphicFramePr>
        <p:xfrm>
          <a:off x="2032000" y="2921000"/>
          <a:ext cx="416560" cy="59436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0">
                <a:tc>
                  <a:txBody>
                    <a:bodyPr/>
                    <a:lstStyle/>
                    <a:p>
                      <a:pPr indent="0">
                        <a:buNone/>
                      </a:pPr>
                      <a:endParaRPr lang="zh-CN" altLang="en-US" b="0"/>
                    </a:p>
                  </a:txBody>
                  <a:tcPr>
                    <a:lnL>
                      <a:noFill/>
                    </a:lnL>
                    <a:lnR>
                      <a:noFill/>
                    </a:lnR>
                    <a:lnT cap="flat">
                      <a:noFill/>
                    </a:lnT>
                    <a:lnB cap="flat">
                      <a:noFill/>
                    </a:lnB>
                    <a:lnTlToBr>
                      <a:noFill/>
                    </a:lnTlToBr>
                    <a:lnBlToTr>
                      <a:noFill/>
                    </a:lnBlToTr>
                    <a:noFill/>
                  </a:tcPr>
                </a:tc>
                <a:tc>
                  <a:txBody>
                    <a:bodyPr/>
                    <a:lstStyle/>
                    <a:p>
                      <a:pPr>
                        <a:buNone/>
                      </a:pPr>
                      <a:endParaRPr lang="zh-CN" altLang="en-US"/>
                    </a:p>
                  </a:txBody>
                  <a:tcPr>
                    <a:lnL>
                      <a:noFill/>
                    </a:lnL>
                    <a:lnR>
                      <a:noFill/>
                    </a:lnR>
                    <a:lnT>
                      <a:noFill/>
                    </a:lnT>
                    <a:lnB cap="flat">
                      <a:noFill/>
                    </a:lnB>
                    <a:lnTlToBr>
                      <a:noFill/>
                    </a:lnTlToBr>
                    <a:lnBlToTr>
                      <a:noFill/>
                    </a:lnBlToTr>
                    <a:solidFill>
                      <a:srgbClr val="FFFFFF"/>
                    </a:solidFill>
                  </a:tcPr>
                </a:tc>
                <a:extLst>
                  <a:ext uri="{0D108BD9-81ED-4DB2-BD59-A6C34878D82A}">
                    <a16:rowId xmlns:a16="http://schemas.microsoft.com/office/drawing/2014/main" val="10000"/>
                  </a:ext>
                </a:extLst>
              </a:tr>
              <a:tr h="0">
                <a:tc>
                  <a:txBody>
                    <a:bodyPr/>
                    <a:lstStyle/>
                    <a:p>
                      <a:pPr indent="0">
                        <a:buNone/>
                      </a:pPr>
                      <a:endParaRPr lang="zh-CN" altLang="en-US"/>
                    </a:p>
                  </a:txBody>
                  <a:tcPr>
                    <a:lnL>
                      <a:noFill/>
                    </a:lnL>
                    <a:lnR>
                      <a:noFill/>
                    </a:lnR>
                    <a:lnT cap="flat">
                      <a:noFill/>
                    </a:lnT>
                    <a:lnB cap="flat">
                      <a:noFill/>
                    </a:lnB>
                    <a:lnTlToBr>
                      <a:noFill/>
                    </a:lnTlToBr>
                    <a:lnBlToTr>
                      <a:noFill/>
                    </a:lnBlToTr>
                    <a:noFill/>
                  </a:tcPr>
                </a:tc>
                <a:tc>
                  <a:txBody>
                    <a:bodyPr/>
                    <a:lstStyle/>
                    <a:p>
                      <a:pPr indent="0">
                        <a:buNone/>
                      </a:pPr>
                      <a:endParaRPr lang="zh-CN" altLang="en-US"/>
                    </a:p>
                  </a:txBody>
                  <a:tcPr>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文本框 2"/>
          <p:cNvSpPr txBox="1"/>
          <p:nvPr/>
        </p:nvSpPr>
        <p:spPr>
          <a:xfrm>
            <a:off x="155575" y="834390"/>
            <a:ext cx="8458835" cy="491490"/>
          </a:xfrm>
          <a:prstGeom prst="rect">
            <a:avLst/>
          </a:prstGeom>
          <a:noFill/>
          <a:ln w="9525">
            <a:noFill/>
          </a:ln>
        </p:spPr>
        <p:txBody>
          <a:bodyPr wrap="square">
            <a:spAutoFit/>
          </a:bodyPr>
          <a:lstStyle/>
          <a:p>
            <a:pPr indent="266700">
              <a:lnSpc>
                <a:spcPct val="130000"/>
              </a:lnSpc>
              <a:spcBef>
                <a:spcPts val="0"/>
              </a:spcBef>
              <a:spcAft>
                <a:spcPts val="0"/>
              </a:spcAft>
            </a:pPr>
            <a:r>
              <a:rPr lang="en-US" sz="2000" b="1">
                <a:latin typeface="等线" panose="02010600030101010101" pitchFamily="2" charset="-122"/>
                <a:ea typeface="等线" panose="02010600030101010101" pitchFamily="2" charset="-122"/>
                <a:cs typeface="等线" panose="02010600030101010101" pitchFamily="2" charset="-122"/>
                <a:sym typeface="+mn-ea"/>
              </a:rPr>
              <a:t>  </a:t>
            </a:r>
            <a:r>
              <a:rPr sz="2000" b="1">
                <a:latin typeface="等线" panose="02010600030101010101" pitchFamily="2" charset="-122"/>
                <a:ea typeface="等线" panose="02010600030101010101" pitchFamily="2" charset="-122"/>
                <a:cs typeface="等线" panose="02010600030101010101" pitchFamily="2" charset="-122"/>
                <a:sym typeface="+mn-ea"/>
              </a:rPr>
              <a:t>3.斯皮尔曼秩相关系数</a:t>
            </a:r>
          </a:p>
        </p:txBody>
      </p:sp>
      <p:sp>
        <p:nvSpPr>
          <p:cNvPr id="102" name="文本框 101"/>
          <p:cNvSpPr txBox="1"/>
          <p:nvPr/>
        </p:nvSpPr>
        <p:spPr>
          <a:xfrm>
            <a:off x="441960" y="1504315"/>
            <a:ext cx="7557770"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latin typeface="Cambria Math" panose="02040503050406030204" charset="0"/>
                <a:ea typeface="等线" panose="02010600030101010101" pitchFamily="2" charset="-122"/>
              </a:rPr>
              <a:t>   </a:t>
            </a:r>
            <a:endParaRPr lang="zh-CN" altLang="en-US" sz="2000"/>
          </a:p>
        </p:txBody>
      </p:sp>
      <p:sp>
        <p:nvSpPr>
          <p:cNvPr id="113" name="文本框 112"/>
          <p:cNvSpPr txBox="1"/>
          <p:nvPr/>
        </p:nvSpPr>
        <p:spPr>
          <a:xfrm>
            <a:off x="349250" y="1257935"/>
            <a:ext cx="8517890" cy="3415030"/>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1">
                <a:latin typeface="Cambria Math" panose="02040503050406030204" charset="0"/>
                <a:ea typeface="等线" panose="02010600030101010101" pitchFamily="2" charset="-122"/>
              </a:rPr>
              <a:t>   </a:t>
            </a:r>
            <a:r>
              <a:rPr lang="zh-CN" sz="2000" b="1">
                <a:latin typeface="Cambria Math" panose="02040503050406030204" charset="0"/>
                <a:ea typeface="等线" panose="02010600030101010101" pitchFamily="2" charset="-122"/>
              </a:rPr>
              <a:t>斯皮尔曼秩相关系数（</a:t>
            </a:r>
            <a:r>
              <a:rPr lang="en-US" sz="2000" b="1">
                <a:latin typeface="Cambria Math" panose="02040503050406030204" charset="0"/>
                <a:ea typeface="等线" panose="02010600030101010101" pitchFamily="2" charset="-122"/>
              </a:rPr>
              <a:t>Spearman rank correlation coefficient</a:t>
            </a:r>
            <a:r>
              <a:rPr lang="zh-CN" sz="2000" b="1">
                <a:latin typeface="Cambria Math" panose="02040503050406030204" charset="0"/>
                <a:ea typeface="等线" panose="02010600030101010101" pitchFamily="2" charset="-122"/>
              </a:rPr>
              <a:t>）</a:t>
            </a:r>
            <a:r>
              <a:rPr lang="zh-CN" sz="2000" b="0">
                <a:latin typeface="Cambria Math" panose="02040503050406030204" charset="0"/>
                <a:ea typeface="等线" panose="02010600030101010101" pitchFamily="2" charset="-122"/>
              </a:rPr>
              <a:t>与皮尔逊相关系数一样，它也可以反映两组变量联系的紧密程度，取值在</a:t>
            </a:r>
            <a:r>
              <a:rPr lang="en-US" sz="2000" b="0">
                <a:latin typeface="Cambria Math" panose="02040503050406030204" charset="0"/>
                <a:ea typeface="等线" panose="02010600030101010101" pitchFamily="2" charset="-122"/>
              </a:rPr>
              <a:t>[-1,1]</a:t>
            </a:r>
            <a:r>
              <a:rPr lang="zh-CN" sz="2000" b="0">
                <a:latin typeface="Cambria Math" panose="02040503050406030204" charset="0"/>
                <a:ea typeface="等线" panose="02010600030101010101" pitchFamily="2" charset="-122"/>
              </a:rPr>
              <a:t>之间，计算方法上也完全相同，不同的是它建立在秩次的基础之上，对原始变量的分布和样本容量的大小不作要求，属于非参数统计方法，适用范围更广。</a:t>
            </a:r>
            <a:endParaRPr lang="zh-CN" sz="2000" b="0">
              <a:ea typeface="等线" panose="02010600030101010101" pitchFamily="2" charset="-122"/>
            </a:endParaRPr>
          </a:p>
          <a:p>
            <a:pPr indent="266700">
              <a:lnSpc>
                <a:spcPct val="120000"/>
              </a:lnSpc>
              <a:spcBef>
                <a:spcPts val="0"/>
              </a:spcBef>
              <a:spcAft>
                <a:spcPts val="0"/>
              </a:spcAft>
            </a:pPr>
            <a:r>
              <a:rPr lang="zh-CN" sz="2000" b="0">
                <a:ea typeface="等线" panose="02010600030101010101" pitchFamily="2" charset="-122"/>
              </a:rPr>
              <a:t>设</a:t>
            </a:r>
            <a:r>
              <a:rPr lang="en-US" sz="2000" b="0">
                <a:latin typeface="等线" panose="02010600030101010101" pitchFamily="2" charset="-122"/>
                <a:ea typeface="等线" panose="02010600030101010101" pitchFamily="2" charset="-122"/>
                <a:cs typeface="Times New Roman" panose="02020603050405020304" pitchFamily="18" charset="0"/>
              </a:rPr>
              <a:t>R(r</a:t>
            </a:r>
            <a:r>
              <a:rPr lang="en-US" sz="2000" b="0" baseline="-25000">
                <a:latin typeface="等线" panose="02010600030101010101" pitchFamily="2" charset="-122"/>
                <a:ea typeface="等线" panose="02010600030101010101" pitchFamily="2" charset="-122"/>
              </a:rPr>
              <a:t>1</a:t>
            </a:r>
            <a:r>
              <a:rPr lang="en-US" sz="2000" b="0">
                <a:latin typeface="等线" panose="02010600030101010101" pitchFamily="2" charset="-122"/>
                <a:ea typeface="等线" panose="02010600030101010101" pitchFamily="2" charset="-122"/>
              </a:rPr>
              <a:t>,r</a:t>
            </a:r>
            <a:r>
              <a:rPr lang="en-US" sz="2000" b="0" baseline="-25000">
                <a:latin typeface="等线" panose="02010600030101010101" pitchFamily="2" charset="-122"/>
                <a:ea typeface="等线" panose="02010600030101010101" pitchFamily="2" charset="-122"/>
              </a:rPr>
              <a:t>2</a:t>
            </a:r>
            <a:r>
              <a:rPr lang="en-US" sz="2000" b="0">
                <a:latin typeface="等线" panose="02010600030101010101" pitchFamily="2" charset="-122"/>
                <a:ea typeface="等线" panose="02010600030101010101" pitchFamily="2" charset="-122"/>
              </a:rPr>
              <a:t>,…,r</a:t>
            </a:r>
            <a:r>
              <a:rPr lang="en-US" sz="2000" b="0" baseline="-25000">
                <a:latin typeface="等线" panose="02010600030101010101" pitchFamily="2" charset="-122"/>
                <a:ea typeface="等线" panose="02010600030101010101" pitchFamily="2" charset="-122"/>
              </a:rPr>
              <a:t>n</a:t>
            </a:r>
            <a:r>
              <a:rPr lang="zh-CN" sz="2000" b="0">
                <a:ea typeface="等线" panose="02010600030101010101" pitchFamily="2" charset="-122"/>
              </a:rPr>
              <a:t>)表示X在（x</a:t>
            </a:r>
            <a:r>
              <a:rPr lang="en-US" sz="2000" b="0" baseline="-25000">
                <a:latin typeface="等线" panose="02010600030101010101" pitchFamily="2" charset="-122"/>
                <a:ea typeface="等线" panose="02010600030101010101" pitchFamily="2" charset="-122"/>
              </a:rPr>
              <a:t>1</a:t>
            </a:r>
            <a:r>
              <a:rPr lang="en-US" sz="2000" b="0">
                <a:latin typeface="等线" panose="02010600030101010101" pitchFamily="2" charset="-122"/>
                <a:ea typeface="等线" panose="02010600030101010101" pitchFamily="2" charset="-122"/>
              </a:rPr>
              <a:t>,x</a:t>
            </a:r>
            <a:r>
              <a:rPr lang="en-US" sz="2000" b="0" baseline="-25000">
                <a:latin typeface="等线" panose="02010600030101010101" pitchFamily="2" charset="-122"/>
                <a:ea typeface="等线" panose="02010600030101010101" pitchFamily="2" charset="-122"/>
              </a:rPr>
              <a:t>2</a:t>
            </a:r>
            <a:r>
              <a:rPr lang="en-US" sz="2000" b="0">
                <a:latin typeface="等线" panose="02010600030101010101" pitchFamily="2" charset="-122"/>
                <a:ea typeface="等线" panose="02010600030101010101" pitchFamily="2" charset="-122"/>
              </a:rPr>
              <a:t>,…,x</a:t>
            </a:r>
            <a:r>
              <a:rPr lang="en-US" sz="2000" b="0" baseline="-25000">
                <a:latin typeface="等线" panose="02010600030101010101" pitchFamily="2" charset="-122"/>
                <a:ea typeface="等线" panose="02010600030101010101" pitchFamily="2" charset="-122"/>
              </a:rPr>
              <a:t>n</a:t>
            </a:r>
            <a:r>
              <a:rPr lang="zh-CN" sz="2000" b="0">
                <a:ea typeface="等线" panose="02010600030101010101" pitchFamily="2" charset="-122"/>
              </a:rPr>
              <a:t>）中的秩，</a:t>
            </a:r>
            <a:r>
              <a:rPr lang="en-US" sz="2000" b="0">
                <a:latin typeface="等线" panose="02010600030101010101" pitchFamily="2" charset="-122"/>
                <a:ea typeface="等线" panose="02010600030101010101" pitchFamily="2" charset="-122"/>
                <a:cs typeface="Times New Roman" panose="02020603050405020304" pitchFamily="18" charset="0"/>
              </a:rPr>
              <a:t>Q(q</a:t>
            </a:r>
            <a:r>
              <a:rPr lang="en-US" sz="2000" b="0" baseline="-25000">
                <a:latin typeface="等线" panose="02010600030101010101" pitchFamily="2" charset="-122"/>
                <a:ea typeface="等线" panose="02010600030101010101" pitchFamily="2" charset="-122"/>
              </a:rPr>
              <a:t>1</a:t>
            </a:r>
            <a:r>
              <a:rPr lang="en-US" sz="2000" b="0">
                <a:latin typeface="等线" panose="02010600030101010101" pitchFamily="2" charset="-122"/>
                <a:ea typeface="等线" panose="02010600030101010101" pitchFamily="2" charset="-122"/>
              </a:rPr>
              <a:t>,q</a:t>
            </a:r>
            <a:r>
              <a:rPr lang="en-US" sz="2000" b="0" baseline="-25000">
                <a:latin typeface="等线" panose="02010600030101010101" pitchFamily="2" charset="-122"/>
                <a:ea typeface="等线" panose="02010600030101010101" pitchFamily="2" charset="-122"/>
              </a:rPr>
              <a:t>2</a:t>
            </a:r>
            <a:r>
              <a:rPr lang="en-US" sz="2000" b="0">
                <a:latin typeface="等线" panose="02010600030101010101" pitchFamily="2" charset="-122"/>
                <a:ea typeface="等线" panose="02010600030101010101" pitchFamily="2" charset="-122"/>
              </a:rPr>
              <a:t>,…,q</a:t>
            </a:r>
            <a:r>
              <a:rPr lang="en-US" sz="2000" b="0" baseline="-25000">
                <a:latin typeface="等线" panose="02010600030101010101" pitchFamily="2" charset="-122"/>
                <a:ea typeface="等线" panose="02010600030101010101" pitchFamily="2" charset="-122"/>
              </a:rPr>
              <a:t>n</a:t>
            </a:r>
            <a:r>
              <a:rPr lang="zh-CN" sz="2000" b="0">
                <a:ea typeface="等线" panose="02010600030101010101" pitchFamily="2" charset="-122"/>
              </a:rPr>
              <a:t>)表示Y在（y</a:t>
            </a:r>
            <a:r>
              <a:rPr lang="en-US" sz="2000" b="0" baseline="-25000">
                <a:latin typeface="等线" panose="02010600030101010101" pitchFamily="2" charset="-122"/>
                <a:ea typeface="等线" panose="02010600030101010101" pitchFamily="2" charset="-122"/>
              </a:rPr>
              <a:t>1</a:t>
            </a:r>
            <a:r>
              <a:rPr lang="en-US" sz="2000" b="0">
                <a:latin typeface="等线" panose="02010600030101010101" pitchFamily="2" charset="-122"/>
                <a:ea typeface="等线" panose="02010600030101010101" pitchFamily="2" charset="-122"/>
              </a:rPr>
              <a:t>,y</a:t>
            </a:r>
            <a:r>
              <a:rPr lang="en-US" sz="2000" b="0" baseline="-25000">
                <a:latin typeface="等线" panose="02010600030101010101" pitchFamily="2" charset="-122"/>
                <a:ea typeface="等线" panose="02010600030101010101" pitchFamily="2" charset="-122"/>
              </a:rPr>
              <a:t>2</a:t>
            </a:r>
            <a:r>
              <a:rPr lang="en-US" sz="2000" b="0">
                <a:latin typeface="等线" panose="02010600030101010101" pitchFamily="2" charset="-122"/>
                <a:ea typeface="等线" panose="02010600030101010101" pitchFamily="2" charset="-122"/>
              </a:rPr>
              <a:t>,…,y</a:t>
            </a:r>
            <a:r>
              <a:rPr lang="en-US" sz="2000" b="0" baseline="-25000">
                <a:latin typeface="等线" panose="02010600030101010101" pitchFamily="2" charset="-122"/>
                <a:ea typeface="等线" panose="02010600030101010101" pitchFamily="2" charset="-122"/>
              </a:rPr>
              <a:t>n</a:t>
            </a:r>
            <a:r>
              <a:rPr lang="zh-CN" sz="2000" b="0">
                <a:ea typeface="等线" panose="02010600030101010101" pitchFamily="2" charset="-122"/>
              </a:rPr>
              <a:t>）中的秩，如果</a:t>
            </a:r>
            <a:r>
              <a:rPr lang="zh-CN" sz="2000" b="0">
                <a:ea typeface="等线" panose="02010600030101010101" pitchFamily="2" charset="-122"/>
                <a:cs typeface="Times New Roman" panose="02020603050405020304" pitchFamily="18" charset="0"/>
              </a:rPr>
              <a:t>X和Y具有同步性，那么R和Q也会表现出同步性，反之亦然，将其代入皮尔逊相关系数的计算公式，就得到秩之间的一致性，也就是Spearman相关系数。</a:t>
            </a:r>
            <a:endParaRPr lang="zh-CN" sz="2000" b="0">
              <a:ea typeface="等线" panose="02010600030101010101" pitchFamily="2" charset="-122"/>
            </a:endParaRPr>
          </a:p>
          <a:p>
            <a:pPr indent="266700">
              <a:lnSpc>
                <a:spcPct val="120000"/>
              </a:lnSpc>
              <a:spcBef>
                <a:spcPts val="0"/>
              </a:spcBef>
              <a:spcAft>
                <a:spcPts val="0"/>
              </a:spcAft>
            </a:pPr>
            <a:r>
              <a:rPr lang="zh-CN" sz="2000" b="0">
                <a:ea typeface="等线" panose="02010600030101010101" pitchFamily="2" charset="-122"/>
              </a:rPr>
              <a:t>斯皮尔曼秩相关系数的定义为</a:t>
            </a:r>
            <a:r>
              <a:rPr lang="en-US" sz="2000" b="0">
                <a:latin typeface="等线" panose="02010600030101010101" pitchFamily="2" charset="-122"/>
                <a:ea typeface="等线" panose="02010600030101010101" pitchFamily="2" charset="-122"/>
                <a:cs typeface="Times New Roman" panose="02020603050405020304" pitchFamily="18" charset="0"/>
              </a:rPr>
              <a:t>:</a:t>
            </a:r>
            <a:endParaRPr lang="zh-CN" altLang="en-US" sz="2000"/>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70733878-3F3D-4851-95C5-4E272E93D54F}"/>
                  </a:ext>
                </a:extLst>
              </p:cNvPr>
              <p:cNvSpPr/>
              <p:nvPr/>
            </p:nvSpPr>
            <p:spPr>
              <a:xfrm>
                <a:off x="4222750" y="4009348"/>
                <a:ext cx="4572000" cy="599523"/>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𝑟</m:t>
                      </m:r>
                      <m:r>
                        <a:rPr lang="zh-CN" altLang="en-US" i="0">
                          <a:latin typeface="Cambria Math" panose="02040503050406030204" pitchFamily="18" charset="0"/>
                        </a:rPr>
                        <m:t>(</m:t>
                      </m:r>
                      <m:r>
                        <a:rPr lang="zh-CN" altLang="en-US" i="1">
                          <a:latin typeface="Cambria Math" panose="02040503050406030204" pitchFamily="18" charset="0"/>
                        </a:rPr>
                        <m:t>𝑋</m:t>
                      </m:r>
                      <m:r>
                        <a:rPr lang="zh-CN" altLang="en-US" i="0">
                          <a:latin typeface="Cambria Math" panose="02040503050406030204" pitchFamily="18" charset="0"/>
                        </a:rPr>
                        <m:t>,</m:t>
                      </m:r>
                      <m:r>
                        <a:rPr lang="zh-CN" altLang="en-US" i="1">
                          <a:latin typeface="Cambria Math" panose="02040503050406030204" pitchFamily="18" charset="0"/>
                        </a:rPr>
                        <m:t>𝑌</m:t>
                      </m:r>
                      <m:r>
                        <a:rPr lang="zh-CN" altLang="en-US" i="0">
                          <a:latin typeface="Cambria Math" panose="02040503050406030204" pitchFamily="18" charset="0"/>
                        </a:rPr>
                        <m:t>)=1−</m:t>
                      </m:r>
                      <m:f>
                        <m:fPr>
                          <m:ctrlPr>
                            <a:rPr lang="zh-CN" altLang="en-US" i="1">
                              <a:latin typeface="Cambria Math" panose="02040503050406030204" pitchFamily="18" charset="0"/>
                            </a:rPr>
                          </m:ctrlPr>
                        </m:fPr>
                        <m:num>
                          <m:d>
                            <m:dPr>
                              <m:begChr m:val=""/>
                              <m:endChr m:val="]"/>
                              <m:ctrlPr>
                                <a:rPr lang="zh-CN" altLang="en-US" i="1">
                                  <a:latin typeface="Cambria Math" panose="02040503050406030204" pitchFamily="18" charset="0"/>
                                </a:rPr>
                              </m:ctrlPr>
                            </m:dPr>
                            <m:e>
                              <m:r>
                                <a:rPr lang="zh-CN" altLang="en-US" i="0" smtClean="0">
                                  <a:latin typeface="Cambria Math" panose="02040503050406030204" pitchFamily="18" charset="0"/>
                                </a:rPr>
                                <m:t>6</m:t>
                              </m:r>
                              <m:sSup>
                                <m:sSupPr>
                                  <m:ctrlPr>
                                    <a:rPr lang="en-US" altLang="zh-CN" b="0" i="1" smtClean="0">
                                      <a:latin typeface="Cambria Math" panose="02040503050406030204" pitchFamily="18" charset="0"/>
                                    </a:rPr>
                                  </m:ctrlPr>
                                </m:sSupPr>
                                <m:e>
                                  <m:d>
                                    <m:dPr>
                                      <m:begChr m:val="["/>
                                      <m:ctrlPr>
                                        <a:rPr lang="zh-CN" altLang="en-US" i="1" smtClean="0">
                                          <a:latin typeface="Cambria Math" panose="02040503050406030204" pitchFamily="18" charset="0"/>
                                        </a:rPr>
                                      </m:ctrlPr>
                                    </m:dPr>
                                    <m:e>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𝑞</m:t>
                                              </m:r>
                                            </m:e>
                                            <m:sub>
                                              <m:r>
                                                <a:rPr lang="en-US" altLang="zh-CN" i="1">
                                                  <a:latin typeface="Cambria Math" panose="02040503050406030204" pitchFamily="18" charset="0"/>
                                                </a:rPr>
                                                <m:t>1</m:t>
                                              </m:r>
                                            </m:sub>
                                          </m:sSub>
                                        </m:e>
                                      </m:d>
                                    </m:e>
                                  </m:d>
                                </m:e>
                                <m:sup>
                                  <m:r>
                                    <a:rPr lang="en-US" altLang="zh-CN" b="0" i="0" smtClean="0">
                                      <a:latin typeface="Cambria Math" panose="02040503050406030204" pitchFamily="18" charset="0"/>
                                    </a:rPr>
                                    <m:t>2</m:t>
                                  </m:r>
                                </m:sup>
                              </m:sSup>
                              <m:r>
                                <a:rPr lang="en-US" altLang="zh-CN" b="0" i="0" smtClean="0">
                                  <a:latin typeface="Cambria Math" panose="02040503050406030204" pitchFamily="18" charset="0"/>
                                </a:rPr>
                                <m:t>+</m:t>
                              </m:r>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0" smtClean="0">
                                              <a:latin typeface="Cambria Math" panose="02040503050406030204" pitchFamily="18" charset="0"/>
                                            </a:rPr>
                                            <m:t>2</m:t>
                                          </m:r>
                                        </m:sub>
                                      </m:sSub>
                                      <m:r>
                                        <a:rPr lang="en-US" altLang="zh-CN" b="0" i="0"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a:rPr lang="en-US" altLang="zh-CN" b="0" i="0" smtClean="0">
                                              <a:latin typeface="Cambria Math" panose="02040503050406030204" pitchFamily="18" charset="0"/>
                                            </a:rPr>
                                            <m:t>2</m:t>
                                          </m:r>
                                        </m:sub>
                                      </m:sSub>
                                    </m:e>
                                  </m:d>
                                </m:e>
                                <m:sup>
                                  <m:r>
                                    <a:rPr lang="en-US" altLang="zh-CN" b="0" i="0" smtClean="0">
                                      <a:latin typeface="Cambria Math" panose="02040503050406030204" pitchFamily="18" charset="0"/>
                                    </a:rPr>
                                    <m:t>2</m:t>
                                  </m:r>
                                </m:sup>
                              </m:sSup>
                              <m:r>
                                <a:rPr lang="zh-CN" altLang="en-US" i="0">
                                  <a:latin typeface="Cambria Math" panose="02040503050406030204" pitchFamily="18" charset="0"/>
                                </a:rPr>
                                <m:t>+...+</m:t>
                              </m:r>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m:rPr>
                                              <m:sty m:val="p"/>
                                            </m:rPr>
                                            <a:rPr lang="en-US" altLang="zh-CN" b="0" i="0" smtClean="0">
                                              <a:latin typeface="Cambria Math" panose="02040503050406030204" pitchFamily="18" charset="0"/>
                                            </a:rPr>
                                            <m:t>n</m:t>
                                          </m:r>
                                        </m:sub>
                                      </m:sSub>
                                      <m:r>
                                        <a:rPr lang="en-US" altLang="zh-CN" b="0" i="0"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𝑞</m:t>
                                          </m:r>
                                        </m:e>
                                        <m:sub>
                                          <m:r>
                                            <m:rPr>
                                              <m:sty m:val="p"/>
                                            </m:rPr>
                                            <a:rPr lang="en-US" altLang="zh-CN" b="0" i="0" smtClean="0">
                                              <a:latin typeface="Cambria Math" panose="02040503050406030204" pitchFamily="18" charset="0"/>
                                            </a:rPr>
                                            <m:t>n</m:t>
                                          </m:r>
                                        </m:sub>
                                      </m:sSub>
                                    </m:e>
                                  </m:d>
                                </m:e>
                                <m:sup>
                                  <m:r>
                                    <a:rPr lang="en-US" altLang="zh-CN" b="0" i="0" smtClean="0">
                                      <a:latin typeface="Cambria Math" panose="02040503050406030204" pitchFamily="18" charset="0"/>
                                    </a:rPr>
                                    <m:t>2</m:t>
                                  </m:r>
                                </m:sup>
                              </m:sSup>
                            </m:e>
                          </m:d>
                        </m:num>
                        <m:den>
                          <m:sSup>
                            <m:sSupPr>
                              <m:ctrlPr>
                                <a:rPr lang="zh-CN" altLang="en-US" i="1">
                                  <a:latin typeface="Cambria Math" panose="02040503050406030204" pitchFamily="18" charset="0"/>
                                </a:rPr>
                              </m:ctrlPr>
                            </m:sSupPr>
                            <m:e>
                              <m:r>
                                <a:rPr lang="zh-CN" altLang="en-US" i="1">
                                  <a:latin typeface="Cambria Math" panose="02040503050406030204" pitchFamily="18" charset="0"/>
                                </a:rPr>
                                <m:t>𝑛</m:t>
                              </m:r>
                            </m:e>
                            <m:sup>
                              <m:r>
                                <a:rPr lang="zh-CN" altLang="en-US" i="0">
                                  <a:latin typeface="Cambria Math" panose="02040503050406030204" pitchFamily="18" charset="0"/>
                                </a:rPr>
                                <m:t>3</m:t>
                              </m:r>
                            </m:sup>
                          </m:sSup>
                          <m:r>
                            <a:rPr lang="zh-CN" altLang="en-US" i="0">
                              <a:latin typeface="Cambria Math" panose="02040503050406030204" pitchFamily="18" charset="0"/>
                            </a:rPr>
                            <m:t>−</m:t>
                          </m:r>
                          <m:r>
                            <a:rPr lang="zh-CN" altLang="en-US" i="1">
                              <a:latin typeface="Cambria Math" panose="02040503050406030204" pitchFamily="18" charset="0"/>
                            </a:rPr>
                            <m:t>𝑛</m:t>
                          </m:r>
                        </m:den>
                      </m:f>
                    </m:oMath>
                  </m:oMathPara>
                </a14:m>
                <a:endParaRPr lang="zh-CN" altLang="en-US"/>
              </a:p>
            </p:txBody>
          </p:sp>
        </mc:Choice>
        <mc:Fallback xmlns="">
          <p:sp>
            <p:nvSpPr>
              <p:cNvPr id="4" name="矩形 3">
                <a:extLst>
                  <a:ext uri="{FF2B5EF4-FFF2-40B4-BE49-F238E27FC236}">
                    <a16:creationId xmlns:a16="http://schemas.microsoft.com/office/drawing/2014/main" id="{70733878-3F3D-4851-95C5-4E272E93D54F}"/>
                  </a:ext>
                </a:extLst>
              </p:cNvPr>
              <p:cNvSpPr>
                <a:spLocks noRot="1" noChangeAspect="1" noMove="1" noResize="1" noEditPoints="1" noAdjustHandles="1" noChangeArrowheads="1" noChangeShapeType="1" noTextEdit="1"/>
              </p:cNvSpPr>
              <p:nvPr/>
            </p:nvSpPr>
            <p:spPr>
              <a:xfrm>
                <a:off x="4222750" y="4009348"/>
                <a:ext cx="4572000" cy="599523"/>
              </a:xfrm>
              <a:prstGeom prst="rect">
                <a:avLst/>
              </a:prstGeom>
              <a:blipFill>
                <a:blip r:embed="rId4"/>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97706" y="0"/>
            <a:ext cx="9141291" cy="5143500"/>
          </a:xfrm>
          <a:prstGeom prst="rect">
            <a:avLst/>
          </a:prstGeom>
        </p:spPr>
      </p:pic>
      <p:grpSp>
        <p:nvGrpSpPr>
          <p:cNvPr id="32" name="组合 14"/>
          <p:cNvGrpSpPr/>
          <p:nvPr/>
        </p:nvGrpSpPr>
        <p:grpSpPr bwMode="auto">
          <a:xfrm>
            <a:off x="2143825" y="2399148"/>
            <a:ext cx="4167679" cy="124642"/>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1940560" y="1654175"/>
            <a:ext cx="6555105" cy="645160"/>
          </a:xfrm>
          <a:prstGeom prst="rect">
            <a:avLst/>
          </a:prstGeom>
          <a:noFill/>
        </p:spPr>
        <p:txBody>
          <a:bodyPr wrap="square">
            <a:spAutoFit/>
          </a:bodyPr>
          <a:lstStyle/>
          <a:p>
            <a:r>
              <a:rPr lang="en-US" altLang="zh-CN" sz="3600" b="1">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  </a:t>
            </a:r>
            <a:r>
              <a:rPr lang="zh-CN" altLang="en-US" sz="3600" b="1">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回归分析</a:t>
            </a:r>
          </a:p>
        </p:txBody>
      </p:sp>
      <p:sp>
        <p:nvSpPr>
          <p:cNvPr id="41" name="文本框 40"/>
          <p:cNvSpPr txBox="1">
            <a:spLocks noChangeArrowheads="1"/>
          </p:cNvSpPr>
          <p:nvPr/>
        </p:nvSpPr>
        <p:spPr bwMode="auto">
          <a:xfrm>
            <a:off x="520569" y="1539377"/>
            <a:ext cx="1698527" cy="922020"/>
          </a:xfrm>
          <a:prstGeom prst="rect">
            <a:avLst/>
          </a:prstGeom>
          <a:noFill/>
          <a:ln w="9525">
            <a:noFill/>
            <a:miter lim="800000"/>
          </a:ln>
        </p:spPr>
        <p:txBody>
          <a:bodyPr wrap="square">
            <a:spAutoFit/>
          </a:bodyPr>
          <a:lstStyle/>
          <a:p>
            <a:pPr algn="ctr"/>
            <a:r>
              <a:rPr lang="en-US" altLang="zh-CN" sz="5400">
                <a:solidFill>
                  <a:srgbClr val="00B0F0"/>
                </a:solidFill>
                <a:latin typeface="IrisUPC" panose="020B0604020202020204" pitchFamily="34" charset="-34"/>
                <a:cs typeface="IrisUPC" panose="020B0604020202020204" pitchFamily="34" charset="-34"/>
              </a:rPr>
              <a:t>8.2</a:t>
            </a:r>
          </a:p>
        </p:txBody>
      </p:sp>
      <p:sp>
        <p:nvSpPr>
          <p:cNvPr id="4" name="文本框 3"/>
          <p:cNvSpPr txBox="1"/>
          <p:nvPr/>
        </p:nvSpPr>
        <p:spPr>
          <a:xfrm>
            <a:off x="2143760" y="2695575"/>
            <a:ext cx="4535170" cy="64516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800">
                <a:solidFill>
                  <a:schemeClr val="bg1"/>
                </a:solidFill>
                <a:latin typeface="微软雅黑" panose="020B0503020204020204" pitchFamily="34" charset="-122"/>
                <a:ea typeface="微软雅黑" panose="020B0503020204020204" pitchFamily="34" charset="-122"/>
              </a:rPr>
              <a:t>一元线性回归（Linear Regression）</a:t>
            </a:r>
          </a:p>
          <a:p>
            <a:pPr marL="285750" indent="-285750">
              <a:buFont typeface="Wingdings" panose="05000000000000000000" pitchFamily="2" charset="2"/>
              <a:buChar char="Ø"/>
            </a:pPr>
            <a:r>
              <a:rPr lang="zh-CN" altLang="en-US" sz="1800">
                <a:solidFill>
                  <a:schemeClr val="bg1"/>
                </a:solidFill>
                <a:latin typeface="微软雅黑" panose="020B0503020204020204" pitchFamily="34" charset="-122"/>
                <a:ea typeface="微软雅黑" panose="020B0503020204020204" pitchFamily="34" charset="-122"/>
              </a:rPr>
              <a:t>其他类型的回归模型</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par>
                          <p:cTn id="17" fill="hold">
                            <p:stCondLst>
                              <p:cond delay="1400"/>
                            </p:stCondLst>
                            <p:childTnLst>
                              <p:par>
                                <p:cTn id="18" presetID="1" presetClass="entr" presetSubtype="0" fill="hold" grpId="0" nodeType="afterEffect">
                                  <p:stCondLst>
                                    <p:cond delay="0"/>
                                  </p:stCondLst>
                                  <p:iterate type="wd">
                                    <p:tmAbs val="100"/>
                                  </p:iterate>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 name="文本框 104"/>
          <p:cNvSpPr txBox="1"/>
          <p:nvPr/>
        </p:nvSpPr>
        <p:spPr>
          <a:xfrm>
            <a:off x="-118745" y="239395"/>
            <a:ext cx="4646930" cy="953135"/>
          </a:xfrm>
          <a:prstGeom prst="rect">
            <a:avLst/>
          </a:prstGeom>
          <a:noFill/>
        </p:spPr>
        <p:txBody>
          <a:bodyPr wrap="square" rtlCol="0">
            <a:spAutoFit/>
          </a:bodyPr>
          <a:lstStyle/>
          <a:p>
            <a:r>
              <a:rPr 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8.2</a:t>
            </a:r>
            <a:r>
              <a:rPr 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回归分析</a:t>
            </a:r>
          </a:p>
          <a:p>
            <a:endPar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graphicFrame>
        <p:nvGraphicFramePr>
          <p:cNvPr id="10" name="表格 9"/>
          <p:cNvGraphicFramePr/>
          <p:nvPr>
            <p:custDataLst>
              <p:tags r:id="rId2"/>
            </p:custDataLst>
          </p:nvPr>
        </p:nvGraphicFramePr>
        <p:xfrm>
          <a:off x="2032000" y="2921000"/>
          <a:ext cx="416560" cy="59436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0">
                <a:tc>
                  <a:txBody>
                    <a:bodyPr/>
                    <a:lstStyle/>
                    <a:p>
                      <a:pPr indent="0">
                        <a:buNone/>
                      </a:pPr>
                      <a:endParaRPr lang="zh-CN" altLang="en-US" b="0"/>
                    </a:p>
                  </a:txBody>
                  <a:tcPr>
                    <a:lnL>
                      <a:noFill/>
                    </a:lnL>
                    <a:lnR>
                      <a:noFill/>
                    </a:lnR>
                    <a:lnT cap="flat">
                      <a:noFill/>
                    </a:lnT>
                    <a:lnB cap="flat">
                      <a:noFill/>
                    </a:lnB>
                    <a:lnTlToBr>
                      <a:noFill/>
                    </a:lnTlToBr>
                    <a:lnBlToTr>
                      <a:noFill/>
                    </a:lnBlToTr>
                    <a:noFill/>
                  </a:tcPr>
                </a:tc>
                <a:tc>
                  <a:txBody>
                    <a:bodyPr/>
                    <a:lstStyle/>
                    <a:p>
                      <a:pPr>
                        <a:buNone/>
                      </a:pPr>
                      <a:endParaRPr lang="zh-CN" altLang="en-US"/>
                    </a:p>
                  </a:txBody>
                  <a:tcPr>
                    <a:lnL>
                      <a:noFill/>
                    </a:lnL>
                    <a:lnR>
                      <a:noFill/>
                    </a:lnR>
                    <a:lnT>
                      <a:noFill/>
                    </a:lnT>
                    <a:lnB cap="flat">
                      <a:noFill/>
                    </a:lnB>
                    <a:lnTlToBr>
                      <a:noFill/>
                    </a:lnTlToBr>
                    <a:lnBlToTr>
                      <a:noFill/>
                    </a:lnBlToTr>
                    <a:solidFill>
                      <a:srgbClr val="FFFFFF"/>
                    </a:solidFill>
                  </a:tcPr>
                </a:tc>
                <a:extLst>
                  <a:ext uri="{0D108BD9-81ED-4DB2-BD59-A6C34878D82A}">
                    <a16:rowId xmlns:a16="http://schemas.microsoft.com/office/drawing/2014/main" val="10000"/>
                  </a:ext>
                </a:extLst>
              </a:tr>
              <a:tr h="0">
                <a:tc>
                  <a:txBody>
                    <a:bodyPr/>
                    <a:lstStyle/>
                    <a:p>
                      <a:pPr indent="0">
                        <a:buNone/>
                      </a:pPr>
                      <a:endParaRPr lang="zh-CN" altLang="en-US"/>
                    </a:p>
                  </a:txBody>
                  <a:tcPr>
                    <a:lnL>
                      <a:noFill/>
                    </a:lnL>
                    <a:lnR>
                      <a:noFill/>
                    </a:lnR>
                    <a:lnT cap="flat">
                      <a:noFill/>
                    </a:lnT>
                    <a:lnB cap="flat">
                      <a:noFill/>
                    </a:lnB>
                    <a:lnTlToBr>
                      <a:noFill/>
                    </a:lnTlToBr>
                    <a:lnBlToTr>
                      <a:noFill/>
                    </a:lnBlToTr>
                    <a:noFill/>
                  </a:tcPr>
                </a:tc>
                <a:tc>
                  <a:txBody>
                    <a:bodyPr/>
                    <a:lstStyle/>
                    <a:p>
                      <a:pPr indent="0">
                        <a:buNone/>
                      </a:pPr>
                      <a:endParaRPr lang="zh-CN" altLang="en-US"/>
                    </a:p>
                  </a:txBody>
                  <a:tcPr>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2" name="文本框 101"/>
          <p:cNvSpPr txBox="1"/>
          <p:nvPr/>
        </p:nvSpPr>
        <p:spPr>
          <a:xfrm>
            <a:off x="441960" y="1504315"/>
            <a:ext cx="7557770"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latin typeface="Cambria Math" panose="02040503050406030204" charset="0"/>
                <a:ea typeface="等线" panose="02010600030101010101" pitchFamily="2" charset="-122"/>
              </a:rPr>
              <a:t>   </a:t>
            </a:r>
            <a:endParaRPr lang="zh-CN" altLang="en-US" sz="2000"/>
          </a:p>
        </p:txBody>
      </p:sp>
      <p:sp>
        <p:nvSpPr>
          <p:cNvPr id="113" name="文本框 112"/>
          <p:cNvSpPr txBox="1"/>
          <p:nvPr/>
        </p:nvSpPr>
        <p:spPr>
          <a:xfrm>
            <a:off x="270510" y="868045"/>
            <a:ext cx="8714105" cy="4154170"/>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1">
                <a:latin typeface="Cambria Math" panose="02040503050406030204" charset="0"/>
                <a:ea typeface="等线" panose="02010600030101010101" pitchFamily="2" charset="-122"/>
              </a:rPr>
              <a:t>    </a:t>
            </a:r>
            <a:r>
              <a:rPr sz="2000" b="0">
                <a:ea typeface="等线" panose="02010600030101010101" pitchFamily="2" charset="-122"/>
              </a:rPr>
              <a:t>所谓回归分析（Regression Analysis），是在现有观察数据的基础上，利用数理统计方法建立因变量与自变量之间的回归关系函数表达式（称回归方程式）。这种技术通常用于预测分析、时间序列模型以及发现变量之间的因果关系。</a:t>
            </a:r>
          </a:p>
          <a:p>
            <a:pPr indent="266700">
              <a:lnSpc>
                <a:spcPct val="120000"/>
              </a:lnSpc>
              <a:spcBef>
                <a:spcPts val="0"/>
              </a:spcBef>
              <a:spcAft>
                <a:spcPts val="0"/>
              </a:spcAft>
            </a:pPr>
            <a:r>
              <a:rPr lang="en-US" sz="2000" b="0">
                <a:ea typeface="等线" panose="02010600030101010101" pitchFamily="2" charset="-122"/>
              </a:rPr>
              <a:t>   </a:t>
            </a:r>
            <a:r>
              <a:rPr sz="2000" b="0">
                <a:ea typeface="等线" panose="02010600030101010101" pitchFamily="2" charset="-122"/>
              </a:rPr>
              <a:t>“回归”一词是由英国著名统计学家弗朗西斯·高尔顿（Francis Galton, 1822—1911）引入的，他是最先应用统计方法研究两个变量之间关系问题的人。弗朗西斯·高尔顿对父母身高与儿女身高之间的关系很感兴趣，并致力于此方面的研究。高尔顿发现，虽然有一个趋势：父母高，儿女也高；父母矮，儿女也矮，但从平均意义上说，尽管父母双亲都异常高或异常矮，儿女的身高并非也普遍地异常高或异常矮，而是具有“回归“于人口总平均身高的趋势。</a:t>
            </a:r>
          </a:p>
          <a:p>
            <a:pPr indent="266700">
              <a:lnSpc>
                <a:spcPct val="120000"/>
              </a:lnSpc>
              <a:spcBef>
                <a:spcPts val="0"/>
              </a:spcBef>
              <a:spcAft>
                <a:spcPts val="0"/>
              </a:spcAft>
            </a:pPr>
            <a:endParaRPr sz="2000" b="0">
              <a:ea typeface="等线"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953135"/>
          </a:xfrm>
          <a:prstGeom prst="rect">
            <a:avLst/>
          </a:prstGeom>
          <a:noFill/>
        </p:spPr>
        <p:txBody>
          <a:bodyPr wrap="square" rtlCol="0">
            <a:spAutoFit/>
          </a:bodyPr>
          <a:lstStyle/>
          <a:p>
            <a:r>
              <a:rPr 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8.2</a:t>
            </a:r>
            <a:r>
              <a:rPr 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回归分析</a:t>
            </a:r>
          </a:p>
          <a:p>
            <a:endPar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graphicFrame>
        <p:nvGraphicFramePr>
          <p:cNvPr id="10" name="表格 9"/>
          <p:cNvGraphicFramePr/>
          <p:nvPr>
            <p:custDataLst>
              <p:tags r:id="rId1"/>
            </p:custDataLst>
          </p:nvPr>
        </p:nvGraphicFramePr>
        <p:xfrm>
          <a:off x="2032000" y="2921000"/>
          <a:ext cx="416560" cy="59436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0">
                <a:tc>
                  <a:txBody>
                    <a:bodyPr/>
                    <a:lstStyle/>
                    <a:p>
                      <a:pPr indent="0">
                        <a:buNone/>
                      </a:pPr>
                      <a:endParaRPr lang="zh-CN" altLang="en-US" b="0"/>
                    </a:p>
                  </a:txBody>
                  <a:tcPr>
                    <a:lnL>
                      <a:noFill/>
                    </a:lnL>
                    <a:lnR>
                      <a:noFill/>
                    </a:lnR>
                    <a:lnT cap="flat">
                      <a:noFill/>
                    </a:lnT>
                    <a:lnB cap="flat">
                      <a:noFill/>
                    </a:lnB>
                    <a:lnTlToBr>
                      <a:noFill/>
                    </a:lnTlToBr>
                    <a:lnBlToTr>
                      <a:noFill/>
                    </a:lnBlToTr>
                    <a:noFill/>
                  </a:tcPr>
                </a:tc>
                <a:tc>
                  <a:txBody>
                    <a:bodyPr/>
                    <a:lstStyle/>
                    <a:p>
                      <a:pPr>
                        <a:buNone/>
                      </a:pPr>
                      <a:endParaRPr lang="zh-CN" altLang="en-US"/>
                    </a:p>
                  </a:txBody>
                  <a:tcPr>
                    <a:lnL>
                      <a:noFill/>
                    </a:lnL>
                    <a:lnR>
                      <a:noFill/>
                    </a:lnR>
                    <a:lnT>
                      <a:noFill/>
                    </a:lnT>
                    <a:lnB cap="flat">
                      <a:noFill/>
                    </a:lnB>
                    <a:lnTlToBr>
                      <a:noFill/>
                    </a:lnTlToBr>
                    <a:lnBlToTr>
                      <a:noFill/>
                    </a:lnBlToTr>
                    <a:solidFill>
                      <a:srgbClr val="FFFFFF"/>
                    </a:solidFill>
                  </a:tcPr>
                </a:tc>
                <a:extLst>
                  <a:ext uri="{0D108BD9-81ED-4DB2-BD59-A6C34878D82A}">
                    <a16:rowId xmlns:a16="http://schemas.microsoft.com/office/drawing/2014/main" val="10000"/>
                  </a:ext>
                </a:extLst>
              </a:tr>
              <a:tr h="0">
                <a:tc>
                  <a:txBody>
                    <a:bodyPr/>
                    <a:lstStyle/>
                    <a:p>
                      <a:pPr indent="0">
                        <a:buNone/>
                      </a:pPr>
                      <a:endParaRPr lang="zh-CN" altLang="en-US"/>
                    </a:p>
                  </a:txBody>
                  <a:tcPr>
                    <a:lnL>
                      <a:noFill/>
                    </a:lnL>
                    <a:lnR>
                      <a:noFill/>
                    </a:lnR>
                    <a:lnT cap="flat">
                      <a:noFill/>
                    </a:lnT>
                    <a:lnB cap="flat">
                      <a:noFill/>
                    </a:lnB>
                    <a:lnTlToBr>
                      <a:noFill/>
                    </a:lnTlToBr>
                    <a:lnBlToTr>
                      <a:noFill/>
                    </a:lnBlToTr>
                    <a:noFill/>
                  </a:tcPr>
                </a:tc>
                <a:tc>
                  <a:txBody>
                    <a:bodyPr/>
                    <a:lstStyle/>
                    <a:p>
                      <a:pPr indent="0">
                        <a:buNone/>
                      </a:pPr>
                      <a:endParaRPr lang="zh-CN" altLang="en-US"/>
                    </a:p>
                  </a:txBody>
                  <a:tcPr>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2" name="文本框 101"/>
          <p:cNvSpPr txBox="1"/>
          <p:nvPr/>
        </p:nvSpPr>
        <p:spPr>
          <a:xfrm>
            <a:off x="441960" y="1504315"/>
            <a:ext cx="7557770" cy="4914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latin typeface="Cambria Math" panose="02040503050406030204" charset="0"/>
                <a:ea typeface="等线" panose="02010600030101010101" pitchFamily="2" charset="-122"/>
              </a:rPr>
              <a:t>   </a:t>
            </a:r>
            <a:endParaRPr lang="zh-CN" altLang="en-US" sz="2000"/>
          </a:p>
        </p:txBody>
      </p:sp>
      <p:sp>
        <p:nvSpPr>
          <p:cNvPr id="113" name="文本框 112"/>
          <p:cNvSpPr txBox="1"/>
          <p:nvPr/>
        </p:nvSpPr>
        <p:spPr>
          <a:xfrm>
            <a:off x="514350" y="1256030"/>
            <a:ext cx="8261350" cy="1938020"/>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1">
                <a:latin typeface="Cambria Math" panose="02040503050406030204" charset="0"/>
                <a:ea typeface="等线" panose="02010600030101010101" pitchFamily="2" charset="-122"/>
              </a:rPr>
              <a:t>    </a:t>
            </a:r>
            <a:r>
              <a:rPr sz="2000" b="0">
                <a:ea typeface="等线" panose="02010600030101010101" pitchFamily="2" charset="-122"/>
              </a:rPr>
              <a:t>回归分析中，当研究的因果关系只涉及因变量和一个自变量时，叫做一元回归分析；当研究的因果关系涉及因变量和两个或两个以上自变量时，叫做多元回归分析。此外，回归分析中，又依据描述自变量与因变量之间因果关系的函数表达式是线性的还是非线性的，分为线性回归分析和非线性回归分析。</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36525" y="303530"/>
            <a:ext cx="4946015" cy="521970"/>
          </a:xfrm>
          <a:prstGeom prst="rect">
            <a:avLst/>
          </a:prstGeom>
          <a:noFill/>
        </p:spPr>
        <p:txBody>
          <a:bodyPr wrap="square" rtlCol="0">
            <a:spAutoFit/>
          </a:bodyPr>
          <a:lstStyle/>
          <a:p>
            <a:pPr algn="l">
              <a:buClrTx/>
              <a:buSzTx/>
              <a:buFontTx/>
            </a:pP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8.2.1一元线性回归</a:t>
            </a:r>
          </a:p>
        </p:txBody>
      </p:sp>
      <p:sp>
        <p:nvSpPr>
          <p:cNvPr id="100" name="文本框 99"/>
          <p:cNvSpPr txBox="1"/>
          <p:nvPr/>
        </p:nvSpPr>
        <p:spPr>
          <a:xfrm>
            <a:off x="264160" y="949325"/>
            <a:ext cx="4818380" cy="2306955"/>
          </a:xfrm>
          <a:prstGeom prst="rect">
            <a:avLst/>
          </a:prstGeom>
          <a:noFill/>
          <a:ln w="9525">
            <a:noFill/>
          </a:ln>
        </p:spPr>
        <p:txBody>
          <a:bodyPr wrap="square">
            <a:spAutoFit/>
          </a:bodyPr>
          <a:lstStyle/>
          <a:p>
            <a:pPr indent="266700">
              <a:lnSpc>
                <a:spcPct val="120000"/>
              </a:lnSpc>
            </a:pPr>
            <a:r>
              <a:rPr lang="en-US" altLang="zh-CN" sz="2000" b="1">
                <a:latin typeface="+mn-ea"/>
              </a:rPr>
              <a:t>   </a:t>
            </a:r>
            <a:r>
              <a:rPr sz="2000" b="1">
                <a:latin typeface="等线" panose="02010600030101010101" pitchFamily="2" charset="-122"/>
                <a:ea typeface="等线" panose="02010600030101010101" pitchFamily="2" charset="-122"/>
                <a:cs typeface="等线" panose="02010600030101010101" pitchFamily="2" charset="-122"/>
              </a:rPr>
              <a:t>1.一元线性回归模型</a:t>
            </a:r>
          </a:p>
          <a:p>
            <a:pPr indent="266700">
              <a:lnSpc>
                <a:spcPct val="120000"/>
              </a:lnSpc>
            </a:pP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回归模型是描述因变量如何依赖自变量和随机误差项的方程，线性回归使用最佳的拟合直线（也就是回归线）建立因变量（Y）和一个或多个自变量（X）之间的联系。</a:t>
            </a:r>
            <a:r>
              <a:rPr lang="zh-CN" sz="2000">
                <a:latin typeface="等线" panose="02010600030101010101" pitchFamily="2" charset="-122"/>
                <a:ea typeface="等线" panose="02010600030101010101" pitchFamily="2" charset="-122"/>
                <a:cs typeface="等线" panose="02010600030101010101" pitchFamily="2" charset="-122"/>
              </a:rPr>
              <a:t>右</a:t>
            </a:r>
            <a:r>
              <a:rPr sz="2000">
                <a:latin typeface="等线" panose="02010600030101010101" pitchFamily="2" charset="-122"/>
                <a:ea typeface="等线" panose="02010600030101010101" pitchFamily="2" charset="-122"/>
                <a:cs typeface="等线" panose="02010600030101010101" pitchFamily="2" charset="-122"/>
              </a:rPr>
              <a:t>图是一元线性回归示意图。</a:t>
            </a:r>
            <a:r>
              <a:rPr lang="en-US" sz="2000" b="1">
                <a:latin typeface="等线" panose="02010600030101010101" pitchFamily="2" charset="-122"/>
                <a:ea typeface="等线" panose="02010600030101010101" pitchFamily="2" charset="-122"/>
                <a:cs typeface="等线" panose="02010600030101010101" pitchFamily="2" charset="-122"/>
              </a:rPr>
              <a:t> </a:t>
            </a:r>
            <a:endParaRPr sz="2000">
              <a:latin typeface="等线" panose="02010600030101010101" pitchFamily="2" charset="-122"/>
              <a:ea typeface="等线" panose="02010600030101010101" pitchFamily="2" charset="-122"/>
              <a:cs typeface="等线" panose="02010600030101010101" pitchFamily="2" charset="-122"/>
            </a:endParaRPr>
          </a:p>
        </p:txBody>
      </p:sp>
      <p:sp>
        <p:nvSpPr>
          <p:cNvPr id="4" name="文本框 3"/>
          <p:cNvSpPr txBox="1"/>
          <p:nvPr/>
        </p:nvSpPr>
        <p:spPr>
          <a:xfrm>
            <a:off x="4064000" y="3380105"/>
            <a:ext cx="5080000" cy="245110"/>
          </a:xfrm>
          <a:prstGeom prst="rect">
            <a:avLst/>
          </a:prstGeom>
          <a:noFill/>
          <a:ln w="9525">
            <a:noFill/>
          </a:ln>
        </p:spPr>
        <p:txBody>
          <a:bodyPr>
            <a:spAutoFit/>
          </a:bodyPr>
          <a:lstStyle/>
          <a:p>
            <a:pPr indent="0" algn="ctr"/>
            <a:r>
              <a:rPr lang="zh-CN" sz="1000" b="0">
                <a:latin typeface="Cambria Math" panose="02040503050406030204" charset="0"/>
                <a:ea typeface="等线" panose="02010600030101010101" pitchFamily="2" charset="-122"/>
              </a:rPr>
              <a:t> 一元线性回归示意图</a:t>
            </a:r>
          </a:p>
        </p:txBody>
      </p:sp>
      <p:pic>
        <p:nvPicPr>
          <p:cNvPr id="2" name="图片 1"/>
          <p:cNvPicPr>
            <a:picLocks noChangeAspect="1"/>
          </p:cNvPicPr>
          <p:nvPr>
            <p:custDataLst>
              <p:tags r:id="rId1"/>
            </p:custDataLst>
          </p:nvPr>
        </p:nvPicPr>
        <p:blipFill>
          <a:blip r:embed="rId4"/>
          <a:stretch>
            <a:fillRect/>
          </a:stretch>
        </p:blipFill>
        <p:spPr>
          <a:xfrm>
            <a:off x="5313045" y="1063308"/>
            <a:ext cx="2997200" cy="2249805"/>
          </a:xfrm>
          <a:prstGeom prst="rect">
            <a:avLst/>
          </a:prstGeom>
          <a:ln>
            <a:solidFill>
              <a:schemeClr val="accent1"/>
            </a:solidFill>
          </a:ln>
        </p:spPr>
      </p:pic>
      <p:sp>
        <p:nvSpPr>
          <p:cNvPr id="9" name="文本框 8"/>
          <p:cNvSpPr txBox="1"/>
          <p:nvPr/>
        </p:nvSpPr>
        <p:spPr>
          <a:xfrm>
            <a:off x="450850" y="3538855"/>
            <a:ext cx="5862955" cy="398780"/>
          </a:xfrm>
          <a:prstGeom prst="rect">
            <a:avLst/>
          </a:prstGeom>
          <a:noFill/>
          <a:ln w="9525">
            <a:noFill/>
          </a:ln>
        </p:spPr>
        <p:txBody>
          <a:bodyPr wrap="square">
            <a:spAutoFit/>
          </a:bodyPr>
          <a:lstStyle/>
          <a:p>
            <a:pPr indent="266700"/>
            <a:r>
              <a:rPr lang="zh-CN" sz="2000" b="0">
                <a:latin typeface="Cambria Math" panose="02040503050406030204" charset="0"/>
                <a:ea typeface="等线" panose="02010600030101010101" pitchFamily="2" charset="-122"/>
              </a:rPr>
              <a:t>一元</a:t>
            </a:r>
            <a:r>
              <a:rPr lang="zh-CN" sz="2000" b="0">
                <a:ea typeface="等线" panose="02010600030101010101" pitchFamily="2" charset="-122"/>
              </a:rPr>
              <a:t>线性回归</a:t>
            </a:r>
            <a:r>
              <a:rPr lang="zh-CN" sz="2000" b="0">
                <a:latin typeface="Cambria Math" panose="02040503050406030204" charset="0"/>
                <a:ea typeface="等线" panose="02010600030101010101" pitchFamily="2" charset="-122"/>
              </a:rPr>
              <a:t>模型只涉及一个自变量，可表述为：</a:t>
            </a:r>
            <a:endParaRPr lang="zh-CN" altLang="en-US" sz="2000"/>
          </a:p>
        </p:txBody>
      </p:sp>
      <p:pic>
        <p:nvPicPr>
          <p:cNvPr id="25" name="图片 24"/>
          <p:cNvPicPr>
            <a:picLocks noChangeAspect="1"/>
          </p:cNvPicPr>
          <p:nvPr/>
        </p:nvPicPr>
        <p:blipFill>
          <a:blip r:embed="rId5"/>
          <a:stretch>
            <a:fillRect/>
          </a:stretch>
        </p:blipFill>
        <p:spPr>
          <a:xfrm>
            <a:off x="-85090" y="4337050"/>
            <a:ext cx="6934835" cy="525780"/>
          </a:xfrm>
          <a:prstGeom prst="rect">
            <a:avLst/>
          </a:prstGeom>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F1B5E097-DBDC-4D74-9B35-00F085BAE19B}"/>
                  </a:ext>
                </a:extLst>
              </p:cNvPr>
              <p:cNvSpPr/>
              <p:nvPr/>
            </p:nvSpPr>
            <p:spPr>
              <a:xfrm>
                <a:off x="3123741" y="3968115"/>
                <a:ext cx="192661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800" i="1">
                          <a:latin typeface="Cambria Math" panose="02040503050406030204" pitchFamily="18" charset="0"/>
                        </a:rPr>
                        <m:t>𝑦</m:t>
                      </m:r>
                      <m:r>
                        <a:rPr lang="zh-CN" altLang="en-US" sz="1800" i="0">
                          <a:latin typeface="Cambria Math" panose="02040503050406030204" pitchFamily="18" charset="0"/>
                        </a:rPr>
                        <m:t>=</m:t>
                      </m:r>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𝛽</m:t>
                          </m:r>
                        </m:e>
                        <m:sub>
                          <m:r>
                            <a:rPr lang="zh-CN" altLang="en-US" sz="1800" i="0">
                              <a:latin typeface="Cambria Math" panose="02040503050406030204" pitchFamily="18" charset="0"/>
                            </a:rPr>
                            <m:t>0</m:t>
                          </m:r>
                        </m:sub>
                      </m:sSub>
                      <m:r>
                        <a:rPr lang="zh-CN" altLang="en-US" sz="1800" i="0">
                          <a:latin typeface="Cambria Math" panose="02040503050406030204" pitchFamily="18" charset="0"/>
                        </a:rPr>
                        <m:t>+</m:t>
                      </m:r>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𝛽</m:t>
                          </m:r>
                        </m:e>
                        <m:sub>
                          <m:r>
                            <a:rPr lang="zh-CN" altLang="en-US" sz="1800" i="0">
                              <a:latin typeface="Cambria Math" panose="02040503050406030204" pitchFamily="18" charset="0"/>
                            </a:rPr>
                            <m:t>1</m:t>
                          </m:r>
                        </m:sub>
                      </m:sSub>
                      <m:r>
                        <a:rPr lang="zh-CN" altLang="en-US" sz="1800" i="1">
                          <a:latin typeface="Cambria Math" panose="02040503050406030204" pitchFamily="18" charset="0"/>
                        </a:rPr>
                        <m:t>𝑥</m:t>
                      </m:r>
                      <m:r>
                        <a:rPr lang="zh-CN" altLang="en-US" sz="1800" i="0">
                          <a:latin typeface="Cambria Math" panose="02040503050406030204" pitchFamily="18" charset="0"/>
                        </a:rPr>
                        <m:t>+</m:t>
                      </m:r>
                      <m:r>
                        <a:rPr lang="zh-CN" altLang="en-US" sz="1800" i="1">
                          <a:latin typeface="Cambria Math" panose="02040503050406030204" pitchFamily="18" charset="0"/>
                        </a:rPr>
                        <m:t>𝜀</m:t>
                      </m:r>
                    </m:oMath>
                  </m:oMathPara>
                </a14:m>
                <a:endParaRPr lang="zh-CN" altLang="en-US" sz="1800"/>
              </a:p>
            </p:txBody>
          </p:sp>
        </mc:Choice>
        <mc:Fallback xmlns="">
          <p:sp>
            <p:nvSpPr>
              <p:cNvPr id="3" name="矩形 2">
                <a:extLst>
                  <a:ext uri="{FF2B5EF4-FFF2-40B4-BE49-F238E27FC236}">
                    <a16:creationId xmlns:a16="http://schemas.microsoft.com/office/drawing/2014/main" id="{F1B5E097-DBDC-4D74-9B35-00F085BAE19B}"/>
                  </a:ext>
                </a:extLst>
              </p:cNvPr>
              <p:cNvSpPr>
                <a:spLocks noRot="1" noChangeAspect="1" noMove="1" noResize="1" noEditPoints="1" noAdjustHandles="1" noChangeArrowheads="1" noChangeShapeType="1" noTextEdit="1"/>
              </p:cNvSpPr>
              <p:nvPr/>
            </p:nvSpPr>
            <p:spPr>
              <a:xfrm>
                <a:off x="3123741" y="3968115"/>
                <a:ext cx="1926618" cy="369332"/>
              </a:xfrm>
              <a:prstGeom prst="rect">
                <a:avLst/>
              </a:prstGeom>
              <a:blipFill>
                <a:blip r:embed="rId6"/>
                <a:stretch>
                  <a:fillRect b="-11475"/>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36525" y="294640"/>
            <a:ext cx="4946015" cy="521970"/>
          </a:xfrm>
          <a:prstGeom prst="rect">
            <a:avLst/>
          </a:prstGeom>
          <a:noFill/>
        </p:spPr>
        <p:txBody>
          <a:bodyPr wrap="square" rtlCol="0">
            <a:spAutoFit/>
          </a:bodyPr>
          <a:lstStyle/>
          <a:p>
            <a:pPr algn="l">
              <a:buClrTx/>
              <a:buSzTx/>
              <a:buFontTx/>
            </a:pP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8.2.1一元线性回归</a:t>
            </a:r>
          </a:p>
        </p:txBody>
      </p:sp>
      <p:sp>
        <p:nvSpPr>
          <p:cNvPr id="100" name="文本框 99"/>
          <p:cNvSpPr txBox="1"/>
          <p:nvPr/>
        </p:nvSpPr>
        <p:spPr>
          <a:xfrm>
            <a:off x="200025" y="864235"/>
            <a:ext cx="8424545" cy="2306955"/>
          </a:xfrm>
          <a:prstGeom prst="rect">
            <a:avLst/>
          </a:prstGeom>
          <a:noFill/>
          <a:ln w="9525">
            <a:noFill/>
          </a:ln>
        </p:spPr>
        <p:txBody>
          <a:bodyPr wrap="square">
            <a:spAutoFit/>
          </a:bodyPr>
          <a:lstStyle/>
          <a:p>
            <a:pPr indent="266700">
              <a:lnSpc>
                <a:spcPct val="120000"/>
              </a:lnSpc>
            </a:pPr>
            <a:r>
              <a:rPr lang="en-US" altLang="zh-CN" sz="2000" b="1">
                <a:latin typeface="+mn-ea"/>
              </a:rPr>
              <a:t>   </a:t>
            </a:r>
            <a:r>
              <a:rPr sz="2000" b="1">
                <a:latin typeface="等线" panose="02010600030101010101" pitchFamily="2" charset="-122"/>
                <a:ea typeface="等线" panose="02010600030101010101" pitchFamily="2" charset="-122"/>
                <a:cs typeface="等线" panose="02010600030101010101" pitchFamily="2" charset="-122"/>
              </a:rPr>
              <a:t>2.最小二乘估计法</a:t>
            </a:r>
          </a:p>
          <a:p>
            <a:pPr indent="266700">
              <a:lnSpc>
                <a:spcPct val="120000"/>
              </a:lnSpc>
            </a:pP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最小二乘估计是求解线性回归方程的最常用方法，最小二乘原理就是所选的样本回归函数使得所有Y的估计值与真实值差的平方和最小。</a:t>
            </a:r>
          </a:p>
          <a:p>
            <a:pPr indent="266700">
              <a:lnSpc>
                <a:spcPct val="120000"/>
              </a:lnSpc>
            </a:pP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首先我们引入样本回归函数和残差等相关概念。样本回归函数（sample regression function，SRF）是根据样本数据拟合的回归方程，表示为：</a:t>
            </a:r>
          </a:p>
        </p:txBody>
      </p:sp>
      <p:sp>
        <p:nvSpPr>
          <p:cNvPr id="9" name="文本框 8"/>
          <p:cNvSpPr txBox="1"/>
          <p:nvPr/>
        </p:nvSpPr>
        <p:spPr>
          <a:xfrm>
            <a:off x="311150" y="3366135"/>
            <a:ext cx="8521700" cy="1014730"/>
          </a:xfrm>
          <a:prstGeom prst="rect">
            <a:avLst/>
          </a:prstGeom>
          <a:noFill/>
          <a:ln w="9525">
            <a:noFill/>
          </a:ln>
        </p:spPr>
        <p:txBody>
          <a:bodyPr wrap="square">
            <a:spAutoFit/>
          </a:bodyPr>
          <a:lstStyle/>
          <a:p>
            <a:pPr indent="266700"/>
            <a:r>
              <a:rPr lang="zh-CN" sz="2000" b="0">
                <a:ea typeface="等线" panose="02010600030101010101" pitchFamily="2" charset="-122"/>
              </a:rPr>
              <a:t>残差指的是 的真实值与估计值之差：</a:t>
            </a:r>
          </a:p>
          <a:p>
            <a:pPr indent="266700"/>
            <a:endParaRPr lang="zh-CN" sz="2000" b="0">
              <a:ea typeface="等线" panose="02010600030101010101" pitchFamily="2" charset="-122"/>
            </a:endParaRPr>
          </a:p>
          <a:p>
            <a:pPr indent="266700"/>
            <a:endParaRPr lang="zh-CN" sz="2000" b="0">
              <a:ea typeface="等线" panose="02010600030101010101" pitchFamily="2" charset="-122"/>
            </a:endParaRPr>
          </a:p>
        </p:txBody>
      </p:sp>
      <p:pic>
        <p:nvPicPr>
          <p:cNvPr id="129" name="图片 128"/>
          <p:cNvPicPr/>
          <p:nvPr/>
        </p:nvPicPr>
        <p:blipFill>
          <a:blip r:embed="rId3"/>
          <a:stretch>
            <a:fillRect/>
          </a:stretch>
        </p:blipFill>
        <p:spPr>
          <a:xfrm>
            <a:off x="2294890" y="2849563"/>
            <a:ext cx="1718310" cy="434340"/>
          </a:xfrm>
          <a:prstGeom prst="rect">
            <a:avLst/>
          </a:prstGeom>
          <a:noFill/>
          <a:ln w="9525">
            <a:noFill/>
          </a:ln>
        </p:spPr>
      </p:pic>
      <p:grpSp>
        <p:nvGrpSpPr>
          <p:cNvPr id="11" name="组合 10"/>
          <p:cNvGrpSpPr/>
          <p:nvPr/>
        </p:nvGrpSpPr>
        <p:grpSpPr>
          <a:xfrm>
            <a:off x="200025" y="4169410"/>
            <a:ext cx="7857490" cy="425450"/>
            <a:chOff x="315" y="6566"/>
            <a:chExt cx="12374" cy="670"/>
          </a:xfrm>
        </p:grpSpPr>
        <p:pic>
          <p:nvPicPr>
            <p:cNvPr id="8" name="图片 7"/>
            <p:cNvPicPr/>
            <p:nvPr/>
          </p:nvPicPr>
          <p:blipFill>
            <a:blip r:embed="rId4"/>
            <a:stretch>
              <a:fillRect/>
            </a:stretch>
          </p:blipFill>
          <p:spPr>
            <a:xfrm>
              <a:off x="10929" y="6566"/>
              <a:ext cx="1348" cy="615"/>
            </a:xfrm>
            <a:prstGeom prst="rect">
              <a:avLst/>
            </a:prstGeom>
            <a:noFill/>
            <a:ln w="9525">
              <a:noFill/>
            </a:ln>
          </p:spPr>
        </p:pic>
        <p:pic>
          <p:nvPicPr>
            <p:cNvPr id="7" name="图片 6"/>
            <p:cNvPicPr/>
            <p:nvPr/>
          </p:nvPicPr>
          <p:blipFill>
            <a:blip r:embed="rId5"/>
            <a:stretch>
              <a:fillRect/>
            </a:stretch>
          </p:blipFill>
          <p:spPr>
            <a:xfrm>
              <a:off x="9883" y="6566"/>
              <a:ext cx="1320" cy="615"/>
            </a:xfrm>
            <a:prstGeom prst="rect">
              <a:avLst/>
            </a:prstGeom>
            <a:noFill/>
            <a:ln w="9525">
              <a:noFill/>
            </a:ln>
          </p:spPr>
        </p:pic>
        <p:sp>
          <p:nvSpPr>
            <p:cNvPr id="131" name="文本框 130"/>
            <p:cNvSpPr txBox="1"/>
            <p:nvPr/>
          </p:nvSpPr>
          <p:spPr>
            <a:xfrm>
              <a:off x="315" y="6608"/>
              <a:ext cx="12374" cy="628"/>
            </a:xfrm>
            <a:prstGeom prst="rect">
              <a:avLst/>
            </a:prstGeom>
            <a:noFill/>
            <a:ln w="9525">
              <a:noFill/>
            </a:ln>
          </p:spPr>
          <p:txBody>
            <a:bodyPr wrap="square">
              <a:spAutoFit/>
            </a:bodyPr>
            <a:lstStyle/>
            <a:p>
              <a:pPr indent="266700"/>
              <a:r>
                <a:rPr lang="en-US" altLang="zh-CN" sz="2000" b="0">
                  <a:ea typeface="等线" panose="02010600030101010101" pitchFamily="2" charset="-122"/>
                </a:rPr>
                <a:t>  </a:t>
              </a:r>
              <a:r>
                <a:rPr lang="zh-CN" sz="2000" b="0">
                  <a:ea typeface="等线" panose="02010600030101010101" pitchFamily="2" charset="-122"/>
                </a:rPr>
                <a:t>普通最小二乘法</a:t>
              </a:r>
              <a:r>
                <a:rPr lang="zh-CN" sz="2000" b="0">
                  <a:ea typeface="等线" panose="02010600030101010101" pitchFamily="2" charset="-122"/>
                  <a:cs typeface="Times New Roman" panose="02020603050405020304" pitchFamily="18" charset="0"/>
                </a:rPr>
                <a:t>(ordinary least squares, OLS )，即选择参数</a:t>
              </a:r>
              <a:endParaRPr lang="zh-CN" altLang="en-US" sz="2000"/>
            </a:p>
          </p:txBody>
        </p:sp>
        <p:sp>
          <p:nvSpPr>
            <p:cNvPr id="132" name="文本框 131"/>
            <p:cNvSpPr txBox="1"/>
            <p:nvPr/>
          </p:nvSpPr>
          <p:spPr>
            <a:xfrm>
              <a:off x="10783" y="6608"/>
              <a:ext cx="1259" cy="628"/>
            </a:xfrm>
            <a:prstGeom prst="rect">
              <a:avLst/>
            </a:prstGeom>
            <a:noFill/>
            <a:ln w="9525">
              <a:noFill/>
            </a:ln>
          </p:spPr>
          <p:txBody>
            <a:bodyPr wrap="square">
              <a:spAutoFit/>
            </a:bodyPr>
            <a:lstStyle/>
            <a:p>
              <a:pPr indent="266700"/>
              <a:r>
                <a:rPr lang="zh-CN" sz="2000" b="0">
                  <a:ea typeface="等线" panose="02010600030101010101" pitchFamily="2" charset="-122"/>
                </a:rPr>
                <a:t>和</a:t>
              </a:r>
              <a:endParaRPr lang="zh-CN" altLang="en-US" sz="2000"/>
            </a:p>
          </p:txBody>
        </p:sp>
      </p:grpSp>
      <p:sp>
        <p:nvSpPr>
          <p:cNvPr id="133" name="文本框 132"/>
          <p:cNvSpPr txBox="1"/>
          <p:nvPr/>
        </p:nvSpPr>
        <p:spPr>
          <a:xfrm>
            <a:off x="-73025" y="4707573"/>
            <a:ext cx="5080000" cy="398780"/>
          </a:xfrm>
          <a:prstGeom prst="rect">
            <a:avLst/>
          </a:prstGeom>
          <a:noFill/>
          <a:ln w="9525">
            <a:noFill/>
          </a:ln>
        </p:spPr>
        <p:txBody>
          <a:bodyPr>
            <a:spAutoFit/>
          </a:bodyPr>
          <a:lstStyle/>
          <a:p>
            <a:pPr indent="266700"/>
            <a:r>
              <a:rPr lang="zh-CN" sz="2000" b="0">
                <a:ea typeface="等线" panose="02010600030101010101" pitchFamily="2" charset="-122"/>
              </a:rPr>
              <a:t>，使得全部观察值的</a:t>
            </a:r>
            <a:r>
              <a:rPr lang="zh-CN" sz="2000" b="1">
                <a:ea typeface="等线" panose="02010600030101010101" pitchFamily="2" charset="-122"/>
              </a:rPr>
              <a:t>残差平方和最小</a:t>
            </a:r>
            <a:r>
              <a:rPr lang="zh-CN" sz="2000" b="0">
                <a:ea typeface="等线" panose="02010600030101010101" pitchFamily="2" charset="-122"/>
              </a:rPr>
              <a:t>：</a:t>
            </a:r>
            <a:endParaRPr lang="zh-CN" altLang="en-US" sz="2000"/>
          </a:p>
        </p:txBody>
      </p:sp>
      <p:pic>
        <p:nvPicPr>
          <p:cNvPr id="2" name="图片 1"/>
          <p:cNvPicPr/>
          <p:nvPr/>
        </p:nvPicPr>
        <p:blipFill>
          <a:blip r:embed="rId6"/>
          <a:stretch>
            <a:fillRect/>
          </a:stretch>
        </p:blipFill>
        <p:spPr>
          <a:xfrm>
            <a:off x="4475480" y="4575810"/>
            <a:ext cx="4438650" cy="499745"/>
          </a:xfrm>
          <a:prstGeom prst="rect">
            <a:avLst/>
          </a:prstGeom>
          <a:noFill/>
          <a:ln w="9525">
            <a:noFill/>
          </a:ln>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16DFEC98-9EC5-4F70-9FBB-E00B07B5E97A}"/>
                  </a:ext>
                </a:extLst>
              </p:cNvPr>
              <p:cNvSpPr/>
              <p:nvPr/>
            </p:nvSpPr>
            <p:spPr>
              <a:xfrm>
                <a:off x="2294890" y="3748758"/>
                <a:ext cx="3354316" cy="4165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𝑒</m:t>
                          </m:r>
                        </m:e>
                        <m:sub>
                          <m:r>
                            <a:rPr lang="zh-CN" altLang="en-US" sz="1600" i="1">
                              <a:latin typeface="Cambria Math" panose="02040503050406030204" pitchFamily="18" charset="0"/>
                            </a:rPr>
                            <m:t>𝑖</m:t>
                          </m:r>
                        </m:sub>
                      </m:sSub>
                      <m:r>
                        <a:rPr lang="zh-CN" altLang="en-US" sz="1600" i="0">
                          <a:latin typeface="Cambria Math" panose="02040503050406030204" pitchFamily="18" charset="0"/>
                        </a:rPr>
                        <m:t>=</m:t>
                      </m:r>
                      <m:r>
                        <a:rPr lang="zh-CN" altLang="en-US" sz="1600" i="0">
                          <a:latin typeface="Cambria Math" panose="02040503050406030204" pitchFamily="18" charset="0"/>
                        </a:rPr>
                        <m:t>实际的</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𝑦</m:t>
                          </m:r>
                        </m:e>
                        <m:sub>
                          <m:r>
                            <a:rPr lang="zh-CN" altLang="en-US" sz="1600" i="1">
                              <a:latin typeface="Cambria Math" panose="02040503050406030204" pitchFamily="18" charset="0"/>
                            </a:rPr>
                            <m:t>𝑖</m:t>
                          </m:r>
                        </m:sub>
                      </m:sSub>
                      <m:r>
                        <a:rPr lang="zh-CN" altLang="en-US" sz="1600" i="0">
                          <a:latin typeface="Cambria Math" panose="02040503050406030204" pitchFamily="18" charset="0"/>
                        </a:rPr>
                        <m:t>−</m:t>
                      </m:r>
                      <m:r>
                        <a:rPr lang="zh-CN" altLang="en-US" sz="1600" i="0">
                          <a:latin typeface="Cambria Math" panose="02040503050406030204" pitchFamily="18" charset="0"/>
                        </a:rPr>
                        <m:t>估计的</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𝑦</m:t>
                          </m:r>
                        </m:e>
                        <m:sub>
                          <m:r>
                            <a:rPr lang="zh-CN" altLang="en-US" sz="1600" i="1">
                              <a:latin typeface="Cambria Math" panose="02040503050406030204" pitchFamily="18" charset="0"/>
                            </a:rPr>
                            <m:t>𝑖</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𝑦</m:t>
                          </m:r>
                        </m:e>
                        <m:sub>
                          <m:r>
                            <a:rPr lang="zh-CN" altLang="en-US" sz="1600" i="1">
                              <a:latin typeface="Cambria Math" panose="02040503050406030204" pitchFamily="18" charset="0"/>
                            </a:rPr>
                            <m:t>𝑖</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limUpp>
                            <m:limUppPr>
                              <m:ctrlPr>
                                <a:rPr lang="zh-CN" altLang="en-US" sz="1600" i="1">
                                  <a:latin typeface="Cambria Math" panose="02040503050406030204" pitchFamily="18" charset="0"/>
                                </a:rPr>
                              </m:ctrlPr>
                            </m:limUppPr>
                            <m:e>
                              <m:r>
                                <a:rPr lang="zh-CN" altLang="en-US" sz="1600" i="1">
                                  <a:latin typeface="Cambria Math" panose="02040503050406030204" pitchFamily="18" charset="0"/>
                                </a:rPr>
                                <m:t>𝑦</m:t>
                              </m:r>
                            </m:e>
                            <m:lim>
                              <m:r>
                                <m:rPr>
                                  <m:lit/>
                                </m:rPr>
                                <a:rPr lang="zh-CN" altLang="en-US" sz="1600" i="0">
                                  <a:latin typeface="Cambria Math" panose="02040503050406030204" pitchFamily="18" charset="0"/>
                                </a:rPr>
                                <m:t>^</m:t>
                              </m:r>
                            </m:lim>
                          </m:limUpp>
                        </m:e>
                        <m:sub>
                          <m:r>
                            <a:rPr lang="zh-CN" altLang="en-US" sz="1600" i="1">
                              <a:latin typeface="Cambria Math" panose="02040503050406030204" pitchFamily="18" charset="0"/>
                            </a:rPr>
                            <m:t>𝑖</m:t>
                          </m:r>
                        </m:sub>
                      </m:sSub>
                    </m:oMath>
                  </m:oMathPara>
                </a14:m>
                <a:endParaRPr lang="zh-CN" altLang="en-US" sz="1600"/>
              </a:p>
            </p:txBody>
          </p:sp>
        </mc:Choice>
        <mc:Fallback xmlns="">
          <p:sp>
            <p:nvSpPr>
              <p:cNvPr id="3" name="矩形 2">
                <a:extLst>
                  <a:ext uri="{FF2B5EF4-FFF2-40B4-BE49-F238E27FC236}">
                    <a16:creationId xmlns:a16="http://schemas.microsoft.com/office/drawing/2014/main" id="{16DFEC98-9EC5-4F70-9FBB-E00B07B5E97A}"/>
                  </a:ext>
                </a:extLst>
              </p:cNvPr>
              <p:cNvSpPr>
                <a:spLocks noRot="1" noChangeAspect="1" noMove="1" noResize="1" noEditPoints="1" noAdjustHandles="1" noChangeArrowheads="1" noChangeShapeType="1" noTextEdit="1"/>
              </p:cNvSpPr>
              <p:nvPr/>
            </p:nvSpPr>
            <p:spPr>
              <a:xfrm>
                <a:off x="2294890" y="3748758"/>
                <a:ext cx="3354316" cy="416524"/>
              </a:xfrm>
              <a:prstGeom prst="rect">
                <a:avLst/>
              </a:prstGeom>
              <a:blipFill>
                <a:blip r:embed="rId7"/>
                <a:stretch>
                  <a:fillRect b="-5882"/>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36525" y="294640"/>
            <a:ext cx="4946015" cy="521970"/>
          </a:xfrm>
          <a:prstGeom prst="rect">
            <a:avLst/>
          </a:prstGeom>
          <a:noFill/>
        </p:spPr>
        <p:txBody>
          <a:bodyPr wrap="square" rtlCol="0">
            <a:spAutoFit/>
          </a:bodyPr>
          <a:lstStyle/>
          <a:p>
            <a:pPr>
              <a:buClrTx/>
              <a:buSzTx/>
              <a:buFontTx/>
            </a:pP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8.2.1一元线性回归</a:t>
            </a:r>
          </a:p>
        </p:txBody>
      </p:sp>
      <p:sp>
        <p:nvSpPr>
          <p:cNvPr id="100" name="文本框 99"/>
          <p:cNvSpPr txBox="1"/>
          <p:nvPr/>
        </p:nvSpPr>
        <p:spPr>
          <a:xfrm>
            <a:off x="200025" y="864235"/>
            <a:ext cx="8424545" cy="460375"/>
          </a:xfrm>
          <a:prstGeom prst="rect">
            <a:avLst/>
          </a:prstGeom>
          <a:noFill/>
          <a:ln w="9525">
            <a:noFill/>
          </a:ln>
        </p:spPr>
        <p:txBody>
          <a:bodyPr wrap="square">
            <a:spAutoFit/>
          </a:bodyPr>
          <a:lstStyle/>
          <a:p>
            <a:pPr indent="266700">
              <a:lnSpc>
                <a:spcPct val="120000"/>
              </a:lnSpc>
            </a:pPr>
            <a:r>
              <a:rPr lang="en-US" altLang="zh-CN" sz="2000" b="1">
                <a:latin typeface="+mn-ea"/>
              </a:rPr>
              <a:t>   </a:t>
            </a:r>
            <a:r>
              <a:rPr sz="2000">
                <a:latin typeface="等线" panose="02010600030101010101" pitchFamily="2" charset="-122"/>
                <a:ea typeface="等线" panose="02010600030101010101" pitchFamily="2" charset="-122"/>
                <a:cs typeface="等线" panose="02010600030101010101" pitchFamily="2" charset="-122"/>
              </a:rPr>
              <a:t>求解联立方程（损失函数对求偏导）：</a:t>
            </a:r>
          </a:p>
        </p:txBody>
      </p:sp>
      <p:pic>
        <p:nvPicPr>
          <p:cNvPr id="101" name="图片 100"/>
          <p:cNvPicPr/>
          <p:nvPr/>
        </p:nvPicPr>
        <p:blipFill>
          <a:blip r:embed="rId3"/>
          <a:stretch>
            <a:fillRect/>
          </a:stretch>
        </p:blipFill>
        <p:spPr>
          <a:xfrm>
            <a:off x="2381250" y="1344295"/>
            <a:ext cx="3562350" cy="1181100"/>
          </a:xfrm>
          <a:prstGeom prst="rect">
            <a:avLst/>
          </a:prstGeom>
          <a:noFill/>
          <a:ln w="9525">
            <a:noFill/>
          </a:ln>
        </p:spPr>
      </p:pic>
      <p:sp>
        <p:nvSpPr>
          <p:cNvPr id="102" name="文本框 101"/>
          <p:cNvSpPr txBox="1"/>
          <p:nvPr/>
        </p:nvSpPr>
        <p:spPr>
          <a:xfrm>
            <a:off x="410845" y="2734310"/>
            <a:ext cx="5080000" cy="398780"/>
          </a:xfrm>
          <a:prstGeom prst="rect">
            <a:avLst/>
          </a:prstGeom>
          <a:noFill/>
          <a:ln w="9525">
            <a:noFill/>
          </a:ln>
        </p:spPr>
        <p:txBody>
          <a:bodyPr>
            <a:spAutoFit/>
          </a:bodyPr>
          <a:lstStyle/>
          <a:p>
            <a:pPr indent="266700"/>
            <a:r>
              <a:rPr lang="en-US" altLang="zh-CN" sz="2000" b="0">
                <a:latin typeface="Cambria Math" panose="02040503050406030204" charset="0"/>
                <a:ea typeface="等线" panose="02010600030101010101" pitchFamily="2" charset="-122"/>
              </a:rPr>
              <a:t> </a:t>
            </a:r>
            <a:r>
              <a:rPr lang="zh-CN" sz="2000" b="0">
                <a:latin typeface="Cambria Math" panose="02040503050406030204" charset="0"/>
                <a:ea typeface="等线" panose="02010600030101010101" pitchFamily="2" charset="-122"/>
              </a:rPr>
              <a:t>解得：</a:t>
            </a:r>
            <a:endParaRPr lang="zh-CN" altLang="en-US" sz="2000"/>
          </a:p>
        </p:txBody>
      </p:sp>
      <p:pic>
        <p:nvPicPr>
          <p:cNvPr id="3" name="图片 2"/>
          <p:cNvPicPr/>
          <p:nvPr/>
        </p:nvPicPr>
        <p:blipFill>
          <a:blip r:embed="rId4"/>
          <a:stretch>
            <a:fillRect/>
          </a:stretch>
        </p:blipFill>
        <p:spPr>
          <a:xfrm>
            <a:off x="2428558" y="2734310"/>
            <a:ext cx="2219325" cy="1181100"/>
          </a:xfrm>
          <a:prstGeom prst="rect">
            <a:avLst/>
          </a:prstGeom>
          <a:noFill/>
          <a:ln w="9525">
            <a:noFill/>
          </a:ln>
        </p:spPr>
      </p:pic>
      <p:grpSp>
        <p:nvGrpSpPr>
          <p:cNvPr id="14" name="组合 13"/>
          <p:cNvGrpSpPr/>
          <p:nvPr/>
        </p:nvGrpSpPr>
        <p:grpSpPr>
          <a:xfrm>
            <a:off x="636270" y="4164965"/>
            <a:ext cx="7988300" cy="423545"/>
            <a:chOff x="1002" y="6559"/>
            <a:chExt cx="12580" cy="667"/>
          </a:xfrm>
        </p:grpSpPr>
        <p:grpSp>
          <p:nvGrpSpPr>
            <p:cNvPr id="7" name="组合 6"/>
            <p:cNvGrpSpPr/>
            <p:nvPr/>
          </p:nvGrpSpPr>
          <p:grpSpPr>
            <a:xfrm>
              <a:off x="1002" y="6559"/>
              <a:ext cx="4947" cy="667"/>
              <a:chOff x="1283" y="6764"/>
              <a:chExt cx="4947" cy="667"/>
            </a:xfrm>
          </p:grpSpPr>
          <p:pic>
            <p:nvPicPr>
              <p:cNvPr id="5" name="图片 4"/>
              <p:cNvPicPr/>
              <p:nvPr/>
            </p:nvPicPr>
            <p:blipFill>
              <a:blip r:embed="rId5"/>
              <a:stretch>
                <a:fillRect/>
              </a:stretch>
            </p:blipFill>
            <p:spPr>
              <a:xfrm>
                <a:off x="3366" y="6764"/>
                <a:ext cx="2865" cy="615"/>
              </a:xfrm>
              <a:prstGeom prst="rect">
                <a:avLst/>
              </a:prstGeom>
              <a:noFill/>
              <a:ln w="9525">
                <a:noFill/>
              </a:ln>
            </p:spPr>
          </p:pic>
          <p:sp>
            <p:nvSpPr>
              <p:cNvPr id="2" name="文本框 1"/>
              <p:cNvSpPr txBox="1"/>
              <p:nvPr/>
            </p:nvSpPr>
            <p:spPr>
              <a:xfrm>
                <a:off x="1283" y="6803"/>
                <a:ext cx="3153" cy="628"/>
              </a:xfrm>
              <a:prstGeom prst="rect">
                <a:avLst/>
              </a:prstGeom>
              <a:noFill/>
              <a:ln w="9525">
                <a:noFill/>
              </a:ln>
            </p:spPr>
            <p:txBody>
              <a:bodyPr wrap="square">
                <a:spAutoFit/>
              </a:bodyPr>
              <a:lstStyle/>
              <a:p>
                <a:pPr indent="266700"/>
                <a:r>
                  <a:rPr lang="zh-CN" sz="2000" b="0">
                    <a:ea typeface="等线" panose="02010600030101010101" pitchFamily="2" charset="-122"/>
                  </a:rPr>
                  <a:t>求得回归方程</a:t>
                </a:r>
                <a:endParaRPr lang="zh-CN" altLang="en-US" sz="2000"/>
              </a:p>
            </p:txBody>
          </p:sp>
        </p:grpSp>
        <p:sp>
          <p:nvSpPr>
            <p:cNvPr id="6" name="文本框 5"/>
            <p:cNvSpPr txBox="1"/>
            <p:nvPr/>
          </p:nvSpPr>
          <p:spPr>
            <a:xfrm>
              <a:off x="5582" y="6598"/>
              <a:ext cx="8000" cy="628"/>
            </a:xfrm>
            <a:prstGeom prst="rect">
              <a:avLst/>
            </a:prstGeom>
            <a:noFill/>
            <a:ln w="9525">
              <a:noFill/>
            </a:ln>
          </p:spPr>
          <p:txBody>
            <a:bodyPr>
              <a:spAutoFit/>
            </a:bodyPr>
            <a:lstStyle/>
            <a:p>
              <a:pPr indent="266700"/>
              <a:r>
                <a:rPr lang="zh-CN" sz="2000" b="0">
                  <a:ea typeface="等线" panose="02010600030101010101" pitchFamily="2" charset="-122"/>
                </a:rPr>
                <a:t>后，给定样本以外的自变量的观测（</a:t>
              </a:r>
              <a:r>
                <a:rPr lang="en-US" sz="2000" b="0">
                  <a:latin typeface="等线" panose="02010600030101010101" pitchFamily="2" charset="-122"/>
                  <a:ea typeface="等线" panose="02010600030101010101" pitchFamily="2" charset="-122"/>
                  <a:cs typeface="Times New Roman" panose="02020603050405020304" pitchFamily="18" charset="0"/>
                </a:rPr>
                <a:t>X</a:t>
              </a:r>
              <a:r>
                <a:rPr lang="zh-CN" sz="2000" b="0">
                  <a:ea typeface="等线" panose="02010600030101010101" pitchFamily="2" charset="-122"/>
                </a:rPr>
                <a:t>），</a:t>
              </a:r>
              <a:endParaRPr lang="zh-CN" altLang="en-US" sz="2000"/>
            </a:p>
          </p:txBody>
        </p:sp>
      </p:grpSp>
      <p:sp>
        <p:nvSpPr>
          <p:cNvPr id="8" name="文本框 7"/>
          <p:cNvSpPr txBox="1"/>
          <p:nvPr/>
        </p:nvSpPr>
        <p:spPr>
          <a:xfrm>
            <a:off x="346075" y="4692650"/>
            <a:ext cx="4385945" cy="398780"/>
          </a:xfrm>
          <a:prstGeom prst="rect">
            <a:avLst/>
          </a:prstGeom>
          <a:noFill/>
        </p:spPr>
        <p:txBody>
          <a:bodyPr wrap="none" rtlCol="0" anchor="t">
            <a:spAutoFit/>
          </a:bodyPr>
          <a:lstStyle/>
          <a:p>
            <a:r>
              <a:rPr lang="zh-CN" sz="2000">
                <a:ea typeface="等线" panose="02010600030101010101" pitchFamily="2" charset="-122"/>
                <a:sym typeface="+mn-ea"/>
              </a:rPr>
              <a:t>就可以得到被因变量的预测值（</a:t>
            </a:r>
            <a:r>
              <a:rPr lang="en-US" sz="2000">
                <a:latin typeface="等线" panose="02010600030101010101" pitchFamily="2" charset="-122"/>
                <a:ea typeface="等线" panose="02010600030101010101" pitchFamily="2" charset="-122"/>
                <a:cs typeface="Times New Roman" panose="02020603050405020304" pitchFamily="18" charset="0"/>
                <a:sym typeface="+mn-ea"/>
              </a:rPr>
              <a:t>Y</a:t>
            </a:r>
            <a:r>
              <a:rPr lang="zh-CN" sz="2000">
                <a:ea typeface="等线" panose="02010600030101010101" pitchFamily="2" charset="-122"/>
                <a:sym typeface="+mn-ea"/>
              </a:rPr>
              <a:t>）。</a:t>
            </a:r>
            <a:endParaRPr lang="zh-CN" altLang="en-US" sz="2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20650" y="287020"/>
            <a:ext cx="4946015" cy="521970"/>
          </a:xfrm>
          <a:prstGeom prst="rect">
            <a:avLst/>
          </a:prstGeom>
          <a:noFill/>
        </p:spPr>
        <p:txBody>
          <a:bodyPr wrap="square" rtlCol="0">
            <a:spAutoFit/>
          </a:bodyPr>
          <a:lstStyle/>
          <a:p>
            <a:pPr algn="l">
              <a:buClrTx/>
              <a:buSzTx/>
              <a:buFontTx/>
            </a:pP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8.2.1一元线性回归</a:t>
            </a:r>
          </a:p>
        </p:txBody>
      </p:sp>
      <p:sp>
        <p:nvSpPr>
          <p:cNvPr id="100" name="文本框 99"/>
          <p:cNvSpPr txBox="1"/>
          <p:nvPr/>
        </p:nvSpPr>
        <p:spPr>
          <a:xfrm>
            <a:off x="200025" y="861695"/>
            <a:ext cx="8397875" cy="829945"/>
          </a:xfrm>
          <a:prstGeom prst="rect">
            <a:avLst/>
          </a:prstGeom>
          <a:noFill/>
          <a:ln w="9525">
            <a:noFill/>
          </a:ln>
        </p:spPr>
        <p:txBody>
          <a:bodyPr wrap="square">
            <a:spAutoFit/>
          </a:bodyPr>
          <a:lstStyle/>
          <a:p>
            <a:pPr indent="266700">
              <a:lnSpc>
                <a:spcPct val="120000"/>
              </a:lnSpc>
            </a:pPr>
            <a:r>
              <a:rPr lang="en-US" sz="2000">
                <a:latin typeface="等线" panose="02010600030101010101" pitchFamily="2" charset="-122"/>
                <a:ea typeface="等线" panose="02010600030101010101" pitchFamily="2" charset="-122"/>
                <a:cs typeface="等线" panose="02010600030101010101" pitchFamily="2" charset="-122"/>
              </a:rPr>
              <a:t>【</a:t>
            </a:r>
            <a:r>
              <a:rPr sz="2000">
                <a:latin typeface="等线" panose="02010600030101010101" pitchFamily="2" charset="-122"/>
                <a:ea typeface="等线" panose="02010600030101010101" pitchFamily="2" charset="-122"/>
                <a:cs typeface="等线" panose="02010600030101010101" pitchFamily="2" charset="-122"/>
              </a:rPr>
              <a:t>例】某公司广告费与销售额的一元线性回归分析有一个公司每月的广告费用和销售额如表所示：</a:t>
            </a:r>
          </a:p>
        </p:txBody>
      </p:sp>
      <p:sp>
        <p:nvSpPr>
          <p:cNvPr id="103" name="文本框 102"/>
          <p:cNvSpPr txBox="1"/>
          <p:nvPr/>
        </p:nvSpPr>
        <p:spPr>
          <a:xfrm>
            <a:off x="2454275" y="1683390"/>
            <a:ext cx="2460626" cy="261610"/>
          </a:xfrm>
          <a:prstGeom prst="rect">
            <a:avLst/>
          </a:prstGeom>
          <a:noFill/>
          <a:ln w="9525">
            <a:noFill/>
          </a:ln>
        </p:spPr>
        <p:txBody>
          <a:bodyPr wrap="square">
            <a:spAutoFit/>
          </a:bodyPr>
          <a:lstStyle/>
          <a:p>
            <a:pPr indent="0" algn="ctr"/>
            <a:r>
              <a:rPr lang="zh-CN" sz="1100" b="0">
                <a:latin typeface="Cambria Math" panose="02040503050406030204" charset="0"/>
                <a:ea typeface="等线" panose="02010600030101010101" pitchFamily="2" charset="-122"/>
              </a:rPr>
              <a:t>表</a:t>
            </a:r>
            <a:r>
              <a:rPr lang="en-US" sz="1100" b="0">
                <a:latin typeface="Cambria Math" panose="02040503050406030204" charset="0"/>
                <a:ea typeface="等线" panose="02010600030101010101" pitchFamily="2" charset="-122"/>
                <a:cs typeface="Times New Roman" panose="02020603050405020304" pitchFamily="18" charset="0"/>
              </a:rPr>
              <a:t> </a:t>
            </a:r>
            <a:r>
              <a:rPr lang="zh-CN" altLang="en-US" sz="1100" b="0">
                <a:latin typeface="Cambria Math" panose="02040503050406030204" charset="0"/>
                <a:ea typeface="等线" panose="02010600030101010101" pitchFamily="2" charset="-122"/>
                <a:cs typeface="Times New Roman" panose="02020603050405020304" pitchFamily="18" charset="0"/>
              </a:rPr>
              <a:t>：</a:t>
            </a:r>
            <a:r>
              <a:rPr lang="zh-CN" sz="1100" b="0">
                <a:latin typeface="Cambria Math" panose="02040503050406030204" charset="0"/>
                <a:ea typeface="等线" panose="02010600030101010101" pitchFamily="2" charset="-122"/>
              </a:rPr>
              <a:t>某公司每月的广告费用和销售额</a:t>
            </a:r>
            <a:endParaRPr lang="zh-CN" altLang="en-US" sz="1100"/>
          </a:p>
        </p:txBody>
      </p:sp>
      <p:graphicFrame>
        <p:nvGraphicFramePr>
          <p:cNvPr id="3" name="表格 2"/>
          <p:cNvGraphicFramePr/>
          <p:nvPr>
            <p:custDataLst>
              <p:tags r:id="rId1"/>
            </p:custDataLst>
            <p:extLst>
              <p:ext uri="{D42A27DB-BD31-4B8C-83A1-F6EECF244321}">
                <p14:modId xmlns:p14="http://schemas.microsoft.com/office/powerpoint/2010/main" val="445758297"/>
              </p:ext>
            </p:extLst>
          </p:nvPr>
        </p:nvGraphicFramePr>
        <p:xfrm>
          <a:off x="1784351" y="1936750"/>
          <a:ext cx="4476752" cy="425450"/>
        </p:xfrm>
        <a:graphic>
          <a:graphicData uri="http://schemas.openxmlformats.org/drawingml/2006/table">
            <a:tbl>
              <a:tblPr firstRow="1" bandRow="1">
                <a:tableStyleId>{5940675A-B579-460E-94D1-54222C63F5DA}</a:tableStyleId>
              </a:tblPr>
              <a:tblGrid>
                <a:gridCol w="1148688">
                  <a:extLst>
                    <a:ext uri="{9D8B030D-6E8A-4147-A177-3AD203B41FA5}">
                      <a16:colId xmlns:a16="http://schemas.microsoft.com/office/drawing/2014/main" val="20000"/>
                    </a:ext>
                  </a:extLst>
                </a:gridCol>
                <a:gridCol w="332673">
                  <a:extLst>
                    <a:ext uri="{9D8B030D-6E8A-4147-A177-3AD203B41FA5}">
                      <a16:colId xmlns:a16="http://schemas.microsoft.com/office/drawing/2014/main" val="20001"/>
                    </a:ext>
                  </a:extLst>
                </a:gridCol>
                <a:gridCol w="332673">
                  <a:extLst>
                    <a:ext uri="{9D8B030D-6E8A-4147-A177-3AD203B41FA5}">
                      <a16:colId xmlns:a16="http://schemas.microsoft.com/office/drawing/2014/main" val="20002"/>
                    </a:ext>
                  </a:extLst>
                </a:gridCol>
                <a:gridCol w="332673">
                  <a:extLst>
                    <a:ext uri="{9D8B030D-6E8A-4147-A177-3AD203B41FA5}">
                      <a16:colId xmlns:a16="http://schemas.microsoft.com/office/drawing/2014/main" val="20003"/>
                    </a:ext>
                  </a:extLst>
                </a:gridCol>
                <a:gridCol w="333340">
                  <a:extLst>
                    <a:ext uri="{9D8B030D-6E8A-4147-A177-3AD203B41FA5}">
                      <a16:colId xmlns:a16="http://schemas.microsoft.com/office/drawing/2014/main" val="20004"/>
                    </a:ext>
                  </a:extLst>
                </a:gridCol>
                <a:gridCol w="332673">
                  <a:extLst>
                    <a:ext uri="{9D8B030D-6E8A-4147-A177-3AD203B41FA5}">
                      <a16:colId xmlns:a16="http://schemas.microsoft.com/office/drawing/2014/main" val="20005"/>
                    </a:ext>
                  </a:extLst>
                </a:gridCol>
                <a:gridCol w="332673">
                  <a:extLst>
                    <a:ext uri="{9D8B030D-6E8A-4147-A177-3AD203B41FA5}">
                      <a16:colId xmlns:a16="http://schemas.microsoft.com/office/drawing/2014/main" val="20006"/>
                    </a:ext>
                  </a:extLst>
                </a:gridCol>
                <a:gridCol w="332673">
                  <a:extLst>
                    <a:ext uri="{9D8B030D-6E8A-4147-A177-3AD203B41FA5}">
                      <a16:colId xmlns:a16="http://schemas.microsoft.com/office/drawing/2014/main" val="20007"/>
                    </a:ext>
                  </a:extLst>
                </a:gridCol>
                <a:gridCol w="333340">
                  <a:extLst>
                    <a:ext uri="{9D8B030D-6E8A-4147-A177-3AD203B41FA5}">
                      <a16:colId xmlns:a16="http://schemas.microsoft.com/office/drawing/2014/main" val="20008"/>
                    </a:ext>
                  </a:extLst>
                </a:gridCol>
                <a:gridCol w="332673">
                  <a:extLst>
                    <a:ext uri="{9D8B030D-6E8A-4147-A177-3AD203B41FA5}">
                      <a16:colId xmlns:a16="http://schemas.microsoft.com/office/drawing/2014/main" val="20009"/>
                    </a:ext>
                  </a:extLst>
                </a:gridCol>
                <a:gridCol w="332673">
                  <a:extLst>
                    <a:ext uri="{9D8B030D-6E8A-4147-A177-3AD203B41FA5}">
                      <a16:colId xmlns:a16="http://schemas.microsoft.com/office/drawing/2014/main" val="20010"/>
                    </a:ext>
                  </a:extLst>
                </a:gridCol>
              </a:tblGrid>
              <a:tr h="212725">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广告费（万元）X</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4</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8</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9</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8</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7</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12</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6</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10</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6</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9</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2725">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销售额（万元）Y</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9</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20</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22</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15</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17</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23</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18</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25</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10</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050" b="0">
                          <a:latin typeface="等线" panose="02010600030101010101" pitchFamily="2" charset="-122"/>
                          <a:ea typeface="等线" panose="02010600030101010101" pitchFamily="2" charset="-122"/>
                          <a:cs typeface="等线" panose="02010600030101010101" pitchFamily="2" charset="-122"/>
                        </a:rPr>
                        <a:t>20</a:t>
                      </a:r>
                      <a:endParaRPr lang="en-US" altLang="en-US" sz="105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4" name="文本框 3"/>
          <p:cNvSpPr txBox="1"/>
          <p:nvPr/>
        </p:nvSpPr>
        <p:spPr>
          <a:xfrm>
            <a:off x="510540" y="2379980"/>
            <a:ext cx="8432165" cy="1291590"/>
          </a:xfrm>
          <a:prstGeom prst="rect">
            <a:avLst/>
          </a:prstGeom>
          <a:noFill/>
          <a:ln w="9525">
            <a:noFill/>
          </a:ln>
        </p:spPr>
        <p:txBody>
          <a:bodyPr wrap="square">
            <a:spAutoFit/>
          </a:bodyPr>
          <a:lstStyle/>
          <a:p>
            <a:pPr indent="266700">
              <a:lnSpc>
                <a:spcPct val="130000"/>
              </a:lnSpc>
              <a:spcBef>
                <a:spcPts val="0"/>
              </a:spcBef>
              <a:spcAft>
                <a:spcPts val="0"/>
              </a:spcAft>
            </a:pPr>
            <a:r>
              <a:rPr lang="zh-CN" sz="2000" b="0">
                <a:latin typeface="Cambria Math" panose="02040503050406030204" charset="0"/>
                <a:ea typeface="等线" panose="02010600030101010101" pitchFamily="2" charset="-122"/>
              </a:rPr>
              <a:t>如果我们把广告费和销售额画在二维坐标内，就能够得到一个散点图，如果想探索广告费和销售额的关系，可以利用一元线性回归做出一条拟合直线方程，结果（取小数点后</a:t>
            </a:r>
            <a:r>
              <a:rPr lang="en-US" sz="2000" b="0">
                <a:latin typeface="Cambria Math" panose="02040503050406030204" charset="0"/>
                <a:ea typeface="等线" panose="02010600030101010101" pitchFamily="2" charset="-122"/>
              </a:rPr>
              <a:t>4</a:t>
            </a:r>
            <a:r>
              <a:rPr lang="zh-CN" sz="2000" b="0">
                <a:latin typeface="Cambria Math" panose="02040503050406030204" charset="0"/>
                <a:ea typeface="等线" panose="02010600030101010101" pitchFamily="2" charset="-122"/>
              </a:rPr>
              <a:t>位）为：</a:t>
            </a:r>
            <a:endParaRPr lang="zh-CN" altLang="en-US" sz="2000"/>
          </a:p>
        </p:txBody>
      </p:sp>
      <p:sp>
        <p:nvSpPr>
          <p:cNvPr id="5" name="文本框 4"/>
          <p:cNvSpPr txBox="1"/>
          <p:nvPr/>
        </p:nvSpPr>
        <p:spPr>
          <a:xfrm>
            <a:off x="1704974" y="3671570"/>
            <a:ext cx="2955925" cy="338554"/>
          </a:xfrm>
          <a:prstGeom prst="rect">
            <a:avLst/>
          </a:prstGeom>
          <a:noFill/>
          <a:ln w="9525">
            <a:noFill/>
          </a:ln>
        </p:spPr>
        <p:txBody>
          <a:bodyPr wrap="square">
            <a:spAutoFit/>
          </a:bodyPr>
          <a:lstStyle/>
          <a:p>
            <a:pPr indent="0" algn="ctr"/>
            <a:r>
              <a:rPr lang="en-US" sz="1600" b="0" i="1">
                <a:solidFill>
                  <a:srgbClr val="000000"/>
                </a:solidFill>
                <a:highlight>
                  <a:srgbClr val="FFFF00"/>
                </a:highlight>
                <a:latin typeface="Times New Roman" panose="02020603050405020304" pitchFamily="18" charset="0"/>
                <a:ea typeface="宋体" panose="02010600030101010101" pitchFamily="2" charset="-122"/>
              </a:rPr>
              <a:t>y </a:t>
            </a:r>
            <a:r>
              <a:rPr lang="en-US" sz="1600" b="0">
                <a:solidFill>
                  <a:srgbClr val="000000"/>
                </a:solidFill>
                <a:highlight>
                  <a:srgbClr val="FFFF00"/>
                </a:highlight>
                <a:latin typeface="Times New Roman" panose="02020603050405020304" pitchFamily="18" charset="0"/>
                <a:ea typeface="宋体" panose="02010600030101010101" pitchFamily="2" charset="-122"/>
              </a:rPr>
              <a:t>= 2.2516 + 1.9808*</a:t>
            </a:r>
            <a:r>
              <a:rPr lang="en-US" sz="1600" b="0" i="1">
                <a:solidFill>
                  <a:srgbClr val="000000"/>
                </a:solidFill>
                <a:highlight>
                  <a:srgbClr val="FFFF00"/>
                </a:highlight>
                <a:latin typeface="Times New Roman" panose="02020603050405020304" pitchFamily="18" charset="0"/>
                <a:ea typeface="宋体" panose="02010600030101010101" pitchFamily="2" charset="-122"/>
              </a:rPr>
              <a:t>x</a:t>
            </a:r>
            <a:endParaRPr lang="en-US" altLang="en-US" sz="1600" b="0" i="1">
              <a:solidFill>
                <a:srgbClr val="000000"/>
              </a:solidFill>
              <a:highlight>
                <a:srgbClr val="FFFF00"/>
              </a:highlight>
              <a:latin typeface="Times New Roman" panose="02020603050405020304" pitchFamily="18" charset="0"/>
              <a:ea typeface="宋体" panose="02010600030101010101" pitchFamily="2" charset="-122"/>
            </a:endParaRPr>
          </a:p>
        </p:txBody>
      </p:sp>
      <p:sp>
        <p:nvSpPr>
          <p:cNvPr id="6" name="文本框 5"/>
          <p:cNvSpPr txBox="1"/>
          <p:nvPr/>
        </p:nvSpPr>
        <p:spPr>
          <a:xfrm>
            <a:off x="629285" y="4209415"/>
            <a:ext cx="5080000" cy="398780"/>
          </a:xfrm>
          <a:prstGeom prst="rect">
            <a:avLst/>
          </a:prstGeom>
          <a:noFill/>
          <a:ln w="9525">
            <a:noFill/>
          </a:ln>
        </p:spPr>
        <p:txBody>
          <a:bodyPr>
            <a:spAutoFit/>
          </a:bodyPr>
          <a:lstStyle/>
          <a:p>
            <a:pPr indent="0"/>
            <a:r>
              <a:rPr lang="zh-CN" sz="2000" b="0">
                <a:ea typeface="宋体" panose="02010600030101010101" pitchFamily="2" charset="-122"/>
              </a:rPr>
              <a:t>样本数据点与回归直线的图</a:t>
            </a:r>
            <a:r>
              <a:rPr lang="zh-CN" sz="1050" b="0">
                <a:ea typeface="宋体" panose="02010600030101010101" pitchFamily="2" charset="-122"/>
              </a:rPr>
              <a:t>：</a:t>
            </a:r>
            <a:endParaRPr lang="zh-CN" altLang="en-US"/>
          </a:p>
        </p:txBody>
      </p:sp>
      <p:pic>
        <p:nvPicPr>
          <p:cNvPr id="10" name="图片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5144453" y="3156903"/>
            <a:ext cx="2756535" cy="1895475"/>
          </a:xfrm>
          <a:prstGeom prst="rect">
            <a:avLst/>
          </a:prstGeom>
          <a:noFill/>
          <a:ln>
            <a:noFill/>
          </a:ln>
        </p:spPr>
      </p:pic>
      <p:sp>
        <p:nvSpPr>
          <p:cNvPr id="12" name="文本框 11"/>
          <p:cNvSpPr txBox="1"/>
          <p:nvPr/>
        </p:nvSpPr>
        <p:spPr>
          <a:xfrm>
            <a:off x="5474970" y="3297555"/>
            <a:ext cx="5080000" cy="1614805"/>
          </a:xfrm>
          <a:prstGeom prst="rect">
            <a:avLst/>
          </a:prstGeom>
          <a:noFill/>
          <a:ln w="9525">
            <a:noFill/>
          </a:ln>
        </p:spPr>
        <p:txBody>
          <a:bodyPr>
            <a:spAutoFit/>
          </a:bodyPr>
          <a:lstStyle/>
          <a:p>
            <a:pPr indent="0" algn="ctr"/>
            <a:r>
              <a:rPr lang="zh-CN" sz="900" b="0">
                <a:latin typeface="Cambria Math" panose="02040503050406030204" charset="0"/>
                <a:ea typeface="等线" panose="02010600030101010101" pitchFamily="2" charset="-122"/>
              </a:rPr>
              <a:t>样</a:t>
            </a:r>
          </a:p>
          <a:p>
            <a:pPr indent="0" algn="ctr"/>
            <a:r>
              <a:rPr lang="zh-CN" sz="900" b="0">
                <a:latin typeface="Cambria Math" panose="02040503050406030204" charset="0"/>
                <a:ea typeface="等线" panose="02010600030101010101" pitchFamily="2" charset="-122"/>
              </a:rPr>
              <a:t>本</a:t>
            </a:r>
          </a:p>
          <a:p>
            <a:pPr indent="0" algn="ctr"/>
            <a:r>
              <a:rPr lang="zh-CN" sz="900" b="0">
                <a:latin typeface="Cambria Math" panose="02040503050406030204" charset="0"/>
                <a:ea typeface="等线" panose="02010600030101010101" pitchFamily="2" charset="-122"/>
              </a:rPr>
              <a:t>数</a:t>
            </a:r>
          </a:p>
          <a:p>
            <a:pPr indent="0" algn="ctr"/>
            <a:r>
              <a:rPr lang="zh-CN" sz="900" b="0">
                <a:latin typeface="Cambria Math" panose="02040503050406030204" charset="0"/>
                <a:ea typeface="等线" panose="02010600030101010101" pitchFamily="2" charset="-122"/>
              </a:rPr>
              <a:t>据</a:t>
            </a:r>
          </a:p>
          <a:p>
            <a:pPr indent="0" algn="ctr"/>
            <a:r>
              <a:rPr lang="zh-CN" sz="900" b="0">
                <a:latin typeface="Cambria Math" panose="02040503050406030204" charset="0"/>
                <a:ea typeface="等线" panose="02010600030101010101" pitchFamily="2" charset="-122"/>
              </a:rPr>
              <a:t>点</a:t>
            </a:r>
          </a:p>
          <a:p>
            <a:pPr indent="0" algn="ctr"/>
            <a:r>
              <a:rPr lang="zh-CN" sz="900" b="0">
                <a:latin typeface="Cambria Math" panose="02040503050406030204" charset="0"/>
                <a:ea typeface="等线" panose="02010600030101010101" pitchFamily="2" charset="-122"/>
              </a:rPr>
              <a:t>与</a:t>
            </a:r>
          </a:p>
          <a:p>
            <a:pPr indent="0" algn="ctr"/>
            <a:r>
              <a:rPr lang="zh-CN" sz="900" b="0">
                <a:latin typeface="Cambria Math" panose="02040503050406030204" charset="0"/>
                <a:ea typeface="等线" panose="02010600030101010101" pitchFamily="2" charset="-122"/>
              </a:rPr>
              <a:t>回</a:t>
            </a:r>
          </a:p>
          <a:p>
            <a:pPr indent="0" algn="ctr"/>
            <a:r>
              <a:rPr lang="zh-CN" sz="900" b="0">
                <a:latin typeface="Cambria Math" panose="02040503050406030204" charset="0"/>
                <a:ea typeface="等线" panose="02010600030101010101" pitchFamily="2" charset="-122"/>
              </a:rPr>
              <a:t>归</a:t>
            </a:r>
          </a:p>
          <a:p>
            <a:pPr indent="0" algn="ctr"/>
            <a:r>
              <a:rPr lang="zh-CN" sz="900" b="0">
                <a:latin typeface="Cambria Math" panose="02040503050406030204" charset="0"/>
                <a:ea typeface="等线" panose="02010600030101010101" pitchFamily="2" charset="-122"/>
              </a:rPr>
              <a:t>直</a:t>
            </a:r>
          </a:p>
          <a:p>
            <a:pPr indent="0" algn="ctr"/>
            <a:r>
              <a:rPr lang="zh-CN" sz="900" b="0">
                <a:latin typeface="Cambria Math" panose="02040503050406030204" charset="0"/>
                <a:ea typeface="等线" panose="02010600030101010101" pitchFamily="2" charset="-122"/>
              </a:rPr>
              <a:t>线</a:t>
            </a:r>
          </a:p>
          <a:p>
            <a:pPr indent="0" algn="ctr"/>
            <a:r>
              <a:rPr lang="zh-CN" sz="900" b="0">
                <a:latin typeface="Cambria Math" panose="02040503050406030204" charset="0"/>
                <a:ea typeface="等线" panose="02010600030101010101" pitchFamily="2" charset="-122"/>
              </a:rPr>
              <a:t>图</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29870"/>
            <a:ext cx="4946015" cy="521970"/>
          </a:xfrm>
          <a:prstGeom prst="rect">
            <a:avLst/>
          </a:prstGeom>
          <a:noFill/>
        </p:spPr>
        <p:txBody>
          <a:bodyPr wrap="square" rtlCol="0">
            <a:spAutoFit/>
          </a:bodyPr>
          <a:lstStyle/>
          <a:p>
            <a:pPr algn="l">
              <a:buClrTx/>
              <a:buSzTx/>
              <a:buFontTx/>
            </a:pP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8.2.2其他类型的回归模型</a:t>
            </a:r>
          </a:p>
        </p:txBody>
      </p:sp>
      <p:sp>
        <p:nvSpPr>
          <p:cNvPr id="4" name="文本框 3"/>
          <p:cNvSpPr txBox="1"/>
          <p:nvPr/>
        </p:nvSpPr>
        <p:spPr>
          <a:xfrm>
            <a:off x="843915" y="751840"/>
            <a:ext cx="5353685" cy="4395049"/>
          </a:xfrm>
          <a:prstGeom prst="rect">
            <a:avLst/>
          </a:prstGeom>
          <a:noFill/>
          <a:ln w="9525">
            <a:noFill/>
          </a:ln>
        </p:spPr>
        <p:txBody>
          <a:bodyPr wrap="square">
            <a:spAutoFit/>
          </a:bodyPr>
          <a:lstStyle/>
          <a:p>
            <a:pPr>
              <a:lnSpc>
                <a:spcPct val="130000"/>
              </a:lnSpc>
            </a:pPr>
            <a:r>
              <a:rPr lang="zh-CN" altLang="zh-CN" sz="1200"/>
              <a:t>一元线性回归的</a:t>
            </a:r>
            <a:r>
              <a:rPr lang="en-US" altLang="zh-CN" sz="1200"/>
              <a:t>Python</a:t>
            </a:r>
            <a:r>
              <a:rPr lang="zh-CN" altLang="zh-CN" sz="1200"/>
              <a:t>语言参考代码如下：</a:t>
            </a:r>
            <a:endParaRPr lang="en-US" altLang="zh-CN" sz="2000">
              <a:latin typeface="Cambria Math" panose="02040503050406030204" charset="0"/>
              <a:ea typeface="等线" panose="02010600030101010101" pitchFamily="2" charset="-122"/>
            </a:endParaRPr>
          </a:p>
          <a:p>
            <a:r>
              <a:rPr lang="en-US" altLang="zh-CN" sz="1100"/>
              <a:t>import pandas as pd</a:t>
            </a:r>
            <a:endParaRPr lang="zh-CN" altLang="zh-CN" sz="1100"/>
          </a:p>
          <a:p>
            <a:r>
              <a:rPr lang="en-US" altLang="zh-CN" sz="1100"/>
              <a:t>import numpy as np</a:t>
            </a:r>
            <a:endParaRPr lang="zh-CN" altLang="zh-CN" sz="1100"/>
          </a:p>
          <a:p>
            <a:r>
              <a:rPr lang="en-US" altLang="zh-CN" sz="1100"/>
              <a:t>from matplotlib import pyplot as plt</a:t>
            </a:r>
            <a:endParaRPr lang="zh-CN" altLang="zh-CN" sz="1100"/>
          </a:p>
          <a:p>
            <a:r>
              <a:rPr lang="en-US" altLang="zh-CN" sz="1100"/>
              <a:t>from sklearn.linear_model import LinearRegression</a:t>
            </a:r>
            <a:endParaRPr lang="zh-CN" altLang="zh-CN" sz="1100"/>
          </a:p>
          <a:p>
            <a:r>
              <a:rPr lang="en-US" altLang="zh-CN" sz="1100"/>
              <a:t>data = pd.read_csv('</a:t>
            </a:r>
            <a:r>
              <a:rPr lang="zh-CN" altLang="zh-CN" sz="1100"/>
              <a:t>广告费与销售额</a:t>
            </a:r>
            <a:r>
              <a:rPr lang="en-US" altLang="zh-CN" sz="1100"/>
              <a:t>.csv')</a:t>
            </a:r>
            <a:endParaRPr lang="zh-CN" altLang="zh-CN" sz="1100"/>
          </a:p>
          <a:p>
            <a:r>
              <a:rPr lang="en-US" altLang="zh-CN" sz="1100"/>
              <a:t>Model = LinearRegression()</a:t>
            </a:r>
            <a:endParaRPr lang="zh-CN" altLang="zh-CN" sz="1100"/>
          </a:p>
          <a:p>
            <a:r>
              <a:rPr lang="en-US" altLang="zh-CN" sz="1100"/>
              <a:t>x = data[['</a:t>
            </a:r>
            <a:r>
              <a:rPr lang="zh-CN" altLang="zh-CN" sz="1100"/>
              <a:t>广告费</a:t>
            </a:r>
            <a:r>
              <a:rPr lang="en-US" altLang="zh-CN" sz="1100"/>
              <a:t>']]</a:t>
            </a:r>
            <a:endParaRPr lang="zh-CN" altLang="zh-CN" sz="1100"/>
          </a:p>
          <a:p>
            <a:r>
              <a:rPr lang="en-US" altLang="zh-CN" sz="1100"/>
              <a:t>y = data[['</a:t>
            </a:r>
            <a:r>
              <a:rPr lang="zh-CN" altLang="zh-CN" sz="1100"/>
              <a:t>销售额</a:t>
            </a:r>
            <a:r>
              <a:rPr lang="en-US" altLang="zh-CN" sz="1100"/>
              <a:t>']]</a:t>
            </a:r>
            <a:endParaRPr lang="zh-CN" altLang="zh-CN" sz="1100"/>
          </a:p>
          <a:p>
            <a:r>
              <a:rPr lang="en-US" altLang="zh-CN" sz="1100"/>
              <a:t>Model.fit(x,y)            #</a:t>
            </a:r>
            <a:r>
              <a:rPr lang="zh-CN" altLang="zh-CN" sz="1100"/>
              <a:t>训练模型</a:t>
            </a:r>
          </a:p>
          <a:p>
            <a:r>
              <a:rPr lang="en-US" altLang="zh-CN" sz="1100"/>
              <a:t>beta0 = Model.intercept_[0]</a:t>
            </a:r>
            <a:endParaRPr lang="zh-CN" altLang="zh-CN" sz="1100"/>
          </a:p>
          <a:p>
            <a:r>
              <a:rPr lang="en-US" altLang="zh-CN" sz="1100"/>
              <a:t>print('</a:t>
            </a:r>
            <a:r>
              <a:rPr lang="zh-CN" altLang="zh-CN" sz="1100"/>
              <a:t>截距</a:t>
            </a:r>
            <a:r>
              <a:rPr lang="en-US" altLang="zh-CN" sz="1100"/>
              <a:t>=',  beta0)</a:t>
            </a:r>
            <a:endParaRPr lang="zh-CN" altLang="zh-CN" sz="1100"/>
          </a:p>
          <a:p>
            <a:r>
              <a:rPr lang="en-US" altLang="zh-CN" sz="1100"/>
              <a:t>beta1 = Model.coef_[0][0]</a:t>
            </a:r>
            <a:endParaRPr lang="zh-CN" altLang="zh-CN" sz="1100"/>
          </a:p>
          <a:p>
            <a:r>
              <a:rPr lang="en-US" altLang="zh-CN" sz="1100"/>
              <a:t>print('</a:t>
            </a:r>
            <a:r>
              <a:rPr lang="zh-CN" altLang="zh-CN" sz="1100"/>
              <a:t>斜率</a:t>
            </a:r>
            <a:r>
              <a:rPr lang="en-US" altLang="zh-CN" sz="1100"/>
              <a:t>=', beta1)</a:t>
            </a:r>
            <a:endParaRPr lang="zh-CN" altLang="zh-CN" sz="1100"/>
          </a:p>
          <a:p>
            <a:r>
              <a:rPr lang="en-US" altLang="zh-CN" sz="1100"/>
              <a:t>#</a:t>
            </a:r>
            <a:r>
              <a:rPr lang="zh-CN" altLang="zh-CN" sz="1100"/>
              <a:t>画散点图</a:t>
            </a:r>
          </a:p>
          <a:p>
            <a:r>
              <a:rPr lang="en-US" altLang="zh-CN" sz="1100"/>
              <a:t>plt.rcParams['font.family']='SimHei'</a:t>
            </a:r>
            <a:endParaRPr lang="zh-CN" altLang="zh-CN" sz="1100"/>
          </a:p>
          <a:p>
            <a:r>
              <a:rPr lang="en-US" altLang="zh-CN" sz="1100"/>
              <a:t>fig = plt.figure(dpi=300)  </a:t>
            </a:r>
            <a:endParaRPr lang="zh-CN" altLang="zh-CN" sz="1100"/>
          </a:p>
          <a:p>
            <a:r>
              <a:rPr lang="en-US" altLang="zh-CN" sz="1100"/>
              <a:t>ax = fig.add_subplot()</a:t>
            </a:r>
            <a:endParaRPr lang="zh-CN" altLang="zh-CN" sz="1100"/>
          </a:p>
          <a:p>
            <a:r>
              <a:rPr lang="en-US" altLang="zh-CN" sz="1100"/>
              <a:t>ax.scatter(x, y)</a:t>
            </a:r>
            <a:endParaRPr lang="zh-CN" altLang="zh-CN" sz="1100"/>
          </a:p>
          <a:p>
            <a:r>
              <a:rPr lang="en-US" altLang="zh-CN" sz="1100"/>
              <a:t>X = np.linspace(0, 16, 100)</a:t>
            </a:r>
            <a:endParaRPr lang="zh-CN" altLang="zh-CN" sz="1100"/>
          </a:p>
          <a:p>
            <a:r>
              <a:rPr lang="en-US" altLang="zh-CN" sz="1100"/>
              <a:t>Y = beta0 + beta1*X</a:t>
            </a:r>
            <a:endParaRPr lang="zh-CN" altLang="zh-CN" sz="1100"/>
          </a:p>
          <a:p>
            <a:r>
              <a:rPr lang="en-US" altLang="zh-CN" sz="1100"/>
              <a:t>ax.scatter(X,Y, s=1, color='black')</a:t>
            </a:r>
            <a:endParaRPr lang="zh-CN" altLang="zh-CN" sz="1100"/>
          </a:p>
          <a:p>
            <a:r>
              <a:rPr lang="en-US" altLang="zh-CN" sz="1100"/>
              <a:t>ax.set_xlabel('</a:t>
            </a:r>
            <a:r>
              <a:rPr lang="zh-CN" altLang="zh-CN" sz="1100"/>
              <a:t>广告费</a:t>
            </a:r>
            <a:r>
              <a:rPr lang="en-US" altLang="zh-CN" sz="1100"/>
              <a:t>(</a:t>
            </a:r>
            <a:r>
              <a:rPr lang="zh-CN" altLang="zh-CN" sz="1100"/>
              <a:t>万元</a:t>
            </a:r>
            <a:r>
              <a:rPr lang="en-US" altLang="zh-CN" sz="1100"/>
              <a:t>)', fontproperties='SimHei',fontsize=12)</a:t>
            </a:r>
            <a:endParaRPr lang="zh-CN" altLang="zh-CN" sz="1100"/>
          </a:p>
          <a:p>
            <a:r>
              <a:rPr lang="en-US" altLang="zh-CN" sz="1100"/>
              <a:t>ax.set_ylabel('</a:t>
            </a:r>
            <a:r>
              <a:rPr lang="zh-CN" altLang="zh-CN" sz="1100"/>
              <a:t>销售额</a:t>
            </a:r>
            <a:r>
              <a:rPr lang="en-US" altLang="zh-CN" sz="1100"/>
              <a:t>(</a:t>
            </a:r>
            <a:r>
              <a:rPr lang="zh-CN" altLang="zh-CN" sz="1100"/>
              <a:t>万元</a:t>
            </a:r>
            <a:r>
              <a:rPr lang="en-US" altLang="zh-CN" sz="1100"/>
              <a:t>)', fontproperties='SimHei',fontsize=12)</a:t>
            </a:r>
            <a:endParaRPr lang="zh-CN" altLang="zh-CN" sz="1100"/>
          </a:p>
          <a:p>
            <a:r>
              <a:rPr lang="en-US" altLang="zh-CN" sz="1100"/>
              <a:t>plt.show()</a:t>
            </a:r>
            <a:endParaRPr sz="2000" b="0">
              <a:latin typeface="Cambria Math" panose="02040503050406030204" charset="0"/>
              <a:ea typeface="等线" panose="02010600030101010101" pitchFamily="2" charset="-122"/>
            </a:endParaRPr>
          </a:p>
        </p:txBody>
      </p:sp>
    </p:spTree>
    <p:extLst>
      <p:ext uri="{BB962C8B-B14F-4D97-AF65-F5344CB8AC3E}">
        <p14:creationId xmlns:p14="http://schemas.microsoft.com/office/powerpoint/2010/main" val="26221947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29870"/>
            <a:ext cx="4946015" cy="521970"/>
          </a:xfrm>
          <a:prstGeom prst="rect">
            <a:avLst/>
          </a:prstGeom>
          <a:noFill/>
        </p:spPr>
        <p:txBody>
          <a:bodyPr wrap="square" rtlCol="0">
            <a:spAutoFit/>
          </a:bodyPr>
          <a:lstStyle/>
          <a:p>
            <a:pPr algn="l">
              <a:buClrTx/>
              <a:buSzTx/>
              <a:buFontTx/>
            </a:pP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8.2.2其他类型的回归模型</a:t>
            </a:r>
          </a:p>
        </p:txBody>
      </p:sp>
      <p:sp>
        <p:nvSpPr>
          <p:cNvPr id="100" name="文本框 99"/>
          <p:cNvSpPr txBox="1"/>
          <p:nvPr/>
        </p:nvSpPr>
        <p:spPr>
          <a:xfrm>
            <a:off x="474980" y="855980"/>
            <a:ext cx="8397875" cy="460375"/>
          </a:xfrm>
          <a:prstGeom prst="rect">
            <a:avLst/>
          </a:prstGeom>
          <a:noFill/>
          <a:ln w="9525">
            <a:noFill/>
          </a:ln>
        </p:spPr>
        <p:txBody>
          <a:bodyPr wrap="square">
            <a:spAutoFit/>
          </a:bodyPr>
          <a:lstStyle/>
          <a:p>
            <a:pPr indent="266700">
              <a:lnSpc>
                <a:spcPct val="120000"/>
              </a:lnSpc>
            </a:pPr>
            <a:r>
              <a:rPr sz="2000" b="1">
                <a:latin typeface="等线" panose="02010600030101010101" pitchFamily="2" charset="-122"/>
                <a:ea typeface="等线" panose="02010600030101010101" pitchFamily="2" charset="-122"/>
                <a:cs typeface="等线" panose="02010600030101010101" pitchFamily="2" charset="-122"/>
              </a:rPr>
              <a:t>1.多元回归模型</a:t>
            </a:r>
          </a:p>
        </p:txBody>
      </p:sp>
      <p:sp>
        <p:nvSpPr>
          <p:cNvPr id="4" name="文本框 3"/>
          <p:cNvSpPr txBox="1"/>
          <p:nvPr/>
        </p:nvSpPr>
        <p:spPr>
          <a:xfrm>
            <a:off x="601345" y="855980"/>
            <a:ext cx="8687435" cy="2091690"/>
          </a:xfrm>
          <a:prstGeom prst="rect">
            <a:avLst/>
          </a:prstGeom>
          <a:noFill/>
          <a:ln w="9525">
            <a:noFill/>
          </a:ln>
        </p:spPr>
        <p:txBody>
          <a:bodyPr wrap="square">
            <a:spAutoFit/>
          </a:bodyPr>
          <a:lstStyle/>
          <a:p>
            <a:pPr indent="266700">
              <a:lnSpc>
                <a:spcPct val="130000"/>
              </a:lnSpc>
              <a:spcBef>
                <a:spcPts val="0"/>
              </a:spcBef>
              <a:spcAft>
                <a:spcPts val="0"/>
              </a:spcAft>
            </a:pPr>
            <a:r>
              <a:rPr lang="en-US" sz="2000" b="0">
                <a:latin typeface="Cambria Math" panose="02040503050406030204" charset="0"/>
                <a:ea typeface="等线" panose="02010600030101010101" pitchFamily="2" charset="-122"/>
              </a:rPr>
              <a:t>    </a:t>
            </a:r>
            <a:endParaRPr sz="2000" b="0">
              <a:latin typeface="Cambria Math" panose="02040503050406030204" charset="0"/>
              <a:ea typeface="等线" panose="02010600030101010101" pitchFamily="2" charset="-122"/>
            </a:endParaRPr>
          </a:p>
          <a:p>
            <a:pPr indent="266700">
              <a:lnSpc>
                <a:spcPct val="130000"/>
              </a:lnSpc>
              <a:spcBef>
                <a:spcPts val="0"/>
              </a:spcBef>
              <a:spcAft>
                <a:spcPts val="0"/>
              </a:spcAft>
            </a:pPr>
            <a:r>
              <a:rPr sz="2000" b="0">
                <a:latin typeface="Cambria Math" panose="02040503050406030204" charset="0"/>
                <a:ea typeface="等线" panose="02010600030101010101" pitchFamily="2" charset="-122"/>
              </a:rPr>
              <a:t>在回归分析中，如果有两个或两个以上的自变量，就称为多元回归，</a:t>
            </a:r>
          </a:p>
          <a:p>
            <a:pPr indent="266700">
              <a:lnSpc>
                <a:spcPct val="130000"/>
              </a:lnSpc>
              <a:spcBef>
                <a:spcPts val="0"/>
              </a:spcBef>
              <a:spcAft>
                <a:spcPts val="0"/>
              </a:spcAft>
            </a:pPr>
            <a:r>
              <a:rPr sz="2000" b="0">
                <a:latin typeface="Cambria Math" panose="02040503050406030204" charset="0"/>
                <a:ea typeface="等线" panose="02010600030101010101" pitchFamily="2" charset="-122"/>
              </a:rPr>
              <a:t>多元线性回归模型可以表示为：</a:t>
            </a:r>
          </a:p>
          <a:p>
            <a:pPr indent="266700">
              <a:lnSpc>
                <a:spcPct val="130000"/>
              </a:lnSpc>
              <a:spcBef>
                <a:spcPts val="0"/>
              </a:spcBef>
              <a:spcAft>
                <a:spcPts val="0"/>
              </a:spcAft>
            </a:pPr>
            <a:endParaRPr sz="2000" b="0">
              <a:latin typeface="Cambria Math" panose="02040503050406030204" charset="0"/>
              <a:ea typeface="等线" panose="02010600030101010101" pitchFamily="2" charset="-122"/>
            </a:endParaRPr>
          </a:p>
          <a:p>
            <a:pPr indent="266700">
              <a:lnSpc>
                <a:spcPct val="130000"/>
              </a:lnSpc>
              <a:spcBef>
                <a:spcPts val="0"/>
              </a:spcBef>
              <a:spcAft>
                <a:spcPts val="0"/>
              </a:spcAft>
            </a:pPr>
            <a:endParaRPr sz="2000" b="0">
              <a:latin typeface="Cambria Math" panose="02040503050406030204" charset="0"/>
              <a:ea typeface="等线" panose="02010600030101010101" pitchFamily="2" charset="-122"/>
            </a:endParaRPr>
          </a:p>
        </p:txBody>
      </p:sp>
      <p:pic>
        <p:nvPicPr>
          <p:cNvPr id="14" name="图片 13"/>
          <p:cNvPicPr/>
          <p:nvPr/>
        </p:nvPicPr>
        <p:blipFill>
          <a:blip r:embed="rId3"/>
          <a:stretch>
            <a:fillRect/>
          </a:stretch>
        </p:blipFill>
        <p:spPr>
          <a:xfrm>
            <a:off x="1778000" y="2320925"/>
            <a:ext cx="5339715" cy="584835"/>
          </a:xfrm>
          <a:prstGeom prst="rect">
            <a:avLst/>
          </a:prstGeom>
          <a:noFill/>
          <a:ln w="9525">
            <a:noFill/>
          </a:ln>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72E1C966-92BC-4F7B-A612-8FA76704ABDE}"/>
                  </a:ext>
                </a:extLst>
              </p:cNvPr>
              <p:cNvSpPr/>
              <p:nvPr/>
            </p:nvSpPr>
            <p:spPr>
              <a:xfrm>
                <a:off x="368300" y="3074077"/>
                <a:ext cx="7461250" cy="747512"/>
              </a:xfrm>
              <a:prstGeom prst="rect">
                <a:avLst/>
              </a:prstGeom>
            </p:spPr>
            <p:txBody>
              <a:bodyPr wrap="square">
                <a:spAutoFit/>
              </a:bodyPr>
              <a:lstStyle/>
              <a:p>
                <a:pPr marL="266700" indent="266700">
                  <a:lnSpc>
                    <a:spcPct val="120000"/>
                  </a:lnSpc>
                  <a:spcAft>
                    <a:spcPts val="0"/>
                  </a:spcAft>
                </a:pPr>
                <a:r>
                  <a:rPr lang="zh-CN" altLang="zh-CN" sz="1800" kern="100">
                    <a:latin typeface="Cambria Math" panose="02040503050406030204" pitchFamily="18" charset="0"/>
                    <a:cs typeface="Times New Roman" panose="02020603050405020304" pitchFamily="18" charset="0"/>
                  </a:rPr>
                  <a:t>其中，</a:t>
                </a:r>
                <a14:m>
                  <m:oMath xmlns:m="http://schemas.openxmlformats.org/officeDocument/2006/math">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latin typeface="Cambria Math" panose="02040503050406030204" pitchFamily="18" charset="0"/>
                                <a:cs typeface="Times New Roman" panose="02020603050405020304" pitchFamily="18" charset="0"/>
                              </a:rPr>
                              <m:t>𝑥</m:t>
                            </m:r>
                          </m:e>
                          <m:sub>
                            <m:r>
                              <a:rPr lang="en-US" altLang="zh-CN" sz="1800" i="1" kern="100">
                                <a:latin typeface="Cambria Math" panose="02040503050406030204" pitchFamily="18" charset="0"/>
                                <a:cs typeface="Times New Roman" panose="02020603050405020304" pitchFamily="18" charset="0"/>
                              </a:rPr>
                              <m:t>𝑖</m:t>
                            </m:r>
                          </m:sub>
                        </m:sSub>
                      </m:e>
                      <m:sup>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𝑗</m:t>
                        </m:r>
                        <m:r>
                          <a:rPr lang="en-US" altLang="zh-CN" sz="1800" i="1" kern="100">
                            <a:latin typeface="Cambria Math" panose="02040503050406030204" pitchFamily="18" charset="0"/>
                            <a:cs typeface="Times New Roman" panose="02020603050405020304" pitchFamily="18" charset="0"/>
                          </a:rPr>
                          <m:t>)</m:t>
                        </m:r>
                      </m:sup>
                    </m:sSup>
                  </m:oMath>
                </a14:m>
                <a:r>
                  <a:rPr lang="zh-CN" altLang="zh-CN" sz="1800" kern="100">
                    <a:latin typeface="Cambria Math" panose="02040503050406030204" pitchFamily="18" charset="0"/>
                    <a:cs typeface="Times New Roman" panose="02020603050405020304" pitchFamily="18" charset="0"/>
                  </a:rPr>
                  <a:t>表示样本</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latin typeface="Cambria Math" panose="02040503050406030204" pitchFamily="18" charset="0"/>
                            <a:cs typeface="Times New Roman" panose="02020603050405020304" pitchFamily="18" charset="0"/>
                          </a:rPr>
                          <m:t>𝑥</m:t>
                        </m:r>
                      </m:e>
                      <m:sub>
                        <m:r>
                          <a:rPr lang="en-US" altLang="zh-CN" sz="1800" i="1" kern="100">
                            <a:latin typeface="Cambria Math" panose="02040503050406030204" pitchFamily="18" charset="0"/>
                            <a:cs typeface="Times New Roman" panose="02020603050405020304" pitchFamily="18" charset="0"/>
                          </a:rPr>
                          <m:t>𝑖</m:t>
                        </m:r>
                      </m:sub>
                    </m:sSub>
                  </m:oMath>
                </a14:m>
                <a:r>
                  <a:rPr lang="zh-CN" altLang="zh-CN" sz="1800" kern="100">
                    <a:latin typeface="Cambria Math" panose="02040503050406030204" pitchFamily="18" charset="0"/>
                    <a:cs typeface="Times New Roman" panose="02020603050405020304" pitchFamily="18" charset="0"/>
                  </a:rPr>
                  <a:t>的第</a:t>
                </a:r>
                <a:r>
                  <a:rPr lang="en-US" altLang="zh-CN" sz="1800" i="1" kern="100">
                    <a:latin typeface="Times New Roman" panose="02020603050405020304" pitchFamily="18" charset="0"/>
                    <a:cs typeface="Times New Roman" panose="02020603050405020304" pitchFamily="18" charset="0"/>
                  </a:rPr>
                  <a:t>j</a:t>
                </a:r>
                <a:r>
                  <a:rPr lang="zh-CN" altLang="zh-CN" sz="1800" kern="100">
                    <a:latin typeface="Cambria Math" panose="02040503050406030204" pitchFamily="18" charset="0"/>
                    <a:cs typeface="Times New Roman" panose="02020603050405020304" pitchFamily="18" charset="0"/>
                  </a:rPr>
                  <a:t>个属性（分量），</a:t>
                </a:r>
                <a:r>
                  <a:rPr lang="en-US" altLang="zh-CN" sz="1800" i="1" kern="100">
                    <a:latin typeface="Times New Roman" panose="02020603050405020304" pitchFamily="18" charset="0"/>
                    <a:cs typeface="Times New Roman" panose="02020603050405020304" pitchFamily="18" charset="0"/>
                  </a:rPr>
                  <a:t>m</a:t>
                </a:r>
                <a:r>
                  <a:rPr lang="zh-CN" altLang="zh-CN" sz="1800" kern="100">
                    <a:latin typeface="Cambria Math" panose="02040503050406030204" pitchFamily="18" charset="0"/>
                    <a:cs typeface="Times New Roman" panose="02020603050405020304" pitchFamily="18" charset="0"/>
                  </a:rPr>
                  <a:t>是样本的属性个数，</a:t>
                </a:r>
                <a:r>
                  <a:rPr lang="en-US" altLang="zh-CN" sz="1800" i="1" kern="100">
                    <a:latin typeface="Times New Roman" panose="02020603050405020304" pitchFamily="18" charset="0"/>
                    <a:cs typeface="Times New Roman" panose="02020603050405020304" pitchFamily="18" charset="0"/>
                  </a:rPr>
                  <a:t>n</a:t>
                </a:r>
                <a:r>
                  <a:rPr lang="zh-CN" altLang="zh-CN" sz="1800" kern="100">
                    <a:latin typeface="Cambria Math" panose="02040503050406030204" pitchFamily="18" charset="0"/>
                    <a:cs typeface="Times New Roman" panose="02020603050405020304" pitchFamily="18" charset="0"/>
                  </a:rPr>
                  <a:t>是样本总数。</a:t>
                </a:r>
              </a:p>
            </p:txBody>
          </p:sp>
        </mc:Choice>
        <mc:Fallback xmlns="">
          <p:sp>
            <p:nvSpPr>
              <p:cNvPr id="2" name="矩形 1">
                <a:extLst>
                  <a:ext uri="{FF2B5EF4-FFF2-40B4-BE49-F238E27FC236}">
                    <a16:creationId xmlns:a16="http://schemas.microsoft.com/office/drawing/2014/main" id="{72E1C966-92BC-4F7B-A612-8FA76704ABDE}"/>
                  </a:ext>
                </a:extLst>
              </p:cNvPr>
              <p:cNvSpPr>
                <a:spLocks noRot="1" noChangeAspect="1" noMove="1" noResize="1" noEditPoints="1" noAdjustHandles="1" noChangeArrowheads="1" noChangeShapeType="1" noTextEdit="1"/>
              </p:cNvSpPr>
              <p:nvPr/>
            </p:nvSpPr>
            <p:spPr>
              <a:xfrm>
                <a:off x="368300" y="3074077"/>
                <a:ext cx="7461250" cy="747512"/>
              </a:xfrm>
              <a:prstGeom prst="rect">
                <a:avLst/>
              </a:prstGeom>
              <a:blipFill>
                <a:blip r:embed="rId4"/>
                <a:stretch>
                  <a:fillRect r="-3758" b="-12195"/>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36525" y="294640"/>
            <a:ext cx="4946015" cy="521970"/>
          </a:xfrm>
          <a:prstGeom prst="rect">
            <a:avLst/>
          </a:prstGeom>
          <a:noFill/>
        </p:spPr>
        <p:txBody>
          <a:bodyPr wrap="square" rtlCol="0">
            <a:spAutoFit/>
          </a:bodyPr>
          <a:lstStyle/>
          <a:p>
            <a:pPr algn="l">
              <a:buClrTx/>
              <a:buSzTx/>
              <a:buFontTx/>
            </a:pP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8.2.2其他类型的回归模型</a:t>
            </a:r>
          </a:p>
        </p:txBody>
      </p:sp>
      <p:sp>
        <p:nvSpPr>
          <p:cNvPr id="100" name="文本框 99"/>
          <p:cNvSpPr txBox="1"/>
          <p:nvPr/>
        </p:nvSpPr>
        <p:spPr>
          <a:xfrm>
            <a:off x="474980" y="855980"/>
            <a:ext cx="8397875" cy="460375"/>
          </a:xfrm>
          <a:prstGeom prst="rect">
            <a:avLst/>
          </a:prstGeom>
          <a:noFill/>
          <a:ln w="9525">
            <a:noFill/>
          </a:ln>
        </p:spPr>
        <p:txBody>
          <a:bodyPr wrap="square">
            <a:spAutoFit/>
          </a:bodyPr>
          <a:lstStyle/>
          <a:p>
            <a:pPr indent="266700">
              <a:lnSpc>
                <a:spcPct val="120000"/>
              </a:lnSpc>
            </a:pPr>
            <a:r>
              <a:rPr sz="2000" b="1">
                <a:latin typeface="等线" panose="02010600030101010101" pitchFamily="2" charset="-122"/>
                <a:ea typeface="等线" panose="02010600030101010101" pitchFamily="2" charset="-122"/>
                <a:cs typeface="等线" panose="02010600030101010101" pitchFamily="2" charset="-122"/>
              </a:rPr>
              <a:t>2.非线性回归</a:t>
            </a:r>
          </a:p>
        </p:txBody>
      </p:sp>
      <p:sp>
        <p:nvSpPr>
          <p:cNvPr id="4" name="文本框 3"/>
          <p:cNvSpPr txBox="1"/>
          <p:nvPr/>
        </p:nvSpPr>
        <p:spPr>
          <a:xfrm>
            <a:off x="591820" y="855980"/>
            <a:ext cx="8687435" cy="1691640"/>
          </a:xfrm>
          <a:prstGeom prst="rect">
            <a:avLst/>
          </a:prstGeom>
          <a:noFill/>
          <a:ln w="9525">
            <a:noFill/>
          </a:ln>
        </p:spPr>
        <p:txBody>
          <a:bodyPr wrap="square">
            <a:spAutoFit/>
          </a:bodyPr>
          <a:lstStyle/>
          <a:p>
            <a:pPr indent="266700">
              <a:lnSpc>
                <a:spcPct val="130000"/>
              </a:lnSpc>
              <a:spcBef>
                <a:spcPts val="0"/>
              </a:spcBef>
              <a:spcAft>
                <a:spcPts val="0"/>
              </a:spcAft>
            </a:pPr>
            <a:endParaRPr sz="2000" b="0">
              <a:latin typeface="Cambria Math" panose="02040503050406030204" charset="0"/>
              <a:ea typeface="等线" panose="02010600030101010101" pitchFamily="2" charset="-122"/>
            </a:endParaRPr>
          </a:p>
          <a:p>
            <a:pPr indent="266700">
              <a:lnSpc>
                <a:spcPct val="130000"/>
              </a:lnSpc>
              <a:spcBef>
                <a:spcPts val="0"/>
              </a:spcBef>
              <a:spcAft>
                <a:spcPts val="0"/>
              </a:spcAft>
            </a:pPr>
            <a:r>
              <a:rPr sz="2000" b="0">
                <a:latin typeface="Cambria Math" panose="02040503050406030204" charset="0"/>
                <a:ea typeface="等线" panose="02010600030101010101" pitchFamily="2" charset="-122"/>
              </a:rPr>
              <a:t>如果回归模型的因变量是自变量的一次以上函数形式，回归规律在图形上表现为形态各异的各种曲线（如图所示），称为非线性回归。</a:t>
            </a:r>
          </a:p>
          <a:p>
            <a:pPr indent="266700">
              <a:lnSpc>
                <a:spcPct val="130000"/>
              </a:lnSpc>
              <a:spcBef>
                <a:spcPts val="0"/>
              </a:spcBef>
              <a:spcAft>
                <a:spcPts val="0"/>
              </a:spcAft>
            </a:pPr>
            <a:endParaRPr sz="2000" b="0">
              <a:latin typeface="Cambria Math" panose="02040503050406030204" charset="0"/>
              <a:ea typeface="等线" panose="02010600030101010101" pitchFamily="2" charset="-122"/>
            </a:endParaRPr>
          </a:p>
        </p:txBody>
      </p:sp>
      <p:pic>
        <p:nvPicPr>
          <p:cNvPr id="13" name="图片 1"/>
          <p:cNvPicPr>
            <a:picLocks noChangeAspect="1"/>
          </p:cNvPicPr>
          <p:nvPr/>
        </p:nvPicPr>
        <p:blipFill>
          <a:blip r:embed="rId3"/>
          <a:stretch>
            <a:fillRect/>
          </a:stretch>
        </p:blipFill>
        <p:spPr>
          <a:xfrm>
            <a:off x="2540000" y="2385060"/>
            <a:ext cx="3517772" cy="1442086"/>
          </a:xfrm>
          <a:prstGeom prst="rect">
            <a:avLst/>
          </a:prstGeom>
        </p:spPr>
      </p:pic>
      <p:sp>
        <p:nvSpPr>
          <p:cNvPr id="112" name="文本框 111"/>
          <p:cNvSpPr txBox="1"/>
          <p:nvPr/>
        </p:nvSpPr>
        <p:spPr>
          <a:xfrm>
            <a:off x="1612900" y="3768090"/>
            <a:ext cx="5080000" cy="245110"/>
          </a:xfrm>
          <a:prstGeom prst="rect">
            <a:avLst/>
          </a:prstGeom>
          <a:noFill/>
          <a:ln w="9525">
            <a:noFill/>
          </a:ln>
        </p:spPr>
        <p:txBody>
          <a:bodyPr>
            <a:spAutoFit/>
          </a:bodyPr>
          <a:lstStyle/>
          <a:p>
            <a:pPr indent="0" algn="ctr"/>
            <a:r>
              <a:rPr lang="zh-CN" sz="1000" b="0">
                <a:latin typeface="Cambria Math" panose="02040503050406030204" charset="0"/>
                <a:ea typeface="等线" panose="02010600030101010101" pitchFamily="2" charset="-122"/>
              </a:rPr>
              <a:t>非线性回归问题示意图</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40359"/>
            <a:ext cx="4349750" cy="521970"/>
          </a:xfrm>
          <a:prstGeom prst="rect">
            <a:avLst/>
          </a:prstGeom>
          <a:noFill/>
        </p:spPr>
        <p:txBody>
          <a:bodyPr wrap="none" rtlCol="0">
            <a:spAutoFit/>
          </a:bodyPr>
          <a:lstStyle/>
          <a:p>
            <a:pPr algn="l"/>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8.2.2</a:t>
            </a:r>
            <a:r>
              <a:rPr 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其他类型的回归模型</a:t>
            </a:r>
            <a:endParaRPr lang="zh-CN" alt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 name="任意多边形: 形状 9"/>
          <p:cNvSpPr/>
          <p:nvPr/>
        </p:nvSpPr>
        <p:spPr>
          <a:xfrm>
            <a:off x="801105" y="1543710"/>
            <a:ext cx="887031" cy="1267188"/>
          </a:xfrm>
          <a:custGeom>
            <a:avLst/>
            <a:gdLst>
              <a:gd name="connsiteX0" fmla="*/ 0 w 1267187"/>
              <a:gd name="connsiteY0" fmla="*/ 0 h 887030"/>
              <a:gd name="connsiteX1" fmla="*/ 823672 w 1267187"/>
              <a:gd name="connsiteY1" fmla="*/ 0 h 887030"/>
              <a:gd name="connsiteX2" fmla="*/ 1267187 w 1267187"/>
              <a:gd name="connsiteY2" fmla="*/ 443515 h 887030"/>
              <a:gd name="connsiteX3" fmla="*/ 823672 w 1267187"/>
              <a:gd name="connsiteY3" fmla="*/ 887030 h 887030"/>
              <a:gd name="connsiteX4" fmla="*/ 0 w 1267187"/>
              <a:gd name="connsiteY4" fmla="*/ 887030 h 887030"/>
              <a:gd name="connsiteX5" fmla="*/ 443515 w 1267187"/>
              <a:gd name="connsiteY5" fmla="*/ 443515 h 887030"/>
              <a:gd name="connsiteX6" fmla="*/ 0 w 1267187"/>
              <a:gd name="connsiteY6" fmla="*/ 0 h 88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7187" h="887030">
                <a:moveTo>
                  <a:pt x="1267186" y="0"/>
                </a:moveTo>
                <a:lnTo>
                  <a:pt x="1267186" y="576570"/>
                </a:lnTo>
                <a:lnTo>
                  <a:pt x="633594" y="887030"/>
                </a:lnTo>
                <a:lnTo>
                  <a:pt x="1" y="576570"/>
                </a:lnTo>
                <a:lnTo>
                  <a:pt x="1" y="0"/>
                </a:lnTo>
                <a:lnTo>
                  <a:pt x="633594" y="310460"/>
                </a:lnTo>
                <a:lnTo>
                  <a:pt x="1267186" y="0"/>
                </a:lnTo>
                <a:close/>
              </a:path>
            </a:pathLst>
          </a:custGeom>
          <a:solidFill>
            <a:srgbClr val="3D89BC"/>
          </a:solid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7781" tIns="461295" rIns="17780" bIns="461296" numCol="1" spcCol="1270" anchor="ctr" anchorCtr="0">
            <a:noAutofit/>
          </a:bodyPr>
          <a:lstStyle/>
          <a:p>
            <a:pPr marL="0" lvl="0" indent="0" algn="ctr" defTabSz="1244600">
              <a:lnSpc>
                <a:spcPct val="90000"/>
              </a:lnSpc>
              <a:spcBef>
                <a:spcPct val="0"/>
              </a:spcBef>
              <a:spcAft>
                <a:spcPct val="35000"/>
              </a:spcAft>
              <a:buNone/>
            </a:pPr>
            <a:r>
              <a:rPr lang="en-US" altLang="zh-CN" sz="2800" kern="1200">
                <a:latin typeface="+mn-ea"/>
                <a:ea typeface="+mn-ea"/>
              </a:rPr>
              <a:t>1</a:t>
            </a:r>
            <a:endParaRPr lang="zh-CN" altLang="en-US" sz="2800" kern="1200">
              <a:latin typeface="+mn-ea"/>
              <a:ea typeface="+mn-ea"/>
            </a:endParaRPr>
          </a:p>
        </p:txBody>
      </p:sp>
      <p:sp>
        <p:nvSpPr>
          <p:cNvPr id="11" name="任意多边形: 形状 10"/>
          <p:cNvSpPr/>
          <p:nvPr/>
        </p:nvSpPr>
        <p:spPr>
          <a:xfrm>
            <a:off x="1688135" y="1543712"/>
            <a:ext cx="5919212" cy="824105"/>
          </a:xfrm>
          <a:custGeom>
            <a:avLst/>
            <a:gdLst>
              <a:gd name="connsiteX0" fmla="*/ 137353 w 824104"/>
              <a:gd name="connsiteY0" fmla="*/ 0 h 5919211"/>
              <a:gd name="connsiteX1" fmla="*/ 686751 w 824104"/>
              <a:gd name="connsiteY1" fmla="*/ 0 h 5919211"/>
              <a:gd name="connsiteX2" fmla="*/ 824104 w 824104"/>
              <a:gd name="connsiteY2" fmla="*/ 137353 h 5919211"/>
              <a:gd name="connsiteX3" fmla="*/ 824104 w 824104"/>
              <a:gd name="connsiteY3" fmla="*/ 5919211 h 5919211"/>
              <a:gd name="connsiteX4" fmla="*/ 824104 w 824104"/>
              <a:gd name="connsiteY4" fmla="*/ 5919211 h 5919211"/>
              <a:gd name="connsiteX5" fmla="*/ 0 w 824104"/>
              <a:gd name="connsiteY5" fmla="*/ 5919211 h 5919211"/>
              <a:gd name="connsiteX6" fmla="*/ 0 w 824104"/>
              <a:gd name="connsiteY6" fmla="*/ 5919211 h 5919211"/>
              <a:gd name="connsiteX7" fmla="*/ 0 w 824104"/>
              <a:gd name="connsiteY7" fmla="*/ 137353 h 5919211"/>
              <a:gd name="connsiteX8" fmla="*/ 137353 w 824104"/>
              <a:gd name="connsiteY8" fmla="*/ 0 h 591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4104" h="5919211">
                <a:moveTo>
                  <a:pt x="824104" y="986554"/>
                </a:moveTo>
                <a:lnTo>
                  <a:pt x="824104" y="4932657"/>
                </a:lnTo>
                <a:cubicBezTo>
                  <a:pt x="824104" y="5477514"/>
                  <a:pt x="815542" y="5919207"/>
                  <a:pt x="804981" y="5919207"/>
                </a:cubicBezTo>
                <a:lnTo>
                  <a:pt x="0" y="5919207"/>
                </a:lnTo>
                <a:lnTo>
                  <a:pt x="0" y="5919207"/>
                </a:lnTo>
                <a:lnTo>
                  <a:pt x="0" y="4"/>
                </a:lnTo>
                <a:lnTo>
                  <a:pt x="0" y="4"/>
                </a:lnTo>
                <a:lnTo>
                  <a:pt x="804981" y="4"/>
                </a:lnTo>
                <a:cubicBezTo>
                  <a:pt x="815542" y="4"/>
                  <a:pt x="824104" y="441697"/>
                  <a:pt x="824104" y="986554"/>
                </a:cubicBezTo>
                <a:close/>
              </a:path>
            </a:pathLst>
          </a:custGeom>
        </p:spPr>
        <p:style>
          <a:lnRef idx="1">
            <a:schemeClr val="accent1"/>
          </a:lnRef>
          <a:fillRef idx="2">
            <a:schemeClr val="accent1"/>
          </a:fillRef>
          <a:effectRef idx="1">
            <a:schemeClr val="accent1"/>
          </a:effectRef>
          <a:fontRef idx="minor">
            <a:schemeClr val="dk1">
              <a:hueOff val="0"/>
              <a:satOff val="0"/>
              <a:lumOff val="0"/>
              <a:alphaOff val="0"/>
            </a:schemeClr>
          </a:fontRef>
        </p:style>
        <p:txBody>
          <a:bodyPr spcFirstLastPara="0" vert="horz" wrap="square" lIns="113793" tIns="50389" rIns="50389" bIns="50390" numCol="1" spcCol="1270" anchor="ctr" anchorCtr="0">
            <a:noAutofit/>
          </a:bodyPr>
          <a:lstStyle/>
          <a:p>
            <a:pPr marL="0" lvl="1" indent="0" algn="l" defTabSz="711200">
              <a:lnSpc>
                <a:spcPct val="110000"/>
              </a:lnSpc>
              <a:spcBef>
                <a:spcPct val="0"/>
              </a:spcBef>
              <a:buNone/>
            </a:pPr>
            <a:r>
              <a:rPr lang="zh-CN" altLang="en-US" sz="1600" b="1">
                <a:solidFill>
                  <a:schemeClr val="tx1"/>
                </a:solidFill>
                <a:sym typeface="+mn-ea"/>
              </a:rPr>
              <a:t>确定变量间的依存关系，根据实际资料做散点图</a:t>
            </a:r>
            <a:endParaRPr lang="zh-CN" altLang="en-US" sz="1600" b="1" kern="1200">
              <a:latin typeface="+mn-ea"/>
            </a:endParaRPr>
          </a:p>
        </p:txBody>
      </p:sp>
      <p:sp>
        <p:nvSpPr>
          <p:cNvPr id="12" name="任意多边形: 形状 11"/>
          <p:cNvSpPr/>
          <p:nvPr/>
        </p:nvSpPr>
        <p:spPr>
          <a:xfrm>
            <a:off x="801105" y="2615962"/>
            <a:ext cx="887031" cy="1267188"/>
          </a:xfrm>
          <a:custGeom>
            <a:avLst/>
            <a:gdLst>
              <a:gd name="connsiteX0" fmla="*/ 0 w 1267187"/>
              <a:gd name="connsiteY0" fmla="*/ 0 h 887030"/>
              <a:gd name="connsiteX1" fmla="*/ 823672 w 1267187"/>
              <a:gd name="connsiteY1" fmla="*/ 0 h 887030"/>
              <a:gd name="connsiteX2" fmla="*/ 1267187 w 1267187"/>
              <a:gd name="connsiteY2" fmla="*/ 443515 h 887030"/>
              <a:gd name="connsiteX3" fmla="*/ 823672 w 1267187"/>
              <a:gd name="connsiteY3" fmla="*/ 887030 h 887030"/>
              <a:gd name="connsiteX4" fmla="*/ 0 w 1267187"/>
              <a:gd name="connsiteY4" fmla="*/ 887030 h 887030"/>
              <a:gd name="connsiteX5" fmla="*/ 443515 w 1267187"/>
              <a:gd name="connsiteY5" fmla="*/ 443515 h 887030"/>
              <a:gd name="connsiteX6" fmla="*/ 0 w 1267187"/>
              <a:gd name="connsiteY6" fmla="*/ 0 h 88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7187" h="887030">
                <a:moveTo>
                  <a:pt x="1267186" y="0"/>
                </a:moveTo>
                <a:lnTo>
                  <a:pt x="1267186" y="576570"/>
                </a:lnTo>
                <a:lnTo>
                  <a:pt x="633594" y="887030"/>
                </a:lnTo>
                <a:lnTo>
                  <a:pt x="1" y="576570"/>
                </a:lnTo>
                <a:lnTo>
                  <a:pt x="1" y="0"/>
                </a:lnTo>
                <a:lnTo>
                  <a:pt x="633594" y="310460"/>
                </a:lnTo>
                <a:lnTo>
                  <a:pt x="1267186" y="0"/>
                </a:lnTo>
                <a:close/>
              </a:path>
            </a:pathLst>
          </a:custGeom>
          <a:solidFill>
            <a:srgbClr val="3D89BC"/>
          </a:solid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7781" tIns="461295" rIns="17780" bIns="461296" numCol="1" spcCol="1270" anchor="ctr" anchorCtr="0">
            <a:noAutofit/>
          </a:bodyPr>
          <a:lstStyle/>
          <a:p>
            <a:pPr marL="0" lvl="0" indent="0" algn="ctr" defTabSz="1244600">
              <a:lnSpc>
                <a:spcPct val="90000"/>
              </a:lnSpc>
              <a:spcBef>
                <a:spcPct val="0"/>
              </a:spcBef>
              <a:spcAft>
                <a:spcPct val="35000"/>
              </a:spcAft>
              <a:buNone/>
            </a:pPr>
            <a:r>
              <a:rPr lang="en-US" altLang="zh-CN" sz="2800" kern="1200">
                <a:latin typeface="+mn-ea"/>
                <a:ea typeface="+mn-ea"/>
              </a:rPr>
              <a:t>2</a:t>
            </a:r>
            <a:endParaRPr lang="zh-CN" altLang="en-US" sz="2800" kern="1200">
              <a:latin typeface="+mn-ea"/>
              <a:ea typeface="+mn-ea"/>
            </a:endParaRPr>
          </a:p>
        </p:txBody>
      </p:sp>
      <p:sp>
        <p:nvSpPr>
          <p:cNvPr id="13" name="任意多边形: 形状 12"/>
          <p:cNvSpPr/>
          <p:nvPr/>
        </p:nvSpPr>
        <p:spPr>
          <a:xfrm>
            <a:off x="1688135" y="2615964"/>
            <a:ext cx="5919211" cy="823671"/>
          </a:xfrm>
          <a:custGeom>
            <a:avLst/>
            <a:gdLst>
              <a:gd name="connsiteX0" fmla="*/ 137281 w 823671"/>
              <a:gd name="connsiteY0" fmla="*/ 0 h 5919211"/>
              <a:gd name="connsiteX1" fmla="*/ 686390 w 823671"/>
              <a:gd name="connsiteY1" fmla="*/ 0 h 5919211"/>
              <a:gd name="connsiteX2" fmla="*/ 823671 w 823671"/>
              <a:gd name="connsiteY2" fmla="*/ 137281 h 5919211"/>
              <a:gd name="connsiteX3" fmla="*/ 823671 w 823671"/>
              <a:gd name="connsiteY3" fmla="*/ 5919211 h 5919211"/>
              <a:gd name="connsiteX4" fmla="*/ 823671 w 823671"/>
              <a:gd name="connsiteY4" fmla="*/ 5919211 h 5919211"/>
              <a:gd name="connsiteX5" fmla="*/ 0 w 823671"/>
              <a:gd name="connsiteY5" fmla="*/ 5919211 h 5919211"/>
              <a:gd name="connsiteX6" fmla="*/ 0 w 823671"/>
              <a:gd name="connsiteY6" fmla="*/ 5919211 h 5919211"/>
              <a:gd name="connsiteX7" fmla="*/ 0 w 823671"/>
              <a:gd name="connsiteY7" fmla="*/ 137281 h 5919211"/>
              <a:gd name="connsiteX8" fmla="*/ 137281 w 823671"/>
              <a:gd name="connsiteY8" fmla="*/ 0 h 591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3671" h="5919211">
                <a:moveTo>
                  <a:pt x="823671" y="986556"/>
                </a:moveTo>
                <a:lnTo>
                  <a:pt x="823671" y="4932655"/>
                </a:lnTo>
                <a:cubicBezTo>
                  <a:pt x="823671" y="5477512"/>
                  <a:pt x="815118" y="5919207"/>
                  <a:pt x="804568" y="5919207"/>
                </a:cubicBezTo>
                <a:lnTo>
                  <a:pt x="0" y="5919207"/>
                </a:lnTo>
                <a:lnTo>
                  <a:pt x="0" y="5919207"/>
                </a:lnTo>
                <a:lnTo>
                  <a:pt x="0" y="4"/>
                </a:lnTo>
                <a:lnTo>
                  <a:pt x="0" y="4"/>
                </a:lnTo>
                <a:lnTo>
                  <a:pt x="804568" y="4"/>
                </a:lnTo>
                <a:cubicBezTo>
                  <a:pt x="815118" y="4"/>
                  <a:pt x="823671" y="441699"/>
                  <a:pt x="823671" y="986556"/>
                </a:cubicBezTo>
                <a:close/>
              </a:path>
            </a:pathLst>
          </a:custGeom>
        </p:spPr>
        <p:style>
          <a:lnRef idx="1">
            <a:schemeClr val="accent1"/>
          </a:lnRef>
          <a:fillRef idx="2">
            <a:schemeClr val="accent1"/>
          </a:fillRef>
          <a:effectRef idx="1">
            <a:schemeClr val="accent1"/>
          </a:effectRef>
          <a:fontRef idx="minor">
            <a:schemeClr val="dk1">
              <a:hueOff val="0"/>
              <a:satOff val="0"/>
              <a:lumOff val="0"/>
              <a:alphaOff val="0"/>
            </a:schemeClr>
          </a:fontRef>
        </p:style>
        <p:txBody>
          <a:bodyPr spcFirstLastPara="0" vert="horz" wrap="square" lIns="113792" tIns="50368" rIns="50368" bIns="50368" numCol="1" spcCol="1270" anchor="ctr" anchorCtr="0">
            <a:noAutofit/>
          </a:bodyPr>
          <a:lstStyle/>
          <a:p>
            <a:pPr marL="0" lvl="1" indent="0" algn="l" defTabSz="711200">
              <a:lnSpc>
                <a:spcPct val="90000"/>
              </a:lnSpc>
              <a:spcBef>
                <a:spcPct val="0"/>
              </a:spcBef>
              <a:spcAft>
                <a:spcPct val="15000"/>
              </a:spcAft>
              <a:buNone/>
            </a:pPr>
            <a:r>
              <a:rPr lang="zh-CN" altLang="en-US" sz="1600" b="1">
                <a:solidFill>
                  <a:schemeClr val="tx1"/>
                </a:solidFill>
                <a:sym typeface="+mn-ea"/>
              </a:rPr>
              <a:t>按照图形的分布形状选择合适的模型（回归函数类型），常见的函数有多项式回归、双曲线、幂函数、二次曲线和对数函数等；</a:t>
            </a:r>
            <a:endParaRPr lang="zh-CN" altLang="en-US" sz="1600" b="1">
              <a:solidFill>
                <a:schemeClr val="tx1"/>
              </a:solidFill>
            </a:endParaRPr>
          </a:p>
          <a:p>
            <a:pPr marL="171450" lvl="1" indent="-171450" algn="l" defTabSz="711200">
              <a:lnSpc>
                <a:spcPct val="90000"/>
              </a:lnSpc>
              <a:spcBef>
                <a:spcPct val="0"/>
              </a:spcBef>
              <a:spcAft>
                <a:spcPct val="15000"/>
              </a:spcAft>
              <a:buChar char="•"/>
            </a:pPr>
            <a:endParaRPr lang="zh-CN" altLang="en-US" sz="1600" b="1">
              <a:latin typeface="+mn-ea"/>
            </a:endParaRPr>
          </a:p>
        </p:txBody>
      </p:sp>
      <p:sp>
        <p:nvSpPr>
          <p:cNvPr id="14" name="任意多边形: 形状 13"/>
          <p:cNvSpPr/>
          <p:nvPr/>
        </p:nvSpPr>
        <p:spPr>
          <a:xfrm>
            <a:off x="801105" y="3751600"/>
            <a:ext cx="887031" cy="1267188"/>
          </a:xfrm>
          <a:custGeom>
            <a:avLst/>
            <a:gdLst>
              <a:gd name="connsiteX0" fmla="*/ 0 w 1267187"/>
              <a:gd name="connsiteY0" fmla="*/ 0 h 887030"/>
              <a:gd name="connsiteX1" fmla="*/ 823672 w 1267187"/>
              <a:gd name="connsiteY1" fmla="*/ 0 h 887030"/>
              <a:gd name="connsiteX2" fmla="*/ 1267187 w 1267187"/>
              <a:gd name="connsiteY2" fmla="*/ 443515 h 887030"/>
              <a:gd name="connsiteX3" fmla="*/ 823672 w 1267187"/>
              <a:gd name="connsiteY3" fmla="*/ 887030 h 887030"/>
              <a:gd name="connsiteX4" fmla="*/ 0 w 1267187"/>
              <a:gd name="connsiteY4" fmla="*/ 887030 h 887030"/>
              <a:gd name="connsiteX5" fmla="*/ 443515 w 1267187"/>
              <a:gd name="connsiteY5" fmla="*/ 443515 h 887030"/>
              <a:gd name="connsiteX6" fmla="*/ 0 w 1267187"/>
              <a:gd name="connsiteY6" fmla="*/ 0 h 88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7187" h="887030">
                <a:moveTo>
                  <a:pt x="1267186" y="0"/>
                </a:moveTo>
                <a:lnTo>
                  <a:pt x="1267186" y="576570"/>
                </a:lnTo>
                <a:lnTo>
                  <a:pt x="633594" y="887030"/>
                </a:lnTo>
                <a:lnTo>
                  <a:pt x="1" y="576570"/>
                </a:lnTo>
                <a:lnTo>
                  <a:pt x="1" y="0"/>
                </a:lnTo>
                <a:lnTo>
                  <a:pt x="633594" y="310460"/>
                </a:lnTo>
                <a:lnTo>
                  <a:pt x="1267186" y="0"/>
                </a:lnTo>
                <a:close/>
              </a:path>
            </a:pathLst>
          </a:custGeom>
          <a:solidFill>
            <a:srgbClr val="3D89BC"/>
          </a:solid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7781" tIns="461295" rIns="17780" bIns="461296" numCol="1" spcCol="1270" anchor="ctr" anchorCtr="0">
            <a:noAutofit/>
          </a:bodyPr>
          <a:lstStyle/>
          <a:p>
            <a:pPr marL="0" lvl="0" indent="0" algn="ctr" defTabSz="1244600">
              <a:lnSpc>
                <a:spcPct val="90000"/>
              </a:lnSpc>
              <a:spcBef>
                <a:spcPct val="0"/>
              </a:spcBef>
              <a:spcAft>
                <a:spcPct val="35000"/>
              </a:spcAft>
              <a:buNone/>
            </a:pPr>
            <a:r>
              <a:rPr lang="en-US" altLang="zh-CN" sz="2800" kern="1200">
                <a:latin typeface="+mn-ea"/>
                <a:ea typeface="+mn-ea"/>
              </a:rPr>
              <a:t>3</a:t>
            </a:r>
            <a:endParaRPr lang="zh-CN" altLang="en-US" sz="2800" kern="1200">
              <a:latin typeface="+mn-ea"/>
              <a:ea typeface="+mn-ea"/>
            </a:endParaRPr>
          </a:p>
        </p:txBody>
      </p:sp>
      <p:sp>
        <p:nvSpPr>
          <p:cNvPr id="15" name="任意多边形: 形状 14"/>
          <p:cNvSpPr/>
          <p:nvPr/>
        </p:nvSpPr>
        <p:spPr>
          <a:xfrm>
            <a:off x="1687830" y="3750945"/>
            <a:ext cx="5919470" cy="887730"/>
          </a:xfrm>
          <a:custGeom>
            <a:avLst/>
            <a:gdLst>
              <a:gd name="connsiteX0" fmla="*/ 158410 w 950442"/>
              <a:gd name="connsiteY0" fmla="*/ 0 h 5919211"/>
              <a:gd name="connsiteX1" fmla="*/ 792032 w 950442"/>
              <a:gd name="connsiteY1" fmla="*/ 0 h 5919211"/>
              <a:gd name="connsiteX2" fmla="*/ 950442 w 950442"/>
              <a:gd name="connsiteY2" fmla="*/ 158410 h 5919211"/>
              <a:gd name="connsiteX3" fmla="*/ 950442 w 950442"/>
              <a:gd name="connsiteY3" fmla="*/ 5919211 h 5919211"/>
              <a:gd name="connsiteX4" fmla="*/ 950442 w 950442"/>
              <a:gd name="connsiteY4" fmla="*/ 5919211 h 5919211"/>
              <a:gd name="connsiteX5" fmla="*/ 0 w 950442"/>
              <a:gd name="connsiteY5" fmla="*/ 5919211 h 5919211"/>
              <a:gd name="connsiteX6" fmla="*/ 0 w 950442"/>
              <a:gd name="connsiteY6" fmla="*/ 5919211 h 5919211"/>
              <a:gd name="connsiteX7" fmla="*/ 0 w 950442"/>
              <a:gd name="connsiteY7" fmla="*/ 158410 h 5919211"/>
              <a:gd name="connsiteX8" fmla="*/ 158410 w 950442"/>
              <a:gd name="connsiteY8" fmla="*/ 0 h 591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442" h="5919211">
                <a:moveTo>
                  <a:pt x="950442" y="986556"/>
                </a:moveTo>
                <a:lnTo>
                  <a:pt x="950442" y="4932655"/>
                </a:lnTo>
                <a:cubicBezTo>
                  <a:pt x="950442" y="5477510"/>
                  <a:pt x="939054" y="5919208"/>
                  <a:pt x="925006" y="5919208"/>
                </a:cubicBezTo>
                <a:lnTo>
                  <a:pt x="0" y="5919208"/>
                </a:lnTo>
                <a:lnTo>
                  <a:pt x="0" y="5919208"/>
                </a:lnTo>
                <a:lnTo>
                  <a:pt x="0" y="3"/>
                </a:lnTo>
                <a:lnTo>
                  <a:pt x="0" y="3"/>
                </a:lnTo>
                <a:lnTo>
                  <a:pt x="925006" y="3"/>
                </a:lnTo>
                <a:cubicBezTo>
                  <a:pt x="939054" y="3"/>
                  <a:pt x="950442" y="441701"/>
                  <a:pt x="950442" y="986556"/>
                </a:cubicBezTo>
                <a:close/>
              </a:path>
            </a:pathLst>
          </a:custGeom>
        </p:spPr>
        <p:style>
          <a:lnRef idx="1">
            <a:schemeClr val="accent1"/>
          </a:lnRef>
          <a:fillRef idx="2">
            <a:schemeClr val="accent1"/>
          </a:fillRef>
          <a:effectRef idx="1">
            <a:schemeClr val="accent1"/>
          </a:effectRef>
          <a:fontRef idx="minor">
            <a:schemeClr val="dk1">
              <a:hueOff val="0"/>
              <a:satOff val="0"/>
              <a:lumOff val="0"/>
              <a:alphaOff val="0"/>
            </a:schemeClr>
          </a:fontRef>
        </p:style>
        <p:txBody>
          <a:bodyPr spcFirstLastPara="0" vert="horz" wrap="square" lIns="113793" tIns="56557" rIns="56557" bIns="56558" numCol="1" spcCol="1270" anchor="ctr" anchorCtr="0">
            <a:noAutofit/>
          </a:bodyPr>
          <a:lstStyle/>
          <a:p>
            <a:pPr marL="0" lvl="1" indent="0" algn="l" defTabSz="711200">
              <a:lnSpc>
                <a:spcPct val="90000"/>
              </a:lnSpc>
              <a:spcBef>
                <a:spcPct val="0"/>
              </a:spcBef>
              <a:spcAft>
                <a:spcPct val="15000"/>
              </a:spcAft>
              <a:buNone/>
            </a:pPr>
            <a:r>
              <a:rPr sz="1600" b="1">
                <a:latin typeface="+mn-ea"/>
              </a:rPr>
              <a:t>用某种优化方法确定回归模型中的未知参数。</a:t>
            </a:r>
          </a:p>
        </p:txBody>
      </p:sp>
      <p:sp>
        <p:nvSpPr>
          <p:cNvPr id="49" name="矩形 48"/>
          <p:cNvSpPr/>
          <p:nvPr/>
        </p:nvSpPr>
        <p:spPr>
          <a:xfrm>
            <a:off x="510540" y="950595"/>
            <a:ext cx="7270750" cy="499110"/>
          </a:xfrm>
          <a:prstGeom prst="rect">
            <a:avLst/>
          </a:prstGeom>
          <a:ln>
            <a:noFill/>
          </a:ln>
        </p:spPr>
        <p:style>
          <a:lnRef idx="2">
            <a:schemeClr val="accent1"/>
          </a:lnRef>
          <a:fillRef idx="1">
            <a:schemeClr val="lt1"/>
          </a:fillRef>
          <a:effectRef idx="0">
            <a:schemeClr val="accent1"/>
          </a:effectRef>
          <a:fontRef idx="minor">
            <a:schemeClr val="dk1"/>
          </a:fontRef>
        </p:style>
        <p:txBody>
          <a:bodyPr lIns="65012" tIns="32506" rIns="65012" bIns="32506" rtlCol="0" anchor="ctr"/>
          <a:lstStyle/>
          <a:p>
            <a:r>
              <a:rPr lang="zh-CN" altLang="zh-CN" sz="2000">
                <a:solidFill>
                  <a:schemeClr val="tx1"/>
                </a:solidFill>
                <a:latin typeface="+mn-ea"/>
              </a:rPr>
              <a:t>求解非线性回归问题需要预先选择适配的曲线类型，基本方法为：</a:t>
            </a:r>
          </a:p>
        </p:txBody>
      </p:sp>
      <p:sp>
        <p:nvSpPr>
          <p:cNvPr id="2" name="任意多边形: 形状 10"/>
          <p:cNvSpPr/>
          <p:nvPr/>
        </p:nvSpPr>
        <p:spPr>
          <a:xfrm>
            <a:off x="1688135" y="1544347"/>
            <a:ext cx="5919212" cy="824105"/>
          </a:xfrm>
          <a:custGeom>
            <a:avLst/>
            <a:gdLst>
              <a:gd name="connsiteX0" fmla="*/ 137353 w 824104"/>
              <a:gd name="connsiteY0" fmla="*/ 0 h 5919211"/>
              <a:gd name="connsiteX1" fmla="*/ 686751 w 824104"/>
              <a:gd name="connsiteY1" fmla="*/ 0 h 5919211"/>
              <a:gd name="connsiteX2" fmla="*/ 824104 w 824104"/>
              <a:gd name="connsiteY2" fmla="*/ 137353 h 5919211"/>
              <a:gd name="connsiteX3" fmla="*/ 824104 w 824104"/>
              <a:gd name="connsiteY3" fmla="*/ 5919211 h 5919211"/>
              <a:gd name="connsiteX4" fmla="*/ 824104 w 824104"/>
              <a:gd name="connsiteY4" fmla="*/ 5919211 h 5919211"/>
              <a:gd name="connsiteX5" fmla="*/ 0 w 824104"/>
              <a:gd name="connsiteY5" fmla="*/ 5919211 h 5919211"/>
              <a:gd name="connsiteX6" fmla="*/ 0 w 824104"/>
              <a:gd name="connsiteY6" fmla="*/ 5919211 h 5919211"/>
              <a:gd name="connsiteX7" fmla="*/ 0 w 824104"/>
              <a:gd name="connsiteY7" fmla="*/ 137353 h 5919211"/>
              <a:gd name="connsiteX8" fmla="*/ 137353 w 824104"/>
              <a:gd name="connsiteY8" fmla="*/ 0 h 591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4104" h="5919211">
                <a:moveTo>
                  <a:pt x="824104" y="986554"/>
                </a:moveTo>
                <a:lnTo>
                  <a:pt x="824104" y="4932657"/>
                </a:lnTo>
                <a:cubicBezTo>
                  <a:pt x="824104" y="5477514"/>
                  <a:pt x="815542" y="5919207"/>
                  <a:pt x="804981" y="5919207"/>
                </a:cubicBezTo>
                <a:lnTo>
                  <a:pt x="0" y="5919207"/>
                </a:lnTo>
                <a:lnTo>
                  <a:pt x="0" y="5919207"/>
                </a:lnTo>
                <a:lnTo>
                  <a:pt x="0" y="4"/>
                </a:lnTo>
                <a:lnTo>
                  <a:pt x="0" y="4"/>
                </a:lnTo>
                <a:lnTo>
                  <a:pt x="804981" y="4"/>
                </a:lnTo>
                <a:cubicBezTo>
                  <a:pt x="815542" y="4"/>
                  <a:pt x="824104" y="441697"/>
                  <a:pt x="824104" y="986554"/>
                </a:cubicBezTo>
                <a:close/>
              </a:path>
            </a:pathLst>
          </a:custGeom>
        </p:spPr>
        <p:style>
          <a:lnRef idx="1">
            <a:schemeClr val="accent1"/>
          </a:lnRef>
          <a:fillRef idx="2">
            <a:schemeClr val="accent1"/>
          </a:fillRef>
          <a:effectRef idx="1">
            <a:schemeClr val="accent1"/>
          </a:effectRef>
          <a:fontRef idx="minor">
            <a:schemeClr val="dk1">
              <a:hueOff val="0"/>
              <a:satOff val="0"/>
              <a:lumOff val="0"/>
              <a:alphaOff val="0"/>
            </a:schemeClr>
          </a:fontRef>
        </p:style>
        <p:txBody>
          <a:bodyPr spcFirstLastPara="0" vert="horz" wrap="square" lIns="113793" tIns="50389" rIns="50389" bIns="50390" numCol="1" spcCol="1270" anchor="ctr" anchorCtr="0">
            <a:noAutofit/>
          </a:bodyPr>
          <a:lstStyle/>
          <a:p>
            <a:pPr marL="0" lvl="1" indent="0" algn="l" defTabSz="711200">
              <a:lnSpc>
                <a:spcPct val="110000"/>
              </a:lnSpc>
              <a:spcBef>
                <a:spcPct val="0"/>
              </a:spcBef>
              <a:buNone/>
            </a:pPr>
            <a:r>
              <a:rPr lang="zh-CN" altLang="en-US" sz="1600" b="1">
                <a:solidFill>
                  <a:schemeClr val="tx1"/>
                </a:solidFill>
                <a:latin typeface="+mn-ea"/>
                <a:sym typeface="+mn-ea"/>
              </a:rPr>
              <a:t>确定变量间的依存关系，根据实际资料做散点图</a:t>
            </a:r>
            <a:endParaRPr lang="zh-CN" altLang="en-US" sz="1600" b="1">
              <a:solidFill>
                <a:schemeClr val="tx1"/>
              </a:solidFill>
              <a:latin typeface="+mn-ea"/>
            </a:endParaRPr>
          </a:p>
        </p:txBody>
      </p:sp>
      <p:sp>
        <p:nvSpPr>
          <p:cNvPr id="3" name="任意多边形: 形状 12"/>
          <p:cNvSpPr/>
          <p:nvPr/>
        </p:nvSpPr>
        <p:spPr>
          <a:xfrm>
            <a:off x="1688135" y="2616599"/>
            <a:ext cx="5919211" cy="823671"/>
          </a:xfrm>
          <a:custGeom>
            <a:avLst/>
            <a:gdLst>
              <a:gd name="connsiteX0" fmla="*/ 137281 w 823671"/>
              <a:gd name="connsiteY0" fmla="*/ 0 h 5919211"/>
              <a:gd name="connsiteX1" fmla="*/ 686390 w 823671"/>
              <a:gd name="connsiteY1" fmla="*/ 0 h 5919211"/>
              <a:gd name="connsiteX2" fmla="*/ 823671 w 823671"/>
              <a:gd name="connsiteY2" fmla="*/ 137281 h 5919211"/>
              <a:gd name="connsiteX3" fmla="*/ 823671 w 823671"/>
              <a:gd name="connsiteY3" fmla="*/ 5919211 h 5919211"/>
              <a:gd name="connsiteX4" fmla="*/ 823671 w 823671"/>
              <a:gd name="connsiteY4" fmla="*/ 5919211 h 5919211"/>
              <a:gd name="connsiteX5" fmla="*/ 0 w 823671"/>
              <a:gd name="connsiteY5" fmla="*/ 5919211 h 5919211"/>
              <a:gd name="connsiteX6" fmla="*/ 0 w 823671"/>
              <a:gd name="connsiteY6" fmla="*/ 5919211 h 5919211"/>
              <a:gd name="connsiteX7" fmla="*/ 0 w 823671"/>
              <a:gd name="connsiteY7" fmla="*/ 137281 h 5919211"/>
              <a:gd name="connsiteX8" fmla="*/ 137281 w 823671"/>
              <a:gd name="connsiteY8" fmla="*/ 0 h 591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3671" h="5919211">
                <a:moveTo>
                  <a:pt x="823671" y="986556"/>
                </a:moveTo>
                <a:lnTo>
                  <a:pt x="823671" y="4932655"/>
                </a:lnTo>
                <a:cubicBezTo>
                  <a:pt x="823671" y="5477512"/>
                  <a:pt x="815118" y="5919207"/>
                  <a:pt x="804568" y="5919207"/>
                </a:cubicBezTo>
                <a:lnTo>
                  <a:pt x="0" y="5919207"/>
                </a:lnTo>
                <a:lnTo>
                  <a:pt x="0" y="5919207"/>
                </a:lnTo>
                <a:lnTo>
                  <a:pt x="0" y="4"/>
                </a:lnTo>
                <a:lnTo>
                  <a:pt x="0" y="4"/>
                </a:lnTo>
                <a:lnTo>
                  <a:pt x="804568" y="4"/>
                </a:lnTo>
                <a:cubicBezTo>
                  <a:pt x="815118" y="4"/>
                  <a:pt x="823671" y="441699"/>
                  <a:pt x="823671" y="986556"/>
                </a:cubicBezTo>
                <a:close/>
              </a:path>
            </a:pathLst>
          </a:custGeom>
        </p:spPr>
        <p:style>
          <a:lnRef idx="1">
            <a:schemeClr val="accent1"/>
          </a:lnRef>
          <a:fillRef idx="2">
            <a:schemeClr val="accent1"/>
          </a:fillRef>
          <a:effectRef idx="1">
            <a:schemeClr val="accent1"/>
          </a:effectRef>
          <a:fontRef idx="minor">
            <a:schemeClr val="dk1">
              <a:hueOff val="0"/>
              <a:satOff val="0"/>
              <a:lumOff val="0"/>
              <a:alphaOff val="0"/>
            </a:schemeClr>
          </a:fontRef>
        </p:style>
        <p:txBody>
          <a:bodyPr spcFirstLastPara="0" vert="horz" wrap="square" lIns="113792" tIns="50368" rIns="50368" bIns="50368" numCol="1" spcCol="1270" anchor="ctr" anchorCtr="0">
            <a:noAutofit/>
          </a:bodyPr>
          <a:lstStyle/>
          <a:p>
            <a:pPr marL="0" lvl="1" indent="0" algn="l" defTabSz="711200">
              <a:lnSpc>
                <a:spcPct val="90000"/>
              </a:lnSpc>
              <a:spcBef>
                <a:spcPct val="0"/>
              </a:spcBef>
              <a:spcAft>
                <a:spcPct val="15000"/>
              </a:spcAft>
              <a:buNone/>
            </a:pPr>
            <a:r>
              <a:rPr lang="zh-CN" altLang="en-US" sz="1600" b="1">
                <a:solidFill>
                  <a:schemeClr val="tx1"/>
                </a:solidFill>
                <a:sym typeface="+mn-ea"/>
              </a:rPr>
              <a:t>按照图形的分布形状选择合适的模型（回归函数类型），常见的函数有多项式回归、双曲线、幂函数、二次曲线和对数函数等；</a:t>
            </a:r>
            <a:endParaRPr lang="zh-CN" altLang="en-US" sz="1600" b="1">
              <a:solidFill>
                <a:schemeClr val="tx1"/>
              </a:solidFill>
            </a:endParaRPr>
          </a:p>
          <a:p>
            <a:pPr marL="171450" lvl="1" indent="-171450" algn="l" defTabSz="711200">
              <a:lnSpc>
                <a:spcPct val="90000"/>
              </a:lnSpc>
              <a:spcBef>
                <a:spcPct val="0"/>
              </a:spcBef>
              <a:spcAft>
                <a:spcPct val="15000"/>
              </a:spcAft>
              <a:buChar char="•"/>
            </a:pPr>
            <a:endParaRPr lang="zh-CN" altLang="en-US" sz="1600" b="1">
              <a:latin typeface="+mn-ea"/>
            </a:endParaRPr>
          </a:p>
        </p:txBody>
      </p:sp>
      <p:sp>
        <p:nvSpPr>
          <p:cNvPr id="4" name="任意多边形: 形状 14"/>
          <p:cNvSpPr/>
          <p:nvPr/>
        </p:nvSpPr>
        <p:spPr>
          <a:xfrm>
            <a:off x="1687830" y="3751580"/>
            <a:ext cx="5919470" cy="887730"/>
          </a:xfrm>
          <a:custGeom>
            <a:avLst/>
            <a:gdLst>
              <a:gd name="connsiteX0" fmla="*/ 158410 w 950442"/>
              <a:gd name="connsiteY0" fmla="*/ 0 h 5919211"/>
              <a:gd name="connsiteX1" fmla="*/ 792032 w 950442"/>
              <a:gd name="connsiteY1" fmla="*/ 0 h 5919211"/>
              <a:gd name="connsiteX2" fmla="*/ 950442 w 950442"/>
              <a:gd name="connsiteY2" fmla="*/ 158410 h 5919211"/>
              <a:gd name="connsiteX3" fmla="*/ 950442 w 950442"/>
              <a:gd name="connsiteY3" fmla="*/ 5919211 h 5919211"/>
              <a:gd name="connsiteX4" fmla="*/ 950442 w 950442"/>
              <a:gd name="connsiteY4" fmla="*/ 5919211 h 5919211"/>
              <a:gd name="connsiteX5" fmla="*/ 0 w 950442"/>
              <a:gd name="connsiteY5" fmla="*/ 5919211 h 5919211"/>
              <a:gd name="connsiteX6" fmla="*/ 0 w 950442"/>
              <a:gd name="connsiteY6" fmla="*/ 5919211 h 5919211"/>
              <a:gd name="connsiteX7" fmla="*/ 0 w 950442"/>
              <a:gd name="connsiteY7" fmla="*/ 158410 h 5919211"/>
              <a:gd name="connsiteX8" fmla="*/ 158410 w 950442"/>
              <a:gd name="connsiteY8" fmla="*/ 0 h 591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442" h="5919211">
                <a:moveTo>
                  <a:pt x="950442" y="986556"/>
                </a:moveTo>
                <a:lnTo>
                  <a:pt x="950442" y="4932655"/>
                </a:lnTo>
                <a:cubicBezTo>
                  <a:pt x="950442" y="5477510"/>
                  <a:pt x="939054" y="5919208"/>
                  <a:pt x="925006" y="5919208"/>
                </a:cubicBezTo>
                <a:lnTo>
                  <a:pt x="0" y="5919208"/>
                </a:lnTo>
                <a:lnTo>
                  <a:pt x="0" y="5919208"/>
                </a:lnTo>
                <a:lnTo>
                  <a:pt x="0" y="3"/>
                </a:lnTo>
                <a:lnTo>
                  <a:pt x="0" y="3"/>
                </a:lnTo>
                <a:lnTo>
                  <a:pt x="925006" y="3"/>
                </a:lnTo>
                <a:cubicBezTo>
                  <a:pt x="939054" y="3"/>
                  <a:pt x="950442" y="441701"/>
                  <a:pt x="950442" y="986556"/>
                </a:cubicBezTo>
                <a:close/>
              </a:path>
            </a:pathLst>
          </a:custGeom>
        </p:spPr>
        <p:style>
          <a:lnRef idx="1">
            <a:schemeClr val="accent1"/>
          </a:lnRef>
          <a:fillRef idx="2">
            <a:schemeClr val="accent1"/>
          </a:fillRef>
          <a:effectRef idx="1">
            <a:schemeClr val="accent1"/>
          </a:effectRef>
          <a:fontRef idx="minor">
            <a:schemeClr val="dk1">
              <a:hueOff val="0"/>
              <a:satOff val="0"/>
              <a:lumOff val="0"/>
              <a:alphaOff val="0"/>
            </a:schemeClr>
          </a:fontRef>
        </p:style>
        <p:txBody>
          <a:bodyPr spcFirstLastPara="0" vert="horz" wrap="square" lIns="113793" tIns="56557" rIns="56557" bIns="56558" numCol="1" spcCol="1270" anchor="ctr" anchorCtr="0">
            <a:noAutofit/>
          </a:bodyPr>
          <a:lstStyle/>
          <a:p>
            <a:pPr marL="0" lvl="1" indent="0" algn="l" defTabSz="711200">
              <a:lnSpc>
                <a:spcPct val="90000"/>
              </a:lnSpc>
              <a:spcBef>
                <a:spcPct val="0"/>
              </a:spcBef>
              <a:spcAft>
                <a:spcPct val="15000"/>
              </a:spcAft>
              <a:buNone/>
            </a:pPr>
            <a:r>
              <a:rPr sz="1600" b="1">
                <a:latin typeface="+mn-ea"/>
              </a:rPr>
              <a:t>用某种优化方法确定回归模型中的未知参数。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right)">
                                      <p:cBhvr>
                                        <p:cTn id="7" dur="25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ppt_x"/>
                                          </p:val>
                                        </p:tav>
                                        <p:tav tm="100000">
                                          <p:val>
                                            <p:strVal val="#ppt_x"/>
                                          </p:val>
                                        </p:tav>
                                      </p:tavLst>
                                    </p:anim>
                                    <p:anim calcmode="lin" valueType="num">
                                      <p:cBhvr additive="base">
                                        <p:cTn id="17" dur="500" fill="hold"/>
                                        <p:tgtEl>
                                          <p:spTgt spid="11"/>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ppt_x"/>
                                          </p:val>
                                        </p:tav>
                                        <p:tav tm="100000">
                                          <p:val>
                                            <p:strVal val="#ppt_x"/>
                                          </p:val>
                                        </p:tav>
                                      </p:tavLst>
                                    </p:anim>
                                    <p:anim calcmode="lin" valueType="num">
                                      <p:cBhvr additive="base">
                                        <p:cTn id="21" dur="500" fill="hold"/>
                                        <p:tgtEl>
                                          <p:spTgt spid="12"/>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additive="base">
                                        <p:cTn id="24" dur="500" fill="hold"/>
                                        <p:tgtEl>
                                          <p:spTgt spid="13"/>
                                        </p:tgtEl>
                                        <p:attrNameLst>
                                          <p:attrName>ppt_x</p:attrName>
                                        </p:attrNameLst>
                                      </p:cBhvr>
                                      <p:tavLst>
                                        <p:tav tm="0">
                                          <p:val>
                                            <p:strVal val="#ppt_x"/>
                                          </p:val>
                                        </p:tav>
                                        <p:tav tm="100000">
                                          <p:val>
                                            <p:strVal val="#ppt_x"/>
                                          </p:val>
                                        </p:tav>
                                      </p:tavLst>
                                    </p:anim>
                                    <p:anim calcmode="lin" valueType="num">
                                      <p:cBhvr additive="base">
                                        <p:cTn id="25" dur="500" fill="hold"/>
                                        <p:tgtEl>
                                          <p:spTgt spid="13"/>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500" fill="hold"/>
                                        <p:tgtEl>
                                          <p:spTgt spid="14"/>
                                        </p:tgtEl>
                                        <p:attrNameLst>
                                          <p:attrName>ppt_x</p:attrName>
                                        </p:attrNameLst>
                                      </p:cBhvr>
                                      <p:tavLst>
                                        <p:tav tm="0">
                                          <p:val>
                                            <p:strVal val="#ppt_x"/>
                                          </p:val>
                                        </p:tav>
                                        <p:tav tm="100000">
                                          <p:val>
                                            <p:strVal val="#ppt_x"/>
                                          </p:val>
                                        </p:tav>
                                      </p:tavLst>
                                    </p:anim>
                                    <p:anim calcmode="lin" valueType="num">
                                      <p:cBhvr additive="base">
                                        <p:cTn id="29" dur="500" fill="hold"/>
                                        <p:tgtEl>
                                          <p:spTgt spid="14"/>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additive="base">
                                        <p:cTn id="32" dur="500" fill="hold"/>
                                        <p:tgtEl>
                                          <p:spTgt spid="15"/>
                                        </p:tgtEl>
                                        <p:attrNameLst>
                                          <p:attrName>ppt_x</p:attrName>
                                        </p:attrNameLst>
                                      </p:cBhvr>
                                      <p:tavLst>
                                        <p:tav tm="0">
                                          <p:val>
                                            <p:strVal val="#ppt_x"/>
                                          </p:val>
                                        </p:tav>
                                        <p:tav tm="100000">
                                          <p:val>
                                            <p:strVal val="#ppt_x"/>
                                          </p:val>
                                        </p:tav>
                                      </p:tavLst>
                                    </p:anim>
                                    <p:anim calcmode="lin" valueType="num">
                                      <p:cBhvr additive="base">
                                        <p:cTn id="33" dur="500" fill="hold"/>
                                        <p:tgtEl>
                                          <p:spTgt spid="15"/>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additive="base">
                                        <p:cTn id="36" dur="500" fill="hold"/>
                                        <p:tgtEl>
                                          <p:spTgt spid="2"/>
                                        </p:tgtEl>
                                        <p:attrNameLst>
                                          <p:attrName>ppt_x</p:attrName>
                                        </p:attrNameLst>
                                      </p:cBhvr>
                                      <p:tavLst>
                                        <p:tav tm="0">
                                          <p:val>
                                            <p:strVal val="#ppt_x"/>
                                          </p:val>
                                        </p:tav>
                                        <p:tav tm="100000">
                                          <p:val>
                                            <p:strVal val="#ppt_x"/>
                                          </p:val>
                                        </p:tav>
                                      </p:tavLst>
                                    </p:anim>
                                    <p:anim calcmode="lin" valueType="num">
                                      <p:cBhvr additive="base">
                                        <p:cTn id="37" dur="500" fill="hold"/>
                                        <p:tgtEl>
                                          <p:spTgt spid="2"/>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3"/>
                                        </p:tgtEl>
                                        <p:attrNameLst>
                                          <p:attrName>style.visibility</p:attrName>
                                        </p:attrNameLst>
                                      </p:cBhvr>
                                      <p:to>
                                        <p:strVal val="visible"/>
                                      </p:to>
                                    </p:set>
                                    <p:anim calcmode="lin" valueType="num">
                                      <p:cBhvr additive="base">
                                        <p:cTn id="40" dur="500" fill="hold"/>
                                        <p:tgtEl>
                                          <p:spTgt spid="3"/>
                                        </p:tgtEl>
                                        <p:attrNameLst>
                                          <p:attrName>ppt_x</p:attrName>
                                        </p:attrNameLst>
                                      </p:cBhvr>
                                      <p:tavLst>
                                        <p:tav tm="0">
                                          <p:val>
                                            <p:strVal val="#ppt_x"/>
                                          </p:val>
                                        </p:tav>
                                        <p:tav tm="100000">
                                          <p:val>
                                            <p:strVal val="#ppt_x"/>
                                          </p:val>
                                        </p:tav>
                                      </p:tavLst>
                                    </p:anim>
                                    <p:anim calcmode="lin" valueType="num">
                                      <p:cBhvr additive="base">
                                        <p:cTn id="41" dur="500" fill="hold"/>
                                        <p:tgtEl>
                                          <p:spTgt spid="3"/>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4"/>
                                        </p:tgtEl>
                                        <p:attrNameLst>
                                          <p:attrName>style.visibility</p:attrName>
                                        </p:attrNameLst>
                                      </p:cBhvr>
                                      <p:to>
                                        <p:strVal val="visible"/>
                                      </p:to>
                                    </p:set>
                                    <p:anim calcmode="lin" valueType="num">
                                      <p:cBhvr additive="base">
                                        <p:cTn id="44" dur="500" fill="hold"/>
                                        <p:tgtEl>
                                          <p:spTgt spid="4"/>
                                        </p:tgtEl>
                                        <p:attrNameLst>
                                          <p:attrName>ppt_x</p:attrName>
                                        </p:attrNameLst>
                                      </p:cBhvr>
                                      <p:tavLst>
                                        <p:tav tm="0">
                                          <p:val>
                                            <p:strVal val="#ppt_x"/>
                                          </p:val>
                                        </p:tav>
                                        <p:tav tm="100000">
                                          <p:val>
                                            <p:strVal val="#ppt_x"/>
                                          </p:val>
                                        </p:tav>
                                      </p:tavLst>
                                    </p:anim>
                                    <p:anim calcmode="lin" valueType="num">
                                      <p:cBhvr additive="base">
                                        <p:cTn id="4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bldLvl="0" animBg="1"/>
      <p:bldP spid="12" grpId="0" bldLvl="0" animBg="1"/>
      <p:bldP spid="13" grpId="0" bldLvl="0" animBg="1"/>
      <p:bldP spid="14" grpId="0" bldLvl="0" animBg="1"/>
      <p:bldP spid="15" grpId="0" bldLvl="0" animBg="1"/>
      <p:bldP spid="49" grpId="0" bldLvl="0" animBg="1"/>
      <p:bldP spid="2" grpId="0" bldLvl="0" animBg="1"/>
      <p:bldP spid="3" grpId="0" bldLvl="0" animBg="1"/>
      <p:bldP spid="4"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97706" y="0"/>
            <a:ext cx="9141291" cy="5143500"/>
          </a:xfrm>
          <a:prstGeom prst="rect">
            <a:avLst/>
          </a:prstGeom>
        </p:spPr>
      </p:pic>
      <p:grpSp>
        <p:nvGrpSpPr>
          <p:cNvPr id="32" name="组合 14"/>
          <p:cNvGrpSpPr/>
          <p:nvPr/>
        </p:nvGrpSpPr>
        <p:grpSpPr bwMode="auto">
          <a:xfrm>
            <a:off x="2143825" y="2399148"/>
            <a:ext cx="4167679" cy="124642"/>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1940560" y="1654175"/>
            <a:ext cx="6555105" cy="645160"/>
          </a:xfrm>
          <a:prstGeom prst="rect">
            <a:avLst/>
          </a:prstGeom>
          <a:noFill/>
        </p:spPr>
        <p:txBody>
          <a:bodyPr wrap="square">
            <a:spAutoFit/>
          </a:bodyPr>
          <a:lstStyle/>
          <a:p>
            <a:r>
              <a:rPr lang="en-US" altLang="zh-CN" sz="3600" b="1">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  </a:t>
            </a:r>
            <a:r>
              <a:rPr lang="zh-CN" altLang="en-US" sz="3600" b="1">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分类算法简介</a:t>
            </a:r>
          </a:p>
        </p:txBody>
      </p:sp>
      <p:sp>
        <p:nvSpPr>
          <p:cNvPr id="41" name="文本框 40"/>
          <p:cNvSpPr txBox="1">
            <a:spLocks noChangeArrowheads="1"/>
          </p:cNvSpPr>
          <p:nvPr/>
        </p:nvSpPr>
        <p:spPr bwMode="auto">
          <a:xfrm>
            <a:off x="520569" y="1539377"/>
            <a:ext cx="1698527" cy="922020"/>
          </a:xfrm>
          <a:prstGeom prst="rect">
            <a:avLst/>
          </a:prstGeom>
          <a:noFill/>
          <a:ln w="9525">
            <a:noFill/>
            <a:miter lim="800000"/>
          </a:ln>
        </p:spPr>
        <p:txBody>
          <a:bodyPr wrap="square">
            <a:spAutoFit/>
          </a:bodyPr>
          <a:lstStyle/>
          <a:p>
            <a:pPr algn="ctr"/>
            <a:r>
              <a:rPr lang="en-US" altLang="zh-CN" sz="5400">
                <a:solidFill>
                  <a:srgbClr val="00B0F0"/>
                </a:solidFill>
                <a:latin typeface="IrisUPC" panose="020B0604020202020204" pitchFamily="34" charset="-34"/>
                <a:cs typeface="IrisUPC" panose="020B0604020202020204" pitchFamily="34" charset="-34"/>
              </a:rPr>
              <a:t>8.3</a:t>
            </a:r>
          </a:p>
        </p:txBody>
      </p:sp>
      <p:sp>
        <p:nvSpPr>
          <p:cNvPr id="4" name="文本框 3"/>
          <p:cNvSpPr txBox="1"/>
          <p:nvPr/>
        </p:nvSpPr>
        <p:spPr>
          <a:xfrm>
            <a:off x="2143760" y="2695575"/>
            <a:ext cx="4535170" cy="119888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800">
                <a:solidFill>
                  <a:schemeClr val="bg1"/>
                </a:solidFill>
                <a:latin typeface="微软雅黑" panose="020B0503020204020204" pitchFamily="34" charset="-122"/>
                <a:ea typeface="微软雅黑" panose="020B0503020204020204" pitchFamily="34" charset="-122"/>
              </a:rPr>
              <a:t>逻辑回归</a:t>
            </a:r>
          </a:p>
          <a:p>
            <a:pPr marL="285750" indent="-285750">
              <a:buFont typeface="Wingdings" panose="05000000000000000000" pitchFamily="2" charset="2"/>
              <a:buChar char="Ø"/>
            </a:pPr>
            <a:r>
              <a:rPr lang="zh-CN" altLang="en-US" sz="1800">
                <a:solidFill>
                  <a:schemeClr val="bg1"/>
                </a:solidFill>
                <a:latin typeface="微软雅黑" panose="020B0503020204020204" pitchFamily="34" charset="-122"/>
                <a:ea typeface="微软雅黑" panose="020B0503020204020204" pitchFamily="34" charset="-122"/>
              </a:rPr>
              <a:t>近邻分类算法</a:t>
            </a:r>
          </a:p>
          <a:p>
            <a:pPr marL="285750" indent="-285750">
              <a:buFont typeface="Wingdings" panose="05000000000000000000" pitchFamily="2" charset="2"/>
              <a:buChar char="Ø"/>
            </a:pPr>
            <a:r>
              <a:rPr lang="zh-CN" altLang="en-US" sz="1800">
                <a:solidFill>
                  <a:schemeClr val="bg1"/>
                </a:solidFill>
                <a:latin typeface="微软雅黑" panose="020B0503020204020204" pitchFamily="34" charset="-122"/>
                <a:ea typeface="微软雅黑" panose="020B0503020204020204" pitchFamily="34" charset="-122"/>
              </a:rPr>
              <a:t>决策树算法</a:t>
            </a:r>
          </a:p>
          <a:p>
            <a:pPr marL="285750" indent="-285750">
              <a:buFont typeface="Wingdings" panose="05000000000000000000" pitchFamily="2" charset="2"/>
              <a:buChar char="Ø"/>
            </a:pPr>
            <a:endParaRPr lang="zh-CN" altLang="en-US" sz="18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par>
                          <p:cTn id="17" fill="hold">
                            <p:stCondLst>
                              <p:cond delay="1400"/>
                            </p:stCondLst>
                            <p:childTnLst>
                              <p:par>
                                <p:cTn id="18" presetID="1" presetClass="entr" presetSubtype="0" fill="hold" grpId="0" nodeType="afterEffect">
                                  <p:stCondLst>
                                    <p:cond delay="0"/>
                                  </p:stCondLst>
                                  <p:iterate type="wd">
                                    <p:tmAbs val="100"/>
                                  </p:iterate>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95249" y="239395"/>
            <a:ext cx="4486275" cy="52197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8.3.1逻辑回归</a:t>
            </a:r>
          </a:p>
        </p:txBody>
      </p:sp>
      <p:sp>
        <p:nvSpPr>
          <p:cNvPr id="100" name="文本框 99"/>
          <p:cNvSpPr txBox="1"/>
          <p:nvPr/>
        </p:nvSpPr>
        <p:spPr>
          <a:xfrm>
            <a:off x="304800" y="868680"/>
            <a:ext cx="8615680" cy="1938020"/>
          </a:xfrm>
          <a:prstGeom prst="rect">
            <a:avLst/>
          </a:prstGeom>
          <a:noFill/>
          <a:ln w="9525">
            <a:noFill/>
          </a:ln>
        </p:spPr>
        <p:txBody>
          <a:bodyPr wrap="square">
            <a:spAutoFit/>
          </a:bodyPr>
          <a:lstStyle/>
          <a:p>
            <a:pPr indent="266700">
              <a:lnSpc>
                <a:spcPct val="120000"/>
              </a:lnSpc>
            </a:pPr>
            <a:r>
              <a:rPr lang="en-US" altLang="zh-CN" sz="2000">
                <a:ea typeface="等线" panose="02010600030101010101" pitchFamily="2" charset="-122"/>
              </a:rPr>
              <a:t> </a:t>
            </a:r>
            <a:r>
              <a:rPr sz="2000">
                <a:ea typeface="等线" panose="02010600030101010101" pitchFamily="2" charset="-122"/>
              </a:rPr>
              <a:t>逻辑回归（Logistic regression）属于分类算法，用于估计某种事物的可能性。逻辑回归是当前常用的一种机器学习方法，例如在许多深度学习模型中，为了判决样本的类别，在模型的最后通常会加上一个逻辑回归层。以下介绍逻辑回归的基本思想。</a:t>
            </a:r>
          </a:p>
          <a:p>
            <a:pPr indent="266700">
              <a:lnSpc>
                <a:spcPct val="120000"/>
              </a:lnSpc>
            </a:pPr>
            <a:r>
              <a:rPr lang="en-US" sz="2000">
                <a:ea typeface="等线" panose="02010600030101010101" pitchFamily="2" charset="-122"/>
              </a:rPr>
              <a:t> </a:t>
            </a:r>
            <a:r>
              <a:rPr sz="2000">
                <a:ea typeface="等线" panose="02010600030101010101" pitchFamily="2" charset="-122"/>
              </a:rPr>
              <a:t>原始的线性回归方程可以表示为：</a:t>
            </a:r>
            <a:r>
              <a:rPr lang="en-US" sz="2000">
                <a:ea typeface="等线" panose="02010600030101010101" pitchFamily="2" charset="-122"/>
              </a:rPr>
              <a:t>   </a:t>
            </a:r>
            <a:endParaRPr sz="2000">
              <a:ea typeface="等线" panose="02010600030101010101" pitchFamily="2" charset="-122"/>
            </a:endParaRPr>
          </a:p>
        </p:txBody>
      </p:sp>
      <p:sp>
        <p:nvSpPr>
          <p:cNvPr id="9" name="文本框 8"/>
          <p:cNvSpPr txBox="1"/>
          <p:nvPr/>
        </p:nvSpPr>
        <p:spPr>
          <a:xfrm>
            <a:off x="354965" y="3741420"/>
            <a:ext cx="8515350" cy="706755"/>
          </a:xfrm>
          <a:prstGeom prst="rect">
            <a:avLst/>
          </a:prstGeom>
          <a:noFill/>
          <a:ln w="9525">
            <a:noFill/>
          </a:ln>
        </p:spPr>
        <p:txBody>
          <a:bodyPr wrap="square">
            <a:spAutoFit/>
          </a:bodyPr>
          <a:lstStyle/>
          <a:p>
            <a:pPr indent="266700"/>
            <a:r>
              <a:rPr lang="zh-CN" sz="2000" b="0">
                <a:ea typeface="等线" panose="02010600030101010101" pitchFamily="2" charset="-122"/>
              </a:rPr>
              <a:t>为了进行逻辑判断（结果为</a:t>
            </a:r>
            <a:r>
              <a:rPr lang="en-US" sz="2000" b="0">
                <a:latin typeface="等线" panose="02010600030101010101" pitchFamily="2" charset="-122"/>
                <a:cs typeface="Times New Roman" panose="02020603050405020304" pitchFamily="18" charset="0"/>
              </a:rPr>
              <a:t>0</a:t>
            </a:r>
            <a:r>
              <a:rPr lang="zh-CN" sz="2000" b="0">
                <a:ea typeface="等线" panose="02010600030101010101" pitchFamily="2" charset="-122"/>
              </a:rPr>
              <a:t>或</a:t>
            </a:r>
            <a:r>
              <a:rPr lang="en-US" sz="2000" b="0">
                <a:latin typeface="等线" panose="02010600030101010101" pitchFamily="2" charset="-122"/>
                <a:cs typeface="Times New Roman" panose="02020603050405020304" pitchFamily="18" charset="0"/>
              </a:rPr>
              <a:t>1</a:t>
            </a:r>
            <a:r>
              <a:rPr lang="zh-CN" sz="2000" b="0">
                <a:ea typeface="等线" panose="02010600030101010101" pitchFamily="2" charset="-122"/>
              </a:rPr>
              <a:t>），应用</a:t>
            </a:r>
            <a:r>
              <a:rPr lang="en-US" sz="2000" b="0">
                <a:latin typeface="等线" panose="02010600030101010101" pitchFamily="2" charset="-122"/>
                <a:cs typeface="Times New Roman" panose="02020603050405020304" pitchFamily="18" charset="0"/>
              </a:rPr>
              <a:t>logistic</a:t>
            </a:r>
            <a:r>
              <a:rPr lang="zh-CN" sz="2000" b="0">
                <a:ea typeface="等线" panose="02010600030101010101" pitchFamily="2" charset="-122"/>
              </a:rPr>
              <a:t>函数（如：</a:t>
            </a:r>
            <a:r>
              <a:rPr lang="zh-CN" sz="2000" b="0">
                <a:ea typeface="等线" panose="02010600030101010101" pitchFamily="2" charset="-122"/>
                <a:cs typeface="Times New Roman" panose="02020603050405020304" pitchFamily="18" charset="0"/>
              </a:rPr>
              <a:t>sigmoid函数）将线性回归的输出压缩到</a:t>
            </a:r>
            <a:r>
              <a:rPr lang="en-US" sz="2000" b="0">
                <a:latin typeface="等线" panose="02010600030101010101" pitchFamily="2" charset="-122"/>
                <a:cs typeface="Times New Roman" panose="02020603050405020304" pitchFamily="18" charset="0"/>
              </a:rPr>
              <a:t>0</a:t>
            </a:r>
            <a:r>
              <a:rPr lang="zh-CN" sz="2000" b="0">
                <a:ea typeface="等线" panose="02010600030101010101" pitchFamily="2" charset="-122"/>
              </a:rPr>
              <a:t>和</a:t>
            </a:r>
            <a:r>
              <a:rPr lang="en-US" sz="2000" b="0">
                <a:latin typeface="等线" panose="02010600030101010101" pitchFamily="2" charset="-122"/>
                <a:cs typeface="Times New Roman" panose="02020603050405020304" pitchFamily="18" charset="0"/>
              </a:rPr>
              <a:t>1</a:t>
            </a:r>
            <a:r>
              <a:rPr lang="zh-CN" sz="2000" b="0">
                <a:ea typeface="等线" panose="02010600030101010101" pitchFamily="2" charset="-122"/>
              </a:rPr>
              <a:t>之间：</a:t>
            </a:r>
            <a:endParaRPr lang="zh-CN" altLang="en-US" sz="2000"/>
          </a:p>
        </p:txBody>
      </p:sp>
      <p:pic>
        <p:nvPicPr>
          <p:cNvPr id="3" name="图片 2"/>
          <p:cNvPicPr>
            <a:picLocks noChangeAspect="1"/>
          </p:cNvPicPr>
          <p:nvPr/>
        </p:nvPicPr>
        <p:blipFill>
          <a:blip r:embed="rId3"/>
          <a:stretch>
            <a:fillRect/>
          </a:stretch>
        </p:blipFill>
        <p:spPr>
          <a:xfrm>
            <a:off x="3072130" y="4292600"/>
            <a:ext cx="5276850" cy="600075"/>
          </a:xfrm>
          <a:prstGeom prst="rect">
            <a:avLst/>
          </a:prstGeom>
        </p:spPr>
      </p:pic>
      <p:pic>
        <p:nvPicPr>
          <p:cNvPr id="116" name="图片 115"/>
          <p:cNvPicPr/>
          <p:nvPr/>
        </p:nvPicPr>
        <p:blipFill>
          <a:blip r:embed="rId4"/>
          <a:stretch>
            <a:fillRect/>
          </a:stretch>
        </p:blipFill>
        <p:spPr>
          <a:xfrm>
            <a:off x="4818380" y="2376487"/>
            <a:ext cx="3790950" cy="390525"/>
          </a:xfrm>
          <a:prstGeom prst="rect">
            <a:avLst/>
          </a:prstGeom>
          <a:noFill/>
          <a:ln w="9525">
            <a:noFill/>
          </a:ln>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E455AD1B-BBDD-4BD3-A28F-E2FDF66BA414}"/>
                  </a:ext>
                </a:extLst>
              </p:cNvPr>
              <p:cNvSpPr/>
              <p:nvPr/>
            </p:nvSpPr>
            <p:spPr>
              <a:xfrm>
                <a:off x="354965" y="3046850"/>
                <a:ext cx="7559675" cy="454420"/>
              </a:xfrm>
              <a:prstGeom prst="rect">
                <a:avLst/>
              </a:prstGeom>
            </p:spPr>
            <p:txBody>
              <a:bodyPr wrap="square">
                <a:spAutoFit/>
              </a:bodyPr>
              <a:lstStyle/>
              <a:p>
                <a:pPr indent="266700" algn="just">
                  <a:lnSpc>
                    <a:spcPct val="120000"/>
                  </a:lnSpc>
                  <a:spcAft>
                    <a:spcPts val="0"/>
                  </a:spcAft>
                </a:pPr>
                <a:r>
                  <a:rPr lang="zh-CN" altLang="zh-CN" sz="2000" kern="100">
                    <a:latin typeface="等线" panose="02010600030101010101" pitchFamily="2" charset="-122"/>
                    <a:cs typeface="Times New Roman" panose="02020603050405020304" pitchFamily="18" charset="0"/>
                  </a:rPr>
                  <a:t>其中，</a:t>
                </a:r>
                <a14:m>
                  <m:oMath xmlns:m="http://schemas.openxmlformats.org/officeDocument/2006/math">
                    <m:sSup>
                      <m:sSup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latin typeface="Cambria Math" panose="02040503050406030204" pitchFamily="18" charset="0"/>
                            <a:cs typeface="Times New Roman" panose="02020603050405020304" pitchFamily="18" charset="0"/>
                          </a:rPr>
                          <m:t>𝑥</m:t>
                        </m:r>
                      </m:e>
                      <m:sup>
                        <m:d>
                          <m:d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latin typeface="Cambria Math" panose="02040503050406030204" pitchFamily="18" charset="0"/>
                                <a:cs typeface="Times New Roman" panose="02020603050405020304" pitchFamily="18" charset="0"/>
                              </a:rPr>
                              <m:t>𝑗</m:t>
                            </m:r>
                          </m:e>
                        </m:d>
                      </m:sup>
                    </m:sSup>
                  </m:oMath>
                </a14:m>
                <a:r>
                  <a:rPr lang="zh-CN" altLang="zh-CN" sz="2000" kern="100">
                    <a:latin typeface="等线" panose="02010600030101010101" pitchFamily="2" charset="-122"/>
                    <a:cs typeface="Times New Roman" panose="02020603050405020304" pitchFamily="18" charset="0"/>
                  </a:rPr>
                  <a:t>代表</a:t>
                </a:r>
                <a:r>
                  <a:rPr lang="en-US" altLang="zh-CN" sz="2000" i="1" kern="100">
                    <a:latin typeface="Times New Roman" panose="02020603050405020304" pitchFamily="18" charset="0"/>
                    <a:cs typeface="Times New Roman" panose="02020603050405020304" pitchFamily="18" charset="0"/>
                  </a:rPr>
                  <a:t>X</a:t>
                </a:r>
                <a:r>
                  <a:rPr lang="zh-CN" altLang="zh-CN" sz="2000" kern="100">
                    <a:latin typeface="等线" panose="02010600030101010101" pitchFamily="2" charset="-122"/>
                    <a:cs typeface="Times New Roman" panose="02020603050405020304" pitchFamily="18" charset="0"/>
                  </a:rPr>
                  <a:t>的第</a:t>
                </a:r>
                <a:r>
                  <a:rPr lang="en-US" altLang="zh-CN" sz="2000" i="1" kern="100">
                    <a:latin typeface="Times New Roman" panose="02020603050405020304" pitchFamily="18" charset="0"/>
                    <a:cs typeface="Times New Roman" panose="02020603050405020304" pitchFamily="18" charset="0"/>
                  </a:rPr>
                  <a:t>j</a:t>
                </a:r>
                <a:r>
                  <a:rPr lang="zh-CN" altLang="zh-CN" sz="2000" kern="100">
                    <a:latin typeface="等线" panose="02010600030101010101" pitchFamily="2" charset="-122"/>
                    <a:cs typeface="Times New Roman" panose="02020603050405020304" pitchFamily="18" charset="0"/>
                  </a:rPr>
                  <a:t>个分量，</a:t>
                </a:r>
                <a:r>
                  <a:rPr lang="en-US" altLang="zh-CN" sz="2000" i="1" kern="100">
                    <a:latin typeface="Times New Roman" panose="02020603050405020304" pitchFamily="18" charset="0"/>
                    <a:cs typeface="Times New Roman" panose="02020603050405020304" pitchFamily="18" charset="0"/>
                  </a:rPr>
                  <a:t>θ</a:t>
                </a:r>
                <a:r>
                  <a:rPr lang="zh-CN" altLang="zh-CN" sz="2000" kern="100">
                    <a:latin typeface="等线" panose="02010600030101010101" pitchFamily="2" charset="-122"/>
                    <a:cs typeface="Times New Roman" panose="02020603050405020304" pitchFamily="18" charset="0"/>
                  </a:rPr>
                  <a:t>是模型参数，也就是回归系数。</a:t>
                </a:r>
              </a:p>
            </p:txBody>
          </p:sp>
        </mc:Choice>
        <mc:Fallback xmlns="">
          <p:sp>
            <p:nvSpPr>
              <p:cNvPr id="2" name="矩形 1">
                <a:extLst>
                  <a:ext uri="{FF2B5EF4-FFF2-40B4-BE49-F238E27FC236}">
                    <a16:creationId xmlns:a16="http://schemas.microsoft.com/office/drawing/2014/main" id="{E455AD1B-BBDD-4BD3-A28F-E2FDF66BA414}"/>
                  </a:ext>
                </a:extLst>
              </p:cNvPr>
              <p:cNvSpPr>
                <a:spLocks noRot="1" noChangeAspect="1" noMove="1" noResize="1" noEditPoints="1" noAdjustHandles="1" noChangeArrowheads="1" noChangeShapeType="1" noTextEdit="1"/>
              </p:cNvSpPr>
              <p:nvPr/>
            </p:nvSpPr>
            <p:spPr>
              <a:xfrm>
                <a:off x="354965" y="3046850"/>
                <a:ext cx="7559675" cy="454420"/>
              </a:xfrm>
              <a:prstGeom prst="rect">
                <a:avLst/>
              </a:prstGeom>
              <a:blipFill>
                <a:blip r:embed="rId5"/>
                <a:stretch>
                  <a:fillRect r="-887" b="-24324"/>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3499" y="239395"/>
            <a:ext cx="4518025" cy="52197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8.3.1逻辑回归</a:t>
            </a:r>
          </a:p>
        </p:txBody>
      </p:sp>
      <p:sp>
        <p:nvSpPr>
          <p:cNvPr id="100" name="文本框 99"/>
          <p:cNvSpPr txBox="1"/>
          <p:nvPr/>
        </p:nvSpPr>
        <p:spPr>
          <a:xfrm>
            <a:off x="264160" y="869950"/>
            <a:ext cx="8615680" cy="1198880"/>
          </a:xfrm>
          <a:prstGeom prst="rect">
            <a:avLst/>
          </a:prstGeom>
          <a:noFill/>
          <a:ln w="9525">
            <a:noFill/>
          </a:ln>
        </p:spPr>
        <p:txBody>
          <a:bodyPr wrap="square">
            <a:spAutoFit/>
          </a:bodyPr>
          <a:lstStyle/>
          <a:p>
            <a:pPr indent="266700">
              <a:lnSpc>
                <a:spcPct val="120000"/>
              </a:lnSpc>
            </a:pPr>
            <a:r>
              <a:rPr lang="en-US" altLang="zh-CN" sz="2000">
                <a:ea typeface="等线" panose="02010600030101010101" pitchFamily="2" charset="-122"/>
              </a:rPr>
              <a:t>  </a:t>
            </a:r>
            <a:r>
              <a:rPr sz="2000">
                <a:ea typeface="等线" panose="02010600030101010101" pitchFamily="2" charset="-122"/>
              </a:rPr>
              <a:t>例如，对于二分类问题，假设样本是{x, y}，y是0或者1，表示负类</a:t>
            </a:r>
            <a:r>
              <a:rPr lang="zh-CN" altLang="en-US" sz="2000"/>
              <a:t>（</a:t>
            </a:r>
            <a:r>
              <a:rPr lang="en-US" altLang="zh-CN" sz="2000"/>
              <a:t>negative</a:t>
            </a:r>
            <a:r>
              <a:rPr sz="2000">
                <a:ea typeface="等线" panose="02010600030101010101" pitchFamily="2" charset="-122"/>
              </a:rPr>
              <a:t>）或者正类（</a:t>
            </a:r>
            <a:r>
              <a:rPr lang="en-US" altLang="zh-CN" sz="2000"/>
              <a:t>positive</a:t>
            </a:r>
            <a:r>
              <a:rPr sz="2000">
                <a:ea typeface="等线" panose="02010600030101010101" pitchFamily="2" charset="-122"/>
              </a:rPr>
              <a:t>），样本x是m维特征向量。那么样本x属于正类，也就是y=1的“概率”可以通过下面的逻辑函数来表示：</a:t>
            </a:r>
          </a:p>
        </p:txBody>
      </p:sp>
      <p:pic>
        <p:nvPicPr>
          <p:cNvPr id="102" name="图片 101"/>
          <p:cNvPicPr/>
          <p:nvPr/>
        </p:nvPicPr>
        <p:blipFill>
          <a:blip r:embed="rId3"/>
          <a:stretch>
            <a:fillRect/>
          </a:stretch>
        </p:blipFill>
        <p:spPr>
          <a:xfrm>
            <a:off x="3483293" y="2231390"/>
            <a:ext cx="2257425" cy="590550"/>
          </a:xfrm>
          <a:prstGeom prst="rect">
            <a:avLst/>
          </a:prstGeom>
          <a:noFill/>
          <a:ln w="9525">
            <a:noFill/>
          </a:ln>
        </p:spPr>
      </p:pic>
      <p:sp>
        <p:nvSpPr>
          <p:cNvPr id="103" name="文本框 102"/>
          <p:cNvSpPr txBox="1"/>
          <p:nvPr/>
        </p:nvSpPr>
        <p:spPr>
          <a:xfrm>
            <a:off x="344805" y="2984500"/>
            <a:ext cx="5344160" cy="398780"/>
          </a:xfrm>
          <a:prstGeom prst="rect">
            <a:avLst/>
          </a:prstGeom>
          <a:noFill/>
          <a:ln w="9525">
            <a:noFill/>
          </a:ln>
        </p:spPr>
        <p:txBody>
          <a:bodyPr wrap="square">
            <a:spAutoFit/>
          </a:bodyPr>
          <a:lstStyle/>
          <a:p>
            <a:pPr indent="266700"/>
            <a:r>
              <a:rPr lang="zh-CN" sz="2000" b="0">
                <a:ea typeface="等线" panose="02010600030101010101" pitchFamily="2" charset="-122"/>
              </a:rPr>
              <a:t>判别的准则是：</a:t>
            </a:r>
            <a:endParaRPr lang="zh-CN" altLang="en-US" sz="2000"/>
          </a:p>
        </p:txBody>
      </p:sp>
      <p:pic>
        <p:nvPicPr>
          <p:cNvPr id="4" name="图片 3"/>
          <p:cNvPicPr/>
          <p:nvPr/>
        </p:nvPicPr>
        <p:blipFill>
          <a:blip r:embed="rId4"/>
          <a:stretch>
            <a:fillRect/>
          </a:stretch>
        </p:blipFill>
        <p:spPr>
          <a:xfrm>
            <a:off x="2458085" y="2984500"/>
            <a:ext cx="1905000" cy="390525"/>
          </a:xfrm>
          <a:prstGeom prst="rect">
            <a:avLst/>
          </a:prstGeom>
          <a:noFill/>
          <a:ln w="9525">
            <a:noFill/>
          </a:ln>
        </p:spPr>
      </p:pic>
      <p:sp>
        <p:nvSpPr>
          <p:cNvPr id="104" name="文本框 103"/>
          <p:cNvSpPr txBox="1"/>
          <p:nvPr/>
        </p:nvSpPr>
        <p:spPr>
          <a:xfrm>
            <a:off x="292100" y="3376930"/>
            <a:ext cx="8670925" cy="8915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lang="zh-CN" sz="2000" b="0">
                <a:ea typeface="等线" panose="02010600030101010101" pitchFamily="2" charset="-122"/>
              </a:rPr>
              <a:t>把样本分入</a:t>
            </a:r>
            <a:r>
              <a:rPr lang="zh-CN" sz="2000" b="0">
                <a:ea typeface="等线" panose="02010600030101010101" pitchFamily="2" charset="-122"/>
                <a:cs typeface="Times New Roman" panose="02020603050405020304" pitchFamily="18" charset="0"/>
              </a:rPr>
              <a:t>{y=1}； 否则分入{y=0}。也就是说，如果样本</a:t>
            </a:r>
            <a:r>
              <a:rPr lang="en-US" sz="2000" b="1">
                <a:latin typeface="等线" panose="02010600030101010101" pitchFamily="2" charset="-122"/>
              </a:rPr>
              <a:t>x</a:t>
            </a:r>
            <a:r>
              <a:rPr lang="zh-CN" sz="2000" b="0">
                <a:ea typeface="等线" panose="02010600030101010101" pitchFamily="2" charset="-122"/>
              </a:rPr>
              <a:t>属于正类的概率大于</a:t>
            </a:r>
            <a:r>
              <a:rPr lang="en-US" sz="2000" b="0">
                <a:latin typeface="等线" panose="02010600030101010101" pitchFamily="2" charset="-122"/>
                <a:cs typeface="Times New Roman" panose="02020603050405020304" pitchFamily="18" charset="0"/>
              </a:rPr>
              <a:t>0.5</a:t>
            </a:r>
            <a:r>
              <a:rPr lang="zh-CN" sz="2000" b="0">
                <a:ea typeface="等线" panose="02010600030101010101" pitchFamily="2" charset="-122"/>
              </a:rPr>
              <a:t>，那么就判定它是正类，否则就是负类。</a:t>
            </a:r>
            <a:endParaRPr lang="zh-CN" altLang="en-US" sz="2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5405" y="239395"/>
            <a:ext cx="4646930" cy="52197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8.3.1逻辑回归</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65A61395-ED98-4807-89D1-2D1D753A3C77}"/>
                  </a:ext>
                </a:extLst>
              </p:cNvPr>
              <p:cNvSpPr/>
              <p:nvPr/>
            </p:nvSpPr>
            <p:spPr>
              <a:xfrm>
                <a:off x="612775" y="1062554"/>
                <a:ext cx="7629525" cy="2287101"/>
              </a:xfrm>
              <a:prstGeom prst="rect">
                <a:avLst/>
              </a:prstGeom>
            </p:spPr>
            <p:txBody>
              <a:bodyPr wrap="square">
                <a:spAutoFit/>
              </a:bodyPr>
              <a:lstStyle/>
              <a:p>
                <a:pPr indent="266700" algn="just">
                  <a:lnSpc>
                    <a:spcPct val="120000"/>
                  </a:lnSpc>
                  <a:spcAft>
                    <a:spcPts val="0"/>
                  </a:spcAft>
                </a:pPr>
                <a:r>
                  <a:rPr lang="zh-CN" altLang="zh-CN" sz="1400" kern="100">
                    <a:latin typeface="等线" panose="02010600030101010101" pitchFamily="2" charset="-122"/>
                    <a:cs typeface="Times New Roman" panose="02020603050405020304" pitchFamily="18" charset="0"/>
                  </a:rPr>
                  <a:t>实际上</a:t>
                </a:r>
                <a14:m>
                  <m:oMath xmlns:m="http://schemas.openxmlformats.org/officeDocument/2006/math">
                    <m:r>
                      <a:rPr lang="en-US" altLang="zh-CN" sz="1400" i="1" kern="100">
                        <a:latin typeface="Cambria Math" panose="02040503050406030204" pitchFamily="18" charset="0"/>
                        <a:cs typeface="Times New Roman" panose="02020603050405020304" pitchFamily="18" charset="0"/>
                      </a:rPr>
                      <m:t>𝑝</m:t>
                    </m:r>
                    <m:d>
                      <m:d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cs typeface="Times New Roman" panose="02020603050405020304" pitchFamily="18" charset="0"/>
                          </a:rPr>
                          <m:t>𝑦</m:t>
                        </m:r>
                        <m:r>
                          <a:rPr lang="en-US" altLang="zh-CN" sz="1400" kern="100">
                            <a:latin typeface="Cambria Math" panose="02040503050406030204" pitchFamily="18" charset="0"/>
                            <a:cs typeface="Times New Roman" panose="02020603050405020304" pitchFamily="18" charset="0"/>
                          </a:rPr>
                          <m:t>=1</m:t>
                        </m:r>
                      </m:e>
                      <m:e>
                        <m:r>
                          <a:rPr lang="en-US" altLang="zh-CN" sz="1400" i="1" kern="100">
                            <a:latin typeface="Cambria Math" panose="02040503050406030204" pitchFamily="18" charset="0"/>
                            <a:cs typeface="Times New Roman" panose="02020603050405020304" pitchFamily="18" charset="0"/>
                          </a:rPr>
                          <m:t>𝑋</m:t>
                        </m:r>
                        <m:r>
                          <a:rPr lang="en-US" altLang="zh-CN" sz="1400" kern="100">
                            <a:latin typeface="Cambria Math" panose="02040503050406030204" pitchFamily="18" charset="0"/>
                            <a:cs typeface="Times New Roman" panose="02020603050405020304" pitchFamily="18" charset="0"/>
                          </a:rPr>
                          <m:t>;</m:t>
                        </m:r>
                        <m:r>
                          <a:rPr lang="en-US" altLang="zh-CN" sz="1400" i="1" kern="100">
                            <a:latin typeface="Cambria Math" panose="02040503050406030204" pitchFamily="18" charset="0"/>
                            <a:cs typeface="Times New Roman" panose="02020603050405020304" pitchFamily="18" charset="0"/>
                          </a:rPr>
                          <m:t> </m:t>
                        </m:r>
                        <m:r>
                          <a:rPr lang="en-US" altLang="zh-CN" sz="1400" i="1" kern="100">
                            <a:latin typeface="Cambria Math" panose="02040503050406030204" pitchFamily="18" charset="0"/>
                            <a:cs typeface="Times New Roman" panose="02020603050405020304" pitchFamily="18" charset="0"/>
                          </a:rPr>
                          <m:t>𝜃</m:t>
                        </m:r>
                      </m:e>
                    </m:d>
                    <m:r>
                      <a:rPr lang="en-US" altLang="zh-CN" sz="1400" kern="100">
                        <a:latin typeface="Cambria Math" panose="02040503050406030204" pitchFamily="18" charset="0"/>
                        <a:cs typeface="Times New Roman" panose="02020603050405020304" pitchFamily="18" charset="0"/>
                      </a:rPr>
                      <m:t>=</m:t>
                    </m:r>
                    <m:f>
                      <m:f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400" kern="100">
                            <a:latin typeface="Cambria Math" panose="02040503050406030204" pitchFamily="18" charset="0"/>
                            <a:cs typeface="Times New Roman" panose="02020603050405020304" pitchFamily="18" charset="0"/>
                          </a:rPr>
                          <m:t>1</m:t>
                        </m:r>
                      </m:num>
                      <m:den>
                        <m:r>
                          <a:rPr lang="en-US" altLang="zh-CN" sz="1400" kern="100">
                            <a:latin typeface="Cambria Math" panose="02040503050406030204" pitchFamily="18" charset="0"/>
                            <a:cs typeface="Times New Roman" panose="02020603050405020304" pitchFamily="18" charset="0"/>
                          </a:rPr>
                          <m:t>1+</m:t>
                        </m:r>
                        <m:sSup>
                          <m:sSup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latin typeface="Cambria Math" panose="02040503050406030204" pitchFamily="18" charset="0"/>
                                <a:cs typeface="Times New Roman" panose="02020603050405020304" pitchFamily="18" charset="0"/>
                              </a:rPr>
                              <m:t>𝑒</m:t>
                            </m:r>
                          </m:e>
                          <m:sup>
                            <m:r>
                              <a:rPr lang="en-US" altLang="zh-CN" sz="1400" kern="100">
                                <a:latin typeface="Cambria Math" panose="02040503050406030204" pitchFamily="18" charset="0"/>
                                <a:cs typeface="Times New Roman" panose="02020603050405020304" pitchFamily="18" charset="0"/>
                              </a:rPr>
                              <m:t>(</m:t>
                            </m:r>
                            <m:r>
                              <a:rPr lang="en-US" altLang="zh-CN" sz="1400" i="1" kern="100">
                                <a:latin typeface="Cambria Math" panose="02040503050406030204" pitchFamily="18" charset="0"/>
                                <a:cs typeface="Times New Roman" panose="02020603050405020304" pitchFamily="18" charset="0"/>
                              </a:rPr>
                              <m:t>−</m:t>
                            </m:r>
                            <m:sSup>
                              <m:sSup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latin typeface="Cambria Math" panose="02040503050406030204" pitchFamily="18" charset="0"/>
                                    <a:cs typeface="Times New Roman" panose="02020603050405020304" pitchFamily="18" charset="0"/>
                                  </a:rPr>
                                  <m:t>𝜃</m:t>
                                </m:r>
                              </m:e>
                              <m:sup>
                                <m:r>
                                  <a:rPr lang="en-US" altLang="zh-CN" sz="1400" i="1" kern="100">
                                    <a:latin typeface="Cambria Math" panose="02040503050406030204" pitchFamily="18" charset="0"/>
                                    <a:cs typeface="Times New Roman" panose="02020603050405020304" pitchFamily="18" charset="0"/>
                                  </a:rPr>
                                  <m:t>𝑇</m:t>
                                </m:r>
                              </m:sup>
                            </m:sSup>
                            <m:r>
                              <a:rPr lang="en-US" altLang="zh-CN" sz="1400" i="1" kern="100">
                                <a:latin typeface="Cambria Math" panose="02040503050406030204" pitchFamily="18" charset="0"/>
                                <a:cs typeface="Times New Roman" panose="02020603050405020304" pitchFamily="18" charset="0"/>
                              </a:rPr>
                              <m:t>𝑋</m:t>
                            </m:r>
                            <m:r>
                              <a:rPr lang="en-US" altLang="zh-CN" sz="1400" kern="100">
                                <a:latin typeface="Cambria Math" panose="02040503050406030204" pitchFamily="18" charset="0"/>
                                <a:cs typeface="Times New Roman" panose="02020603050405020304" pitchFamily="18" charset="0"/>
                              </a:rPr>
                              <m:t>)</m:t>
                            </m:r>
                          </m:sup>
                        </m:sSup>
                      </m:den>
                    </m:f>
                  </m:oMath>
                </a14:m>
                <a:r>
                  <a:rPr lang="zh-CN" altLang="zh-CN" sz="1400" kern="100">
                    <a:latin typeface="等线" panose="02010600030101010101" pitchFamily="2" charset="-122"/>
                    <a:cs typeface="Times New Roman" panose="02020603050405020304" pitchFamily="18" charset="0"/>
                  </a:rPr>
                  <a:t>函数，是由下面的对数几率（也就是</a:t>
                </a:r>
                <a:r>
                  <a:rPr lang="en-US" altLang="zh-CN" sz="1400" b="1" kern="100">
                    <a:latin typeface="等线" panose="02010600030101010101" pitchFamily="2" charset="-122"/>
                    <a:cs typeface="Times New Roman" panose="02020603050405020304" pitchFamily="18" charset="0"/>
                  </a:rPr>
                  <a:t>x</a:t>
                </a:r>
                <a:r>
                  <a:rPr lang="zh-CN" altLang="zh-CN" sz="1400" kern="100">
                    <a:latin typeface="等线" panose="02010600030101010101" pitchFamily="2" charset="-122"/>
                    <a:cs typeface="Times New Roman" panose="02020603050405020304" pitchFamily="18" charset="0"/>
                  </a:rPr>
                  <a:t>属于正类的可能性和负类的可能性的比值的对数）变换得到的：</a:t>
                </a:r>
              </a:p>
              <a:p>
                <a:pPr indent="266700" algn="just">
                  <a:lnSpc>
                    <a:spcPct val="120000"/>
                  </a:lnSpc>
                  <a:spcAft>
                    <a:spcPts val="0"/>
                  </a:spcAft>
                </a:pPr>
                <a14:m>
                  <m:oMathPara xmlns:m="http://schemas.openxmlformats.org/officeDocument/2006/math">
                    <m:oMathParaPr>
                      <m:jc m:val="centerGroup"/>
                    </m:oMathParaPr>
                    <m:oMath xmlns:m="http://schemas.openxmlformats.org/officeDocument/2006/math">
                      <m:r>
                        <a:rPr lang="en-US" altLang="zh-CN" sz="1400" i="1" kern="100">
                          <a:latin typeface="Cambria Math" panose="02040503050406030204" pitchFamily="18" charset="0"/>
                          <a:cs typeface="Times New Roman" panose="02020603050405020304" pitchFamily="18" charset="0"/>
                        </a:rPr>
                        <m:t>𝑙𝑛</m:t>
                      </m:r>
                      <m:d>
                        <m:d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400" i="1" kern="100">
                                  <a:latin typeface="Cambria Math" panose="02040503050406030204" pitchFamily="18" charset="0"/>
                                  <a:cs typeface="Times New Roman" panose="02020603050405020304" pitchFamily="18" charset="0"/>
                                </a:rPr>
                                <m:t>𝑃</m:t>
                              </m:r>
                              <m:d>
                                <m:d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cs typeface="Times New Roman" panose="02020603050405020304" pitchFamily="18" charset="0"/>
                                    </a:rPr>
                                    <m:t>𝑦</m:t>
                                  </m:r>
                                  <m:r>
                                    <a:rPr lang="en-US" altLang="zh-CN" sz="1400" kern="100">
                                      <a:latin typeface="Cambria Math" panose="02040503050406030204" pitchFamily="18" charset="0"/>
                                      <a:cs typeface="Times New Roman" panose="02020603050405020304" pitchFamily="18" charset="0"/>
                                    </a:rPr>
                                    <m:t>=1</m:t>
                                  </m:r>
                                </m:e>
                                <m:e>
                                  <m:r>
                                    <a:rPr lang="en-US" altLang="zh-CN" sz="1400" i="1" kern="100">
                                      <a:latin typeface="Cambria Math" panose="02040503050406030204" pitchFamily="18" charset="0"/>
                                      <a:cs typeface="Times New Roman" panose="02020603050405020304" pitchFamily="18" charset="0"/>
                                    </a:rPr>
                                    <m:t>𝑥</m:t>
                                  </m:r>
                                </m:e>
                              </m:d>
                            </m:num>
                            <m:den>
                              <m:r>
                                <a:rPr lang="en-US" altLang="zh-CN" sz="1400" i="1" kern="100">
                                  <a:latin typeface="Cambria Math" panose="02040503050406030204" pitchFamily="18" charset="0"/>
                                  <a:cs typeface="Times New Roman" panose="02020603050405020304" pitchFamily="18" charset="0"/>
                                </a:rPr>
                                <m:t>𝑃</m:t>
                              </m:r>
                              <m:d>
                                <m:d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cs typeface="Times New Roman" panose="02020603050405020304" pitchFamily="18" charset="0"/>
                                    </a:rPr>
                                    <m:t>𝑦</m:t>
                                  </m:r>
                                  <m:r>
                                    <a:rPr lang="en-US" altLang="zh-CN" sz="1400" kern="100">
                                      <a:latin typeface="Cambria Math" panose="02040503050406030204" pitchFamily="18" charset="0"/>
                                      <a:cs typeface="Times New Roman" panose="02020603050405020304" pitchFamily="18" charset="0"/>
                                    </a:rPr>
                                    <m:t>=0</m:t>
                                  </m:r>
                                </m:e>
                                <m:e>
                                  <m:r>
                                    <a:rPr lang="en-US" altLang="zh-CN" sz="1400" i="1" kern="100">
                                      <a:latin typeface="Cambria Math" panose="02040503050406030204" pitchFamily="18" charset="0"/>
                                      <a:cs typeface="Times New Roman" panose="02020603050405020304" pitchFamily="18" charset="0"/>
                                    </a:rPr>
                                    <m:t>𝑥</m:t>
                                  </m:r>
                                </m:e>
                              </m:d>
                            </m:den>
                          </m:f>
                        </m:e>
                      </m:d>
                      <m:r>
                        <a:rPr lang="en-US" altLang="zh-CN" sz="1400" kern="100">
                          <a:latin typeface="Cambria Math" panose="02040503050406030204" pitchFamily="18" charset="0"/>
                          <a:cs typeface="Times New Roman" panose="02020603050405020304" pitchFamily="18" charset="0"/>
                        </a:rPr>
                        <m:t>=</m:t>
                      </m:r>
                      <m:r>
                        <a:rPr lang="en-US" altLang="zh-CN" sz="1400" i="1" kern="100">
                          <a:latin typeface="Cambria Math" panose="02040503050406030204" pitchFamily="18" charset="0"/>
                          <a:cs typeface="Times New Roman" panose="02020603050405020304" pitchFamily="18" charset="0"/>
                        </a:rPr>
                        <m:t>𝑙𝑛</m:t>
                      </m:r>
                      <m:d>
                        <m:d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400" i="1" kern="100">
                                  <a:latin typeface="Cambria Math" panose="02040503050406030204" pitchFamily="18" charset="0"/>
                                  <a:cs typeface="Times New Roman" panose="02020603050405020304" pitchFamily="18" charset="0"/>
                                </a:rPr>
                                <m:t>𝑃</m:t>
                              </m:r>
                              <m:d>
                                <m:d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cs typeface="Times New Roman" panose="02020603050405020304" pitchFamily="18" charset="0"/>
                                    </a:rPr>
                                    <m:t>𝑦</m:t>
                                  </m:r>
                                  <m:r>
                                    <a:rPr lang="en-US" altLang="zh-CN" sz="1400" kern="100">
                                      <a:latin typeface="Cambria Math" panose="02040503050406030204" pitchFamily="18" charset="0"/>
                                      <a:cs typeface="Times New Roman" panose="02020603050405020304" pitchFamily="18" charset="0"/>
                                    </a:rPr>
                                    <m:t>=1</m:t>
                                  </m:r>
                                </m:e>
                                <m:e>
                                  <m:r>
                                    <a:rPr lang="en-US" altLang="zh-CN" sz="1400" i="1" kern="100">
                                      <a:latin typeface="Cambria Math" panose="02040503050406030204" pitchFamily="18" charset="0"/>
                                      <a:cs typeface="Times New Roman" panose="02020603050405020304" pitchFamily="18" charset="0"/>
                                    </a:rPr>
                                    <m:t>𝑥</m:t>
                                  </m:r>
                                </m:e>
                              </m:d>
                            </m:num>
                            <m:den>
                              <m:r>
                                <a:rPr lang="en-US" altLang="zh-CN" sz="1400" kern="100">
                                  <a:latin typeface="Cambria Math" panose="02040503050406030204" pitchFamily="18" charset="0"/>
                                  <a:cs typeface="Times New Roman" panose="02020603050405020304" pitchFamily="18" charset="0"/>
                                </a:rPr>
                                <m:t>1</m:t>
                              </m:r>
                              <m:r>
                                <a:rPr lang="en-US" altLang="zh-CN" sz="1400" i="1" kern="100">
                                  <a:latin typeface="Cambria Math" panose="02040503050406030204" pitchFamily="18" charset="0"/>
                                  <a:cs typeface="Times New Roman" panose="02020603050405020304" pitchFamily="18" charset="0"/>
                                </a:rPr>
                                <m:t>−</m:t>
                              </m:r>
                              <m:r>
                                <a:rPr lang="en-US" altLang="zh-CN" sz="1400" i="1" kern="100">
                                  <a:latin typeface="Cambria Math" panose="02040503050406030204" pitchFamily="18" charset="0"/>
                                  <a:cs typeface="Times New Roman" panose="02020603050405020304" pitchFamily="18" charset="0"/>
                                </a:rPr>
                                <m:t>𝑃</m:t>
                              </m:r>
                              <m:d>
                                <m:d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cs typeface="Times New Roman" panose="02020603050405020304" pitchFamily="18" charset="0"/>
                                    </a:rPr>
                                    <m:t>𝑦</m:t>
                                  </m:r>
                                  <m:r>
                                    <a:rPr lang="en-US" altLang="zh-CN" sz="1400" kern="100">
                                      <a:latin typeface="Cambria Math" panose="02040503050406030204" pitchFamily="18" charset="0"/>
                                      <a:cs typeface="Times New Roman" panose="02020603050405020304" pitchFamily="18" charset="0"/>
                                    </a:rPr>
                                    <m:t>=1</m:t>
                                  </m:r>
                                </m:e>
                                <m:e>
                                  <m:r>
                                    <a:rPr lang="en-US" altLang="zh-CN" sz="1400" i="1" kern="100">
                                      <a:latin typeface="Cambria Math" panose="02040503050406030204" pitchFamily="18" charset="0"/>
                                      <a:cs typeface="Times New Roman" panose="02020603050405020304" pitchFamily="18" charset="0"/>
                                    </a:rPr>
                                    <m:t>𝑥</m:t>
                                  </m:r>
                                </m:e>
                              </m:d>
                            </m:den>
                          </m:f>
                        </m:e>
                      </m:d>
                      <m:r>
                        <a:rPr lang="en-US" altLang="zh-CN" sz="1400" kern="100">
                          <a:latin typeface="Cambria Math" panose="02040503050406030204" pitchFamily="18" charset="0"/>
                          <a:cs typeface="Times New Roman" panose="02020603050405020304" pitchFamily="18" charset="0"/>
                        </a:rPr>
                        <m:t>=</m:t>
                      </m:r>
                      <m:sSub>
                        <m:sSub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cs typeface="Times New Roman" panose="02020603050405020304" pitchFamily="18" charset="0"/>
                            </a:rPr>
                            <m:t>𝜃</m:t>
                          </m:r>
                        </m:e>
                        <m:sub>
                          <m:r>
                            <a:rPr lang="en-US" altLang="zh-CN" sz="1400" kern="100">
                              <a:latin typeface="Cambria Math" panose="02040503050406030204" pitchFamily="18" charset="0"/>
                              <a:cs typeface="Times New Roman" panose="02020603050405020304" pitchFamily="18" charset="0"/>
                            </a:rPr>
                            <m:t>0</m:t>
                          </m:r>
                        </m:sub>
                      </m:sSub>
                      <m:r>
                        <a:rPr lang="en-US" altLang="zh-CN" sz="1400" kern="100">
                          <a:latin typeface="Cambria Math" panose="02040503050406030204" pitchFamily="18" charset="0"/>
                          <a:cs typeface="Times New Roman" panose="02020603050405020304" pitchFamily="18" charset="0"/>
                        </a:rPr>
                        <m:t>+</m:t>
                      </m:r>
                      <m:sSub>
                        <m:sSub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cs typeface="Times New Roman" panose="02020603050405020304" pitchFamily="18" charset="0"/>
                            </a:rPr>
                            <m:t>𝜃</m:t>
                          </m:r>
                        </m:e>
                        <m:sub>
                          <m:r>
                            <a:rPr lang="en-US" altLang="zh-CN" sz="1400" kern="100">
                              <a:latin typeface="Cambria Math" panose="02040503050406030204" pitchFamily="18" charset="0"/>
                              <a:cs typeface="Times New Roman" panose="02020603050405020304" pitchFamily="18" charset="0"/>
                            </a:rPr>
                            <m:t>1</m:t>
                          </m:r>
                        </m:sub>
                      </m:sSub>
                      <m:sSup>
                        <m:sSup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latin typeface="Cambria Math" panose="02040503050406030204" pitchFamily="18" charset="0"/>
                              <a:cs typeface="Times New Roman" panose="02020603050405020304" pitchFamily="18" charset="0"/>
                            </a:rPr>
                            <m:t>𝑥</m:t>
                          </m:r>
                        </m:e>
                        <m:sup>
                          <m:d>
                            <m:d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kern="100">
                                  <a:latin typeface="Cambria Math" panose="02040503050406030204" pitchFamily="18" charset="0"/>
                                  <a:cs typeface="Times New Roman" panose="02020603050405020304" pitchFamily="18" charset="0"/>
                                </a:rPr>
                                <m:t>1</m:t>
                              </m:r>
                            </m:e>
                          </m:d>
                        </m:sup>
                      </m:sSup>
                      <m:r>
                        <a:rPr lang="en-US" altLang="zh-CN" sz="1400" kern="100">
                          <a:latin typeface="Cambria Math" panose="02040503050406030204" pitchFamily="18" charset="0"/>
                          <a:cs typeface="Times New Roman" panose="02020603050405020304" pitchFamily="18" charset="0"/>
                        </a:rPr>
                        <m:t>+…+</m:t>
                      </m:r>
                      <m:sSub>
                        <m:sSub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cs typeface="Times New Roman" panose="02020603050405020304" pitchFamily="18" charset="0"/>
                            </a:rPr>
                            <m:t>𝜃</m:t>
                          </m:r>
                        </m:e>
                        <m:sub>
                          <m:r>
                            <a:rPr lang="en-US" altLang="zh-CN" sz="1400" i="1" kern="100">
                              <a:latin typeface="Cambria Math" panose="02040503050406030204" pitchFamily="18" charset="0"/>
                              <a:cs typeface="Times New Roman" panose="02020603050405020304" pitchFamily="18" charset="0"/>
                            </a:rPr>
                            <m:t>𝑘</m:t>
                          </m:r>
                        </m:sub>
                      </m:sSub>
                      <m:sSup>
                        <m:sSup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latin typeface="Cambria Math" panose="02040503050406030204" pitchFamily="18" charset="0"/>
                              <a:cs typeface="Times New Roman" panose="02020603050405020304" pitchFamily="18" charset="0"/>
                            </a:rPr>
                            <m:t>𝑥</m:t>
                          </m:r>
                        </m:e>
                        <m:sup>
                          <m:r>
                            <a:rPr lang="en-US" altLang="zh-CN" sz="1400" kern="100">
                              <a:latin typeface="Cambria Math" panose="02040503050406030204" pitchFamily="18" charset="0"/>
                              <a:cs typeface="Times New Roman" panose="02020603050405020304" pitchFamily="18" charset="0"/>
                            </a:rPr>
                            <m:t>(</m:t>
                          </m:r>
                          <m:r>
                            <a:rPr lang="en-US" altLang="zh-CN" sz="1400" i="1" kern="100">
                              <a:latin typeface="Cambria Math" panose="02040503050406030204" pitchFamily="18" charset="0"/>
                              <a:cs typeface="Times New Roman" panose="02020603050405020304" pitchFamily="18" charset="0"/>
                            </a:rPr>
                            <m:t>𝑘</m:t>
                          </m:r>
                          <m:r>
                            <a:rPr lang="en-US" altLang="zh-CN" sz="1400" kern="100">
                              <a:latin typeface="Cambria Math" panose="02040503050406030204" pitchFamily="18" charset="0"/>
                              <a:cs typeface="Times New Roman" panose="02020603050405020304" pitchFamily="18" charset="0"/>
                            </a:rPr>
                            <m:t>)</m:t>
                          </m:r>
                        </m:sup>
                      </m:sSup>
                      <m:r>
                        <a:rPr lang="en-US" altLang="zh-CN" sz="1400" kern="100">
                          <a:latin typeface="Cambria Math" panose="02040503050406030204" pitchFamily="18" charset="0"/>
                          <a:cs typeface="Times New Roman" panose="02020603050405020304" pitchFamily="18" charset="0"/>
                        </a:rPr>
                        <m:t>=</m:t>
                      </m:r>
                      <m:sSup>
                        <m:sSup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latin typeface="Cambria Math" panose="02040503050406030204" pitchFamily="18" charset="0"/>
                              <a:cs typeface="Times New Roman" panose="02020603050405020304" pitchFamily="18" charset="0"/>
                            </a:rPr>
                            <m:t>𝜃</m:t>
                          </m:r>
                        </m:e>
                        <m:sup>
                          <m:r>
                            <a:rPr lang="en-US" altLang="zh-CN" sz="1400" i="1" kern="100">
                              <a:latin typeface="Cambria Math" panose="02040503050406030204" pitchFamily="18" charset="0"/>
                              <a:cs typeface="Times New Roman" panose="02020603050405020304" pitchFamily="18" charset="0"/>
                            </a:rPr>
                            <m:t>𝑇</m:t>
                          </m:r>
                        </m:sup>
                      </m:sSup>
                      <m:r>
                        <a:rPr lang="en-US" altLang="zh-CN" sz="1400" i="1" kern="100">
                          <a:latin typeface="Cambria Math" panose="02040503050406030204" pitchFamily="18" charset="0"/>
                          <a:cs typeface="Times New Roman" panose="02020603050405020304" pitchFamily="18" charset="0"/>
                        </a:rPr>
                        <m:t>𝑋</m:t>
                      </m:r>
                    </m:oMath>
                  </m:oMathPara>
                </a14:m>
                <a:endParaRPr lang="zh-CN" altLang="zh-CN" sz="1400" kern="100">
                  <a:latin typeface="等线" panose="02010600030101010101" pitchFamily="2" charset="-122"/>
                  <a:cs typeface="Times New Roman" panose="02020603050405020304" pitchFamily="18" charset="0"/>
                </a:endParaRPr>
              </a:p>
              <a:p>
                <a:pPr indent="266700" algn="just">
                  <a:lnSpc>
                    <a:spcPct val="120000"/>
                  </a:lnSpc>
                  <a:spcAft>
                    <a:spcPts val="0"/>
                  </a:spcAft>
                </a:pPr>
                <a14:m>
                  <m:oMathPara xmlns:m="http://schemas.openxmlformats.org/officeDocument/2006/math">
                    <m:oMathParaPr>
                      <m:jc m:val="centerGroup"/>
                    </m:oMathParaPr>
                    <m:oMath xmlns:m="http://schemas.openxmlformats.org/officeDocument/2006/math">
                      <m:r>
                        <a:rPr lang="zh-CN" altLang="zh-CN" sz="1400" kern="100">
                          <a:latin typeface="Cambria Math" panose="02040503050406030204" pitchFamily="18" charset="0"/>
                          <a:cs typeface="Times New Roman" panose="02020603050405020304" pitchFamily="18" charset="0"/>
                        </a:rPr>
                        <m:t>其中：</m:t>
                      </m:r>
                      <m:r>
                        <a:rPr lang="en-US" altLang="zh-CN" sz="1400" i="1" kern="100">
                          <a:latin typeface="Cambria Math" panose="02040503050406030204" pitchFamily="18" charset="0"/>
                          <a:cs typeface="Times New Roman" panose="02020603050405020304" pitchFamily="18" charset="0"/>
                        </a:rPr>
                        <m:t>𝜃</m:t>
                      </m:r>
                      <m:r>
                        <a:rPr lang="en-US" altLang="zh-CN" sz="1400" kern="100">
                          <a:latin typeface="Cambria Math" panose="02040503050406030204" pitchFamily="18" charset="0"/>
                          <a:cs typeface="Times New Roman" panose="02020603050405020304" pitchFamily="18" charset="0"/>
                        </a:rPr>
                        <m:t>=</m:t>
                      </m:r>
                      <m:d>
                        <m:d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1"/>
                                    <m:mcJc m:val="center"/>
                                  </m:mcPr>
                                </m:mc>
                              </m:mcs>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mPr>
                            <m:mr>
                              <m:e>
                                <m:sSub>
                                  <m:sSub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cs typeface="Times New Roman" panose="02020603050405020304" pitchFamily="18" charset="0"/>
                                      </a:rPr>
                                      <m:t>𝜃</m:t>
                                    </m:r>
                                  </m:e>
                                  <m:sub>
                                    <m:r>
                                      <a:rPr lang="en-US" altLang="zh-CN" sz="1400" kern="100">
                                        <a:latin typeface="Cambria Math" panose="02040503050406030204" pitchFamily="18" charset="0"/>
                                        <a:cs typeface="Times New Roman" panose="02020603050405020304" pitchFamily="18" charset="0"/>
                                      </a:rPr>
                                      <m:t>0</m:t>
                                    </m:r>
                                  </m:sub>
                                </m:sSub>
                              </m:e>
                            </m:mr>
                            <m:mr>
                              <m:e>
                                <m:eqArr>
                                  <m:eqArr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eqArrPr>
                                  <m:e>
                                    <m:sSub>
                                      <m:sSub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cs typeface="Times New Roman" panose="02020603050405020304" pitchFamily="18" charset="0"/>
                                          </a:rPr>
                                          <m:t>𝜃</m:t>
                                        </m:r>
                                      </m:e>
                                      <m:sub>
                                        <m:r>
                                          <a:rPr lang="en-US" altLang="zh-CN" sz="1400" kern="100">
                                            <a:latin typeface="Cambria Math" panose="02040503050406030204" pitchFamily="18" charset="0"/>
                                            <a:cs typeface="Times New Roman" panose="02020603050405020304" pitchFamily="18" charset="0"/>
                                          </a:rPr>
                                          <m:t>1</m:t>
                                        </m:r>
                                      </m:sub>
                                    </m:sSub>
                                  </m:e>
                                  <m:e>
                                    <m:r>
                                      <a:rPr lang="en-US" altLang="zh-CN" sz="1400" kern="100">
                                        <a:latin typeface="Cambria Math" panose="02040503050406030204" pitchFamily="18" charset="0"/>
                                        <a:cs typeface="Times New Roman" panose="02020603050405020304" pitchFamily="18" charset="0"/>
                                      </a:rPr>
                                      <m:t>⋮</m:t>
                                    </m:r>
                                  </m:e>
                                </m:eqArr>
                              </m:e>
                            </m:mr>
                            <m:mr>
                              <m:e>
                                <m:sSub>
                                  <m:sSub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cs typeface="Times New Roman" panose="02020603050405020304" pitchFamily="18" charset="0"/>
                                      </a:rPr>
                                      <m:t>𝜃</m:t>
                                    </m:r>
                                  </m:e>
                                  <m:sub>
                                    <m:r>
                                      <a:rPr lang="en-US" altLang="zh-CN" sz="1400" i="1" kern="100">
                                        <a:latin typeface="Cambria Math" panose="02040503050406030204" pitchFamily="18" charset="0"/>
                                        <a:cs typeface="Times New Roman" panose="02020603050405020304" pitchFamily="18" charset="0"/>
                                      </a:rPr>
                                      <m:t>𝑘</m:t>
                                    </m:r>
                                  </m:sub>
                                </m:sSub>
                              </m:e>
                            </m:mr>
                          </m:m>
                        </m:e>
                      </m:d>
                      <m:r>
                        <a:rPr lang="en-US" altLang="zh-CN" sz="1400" kern="100">
                          <a:latin typeface="Cambria Math" panose="02040503050406030204" pitchFamily="18" charset="0"/>
                          <a:cs typeface="Times New Roman" panose="02020603050405020304" pitchFamily="18" charset="0"/>
                        </a:rPr>
                        <m:t>,</m:t>
                      </m:r>
                      <m:r>
                        <a:rPr lang="en-US" altLang="zh-CN" sz="1400" i="1" kern="100">
                          <a:latin typeface="Cambria Math" panose="02040503050406030204" pitchFamily="18" charset="0"/>
                          <a:cs typeface="Times New Roman" panose="02020603050405020304" pitchFamily="18" charset="0"/>
                        </a:rPr>
                        <m:t>  </m:t>
                      </m:r>
                      <m:r>
                        <a:rPr lang="en-US" altLang="zh-CN" sz="1400" i="1" kern="100">
                          <a:latin typeface="Cambria Math" panose="02040503050406030204" pitchFamily="18" charset="0"/>
                          <a:cs typeface="Times New Roman" panose="02020603050405020304" pitchFamily="18" charset="0"/>
                        </a:rPr>
                        <m:t>𝑋</m:t>
                      </m:r>
                      <m:r>
                        <a:rPr lang="en-US" altLang="zh-CN" sz="1400" kern="100">
                          <a:latin typeface="Cambria Math" panose="02040503050406030204" pitchFamily="18" charset="0"/>
                          <a:cs typeface="Times New Roman" panose="02020603050405020304" pitchFamily="18" charset="0"/>
                        </a:rPr>
                        <m:t>=</m:t>
                      </m:r>
                      <m:d>
                        <m:d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1"/>
                                    <m:mcJc m:val="center"/>
                                  </m:mcPr>
                                </m:mc>
                              </m:mcs>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1400" kern="100">
                                    <a:latin typeface="Cambria Math" panose="02040503050406030204" pitchFamily="18" charset="0"/>
                                    <a:cs typeface="Times New Roman" panose="02020603050405020304" pitchFamily="18" charset="0"/>
                                  </a:rPr>
                                  <m:t>1</m:t>
                                </m:r>
                              </m:e>
                            </m:mr>
                            <m:mr>
                              <m:e>
                                <m:sSup>
                                  <m:sSup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latin typeface="Cambria Math" panose="02040503050406030204" pitchFamily="18" charset="0"/>
                                        <a:cs typeface="Times New Roman" panose="02020603050405020304" pitchFamily="18" charset="0"/>
                                      </a:rPr>
                                      <m:t>𝑥</m:t>
                                    </m:r>
                                  </m:e>
                                  <m:sup>
                                    <m:d>
                                      <m:d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kern="100">
                                            <a:latin typeface="Cambria Math" panose="02040503050406030204" pitchFamily="18" charset="0"/>
                                            <a:cs typeface="Times New Roman" panose="02020603050405020304" pitchFamily="18" charset="0"/>
                                          </a:rPr>
                                          <m:t>1</m:t>
                                        </m:r>
                                      </m:e>
                                    </m:d>
                                  </m:sup>
                                </m:sSup>
                              </m:e>
                            </m:mr>
                            <m:mr>
                              <m:e>
                                <m:eqArr>
                                  <m:eqArr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sz="1400" kern="100">
                                        <a:latin typeface="Cambria Math" panose="02040503050406030204" pitchFamily="18" charset="0"/>
                                        <a:cs typeface="Times New Roman" panose="02020603050405020304" pitchFamily="18" charset="0"/>
                                      </a:rPr>
                                      <m:t>⋮</m:t>
                                    </m:r>
                                  </m:e>
                                  <m:e>
                                    <m:sSup>
                                      <m:sSup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latin typeface="Cambria Math" panose="02040503050406030204" pitchFamily="18" charset="0"/>
                                            <a:cs typeface="Times New Roman" panose="02020603050405020304" pitchFamily="18" charset="0"/>
                                          </a:rPr>
                                          <m:t>𝑥</m:t>
                                        </m:r>
                                      </m:e>
                                      <m:sup>
                                        <m:r>
                                          <a:rPr lang="en-US" altLang="zh-CN" sz="1400" kern="100">
                                            <a:latin typeface="Cambria Math" panose="02040503050406030204" pitchFamily="18" charset="0"/>
                                            <a:cs typeface="Times New Roman" panose="02020603050405020304" pitchFamily="18" charset="0"/>
                                          </a:rPr>
                                          <m:t>(</m:t>
                                        </m:r>
                                        <m:r>
                                          <a:rPr lang="en-US" altLang="zh-CN" sz="1400" i="1" kern="100">
                                            <a:latin typeface="Cambria Math" panose="02040503050406030204" pitchFamily="18" charset="0"/>
                                            <a:cs typeface="Times New Roman" panose="02020603050405020304" pitchFamily="18" charset="0"/>
                                          </a:rPr>
                                          <m:t>𝑘</m:t>
                                        </m:r>
                                        <m:r>
                                          <a:rPr lang="en-US" altLang="zh-CN" sz="1400" kern="100">
                                            <a:latin typeface="Cambria Math" panose="02040503050406030204" pitchFamily="18" charset="0"/>
                                            <a:cs typeface="Times New Roman" panose="02020603050405020304" pitchFamily="18" charset="0"/>
                                          </a:rPr>
                                          <m:t>)</m:t>
                                        </m:r>
                                      </m:sup>
                                    </m:sSup>
                                  </m:e>
                                </m:eqArr>
                              </m:e>
                            </m:mr>
                          </m:m>
                        </m:e>
                      </m:d>
                    </m:oMath>
                  </m:oMathPara>
                </a14:m>
                <a:endParaRPr lang="zh-CN" altLang="zh-CN" sz="1400" kern="100">
                  <a:latin typeface="等线" panose="02010600030101010101" pitchFamily="2" charset="-12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65A61395-ED98-4807-89D1-2D1D753A3C77}"/>
                  </a:ext>
                </a:extLst>
              </p:cNvPr>
              <p:cNvSpPr>
                <a:spLocks noRot="1" noChangeAspect="1" noMove="1" noResize="1" noEditPoints="1" noAdjustHandles="1" noChangeArrowheads="1" noChangeShapeType="1" noTextEdit="1"/>
              </p:cNvSpPr>
              <p:nvPr/>
            </p:nvSpPr>
            <p:spPr>
              <a:xfrm>
                <a:off x="612775" y="1062554"/>
                <a:ext cx="7629525" cy="2287101"/>
              </a:xfrm>
              <a:prstGeom prst="rect">
                <a:avLst/>
              </a:prstGeom>
              <a:blipFill>
                <a:blip r:embed="rId3"/>
                <a:stretch>
                  <a:fillRect l="-240" r="-2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4FC2F982-7F5A-41BA-8984-E8DFE2426A07}"/>
                  </a:ext>
                </a:extLst>
              </p:cNvPr>
              <p:cNvSpPr/>
              <p:nvPr/>
            </p:nvSpPr>
            <p:spPr>
              <a:xfrm>
                <a:off x="520700" y="3471548"/>
                <a:ext cx="7905750" cy="1218795"/>
              </a:xfrm>
              <a:prstGeom prst="rect">
                <a:avLst/>
              </a:prstGeom>
            </p:spPr>
            <p:txBody>
              <a:bodyPr wrap="square">
                <a:spAutoFit/>
              </a:bodyPr>
              <a:lstStyle/>
              <a:p>
                <a:pPr indent="266700" algn="just">
                  <a:lnSpc>
                    <a:spcPct val="120000"/>
                  </a:lnSpc>
                  <a:spcAft>
                    <a:spcPts val="0"/>
                  </a:spcAft>
                </a:pPr>
                <a:r>
                  <a:rPr lang="zh-CN" altLang="zh-CN" sz="1400" b="1" kern="100">
                    <a:latin typeface="等线" panose="02010600030101010101" pitchFamily="2" charset="-122"/>
                    <a:cs typeface="Times New Roman" panose="02020603050405020304" pitchFamily="18" charset="0"/>
                  </a:rPr>
                  <a:t>最大似然法</a:t>
                </a:r>
                <a:r>
                  <a:rPr lang="zh-CN" altLang="zh-CN" sz="1400" kern="100">
                    <a:latin typeface="等线" panose="02010600030101010101" pitchFamily="2" charset="-122"/>
                    <a:cs typeface="Times New Roman" panose="02020603050405020304" pitchFamily="18" charset="0"/>
                  </a:rPr>
                  <a:t>可以用于求模型的最优参数，即求使得似然函数最大的系数取值</a:t>
                </a:r>
                <a14:m>
                  <m:oMath xmlns:m="http://schemas.openxmlformats.org/officeDocument/2006/math">
                    <m:sSup>
                      <m:sSup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latin typeface="Cambria Math" panose="02040503050406030204" pitchFamily="18" charset="0"/>
                            <a:cs typeface="Times New Roman" panose="02020603050405020304" pitchFamily="18" charset="0"/>
                          </a:rPr>
                          <m:t>𝜃</m:t>
                        </m:r>
                      </m:e>
                      <m:sup>
                        <m:r>
                          <a:rPr lang="zh-CN" altLang="en-US" sz="1400" i="1" kern="100">
                            <a:effectLst/>
                            <a:latin typeface="Cambria Math" panose="02040503050406030204" pitchFamily="18" charset="0"/>
                            <a:ea typeface="MS Gothic" panose="020B0609070205080204" pitchFamily="49" charset="-128"/>
                            <a:cs typeface="MS Gothic" panose="020B0609070205080204" pitchFamily="49" charset="-128"/>
                          </a:rPr>
                          <m:t>∗</m:t>
                        </m:r>
                      </m:sup>
                    </m:sSup>
                  </m:oMath>
                </a14:m>
                <a:r>
                  <a:rPr lang="zh-CN" altLang="zh-CN" sz="1400" kern="100">
                    <a:latin typeface="等线" panose="02010600030101010101" pitchFamily="2" charset="-122"/>
                    <a:cs typeface="Times New Roman" panose="02020603050405020304" pitchFamily="18" charset="0"/>
                  </a:rPr>
                  <a:t>，代价函数为：</a:t>
                </a:r>
              </a:p>
              <a:p>
                <a:pPr indent="266700" algn="just">
                  <a:lnSpc>
                    <a:spcPct val="120000"/>
                  </a:lnSpc>
                  <a:spcAft>
                    <a:spcPts val="0"/>
                  </a:spcAft>
                </a:pPr>
                <a14:m>
                  <m:oMathPara xmlns:m="http://schemas.openxmlformats.org/officeDocument/2006/math">
                    <m:oMathParaPr>
                      <m:jc m:val="centerGroup"/>
                    </m:oMathParaPr>
                    <m:oMath xmlns:m="http://schemas.openxmlformats.org/officeDocument/2006/math">
                      <m:r>
                        <m:rPr>
                          <m:sty m:val="p"/>
                        </m:rPr>
                        <a:rPr lang="en-US" altLang="zh-CN" sz="1400" kern="100">
                          <a:latin typeface="Cambria Math" panose="02040503050406030204" pitchFamily="18" charset="0"/>
                          <a:cs typeface="Times New Roman" panose="02020603050405020304" pitchFamily="18" charset="0"/>
                        </a:rPr>
                        <m:t>log</m:t>
                      </m:r>
                      <m:r>
                        <a:rPr lang="en-US" altLang="zh-CN" sz="1400" i="1" kern="100">
                          <a:latin typeface="Cambria Math" panose="02040503050406030204" pitchFamily="18" charset="0"/>
                          <a:cs typeface="Times New Roman" panose="02020603050405020304" pitchFamily="18" charset="0"/>
                        </a:rPr>
                        <m:t>𝐿</m:t>
                      </m:r>
                      <m:d>
                        <m:d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cs typeface="Times New Roman" panose="02020603050405020304" pitchFamily="18" charset="0"/>
                            </a:rPr>
                            <m:t>𝜃</m:t>
                          </m:r>
                        </m:e>
                      </m:d>
                      <m:r>
                        <a:rPr lang="en-US" altLang="zh-CN" sz="1400" kern="100">
                          <a:latin typeface="Cambria Math" panose="02040503050406030204" pitchFamily="18" charset="0"/>
                          <a:cs typeface="Times New Roman" panose="02020603050405020304" pitchFamily="18" charset="0"/>
                        </a:rPr>
                        <m:t>=</m:t>
                      </m:r>
                      <m:nary>
                        <m:naryPr>
                          <m:chr m:val="∑"/>
                          <m:subHide m:val="on"/>
                          <m:supHide m:val="on"/>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sup/>
                        <m:e>
                          <m:d>
                            <m:dPr>
                              <m:begChr m:val="["/>
                              <m:endChr m:val="]"/>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cs typeface="Times New Roman" panose="02020603050405020304" pitchFamily="18" charset="0"/>
                                    </a:rPr>
                                    <m:t>𝑦</m:t>
                                  </m:r>
                                </m:e>
                                <m:sub>
                                  <m:r>
                                    <a:rPr lang="en-US" altLang="zh-CN" sz="1400" i="1" kern="100">
                                      <a:latin typeface="Cambria Math" panose="02040503050406030204" pitchFamily="18" charset="0"/>
                                      <a:cs typeface="Times New Roman" panose="02020603050405020304" pitchFamily="18" charset="0"/>
                                    </a:rPr>
                                    <m:t>𝑖</m:t>
                                  </m:r>
                                </m:sub>
                              </m:sSub>
                              <m:r>
                                <a:rPr lang="en-US" altLang="zh-CN" sz="1400" i="1" kern="100">
                                  <a:latin typeface="Cambria Math" panose="02040503050406030204" pitchFamily="18" charset="0"/>
                                  <a:cs typeface="Times New Roman" panose="02020603050405020304" pitchFamily="18" charset="0"/>
                                </a:rPr>
                                <m:t>𝑙𝑜𝑔𝑃</m:t>
                              </m:r>
                              <m:d>
                                <m:d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cs typeface="Times New Roman" panose="02020603050405020304" pitchFamily="18" charset="0"/>
                                        </a:rPr>
                                        <m:t>𝑦</m:t>
                                      </m:r>
                                    </m:e>
                                    <m:sub>
                                      <m:r>
                                        <a:rPr lang="en-US" altLang="zh-CN" sz="1400" i="1" kern="100">
                                          <a:latin typeface="Cambria Math" panose="02040503050406030204" pitchFamily="18" charset="0"/>
                                          <a:cs typeface="Times New Roman" panose="02020603050405020304" pitchFamily="18" charset="0"/>
                                        </a:rPr>
                                        <m:t>𝑖</m:t>
                                      </m:r>
                                    </m:sub>
                                  </m:sSub>
                                  <m:r>
                                    <a:rPr lang="en-US" altLang="zh-CN" sz="1400" kern="100">
                                      <a:latin typeface="Cambria Math" panose="02040503050406030204" pitchFamily="18" charset="0"/>
                                      <a:cs typeface="Times New Roman" panose="02020603050405020304" pitchFamily="18" charset="0"/>
                                    </a:rPr>
                                    <m:t>=1</m:t>
                                  </m:r>
                                </m:e>
                                <m:e>
                                  <m:sSub>
                                    <m:sSub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cs typeface="Times New Roman" panose="02020603050405020304" pitchFamily="18" charset="0"/>
                                        </a:rPr>
                                        <m:t>𝑥</m:t>
                                      </m:r>
                                    </m:e>
                                    <m:sub>
                                      <m:r>
                                        <a:rPr lang="en-US" altLang="zh-CN" sz="1400" i="1" kern="100">
                                          <a:latin typeface="Cambria Math" panose="02040503050406030204" pitchFamily="18" charset="0"/>
                                          <a:cs typeface="Times New Roman" panose="02020603050405020304" pitchFamily="18" charset="0"/>
                                        </a:rPr>
                                        <m:t>𝑖</m:t>
                                      </m:r>
                                    </m:sub>
                                  </m:sSub>
                                </m:e>
                              </m:d>
                              <m:r>
                                <a:rPr lang="en-US" altLang="zh-CN" sz="1400" kern="100">
                                  <a:latin typeface="Cambria Math" panose="02040503050406030204" pitchFamily="18" charset="0"/>
                                  <a:cs typeface="Times New Roman" panose="02020603050405020304" pitchFamily="18" charset="0"/>
                                </a:rPr>
                                <m:t>+</m:t>
                              </m:r>
                              <m:d>
                                <m:d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kern="100">
                                      <a:latin typeface="Cambria Math" panose="02040503050406030204" pitchFamily="18" charset="0"/>
                                      <a:cs typeface="Times New Roman" panose="02020603050405020304" pitchFamily="18" charset="0"/>
                                    </a:rPr>
                                    <m:t>1</m:t>
                                  </m:r>
                                  <m:r>
                                    <a:rPr lang="en-US" altLang="zh-CN" sz="1400" i="1" kern="100">
                                      <a:latin typeface="Cambria Math" panose="02040503050406030204" pitchFamily="18" charset="0"/>
                                      <a:cs typeface="Times New Roman" panose="02020603050405020304" pitchFamily="18" charset="0"/>
                                    </a:rPr>
                                    <m:t>−</m:t>
                                  </m:r>
                                  <m:sSub>
                                    <m:sSub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cs typeface="Times New Roman" panose="02020603050405020304" pitchFamily="18" charset="0"/>
                                        </a:rPr>
                                        <m:t>𝑦</m:t>
                                      </m:r>
                                    </m:e>
                                    <m:sub>
                                      <m:r>
                                        <a:rPr lang="en-US" altLang="zh-CN" sz="1400" i="1" kern="100">
                                          <a:latin typeface="Cambria Math" panose="02040503050406030204" pitchFamily="18" charset="0"/>
                                          <a:cs typeface="Times New Roman" panose="02020603050405020304" pitchFamily="18" charset="0"/>
                                        </a:rPr>
                                        <m:t>𝑖</m:t>
                                      </m:r>
                                    </m:sub>
                                  </m:sSub>
                                </m:e>
                              </m:d>
                              <m:r>
                                <a:rPr lang="en-US" altLang="zh-CN" sz="1400" i="1" kern="100">
                                  <a:latin typeface="Cambria Math" panose="02040503050406030204" pitchFamily="18" charset="0"/>
                                  <a:cs typeface="Times New Roman" panose="02020603050405020304" pitchFamily="18" charset="0"/>
                                </a:rPr>
                                <m:t>𝑙𝑜𝑔</m:t>
                              </m:r>
                              <m:r>
                                <a:rPr lang="en-US" altLang="zh-CN" sz="1400" i="1" kern="100">
                                  <a:latin typeface="Cambria Math" panose="02040503050406030204" pitchFamily="18" charset="0"/>
                                  <a:cs typeface="Times New Roman" panose="02020603050405020304" pitchFamily="18" charset="0"/>
                                </a:rPr>
                                <m:t> </m:t>
                              </m:r>
                              <m:r>
                                <a:rPr lang="en-US" altLang="zh-CN" sz="1400" kern="100">
                                  <a:latin typeface="Cambria Math" panose="02040503050406030204" pitchFamily="18" charset="0"/>
                                  <a:cs typeface="Times New Roman" panose="02020603050405020304" pitchFamily="18" charset="0"/>
                                </a:rPr>
                                <m:t>(1</m:t>
                              </m:r>
                              <m:r>
                                <a:rPr lang="en-US" altLang="zh-CN" sz="1400" i="1" kern="100">
                                  <a:latin typeface="Cambria Math" panose="02040503050406030204" pitchFamily="18" charset="0"/>
                                  <a:cs typeface="Times New Roman" panose="02020603050405020304" pitchFamily="18" charset="0"/>
                                </a:rPr>
                                <m:t>−</m:t>
                              </m:r>
                              <m:r>
                                <a:rPr lang="en-US" altLang="zh-CN" sz="1400" i="1" kern="100">
                                  <a:latin typeface="Cambria Math" panose="02040503050406030204" pitchFamily="18" charset="0"/>
                                  <a:cs typeface="Times New Roman" panose="02020603050405020304" pitchFamily="18" charset="0"/>
                                </a:rPr>
                                <m:t>𝑃</m:t>
                              </m:r>
                              <m:d>
                                <m:d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cs typeface="Times New Roman" panose="02020603050405020304" pitchFamily="18" charset="0"/>
                                        </a:rPr>
                                        <m:t>𝑦</m:t>
                                      </m:r>
                                    </m:e>
                                    <m:sub>
                                      <m:r>
                                        <a:rPr lang="en-US" altLang="zh-CN" sz="1400" i="1" kern="100">
                                          <a:latin typeface="Cambria Math" panose="02040503050406030204" pitchFamily="18" charset="0"/>
                                          <a:cs typeface="Times New Roman" panose="02020603050405020304" pitchFamily="18" charset="0"/>
                                        </a:rPr>
                                        <m:t>𝑖</m:t>
                                      </m:r>
                                    </m:sub>
                                  </m:sSub>
                                  <m:r>
                                    <a:rPr lang="en-US" altLang="zh-CN" sz="1400" kern="100">
                                      <a:latin typeface="Cambria Math" panose="02040503050406030204" pitchFamily="18" charset="0"/>
                                      <a:cs typeface="Times New Roman" panose="02020603050405020304" pitchFamily="18" charset="0"/>
                                    </a:rPr>
                                    <m:t>=1|</m:t>
                                  </m:r>
                                  <m:sSub>
                                    <m:sSub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cs typeface="Times New Roman" panose="02020603050405020304" pitchFamily="18" charset="0"/>
                                        </a:rPr>
                                        <m:t>𝑥</m:t>
                                      </m:r>
                                    </m:e>
                                    <m:sub>
                                      <m:r>
                                        <a:rPr lang="en-US" altLang="zh-CN" sz="1400" i="1" kern="100">
                                          <a:latin typeface="Cambria Math" panose="02040503050406030204" pitchFamily="18" charset="0"/>
                                          <a:cs typeface="Times New Roman" panose="02020603050405020304" pitchFamily="18" charset="0"/>
                                        </a:rPr>
                                        <m:t>𝑖</m:t>
                                      </m:r>
                                    </m:sub>
                                  </m:sSub>
                                </m:e>
                              </m:d>
                              <m:r>
                                <a:rPr lang="en-US" altLang="zh-CN" sz="1400" kern="100">
                                  <a:latin typeface="Cambria Math" panose="02040503050406030204" pitchFamily="18" charset="0"/>
                                  <a:cs typeface="Times New Roman" panose="02020603050405020304" pitchFamily="18" charset="0"/>
                                </a:rPr>
                                <m:t>)</m:t>
                              </m:r>
                            </m:e>
                          </m:d>
                        </m:e>
                      </m:nary>
                    </m:oMath>
                  </m:oMathPara>
                </a14:m>
                <a:endParaRPr lang="zh-CN" altLang="zh-CN" sz="1400" kern="100">
                  <a:latin typeface="等线" panose="02010600030101010101" pitchFamily="2" charset="-122"/>
                  <a:cs typeface="Times New Roman" panose="02020603050405020304" pitchFamily="18" charset="0"/>
                </a:endParaRPr>
              </a:p>
              <a:p>
                <a:pPr indent="266700" algn="just">
                  <a:lnSpc>
                    <a:spcPct val="120000"/>
                  </a:lnSpc>
                  <a:spcAft>
                    <a:spcPts val="0"/>
                  </a:spcAft>
                </a:pPr>
                <a:r>
                  <a:rPr lang="zh-CN" altLang="zh-CN" sz="1400" kern="100">
                    <a:latin typeface="等线" panose="02010600030101010101" pitchFamily="2" charset="-122"/>
                    <a:cs typeface="Times New Roman" panose="02020603050405020304" pitchFamily="18" charset="0"/>
                  </a:rPr>
                  <a:t>接着可以用某种优化方法（如梯度下降法）求解函数的最优解。</a:t>
                </a:r>
              </a:p>
            </p:txBody>
          </p:sp>
        </mc:Choice>
        <mc:Fallback xmlns="">
          <p:sp>
            <p:nvSpPr>
              <p:cNvPr id="3" name="矩形 2">
                <a:extLst>
                  <a:ext uri="{FF2B5EF4-FFF2-40B4-BE49-F238E27FC236}">
                    <a16:creationId xmlns:a16="http://schemas.microsoft.com/office/drawing/2014/main" id="{4FC2F982-7F5A-41BA-8984-E8DFE2426A07}"/>
                  </a:ext>
                </a:extLst>
              </p:cNvPr>
              <p:cNvSpPr>
                <a:spLocks noRot="1" noChangeAspect="1" noMove="1" noResize="1" noEditPoints="1" noAdjustHandles="1" noChangeArrowheads="1" noChangeShapeType="1" noTextEdit="1"/>
              </p:cNvSpPr>
              <p:nvPr/>
            </p:nvSpPr>
            <p:spPr>
              <a:xfrm>
                <a:off x="520700" y="3471548"/>
                <a:ext cx="7905750" cy="1218795"/>
              </a:xfrm>
              <a:prstGeom prst="rect">
                <a:avLst/>
              </a:prstGeom>
              <a:blipFill>
                <a:blip r:embed="rId4"/>
                <a:stretch>
                  <a:fillRect b="-4500"/>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5405" y="239395"/>
            <a:ext cx="4646930" cy="52197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8.3.1逻辑回归</a:t>
            </a:r>
          </a:p>
        </p:txBody>
      </p:sp>
      <p:sp>
        <p:nvSpPr>
          <p:cNvPr id="104" name="文本框 103"/>
          <p:cNvSpPr txBox="1"/>
          <p:nvPr/>
        </p:nvSpPr>
        <p:spPr>
          <a:xfrm>
            <a:off x="474345" y="977900"/>
            <a:ext cx="7802880" cy="1291590"/>
          </a:xfrm>
          <a:prstGeom prst="rect">
            <a:avLst/>
          </a:prstGeom>
          <a:noFill/>
          <a:ln w="9525">
            <a:noFill/>
          </a:ln>
        </p:spPr>
        <p:txBody>
          <a:bodyPr wrap="square">
            <a:spAutoFit/>
          </a:bodyPr>
          <a:lstStyle/>
          <a:p>
            <a:pPr indent="266700">
              <a:lnSpc>
                <a:spcPct val="130000"/>
              </a:lnSpc>
              <a:spcBef>
                <a:spcPts val="0"/>
              </a:spcBef>
              <a:spcAft>
                <a:spcPts val="0"/>
              </a:spcAft>
            </a:pPr>
            <a:r>
              <a:rPr lang="zh-CN" sz="2000" b="1">
                <a:ea typeface="等线" panose="02010600030101010101" pitchFamily="2" charset="-122"/>
              </a:rPr>
              <a:t>【例</a:t>
            </a:r>
            <a:r>
              <a:rPr lang="zh-CN" sz="2000" b="1">
                <a:ea typeface="等线" panose="02010600030101010101" pitchFamily="2" charset="-122"/>
                <a:cs typeface="Times New Roman" panose="02020603050405020304" pitchFamily="18" charset="0"/>
              </a:rPr>
              <a:t>】</a:t>
            </a:r>
            <a:r>
              <a:rPr lang="zh-CN" sz="2000" b="0">
                <a:ea typeface="等线" panose="02010600030101010101" pitchFamily="2" charset="-122"/>
              </a:rPr>
              <a:t>判断客户拖欠贷款可能性的逻辑回归分析模型。</a:t>
            </a:r>
          </a:p>
          <a:p>
            <a:pPr indent="266700">
              <a:lnSpc>
                <a:spcPct val="130000"/>
              </a:lnSpc>
              <a:spcBef>
                <a:spcPts val="0"/>
              </a:spcBef>
              <a:spcAft>
                <a:spcPts val="0"/>
              </a:spcAft>
            </a:pPr>
            <a:r>
              <a:rPr lang="en-US" altLang="zh-CN" sz="2000" b="0">
                <a:ea typeface="等线" panose="02010600030101010101" pitchFamily="2" charset="-122"/>
              </a:rPr>
              <a:t>       </a:t>
            </a:r>
            <a:r>
              <a:rPr lang="zh-CN" sz="2000" b="0">
                <a:ea typeface="等线" panose="02010600030101010101" pitchFamily="2" charset="-122"/>
              </a:rPr>
              <a:t>现有如下表所示的银行贷款拖欠率数据文件</a:t>
            </a:r>
            <a:r>
              <a:rPr lang="en-US" sz="2000" b="0">
                <a:latin typeface="等线" panose="02010600030101010101" pitchFamily="2" charset="-122"/>
                <a:cs typeface="Times New Roman" panose="02020603050405020304" pitchFamily="18" charset="0"/>
              </a:rPr>
              <a:t>bankloan.xls</a:t>
            </a:r>
            <a:r>
              <a:rPr lang="zh-CN" sz="2000" b="0">
                <a:ea typeface="等线" panose="02010600030101010101" pitchFamily="2" charset="-122"/>
              </a:rPr>
              <a:t>，要求建立分类模型，预测客户是否会拖欠贷款。</a:t>
            </a:r>
            <a:endParaRPr lang="zh-CN" altLang="en-US" sz="2000"/>
          </a:p>
        </p:txBody>
      </p:sp>
      <p:sp>
        <p:nvSpPr>
          <p:cNvPr id="2" name="文本框 1"/>
          <p:cNvSpPr txBox="1"/>
          <p:nvPr/>
        </p:nvSpPr>
        <p:spPr>
          <a:xfrm>
            <a:off x="1622425" y="2269807"/>
            <a:ext cx="5080000" cy="276999"/>
          </a:xfrm>
          <a:prstGeom prst="rect">
            <a:avLst/>
          </a:prstGeom>
          <a:noFill/>
          <a:ln w="9525">
            <a:noFill/>
          </a:ln>
        </p:spPr>
        <p:txBody>
          <a:bodyPr>
            <a:spAutoFit/>
          </a:bodyPr>
          <a:lstStyle/>
          <a:p>
            <a:pPr indent="0" algn="ctr"/>
            <a:r>
              <a:rPr lang="zh-CN" sz="1200" b="0">
                <a:ea typeface="等线" panose="02010600030101010101" pitchFamily="2" charset="-122"/>
              </a:rPr>
              <a:t>表</a:t>
            </a:r>
            <a:r>
              <a:rPr lang="en-US" sz="1200" b="0">
                <a:latin typeface="Cambria Math" panose="02040503050406030204" charset="0"/>
                <a:ea typeface="等线" panose="02010600030101010101" pitchFamily="2" charset="-122"/>
                <a:cs typeface="Times New Roman" panose="02020603050405020304" pitchFamily="18" charset="0"/>
              </a:rPr>
              <a:t> </a:t>
            </a:r>
            <a:r>
              <a:rPr lang="zh-CN" altLang="en-US" sz="1200" b="0">
                <a:latin typeface="Cambria Math" panose="02040503050406030204" charset="0"/>
                <a:ea typeface="等线" panose="02010600030101010101" pitchFamily="2" charset="-122"/>
                <a:cs typeface="Times New Roman" panose="02020603050405020304" pitchFamily="18" charset="0"/>
              </a:rPr>
              <a:t>：</a:t>
            </a:r>
            <a:r>
              <a:rPr lang="en-US" sz="1200" b="0">
                <a:latin typeface="Cambria Math" panose="02040503050406030204" charset="0"/>
                <a:ea typeface="等线" panose="02010600030101010101" pitchFamily="2" charset="-122"/>
                <a:cs typeface="Times New Roman" panose="02020603050405020304" pitchFamily="18" charset="0"/>
              </a:rPr>
              <a:t> </a:t>
            </a:r>
            <a:r>
              <a:rPr lang="zh-CN" sz="1200" b="0">
                <a:latin typeface="Cambria Math" panose="02040503050406030204" charset="0"/>
                <a:ea typeface="等线" panose="02010600030101010101" pitchFamily="2" charset="-122"/>
              </a:rPr>
              <a:t>银行贷款拖欠率数据</a:t>
            </a:r>
            <a:endParaRPr lang="zh-CN" altLang="en-US" sz="1200"/>
          </a:p>
        </p:txBody>
      </p:sp>
      <p:graphicFrame>
        <p:nvGraphicFramePr>
          <p:cNvPr id="3" name="表格 2"/>
          <p:cNvGraphicFramePr/>
          <p:nvPr>
            <p:custDataLst>
              <p:tags r:id="rId1"/>
            </p:custDataLst>
          </p:nvPr>
        </p:nvGraphicFramePr>
        <p:xfrm>
          <a:off x="548005" y="2569210"/>
          <a:ext cx="7446010" cy="1144905"/>
        </p:xfrm>
        <a:graphic>
          <a:graphicData uri="http://schemas.openxmlformats.org/drawingml/2006/table">
            <a:tbl>
              <a:tblPr firstRow="1" bandRow="1">
                <a:tableStyleId>{5940675A-B579-460E-94D1-54222C63F5DA}</a:tableStyleId>
              </a:tblPr>
              <a:tblGrid>
                <a:gridCol w="541655">
                  <a:extLst>
                    <a:ext uri="{9D8B030D-6E8A-4147-A177-3AD203B41FA5}">
                      <a16:colId xmlns:a16="http://schemas.microsoft.com/office/drawing/2014/main" val="20000"/>
                    </a:ext>
                  </a:extLst>
                </a:gridCol>
                <a:gridCol w="613410">
                  <a:extLst>
                    <a:ext uri="{9D8B030D-6E8A-4147-A177-3AD203B41FA5}">
                      <a16:colId xmlns:a16="http://schemas.microsoft.com/office/drawing/2014/main" val="20001"/>
                    </a:ext>
                  </a:extLst>
                </a:gridCol>
                <a:gridCol w="603885">
                  <a:extLst>
                    <a:ext uri="{9D8B030D-6E8A-4147-A177-3AD203B41FA5}">
                      <a16:colId xmlns:a16="http://schemas.microsoft.com/office/drawing/2014/main" val="20002"/>
                    </a:ext>
                  </a:extLst>
                </a:gridCol>
                <a:gridCol w="569595">
                  <a:extLst>
                    <a:ext uri="{9D8B030D-6E8A-4147-A177-3AD203B41FA5}">
                      <a16:colId xmlns:a16="http://schemas.microsoft.com/office/drawing/2014/main" val="20003"/>
                    </a:ext>
                  </a:extLst>
                </a:gridCol>
                <a:gridCol w="807085">
                  <a:extLst>
                    <a:ext uri="{9D8B030D-6E8A-4147-A177-3AD203B41FA5}">
                      <a16:colId xmlns:a16="http://schemas.microsoft.com/office/drawing/2014/main" val="20004"/>
                    </a:ext>
                  </a:extLst>
                </a:gridCol>
                <a:gridCol w="899795">
                  <a:extLst>
                    <a:ext uri="{9D8B030D-6E8A-4147-A177-3AD203B41FA5}">
                      <a16:colId xmlns:a16="http://schemas.microsoft.com/office/drawing/2014/main" val="20005"/>
                    </a:ext>
                  </a:extLst>
                </a:gridCol>
                <a:gridCol w="791210">
                  <a:extLst>
                    <a:ext uri="{9D8B030D-6E8A-4147-A177-3AD203B41FA5}">
                      <a16:colId xmlns:a16="http://schemas.microsoft.com/office/drawing/2014/main" val="20006"/>
                    </a:ext>
                  </a:extLst>
                </a:gridCol>
                <a:gridCol w="1113155">
                  <a:extLst>
                    <a:ext uri="{9D8B030D-6E8A-4147-A177-3AD203B41FA5}">
                      <a16:colId xmlns:a16="http://schemas.microsoft.com/office/drawing/2014/main" val="20007"/>
                    </a:ext>
                  </a:extLst>
                </a:gridCol>
                <a:gridCol w="945515">
                  <a:extLst>
                    <a:ext uri="{9D8B030D-6E8A-4147-A177-3AD203B41FA5}">
                      <a16:colId xmlns:a16="http://schemas.microsoft.com/office/drawing/2014/main" val="20008"/>
                    </a:ext>
                  </a:extLst>
                </a:gridCol>
                <a:gridCol w="560705">
                  <a:extLst>
                    <a:ext uri="{9D8B030D-6E8A-4147-A177-3AD203B41FA5}">
                      <a16:colId xmlns:a16="http://schemas.microsoft.com/office/drawing/2014/main" val="20009"/>
                    </a:ext>
                  </a:extLst>
                </a:gridCol>
              </a:tblGrid>
              <a:tr h="421005">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性别</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0">
                          <a:srgbClr val="9EE256"/>
                        </a:gs>
                        <a:gs pos="100000">
                          <a:srgbClr val="52762D"/>
                        </a:gs>
                      </a:gsLst>
                      <a:lin scaled="0"/>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年龄</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0">
                          <a:srgbClr val="9EE256"/>
                        </a:gs>
                        <a:gs pos="100000">
                          <a:srgbClr val="52762D"/>
                        </a:gs>
                      </a:gsLst>
                      <a:lin scaled="0"/>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教育</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0">
                          <a:srgbClr val="9EE256"/>
                        </a:gs>
                        <a:gs pos="100000">
                          <a:srgbClr val="52762D"/>
                        </a:gs>
                      </a:gsLst>
                      <a:lin scaled="0"/>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工龄</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0">
                          <a:srgbClr val="9EE256"/>
                        </a:gs>
                        <a:gs pos="100000">
                          <a:srgbClr val="52762D"/>
                        </a:gs>
                      </a:gsLst>
                      <a:lin scaled="0"/>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收入</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0">
                          <a:srgbClr val="9EE256"/>
                        </a:gs>
                        <a:gs pos="100000">
                          <a:srgbClr val="52762D"/>
                        </a:gs>
                      </a:gsLst>
                      <a:lin scaled="0"/>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房产面积</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0">
                          <a:srgbClr val="9EE256"/>
                        </a:gs>
                        <a:gs pos="100000">
                          <a:srgbClr val="52762D"/>
                        </a:gs>
                      </a:gsLst>
                      <a:lin scaled="0"/>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负债率</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0">
                          <a:srgbClr val="9EE256"/>
                        </a:gs>
                        <a:gs pos="100000">
                          <a:srgbClr val="52762D"/>
                        </a:gs>
                      </a:gsLst>
                      <a:lin scaled="0"/>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信用卡负债</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0">
                          <a:srgbClr val="9EE256"/>
                        </a:gs>
                        <a:gs pos="100000">
                          <a:srgbClr val="52762D"/>
                        </a:gs>
                      </a:gsLst>
                      <a:lin scaled="0"/>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其他负债</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0">
                          <a:srgbClr val="9EE256"/>
                        </a:gs>
                        <a:gs pos="100000">
                          <a:srgbClr val="52762D"/>
                        </a:gs>
                      </a:gsLst>
                      <a:lin scaled="0"/>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违约</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0">
                          <a:srgbClr val="9EE256"/>
                        </a:gs>
                        <a:gs pos="100000">
                          <a:srgbClr val="52762D"/>
                        </a:gs>
                      </a:gsLst>
                      <a:lin scaled="0"/>
                    </a:gradFill>
                  </a:tcPr>
                </a:tc>
                <a:extLst>
                  <a:ext uri="{0D108BD9-81ED-4DB2-BD59-A6C34878D82A}">
                    <a16:rowId xmlns:a16="http://schemas.microsoft.com/office/drawing/2014/main" val="10000"/>
                  </a:ext>
                </a:extLst>
              </a:tr>
              <a:tr h="266700">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1</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41</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3</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17</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176.00</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137.00</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9.30</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11.36</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5.01</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1</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extLst>
                  <a:ext uri="{0D108BD9-81ED-4DB2-BD59-A6C34878D82A}">
                    <a16:rowId xmlns:a16="http://schemas.microsoft.com/office/drawing/2014/main" val="10001"/>
                  </a:ext>
                </a:extLst>
              </a:tr>
              <a:tr h="152400">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0</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27</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1</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10</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31.00</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288.00</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17.30</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1.36</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4.00</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0</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extLst>
                  <a:ext uri="{0D108BD9-81ED-4DB2-BD59-A6C34878D82A}">
                    <a16:rowId xmlns:a16="http://schemas.microsoft.com/office/drawing/2014/main" val="10002"/>
                  </a:ext>
                </a:extLst>
              </a:tr>
              <a:tr h="152400">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1</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40</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1</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15</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55.00</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226.00</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5.50</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0.86</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2.17</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500" b="0">
                          <a:latin typeface="等线" panose="02010600030101010101" pitchFamily="2" charset="-122"/>
                          <a:ea typeface="等线" panose="02010600030101010101" pitchFamily="2" charset="-122"/>
                          <a:cs typeface="等线" panose="02010600030101010101" pitchFamily="2" charset="-122"/>
                        </a:rPr>
                        <a:t>0</a:t>
                      </a:r>
                      <a:endParaRPr lang="en-US" altLang="en-US" sz="15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5405" y="239395"/>
            <a:ext cx="4646930" cy="52197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8.3.1逻辑回归</a:t>
            </a:r>
          </a:p>
        </p:txBody>
      </p:sp>
      <p:sp>
        <p:nvSpPr>
          <p:cNvPr id="104" name="文本框 103"/>
          <p:cNvSpPr txBox="1"/>
          <p:nvPr/>
        </p:nvSpPr>
        <p:spPr>
          <a:xfrm>
            <a:off x="474345" y="977900"/>
            <a:ext cx="7802880" cy="491490"/>
          </a:xfrm>
          <a:prstGeom prst="rect">
            <a:avLst/>
          </a:prstGeom>
          <a:noFill/>
          <a:ln w="9525">
            <a:noFill/>
          </a:ln>
        </p:spPr>
        <p:txBody>
          <a:bodyPr wrap="square">
            <a:spAutoFit/>
          </a:bodyPr>
          <a:lstStyle/>
          <a:p>
            <a:pPr indent="266700">
              <a:lnSpc>
                <a:spcPct val="130000"/>
              </a:lnSpc>
              <a:spcBef>
                <a:spcPts val="0"/>
              </a:spcBef>
              <a:spcAft>
                <a:spcPts val="0"/>
              </a:spcAft>
            </a:pPr>
            <a:r>
              <a:rPr sz="2000" b="0"/>
              <a:t>用Python的机器学习库sklearn建立逻辑回归模型，参考代码如下：</a:t>
            </a:r>
          </a:p>
        </p:txBody>
      </p:sp>
      <p:pic>
        <p:nvPicPr>
          <p:cNvPr id="5" name="图片 4"/>
          <p:cNvPicPr>
            <a:picLocks noChangeAspect="1"/>
          </p:cNvPicPr>
          <p:nvPr/>
        </p:nvPicPr>
        <p:blipFill>
          <a:blip r:embed="rId3"/>
          <a:stretch>
            <a:fillRect/>
          </a:stretch>
        </p:blipFill>
        <p:spPr>
          <a:xfrm>
            <a:off x="342265" y="1469390"/>
            <a:ext cx="4136390" cy="3420745"/>
          </a:xfrm>
          <a:prstGeom prst="rect">
            <a:avLst/>
          </a:prstGeom>
          <a:ln>
            <a:solidFill>
              <a:srgbClr val="FF0000"/>
            </a:solidFill>
          </a:ln>
        </p:spPr>
      </p:pic>
      <p:pic>
        <p:nvPicPr>
          <p:cNvPr id="6" name="图片 5"/>
          <p:cNvPicPr>
            <a:picLocks noChangeAspect="1"/>
          </p:cNvPicPr>
          <p:nvPr/>
        </p:nvPicPr>
        <p:blipFill>
          <a:blip r:embed="rId4"/>
          <a:stretch>
            <a:fillRect/>
          </a:stretch>
        </p:blipFill>
        <p:spPr>
          <a:xfrm>
            <a:off x="4736465" y="1469390"/>
            <a:ext cx="4013835" cy="3347720"/>
          </a:xfrm>
          <a:prstGeom prst="rect">
            <a:avLst/>
          </a:prstGeom>
          <a:ln>
            <a:solidFill>
              <a:srgbClr val="FF0000"/>
            </a:solidFill>
          </a:ln>
        </p:spPr>
      </p:pic>
      <p:cxnSp>
        <p:nvCxnSpPr>
          <p:cNvPr id="13" name="肘形连接符 12"/>
          <p:cNvCxnSpPr/>
          <p:nvPr/>
        </p:nvCxnSpPr>
        <p:spPr>
          <a:xfrm flipV="1">
            <a:off x="4480560" y="3408045"/>
            <a:ext cx="269240" cy="241935"/>
          </a:xfrm>
          <a:prstGeom prst="bentConnector3">
            <a:avLst>
              <a:gd name="adj1" fmla="val 50236"/>
            </a:avLst>
          </a:prstGeom>
          <a:ln>
            <a:tailEnd type="arrow" w="med" len="med"/>
          </a:ln>
        </p:spPr>
        <p:style>
          <a:lnRef idx="3">
            <a:schemeClr val="accent2"/>
          </a:lnRef>
          <a:fillRef idx="0">
            <a:schemeClr val="accent2"/>
          </a:fillRef>
          <a:effectRef idx="2">
            <a:schemeClr val="accent2"/>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65405" y="239395"/>
            <a:ext cx="4646930" cy="521970"/>
          </a:xfrm>
          <a:prstGeom prst="rect">
            <a:avLst/>
          </a:prstGeom>
          <a:noFill/>
        </p:spPr>
        <p:txBody>
          <a:bodyPr wrap="square" rtlCol="0">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8.3.1逻辑回归</a:t>
            </a:r>
          </a:p>
        </p:txBody>
      </p:sp>
      <p:sp>
        <p:nvSpPr>
          <p:cNvPr id="104" name="文本框 103"/>
          <p:cNvSpPr txBox="1"/>
          <p:nvPr/>
        </p:nvSpPr>
        <p:spPr>
          <a:xfrm>
            <a:off x="537845" y="1287780"/>
            <a:ext cx="7802880" cy="2091690"/>
          </a:xfrm>
          <a:prstGeom prst="rect">
            <a:avLst/>
          </a:prstGeom>
          <a:noFill/>
          <a:ln w="9525">
            <a:noFill/>
          </a:ln>
        </p:spPr>
        <p:txBody>
          <a:bodyPr wrap="square">
            <a:spAutoFit/>
          </a:bodyPr>
          <a:lstStyle/>
          <a:p>
            <a:pPr indent="266700">
              <a:lnSpc>
                <a:spcPct val="130000"/>
              </a:lnSpc>
              <a:spcBef>
                <a:spcPts val="0"/>
              </a:spcBef>
              <a:spcAft>
                <a:spcPts val="0"/>
              </a:spcAft>
            </a:pPr>
            <a:r>
              <a:rPr sz="2000" b="1">
                <a:latin typeface="+mn-ea"/>
              </a:rPr>
              <a:t>程序的输出结果：</a:t>
            </a:r>
          </a:p>
          <a:p>
            <a:pPr indent="266700">
              <a:lnSpc>
                <a:spcPct val="130000"/>
              </a:lnSpc>
              <a:spcBef>
                <a:spcPts val="0"/>
              </a:spcBef>
              <a:spcAft>
                <a:spcPts val="0"/>
              </a:spcAft>
            </a:pPr>
            <a:r>
              <a:rPr sz="2000">
                <a:ea typeface="等线" panose="02010600030101010101" pitchFamily="2" charset="-122"/>
              </a:rPr>
              <a:t>模型的平均准确度为: 0.81</a:t>
            </a:r>
          </a:p>
          <a:p>
            <a:pPr indent="266700">
              <a:lnSpc>
                <a:spcPct val="130000"/>
              </a:lnSpc>
              <a:spcBef>
                <a:spcPts val="0"/>
              </a:spcBef>
              <a:spcAft>
                <a:spcPts val="0"/>
              </a:spcAft>
            </a:pPr>
            <a:r>
              <a:rPr sz="2000">
                <a:ea typeface="等线" panose="02010600030101010101" pitchFamily="2" charset="-122"/>
              </a:rPr>
              <a:t>均方误差为: 0.19</a:t>
            </a:r>
          </a:p>
          <a:p>
            <a:pPr indent="266700">
              <a:lnSpc>
                <a:spcPct val="130000"/>
              </a:lnSpc>
              <a:spcBef>
                <a:spcPts val="0"/>
              </a:spcBef>
              <a:spcAft>
                <a:spcPts val="0"/>
              </a:spcAft>
            </a:pPr>
            <a:r>
              <a:rPr sz="2000">
                <a:ea typeface="等线" panose="02010600030101010101" pitchFamily="2" charset="-122"/>
              </a:rPr>
              <a:t>准确率：0.8085714285714285 [0.79285714 0.76428571 0.85714286 0.80714286 0.82142857]</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217805"/>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8.3.2近邻分类算法</a:t>
            </a:r>
          </a:p>
        </p:txBody>
      </p:sp>
      <p:sp>
        <p:nvSpPr>
          <p:cNvPr id="3" name="文本框 2"/>
          <p:cNvSpPr txBox="1"/>
          <p:nvPr/>
        </p:nvSpPr>
        <p:spPr>
          <a:xfrm>
            <a:off x="431800" y="1177290"/>
            <a:ext cx="8071485" cy="2091690"/>
          </a:xfrm>
          <a:prstGeom prst="rect">
            <a:avLst/>
          </a:prstGeom>
          <a:noFill/>
          <a:ln w="9525">
            <a:noFill/>
          </a:ln>
        </p:spPr>
        <p:txBody>
          <a:bodyPr wrap="square">
            <a:spAutoFit/>
          </a:bodyPr>
          <a:lstStyle/>
          <a:p>
            <a:pPr indent="266700">
              <a:lnSpc>
                <a:spcPct val="130000"/>
              </a:lnSpc>
              <a:spcBef>
                <a:spcPts val="0"/>
              </a:spcBef>
              <a:spcAft>
                <a:spcPts val="0"/>
              </a:spcAft>
            </a:pPr>
            <a:r>
              <a:rPr lang="en-US" sz="2000">
                <a:ea typeface="等线" panose="02010600030101010101" pitchFamily="2" charset="-122"/>
              </a:rPr>
              <a:t>   </a:t>
            </a:r>
            <a:r>
              <a:rPr sz="2000">
                <a:ea typeface="等线" panose="02010600030101010101" pitchFamily="2" charset="-122"/>
              </a:rPr>
              <a:t>近邻分类算法，或称为K最近邻（KNN，K-Nearest Neighbor）分类算法是数据挖掘分类技术中最经典的方法之一。该算法由于简单有效，已经被广泛应用于众多领域，并派生出了各种改进版本，例如基于距离权重的KNN算法、基于特征权重的KNN算法和基于代表点的KNN算法（如KNNModel）等。</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217805"/>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8.3.2近邻分类算法</a:t>
            </a:r>
          </a:p>
        </p:txBody>
      </p:sp>
      <p:sp>
        <p:nvSpPr>
          <p:cNvPr id="3" name="文本框 2"/>
          <p:cNvSpPr txBox="1"/>
          <p:nvPr/>
        </p:nvSpPr>
        <p:spPr>
          <a:xfrm>
            <a:off x="438785" y="825500"/>
            <a:ext cx="8071485" cy="491490"/>
          </a:xfrm>
          <a:prstGeom prst="rect">
            <a:avLst/>
          </a:prstGeom>
          <a:noFill/>
          <a:ln w="9525">
            <a:noFill/>
          </a:ln>
        </p:spPr>
        <p:txBody>
          <a:bodyPr wrap="square">
            <a:spAutoFit/>
          </a:bodyPr>
          <a:lstStyle/>
          <a:p>
            <a:pPr indent="266700">
              <a:lnSpc>
                <a:spcPct val="130000"/>
              </a:lnSpc>
              <a:spcBef>
                <a:spcPts val="0"/>
              </a:spcBef>
              <a:spcAft>
                <a:spcPts val="0"/>
              </a:spcAft>
            </a:pPr>
            <a:r>
              <a:rPr lang="en-US" sz="2000" b="0"/>
              <a:t>     </a:t>
            </a:r>
            <a:r>
              <a:rPr sz="2000" b="1"/>
              <a:t>1.kNN的核心思想</a:t>
            </a:r>
          </a:p>
        </p:txBody>
      </p:sp>
      <p:sp>
        <p:nvSpPr>
          <p:cNvPr id="104" name="文本框 103"/>
          <p:cNvSpPr txBox="1"/>
          <p:nvPr/>
        </p:nvSpPr>
        <p:spPr>
          <a:xfrm>
            <a:off x="634365" y="1153160"/>
            <a:ext cx="7875905" cy="12915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lang="zh-CN" sz="2000" b="0">
                <a:ea typeface="等线" panose="02010600030101010101" pitchFamily="2" charset="-122"/>
              </a:rPr>
              <a:t>对于一个需要预测的输入向量</a:t>
            </a:r>
            <a:r>
              <a:rPr lang="en-US" sz="2000" b="1">
                <a:latin typeface="等线" panose="02010600030101010101" pitchFamily="2" charset="-122"/>
                <a:ea typeface="等线" panose="02010600030101010101" pitchFamily="2" charset="-122"/>
              </a:rPr>
              <a:t>x</a:t>
            </a:r>
            <a:r>
              <a:rPr lang="zh-CN" sz="2000" b="0">
                <a:ea typeface="等线" panose="02010600030101010101" pitchFamily="2" charset="-122"/>
              </a:rPr>
              <a:t>，我们只需要在训练数据集中寻找</a:t>
            </a:r>
            <a:r>
              <a:rPr lang="en-US" sz="2000" b="0">
                <a:latin typeface="等线" panose="02010600030101010101" pitchFamily="2" charset="-122"/>
                <a:ea typeface="等线" panose="02010600030101010101" pitchFamily="2" charset="-122"/>
                <a:cs typeface="Times New Roman" panose="02020603050405020304" pitchFamily="18" charset="0"/>
              </a:rPr>
              <a:t>k</a:t>
            </a:r>
            <a:r>
              <a:rPr lang="zh-CN" sz="2000" b="0">
                <a:ea typeface="等线" panose="02010600030101010101" pitchFamily="2" charset="-122"/>
              </a:rPr>
              <a:t>个与向量</a:t>
            </a:r>
            <a:r>
              <a:rPr lang="en-US" sz="2000" b="1">
                <a:latin typeface="等线" panose="02010600030101010101" pitchFamily="2" charset="-122"/>
                <a:ea typeface="等线" panose="02010600030101010101" pitchFamily="2" charset="-122"/>
              </a:rPr>
              <a:t>x</a:t>
            </a:r>
            <a:r>
              <a:rPr lang="zh-CN" sz="2000" b="0">
                <a:ea typeface="等线" panose="02010600030101010101" pitchFamily="2" charset="-122"/>
              </a:rPr>
              <a:t>最近的向量的集合，然后把</a:t>
            </a:r>
            <a:r>
              <a:rPr lang="en-US" sz="2000" b="1">
                <a:latin typeface="等线" panose="02010600030101010101" pitchFamily="2" charset="-122"/>
                <a:ea typeface="等线" panose="02010600030101010101" pitchFamily="2" charset="-122"/>
              </a:rPr>
              <a:t>x</a:t>
            </a:r>
            <a:r>
              <a:rPr lang="zh-CN" sz="2000" b="0">
                <a:ea typeface="等线" panose="02010600030101010101" pitchFamily="2" charset="-122"/>
              </a:rPr>
              <a:t>的类别预测为这</a:t>
            </a:r>
            <a:r>
              <a:rPr lang="en-US" sz="2000" b="0">
                <a:latin typeface="等线" panose="02010600030101010101" pitchFamily="2" charset="-122"/>
                <a:ea typeface="等线" panose="02010600030101010101" pitchFamily="2" charset="-122"/>
                <a:cs typeface="Times New Roman" panose="02020603050405020304" pitchFamily="18" charset="0"/>
              </a:rPr>
              <a:t>k</a:t>
            </a:r>
            <a:r>
              <a:rPr lang="zh-CN" sz="2000" b="0">
                <a:ea typeface="等线" panose="02010600030101010101" pitchFamily="2" charset="-122"/>
              </a:rPr>
              <a:t>个样本中类别数最多的那一类。</a:t>
            </a:r>
            <a:r>
              <a:rPr lang="en-US" sz="2000" b="0">
                <a:latin typeface="等线" panose="02010600030101010101" pitchFamily="2" charset="-122"/>
                <a:ea typeface="等线" panose="02010600030101010101" pitchFamily="2" charset="-122"/>
                <a:cs typeface="Times New Roman" panose="02020603050405020304" pitchFamily="18" charset="0"/>
              </a:rPr>
              <a:t>KNN</a:t>
            </a:r>
            <a:r>
              <a:rPr lang="zh-CN" sz="2000" b="0">
                <a:ea typeface="等线" panose="02010600030101010101" pitchFamily="2" charset="-122"/>
              </a:rPr>
              <a:t>算法的流程如下：</a:t>
            </a:r>
            <a:endParaRPr lang="zh-CN" altLang="en-US" sz="2000"/>
          </a:p>
        </p:txBody>
      </p:sp>
      <p:pic>
        <p:nvPicPr>
          <p:cNvPr id="6" name="图片 5"/>
          <p:cNvPicPr>
            <a:picLocks noChangeAspect="1"/>
          </p:cNvPicPr>
          <p:nvPr/>
        </p:nvPicPr>
        <p:blipFill>
          <a:blip r:embed="rId2"/>
          <a:stretch>
            <a:fillRect/>
          </a:stretch>
        </p:blipFill>
        <p:spPr>
          <a:xfrm>
            <a:off x="1903095" y="2444750"/>
            <a:ext cx="4910455" cy="2555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217805"/>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8.3.2近邻分类算法</a:t>
            </a:r>
          </a:p>
        </p:txBody>
      </p:sp>
      <p:sp>
        <p:nvSpPr>
          <p:cNvPr id="3" name="文本框 2"/>
          <p:cNvSpPr txBox="1"/>
          <p:nvPr/>
        </p:nvSpPr>
        <p:spPr>
          <a:xfrm>
            <a:off x="438785" y="825500"/>
            <a:ext cx="8071485" cy="491490"/>
          </a:xfrm>
          <a:prstGeom prst="rect">
            <a:avLst/>
          </a:prstGeom>
          <a:noFill/>
          <a:ln w="9525">
            <a:noFill/>
          </a:ln>
        </p:spPr>
        <p:txBody>
          <a:bodyPr wrap="square">
            <a:spAutoFit/>
          </a:bodyPr>
          <a:lstStyle/>
          <a:p>
            <a:pPr indent="266700">
              <a:lnSpc>
                <a:spcPct val="130000"/>
              </a:lnSpc>
              <a:spcBef>
                <a:spcPts val="0"/>
              </a:spcBef>
              <a:spcAft>
                <a:spcPts val="0"/>
              </a:spcAft>
            </a:pPr>
            <a:r>
              <a:rPr lang="en-US" sz="2000" b="0"/>
              <a:t>    </a:t>
            </a:r>
            <a:r>
              <a:rPr sz="2000" b="1"/>
              <a:t>2.k值的设定</a:t>
            </a:r>
          </a:p>
        </p:txBody>
      </p:sp>
      <p:sp>
        <p:nvSpPr>
          <p:cNvPr id="104" name="文本框 103"/>
          <p:cNvSpPr txBox="1"/>
          <p:nvPr/>
        </p:nvSpPr>
        <p:spPr>
          <a:xfrm>
            <a:off x="634365" y="1207770"/>
            <a:ext cx="4866005" cy="32918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sz="2000">
                <a:ea typeface="等线" panose="02010600030101010101" pitchFamily="2" charset="-122"/>
              </a:rPr>
              <a:t>k值的设定在KNN算法中十分关键，取值过大易造成欠拟合效果，取值过小易造成过拟合效果。例如，在图 中，绿色圆要被决定赋予哪个类，是红色三角形还是蓝色四方形？如果k=3，由于红色三角形所占比例为2/3，绿色圆将被赋予红色三角形那个类，如果k=5，由于蓝色四方形比例为3/5，因此绿色圆被赋予蓝色四方形类。</a:t>
            </a:r>
          </a:p>
        </p:txBody>
      </p:sp>
      <p:pic>
        <p:nvPicPr>
          <p:cNvPr id="2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8480" y="1609725"/>
            <a:ext cx="2138045" cy="1924050"/>
          </a:xfrm>
          <a:prstGeom prst="rect">
            <a:avLst/>
          </a:prstGeom>
        </p:spPr>
      </p:pic>
      <p:sp>
        <p:nvSpPr>
          <p:cNvPr id="2" name="文本框 1"/>
          <p:cNvSpPr txBox="1"/>
          <p:nvPr/>
        </p:nvSpPr>
        <p:spPr>
          <a:xfrm>
            <a:off x="4064000" y="3676967"/>
            <a:ext cx="5080000" cy="245110"/>
          </a:xfrm>
          <a:prstGeom prst="rect">
            <a:avLst/>
          </a:prstGeom>
          <a:noFill/>
          <a:ln w="9525">
            <a:noFill/>
          </a:ln>
        </p:spPr>
        <p:txBody>
          <a:bodyPr>
            <a:spAutoFit/>
          </a:bodyPr>
          <a:lstStyle/>
          <a:p>
            <a:pPr indent="0" algn="ctr"/>
            <a:r>
              <a:rPr lang="en-US" sz="1000" b="0" i="1">
                <a:latin typeface="Times New Roman" panose="02020603050405020304" pitchFamily="18" charset="0"/>
                <a:ea typeface="等线" panose="02010600030101010101" pitchFamily="2" charset="-122"/>
              </a:rPr>
              <a:t>k</a:t>
            </a:r>
            <a:r>
              <a:rPr lang="zh-CN" sz="1000" b="0">
                <a:latin typeface="Cambria Math" panose="02040503050406030204" charset="0"/>
                <a:ea typeface="等线" panose="02010600030101010101" pitchFamily="2" charset="-122"/>
              </a:rPr>
              <a:t>值对近邻分类结果的影响</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217805"/>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8.3.2近邻分类算法</a:t>
            </a:r>
          </a:p>
        </p:txBody>
      </p:sp>
      <p:sp>
        <p:nvSpPr>
          <p:cNvPr id="104" name="文本框 103"/>
          <p:cNvSpPr txBox="1"/>
          <p:nvPr/>
        </p:nvSpPr>
        <p:spPr>
          <a:xfrm>
            <a:off x="287019" y="1141038"/>
            <a:ext cx="4298316" cy="2861424"/>
          </a:xfrm>
          <a:prstGeom prst="rect">
            <a:avLst/>
          </a:prstGeom>
          <a:noFill/>
          <a:ln w="9525">
            <a:noFill/>
          </a:ln>
        </p:spPr>
        <p:txBody>
          <a:bodyPr wrap="square">
            <a:spAutoFit/>
          </a:bodyPr>
          <a:lstStyle/>
          <a:p>
            <a:pPr indent="266700">
              <a:lnSpc>
                <a:spcPct val="130000"/>
              </a:lnSpc>
              <a:spcBef>
                <a:spcPts val="0"/>
              </a:spcBef>
              <a:spcAft>
                <a:spcPts val="0"/>
              </a:spcAft>
            </a:pPr>
            <a:r>
              <a:rPr lang="en-US" sz="2000" b="0">
                <a:ea typeface="等线" panose="02010600030101010101" pitchFamily="2" charset="-122"/>
              </a:rPr>
              <a:t>   </a:t>
            </a:r>
            <a:r>
              <a:rPr sz="2000" b="0">
                <a:ea typeface="等线" panose="02010600030101010101" pitchFamily="2" charset="-122"/>
              </a:rPr>
              <a:t>为了确定合适的k值，可以通过交叉验证测试法，从选取一个较小的k值开始，不断增加k的值，然后计算验证集合的方差，最终找到一个比较合适的k值。在图所示的k值与分类错误率的关系图中，可以看出选择k=10，可以让分类效果最好。</a:t>
            </a:r>
          </a:p>
        </p:txBody>
      </p:sp>
      <p:sp>
        <p:nvSpPr>
          <p:cNvPr id="2" name="文本框 1"/>
          <p:cNvSpPr txBox="1"/>
          <p:nvPr/>
        </p:nvSpPr>
        <p:spPr>
          <a:xfrm>
            <a:off x="4181475" y="3595687"/>
            <a:ext cx="5080000" cy="245110"/>
          </a:xfrm>
          <a:prstGeom prst="rect">
            <a:avLst/>
          </a:prstGeom>
          <a:noFill/>
          <a:ln w="9525">
            <a:noFill/>
          </a:ln>
        </p:spPr>
        <p:txBody>
          <a:bodyPr>
            <a:spAutoFit/>
          </a:bodyPr>
          <a:lstStyle/>
          <a:p>
            <a:pPr indent="0" algn="ctr"/>
            <a:r>
              <a:rPr sz="1000" b="0">
                <a:ea typeface="等线" panose="02010600030101010101" pitchFamily="2" charset="-122"/>
              </a:rPr>
              <a:t>用交叉验证法选择k值示意图</a:t>
            </a:r>
          </a:p>
        </p:txBody>
      </p:sp>
      <p:pic>
        <p:nvPicPr>
          <p:cNvPr id="190468" name="Picture 4" descr="K值与Err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629785" y="1588770"/>
            <a:ext cx="3996690" cy="1856740"/>
          </a:xfrm>
          <a:prstGeom prst="rect">
            <a:avLst/>
          </a:prstGeom>
          <a:noFill/>
          <a:ln>
            <a:solidFill>
              <a:srgbClr val="274991"/>
            </a:solidFill>
          </a:ln>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217805"/>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8.3.2近邻分类算法</a:t>
            </a:r>
          </a:p>
        </p:txBody>
      </p:sp>
      <p:sp>
        <p:nvSpPr>
          <p:cNvPr id="104" name="文本框 103"/>
          <p:cNvSpPr txBox="1"/>
          <p:nvPr/>
        </p:nvSpPr>
        <p:spPr>
          <a:xfrm>
            <a:off x="118745" y="916305"/>
            <a:ext cx="6381750" cy="491490"/>
          </a:xfrm>
          <a:prstGeom prst="rect">
            <a:avLst/>
          </a:prstGeom>
          <a:noFill/>
          <a:ln w="9525">
            <a:noFill/>
          </a:ln>
        </p:spPr>
        <p:txBody>
          <a:bodyPr wrap="square">
            <a:spAutoFit/>
          </a:bodyPr>
          <a:lstStyle/>
          <a:p>
            <a:pPr indent="266700">
              <a:lnSpc>
                <a:spcPct val="130000"/>
              </a:lnSpc>
              <a:spcBef>
                <a:spcPts val="0"/>
              </a:spcBef>
              <a:spcAft>
                <a:spcPts val="0"/>
              </a:spcAft>
            </a:pPr>
            <a:r>
              <a:rPr lang="en-US" sz="2000" b="0">
                <a:ea typeface="等线" panose="02010600030101010101" pitchFamily="2" charset="-122"/>
              </a:rPr>
              <a:t>  </a:t>
            </a:r>
            <a:r>
              <a:rPr sz="2000" b="0">
                <a:ea typeface="等线" panose="02010600030101010101" pitchFamily="2" charset="-122"/>
              </a:rPr>
              <a:t>【例】用交叉验证法寻找KNN分类算法的最优k值</a:t>
            </a:r>
          </a:p>
        </p:txBody>
      </p:sp>
      <p:sp>
        <p:nvSpPr>
          <p:cNvPr id="3" name="文本框 2"/>
          <p:cNvSpPr txBox="1"/>
          <p:nvPr/>
        </p:nvSpPr>
        <p:spPr>
          <a:xfrm>
            <a:off x="410845" y="1407795"/>
            <a:ext cx="5542280" cy="3291840"/>
          </a:xfrm>
          <a:prstGeom prst="rect">
            <a:avLst/>
          </a:prstGeom>
          <a:noFill/>
          <a:ln w="9525">
            <a:noFill/>
          </a:ln>
        </p:spPr>
        <p:txBody>
          <a:bodyPr wrap="square">
            <a:spAutoFit/>
          </a:bodyPr>
          <a:lstStyle/>
          <a:p>
            <a:pPr indent="266700">
              <a:lnSpc>
                <a:spcPct val="130000"/>
              </a:lnSpc>
              <a:spcBef>
                <a:spcPts val="0"/>
              </a:spcBef>
              <a:spcAft>
                <a:spcPts val="0"/>
              </a:spcAft>
            </a:pPr>
            <a:r>
              <a:rPr lang="zh-CN" sz="2000" b="0">
                <a:ea typeface="等线" panose="02010600030101010101" pitchFamily="2" charset="-122"/>
              </a:rPr>
              <a:t>鸢尾花数据集</a:t>
            </a:r>
            <a:r>
              <a:rPr lang="en-US" sz="2000" b="0">
                <a:latin typeface="等线" panose="02010600030101010101" pitchFamily="2" charset="-122"/>
                <a:ea typeface="等线" panose="02010600030101010101" pitchFamily="2" charset="-122"/>
                <a:cs typeface="Times New Roman" panose="02020603050405020304" pitchFamily="18" charset="0"/>
              </a:rPr>
              <a:t>I</a:t>
            </a:r>
            <a:r>
              <a:rPr lang="en-US" sz="2000" b="0">
                <a:latin typeface="等线" panose="02010600030101010101" pitchFamily="2" charset="-122"/>
                <a:ea typeface="等线" panose="02010600030101010101" pitchFamily="2" charset="-122"/>
              </a:rPr>
              <a:t>ris</a:t>
            </a:r>
            <a:r>
              <a:rPr lang="zh-CN" sz="2000" b="0">
                <a:solidFill>
                  <a:srgbClr val="404040"/>
                </a:solidFill>
                <a:ea typeface="等线" panose="02010600030101010101" pitchFamily="2" charset="-122"/>
              </a:rPr>
              <a:t>是一个经典的数据集，该</a:t>
            </a:r>
            <a:r>
              <a:rPr lang="zh-CN" sz="2000" b="0">
                <a:ea typeface="等线" panose="02010600030101010101" pitchFamily="2" charset="-122"/>
              </a:rPr>
              <a:t>数据集包含</a:t>
            </a:r>
            <a:r>
              <a:rPr lang="zh-CN" sz="2000" b="0">
                <a:ea typeface="等线" panose="02010600030101010101" pitchFamily="2" charset="-122"/>
                <a:cs typeface="Times New Roman" panose="02020603050405020304" pitchFamily="18" charset="0"/>
              </a:rPr>
              <a:t> 3 类共 150 条记录，每类各</a:t>
            </a:r>
            <a:r>
              <a:rPr lang="zh-CN" sz="2000" b="0">
                <a:ea typeface="等线" panose="02010600030101010101" pitchFamily="2" charset="-122"/>
              </a:rPr>
              <a:t>有</a:t>
            </a:r>
            <a:r>
              <a:rPr lang="zh-CN" sz="2000" b="0">
                <a:ea typeface="等线" panose="02010600030101010101" pitchFamily="2" charset="-122"/>
                <a:cs typeface="Times New Roman" panose="02020603050405020304" pitchFamily="18" charset="0"/>
              </a:rPr>
              <a:t>50 个</a:t>
            </a:r>
            <a:r>
              <a:rPr lang="zh-CN" sz="2000" b="0">
                <a:ea typeface="等线" panose="02010600030101010101" pitchFamily="2" charset="-122"/>
              </a:rPr>
              <a:t>样本，每个样本都有</a:t>
            </a:r>
            <a:r>
              <a:rPr lang="en-US" sz="2000" b="0">
                <a:latin typeface="等线" panose="02010600030101010101" pitchFamily="2" charset="-122"/>
                <a:ea typeface="等线" panose="02010600030101010101" pitchFamily="2" charset="-122"/>
                <a:cs typeface="Times New Roman" panose="02020603050405020304" pitchFamily="18" charset="0"/>
              </a:rPr>
              <a:t> 4 </a:t>
            </a:r>
            <a:r>
              <a:rPr lang="zh-CN" sz="2000" b="0">
                <a:ea typeface="等线" panose="02010600030101010101" pitchFamily="2" charset="-122"/>
              </a:rPr>
              <a:t>项属性：</a:t>
            </a:r>
            <a:r>
              <a:rPr lang="en-US" sz="2000" b="0">
                <a:latin typeface="等线" panose="02010600030101010101" pitchFamily="2" charset="-122"/>
                <a:ea typeface="等线" panose="02010600030101010101" pitchFamily="2" charset="-122"/>
              </a:rPr>
              <a:t>s</a:t>
            </a:r>
            <a:r>
              <a:rPr lang="en-US" sz="2000" b="0">
                <a:latin typeface="等线" panose="02010600030101010101" pitchFamily="2" charset="-122"/>
                <a:ea typeface="等线" panose="02010600030101010101" pitchFamily="2" charset="-122"/>
                <a:cs typeface="Times New Roman" panose="02020603050405020304" pitchFamily="18" charset="0"/>
              </a:rPr>
              <a:t>epallength</a:t>
            </a:r>
            <a:r>
              <a:rPr lang="zh-CN" sz="2000" b="0">
                <a:ea typeface="等线" panose="02010600030101010101" pitchFamily="2" charset="-122"/>
              </a:rPr>
              <a:t>、</a:t>
            </a:r>
            <a:r>
              <a:rPr lang="en-US" sz="2000" b="0">
                <a:latin typeface="等线" panose="02010600030101010101" pitchFamily="2" charset="-122"/>
                <a:ea typeface="等线" panose="02010600030101010101" pitchFamily="2" charset="-122"/>
                <a:cs typeface="Times New Roman" panose="02020603050405020304" pitchFamily="18" charset="0"/>
              </a:rPr>
              <a:t>spalwidth</a:t>
            </a:r>
            <a:r>
              <a:rPr lang="zh-CN" sz="2000" b="0">
                <a:ea typeface="等线" panose="02010600030101010101" pitchFamily="2" charset="-122"/>
              </a:rPr>
              <a:t>、</a:t>
            </a:r>
            <a:r>
              <a:rPr lang="en-US" sz="2000" b="0">
                <a:latin typeface="等线" panose="02010600030101010101" pitchFamily="2" charset="-122"/>
                <a:ea typeface="等线" panose="02010600030101010101" pitchFamily="2" charset="-122"/>
                <a:cs typeface="Times New Roman" panose="02020603050405020304" pitchFamily="18" charset="0"/>
              </a:rPr>
              <a:t>petallength</a:t>
            </a:r>
            <a:r>
              <a:rPr lang="zh-CN" sz="2000" b="0">
                <a:ea typeface="等线" panose="02010600030101010101" pitchFamily="2" charset="-122"/>
              </a:rPr>
              <a:t>和</a:t>
            </a:r>
            <a:r>
              <a:rPr lang="en-US" sz="2000" b="0">
                <a:latin typeface="等线" panose="02010600030101010101" pitchFamily="2" charset="-122"/>
                <a:ea typeface="等线" panose="02010600030101010101" pitchFamily="2" charset="-122"/>
                <a:cs typeface="Times New Roman" panose="02020603050405020304" pitchFamily="18" charset="0"/>
              </a:rPr>
              <a:t>petalwidth</a:t>
            </a:r>
            <a:r>
              <a:rPr lang="zh-CN" sz="2000" b="0">
                <a:ea typeface="等线" panose="02010600030101010101" pitchFamily="2" charset="-122"/>
              </a:rPr>
              <a:t>（花萼长度、花萼宽度、花瓣长度、花瓣宽度），可以通过这</a:t>
            </a:r>
            <a:r>
              <a:rPr lang="zh-CN" sz="2000" b="0">
                <a:ea typeface="等线" panose="02010600030101010101" pitchFamily="2" charset="-122"/>
                <a:cs typeface="Times New Roman" panose="02020603050405020304" pitchFamily="18" charset="0"/>
              </a:rPr>
              <a:t>4个特征预测鸢尾花卉属于（iris-setosa, iris-versicolour, iris-virginica）中的哪一品种。</a:t>
            </a:r>
            <a:r>
              <a:rPr lang="zh-CN" altLang="en-US" sz="2000" b="0">
                <a:ea typeface="等线" panose="02010600030101010101" pitchFamily="2" charset="-122"/>
                <a:cs typeface="Times New Roman" panose="02020603050405020304" pitchFamily="18" charset="0"/>
              </a:rPr>
              <a:t>右</a:t>
            </a:r>
            <a:r>
              <a:rPr lang="zh-CN" sz="2000" b="0">
                <a:ea typeface="等线" panose="02010600030101010101" pitchFamily="2" charset="-122"/>
              </a:rPr>
              <a:t>图是一个鸢尾花的图例。</a:t>
            </a:r>
            <a:endParaRPr lang="zh-CN" altLang="en-US" sz="2000"/>
          </a:p>
        </p:txBody>
      </p:sp>
      <p:pic>
        <p:nvPicPr>
          <p:cNvPr id="193538" name="Picture 2" descr="鸢尾花"/>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6244273" y="1955483"/>
            <a:ext cx="1750695" cy="1344295"/>
          </a:xfrm>
          <a:prstGeom prst="rect">
            <a:avLst/>
          </a:prstGeom>
          <a:noFill/>
          <a:ln>
            <a:solidFill>
              <a:srgbClr val="274991"/>
            </a:solidFill>
          </a:ln>
        </p:spPr>
      </p:pic>
      <p:sp>
        <p:nvSpPr>
          <p:cNvPr id="5" name="文本框 4"/>
          <p:cNvSpPr txBox="1"/>
          <p:nvPr/>
        </p:nvSpPr>
        <p:spPr>
          <a:xfrm>
            <a:off x="4580255" y="3467417"/>
            <a:ext cx="5080000" cy="245110"/>
          </a:xfrm>
          <a:prstGeom prst="rect">
            <a:avLst/>
          </a:prstGeom>
          <a:noFill/>
          <a:ln w="9525">
            <a:noFill/>
          </a:ln>
        </p:spPr>
        <p:txBody>
          <a:bodyPr>
            <a:spAutoFit/>
          </a:bodyPr>
          <a:lstStyle/>
          <a:p>
            <a:pPr indent="0" algn="ctr"/>
            <a:r>
              <a:rPr lang="zh-CN" sz="1000" b="0">
                <a:latin typeface="等线 Light" panose="02010600030101010101" charset="-122"/>
                <a:ea typeface="黑体" panose="02010609060101010101" charset="-122"/>
              </a:rPr>
              <a:t>鸢尾花图例</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217805"/>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8.3.2近邻分类算法</a:t>
            </a:r>
          </a:p>
        </p:txBody>
      </p:sp>
      <p:sp>
        <p:nvSpPr>
          <p:cNvPr id="3" name="文本框 2"/>
          <p:cNvSpPr txBox="1"/>
          <p:nvPr/>
        </p:nvSpPr>
        <p:spPr>
          <a:xfrm>
            <a:off x="530225" y="763905"/>
            <a:ext cx="7435850" cy="891540"/>
          </a:xfrm>
          <a:prstGeom prst="rect">
            <a:avLst/>
          </a:prstGeom>
          <a:noFill/>
          <a:ln w="9525">
            <a:noFill/>
          </a:ln>
        </p:spPr>
        <p:txBody>
          <a:bodyPr wrap="square">
            <a:spAutoFit/>
          </a:bodyPr>
          <a:lstStyle/>
          <a:p>
            <a:pPr indent="266700">
              <a:lnSpc>
                <a:spcPct val="130000"/>
              </a:lnSpc>
              <a:spcBef>
                <a:spcPts val="0"/>
              </a:spcBef>
              <a:spcAft>
                <a:spcPts val="0"/>
              </a:spcAft>
            </a:pPr>
            <a:r>
              <a:rPr sz="2000" b="0">
                <a:ea typeface="等线" panose="02010600030101010101" pitchFamily="2" charset="-122"/>
              </a:rPr>
              <a:t>本例题对鸢尾花数据集用交叉验证法确定KNN算法的最优k值，相关的Python语言参考代码如下：</a:t>
            </a:r>
          </a:p>
        </p:txBody>
      </p:sp>
      <p:pic>
        <p:nvPicPr>
          <p:cNvPr id="2" name="图片 1"/>
          <p:cNvPicPr>
            <a:picLocks noChangeAspect="1"/>
          </p:cNvPicPr>
          <p:nvPr/>
        </p:nvPicPr>
        <p:blipFill>
          <a:blip r:embed="rId2"/>
          <a:stretch>
            <a:fillRect/>
          </a:stretch>
        </p:blipFill>
        <p:spPr>
          <a:xfrm>
            <a:off x="695960" y="1591945"/>
            <a:ext cx="3604260" cy="3423920"/>
          </a:xfrm>
          <a:prstGeom prst="rect">
            <a:avLst/>
          </a:prstGeom>
          <a:ln>
            <a:solidFill>
              <a:srgbClr val="FF0000"/>
            </a:solidFill>
          </a:ln>
        </p:spPr>
      </p:pic>
      <p:pic>
        <p:nvPicPr>
          <p:cNvPr id="7" name="图片 6"/>
          <p:cNvPicPr>
            <a:picLocks noChangeAspect="1"/>
          </p:cNvPicPr>
          <p:nvPr/>
        </p:nvPicPr>
        <p:blipFill>
          <a:blip r:embed="rId3"/>
          <a:stretch>
            <a:fillRect/>
          </a:stretch>
        </p:blipFill>
        <p:spPr>
          <a:xfrm>
            <a:off x="4758055" y="1184910"/>
            <a:ext cx="3430270" cy="3830955"/>
          </a:xfrm>
          <a:prstGeom prst="rect">
            <a:avLst/>
          </a:prstGeom>
          <a:ln>
            <a:solidFill>
              <a:srgbClr val="FF0000"/>
            </a:solidFill>
          </a:ln>
        </p:spPr>
      </p:pic>
      <p:cxnSp>
        <p:nvCxnSpPr>
          <p:cNvPr id="13" name="肘形连接符 12"/>
          <p:cNvCxnSpPr/>
          <p:nvPr/>
        </p:nvCxnSpPr>
        <p:spPr>
          <a:xfrm flipV="1">
            <a:off x="4323080" y="3193415"/>
            <a:ext cx="419100" cy="329565"/>
          </a:xfrm>
          <a:prstGeom prst="bentConnector3">
            <a:avLst>
              <a:gd name="adj1" fmla="val 50152"/>
            </a:avLst>
          </a:prstGeom>
          <a:ln>
            <a:tailEnd type="arrow" w="med" len="med"/>
          </a:ln>
        </p:spPr>
        <p:style>
          <a:lnRef idx="3">
            <a:schemeClr val="accent5"/>
          </a:lnRef>
          <a:fillRef idx="0">
            <a:schemeClr val="accent5"/>
          </a:fillRef>
          <a:effectRef idx="2">
            <a:schemeClr val="accent5"/>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217805"/>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8.3.2近邻分类算法</a:t>
            </a:r>
          </a:p>
        </p:txBody>
      </p:sp>
      <p:sp>
        <p:nvSpPr>
          <p:cNvPr id="3" name="文本框 2"/>
          <p:cNvSpPr txBox="1"/>
          <p:nvPr/>
        </p:nvSpPr>
        <p:spPr>
          <a:xfrm>
            <a:off x="458470" y="1320165"/>
            <a:ext cx="4667885" cy="2091690"/>
          </a:xfrm>
          <a:prstGeom prst="rect">
            <a:avLst/>
          </a:prstGeom>
          <a:noFill/>
          <a:ln w="9525">
            <a:noFill/>
          </a:ln>
        </p:spPr>
        <p:txBody>
          <a:bodyPr wrap="square">
            <a:spAutoFit/>
          </a:bodyPr>
          <a:lstStyle/>
          <a:p>
            <a:pPr indent="266700">
              <a:lnSpc>
                <a:spcPct val="130000"/>
              </a:lnSpc>
              <a:spcBef>
                <a:spcPts val="0"/>
              </a:spcBef>
              <a:spcAft>
                <a:spcPts val="0"/>
              </a:spcAft>
            </a:pPr>
            <a:r>
              <a:rPr lang="en-US" sz="2000" b="0">
                <a:ea typeface="等线" panose="02010600030101010101" pitchFamily="2" charset="-122"/>
              </a:rPr>
              <a:t> </a:t>
            </a:r>
            <a:r>
              <a:rPr sz="2000" b="0">
                <a:ea typeface="等线" panose="02010600030101010101" pitchFamily="2" charset="-122"/>
              </a:rPr>
              <a:t>根据本例题Python程序运行的如图所示，x轴为k值，y轴为分类精度accuracy。可以看出，用KNN算法对鸢尾花数据集iris进行分类，取k=12可以得到最好的分类精度。</a:t>
            </a:r>
          </a:p>
        </p:txBody>
      </p:sp>
      <p:pic>
        <p:nvPicPr>
          <p:cNvPr id="11" name="图片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5077778" y="1528445"/>
            <a:ext cx="3176905" cy="2086610"/>
          </a:xfrm>
          <a:prstGeom prst="rect">
            <a:avLst/>
          </a:prstGeom>
          <a:noFill/>
          <a:ln>
            <a:noFill/>
          </a:ln>
        </p:spPr>
      </p:pic>
      <p:sp>
        <p:nvSpPr>
          <p:cNvPr id="104" name="文本框 103"/>
          <p:cNvSpPr txBox="1"/>
          <p:nvPr/>
        </p:nvSpPr>
        <p:spPr>
          <a:xfrm>
            <a:off x="5378450" y="3742372"/>
            <a:ext cx="2768600" cy="276999"/>
          </a:xfrm>
          <a:prstGeom prst="rect">
            <a:avLst/>
          </a:prstGeom>
          <a:noFill/>
          <a:ln w="9525">
            <a:noFill/>
          </a:ln>
        </p:spPr>
        <p:txBody>
          <a:bodyPr wrap="square">
            <a:spAutoFit/>
          </a:bodyPr>
          <a:lstStyle/>
          <a:p>
            <a:pPr indent="0" algn="ctr"/>
            <a:r>
              <a:rPr lang="en-US" sz="1200" b="0">
                <a:latin typeface="Cambria Math" panose="02040503050406030204" charset="0"/>
                <a:ea typeface="等线" panose="02010600030101010101" pitchFamily="2" charset="-122"/>
                <a:cs typeface="Times New Roman" panose="02020603050405020304" pitchFamily="18" charset="0"/>
              </a:rPr>
              <a:t>kNN</a:t>
            </a:r>
            <a:r>
              <a:rPr lang="zh-CN" sz="1200" b="0">
                <a:latin typeface="Cambria Math" panose="02040503050406030204" charset="0"/>
                <a:ea typeface="等线" panose="02010600030101010101" pitchFamily="2" charset="-122"/>
              </a:rPr>
              <a:t>算法运行结果示意图</a:t>
            </a:r>
            <a:endParaRPr lang="zh-CN" altLang="en-US" sz="120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217805"/>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8.3.3决策树算法</a:t>
            </a:r>
          </a:p>
        </p:txBody>
      </p:sp>
      <p:sp>
        <p:nvSpPr>
          <p:cNvPr id="3" name="文本框 2"/>
          <p:cNvSpPr txBox="1"/>
          <p:nvPr/>
        </p:nvSpPr>
        <p:spPr>
          <a:xfrm>
            <a:off x="319405" y="1029335"/>
            <a:ext cx="8511540" cy="1691640"/>
          </a:xfrm>
          <a:prstGeom prst="rect">
            <a:avLst/>
          </a:prstGeom>
          <a:noFill/>
          <a:ln w="9525">
            <a:noFill/>
          </a:ln>
        </p:spPr>
        <p:txBody>
          <a:bodyPr wrap="square">
            <a:spAutoFit/>
          </a:bodyPr>
          <a:lstStyle/>
          <a:p>
            <a:pPr indent="266700">
              <a:lnSpc>
                <a:spcPct val="130000"/>
              </a:lnSpc>
              <a:spcBef>
                <a:spcPts val="0"/>
              </a:spcBef>
              <a:spcAft>
                <a:spcPts val="0"/>
              </a:spcAft>
            </a:pPr>
            <a:r>
              <a:rPr lang="en-US" sz="2000" b="0">
                <a:ea typeface="等线" panose="02010600030101010101" pitchFamily="2" charset="-122"/>
              </a:rPr>
              <a:t>   </a:t>
            </a:r>
            <a:r>
              <a:rPr sz="2000" b="0">
                <a:ea typeface="等线" panose="02010600030101010101" pitchFamily="2" charset="-122"/>
              </a:rPr>
              <a:t>决策树算法通过训练数据构建决策树，对未知的数据进行分类。决策树的每个内部节点表示在一个属性(attribute)上的测试，每个分枝代表该测试的一个输出，而每个树叶结点存放着一个类标号。 </a:t>
            </a:r>
          </a:p>
          <a:p>
            <a:pPr indent="266700">
              <a:lnSpc>
                <a:spcPct val="130000"/>
              </a:lnSpc>
              <a:spcBef>
                <a:spcPts val="0"/>
              </a:spcBef>
              <a:spcAft>
                <a:spcPts val="0"/>
              </a:spcAft>
            </a:pPr>
            <a:endParaRPr sz="2000" b="0">
              <a:ea typeface="等线" panose="02010600030101010101" pitchFamily="2" charset="-122"/>
            </a:endParaRPr>
          </a:p>
        </p:txBody>
      </p:sp>
      <p:sp>
        <p:nvSpPr>
          <p:cNvPr id="2" name="文本框 1"/>
          <p:cNvSpPr txBox="1"/>
          <p:nvPr/>
        </p:nvSpPr>
        <p:spPr>
          <a:xfrm>
            <a:off x="532130" y="2399347"/>
            <a:ext cx="5080000" cy="398780"/>
          </a:xfrm>
          <a:prstGeom prst="rect">
            <a:avLst/>
          </a:prstGeom>
          <a:noFill/>
          <a:ln w="9525">
            <a:noFill/>
          </a:ln>
        </p:spPr>
        <p:txBody>
          <a:bodyPr>
            <a:spAutoFit/>
          </a:bodyPr>
          <a:lstStyle/>
          <a:p>
            <a:pPr marL="266700" indent="-266700"/>
            <a:r>
              <a:rPr lang="en-US" sz="2000" b="1">
                <a:latin typeface="等线" panose="02010600030101010101" pitchFamily="2" charset="-122"/>
              </a:rPr>
              <a:t>    1. </a:t>
            </a:r>
            <a:r>
              <a:rPr lang="zh-CN" sz="2000" b="1">
                <a:ea typeface="等线" panose="02010600030101010101" pitchFamily="2" charset="-122"/>
              </a:rPr>
              <a:t>信息熵的性质</a:t>
            </a:r>
            <a:endParaRPr lang="zh-CN" altLang="en-US" sz="2000"/>
          </a:p>
        </p:txBody>
      </p:sp>
      <p:sp>
        <p:nvSpPr>
          <p:cNvPr id="5" name="文本框 4"/>
          <p:cNvSpPr txBox="1"/>
          <p:nvPr/>
        </p:nvSpPr>
        <p:spPr>
          <a:xfrm>
            <a:off x="319405" y="2797810"/>
            <a:ext cx="4870450" cy="1499128"/>
          </a:xfrm>
          <a:prstGeom prst="rect">
            <a:avLst/>
          </a:prstGeom>
          <a:noFill/>
          <a:ln w="9525">
            <a:noFill/>
          </a:ln>
        </p:spPr>
        <p:txBody>
          <a:bodyPr wrap="square">
            <a:spAutoFit/>
          </a:bodyPr>
          <a:lstStyle/>
          <a:p>
            <a:pPr indent="0">
              <a:lnSpc>
                <a:spcPct val="130000"/>
              </a:lnSpc>
              <a:spcBef>
                <a:spcPts val="0"/>
              </a:spcBef>
              <a:spcAft>
                <a:spcPts val="0"/>
              </a:spcAft>
            </a:pPr>
            <a:r>
              <a:rPr lang="en-US" altLang="zh-CN" sz="1800" b="0">
                <a:ea typeface="宋体" panose="02010600030101010101" pitchFamily="2" charset="-122"/>
              </a:rPr>
              <a:t>        </a:t>
            </a:r>
            <a:r>
              <a:rPr lang="zh-CN" sz="1800" b="0">
                <a:ea typeface="宋体" panose="02010600030101010101" pitchFamily="2" charset="-122"/>
              </a:rPr>
              <a:t>变量的不确定性越大，熵也就越大，把它搞清楚所需要的信息量也就越大。随机变量的分布越接近均匀分布，其离散程度越大，熵值则越高。图是信息熵性质示意图。</a:t>
            </a:r>
            <a:endParaRPr lang="zh-CN" altLang="en-US" sz="1800"/>
          </a:p>
        </p:txBody>
      </p:sp>
      <p:pic>
        <p:nvPicPr>
          <p:cNvPr id="24"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2175" y="2352993"/>
            <a:ext cx="1966595" cy="1697355"/>
          </a:xfrm>
          <a:prstGeom prst="rect">
            <a:avLst/>
          </a:prstGeom>
        </p:spPr>
      </p:pic>
      <p:sp>
        <p:nvSpPr>
          <p:cNvPr id="6" name="文本框 5"/>
          <p:cNvSpPr txBox="1"/>
          <p:nvPr/>
        </p:nvSpPr>
        <p:spPr>
          <a:xfrm>
            <a:off x="5972175" y="4314507"/>
            <a:ext cx="2063750" cy="261610"/>
          </a:xfrm>
          <a:prstGeom prst="rect">
            <a:avLst/>
          </a:prstGeom>
          <a:noFill/>
          <a:ln w="9525">
            <a:noFill/>
          </a:ln>
        </p:spPr>
        <p:txBody>
          <a:bodyPr wrap="square">
            <a:spAutoFit/>
          </a:bodyPr>
          <a:lstStyle/>
          <a:p>
            <a:pPr indent="0" algn="ctr"/>
            <a:r>
              <a:rPr lang="zh-CN" sz="1100" b="0">
                <a:latin typeface="Cambria Math" panose="02040503050406030204" charset="0"/>
                <a:ea typeface="等线" panose="02010600030101010101" pitchFamily="2" charset="-122"/>
              </a:rPr>
              <a:t>信息熵性质示意图</a:t>
            </a:r>
            <a:endParaRPr lang="zh-CN" altLang="en-US" sz="110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217805"/>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8.3.3决策树算法</a:t>
            </a:r>
          </a:p>
        </p:txBody>
      </p:sp>
      <p:pic>
        <p:nvPicPr>
          <p:cNvPr id="9" name="图片 8"/>
          <p:cNvPicPr>
            <a:picLocks noChangeAspect="1"/>
          </p:cNvPicPr>
          <p:nvPr/>
        </p:nvPicPr>
        <p:blipFill>
          <a:blip r:embed="rId2"/>
          <a:stretch>
            <a:fillRect/>
          </a:stretch>
        </p:blipFill>
        <p:spPr>
          <a:xfrm>
            <a:off x="233680" y="1010920"/>
            <a:ext cx="8609965" cy="29800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217805"/>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8.3.3决策树算法</a:t>
            </a:r>
          </a:p>
        </p:txBody>
      </p:sp>
      <p:sp>
        <p:nvSpPr>
          <p:cNvPr id="2" name="文本框 1"/>
          <p:cNvSpPr txBox="1"/>
          <p:nvPr/>
        </p:nvSpPr>
        <p:spPr>
          <a:xfrm>
            <a:off x="258445" y="907732"/>
            <a:ext cx="5080000" cy="398780"/>
          </a:xfrm>
          <a:prstGeom prst="rect">
            <a:avLst/>
          </a:prstGeom>
          <a:noFill/>
          <a:ln w="9525">
            <a:noFill/>
          </a:ln>
        </p:spPr>
        <p:txBody>
          <a:bodyPr>
            <a:spAutoFit/>
          </a:bodyPr>
          <a:lstStyle/>
          <a:p>
            <a:pPr marL="266700" indent="-266700"/>
            <a:r>
              <a:rPr lang="zh-CN" sz="2000" b="1">
                <a:ea typeface="等线" panose="02010600030101010101" pitchFamily="2" charset="-122"/>
              </a:rPr>
              <a:t>2.信息增益</a:t>
            </a:r>
          </a:p>
        </p:txBody>
      </p:sp>
      <p:sp>
        <p:nvSpPr>
          <p:cNvPr id="5" name="文本框 4"/>
          <p:cNvSpPr txBox="1"/>
          <p:nvPr/>
        </p:nvSpPr>
        <p:spPr>
          <a:xfrm>
            <a:off x="161925" y="1304290"/>
            <a:ext cx="4689899" cy="2939523"/>
          </a:xfrm>
          <a:prstGeom prst="rect">
            <a:avLst/>
          </a:prstGeom>
          <a:noFill/>
          <a:ln w="9525">
            <a:noFill/>
          </a:ln>
        </p:spPr>
        <p:txBody>
          <a:bodyPr wrap="square">
            <a:spAutoFit/>
          </a:bodyPr>
          <a:lstStyle/>
          <a:p>
            <a:pPr indent="0">
              <a:lnSpc>
                <a:spcPct val="130000"/>
              </a:lnSpc>
              <a:spcBef>
                <a:spcPts val="0"/>
              </a:spcBef>
              <a:spcAft>
                <a:spcPts val="0"/>
              </a:spcAft>
            </a:pPr>
            <a:r>
              <a:rPr lang="en-US" altLang="zh-CN" sz="1800" b="0">
                <a:ea typeface="宋体" panose="02010600030101010101" pitchFamily="2" charset="-122"/>
              </a:rPr>
              <a:t>     </a:t>
            </a:r>
            <a:r>
              <a:rPr lang="zh-CN" sz="1800" b="0">
                <a:ea typeface="宋体" panose="02010600030101010101" pitchFamily="2" charset="-122"/>
              </a:rPr>
              <a:t>信息增益是针对一个属性而言的，待分类的集合的熵和选定某个属性的条件熵之差。</a:t>
            </a:r>
          </a:p>
          <a:p>
            <a:pPr indent="0">
              <a:lnSpc>
                <a:spcPct val="130000"/>
              </a:lnSpc>
              <a:spcBef>
                <a:spcPts val="0"/>
              </a:spcBef>
              <a:spcAft>
                <a:spcPts val="0"/>
              </a:spcAft>
            </a:pPr>
            <a:r>
              <a:rPr lang="zh-CN" sz="1800" b="0">
                <a:ea typeface="宋体" panose="02010600030101010101" pitchFamily="2" charset="-122"/>
              </a:rPr>
              <a:t> </a:t>
            </a:r>
            <a:r>
              <a:rPr lang="en-US" altLang="zh-CN" sz="1800" b="0">
                <a:ea typeface="宋体" panose="02010600030101010101" pitchFamily="2" charset="-122"/>
              </a:rPr>
              <a:t>    </a:t>
            </a:r>
            <a:r>
              <a:rPr lang="zh-CN" sz="1800" b="0">
                <a:ea typeface="宋体" panose="02010600030101010101" pitchFamily="2" charset="-122"/>
              </a:rPr>
              <a:t>举例说明如下：</a:t>
            </a:r>
          </a:p>
          <a:p>
            <a:pPr indent="0">
              <a:lnSpc>
                <a:spcPct val="130000"/>
              </a:lnSpc>
              <a:spcBef>
                <a:spcPts val="0"/>
              </a:spcBef>
              <a:spcAft>
                <a:spcPts val="0"/>
              </a:spcAft>
            </a:pPr>
            <a:r>
              <a:rPr lang="en-US" altLang="zh-CN" sz="1800" b="0">
                <a:ea typeface="宋体" panose="02010600030101010101" pitchFamily="2" charset="-122"/>
              </a:rPr>
              <a:t>    </a:t>
            </a:r>
            <a:r>
              <a:rPr lang="zh-CN" altLang="en-US" sz="1800" b="0">
                <a:ea typeface="宋体" panose="02010600030101010101" pitchFamily="2" charset="-122"/>
              </a:rPr>
              <a:t>下</a:t>
            </a:r>
            <a:r>
              <a:rPr lang="zh-CN" sz="1800" b="0">
                <a:ea typeface="宋体" panose="02010600030101010101" pitchFamily="2" charset="-122"/>
              </a:rPr>
              <a:t>表是描述天气预报与是否出去打网球的预测数据，该数据集包含4个属性:Outlook、Temperature、Humidity和Windy，学习目标是play或者not play。表中一共14个样例，包括9个正例和5个负例。</a:t>
            </a:r>
          </a:p>
        </p:txBody>
      </p:sp>
      <p:graphicFrame>
        <p:nvGraphicFramePr>
          <p:cNvPr id="6" name="表格 5"/>
          <p:cNvGraphicFramePr/>
          <p:nvPr>
            <p:custDataLst>
              <p:tags r:id="rId1"/>
            </p:custDataLst>
          </p:nvPr>
        </p:nvGraphicFramePr>
        <p:xfrm>
          <a:off x="5037455" y="1306195"/>
          <a:ext cx="3746500" cy="3289935"/>
        </p:xfrm>
        <a:graphic>
          <a:graphicData uri="http://schemas.openxmlformats.org/drawingml/2006/table">
            <a:tbl>
              <a:tblPr firstRow="1" bandRow="1">
                <a:tableStyleId>{5940675A-B579-460E-94D1-54222C63F5DA}</a:tableStyleId>
              </a:tblPr>
              <a:tblGrid>
                <a:gridCol w="730250">
                  <a:extLst>
                    <a:ext uri="{9D8B030D-6E8A-4147-A177-3AD203B41FA5}">
                      <a16:colId xmlns:a16="http://schemas.microsoft.com/office/drawing/2014/main" val="20000"/>
                    </a:ext>
                  </a:extLst>
                </a:gridCol>
                <a:gridCol w="1055370">
                  <a:extLst>
                    <a:ext uri="{9D8B030D-6E8A-4147-A177-3AD203B41FA5}">
                      <a16:colId xmlns:a16="http://schemas.microsoft.com/office/drawing/2014/main" val="20001"/>
                    </a:ext>
                  </a:extLst>
                </a:gridCol>
                <a:gridCol w="795655">
                  <a:extLst>
                    <a:ext uri="{9D8B030D-6E8A-4147-A177-3AD203B41FA5}">
                      <a16:colId xmlns:a16="http://schemas.microsoft.com/office/drawing/2014/main" val="20002"/>
                    </a:ext>
                  </a:extLst>
                </a:gridCol>
                <a:gridCol w="586105">
                  <a:extLst>
                    <a:ext uri="{9D8B030D-6E8A-4147-A177-3AD203B41FA5}">
                      <a16:colId xmlns:a16="http://schemas.microsoft.com/office/drawing/2014/main" val="20003"/>
                    </a:ext>
                  </a:extLst>
                </a:gridCol>
                <a:gridCol w="579120">
                  <a:extLst>
                    <a:ext uri="{9D8B030D-6E8A-4147-A177-3AD203B41FA5}">
                      <a16:colId xmlns:a16="http://schemas.microsoft.com/office/drawing/2014/main" val="20004"/>
                    </a:ext>
                  </a:extLst>
                </a:gridCol>
              </a:tblGrid>
              <a:tr h="365760">
                <a:tc>
                  <a:txBody>
                    <a:bodyPr/>
                    <a:lstStyle/>
                    <a:p>
                      <a:pPr indent="0" algn="ctr">
                        <a:buNone/>
                      </a:pPr>
                      <a:r>
                        <a:rPr lang="en-US" sz="1200" b="1">
                          <a:latin typeface="等线" panose="02010600030101010101" pitchFamily="2" charset="-122"/>
                          <a:ea typeface="等线" panose="02010600030101010101" pitchFamily="2" charset="-122"/>
                          <a:cs typeface="等线" panose="02010600030101010101" pitchFamily="2" charset="-122"/>
                        </a:rPr>
                        <a:t>Outlook</a:t>
                      </a:r>
                      <a:endParaRPr lang="en-US" altLang="en-US" sz="1200" b="1">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00"/>
                    </a:solidFill>
                  </a:tcPr>
                </a:tc>
                <a:tc>
                  <a:txBody>
                    <a:bodyPr/>
                    <a:lstStyle/>
                    <a:p>
                      <a:pPr indent="0" algn="ctr">
                        <a:buNone/>
                      </a:pPr>
                      <a:r>
                        <a:rPr lang="en-US" sz="1200" b="1">
                          <a:latin typeface="等线" panose="02010600030101010101" pitchFamily="2" charset="-122"/>
                          <a:ea typeface="等线" panose="02010600030101010101" pitchFamily="2" charset="-122"/>
                          <a:cs typeface="等线" panose="02010600030101010101" pitchFamily="2" charset="-122"/>
                        </a:rPr>
                        <a:t>Temperature</a:t>
                      </a:r>
                      <a:endParaRPr lang="en-US" altLang="en-US" sz="1200" b="1">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00"/>
                    </a:solidFill>
                  </a:tcPr>
                </a:tc>
                <a:tc>
                  <a:txBody>
                    <a:bodyPr/>
                    <a:lstStyle/>
                    <a:p>
                      <a:pPr indent="0" algn="ctr">
                        <a:buNone/>
                      </a:pPr>
                      <a:r>
                        <a:rPr lang="en-US" sz="1200" b="1">
                          <a:latin typeface="等线" panose="02010600030101010101" pitchFamily="2" charset="-122"/>
                          <a:ea typeface="等线" panose="02010600030101010101" pitchFamily="2" charset="-122"/>
                          <a:cs typeface="等线" panose="02010600030101010101" pitchFamily="2" charset="-122"/>
                        </a:rPr>
                        <a:t>Humidity</a:t>
                      </a:r>
                      <a:endParaRPr lang="en-US" altLang="en-US" sz="1200" b="1">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00"/>
                    </a:solidFill>
                  </a:tcPr>
                </a:tc>
                <a:tc>
                  <a:txBody>
                    <a:bodyPr/>
                    <a:lstStyle/>
                    <a:p>
                      <a:pPr indent="0" algn="ctr">
                        <a:buNone/>
                      </a:pPr>
                      <a:r>
                        <a:rPr lang="en-US" sz="1200" b="1">
                          <a:latin typeface="等线" panose="02010600030101010101" pitchFamily="2" charset="-122"/>
                          <a:ea typeface="等线" panose="02010600030101010101" pitchFamily="2" charset="-122"/>
                          <a:cs typeface="等线" panose="02010600030101010101" pitchFamily="2" charset="-122"/>
                        </a:rPr>
                        <a:t>Windy</a:t>
                      </a:r>
                      <a:endParaRPr lang="en-US" altLang="en-US" sz="1200" b="1">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00"/>
                    </a:solidFill>
                  </a:tcPr>
                </a:tc>
                <a:tc>
                  <a:txBody>
                    <a:bodyPr/>
                    <a:lstStyle/>
                    <a:p>
                      <a:pPr indent="0" algn="ctr">
                        <a:buNone/>
                      </a:pPr>
                      <a:r>
                        <a:rPr lang="en-US" sz="1200" b="1">
                          <a:latin typeface="等线" panose="02010600030101010101" pitchFamily="2" charset="-122"/>
                          <a:ea typeface="等线" panose="02010600030101010101" pitchFamily="2" charset="-122"/>
                          <a:cs typeface="等线" panose="02010600030101010101" pitchFamily="2" charset="-122"/>
                        </a:rPr>
                        <a:t>Play？(类别)</a:t>
                      </a:r>
                      <a:endParaRPr lang="en-US" altLang="en-US" sz="1200" b="1">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364490">
                <a:tc>
                  <a:txBody>
                    <a:bodyPr/>
                    <a:lstStyle/>
                    <a:p>
                      <a:pPr indent="0" algn="ctr">
                        <a:buNone/>
                      </a:pPr>
                      <a:r>
                        <a:rPr lang="en-US" sz="1200" b="0">
                          <a:latin typeface="等线" panose="02010600030101010101" pitchFamily="2" charset="-122"/>
                          <a:ea typeface="等线" panose="02010600030101010101" pitchFamily="2" charset="-122"/>
                          <a:cs typeface="等线" panose="02010600030101010101" pitchFamily="2" charset="-122"/>
                        </a:rPr>
                        <a:t>overcast</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mild</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high</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true</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yes</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extLst>
                  <a:ext uri="{0D108BD9-81ED-4DB2-BD59-A6C34878D82A}">
                    <a16:rowId xmlns:a16="http://schemas.microsoft.com/office/drawing/2014/main" val="10001"/>
                  </a:ext>
                </a:extLst>
              </a:tr>
              <a:tr h="246380">
                <a:tc>
                  <a:txBody>
                    <a:bodyPr/>
                    <a:lstStyle/>
                    <a:p>
                      <a:pPr indent="0" algn="ctr">
                        <a:buNone/>
                      </a:pPr>
                      <a:r>
                        <a:rPr lang="en-US" sz="1200" b="0">
                          <a:latin typeface="等线" panose="02010600030101010101" pitchFamily="2" charset="-122"/>
                          <a:ea typeface="等线" panose="02010600030101010101" pitchFamily="2" charset="-122"/>
                          <a:cs typeface="等线" panose="02010600030101010101" pitchFamily="2" charset="-122"/>
                        </a:rPr>
                        <a:t>overcast</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hot</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normal</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false</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yes</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extLst>
                  <a:ext uri="{0D108BD9-81ED-4DB2-BD59-A6C34878D82A}">
                    <a16:rowId xmlns:a16="http://schemas.microsoft.com/office/drawing/2014/main" val="10002"/>
                  </a:ext>
                </a:extLst>
              </a:tr>
              <a:tr h="182880">
                <a:tc>
                  <a:txBody>
                    <a:bodyPr/>
                    <a:lstStyle/>
                    <a:p>
                      <a:pPr indent="0" algn="ctr">
                        <a:buNone/>
                      </a:pPr>
                      <a:r>
                        <a:rPr lang="en-US" sz="1200" b="0">
                          <a:latin typeface="等线" panose="02010600030101010101" pitchFamily="2" charset="-122"/>
                          <a:ea typeface="等线" panose="02010600030101010101" pitchFamily="2" charset="-122"/>
                          <a:cs typeface="等线" panose="02010600030101010101" pitchFamily="2" charset="-122"/>
                        </a:rPr>
                        <a:t>rain</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mild</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high</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true</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no</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extLst>
                  <a:ext uri="{0D108BD9-81ED-4DB2-BD59-A6C34878D82A}">
                    <a16:rowId xmlns:a16="http://schemas.microsoft.com/office/drawing/2014/main" val="10003"/>
                  </a:ext>
                </a:extLst>
              </a:tr>
              <a:tr h="182880">
                <a:tc>
                  <a:txBody>
                    <a:bodyPr/>
                    <a:lstStyle/>
                    <a:p>
                      <a:pPr indent="0" algn="ctr">
                        <a:buNone/>
                      </a:pPr>
                      <a:r>
                        <a:rPr lang="en-US" sz="1200" b="0">
                          <a:latin typeface="等线" panose="02010600030101010101" pitchFamily="2" charset="-122"/>
                          <a:ea typeface="等线" panose="02010600030101010101" pitchFamily="2" charset="-122"/>
                          <a:cs typeface="等线" panose="02010600030101010101" pitchFamily="2" charset="-122"/>
                        </a:rPr>
                        <a:t>rain</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mild</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high</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false</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yes</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extLst>
                  <a:ext uri="{0D108BD9-81ED-4DB2-BD59-A6C34878D82A}">
                    <a16:rowId xmlns:a16="http://schemas.microsoft.com/office/drawing/2014/main" val="10004"/>
                  </a:ext>
                </a:extLst>
              </a:tr>
              <a:tr h="182880">
                <a:tc>
                  <a:txBody>
                    <a:bodyPr/>
                    <a:lstStyle/>
                    <a:p>
                      <a:pPr indent="0" algn="ctr">
                        <a:buNone/>
                      </a:pPr>
                      <a:r>
                        <a:rPr lang="en-US" sz="1200" b="0">
                          <a:latin typeface="等线" panose="02010600030101010101" pitchFamily="2" charset="-122"/>
                          <a:ea typeface="等线" panose="02010600030101010101" pitchFamily="2" charset="-122"/>
                          <a:cs typeface="等线" panose="02010600030101010101" pitchFamily="2" charset="-122"/>
                        </a:rPr>
                        <a:t>rain</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cool</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normal</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false</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yes</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extLst>
                  <a:ext uri="{0D108BD9-81ED-4DB2-BD59-A6C34878D82A}">
                    <a16:rowId xmlns:a16="http://schemas.microsoft.com/office/drawing/2014/main" val="10005"/>
                  </a:ext>
                </a:extLst>
              </a:tr>
              <a:tr h="182880">
                <a:tc>
                  <a:txBody>
                    <a:bodyPr/>
                    <a:lstStyle/>
                    <a:p>
                      <a:pPr indent="0" algn="ctr">
                        <a:buNone/>
                      </a:pPr>
                      <a:r>
                        <a:rPr lang="en-US" sz="1200" b="0">
                          <a:latin typeface="等线" panose="02010600030101010101" pitchFamily="2" charset="-122"/>
                          <a:ea typeface="等线" panose="02010600030101010101" pitchFamily="2" charset="-122"/>
                          <a:cs typeface="等线" panose="02010600030101010101" pitchFamily="2" charset="-122"/>
                        </a:rPr>
                        <a:t>rain</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cool</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normal</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true</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no</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extLst>
                  <a:ext uri="{0D108BD9-81ED-4DB2-BD59-A6C34878D82A}">
                    <a16:rowId xmlns:a16="http://schemas.microsoft.com/office/drawing/2014/main" val="10006"/>
                  </a:ext>
                </a:extLst>
              </a:tr>
              <a:tr h="229870">
                <a:tc>
                  <a:txBody>
                    <a:bodyPr/>
                    <a:lstStyle/>
                    <a:p>
                      <a:pPr indent="0" algn="ctr">
                        <a:buNone/>
                      </a:pPr>
                      <a:r>
                        <a:rPr lang="en-US" sz="1200" b="0">
                          <a:latin typeface="等线" panose="02010600030101010101" pitchFamily="2" charset="-122"/>
                          <a:ea typeface="等线" panose="02010600030101010101" pitchFamily="2" charset="-122"/>
                          <a:cs typeface="等线" panose="02010600030101010101" pitchFamily="2" charset="-122"/>
                        </a:rPr>
                        <a:t>overcast</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cool</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normal</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true</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yes</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extLst>
                  <a:ext uri="{0D108BD9-81ED-4DB2-BD59-A6C34878D82A}">
                    <a16:rowId xmlns:a16="http://schemas.microsoft.com/office/drawing/2014/main" val="10007"/>
                  </a:ext>
                </a:extLst>
              </a:tr>
              <a:tr h="182880">
                <a:tc>
                  <a:txBody>
                    <a:bodyPr/>
                    <a:lstStyle/>
                    <a:p>
                      <a:pPr indent="0" algn="ctr">
                        <a:buNone/>
                      </a:pPr>
                      <a:r>
                        <a:rPr lang="en-US" sz="1200" b="0">
                          <a:latin typeface="等线" panose="02010600030101010101" pitchFamily="2" charset="-122"/>
                          <a:ea typeface="等线" panose="02010600030101010101" pitchFamily="2" charset="-122"/>
                          <a:cs typeface="等线" panose="02010600030101010101" pitchFamily="2" charset="-122"/>
                        </a:rPr>
                        <a:t>sunny</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mild</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high</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false</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no</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extLst>
                  <a:ext uri="{0D108BD9-81ED-4DB2-BD59-A6C34878D82A}">
                    <a16:rowId xmlns:a16="http://schemas.microsoft.com/office/drawing/2014/main" val="10008"/>
                  </a:ext>
                </a:extLst>
              </a:tr>
              <a:tr h="182880">
                <a:tc>
                  <a:txBody>
                    <a:bodyPr/>
                    <a:lstStyle/>
                    <a:p>
                      <a:pPr indent="0" algn="ctr">
                        <a:buNone/>
                      </a:pPr>
                      <a:r>
                        <a:rPr lang="en-US" sz="1200" b="0">
                          <a:latin typeface="等线" panose="02010600030101010101" pitchFamily="2" charset="-122"/>
                          <a:ea typeface="等线" panose="02010600030101010101" pitchFamily="2" charset="-122"/>
                          <a:cs typeface="等线" panose="02010600030101010101" pitchFamily="2" charset="-122"/>
                        </a:rPr>
                        <a:t>sunny</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cool</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normal</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false</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yes</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extLst>
                  <a:ext uri="{0D108BD9-81ED-4DB2-BD59-A6C34878D82A}">
                    <a16:rowId xmlns:a16="http://schemas.microsoft.com/office/drawing/2014/main" val="10009"/>
                  </a:ext>
                </a:extLst>
              </a:tr>
              <a:tr h="182880">
                <a:tc>
                  <a:txBody>
                    <a:bodyPr/>
                    <a:lstStyle/>
                    <a:p>
                      <a:pPr indent="0" algn="ctr">
                        <a:buNone/>
                      </a:pPr>
                      <a:r>
                        <a:rPr lang="en-US" sz="1200" b="0">
                          <a:latin typeface="等线" panose="02010600030101010101" pitchFamily="2" charset="-122"/>
                          <a:ea typeface="等线" panose="02010600030101010101" pitchFamily="2" charset="-122"/>
                          <a:cs typeface="等线" panose="02010600030101010101" pitchFamily="2" charset="-122"/>
                        </a:rPr>
                        <a:t>rain</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mild</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normal</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false</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yes</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extLst>
                  <a:ext uri="{0D108BD9-81ED-4DB2-BD59-A6C34878D82A}">
                    <a16:rowId xmlns:a16="http://schemas.microsoft.com/office/drawing/2014/main" val="10010"/>
                  </a:ext>
                </a:extLst>
              </a:tr>
              <a:tr h="182880">
                <a:tc>
                  <a:txBody>
                    <a:bodyPr/>
                    <a:lstStyle/>
                    <a:p>
                      <a:pPr indent="0" algn="ctr">
                        <a:buNone/>
                      </a:pPr>
                      <a:r>
                        <a:rPr lang="en-US" sz="1200" b="0">
                          <a:latin typeface="等线" panose="02010600030101010101" pitchFamily="2" charset="-122"/>
                          <a:ea typeface="等线" panose="02010600030101010101" pitchFamily="2" charset="-122"/>
                          <a:cs typeface="等线" panose="02010600030101010101" pitchFamily="2" charset="-122"/>
                        </a:rPr>
                        <a:t>Sunny</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mild</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normal</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false</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yes</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extLst>
                  <a:ext uri="{0D108BD9-81ED-4DB2-BD59-A6C34878D82A}">
                    <a16:rowId xmlns:a16="http://schemas.microsoft.com/office/drawing/2014/main" val="10011"/>
                  </a:ext>
                </a:extLst>
              </a:tr>
              <a:tr h="182880">
                <a:tc>
                  <a:txBody>
                    <a:bodyPr/>
                    <a:lstStyle/>
                    <a:p>
                      <a:pPr indent="0" algn="ctr">
                        <a:buNone/>
                      </a:pPr>
                      <a:r>
                        <a:rPr lang="en-US" sz="1200" b="0">
                          <a:latin typeface="等线" panose="02010600030101010101" pitchFamily="2" charset="-122"/>
                          <a:ea typeface="等线" panose="02010600030101010101" pitchFamily="2" charset="-122"/>
                          <a:cs typeface="等线" panose="02010600030101010101" pitchFamily="2" charset="-122"/>
                        </a:rPr>
                        <a:t>sunny</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hot</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high</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false</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no</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extLst>
                  <a:ext uri="{0D108BD9-81ED-4DB2-BD59-A6C34878D82A}">
                    <a16:rowId xmlns:a16="http://schemas.microsoft.com/office/drawing/2014/main" val="10012"/>
                  </a:ext>
                </a:extLst>
              </a:tr>
              <a:tr h="182880">
                <a:tc>
                  <a:txBody>
                    <a:bodyPr/>
                    <a:lstStyle/>
                    <a:p>
                      <a:pPr indent="0" algn="ctr">
                        <a:buNone/>
                      </a:pPr>
                      <a:r>
                        <a:rPr lang="en-US" sz="1200" b="0">
                          <a:latin typeface="等线" panose="02010600030101010101" pitchFamily="2" charset="-122"/>
                          <a:ea typeface="等线" panose="02010600030101010101" pitchFamily="2" charset="-122"/>
                          <a:cs typeface="等线" panose="02010600030101010101" pitchFamily="2" charset="-122"/>
                        </a:rPr>
                        <a:t>sunny</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hot</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high</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true</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no</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extLst>
                  <a:ext uri="{0D108BD9-81ED-4DB2-BD59-A6C34878D82A}">
                    <a16:rowId xmlns:a16="http://schemas.microsoft.com/office/drawing/2014/main" val="10013"/>
                  </a:ext>
                </a:extLst>
              </a:tr>
              <a:tr h="254635">
                <a:tc>
                  <a:txBody>
                    <a:bodyPr/>
                    <a:lstStyle/>
                    <a:p>
                      <a:pPr indent="0" algn="ctr">
                        <a:buNone/>
                      </a:pPr>
                      <a:r>
                        <a:rPr lang="en-US" sz="1200" b="0">
                          <a:latin typeface="等线" panose="02010600030101010101" pitchFamily="2" charset="-122"/>
                          <a:ea typeface="等线" panose="02010600030101010101" pitchFamily="2" charset="-122"/>
                          <a:cs typeface="等线" panose="02010600030101010101" pitchFamily="2" charset="-122"/>
                        </a:rPr>
                        <a:t>overcast</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hot</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high</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false</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tc>
                  <a:txBody>
                    <a:bodyPr/>
                    <a:lstStyle/>
                    <a:p>
                      <a:pPr indent="0">
                        <a:buNone/>
                      </a:pPr>
                      <a:r>
                        <a:rPr lang="en-US" sz="1200" b="0">
                          <a:latin typeface="等线" panose="02010600030101010101" pitchFamily="2" charset="-122"/>
                          <a:ea typeface="等线" panose="02010600030101010101" pitchFamily="2" charset="-122"/>
                          <a:cs typeface="等线" panose="02010600030101010101" pitchFamily="2" charset="-122"/>
                        </a:rPr>
                        <a:t>yes</a:t>
                      </a:r>
                      <a:endParaRPr lang="en-US" altLang="en-US" sz="1200" b="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gradFill>
                      <a:gsLst>
                        <a:gs pos="50000">
                          <a:srgbClr val="E7E7B2"/>
                        </a:gs>
                        <a:gs pos="0">
                          <a:srgbClr val="EFEFCC"/>
                        </a:gs>
                        <a:gs pos="100000">
                          <a:srgbClr val="DFDF98"/>
                        </a:gs>
                      </a:gsLst>
                      <a:lin scaled="1"/>
                    </a:gradFill>
                  </a:tcPr>
                </a:tc>
                <a:extLst>
                  <a:ext uri="{0D108BD9-81ED-4DB2-BD59-A6C34878D82A}">
                    <a16:rowId xmlns:a16="http://schemas.microsoft.com/office/drawing/2014/main" val="10014"/>
                  </a:ext>
                </a:extLst>
              </a:tr>
            </a:tbl>
          </a:graphicData>
        </a:graphic>
      </p:graphicFrame>
      <p:sp>
        <p:nvSpPr>
          <p:cNvPr id="3" name="文本框 2"/>
          <p:cNvSpPr txBox="1"/>
          <p:nvPr/>
        </p:nvSpPr>
        <p:spPr>
          <a:xfrm>
            <a:off x="5524076" y="976317"/>
            <a:ext cx="2582758" cy="261610"/>
          </a:xfrm>
          <a:prstGeom prst="rect">
            <a:avLst/>
          </a:prstGeom>
          <a:noFill/>
        </p:spPr>
        <p:txBody>
          <a:bodyPr wrap="none" rtlCol="0" anchor="t">
            <a:spAutoFit/>
          </a:bodyPr>
          <a:lstStyle/>
          <a:p>
            <a:pPr indent="0" algn="ctr"/>
            <a:r>
              <a:rPr lang="zh-CN" sz="1100">
                <a:ea typeface="等线" panose="02010600030101010101" pitchFamily="2" charset="-122"/>
                <a:sym typeface="+mn-ea"/>
              </a:rPr>
              <a:t>表：</a:t>
            </a:r>
            <a:r>
              <a:rPr lang="zh-CN" sz="1100">
                <a:latin typeface="Cambria Math" panose="02040503050406030204" charset="0"/>
                <a:ea typeface="等线" panose="02010600030101010101" pitchFamily="2" charset="-122"/>
                <a:sym typeface="+mn-ea"/>
              </a:rPr>
              <a:t>天气预报对打网球决策影响数据集</a:t>
            </a:r>
            <a:endParaRPr lang="zh-CN" altLang="en-US" sz="110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217805"/>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8.3.3决策树算法</a:t>
            </a:r>
          </a:p>
        </p:txBody>
      </p:sp>
      <p:pic>
        <p:nvPicPr>
          <p:cNvPr id="3" name="图片 2"/>
          <p:cNvPicPr>
            <a:picLocks noChangeAspect="1"/>
          </p:cNvPicPr>
          <p:nvPr/>
        </p:nvPicPr>
        <p:blipFill>
          <a:blip r:embed="rId2"/>
          <a:stretch>
            <a:fillRect/>
          </a:stretch>
        </p:blipFill>
        <p:spPr>
          <a:xfrm>
            <a:off x="573405" y="977900"/>
            <a:ext cx="7362825" cy="38481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217805"/>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8.3.3决策树算法</a:t>
            </a:r>
          </a:p>
        </p:txBody>
      </p:sp>
      <p:pic>
        <p:nvPicPr>
          <p:cNvPr id="2" name="图片 1"/>
          <p:cNvPicPr>
            <a:picLocks noChangeAspect="1"/>
          </p:cNvPicPr>
          <p:nvPr/>
        </p:nvPicPr>
        <p:blipFill>
          <a:blip r:embed="rId2"/>
          <a:stretch>
            <a:fillRect/>
          </a:stretch>
        </p:blipFill>
        <p:spPr>
          <a:xfrm>
            <a:off x="458470" y="906780"/>
            <a:ext cx="7874000" cy="4236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217805"/>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8.3.3决策树算法</a:t>
            </a:r>
          </a:p>
        </p:txBody>
      </p:sp>
      <p:sp>
        <p:nvSpPr>
          <p:cNvPr id="104" name="文本框 103"/>
          <p:cNvSpPr txBox="1"/>
          <p:nvPr/>
        </p:nvSpPr>
        <p:spPr>
          <a:xfrm>
            <a:off x="356870" y="910590"/>
            <a:ext cx="8541385" cy="3692525"/>
          </a:xfrm>
          <a:prstGeom prst="rect">
            <a:avLst/>
          </a:prstGeom>
          <a:noFill/>
          <a:ln w="9525">
            <a:noFill/>
          </a:ln>
        </p:spPr>
        <p:txBody>
          <a:bodyPr wrap="square">
            <a:spAutoFit/>
          </a:bodyPr>
          <a:lstStyle/>
          <a:p>
            <a:pPr marL="266700" indent="-266700">
              <a:lnSpc>
                <a:spcPct val="130000"/>
              </a:lnSpc>
              <a:spcBef>
                <a:spcPts val="0"/>
              </a:spcBef>
              <a:spcAft>
                <a:spcPts val="0"/>
              </a:spcAft>
            </a:pPr>
            <a:r>
              <a:rPr lang="en-US" sz="2000" b="1">
                <a:latin typeface="等线" panose="02010600030101010101" pitchFamily="2" charset="-122"/>
              </a:rPr>
              <a:t>     1. I</a:t>
            </a:r>
            <a:r>
              <a:rPr lang="en-US" sz="2000" b="1">
                <a:latin typeface="等线" panose="02010600030101010101" pitchFamily="2" charset="-122"/>
                <a:cs typeface="Times New Roman" panose="02020603050405020304" pitchFamily="18" charset="0"/>
              </a:rPr>
              <a:t>D3</a:t>
            </a:r>
            <a:r>
              <a:rPr lang="zh-CN" sz="2000" b="1">
                <a:ea typeface="等线" panose="02010600030101010101" pitchFamily="2" charset="-122"/>
              </a:rPr>
              <a:t>算法的划分属性选择策略</a:t>
            </a:r>
            <a:endParaRPr lang="en-US" sz="2000" b="0">
              <a:latin typeface="Cambria Math" panose="02040503050406030204" charset="0"/>
              <a:ea typeface="等线" panose="02010600030101010101" pitchFamily="2" charset="-122"/>
              <a:cs typeface="Times New Roman" panose="02020603050405020304" pitchFamily="18" charset="0"/>
            </a:endParaRPr>
          </a:p>
          <a:p>
            <a:pPr marL="266700" indent="-266700">
              <a:lnSpc>
                <a:spcPct val="130000"/>
              </a:lnSpc>
              <a:spcBef>
                <a:spcPts val="0"/>
              </a:spcBef>
              <a:spcAft>
                <a:spcPts val="0"/>
              </a:spcAft>
            </a:pPr>
            <a:r>
              <a:rPr lang="en-US" sz="2000" b="0">
                <a:latin typeface="Cambria Math" panose="02040503050406030204" charset="0"/>
                <a:ea typeface="等线" panose="02010600030101010101" pitchFamily="2" charset="-122"/>
                <a:cs typeface="Times New Roman" panose="02020603050405020304" pitchFamily="18" charset="0"/>
              </a:rPr>
              <a:t>         ID3</a:t>
            </a:r>
            <a:r>
              <a:rPr lang="zh-CN" sz="2000" b="0">
                <a:latin typeface="Cambria Math" panose="02040503050406030204" charset="0"/>
                <a:ea typeface="等线" panose="02010600030101010101" pitchFamily="2" charset="-122"/>
              </a:rPr>
              <a:t>算法在决策树的每一个非叶子结点划分之前，先计算每一个属性所</a:t>
            </a:r>
          </a:p>
          <a:p>
            <a:pPr marL="266700" indent="-266700">
              <a:lnSpc>
                <a:spcPct val="130000"/>
              </a:lnSpc>
              <a:spcBef>
                <a:spcPts val="0"/>
              </a:spcBef>
              <a:spcAft>
                <a:spcPts val="0"/>
              </a:spcAft>
            </a:pPr>
            <a:r>
              <a:rPr lang="zh-CN" sz="2000" b="0">
                <a:latin typeface="Cambria Math" panose="02040503050406030204" charset="0"/>
                <a:ea typeface="等线" panose="02010600030101010101" pitchFamily="2" charset="-122"/>
              </a:rPr>
              <a:t>带来的信息增益，选择</a:t>
            </a:r>
            <a:r>
              <a:rPr lang="zh-CN" sz="2000" b="1">
                <a:latin typeface="Cambria Math" panose="02040503050406030204" charset="0"/>
                <a:ea typeface="等线" panose="02010600030101010101" pitchFamily="2" charset="-122"/>
              </a:rPr>
              <a:t>最大信息增益</a:t>
            </a:r>
            <a:r>
              <a:rPr lang="zh-CN" sz="2000" b="0">
                <a:latin typeface="Cambria Math" panose="02040503050406030204" charset="0"/>
                <a:ea typeface="等线" panose="02010600030101010101" pitchFamily="2" charset="-122"/>
              </a:rPr>
              <a:t>的属性来划分，因为信息增益越大，</a:t>
            </a:r>
          </a:p>
          <a:p>
            <a:pPr marL="266700" indent="-266700">
              <a:lnSpc>
                <a:spcPct val="130000"/>
              </a:lnSpc>
              <a:spcBef>
                <a:spcPts val="0"/>
              </a:spcBef>
              <a:spcAft>
                <a:spcPts val="0"/>
              </a:spcAft>
            </a:pPr>
            <a:r>
              <a:rPr lang="zh-CN" sz="2000" b="0">
                <a:latin typeface="Cambria Math" panose="02040503050406030204" charset="0"/>
                <a:ea typeface="等线" panose="02010600030101010101" pitchFamily="2" charset="-122"/>
              </a:rPr>
              <a:t>区分样本的能力就越强，越具有代表性。</a:t>
            </a:r>
          </a:p>
          <a:p>
            <a:pPr marL="266700" indent="-266700">
              <a:lnSpc>
                <a:spcPct val="130000"/>
              </a:lnSpc>
              <a:spcBef>
                <a:spcPts val="0"/>
              </a:spcBef>
              <a:spcAft>
                <a:spcPts val="0"/>
              </a:spcAft>
            </a:pPr>
            <a:r>
              <a:rPr lang="en-US" altLang="zh-CN" sz="2000" b="1"/>
              <a:t>       </a:t>
            </a:r>
            <a:r>
              <a:rPr lang="zh-CN" altLang="en-US" sz="2000" b="1"/>
              <a:t>4.ID3算法的缺点和改进</a:t>
            </a:r>
          </a:p>
          <a:p>
            <a:pPr marL="266700" indent="-266700">
              <a:lnSpc>
                <a:spcPct val="130000"/>
              </a:lnSpc>
              <a:spcBef>
                <a:spcPts val="0"/>
              </a:spcBef>
              <a:spcAft>
                <a:spcPts val="0"/>
              </a:spcAft>
            </a:pPr>
            <a:r>
              <a:rPr lang="en-US" altLang="zh-CN" sz="2000"/>
              <a:t>       </a:t>
            </a:r>
            <a:r>
              <a:rPr lang="zh-CN" altLang="en-US" sz="2000"/>
              <a:t>ID3的缺点是信息增益偏向取值较多的属性。其原因是当某个属性的取</a:t>
            </a:r>
          </a:p>
          <a:p>
            <a:pPr marL="266700" indent="-266700">
              <a:lnSpc>
                <a:spcPct val="130000"/>
              </a:lnSpc>
              <a:spcBef>
                <a:spcPts val="0"/>
              </a:spcBef>
              <a:spcAft>
                <a:spcPts val="0"/>
              </a:spcAft>
            </a:pPr>
            <a:r>
              <a:rPr lang="zh-CN" altLang="en-US" sz="2000"/>
              <a:t>值较多时，根据此特征划分更容易得到确定性更强的子集划分结果，因此</a:t>
            </a:r>
          </a:p>
          <a:p>
            <a:pPr marL="266700" indent="-266700">
              <a:lnSpc>
                <a:spcPct val="130000"/>
              </a:lnSpc>
              <a:spcBef>
                <a:spcPts val="0"/>
              </a:spcBef>
              <a:spcAft>
                <a:spcPts val="0"/>
              </a:spcAft>
            </a:pPr>
            <a:r>
              <a:rPr lang="zh-CN" altLang="en-US" sz="2000"/>
              <a:t>划分之后的熵更低，则信息增益更大，因此信息增益比较偏向取值较多的</a:t>
            </a:r>
          </a:p>
          <a:p>
            <a:pPr marL="266700" indent="-266700">
              <a:lnSpc>
                <a:spcPct val="130000"/>
              </a:lnSpc>
              <a:spcBef>
                <a:spcPts val="0"/>
              </a:spcBef>
              <a:spcAft>
                <a:spcPts val="0"/>
              </a:spcAft>
            </a:pPr>
            <a:r>
              <a:rPr lang="zh-CN" altLang="en-US" sz="2000"/>
              <a:t>属性。</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217805"/>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8.3.3决策树算法</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7BF5F749-0B4D-4EA5-B29B-8054BA89CB14}"/>
                  </a:ext>
                </a:extLst>
              </p:cNvPr>
              <p:cNvSpPr/>
              <p:nvPr/>
            </p:nvSpPr>
            <p:spPr>
              <a:xfrm>
                <a:off x="317499" y="1051842"/>
                <a:ext cx="8321675" cy="4005520"/>
              </a:xfrm>
              <a:prstGeom prst="rect">
                <a:avLst/>
              </a:prstGeom>
            </p:spPr>
            <p:txBody>
              <a:bodyPr wrap="square">
                <a:spAutoFit/>
              </a:bodyPr>
              <a:lstStyle/>
              <a:p>
                <a:pPr marL="266700" indent="266700">
                  <a:lnSpc>
                    <a:spcPct val="120000"/>
                  </a:lnSpc>
                  <a:spcAft>
                    <a:spcPts val="0"/>
                  </a:spcAft>
                </a:pPr>
                <a:r>
                  <a:rPr lang="en-US" altLang="zh-CN" sz="1800" b="1" kern="100">
                    <a:latin typeface="Cambria Math" panose="02040503050406030204" pitchFamily="18" charset="0"/>
                    <a:cs typeface="Times New Roman" panose="02020603050405020304" pitchFamily="18" charset="0"/>
                  </a:rPr>
                  <a:t>C4.5</a:t>
                </a:r>
                <a:r>
                  <a:rPr lang="zh-CN" altLang="zh-CN" sz="1800" b="1" kern="100">
                    <a:latin typeface="Cambria Math" panose="02040503050406030204" pitchFamily="18" charset="0"/>
                    <a:cs typeface="Times New Roman" panose="02020603050405020304" pitchFamily="18" charset="0"/>
                  </a:rPr>
                  <a:t>算法</a:t>
                </a:r>
                <a:r>
                  <a:rPr lang="zh-CN" altLang="zh-CN" sz="1800" kern="100">
                    <a:latin typeface="Cambria Math" panose="02040503050406030204" pitchFamily="18" charset="0"/>
                    <a:cs typeface="Times New Roman" panose="02020603050405020304" pitchFamily="18" charset="0"/>
                  </a:rPr>
                  <a:t>是</a:t>
                </a:r>
                <a:r>
                  <a:rPr lang="en-US" altLang="zh-CN" sz="1800" kern="100">
                    <a:latin typeface="Cambria Math" panose="02040503050406030204" pitchFamily="18" charset="0"/>
                    <a:cs typeface="Times New Roman" panose="02020603050405020304" pitchFamily="18" charset="0"/>
                  </a:rPr>
                  <a:t>J. Ross Quinlan</a:t>
                </a:r>
                <a:r>
                  <a:rPr lang="zh-CN" altLang="zh-CN" sz="1800" kern="100">
                    <a:latin typeface="Cambria Math" panose="02040503050406030204" pitchFamily="18" charset="0"/>
                    <a:cs typeface="Times New Roman" panose="02020603050405020304" pitchFamily="18" charset="0"/>
                  </a:rPr>
                  <a:t>在</a:t>
                </a:r>
                <a:r>
                  <a:rPr lang="en-US" altLang="zh-CN" sz="1800" kern="100">
                    <a:latin typeface="Cambria Math" panose="02040503050406030204" pitchFamily="18" charset="0"/>
                    <a:cs typeface="Times New Roman" panose="02020603050405020304" pitchFamily="18" charset="0"/>
                  </a:rPr>
                  <a:t>ID3</a:t>
                </a:r>
                <a:r>
                  <a:rPr lang="zh-CN" altLang="zh-CN" sz="1800" kern="100">
                    <a:latin typeface="Cambria Math" panose="02040503050406030204" pitchFamily="18" charset="0"/>
                    <a:cs typeface="Times New Roman" panose="02020603050405020304" pitchFamily="18" charset="0"/>
                  </a:rPr>
                  <a:t>的基础上提出的一种改进算法，它采用</a:t>
                </a:r>
                <a:r>
                  <a:rPr lang="en-US" altLang="zh-CN" sz="1800" kern="100">
                    <a:latin typeface="Cambria Math" panose="02040503050406030204" pitchFamily="18" charset="0"/>
                    <a:cs typeface="Times New Roman" panose="02020603050405020304" pitchFamily="18" charset="0"/>
                  </a:rPr>
                  <a:t> </a:t>
                </a:r>
                <a:r>
                  <a:rPr lang="zh-CN" altLang="zh-CN" sz="1800" b="1" kern="100">
                    <a:latin typeface="Cambria Math" panose="02040503050406030204" pitchFamily="18" charset="0"/>
                    <a:cs typeface="Times New Roman" panose="02020603050405020304" pitchFamily="18" charset="0"/>
                  </a:rPr>
                  <a:t>信息增益比</a:t>
                </a:r>
                <a:r>
                  <a:rPr lang="zh-CN" altLang="zh-CN" sz="1800" kern="100">
                    <a:latin typeface="Cambria Math" panose="02040503050406030204" pitchFamily="18" charset="0"/>
                    <a:cs typeface="Times New Roman" panose="02020603050405020304" pitchFamily="18" charset="0"/>
                  </a:rPr>
                  <a:t>作为选择划分属性差别规则。</a:t>
                </a:r>
                <a:r>
                  <a:rPr lang="en-US" altLang="zh-CN" sz="1800" kern="100">
                    <a:latin typeface="Cambria Math" panose="02040503050406030204" pitchFamily="18" charset="0"/>
                    <a:cs typeface="Times New Roman" panose="02020603050405020304" pitchFamily="18" charset="0"/>
                  </a:rPr>
                  <a:t> </a:t>
                </a:r>
                <a:r>
                  <a:rPr lang="zh-CN" altLang="zh-CN" sz="1800" kern="100">
                    <a:latin typeface="Cambria Math" panose="02040503050406030204" pitchFamily="18" charset="0"/>
                    <a:cs typeface="Times New Roman" panose="02020603050405020304" pitchFamily="18" charset="0"/>
                  </a:rPr>
                  <a:t>信息增益比的定义为：</a:t>
                </a:r>
              </a:p>
              <a:p>
                <a:pPr marL="266700" indent="266700">
                  <a:lnSpc>
                    <a:spcPct val="120000"/>
                  </a:lnSpc>
                  <a:spcAft>
                    <a:spcPts val="0"/>
                  </a:spcAft>
                </a:pPr>
                <a14:m>
                  <m:oMathPara xmlns:m="http://schemas.openxmlformats.org/officeDocument/2006/math">
                    <m:oMathParaPr>
                      <m:jc m:val="centerGroup"/>
                    </m:oMathParaPr>
                    <m:oMath xmlns:m="http://schemas.openxmlformats.org/officeDocument/2006/math">
                      <m:r>
                        <a:rPr lang="en-US" altLang="zh-CN" sz="1800" i="1" kern="100">
                          <a:latin typeface="Cambria Math" panose="02040503050406030204" pitchFamily="18" charset="0"/>
                          <a:cs typeface="Times New Roman" panose="02020603050405020304" pitchFamily="18" charset="0"/>
                        </a:rPr>
                        <m:t>𝐺𝑎𝑖𝑛𝑅𝑎𝑡𝑖𝑜</m:t>
                      </m:r>
                      <m:d>
                        <m:dPr>
                          <m:ctrlPr>
                            <a:rPr lang="zh-CN" altLang="zh-CN" sz="1800" i="1" kern="100">
                              <a:latin typeface="Cambria Math" panose="02040503050406030204" pitchFamily="18" charset="0"/>
                              <a:cs typeface="Times New Roman" panose="02020603050405020304" pitchFamily="18" charset="0"/>
                            </a:rPr>
                          </m:ctrlPr>
                        </m:dPr>
                        <m:e>
                          <m:r>
                            <a:rPr lang="en-US" altLang="zh-CN" sz="1800" i="1" kern="100">
                              <a:latin typeface="Cambria Math" panose="02040503050406030204" pitchFamily="18" charset="0"/>
                              <a:cs typeface="Times New Roman" panose="02020603050405020304" pitchFamily="18" charset="0"/>
                            </a:rPr>
                            <m:t>𝐴</m:t>
                          </m:r>
                        </m:e>
                      </m:d>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𝐺𝑎𝑖𝑛</m:t>
                      </m:r>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𝐴</m:t>
                      </m:r>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𝑆𝑝𝑙𝑖𝑡𝐼𝑛𝑓𝑜</m:t>
                      </m:r>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𝐴</m:t>
                      </m:r>
                      <m:r>
                        <a:rPr lang="en-US" altLang="zh-CN" sz="1800" i="1" kern="100">
                          <a:latin typeface="Cambria Math" panose="02040503050406030204" pitchFamily="18" charset="0"/>
                          <a:cs typeface="Times New Roman" panose="02020603050405020304" pitchFamily="18" charset="0"/>
                        </a:rPr>
                        <m:t>)</m:t>
                      </m:r>
                    </m:oMath>
                  </m:oMathPara>
                </a14:m>
                <a:endParaRPr lang="zh-CN" altLang="zh-CN" sz="1800" i="1" kern="100">
                  <a:latin typeface="Cambria Math" panose="02040503050406030204" pitchFamily="18" charset="0"/>
                  <a:cs typeface="Times New Roman" panose="02020603050405020304" pitchFamily="18" charset="0"/>
                </a:endParaRPr>
              </a:p>
              <a:p>
                <a:pPr marL="266700" indent="266700">
                  <a:lnSpc>
                    <a:spcPct val="120000"/>
                  </a:lnSpc>
                  <a:spcAft>
                    <a:spcPts val="0"/>
                  </a:spcAft>
                </a:pPr>
                <a:r>
                  <a:rPr lang="zh-CN" altLang="zh-CN" sz="1800" kern="100">
                    <a:latin typeface="Cambria Math" panose="02040503050406030204" pitchFamily="18" charset="0"/>
                    <a:cs typeface="Times New Roman" panose="02020603050405020304" pitchFamily="18" charset="0"/>
                  </a:rPr>
                  <a:t>其中，</a:t>
                </a:r>
                <a14:m>
                  <m:oMath xmlns:m="http://schemas.openxmlformats.org/officeDocument/2006/math">
                    <m:r>
                      <a:rPr lang="en-US" altLang="zh-CN" sz="1800" i="1" kern="100">
                        <a:latin typeface="Cambria Math" panose="02040503050406030204" pitchFamily="18" charset="0"/>
                        <a:cs typeface="Times New Roman" panose="02020603050405020304" pitchFamily="18" charset="0"/>
                      </a:rPr>
                      <m:t>𝐺𝑎𝑖𝑛</m:t>
                    </m:r>
                    <m:r>
                      <a:rPr lang="en-US" altLang="zh-CN" sz="1800"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𝐴</m:t>
                    </m:r>
                    <m:r>
                      <a:rPr lang="en-US" altLang="zh-CN" sz="1800" kern="100">
                        <a:latin typeface="Cambria Math" panose="02040503050406030204" pitchFamily="18" charset="0"/>
                        <a:cs typeface="Times New Roman" panose="02020603050405020304" pitchFamily="18" charset="0"/>
                      </a:rPr>
                      <m:t>)</m:t>
                    </m:r>
                  </m:oMath>
                </a14:m>
                <a:r>
                  <a:rPr lang="zh-CN" altLang="zh-CN" sz="1800" kern="100">
                    <a:latin typeface="Cambria Math" panose="02040503050406030204" pitchFamily="18" charset="0"/>
                    <a:cs typeface="Times New Roman" panose="02020603050405020304" pitchFamily="18" charset="0"/>
                  </a:rPr>
                  <a:t>就是上面所述的信息增益，</a:t>
                </a:r>
                <a14:m>
                  <m:oMath xmlns:m="http://schemas.openxmlformats.org/officeDocument/2006/math">
                    <m:r>
                      <a:rPr lang="en-US" altLang="zh-CN" sz="1800" i="1" kern="100">
                        <a:latin typeface="Cambria Math" panose="02040503050406030204" pitchFamily="18" charset="0"/>
                        <a:cs typeface="Times New Roman" panose="02020603050405020304" pitchFamily="18" charset="0"/>
                      </a:rPr>
                      <m:t>𝑝𝑙𝑖𝑡𝐼𝑛𝑓𝑜</m:t>
                    </m:r>
                    <m:r>
                      <a:rPr lang="en-US" altLang="zh-CN" sz="1800"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𝐴</m:t>
                    </m:r>
                    <m:r>
                      <a:rPr lang="en-US" altLang="zh-CN" sz="1800" kern="100">
                        <a:latin typeface="Cambria Math" panose="02040503050406030204" pitchFamily="18" charset="0"/>
                        <a:cs typeface="Times New Roman" panose="02020603050405020304" pitchFamily="18" charset="0"/>
                      </a:rPr>
                      <m:t>)</m:t>
                    </m:r>
                  </m:oMath>
                </a14:m>
                <a:r>
                  <a:rPr lang="zh-CN" altLang="zh-CN" sz="1800" kern="100">
                    <a:latin typeface="Cambria Math" panose="02040503050406030204" pitchFamily="18" charset="0"/>
                    <a:cs typeface="Times New Roman" panose="02020603050405020304" pitchFamily="18" charset="0"/>
                  </a:rPr>
                  <a:t>（分裂信息）定义为：</a:t>
                </a:r>
              </a:p>
              <a:p>
                <a:pPr marL="266700" indent="266700">
                  <a:lnSpc>
                    <a:spcPct val="120000"/>
                  </a:lnSpc>
                  <a:spcAft>
                    <a:spcPts val="0"/>
                  </a:spcAft>
                </a:pPr>
                <a14:m>
                  <m:oMathPara xmlns:m="http://schemas.openxmlformats.org/officeDocument/2006/math">
                    <m:oMathParaPr>
                      <m:jc m:val="centerGroup"/>
                    </m:oMathParaPr>
                    <m:oMath xmlns:m="http://schemas.openxmlformats.org/officeDocument/2006/math">
                      <m:r>
                        <a:rPr lang="en-US" altLang="zh-CN" sz="1800" i="1" kern="100">
                          <a:latin typeface="Cambria Math" panose="02040503050406030204" pitchFamily="18" charset="0"/>
                          <a:cs typeface="Times New Roman" panose="02020603050405020304" pitchFamily="18" charset="0"/>
                        </a:rPr>
                        <m:t>𝑆𝑝𝑙𝑖𝑡𝐼𝑛𝑓</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latin typeface="Cambria Math" panose="02040503050406030204" pitchFamily="18" charset="0"/>
                              <a:cs typeface="Times New Roman" panose="02020603050405020304" pitchFamily="18" charset="0"/>
                            </a:rPr>
                            <m:t>𝑜</m:t>
                          </m:r>
                        </m:e>
                        <m:sub>
                          <m:r>
                            <a:rPr lang="en-US" altLang="zh-CN" sz="1800" i="1" kern="100">
                              <a:latin typeface="Cambria Math" panose="02040503050406030204" pitchFamily="18" charset="0"/>
                              <a:cs typeface="Times New Roman" panose="02020603050405020304" pitchFamily="18" charset="0"/>
                            </a:rPr>
                            <m:t>𝐴</m:t>
                          </m:r>
                        </m:sub>
                      </m:sSub>
                      <m:r>
                        <a:rPr lang="en-US" altLang="zh-CN" sz="1800"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𝐷</m:t>
                      </m:r>
                      <m:r>
                        <a:rPr lang="en-US" altLang="zh-CN" sz="1800"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m:t>
                      </m:r>
                      <m:nary>
                        <m:naryPr>
                          <m: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kern="100">
                              <a:latin typeface="Cambria Math" panose="02040503050406030204" pitchFamily="18" charset="0"/>
                              <a:cs typeface="Times New Roman" panose="02020603050405020304" pitchFamily="18" charset="0"/>
                            </a:rPr>
                            <m:t>𝑗</m:t>
                          </m:r>
                          <m:r>
                            <a:rPr lang="en-US" altLang="zh-CN" sz="1800" kern="100">
                              <a:latin typeface="Cambria Math" panose="02040503050406030204" pitchFamily="18" charset="0"/>
                              <a:cs typeface="Times New Roman" panose="02020603050405020304" pitchFamily="18" charset="0"/>
                            </a:rPr>
                            <m:t>=1</m:t>
                          </m:r>
                        </m:sub>
                        <m:sup>
                          <m:r>
                            <a:rPr lang="en-US" altLang="zh-CN" sz="1800" i="1" kern="100">
                              <a:latin typeface="Cambria Math" panose="02040503050406030204" pitchFamily="18" charset="0"/>
                              <a:cs typeface="Times New Roman" panose="02020603050405020304" pitchFamily="18" charset="0"/>
                            </a:rPr>
                            <m:t>𝑣</m:t>
                          </m:r>
                        </m:sup>
                        <m:e>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kern="100">
                                  <a:latin typeface="Cambria Math" panose="02040503050406030204" pitchFamily="18" charset="0"/>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latin typeface="Cambria Math" panose="02040503050406030204" pitchFamily="18" charset="0"/>
                                      <a:cs typeface="Times New Roman" panose="02020603050405020304" pitchFamily="18" charset="0"/>
                                    </a:rPr>
                                    <m:t>𝐷</m:t>
                                  </m:r>
                                </m:e>
                                <m:sub>
                                  <m:r>
                                    <a:rPr lang="en-US" altLang="zh-CN" sz="1800" i="1" kern="100">
                                      <a:latin typeface="Cambria Math" panose="02040503050406030204" pitchFamily="18" charset="0"/>
                                      <a:cs typeface="Times New Roman" panose="02020603050405020304" pitchFamily="18" charset="0"/>
                                    </a:rPr>
                                    <m:t>𝑗</m:t>
                                  </m:r>
                                </m:sub>
                              </m:sSub>
                              <m:r>
                                <a:rPr lang="en-US" altLang="zh-CN" sz="1800" kern="100">
                                  <a:latin typeface="Cambria Math" panose="02040503050406030204" pitchFamily="18" charset="0"/>
                                  <a:cs typeface="Times New Roman" panose="02020603050405020304" pitchFamily="18" charset="0"/>
                                </a:rPr>
                                <m:t>|</m:t>
                              </m:r>
                            </m:num>
                            <m:den>
                              <m:r>
                                <a:rPr lang="en-US" altLang="zh-CN" sz="1800"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𝐷</m:t>
                              </m:r>
                              <m:r>
                                <a:rPr lang="en-US" altLang="zh-CN" sz="1800" kern="100">
                                  <a:latin typeface="Cambria Math" panose="02040503050406030204" pitchFamily="18" charset="0"/>
                                  <a:cs typeface="Times New Roman" panose="02020603050405020304" pitchFamily="18" charset="0"/>
                                </a:rPr>
                                <m:t>|</m:t>
                              </m:r>
                            </m:den>
                          </m:f>
                        </m:e>
                      </m:nary>
                      <m:r>
                        <a:rPr lang="zh-CN" altLang="zh-CN" sz="1800" kern="100">
                          <a:latin typeface="Cambria Math" panose="02040503050406030204" pitchFamily="18" charset="0"/>
                          <a:cs typeface="Times New Roman" panose="02020603050405020304" pitchFamily="18" charset="0"/>
                        </a:rPr>
                        <m:t>×</m:t>
                      </m:r>
                      <m:func>
                        <m:func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latin typeface="Cambria Math" panose="02040503050406030204" pitchFamily="18" charset="0"/>
                                  <a:cs typeface="Times New Roman" panose="02020603050405020304" pitchFamily="18" charset="0"/>
                                </a:rPr>
                                <m:t>𝑙𝑜𝑔</m:t>
                              </m:r>
                            </m:e>
                            <m:sub>
                              <m:r>
                                <a:rPr lang="en-US" altLang="zh-CN" sz="1800" kern="100">
                                  <a:latin typeface="Cambria Math" panose="02040503050406030204" pitchFamily="18" charset="0"/>
                                  <a:cs typeface="Times New Roman" panose="02020603050405020304" pitchFamily="18" charset="0"/>
                                </a:rPr>
                                <m:t>2</m:t>
                              </m:r>
                            </m:sub>
                          </m:sSub>
                        </m:fName>
                        <m:e>
                          <m:r>
                            <a:rPr lang="en-US" altLang="zh-CN" sz="1800" kern="100">
                              <a:latin typeface="Cambria Math" panose="02040503050406030204" pitchFamily="18" charset="0"/>
                              <a:cs typeface="Times New Roman" panose="02020603050405020304" pitchFamily="18" charset="0"/>
                            </a:rPr>
                            <m:t>(</m:t>
                          </m:r>
                        </m:e>
                      </m:func>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kern="100">
                              <a:latin typeface="Cambria Math" panose="02040503050406030204" pitchFamily="18" charset="0"/>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latin typeface="Cambria Math" panose="02040503050406030204" pitchFamily="18" charset="0"/>
                                  <a:cs typeface="Times New Roman" panose="02020603050405020304" pitchFamily="18" charset="0"/>
                                </a:rPr>
                                <m:t>𝐷</m:t>
                              </m:r>
                            </m:e>
                            <m:sub>
                              <m:r>
                                <a:rPr lang="en-US" altLang="zh-CN" sz="1800" i="1" kern="100">
                                  <a:latin typeface="Cambria Math" panose="02040503050406030204" pitchFamily="18" charset="0"/>
                                  <a:cs typeface="Times New Roman" panose="02020603050405020304" pitchFamily="18" charset="0"/>
                                </a:rPr>
                                <m:t>𝑗</m:t>
                              </m:r>
                            </m:sub>
                          </m:sSub>
                          <m:r>
                            <a:rPr lang="en-US" altLang="zh-CN" sz="1800" kern="100">
                              <a:latin typeface="Cambria Math" panose="02040503050406030204" pitchFamily="18" charset="0"/>
                              <a:cs typeface="Times New Roman" panose="02020603050405020304" pitchFamily="18" charset="0"/>
                            </a:rPr>
                            <m:t>|</m:t>
                          </m:r>
                        </m:num>
                        <m:den>
                          <m:r>
                            <a:rPr lang="en-US" altLang="zh-CN" sz="1800"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𝐷</m:t>
                          </m:r>
                          <m:r>
                            <a:rPr lang="en-US" altLang="zh-CN" sz="1800" kern="100">
                              <a:latin typeface="Cambria Math" panose="02040503050406030204" pitchFamily="18" charset="0"/>
                              <a:cs typeface="Times New Roman" panose="02020603050405020304" pitchFamily="18" charset="0"/>
                            </a:rPr>
                            <m:t>|</m:t>
                          </m:r>
                        </m:den>
                      </m:f>
                      <m:r>
                        <a:rPr lang="en-US" altLang="zh-CN" sz="1800" kern="100">
                          <a:latin typeface="Cambria Math" panose="02040503050406030204" pitchFamily="18" charset="0"/>
                          <a:cs typeface="Times New Roman" panose="02020603050405020304" pitchFamily="18" charset="0"/>
                        </a:rPr>
                        <m:t>)</m:t>
                      </m:r>
                    </m:oMath>
                  </m:oMathPara>
                </a14:m>
                <a:endParaRPr lang="zh-CN" altLang="zh-CN" sz="1800" kern="100">
                  <a:latin typeface="Cambria Math" panose="02040503050406030204" pitchFamily="18" charset="0"/>
                  <a:cs typeface="Times New Roman" panose="02020603050405020304" pitchFamily="18" charset="0"/>
                </a:endParaRPr>
              </a:p>
              <a:p>
                <a:pPr marL="266700" indent="266700">
                  <a:lnSpc>
                    <a:spcPct val="120000"/>
                  </a:lnSpc>
                  <a:spcAft>
                    <a:spcPts val="0"/>
                  </a:spcAft>
                </a:pPr>
                <a:r>
                  <a:rPr lang="zh-CN" altLang="zh-CN" sz="1800" kern="100">
                    <a:latin typeface="Cambria Math" panose="02040503050406030204" pitchFamily="18" charset="0"/>
                    <a:cs typeface="Times New Roman" panose="02020603050405020304" pitchFamily="18" charset="0"/>
                  </a:rPr>
                  <a:t>分裂信息</a:t>
                </a:r>
                <a14:m>
                  <m:oMath xmlns:m="http://schemas.openxmlformats.org/officeDocument/2006/math">
                    <m:r>
                      <a:rPr lang="en-US" altLang="zh-CN" sz="1800" i="1" kern="100">
                        <a:latin typeface="Cambria Math" panose="02040503050406030204" pitchFamily="18" charset="0"/>
                        <a:cs typeface="Times New Roman" panose="02020603050405020304" pitchFamily="18" charset="0"/>
                      </a:rPr>
                      <m:t>𝑝𝑙𝑖𝑡𝐼𝑛𝑓𝑜</m:t>
                    </m:r>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𝐴</m:t>
                    </m:r>
                    <m:r>
                      <a:rPr lang="en-US" altLang="zh-CN" sz="1800" i="1" kern="100">
                        <a:latin typeface="Cambria Math" panose="02040503050406030204" pitchFamily="18" charset="0"/>
                        <a:cs typeface="Times New Roman" panose="02020603050405020304" pitchFamily="18" charset="0"/>
                      </a:rPr>
                      <m:t>)</m:t>
                    </m:r>
                  </m:oMath>
                </a14:m>
                <a:r>
                  <a:rPr lang="zh-CN" altLang="zh-CN" sz="1800" kern="100">
                    <a:latin typeface="Cambria Math" panose="02040503050406030204" pitchFamily="18" charset="0"/>
                    <a:cs typeface="Times New Roman" panose="02020603050405020304" pitchFamily="18" charset="0"/>
                  </a:rPr>
                  <a:t>是用来衡量属性分裂数据的广度和均匀性，一个属性分割样本的广度越大，均匀性越强（不确定性大），则该属性的分裂信息越大，增益率</a:t>
                </a:r>
                <a:r>
                  <a:rPr lang="en-US" altLang="zh-CN" sz="1800" kern="100">
                    <a:latin typeface="Cambria Math" panose="02040503050406030204" pitchFamily="18" charset="0"/>
                    <a:cs typeface="Times New Roman" panose="02020603050405020304" pitchFamily="18" charset="0"/>
                  </a:rPr>
                  <a:t>GainRatio</a:t>
                </a:r>
                <a:r>
                  <a:rPr lang="zh-CN" altLang="zh-CN" sz="1800" kern="100">
                    <a:latin typeface="Cambria Math" panose="02040503050406030204" pitchFamily="18" charset="0"/>
                    <a:cs typeface="Times New Roman" panose="02020603050405020304" pitchFamily="18" charset="0"/>
                  </a:rPr>
                  <a:t>就越小，因此分裂信息项降低了选择那些值较多且均匀分布的属性的可能性。</a:t>
                </a:r>
              </a:p>
              <a:p>
                <a:pPr marL="266700" indent="266700">
                  <a:lnSpc>
                    <a:spcPct val="120000"/>
                  </a:lnSpc>
                  <a:spcAft>
                    <a:spcPts val="0"/>
                  </a:spcAft>
                </a:pPr>
                <a:r>
                  <a:rPr lang="en-US" altLang="zh-CN" sz="1800" kern="100">
                    <a:latin typeface="Cambria Math" panose="02040503050406030204" pitchFamily="18" charset="0"/>
                    <a:cs typeface="Times New Roman" panose="02020603050405020304" pitchFamily="18" charset="0"/>
                  </a:rPr>
                  <a:t>C4.5</a:t>
                </a:r>
                <a:r>
                  <a:rPr lang="zh-CN" altLang="zh-CN" sz="1800" kern="100">
                    <a:latin typeface="Cambria Math" panose="02040503050406030204" pitchFamily="18" charset="0"/>
                    <a:cs typeface="Times New Roman" panose="02020603050405020304" pitchFamily="18" charset="0"/>
                  </a:rPr>
                  <a:t>算法选择</a:t>
                </a:r>
                <a:r>
                  <a:rPr lang="zh-CN" altLang="zh-CN" sz="1800" b="1" kern="100">
                    <a:latin typeface="Cambria Math" panose="02040503050406030204" pitchFamily="18" charset="0"/>
                    <a:cs typeface="Times New Roman" panose="02020603050405020304" pitchFamily="18" charset="0"/>
                  </a:rPr>
                  <a:t>信息增益率最高</a:t>
                </a:r>
                <a:r>
                  <a:rPr lang="zh-CN" altLang="zh-CN" sz="1800" kern="100">
                    <a:latin typeface="Cambria Math" panose="02040503050406030204" pitchFamily="18" charset="0"/>
                    <a:cs typeface="Times New Roman" panose="02020603050405020304" pitchFamily="18" charset="0"/>
                  </a:rPr>
                  <a:t>的属性作为划分属性。</a:t>
                </a:r>
              </a:p>
            </p:txBody>
          </p:sp>
        </mc:Choice>
        <mc:Fallback xmlns="">
          <p:sp>
            <p:nvSpPr>
              <p:cNvPr id="3" name="矩形 2">
                <a:extLst>
                  <a:ext uri="{FF2B5EF4-FFF2-40B4-BE49-F238E27FC236}">
                    <a16:creationId xmlns:a16="http://schemas.microsoft.com/office/drawing/2014/main" id="{7BF5F749-0B4D-4EA5-B29B-8054BA89CB14}"/>
                  </a:ext>
                </a:extLst>
              </p:cNvPr>
              <p:cNvSpPr>
                <a:spLocks noRot="1" noChangeAspect="1" noMove="1" noResize="1" noEditPoints="1" noAdjustHandles="1" noChangeArrowheads="1" noChangeShapeType="1" noTextEdit="1"/>
              </p:cNvSpPr>
              <p:nvPr/>
            </p:nvSpPr>
            <p:spPr>
              <a:xfrm>
                <a:off x="317499" y="1051842"/>
                <a:ext cx="8321675" cy="4005520"/>
              </a:xfrm>
              <a:prstGeom prst="rect">
                <a:avLst/>
              </a:prstGeom>
              <a:blipFill>
                <a:blip r:embed="rId2"/>
                <a:stretch>
                  <a:fillRect t="-304" r="-3370" b="-1522"/>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65417" y="3077211"/>
            <a:ext cx="8813165" cy="2051203"/>
          </a:xfrm>
          <a:prstGeom prst="rect">
            <a:avLst/>
          </a:prstGeom>
          <a:noFill/>
          <a:ln w="9525">
            <a:noFill/>
          </a:ln>
        </p:spPr>
        <p:txBody>
          <a:bodyPr wrap="square">
            <a:spAutoFit/>
          </a:bodyPr>
          <a:lstStyle/>
          <a:p>
            <a:pPr marL="266700" indent="-266700">
              <a:lnSpc>
                <a:spcPct val="130000"/>
              </a:lnSpc>
              <a:spcBef>
                <a:spcPts val="0"/>
              </a:spcBef>
              <a:spcAft>
                <a:spcPts val="0"/>
              </a:spcAft>
            </a:pPr>
            <a:r>
              <a:rPr lang="en-US" sz="2000" b="0">
                <a:latin typeface="Cambria Math" panose="02040503050406030204" charset="0"/>
                <a:ea typeface="等线" panose="02010600030101010101" pitchFamily="2" charset="-122"/>
                <a:cs typeface="Times New Roman" panose="02020603050405020304" pitchFamily="18" charset="0"/>
              </a:rPr>
              <a:t>             </a:t>
            </a:r>
            <a:r>
              <a:rPr sz="2000" b="0">
                <a:latin typeface="Cambria Math" panose="02040503050406030204" charset="0"/>
                <a:ea typeface="等线" panose="02010600030101010101" pitchFamily="2" charset="-122"/>
              </a:rPr>
              <a:t>其中，t代表给定的节点，i代表标签的任意分类，</a:t>
            </a:r>
            <a:r>
              <a:rPr lang="en-US" altLang="zh-CN" sz="2000" b="0">
                <a:latin typeface="Cambria Math" panose="02040503050406030204" charset="0"/>
                <a:ea typeface="等线" panose="02010600030101010101" pitchFamily="2" charset="-122"/>
              </a:rPr>
              <a:t>p(i|t)</a:t>
            </a:r>
            <a:r>
              <a:rPr lang="en-US" sz="2000" b="0">
                <a:latin typeface="Cambria Math" panose="02040503050406030204" charset="0"/>
                <a:ea typeface="等线" panose="02010600030101010101" pitchFamily="2" charset="-122"/>
              </a:rPr>
              <a:t> </a:t>
            </a:r>
            <a:r>
              <a:rPr sz="2000" b="0">
                <a:latin typeface="Cambria Math" panose="02040503050406030204" charset="0"/>
                <a:ea typeface="等线" panose="02010600030101010101" pitchFamily="2" charset="-122"/>
              </a:rPr>
              <a:t>代表标签分类i在节点t上所占的比例。</a:t>
            </a:r>
            <a:endParaRPr lang="en-US" altLang="zh-CN" sz="2000" b="0">
              <a:latin typeface="Cambria Math" panose="02040503050406030204" charset="0"/>
              <a:ea typeface="等线" panose="02010600030101010101" pitchFamily="2" charset="-122"/>
            </a:endParaRPr>
          </a:p>
          <a:p>
            <a:pPr marL="266700" indent="-266700">
              <a:lnSpc>
                <a:spcPct val="130000"/>
              </a:lnSpc>
              <a:spcBef>
                <a:spcPts val="0"/>
              </a:spcBef>
              <a:spcAft>
                <a:spcPts val="0"/>
              </a:spcAft>
            </a:pPr>
            <a:r>
              <a:rPr lang="en-US" altLang="zh-CN" sz="2000">
                <a:latin typeface="Cambria Math" panose="02040503050406030204" charset="0"/>
                <a:ea typeface="等线" panose="02010600030101010101" pitchFamily="2" charset="-122"/>
              </a:rPr>
              <a:t>             </a:t>
            </a:r>
            <a:r>
              <a:rPr lang="en-US" altLang="zh-CN" sz="2000">
                <a:latin typeface="Cambria Math" panose="02040503050406030204" charset="0"/>
              </a:rPr>
              <a:t>CART</a:t>
            </a:r>
            <a:r>
              <a:rPr lang="zh-CN" altLang="en-US" sz="2000">
                <a:latin typeface="Cambria Math" panose="02040503050406030204" charset="0"/>
              </a:rPr>
              <a:t>分类树算法每次仅对某个特征（离散属性）的值进行二分，因此</a:t>
            </a:r>
            <a:r>
              <a:rPr lang="en-US" altLang="zh-CN" sz="2000">
                <a:latin typeface="Cambria Math" panose="02040503050406030204" charset="0"/>
              </a:rPr>
              <a:t>CART</a:t>
            </a:r>
            <a:r>
              <a:rPr lang="zh-CN" altLang="en-US" sz="2000">
                <a:latin typeface="Cambria Math" panose="02040503050406030204" charset="0"/>
              </a:rPr>
              <a:t>分类树算法建立起来的是二叉树，而不是多叉树。</a:t>
            </a:r>
            <a:endParaRPr lang="en-US" altLang="zh-CN" sz="2000">
              <a:latin typeface="Cambria Math" panose="02040503050406030204" charset="0"/>
            </a:endParaRPr>
          </a:p>
          <a:p>
            <a:pPr marL="266700" indent="-266700">
              <a:lnSpc>
                <a:spcPct val="130000"/>
              </a:lnSpc>
              <a:spcBef>
                <a:spcPts val="0"/>
              </a:spcBef>
              <a:spcAft>
                <a:spcPts val="0"/>
              </a:spcAft>
            </a:pPr>
            <a:r>
              <a:rPr lang="en-US" altLang="zh-CN" sz="2000" b="0">
                <a:latin typeface="Cambria Math" panose="02040503050406030204" charset="0"/>
                <a:ea typeface="等线" panose="02010600030101010101" pitchFamily="2" charset="-122"/>
              </a:rPr>
              <a:t>             </a:t>
            </a:r>
            <a:r>
              <a:rPr lang="zh-CN" altLang="en-US" sz="2000" b="0">
                <a:latin typeface="Cambria Math" panose="02040503050406030204" charset="0"/>
                <a:ea typeface="等线" panose="02010600030101010101" pitchFamily="2" charset="-122"/>
              </a:rPr>
              <a:t>对于连续属性怎么做？</a:t>
            </a:r>
            <a:endParaRPr sz="2000" b="0">
              <a:latin typeface="Cambria Math" panose="02040503050406030204" charset="0"/>
              <a:ea typeface="等线" panose="02010600030101010101" pitchFamily="2" charset="-122"/>
            </a:endParaRPr>
          </a:p>
        </p:txBody>
      </p:sp>
      <p:sp>
        <p:nvSpPr>
          <p:cNvPr id="4" name="五边形 7"/>
          <p:cNvSpPr/>
          <p:nvPr userDrawn="1"/>
        </p:nvSpPr>
        <p:spPr>
          <a:xfrm>
            <a:off x="0" y="217805"/>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8.3.3决策树算法</a:t>
            </a:r>
          </a:p>
        </p:txBody>
      </p:sp>
      <p:sp>
        <p:nvSpPr>
          <p:cNvPr id="104" name="文本框 103"/>
          <p:cNvSpPr txBox="1"/>
          <p:nvPr/>
        </p:nvSpPr>
        <p:spPr>
          <a:xfrm>
            <a:off x="92710" y="910590"/>
            <a:ext cx="8813165" cy="1291590"/>
          </a:xfrm>
          <a:prstGeom prst="rect">
            <a:avLst/>
          </a:prstGeom>
          <a:noFill/>
          <a:ln w="9525">
            <a:noFill/>
          </a:ln>
        </p:spPr>
        <p:txBody>
          <a:bodyPr wrap="square">
            <a:spAutoFit/>
          </a:bodyPr>
          <a:lstStyle/>
          <a:p>
            <a:pPr marL="266700" indent="-266700">
              <a:lnSpc>
                <a:spcPct val="130000"/>
              </a:lnSpc>
              <a:spcBef>
                <a:spcPts val="0"/>
              </a:spcBef>
              <a:spcAft>
                <a:spcPts val="0"/>
              </a:spcAft>
            </a:pPr>
            <a:r>
              <a:rPr lang="en-US" sz="2000" b="0">
                <a:latin typeface="Cambria Math" panose="02040503050406030204" charset="0"/>
                <a:ea typeface="等线" panose="02010600030101010101" pitchFamily="2" charset="-122"/>
                <a:cs typeface="Times New Roman" panose="02020603050405020304" pitchFamily="18" charset="0"/>
              </a:rPr>
              <a:t>             </a:t>
            </a:r>
            <a:r>
              <a:rPr sz="2000" b="0">
                <a:latin typeface="Cambria Math" panose="02040503050406030204" charset="0"/>
                <a:ea typeface="等线" panose="02010600030101010101" pitchFamily="2" charset="-122"/>
              </a:rPr>
              <a:t>CART算法用Gini指数作为划分属性度量：采用基尼指数（Gini index）来度量信息不纯度，选择基尼指数最小的作为节点特征（基尼系数介于0-1之间，总体样本包含的类别越杂乱，Gini指数就越大）。基尼系数定义为：</a:t>
            </a:r>
            <a:endParaRPr lang="zh-CN" altLang="en-US" sz="2000"/>
          </a:p>
        </p:txBody>
      </p:sp>
      <p:pic>
        <p:nvPicPr>
          <p:cNvPr id="106" name="图片 105"/>
          <p:cNvPicPr/>
          <p:nvPr/>
        </p:nvPicPr>
        <p:blipFill>
          <a:blip r:embed="rId3"/>
          <a:stretch>
            <a:fillRect/>
          </a:stretch>
        </p:blipFill>
        <p:spPr>
          <a:xfrm>
            <a:off x="3239770" y="2244408"/>
            <a:ext cx="2247900" cy="79057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97706" y="0"/>
            <a:ext cx="9141291" cy="5143500"/>
          </a:xfrm>
          <a:prstGeom prst="rect">
            <a:avLst/>
          </a:prstGeom>
        </p:spPr>
      </p:pic>
      <p:grpSp>
        <p:nvGrpSpPr>
          <p:cNvPr id="32" name="组合 14"/>
          <p:cNvGrpSpPr/>
          <p:nvPr/>
        </p:nvGrpSpPr>
        <p:grpSpPr bwMode="auto">
          <a:xfrm>
            <a:off x="2143825" y="2399148"/>
            <a:ext cx="4167679" cy="124642"/>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1940560" y="1654175"/>
            <a:ext cx="6555105" cy="645160"/>
          </a:xfrm>
          <a:prstGeom prst="rect">
            <a:avLst/>
          </a:prstGeom>
          <a:noFill/>
        </p:spPr>
        <p:txBody>
          <a:bodyPr wrap="square">
            <a:spAutoFit/>
          </a:bodyPr>
          <a:lstStyle/>
          <a:p>
            <a:r>
              <a:rPr lang="en-US" altLang="zh-CN" sz="3600" b="1">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  </a:t>
            </a:r>
            <a:r>
              <a:rPr lang="zh-CN" altLang="en-US" sz="3600" b="1">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聚类算法简介</a:t>
            </a:r>
          </a:p>
        </p:txBody>
      </p:sp>
      <p:sp>
        <p:nvSpPr>
          <p:cNvPr id="41" name="文本框 40"/>
          <p:cNvSpPr txBox="1">
            <a:spLocks noChangeArrowheads="1"/>
          </p:cNvSpPr>
          <p:nvPr/>
        </p:nvSpPr>
        <p:spPr bwMode="auto">
          <a:xfrm>
            <a:off x="520569" y="1539377"/>
            <a:ext cx="1698527" cy="922020"/>
          </a:xfrm>
          <a:prstGeom prst="rect">
            <a:avLst/>
          </a:prstGeom>
          <a:noFill/>
          <a:ln w="9525">
            <a:noFill/>
            <a:miter lim="800000"/>
          </a:ln>
        </p:spPr>
        <p:txBody>
          <a:bodyPr wrap="square">
            <a:spAutoFit/>
          </a:bodyPr>
          <a:lstStyle/>
          <a:p>
            <a:pPr algn="ctr"/>
            <a:r>
              <a:rPr lang="en-US" altLang="zh-CN" sz="5400">
                <a:solidFill>
                  <a:srgbClr val="00B0F0"/>
                </a:solidFill>
                <a:latin typeface="IrisUPC" panose="020B0604020202020204" pitchFamily="34" charset="-34"/>
                <a:cs typeface="IrisUPC" panose="020B0604020202020204" pitchFamily="34" charset="-34"/>
              </a:rPr>
              <a:t>8.4</a:t>
            </a:r>
          </a:p>
        </p:txBody>
      </p:sp>
      <p:sp>
        <p:nvSpPr>
          <p:cNvPr id="4" name="文本框 3"/>
          <p:cNvSpPr txBox="1"/>
          <p:nvPr/>
        </p:nvSpPr>
        <p:spPr>
          <a:xfrm>
            <a:off x="2143760" y="2695575"/>
            <a:ext cx="4535170" cy="119888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800">
                <a:solidFill>
                  <a:schemeClr val="bg1"/>
                </a:solidFill>
                <a:latin typeface="微软雅黑" panose="020B0503020204020204" pitchFamily="34" charset="-122"/>
                <a:ea typeface="微软雅黑" panose="020B0503020204020204" pitchFamily="34" charset="-122"/>
              </a:rPr>
              <a:t>主要的聚类算法类型</a:t>
            </a:r>
          </a:p>
          <a:p>
            <a:pPr marL="285750" indent="-285750">
              <a:buFont typeface="Wingdings" panose="05000000000000000000" pitchFamily="2" charset="2"/>
              <a:buChar char="Ø"/>
            </a:pPr>
            <a:r>
              <a:rPr lang="zh-CN" altLang="en-US" sz="1800">
                <a:solidFill>
                  <a:schemeClr val="bg1"/>
                </a:solidFill>
                <a:latin typeface="微软雅黑" panose="020B0503020204020204" pitchFamily="34" charset="-122"/>
                <a:ea typeface="微软雅黑" panose="020B0503020204020204" pitchFamily="34" charset="-122"/>
              </a:rPr>
              <a:t>聚类质量度量指标决策树算法</a:t>
            </a:r>
          </a:p>
          <a:p>
            <a:pPr marL="285750" indent="-285750">
              <a:buFont typeface="Wingdings" panose="05000000000000000000" pitchFamily="2" charset="2"/>
              <a:buChar char="Ø"/>
            </a:pPr>
            <a:r>
              <a:rPr lang="zh-CN" altLang="en-US" sz="1800">
                <a:solidFill>
                  <a:schemeClr val="bg1"/>
                </a:solidFill>
                <a:latin typeface="微软雅黑" panose="020B0503020204020204" pitchFamily="34" charset="-122"/>
                <a:ea typeface="微软雅黑" panose="020B0503020204020204" pitchFamily="34" charset="-122"/>
              </a:rPr>
              <a:t>K-Means算法</a:t>
            </a:r>
          </a:p>
          <a:p>
            <a:pPr marL="285750" indent="-285750">
              <a:buFont typeface="Wingdings" panose="05000000000000000000" pitchFamily="2" charset="2"/>
              <a:buChar char="Ø"/>
            </a:pPr>
            <a:endParaRPr lang="zh-CN" altLang="en-US" sz="18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par>
                          <p:cTn id="17" fill="hold">
                            <p:stCondLst>
                              <p:cond delay="1400"/>
                            </p:stCondLst>
                            <p:childTnLst>
                              <p:par>
                                <p:cTn id="18" presetID="1" presetClass="entr" presetSubtype="0" fill="hold" grpId="0" nodeType="afterEffect">
                                  <p:stCondLst>
                                    <p:cond delay="0"/>
                                  </p:stCondLst>
                                  <p:iterate type="wd">
                                    <p:tmAbs val="100"/>
                                  </p:iterate>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8.4</a:t>
            </a:r>
            <a:r>
              <a:rPr lang="en-US"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聚类算法简介</a:t>
            </a:r>
          </a:p>
        </p:txBody>
      </p:sp>
      <p:sp>
        <p:nvSpPr>
          <p:cNvPr id="3" name="文本框 2"/>
          <p:cNvSpPr txBox="1"/>
          <p:nvPr/>
        </p:nvSpPr>
        <p:spPr>
          <a:xfrm>
            <a:off x="233045" y="807085"/>
            <a:ext cx="8678545" cy="1568450"/>
          </a:xfrm>
          <a:prstGeom prst="rect">
            <a:avLst/>
          </a:prstGeom>
          <a:noFill/>
        </p:spPr>
        <p:txBody>
          <a:bodyPr wrap="square" rtlCol="0" anchor="t">
            <a:spAutoFit/>
          </a:bodyPr>
          <a:lstStyle/>
          <a:p>
            <a:pPr>
              <a:lnSpc>
                <a:spcPct val="120000"/>
              </a:lnSpc>
              <a:spcBef>
                <a:spcPts val="0"/>
              </a:spcBef>
              <a:spcAft>
                <a:spcPts val="0"/>
              </a:spcAft>
            </a:pPr>
            <a:r>
              <a:rPr lang="en-US" altLang="zh-CN" sz="2000" b="1"/>
              <a:t>    </a:t>
            </a:r>
            <a:r>
              <a:rPr lang="en-US" altLang="zh-CN" sz="2000"/>
              <a:t>      </a:t>
            </a:r>
            <a:r>
              <a:rPr lang="zh-CN" altLang="en-US" sz="2000"/>
              <a:t>聚类（Clustering）的目的是把大型数据划分成不同的簇，它所针对的是无标签类别的数据，因此聚类属于无监督学习类型。所谓“簇”（Cluster），是指数据对象的集合，同一簇中的对象之间彼此相似，不同簇之间的对象相异。下图是聚类算法的示意图。</a:t>
            </a:r>
            <a:r>
              <a:rPr lang="en-US" altLang="zh-CN" sz="2000"/>
              <a:t>   </a:t>
            </a:r>
            <a:endParaRPr lang="zh-CN" altLang="en-US" sz="2000" b="1"/>
          </a:p>
        </p:txBody>
      </p:sp>
      <p:pic>
        <p:nvPicPr>
          <p:cNvPr id="193543" name="Picture 50"/>
          <p:cNvPicPr>
            <a:picLocks noChangeAspect="1" noChangeArrowheads="1"/>
          </p:cNvPicPr>
          <p:nvPr/>
        </p:nvPicPr>
        <p:blipFill>
          <a:blip r:embed="rId2" cstate="print">
            <a:extLst>
              <a:ext uri="{28A0092B-C50C-407E-A947-70E740481C1C}">
                <a14:useLocalDpi xmlns:a14="http://schemas.microsoft.com/office/drawing/2010/main" val="0"/>
              </a:ext>
            </a:extLst>
          </a:blip>
          <a:srcRect b="2945"/>
          <a:stretch>
            <a:fillRect/>
          </a:stretch>
        </p:blipFill>
        <p:spPr>
          <a:xfrm>
            <a:off x="2083118" y="2572068"/>
            <a:ext cx="1715135" cy="1274445"/>
          </a:xfrm>
          <a:prstGeom prst="rect">
            <a:avLst/>
          </a:prstGeom>
          <a:noFill/>
          <a:ln>
            <a:noFill/>
          </a:ln>
        </p:spPr>
      </p:pic>
      <p:pic>
        <p:nvPicPr>
          <p:cNvPr id="193537" name="图片 193537"/>
          <p:cNvPicPr>
            <a:picLocks noChangeAspect="1"/>
          </p:cNvPicPr>
          <p:nvPr/>
        </p:nvPicPr>
        <p:blipFill>
          <a:blip r:embed="rId3"/>
          <a:srcRect l="8349" r="4571" b="8219"/>
          <a:stretch>
            <a:fillRect/>
          </a:stretch>
        </p:blipFill>
        <p:spPr>
          <a:xfrm>
            <a:off x="4388168" y="2572068"/>
            <a:ext cx="1952625" cy="1271905"/>
          </a:xfrm>
          <a:prstGeom prst="rect">
            <a:avLst/>
          </a:prstGeom>
          <a:ln>
            <a:noFill/>
          </a:ln>
        </p:spPr>
      </p:pic>
      <p:sp>
        <p:nvSpPr>
          <p:cNvPr id="100" name="文本框 99"/>
          <p:cNvSpPr txBox="1"/>
          <p:nvPr/>
        </p:nvSpPr>
        <p:spPr>
          <a:xfrm>
            <a:off x="1578610" y="4041457"/>
            <a:ext cx="5080000" cy="261610"/>
          </a:xfrm>
          <a:prstGeom prst="rect">
            <a:avLst/>
          </a:prstGeom>
          <a:noFill/>
          <a:ln w="9525">
            <a:noFill/>
          </a:ln>
        </p:spPr>
        <p:txBody>
          <a:bodyPr>
            <a:spAutoFit/>
          </a:bodyPr>
          <a:lstStyle/>
          <a:p>
            <a:pPr indent="0" algn="ctr"/>
            <a:r>
              <a:rPr lang="zh-CN" sz="1100" b="0">
                <a:latin typeface="Cambria Math" panose="02040503050406030204" charset="0"/>
                <a:ea typeface="等线" panose="02010600030101010101" pitchFamily="2" charset="-122"/>
              </a:rPr>
              <a:t>聚类算法示意图</a:t>
            </a:r>
            <a:endParaRPr lang="zh-CN" altLang="en-US" sz="110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8.4</a:t>
            </a:r>
            <a:r>
              <a:rPr lang="en-US"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聚类算法简介</a:t>
            </a:r>
          </a:p>
        </p:txBody>
      </p:sp>
      <p:sp>
        <p:nvSpPr>
          <p:cNvPr id="3" name="文本框 2"/>
          <p:cNvSpPr txBox="1"/>
          <p:nvPr/>
        </p:nvSpPr>
        <p:spPr>
          <a:xfrm>
            <a:off x="151130" y="807085"/>
            <a:ext cx="8842375" cy="2276521"/>
          </a:xfrm>
          <a:prstGeom prst="rect">
            <a:avLst/>
          </a:prstGeom>
          <a:noFill/>
        </p:spPr>
        <p:txBody>
          <a:bodyPr wrap="square" rtlCol="0" anchor="t">
            <a:spAutoFit/>
          </a:bodyPr>
          <a:lstStyle/>
          <a:p>
            <a:pPr>
              <a:lnSpc>
                <a:spcPct val="120000"/>
              </a:lnSpc>
              <a:spcBef>
                <a:spcPts val="0"/>
              </a:spcBef>
              <a:spcAft>
                <a:spcPts val="0"/>
              </a:spcAft>
            </a:pPr>
            <a:r>
              <a:rPr lang="en-US" altLang="zh-CN" sz="2000" b="1">
                <a:latin typeface="+mn-ea"/>
              </a:rPr>
              <a:t>      </a:t>
            </a:r>
            <a:r>
              <a:rPr lang="en-US" altLang="zh-CN" sz="2000">
                <a:latin typeface="+mn-ea"/>
              </a:rPr>
              <a:t> </a:t>
            </a:r>
            <a:r>
              <a:rPr sz="2000">
                <a:latin typeface="+mn-ea"/>
              </a:rPr>
              <a:t>聚类有非常广泛的应用场景，例如：</a:t>
            </a:r>
          </a:p>
          <a:p>
            <a:pPr marL="800100" lvl="1" indent="-342900">
              <a:lnSpc>
                <a:spcPct val="120000"/>
              </a:lnSpc>
              <a:spcBef>
                <a:spcPts val="0"/>
              </a:spcBef>
              <a:spcAft>
                <a:spcPts val="0"/>
              </a:spcAft>
              <a:buFont typeface="Wingdings" panose="05000000000000000000" charset="0"/>
              <a:buChar char="l"/>
            </a:pPr>
            <a:r>
              <a:rPr sz="2000">
                <a:latin typeface="+mn-ea"/>
              </a:rPr>
              <a:t>客户细分: 发现顾客中独特的群组，然后利用他们的特性发展目标营销项目。</a:t>
            </a:r>
          </a:p>
          <a:p>
            <a:pPr marL="800100" lvl="1" indent="-342900">
              <a:lnSpc>
                <a:spcPct val="120000"/>
              </a:lnSpc>
              <a:spcBef>
                <a:spcPts val="0"/>
              </a:spcBef>
              <a:spcAft>
                <a:spcPts val="0"/>
              </a:spcAft>
              <a:buFont typeface="Wingdings" panose="05000000000000000000" charset="0"/>
              <a:buChar char="l"/>
            </a:pPr>
            <a:r>
              <a:rPr sz="2000">
                <a:latin typeface="+mn-ea"/>
              </a:rPr>
              <a:t>土地利用: 在土地观测数据库中发现相似的区域。</a:t>
            </a:r>
          </a:p>
          <a:p>
            <a:pPr marL="800100" lvl="1" indent="-342900">
              <a:lnSpc>
                <a:spcPct val="120000"/>
              </a:lnSpc>
              <a:spcBef>
                <a:spcPts val="0"/>
              </a:spcBef>
              <a:spcAft>
                <a:spcPts val="0"/>
              </a:spcAft>
              <a:buFont typeface="Wingdings" panose="05000000000000000000" charset="0"/>
              <a:buChar char="l"/>
            </a:pPr>
            <a:r>
              <a:rPr sz="2000">
                <a:latin typeface="+mn-ea"/>
              </a:rPr>
              <a:t>保险: 识别平均索赔额度较高的机动车辆保险客户群组。</a:t>
            </a:r>
          </a:p>
          <a:p>
            <a:pPr marL="800100" lvl="1" indent="-342900">
              <a:lnSpc>
                <a:spcPct val="120000"/>
              </a:lnSpc>
              <a:spcBef>
                <a:spcPts val="0"/>
              </a:spcBef>
              <a:spcAft>
                <a:spcPts val="0"/>
              </a:spcAft>
              <a:buFont typeface="Wingdings" panose="05000000000000000000" charset="0"/>
              <a:buChar char="l"/>
            </a:pPr>
            <a:r>
              <a:rPr sz="2000">
                <a:latin typeface="+mn-ea"/>
              </a:rPr>
              <a:t>网络社区发现：运用聚类算法发现复杂网络中的社区结构，如图所示</a:t>
            </a:r>
          </a:p>
        </p:txBody>
      </p:sp>
      <p:pic>
        <p:nvPicPr>
          <p:cNvPr id="19353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976755" y="3058478"/>
            <a:ext cx="3877310" cy="1688465"/>
          </a:xfrm>
          <a:prstGeom prst="rect">
            <a:avLst/>
          </a:prstGeom>
          <a:noFill/>
          <a:ln>
            <a:noFill/>
          </a:ln>
          <a:effectLst/>
        </p:spPr>
      </p:pic>
      <p:sp>
        <p:nvSpPr>
          <p:cNvPr id="2" name="文本框 1"/>
          <p:cNvSpPr txBox="1"/>
          <p:nvPr/>
        </p:nvSpPr>
        <p:spPr>
          <a:xfrm>
            <a:off x="1484630" y="4747577"/>
            <a:ext cx="5080000" cy="245110"/>
          </a:xfrm>
          <a:prstGeom prst="rect">
            <a:avLst/>
          </a:prstGeom>
          <a:noFill/>
          <a:ln w="9525">
            <a:noFill/>
          </a:ln>
        </p:spPr>
        <p:txBody>
          <a:bodyPr>
            <a:spAutoFit/>
          </a:bodyPr>
          <a:lstStyle/>
          <a:p>
            <a:pPr indent="0" algn="ctr"/>
            <a:r>
              <a:rPr lang="zh-CN" sz="1000" b="0">
                <a:latin typeface="Cambria Math" panose="02040503050406030204" charset="0"/>
                <a:ea typeface="等线" panose="02010600030101010101" pitchFamily="2" charset="-122"/>
              </a:rPr>
              <a:t>聚类算法示意图</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75" y="234315"/>
            <a:ext cx="4395470" cy="521970"/>
          </a:xfrm>
          <a:prstGeom prst="rect">
            <a:avLst/>
          </a:prstGeom>
        </p:spPr>
        <p:txBody>
          <a:bodyPr wrap="square">
            <a:spAutoFit/>
          </a:bodyPr>
          <a:lstStyle/>
          <a:p>
            <a:r>
              <a:rPr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8.4.1主要的聚类算法类型	</a:t>
            </a:r>
            <a:endParaRPr lang="zh-CN" alt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aphicFrame>
        <p:nvGraphicFramePr>
          <p:cNvPr id="4" name="图示 3"/>
          <p:cNvGraphicFramePr/>
          <p:nvPr/>
        </p:nvGraphicFramePr>
        <p:xfrm>
          <a:off x="-66675" y="1063625"/>
          <a:ext cx="8903970" cy="4079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文本框 2"/>
          <p:cNvSpPr txBox="1"/>
          <p:nvPr/>
        </p:nvSpPr>
        <p:spPr>
          <a:xfrm>
            <a:off x="262255" y="756285"/>
            <a:ext cx="5262880" cy="491490"/>
          </a:xfrm>
          <a:prstGeom prst="rect">
            <a:avLst/>
          </a:prstGeom>
          <a:noFill/>
        </p:spPr>
        <p:txBody>
          <a:bodyPr wrap="none" rtlCol="0" anchor="t">
            <a:spAutoFit/>
          </a:bodyPr>
          <a:lstStyle/>
          <a:p>
            <a:pPr>
              <a:lnSpc>
                <a:spcPct val="130000"/>
              </a:lnSpc>
              <a:spcBef>
                <a:spcPts val="0"/>
              </a:spcBef>
              <a:spcAft>
                <a:spcPts val="0"/>
              </a:spcAft>
            </a:pPr>
            <a:r>
              <a:rPr sz="2000">
                <a:latin typeface="等线" panose="02010600030101010101" pitchFamily="2" charset="-122"/>
                <a:ea typeface="等线" panose="02010600030101010101" pitchFamily="2" charset="-122"/>
                <a:sym typeface="+mn-ea"/>
              </a:rPr>
              <a:t>目前主要的聚类分析算法可以分为四大类型：</a:t>
            </a:r>
            <a:endParaRPr lang="zh-CN" altLang="en-US" sz="2000">
              <a:latin typeface="等线" panose="02010600030101010101" pitchFamily="2" charset="-122"/>
              <a:ea typeface="等线" panose="02010600030101010101" pitchFamily="2" charset="-122"/>
              <a:sym typeface="+mn-ea"/>
            </a:endParaRPr>
          </a:p>
        </p:txBody>
      </p:sp>
    </p:spTree>
  </p:cSld>
  <p:clrMapOvr>
    <a:masterClrMapping/>
  </p:clrMapOvr>
  <p:transition spd="slow">
    <p:pull/>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8.4.1主要的聚类算法类型	</a:t>
            </a:r>
          </a:p>
        </p:txBody>
      </p:sp>
      <p:sp>
        <p:nvSpPr>
          <p:cNvPr id="3" name="文本框 2"/>
          <p:cNvSpPr txBox="1"/>
          <p:nvPr/>
        </p:nvSpPr>
        <p:spPr>
          <a:xfrm>
            <a:off x="151130" y="807085"/>
            <a:ext cx="8992870" cy="458715"/>
          </a:xfrm>
          <a:prstGeom prst="rect">
            <a:avLst/>
          </a:prstGeom>
          <a:noFill/>
        </p:spPr>
        <p:txBody>
          <a:bodyPr wrap="square" rtlCol="0" anchor="t">
            <a:spAutoFit/>
          </a:bodyPr>
          <a:lstStyle/>
          <a:p>
            <a:pPr>
              <a:lnSpc>
                <a:spcPct val="130000"/>
              </a:lnSpc>
              <a:spcBef>
                <a:spcPts val="0"/>
              </a:spcBef>
              <a:spcAft>
                <a:spcPts val="0"/>
              </a:spcAft>
            </a:pPr>
            <a:r>
              <a:rPr lang="en-US" altLang="zh-CN" sz="2000" b="1"/>
              <a:t>     </a:t>
            </a:r>
            <a:r>
              <a:rPr lang="zh-CN" altLang="en-US" sz="2000" b="1"/>
              <a:t>下</a:t>
            </a:r>
            <a:r>
              <a:rPr sz="2000"/>
              <a:t>图是目前常见的聚类方法和典型代表性算法的归类和总结，供读者参考。</a:t>
            </a:r>
            <a:r>
              <a:rPr lang="en-US" sz="2000"/>
              <a:t>           </a:t>
            </a:r>
            <a:r>
              <a:rPr lang="en-US" sz="2000" b="1"/>
              <a:t>  </a:t>
            </a:r>
            <a:endParaRPr sz="2000">
              <a:highlight>
                <a:srgbClr val="00FF00"/>
              </a:highlight>
            </a:endParaRPr>
          </a:p>
        </p:txBody>
      </p:sp>
      <p:pic>
        <p:nvPicPr>
          <p:cNvPr id="100" name="图片 99"/>
          <p:cNvPicPr/>
          <p:nvPr/>
        </p:nvPicPr>
        <p:blipFill>
          <a:blip r:embed="rId2"/>
          <a:stretch>
            <a:fillRect/>
          </a:stretch>
        </p:blipFill>
        <p:spPr>
          <a:xfrm>
            <a:off x="1179195" y="1264285"/>
            <a:ext cx="6449060" cy="3634105"/>
          </a:xfrm>
          <a:prstGeom prst="rect">
            <a:avLst/>
          </a:prstGeom>
          <a:noFill/>
          <a:ln w="9525">
            <a:solidFill>
              <a:schemeClr val="accent1"/>
            </a:solidFill>
          </a:ln>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8.4.2聚类质量度量指标</a:t>
            </a:r>
          </a:p>
        </p:txBody>
      </p:sp>
      <p:sp>
        <p:nvSpPr>
          <p:cNvPr id="3" name="文本框 2"/>
          <p:cNvSpPr txBox="1"/>
          <p:nvPr/>
        </p:nvSpPr>
        <p:spPr>
          <a:xfrm>
            <a:off x="151130" y="807085"/>
            <a:ext cx="8992870" cy="1291590"/>
          </a:xfrm>
          <a:prstGeom prst="rect">
            <a:avLst/>
          </a:prstGeom>
          <a:noFill/>
        </p:spPr>
        <p:txBody>
          <a:bodyPr wrap="square" rtlCol="0" anchor="t">
            <a:spAutoFit/>
          </a:bodyPr>
          <a:lstStyle/>
          <a:p>
            <a:pPr>
              <a:lnSpc>
                <a:spcPct val="130000"/>
              </a:lnSpc>
              <a:spcBef>
                <a:spcPts val="0"/>
              </a:spcBef>
              <a:spcAft>
                <a:spcPts val="0"/>
              </a:spcAft>
            </a:pPr>
            <a:r>
              <a:rPr lang="en-US" altLang="zh-CN" sz="2000" b="1"/>
              <a:t>         </a:t>
            </a:r>
            <a:r>
              <a:rPr sz="2000"/>
              <a:t>好的聚类方法需要产生高质量的聚类结果，所生成的簇必须满足：</a:t>
            </a:r>
          </a:p>
          <a:p>
            <a:pPr marL="800100" lvl="1" indent="-342900">
              <a:lnSpc>
                <a:spcPct val="130000"/>
              </a:lnSpc>
              <a:spcBef>
                <a:spcPts val="0"/>
              </a:spcBef>
              <a:spcAft>
                <a:spcPts val="0"/>
              </a:spcAft>
              <a:buFont typeface="Wingdings" panose="05000000000000000000" charset="0"/>
              <a:buChar char="l"/>
            </a:pPr>
            <a:r>
              <a:rPr sz="2000"/>
              <a:t>高的内部相似度（簇内越紧密越好）</a:t>
            </a:r>
          </a:p>
          <a:p>
            <a:pPr marL="800100" lvl="1" indent="-342900">
              <a:lnSpc>
                <a:spcPct val="130000"/>
              </a:lnSpc>
              <a:spcBef>
                <a:spcPts val="0"/>
              </a:spcBef>
              <a:spcAft>
                <a:spcPts val="0"/>
              </a:spcAft>
              <a:buFont typeface="Wingdings" panose="05000000000000000000" charset="0"/>
              <a:buChar char="l"/>
            </a:pPr>
            <a:r>
              <a:rPr sz="2000"/>
              <a:t>低的外部相似度（簇间越分离越好）</a:t>
            </a:r>
            <a:r>
              <a:rPr lang="en-US" sz="2000"/>
              <a:t>       </a:t>
            </a:r>
            <a:r>
              <a:rPr lang="en-US" sz="2000" b="1"/>
              <a:t>  </a:t>
            </a:r>
            <a:endParaRPr sz="2000">
              <a:highlight>
                <a:srgbClr val="00FF00"/>
              </a:highlight>
            </a:endParaRPr>
          </a:p>
        </p:txBody>
      </p:sp>
      <p:grpSp>
        <p:nvGrpSpPr>
          <p:cNvPr id="22" name="组合 22"/>
          <p:cNvGrpSpPr/>
          <p:nvPr/>
        </p:nvGrpSpPr>
        <p:grpSpPr>
          <a:xfrm>
            <a:off x="2549843" y="2301875"/>
            <a:ext cx="2660015" cy="2033270"/>
            <a:chOff x="0" y="0"/>
            <a:chExt cx="2670810" cy="2057525"/>
          </a:xfrm>
        </p:grpSpPr>
        <p:pic>
          <p:nvPicPr>
            <p:cNvPr id="36" name="Picture 50"/>
            <p:cNvPicPr>
              <a:picLocks noChangeAspect="1"/>
            </p:cNvPicPr>
            <p:nvPr/>
          </p:nvPicPr>
          <p:blipFill>
            <a:blip r:embed="rId2" cstate="print">
              <a:extLst>
                <a:ext uri="{28A0092B-C50C-407E-A947-70E740481C1C}">
                  <a14:useLocalDpi xmlns:a14="http://schemas.microsoft.com/office/drawing/2010/main" val="0"/>
                </a:ext>
              </a:extLst>
            </a:blip>
            <a:srcRect b="2945"/>
            <a:stretch>
              <a:fillRect/>
            </a:stretch>
          </p:blipFill>
          <p:spPr>
            <a:xfrm>
              <a:off x="0" y="70610"/>
              <a:ext cx="2670810" cy="1986915"/>
            </a:xfrm>
            <a:prstGeom prst="rect">
              <a:avLst/>
            </a:prstGeom>
            <a:noFill/>
            <a:ln>
              <a:noFill/>
            </a:ln>
          </p:spPr>
        </p:pic>
        <p:cxnSp>
          <p:nvCxnSpPr>
            <p:cNvPr id="38" name="直接箭头连接符 193546"/>
            <p:cNvCxnSpPr/>
            <p:nvPr/>
          </p:nvCxnSpPr>
          <p:spPr>
            <a:xfrm>
              <a:off x="1114904" y="690508"/>
              <a:ext cx="346724" cy="500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7" name="对话气泡: 圆角矩形 193549"/>
            <p:cNvSpPr/>
            <p:nvPr/>
          </p:nvSpPr>
          <p:spPr>
            <a:xfrm>
              <a:off x="95323" y="1687286"/>
              <a:ext cx="956298" cy="295910"/>
            </a:xfrm>
            <a:prstGeom prst="wedgeRoundRectCallout">
              <a:avLst>
                <a:gd name="adj1" fmla="val 97347"/>
                <a:gd name="adj2" fmla="val -159899"/>
                <a:gd name="adj3" fmla="val 16667"/>
              </a:avLst>
            </a:prstGeom>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algn="just">
                <a:lnSpc>
                  <a:spcPct val="100000"/>
                </a:lnSpc>
              </a:pPr>
              <a:r>
                <a:rPr lang="en-US" altLang="zh-CN" sz="1050" kern="100">
                  <a:latin typeface="等线" panose="02010600030101010101" pitchFamily="2" charset="-122"/>
                  <a:ea typeface="等线" panose="02010600030101010101" pitchFamily="2" charset="-122"/>
                  <a:cs typeface="Times New Roman" panose="02020603050405020304"/>
                  <a:sym typeface="Times New Roman" panose="02020603050405020304"/>
                </a:rPr>
                <a:t>簇内距离最小化</a:t>
              </a:r>
            </a:p>
            <a:p>
              <a:pPr algn="ctr">
                <a:lnSpc>
                  <a:spcPct val="120000"/>
                </a:lnSpc>
              </a:pPr>
              <a:r>
                <a:rPr lang="en-US" altLang="zh-CN" sz="1050" kern="100">
                  <a:solidFill>
                    <a:srgbClr val="FFFFFF"/>
                  </a:solidFill>
                  <a:latin typeface="等线" panose="02010600030101010101" pitchFamily="2" charset="-122"/>
                  <a:ea typeface="等线" panose="02010600030101010101" pitchFamily="2" charset="-122"/>
                  <a:cs typeface="Times New Roman" panose="02020603050405020304"/>
                  <a:sym typeface="Times New Roman" panose="02020603050405020304"/>
                </a:rPr>
                <a:t> </a:t>
              </a:r>
            </a:p>
          </p:txBody>
        </p:sp>
        <p:sp>
          <p:nvSpPr>
            <p:cNvPr id="48" name="对话气泡: 圆角矩形 193550"/>
            <p:cNvSpPr/>
            <p:nvPr/>
          </p:nvSpPr>
          <p:spPr>
            <a:xfrm>
              <a:off x="1196841" y="0"/>
              <a:ext cx="919595" cy="295910"/>
            </a:xfrm>
            <a:prstGeom prst="wedgeRoundRectCallout">
              <a:avLst>
                <a:gd name="adj1" fmla="val -38858"/>
                <a:gd name="adj2" fmla="val 168203"/>
                <a:gd name="adj3" fmla="val 16667"/>
              </a:avLst>
            </a:prstGeom>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algn="just">
                <a:lnSpc>
                  <a:spcPct val="100000"/>
                </a:lnSpc>
              </a:pPr>
              <a:r>
                <a:rPr lang="en-US" altLang="zh-CN" sz="750" kern="100">
                  <a:latin typeface="等线" panose="02010600030101010101" pitchFamily="2" charset="-122"/>
                  <a:ea typeface="等线" panose="02010600030101010101" pitchFamily="2" charset="-122"/>
                  <a:cs typeface="Times New Roman" panose="02020603050405020304"/>
                  <a:sym typeface="Times New Roman" panose="02020603050405020304"/>
                </a:rPr>
                <a:t>簇间距离最大化</a:t>
              </a:r>
            </a:p>
            <a:p>
              <a:pPr algn="ctr">
                <a:lnSpc>
                  <a:spcPct val="120000"/>
                </a:lnSpc>
              </a:pPr>
              <a:r>
                <a:rPr lang="en-US" altLang="zh-CN" sz="1050" kern="100">
                  <a:solidFill>
                    <a:srgbClr val="FFFFFF"/>
                  </a:solidFill>
                  <a:latin typeface="等线" panose="02010600030101010101" pitchFamily="2" charset="-122"/>
                  <a:ea typeface="等线" panose="02010600030101010101" pitchFamily="2" charset="-122"/>
                  <a:cs typeface="Times New Roman" panose="02020603050405020304"/>
                  <a:sym typeface="Times New Roman" panose="02020603050405020304"/>
                </a:rPr>
                <a:t> </a:t>
              </a:r>
            </a:p>
          </p:txBody>
        </p:sp>
      </p:grpSp>
      <p:sp>
        <p:nvSpPr>
          <p:cNvPr id="2" name="文本框 1"/>
          <p:cNvSpPr txBox="1"/>
          <p:nvPr/>
        </p:nvSpPr>
        <p:spPr>
          <a:xfrm>
            <a:off x="1339850" y="4478337"/>
            <a:ext cx="5080000" cy="245110"/>
          </a:xfrm>
          <a:prstGeom prst="rect">
            <a:avLst/>
          </a:prstGeom>
          <a:noFill/>
          <a:ln w="9525">
            <a:noFill/>
          </a:ln>
        </p:spPr>
        <p:txBody>
          <a:bodyPr>
            <a:spAutoFit/>
          </a:bodyPr>
          <a:lstStyle/>
          <a:p>
            <a:pPr indent="0" algn="ctr"/>
            <a:r>
              <a:rPr lang="zh-CN" sz="1000" b="0">
                <a:latin typeface="Cambria Math" panose="02040503050406030204" charset="0"/>
                <a:ea typeface="等线" panose="02010600030101010101" pitchFamily="2" charset="-122"/>
              </a:rPr>
              <a:t>聚类算法目标示意图</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8.4.2聚类质量度量指标</a:t>
            </a:r>
          </a:p>
        </p:txBody>
      </p:sp>
      <p:sp>
        <p:nvSpPr>
          <p:cNvPr id="3" name="文本框 2"/>
          <p:cNvSpPr txBox="1"/>
          <p:nvPr/>
        </p:nvSpPr>
        <p:spPr>
          <a:xfrm>
            <a:off x="151130" y="807085"/>
            <a:ext cx="8992870" cy="2091690"/>
          </a:xfrm>
          <a:prstGeom prst="rect">
            <a:avLst/>
          </a:prstGeom>
          <a:noFill/>
        </p:spPr>
        <p:txBody>
          <a:bodyPr wrap="square" rtlCol="0" anchor="t">
            <a:spAutoFit/>
          </a:bodyPr>
          <a:lstStyle/>
          <a:p>
            <a:pPr>
              <a:lnSpc>
                <a:spcPct val="130000"/>
              </a:lnSpc>
              <a:spcBef>
                <a:spcPts val="0"/>
              </a:spcBef>
              <a:spcAft>
                <a:spcPts val="0"/>
              </a:spcAft>
            </a:pPr>
            <a:r>
              <a:rPr lang="en-US" altLang="zh-CN" sz="2000" b="1"/>
              <a:t>        </a:t>
            </a:r>
            <a:r>
              <a:rPr sz="2000"/>
              <a:t>常用的聚类质量度量指标有：</a:t>
            </a:r>
          </a:p>
          <a:p>
            <a:pPr>
              <a:lnSpc>
                <a:spcPct val="130000"/>
              </a:lnSpc>
              <a:spcBef>
                <a:spcPts val="0"/>
              </a:spcBef>
              <a:spcAft>
                <a:spcPts val="0"/>
              </a:spcAft>
            </a:pPr>
            <a:r>
              <a:rPr lang="en-US" sz="2000"/>
              <a:t>     </a:t>
            </a:r>
            <a:r>
              <a:rPr sz="2000" b="1"/>
              <a:t>（1）Compactness(紧密性)(CP)</a:t>
            </a:r>
          </a:p>
          <a:p>
            <a:pPr>
              <a:lnSpc>
                <a:spcPct val="130000"/>
              </a:lnSpc>
              <a:spcBef>
                <a:spcPts val="0"/>
              </a:spcBef>
              <a:spcAft>
                <a:spcPts val="0"/>
              </a:spcAft>
            </a:pPr>
            <a:r>
              <a:rPr sz="2000"/>
              <a:t>以簇内误差的平方和（Sum of the Squared Error ,SSE）作为度量标准(计算每一个类各点到聚类中心的距离)，越小意味着类内聚类距离越近。缺点：没有考虑类间效果。</a:t>
            </a:r>
          </a:p>
        </p:txBody>
      </p:sp>
      <p:pic>
        <p:nvPicPr>
          <p:cNvPr id="101" name="图片 100"/>
          <p:cNvPicPr/>
          <p:nvPr/>
        </p:nvPicPr>
        <p:blipFill>
          <a:blip r:embed="rId2"/>
          <a:stretch>
            <a:fillRect/>
          </a:stretch>
        </p:blipFill>
        <p:spPr>
          <a:xfrm>
            <a:off x="2969895" y="2677478"/>
            <a:ext cx="2076450" cy="790575"/>
          </a:xfrm>
          <a:prstGeom prst="rect">
            <a:avLst/>
          </a:prstGeom>
          <a:noFill/>
          <a:ln w="9525">
            <a:noFill/>
          </a:ln>
        </p:spPr>
      </p:pic>
      <p:pic>
        <p:nvPicPr>
          <p:cNvPr id="7" name="图片 6"/>
          <p:cNvPicPr>
            <a:picLocks noChangeAspect="1"/>
          </p:cNvPicPr>
          <p:nvPr/>
        </p:nvPicPr>
        <p:blipFill>
          <a:blip r:embed="rId3"/>
          <a:stretch>
            <a:fillRect/>
          </a:stretch>
        </p:blipFill>
        <p:spPr>
          <a:xfrm>
            <a:off x="0" y="3674110"/>
            <a:ext cx="6600190" cy="5003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8.4.2聚类质量度量指标</a:t>
            </a:r>
          </a:p>
        </p:txBody>
      </p:sp>
      <p:sp>
        <p:nvSpPr>
          <p:cNvPr id="3" name="文本框 2"/>
          <p:cNvSpPr txBox="1"/>
          <p:nvPr/>
        </p:nvSpPr>
        <p:spPr>
          <a:xfrm>
            <a:off x="151130" y="807085"/>
            <a:ext cx="8992870" cy="1291590"/>
          </a:xfrm>
          <a:prstGeom prst="rect">
            <a:avLst/>
          </a:prstGeom>
          <a:noFill/>
        </p:spPr>
        <p:txBody>
          <a:bodyPr wrap="square" rtlCol="0" anchor="t">
            <a:spAutoFit/>
          </a:bodyPr>
          <a:lstStyle/>
          <a:p>
            <a:pPr>
              <a:lnSpc>
                <a:spcPct val="130000"/>
              </a:lnSpc>
              <a:spcBef>
                <a:spcPts val="0"/>
              </a:spcBef>
              <a:spcAft>
                <a:spcPts val="0"/>
              </a:spcAft>
            </a:pPr>
            <a:r>
              <a:rPr lang="en-US" altLang="zh-CN" sz="2000" b="1"/>
              <a:t>        </a:t>
            </a:r>
            <a:r>
              <a:rPr sz="2000" b="1"/>
              <a:t>（2）Separation(间隔性)(SP)</a:t>
            </a:r>
          </a:p>
          <a:p>
            <a:pPr>
              <a:lnSpc>
                <a:spcPct val="130000"/>
              </a:lnSpc>
              <a:spcBef>
                <a:spcPts val="0"/>
              </a:spcBef>
              <a:spcAft>
                <a:spcPts val="0"/>
              </a:spcAft>
            </a:pPr>
            <a:r>
              <a:rPr lang="en-US" sz="2000"/>
              <a:t>         </a:t>
            </a:r>
            <a:r>
              <a:rPr sz="2000"/>
              <a:t>计算各聚类中心两两之间平均距离，越大意味着类间聚类距离越远。缺点：没有考虑类内效果。</a:t>
            </a:r>
          </a:p>
        </p:txBody>
      </p:sp>
      <p:pic>
        <p:nvPicPr>
          <p:cNvPr id="102" name="图片 101"/>
          <p:cNvPicPr/>
          <p:nvPr/>
        </p:nvPicPr>
        <p:blipFill>
          <a:blip r:embed="rId2"/>
          <a:stretch>
            <a:fillRect/>
          </a:stretch>
        </p:blipFill>
        <p:spPr>
          <a:xfrm>
            <a:off x="2548573" y="2179638"/>
            <a:ext cx="2333625" cy="790575"/>
          </a:xfrm>
          <a:prstGeom prst="rect">
            <a:avLst/>
          </a:prstGeom>
          <a:noFill/>
          <a:ln w="9525">
            <a:noFill/>
          </a:ln>
        </p:spPr>
      </p:pic>
      <p:sp>
        <p:nvSpPr>
          <p:cNvPr id="2" name="文本框 1"/>
          <p:cNvSpPr txBox="1"/>
          <p:nvPr/>
        </p:nvSpPr>
        <p:spPr>
          <a:xfrm>
            <a:off x="151130" y="2970530"/>
            <a:ext cx="8992870" cy="1291590"/>
          </a:xfrm>
          <a:prstGeom prst="rect">
            <a:avLst/>
          </a:prstGeom>
          <a:noFill/>
        </p:spPr>
        <p:txBody>
          <a:bodyPr wrap="square" rtlCol="0" anchor="t">
            <a:spAutoFit/>
          </a:bodyPr>
          <a:lstStyle/>
          <a:p>
            <a:pPr>
              <a:lnSpc>
                <a:spcPct val="130000"/>
              </a:lnSpc>
              <a:spcBef>
                <a:spcPts val="0"/>
              </a:spcBef>
              <a:spcAft>
                <a:spcPts val="0"/>
              </a:spcAft>
            </a:pPr>
            <a:r>
              <a:rPr lang="en-US" altLang="zh-CN" sz="2000" b="1"/>
              <a:t>        </a:t>
            </a:r>
            <a:r>
              <a:rPr sz="2000" b="1"/>
              <a:t>（3）Davies-Bouldin Index(戴维森堡丁指数，分类适确性指标)(DBI)</a:t>
            </a:r>
          </a:p>
          <a:p>
            <a:pPr>
              <a:lnSpc>
                <a:spcPct val="130000"/>
              </a:lnSpc>
              <a:spcBef>
                <a:spcPts val="0"/>
              </a:spcBef>
              <a:spcAft>
                <a:spcPts val="0"/>
              </a:spcAft>
            </a:pPr>
            <a:r>
              <a:rPr lang="en-US" sz="2000"/>
              <a:t>         </a:t>
            </a:r>
            <a:r>
              <a:rPr sz="2000"/>
              <a:t>计算任意两类别的CP（紧密性）指标之和除以两聚类中心距离求最大值，DB越小意味着类内距离越小同时类间距离越大。</a:t>
            </a:r>
          </a:p>
        </p:txBody>
      </p:sp>
      <p:pic>
        <p:nvPicPr>
          <p:cNvPr id="104" name="图片 103"/>
          <p:cNvPicPr/>
          <p:nvPr/>
        </p:nvPicPr>
        <p:blipFill>
          <a:blip r:embed="rId3"/>
          <a:stretch>
            <a:fillRect/>
          </a:stretch>
        </p:blipFill>
        <p:spPr>
          <a:xfrm>
            <a:off x="4654233" y="4261803"/>
            <a:ext cx="2733675" cy="79057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8.4.2聚类质量度量指标</a:t>
            </a:r>
          </a:p>
        </p:txBody>
      </p:sp>
      <p:sp>
        <p:nvSpPr>
          <p:cNvPr id="3" name="文本框 2"/>
          <p:cNvSpPr txBox="1"/>
          <p:nvPr/>
        </p:nvSpPr>
        <p:spPr>
          <a:xfrm>
            <a:off x="151130" y="807085"/>
            <a:ext cx="8992870" cy="1291590"/>
          </a:xfrm>
          <a:prstGeom prst="rect">
            <a:avLst/>
          </a:prstGeom>
          <a:noFill/>
        </p:spPr>
        <p:txBody>
          <a:bodyPr wrap="square" rtlCol="0" anchor="t">
            <a:spAutoFit/>
          </a:bodyPr>
          <a:lstStyle/>
          <a:p>
            <a:pPr>
              <a:lnSpc>
                <a:spcPct val="130000"/>
              </a:lnSpc>
              <a:spcBef>
                <a:spcPts val="0"/>
              </a:spcBef>
              <a:spcAft>
                <a:spcPts val="0"/>
              </a:spcAft>
            </a:pPr>
            <a:r>
              <a:rPr lang="en-US" altLang="zh-CN" sz="2000" b="1"/>
              <a:t>        </a:t>
            </a:r>
            <a:r>
              <a:rPr sz="2000" b="1"/>
              <a:t>（4）Dunn Validity Index (邓恩指数)(DVI)</a:t>
            </a:r>
          </a:p>
          <a:p>
            <a:pPr>
              <a:lnSpc>
                <a:spcPct val="130000"/>
              </a:lnSpc>
              <a:spcBef>
                <a:spcPts val="0"/>
              </a:spcBef>
              <a:spcAft>
                <a:spcPts val="0"/>
              </a:spcAft>
            </a:pPr>
            <a:r>
              <a:rPr lang="en-US" sz="2000" b="1"/>
              <a:t>         </a:t>
            </a:r>
            <a:r>
              <a:rPr lang="en-US" sz="2000"/>
              <a:t>  </a:t>
            </a:r>
            <a:r>
              <a:rPr sz="2000"/>
              <a:t>计算任意两个簇元素的最短距离(类间)除以任意簇中的最大距离(类内)，越大意味着类间距离越大同时类内距离越小。 </a:t>
            </a:r>
          </a:p>
        </p:txBody>
      </p:sp>
      <p:pic>
        <p:nvPicPr>
          <p:cNvPr id="106" name="图片 105"/>
          <p:cNvPicPr/>
          <p:nvPr/>
        </p:nvPicPr>
        <p:blipFill>
          <a:blip r:embed="rId2"/>
          <a:stretch>
            <a:fillRect/>
          </a:stretch>
        </p:blipFill>
        <p:spPr>
          <a:xfrm>
            <a:off x="2613978" y="2455228"/>
            <a:ext cx="3114675" cy="138112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8.4.3</a:t>
            </a:r>
            <a:r>
              <a:rPr lang="en-US"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K-Means算法</a:t>
            </a:r>
          </a:p>
        </p:txBody>
      </p:sp>
      <p:sp>
        <p:nvSpPr>
          <p:cNvPr id="3" name="文本框 2"/>
          <p:cNvSpPr txBox="1"/>
          <p:nvPr/>
        </p:nvSpPr>
        <p:spPr>
          <a:xfrm>
            <a:off x="152400" y="807085"/>
            <a:ext cx="8492490" cy="1691640"/>
          </a:xfrm>
          <a:prstGeom prst="rect">
            <a:avLst/>
          </a:prstGeom>
          <a:noFill/>
        </p:spPr>
        <p:txBody>
          <a:bodyPr wrap="square" rtlCol="0" anchor="t">
            <a:spAutoFit/>
          </a:bodyPr>
          <a:lstStyle/>
          <a:p>
            <a:pPr>
              <a:lnSpc>
                <a:spcPct val="130000"/>
              </a:lnSpc>
              <a:spcBef>
                <a:spcPts val="0"/>
              </a:spcBef>
              <a:spcAft>
                <a:spcPts val="0"/>
              </a:spcAft>
            </a:pPr>
            <a:r>
              <a:rPr lang="en-US" altLang="zh-CN" sz="2000" b="1"/>
              <a:t>        </a:t>
            </a:r>
            <a:r>
              <a:rPr lang="en-US" sz="2000"/>
              <a:t> </a:t>
            </a:r>
            <a:r>
              <a:rPr sz="2000"/>
              <a:t>K-Means算法的每个簇的中心由簇中对象的平均值表示所以称之为k均值聚类算法。该算法初始确定K个簇中心，然后把每个点归类到其最近的簇中心，然后重新计算新的簇中心，通过迭代的方法不断更新簇中心，其基本流程如图所示。</a:t>
            </a:r>
          </a:p>
        </p:txBody>
      </p:sp>
      <p:pic>
        <p:nvPicPr>
          <p:cNvPr id="193559" name="图片 193559"/>
          <p:cNvPicPr>
            <a:picLocks noChangeAspect="1"/>
          </p:cNvPicPr>
          <p:nvPr/>
        </p:nvPicPr>
        <p:blipFill>
          <a:blip r:embed="rId2"/>
          <a:stretch>
            <a:fillRect/>
          </a:stretch>
        </p:blipFill>
        <p:spPr>
          <a:xfrm>
            <a:off x="2175193" y="2179320"/>
            <a:ext cx="4982845" cy="2553970"/>
          </a:xfrm>
          <a:prstGeom prst="rect">
            <a:avLst/>
          </a:prstGeom>
          <a:ln>
            <a:solidFill>
              <a:schemeClr val="accent1"/>
            </a:solidFill>
          </a:ln>
        </p:spPr>
      </p:pic>
      <p:sp>
        <p:nvSpPr>
          <p:cNvPr id="107" name="文本框 106"/>
          <p:cNvSpPr txBox="1"/>
          <p:nvPr/>
        </p:nvSpPr>
        <p:spPr>
          <a:xfrm>
            <a:off x="1922780" y="4733607"/>
            <a:ext cx="5080000" cy="321945"/>
          </a:xfrm>
          <a:prstGeom prst="rect">
            <a:avLst/>
          </a:prstGeom>
          <a:noFill/>
          <a:ln w="9525">
            <a:noFill/>
          </a:ln>
        </p:spPr>
        <p:txBody>
          <a:bodyPr>
            <a:spAutoFit/>
          </a:bodyPr>
          <a:lstStyle/>
          <a:p>
            <a:pPr indent="0" algn="ctr"/>
            <a:r>
              <a:rPr lang="en-US" sz="1500" b="0">
                <a:latin typeface="Cambria Math" panose="02040503050406030204" charset="0"/>
                <a:ea typeface="等线" panose="02010600030101010101" pitchFamily="2" charset="-122"/>
                <a:cs typeface="Times New Roman" panose="02020603050405020304" pitchFamily="18" charset="0"/>
              </a:rPr>
              <a:t> </a:t>
            </a:r>
            <a:r>
              <a:rPr lang="en-US" sz="1000" b="0">
                <a:latin typeface="Cambria Math" panose="02040503050406030204" charset="0"/>
                <a:ea typeface="等线" panose="02010600030101010101" pitchFamily="2" charset="-122"/>
                <a:cs typeface="Times New Roman" panose="02020603050405020304" pitchFamily="18" charset="0"/>
              </a:rPr>
              <a:t>K-Means</a:t>
            </a:r>
            <a:r>
              <a:rPr lang="zh-CN" sz="1000" b="0">
                <a:latin typeface="Cambria Math" panose="02040503050406030204" charset="0"/>
                <a:ea typeface="等线" panose="02010600030101010101" pitchFamily="2" charset="-122"/>
              </a:rPr>
              <a:t>算法流程示意图</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8.4.3</a:t>
            </a:r>
            <a:r>
              <a:rPr lang="en-US"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K-Means算法</a:t>
            </a:r>
          </a:p>
        </p:txBody>
      </p:sp>
      <p:sp>
        <p:nvSpPr>
          <p:cNvPr id="3" name="文本框 2"/>
          <p:cNvSpPr txBox="1"/>
          <p:nvPr/>
        </p:nvSpPr>
        <p:spPr>
          <a:xfrm>
            <a:off x="152400" y="807085"/>
            <a:ext cx="8492490" cy="491490"/>
          </a:xfrm>
          <a:prstGeom prst="rect">
            <a:avLst/>
          </a:prstGeom>
          <a:noFill/>
        </p:spPr>
        <p:txBody>
          <a:bodyPr wrap="square" rtlCol="0" anchor="t">
            <a:spAutoFit/>
          </a:bodyPr>
          <a:lstStyle/>
          <a:p>
            <a:pPr>
              <a:lnSpc>
                <a:spcPct val="130000"/>
              </a:lnSpc>
              <a:spcBef>
                <a:spcPts val="0"/>
              </a:spcBef>
              <a:spcAft>
                <a:spcPts val="0"/>
              </a:spcAft>
            </a:pPr>
            <a:r>
              <a:rPr lang="en-US" altLang="zh-CN" sz="2000" b="1"/>
              <a:t>        </a:t>
            </a:r>
            <a:r>
              <a:rPr sz="2000" b="1"/>
              <a:t>1.K-Means算法的基本流程</a:t>
            </a:r>
          </a:p>
        </p:txBody>
      </p:sp>
      <p:sp>
        <p:nvSpPr>
          <p:cNvPr id="2" name="文本框 1"/>
          <p:cNvSpPr txBox="1"/>
          <p:nvPr/>
        </p:nvSpPr>
        <p:spPr>
          <a:xfrm>
            <a:off x="413385" y="1298892"/>
            <a:ext cx="5080000" cy="398780"/>
          </a:xfrm>
          <a:prstGeom prst="rect">
            <a:avLst/>
          </a:prstGeom>
          <a:noFill/>
          <a:ln w="9525">
            <a:noFill/>
          </a:ln>
        </p:spPr>
        <p:txBody>
          <a:bodyPr>
            <a:spAutoFit/>
          </a:bodyPr>
          <a:lstStyle/>
          <a:p>
            <a:pPr indent="266700"/>
            <a:r>
              <a:rPr lang="zh-CN" sz="2000" b="0">
                <a:ea typeface="等线" panose="02010600030101010101" pitchFamily="2" charset="-122"/>
                <a:cs typeface="Times New Roman" panose="02020603050405020304" pitchFamily="18" charset="0"/>
              </a:rPr>
              <a:t>K-Means算法</a:t>
            </a:r>
            <a:r>
              <a:rPr lang="zh-CN" sz="2000" b="0">
                <a:ea typeface="等线" panose="02010600030101010101" pitchFamily="2" charset="-122"/>
              </a:rPr>
              <a:t>的基本流程如下：</a:t>
            </a:r>
            <a:endParaRPr lang="zh-CN" altLang="en-US" sz="2000"/>
          </a:p>
        </p:txBody>
      </p:sp>
      <p:sp>
        <p:nvSpPr>
          <p:cNvPr id="5" name="文本框 4"/>
          <p:cNvSpPr txBox="1"/>
          <p:nvPr/>
        </p:nvSpPr>
        <p:spPr>
          <a:xfrm>
            <a:off x="1485265" y="1761173"/>
            <a:ext cx="5080000" cy="3091815"/>
          </a:xfrm>
          <a:prstGeom prst="rect">
            <a:avLst/>
          </a:prstGeom>
          <a:noFill/>
          <a:ln w="9525">
            <a:solidFill>
              <a:srgbClr val="FF0000"/>
            </a:solidFill>
          </a:ln>
        </p:spPr>
        <p:txBody>
          <a:bodyPr>
            <a:spAutoFit/>
          </a:bodyPr>
          <a:lstStyle/>
          <a:p>
            <a:pPr indent="0"/>
            <a:r>
              <a:rPr lang="zh-CN" sz="1500" b="1">
                <a:ea typeface="等线" panose="02010600030101010101" pitchFamily="2" charset="-122"/>
              </a:rPr>
              <a:t>算法名称：</a:t>
            </a:r>
            <a:r>
              <a:rPr lang="en-US" sz="1500" b="1">
                <a:latin typeface="等线" panose="02010600030101010101" pitchFamily="2" charset="-122"/>
                <a:cs typeface="Times New Roman" panose="02020603050405020304" pitchFamily="18" charset="0"/>
              </a:rPr>
              <a:t>K-menas</a:t>
            </a:r>
            <a:endParaRPr lang="zh-CN" sz="1500" b="1">
              <a:ea typeface="等线" panose="02010600030101010101" pitchFamily="2" charset="-122"/>
            </a:endParaRPr>
          </a:p>
          <a:p>
            <a:pPr indent="0"/>
            <a:r>
              <a:rPr lang="zh-CN" sz="1500" b="1">
                <a:ea typeface="等线" panose="02010600030101010101" pitchFamily="2" charset="-122"/>
              </a:rPr>
              <a:t>输入</a:t>
            </a:r>
            <a:r>
              <a:rPr lang="en-US" sz="1500" b="1">
                <a:latin typeface="等线" panose="02010600030101010101" pitchFamily="2" charset="-122"/>
                <a:cs typeface="Times New Roman" panose="02020603050405020304" pitchFamily="18" charset="0"/>
              </a:rPr>
              <a:t>: </a:t>
            </a:r>
            <a:r>
              <a:rPr lang="en-US" sz="1500" b="0">
                <a:latin typeface="等线" panose="02010600030101010101" pitchFamily="2" charset="-122"/>
                <a:cs typeface="Times New Roman" panose="02020603050405020304" pitchFamily="18" charset="0"/>
              </a:rPr>
              <a:t>k: </a:t>
            </a:r>
            <a:r>
              <a:rPr lang="zh-CN" sz="1500" b="0">
                <a:ea typeface="等线" panose="02010600030101010101" pitchFamily="2" charset="-122"/>
              </a:rPr>
              <a:t>簇数目，</a:t>
            </a:r>
            <a:r>
              <a:rPr lang="en-US" sz="1500" b="0">
                <a:latin typeface="等线" panose="02010600030101010101" pitchFamily="2" charset="-122"/>
                <a:cs typeface="Times New Roman" panose="02020603050405020304" pitchFamily="18" charset="0"/>
              </a:rPr>
              <a:t>D: </a:t>
            </a:r>
            <a:r>
              <a:rPr lang="zh-CN" sz="1500" b="0">
                <a:ea typeface="等线" panose="02010600030101010101" pitchFamily="2" charset="-122"/>
              </a:rPr>
              <a:t>包含</a:t>
            </a:r>
            <a:r>
              <a:rPr lang="zh-CN" sz="1500" b="0">
                <a:ea typeface="等线" panose="02010600030101010101" pitchFamily="2" charset="-122"/>
                <a:cs typeface="Times New Roman" panose="02020603050405020304" pitchFamily="18" charset="0"/>
              </a:rPr>
              <a:t>n个样本的数据集。</a:t>
            </a:r>
            <a:endParaRPr lang="zh-CN" sz="1500" b="1">
              <a:ea typeface="等线" panose="02010600030101010101" pitchFamily="2" charset="-122"/>
            </a:endParaRPr>
          </a:p>
          <a:p>
            <a:pPr indent="0"/>
            <a:r>
              <a:rPr lang="zh-CN" sz="1500" b="1">
                <a:ea typeface="等线" panose="02010600030101010101" pitchFamily="2" charset="-122"/>
              </a:rPr>
              <a:t>输出：</a:t>
            </a:r>
            <a:r>
              <a:rPr lang="zh-CN" sz="1500" b="0">
                <a:ea typeface="等线" panose="02010600030101010101" pitchFamily="2" charset="-122"/>
              </a:rPr>
              <a:t>簇中心集合。</a:t>
            </a:r>
            <a:endParaRPr lang="zh-CN" sz="1500" b="1">
              <a:ea typeface="等线" panose="02010600030101010101" pitchFamily="2" charset="-122"/>
            </a:endParaRPr>
          </a:p>
          <a:p>
            <a:pPr indent="0"/>
            <a:r>
              <a:rPr lang="zh-CN" sz="1500" b="1">
                <a:ea typeface="等线" panose="02010600030101010101" pitchFamily="2" charset="-122"/>
              </a:rPr>
              <a:t>算法流程：</a:t>
            </a:r>
            <a:endParaRPr lang="en-US" sz="1500" b="0">
              <a:latin typeface="等线" panose="02010600030101010101" pitchFamily="2" charset="-122"/>
            </a:endParaRPr>
          </a:p>
          <a:p>
            <a:pPr indent="0"/>
            <a:r>
              <a:rPr lang="en-US" sz="1500" b="0">
                <a:latin typeface="等线" panose="02010600030101010101" pitchFamily="2" charset="-122"/>
              </a:rPr>
              <a:t>S</a:t>
            </a:r>
            <a:r>
              <a:rPr lang="en-US" sz="1500" b="0">
                <a:latin typeface="等线" panose="02010600030101010101" pitchFamily="2" charset="-122"/>
                <a:cs typeface="Times New Roman" panose="02020603050405020304" pitchFamily="18" charset="0"/>
              </a:rPr>
              <a:t>tep1</a:t>
            </a:r>
            <a:r>
              <a:rPr lang="zh-CN" sz="1500" b="0">
                <a:ea typeface="等线" panose="02010600030101010101" pitchFamily="2" charset="-122"/>
              </a:rPr>
              <a:t>：从数据集中随机取</a:t>
            </a:r>
            <a:r>
              <a:rPr lang="zh-CN" sz="1500" b="0">
                <a:ea typeface="等线" panose="02010600030101010101" pitchFamily="2" charset="-122"/>
                <a:cs typeface="Times New Roman" panose="02020603050405020304" pitchFamily="18" charset="0"/>
              </a:rPr>
              <a:t>k个对象，作为k个簇的初始聚类中心。</a:t>
            </a:r>
            <a:endParaRPr lang="en-US" sz="1500" b="0">
              <a:latin typeface="等线" panose="02010600030101010101" pitchFamily="2" charset="-122"/>
            </a:endParaRPr>
          </a:p>
          <a:p>
            <a:pPr indent="0"/>
            <a:r>
              <a:rPr lang="en-US" sz="1500" b="0">
                <a:latin typeface="等线" panose="02010600030101010101" pitchFamily="2" charset="-122"/>
              </a:rPr>
              <a:t>S</a:t>
            </a:r>
            <a:r>
              <a:rPr lang="en-US" sz="1500" b="0">
                <a:latin typeface="等线" panose="02010600030101010101" pitchFamily="2" charset="-122"/>
                <a:cs typeface="Times New Roman" panose="02020603050405020304" pitchFamily="18" charset="0"/>
              </a:rPr>
              <a:t>tep</a:t>
            </a:r>
            <a:r>
              <a:rPr lang="zh-CN" sz="1500" b="0">
                <a:ea typeface="等线" panose="02010600030101010101" pitchFamily="2" charset="-122"/>
              </a:rPr>
              <a:t>2：计算剩下的对象到k个簇中心的相似度，将这些对象分别划分到相似度最高的簇。</a:t>
            </a:r>
            <a:endParaRPr lang="en-US" sz="1500" b="0">
              <a:latin typeface="等线" panose="02010600030101010101" pitchFamily="2" charset="-122"/>
            </a:endParaRPr>
          </a:p>
          <a:p>
            <a:pPr indent="0"/>
            <a:r>
              <a:rPr lang="en-US" sz="1500" b="0">
                <a:latin typeface="等线" panose="02010600030101010101" pitchFamily="2" charset="-122"/>
              </a:rPr>
              <a:t>S</a:t>
            </a:r>
            <a:r>
              <a:rPr lang="en-US" sz="1500" b="0">
                <a:latin typeface="等线" panose="02010600030101010101" pitchFamily="2" charset="-122"/>
                <a:cs typeface="Times New Roman" panose="02020603050405020304" pitchFamily="18" charset="0"/>
              </a:rPr>
              <a:t>tep</a:t>
            </a:r>
            <a:r>
              <a:rPr lang="zh-CN" sz="1500" b="0">
                <a:ea typeface="等线" panose="02010600030101010101" pitchFamily="2" charset="-122"/>
              </a:rPr>
              <a:t>3：根据聚类结果，更新k个簇的中心，计算方法是取簇中所有对象各自维度的算术平均值。</a:t>
            </a:r>
            <a:endParaRPr lang="en-US" sz="1500" b="0">
              <a:latin typeface="等线" panose="02010600030101010101" pitchFamily="2" charset="-122"/>
            </a:endParaRPr>
          </a:p>
          <a:p>
            <a:pPr indent="0"/>
            <a:r>
              <a:rPr lang="en-US" sz="1500" b="0">
                <a:latin typeface="等线" panose="02010600030101010101" pitchFamily="2" charset="-122"/>
              </a:rPr>
              <a:t>S</a:t>
            </a:r>
            <a:r>
              <a:rPr lang="en-US" sz="1500" b="0">
                <a:latin typeface="等线" panose="02010600030101010101" pitchFamily="2" charset="-122"/>
                <a:cs typeface="Times New Roman" panose="02020603050405020304" pitchFamily="18" charset="0"/>
              </a:rPr>
              <a:t>tep</a:t>
            </a:r>
            <a:r>
              <a:rPr lang="zh-CN" sz="1500" b="0">
                <a:ea typeface="等线" panose="02010600030101010101" pitchFamily="2" charset="-122"/>
              </a:rPr>
              <a:t>4：将数据集中全部元素按照新的中心重新聚类。</a:t>
            </a:r>
            <a:endParaRPr lang="en-US" sz="1500" b="0">
              <a:latin typeface="等线" panose="02010600030101010101" pitchFamily="2" charset="-122"/>
            </a:endParaRPr>
          </a:p>
          <a:p>
            <a:pPr indent="0"/>
            <a:r>
              <a:rPr lang="en-US" sz="1500" b="0">
                <a:latin typeface="等线" panose="02010600030101010101" pitchFamily="2" charset="-122"/>
              </a:rPr>
              <a:t>S</a:t>
            </a:r>
            <a:r>
              <a:rPr lang="en-US" sz="1500" b="0">
                <a:latin typeface="等线" panose="02010600030101010101" pitchFamily="2" charset="-122"/>
                <a:cs typeface="Times New Roman" panose="02020603050405020304" pitchFamily="18" charset="0"/>
              </a:rPr>
              <a:t>tep</a:t>
            </a:r>
            <a:r>
              <a:rPr lang="zh-CN" sz="1500" b="0">
                <a:ea typeface="等线" panose="02010600030101010101" pitchFamily="2" charset="-122"/>
              </a:rPr>
              <a:t>5：达到算法停止条件，转至步骤6；否则转至步骤3。</a:t>
            </a:r>
            <a:endParaRPr lang="en-US" sz="1500" b="0">
              <a:latin typeface="等线" panose="02010600030101010101" pitchFamily="2" charset="-122"/>
            </a:endParaRPr>
          </a:p>
          <a:p>
            <a:pPr indent="0"/>
            <a:r>
              <a:rPr lang="en-US" sz="1500" b="0">
                <a:latin typeface="等线" panose="02010600030101010101" pitchFamily="2" charset="-122"/>
              </a:rPr>
              <a:t>S</a:t>
            </a:r>
            <a:r>
              <a:rPr lang="en-US" sz="1500" b="0">
                <a:latin typeface="等线" panose="02010600030101010101" pitchFamily="2" charset="-122"/>
                <a:cs typeface="Times New Roman" panose="02020603050405020304" pitchFamily="18" charset="0"/>
              </a:rPr>
              <a:t>tep</a:t>
            </a:r>
            <a:r>
              <a:rPr lang="zh-CN" sz="1500" b="0">
                <a:ea typeface="等线" panose="02010600030101010101" pitchFamily="2" charset="-122"/>
              </a:rPr>
              <a:t>6：输出聚类结果。</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8.4.3</a:t>
            </a:r>
            <a:r>
              <a:rPr lang="en-US"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K-Means算法</a:t>
            </a:r>
          </a:p>
        </p:txBody>
      </p:sp>
      <p:sp>
        <p:nvSpPr>
          <p:cNvPr id="2" name="文本框 1"/>
          <p:cNvSpPr txBox="1"/>
          <p:nvPr/>
        </p:nvSpPr>
        <p:spPr>
          <a:xfrm>
            <a:off x="440055" y="998220"/>
            <a:ext cx="8485505" cy="28917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lang="zh-CN" sz="2000" b="0">
                <a:ea typeface="等线" panose="02010600030101010101" pitchFamily="2" charset="-122"/>
              </a:rPr>
              <a:t>K-mean算法的停止条件可以有多种，例如：</a:t>
            </a:r>
          </a:p>
          <a:p>
            <a:pPr marL="800100" lvl="1" indent="-342900">
              <a:lnSpc>
                <a:spcPct val="130000"/>
              </a:lnSpc>
              <a:spcBef>
                <a:spcPts val="0"/>
              </a:spcBef>
              <a:spcAft>
                <a:spcPts val="0"/>
              </a:spcAft>
              <a:buFont typeface="Wingdings" panose="05000000000000000000" charset="0"/>
              <a:buChar char="l"/>
            </a:pPr>
            <a:r>
              <a:rPr lang="zh-CN" sz="2000" b="0">
                <a:ea typeface="等线" panose="02010600030101010101" pitchFamily="2" charset="-122"/>
              </a:rPr>
              <a:t>设定迭代次数</a:t>
            </a:r>
          </a:p>
          <a:p>
            <a:pPr marL="800100" lvl="1" indent="-342900">
              <a:lnSpc>
                <a:spcPct val="130000"/>
              </a:lnSpc>
              <a:spcBef>
                <a:spcPts val="0"/>
              </a:spcBef>
              <a:spcAft>
                <a:spcPts val="0"/>
              </a:spcAft>
              <a:buFont typeface="Wingdings" panose="05000000000000000000" charset="0"/>
              <a:buChar char="l"/>
            </a:pPr>
            <a:r>
              <a:rPr lang="zh-CN" sz="2000" b="0">
                <a:ea typeface="等线" panose="02010600030101010101" pitchFamily="2" charset="-122"/>
              </a:rPr>
              <a:t>聚类中心不再变化 </a:t>
            </a:r>
          </a:p>
          <a:p>
            <a:pPr marL="800100" lvl="1" indent="-342900">
              <a:lnSpc>
                <a:spcPct val="130000"/>
              </a:lnSpc>
              <a:spcBef>
                <a:spcPts val="0"/>
              </a:spcBef>
              <a:spcAft>
                <a:spcPts val="0"/>
              </a:spcAft>
              <a:buFont typeface="Wingdings" panose="05000000000000000000" charset="0"/>
              <a:buChar char="l"/>
            </a:pPr>
            <a:r>
              <a:rPr lang="zh-CN" sz="2000" b="0">
                <a:ea typeface="等线" panose="02010600030101010101" pitchFamily="2" charset="-122"/>
              </a:rPr>
              <a:t>前后两次聚类结果的目标函数变化很小（如采用聚类质量度量指标）</a:t>
            </a:r>
          </a:p>
          <a:p>
            <a:pPr marL="342900" indent="-342900">
              <a:lnSpc>
                <a:spcPct val="130000"/>
              </a:lnSpc>
              <a:spcBef>
                <a:spcPts val="0"/>
              </a:spcBef>
              <a:spcAft>
                <a:spcPts val="0"/>
              </a:spcAft>
            </a:pPr>
            <a:r>
              <a:rPr lang="en-US" altLang="zh-CN" sz="2000" b="0">
                <a:ea typeface="等线" panose="02010600030101010101" pitchFamily="2" charset="-122"/>
              </a:rPr>
              <a:t>      </a:t>
            </a:r>
            <a:r>
              <a:rPr lang="zh-CN" sz="2000" b="0">
                <a:ea typeface="等线" panose="02010600030101010101" pitchFamily="2" charset="-122"/>
              </a:rPr>
              <a:t>例如，度量标准采用紧密性指标CP，设迭代次数为t，给定一个很小的正数，如果前后两次迭代结果</a:t>
            </a:r>
            <a:r>
              <a:rPr lang="en-US" altLang="zh-CN" sz="2000" b="0">
                <a:ea typeface="等线" panose="02010600030101010101" pitchFamily="2" charset="-122"/>
              </a:rPr>
              <a:t>                                  </a:t>
            </a:r>
            <a:r>
              <a:rPr lang="zh-CN" sz="2000" b="0">
                <a:ea typeface="等线" panose="02010600030101010101" pitchFamily="2" charset="-122"/>
              </a:rPr>
              <a:t> ，</a:t>
            </a:r>
            <a:r>
              <a:rPr lang="en-US" altLang="zh-CN" sz="2000" b="0">
                <a:ea typeface="等线" panose="02010600030101010101" pitchFamily="2" charset="-122"/>
              </a:rPr>
              <a:t>  </a:t>
            </a:r>
            <a:r>
              <a:rPr lang="zh-CN" altLang="en-US" sz="2000" b="0">
                <a:ea typeface="等线" panose="02010600030101010101" pitchFamily="2" charset="-122"/>
              </a:rPr>
              <a:t>，</a:t>
            </a:r>
            <a:r>
              <a:rPr lang="en-US" altLang="zh-CN" sz="2000" b="0">
                <a:ea typeface="等线" panose="02010600030101010101" pitchFamily="2" charset="-122"/>
              </a:rPr>
              <a:t> </a:t>
            </a:r>
            <a:r>
              <a:rPr lang="zh-CN" sz="2000" b="0">
                <a:ea typeface="等线" panose="02010600030101010101" pitchFamily="2" charset="-122"/>
              </a:rPr>
              <a:t>则算法结束；否则t=t+1，继续执行算法。</a:t>
            </a:r>
          </a:p>
        </p:txBody>
      </p:sp>
      <p:pic>
        <p:nvPicPr>
          <p:cNvPr id="107" name="图片 106"/>
          <p:cNvPicPr/>
          <p:nvPr/>
        </p:nvPicPr>
        <p:blipFill>
          <a:blip r:embed="rId2"/>
          <a:stretch>
            <a:fillRect/>
          </a:stretch>
        </p:blipFill>
        <p:spPr>
          <a:xfrm>
            <a:off x="4168140" y="3061018"/>
            <a:ext cx="2228850" cy="39052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8.4.3</a:t>
            </a:r>
            <a:r>
              <a:rPr lang="en-US"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K-Means算法</a:t>
            </a:r>
          </a:p>
        </p:txBody>
      </p:sp>
      <p:sp>
        <p:nvSpPr>
          <p:cNvPr id="2" name="文本框 1"/>
          <p:cNvSpPr txBox="1"/>
          <p:nvPr/>
        </p:nvSpPr>
        <p:spPr>
          <a:xfrm>
            <a:off x="135255" y="862330"/>
            <a:ext cx="8630285" cy="4092575"/>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lang="zh-CN" sz="2000" b="1">
                <a:ea typeface="等线" panose="02010600030101010101" pitchFamily="2" charset="-122"/>
              </a:rPr>
              <a:t>2.K-Means算法的优缺点设定迭代次数</a:t>
            </a:r>
          </a:p>
          <a:p>
            <a:pPr indent="266700">
              <a:lnSpc>
                <a:spcPct val="130000"/>
              </a:lnSpc>
              <a:spcBef>
                <a:spcPts val="0"/>
              </a:spcBef>
              <a:spcAft>
                <a:spcPts val="0"/>
              </a:spcAft>
            </a:pPr>
            <a:r>
              <a:rPr lang="zh-CN" sz="2000" b="1">
                <a:ea typeface="等线" panose="02010600030101010101" pitchFamily="2" charset="-122"/>
              </a:rPr>
              <a:t> </a:t>
            </a:r>
            <a:r>
              <a:rPr lang="en-US" altLang="zh-CN" sz="2000" b="1">
                <a:ea typeface="等线" panose="02010600030101010101" pitchFamily="2" charset="-122"/>
              </a:rPr>
              <a:t>   </a:t>
            </a:r>
            <a:r>
              <a:rPr sz="2000" b="0">
                <a:ea typeface="等线" panose="02010600030101010101" pitchFamily="2" charset="-122"/>
              </a:rPr>
              <a:t>K-Means算法的优点是效率相对较高，其时间复杂度为O (tkn), 其中n是样本数, k是类簇数，t是迭代次数，通常情况下k, t &lt;&lt; n。</a:t>
            </a:r>
          </a:p>
          <a:p>
            <a:pPr marL="457200" lvl="1" indent="0">
              <a:lnSpc>
                <a:spcPct val="130000"/>
              </a:lnSpc>
              <a:spcBef>
                <a:spcPts val="0"/>
              </a:spcBef>
              <a:spcAft>
                <a:spcPts val="0"/>
              </a:spcAft>
              <a:buFont typeface="Wingdings" panose="05000000000000000000" charset="0"/>
              <a:buNone/>
            </a:pPr>
            <a:r>
              <a:rPr sz="2000" b="0">
                <a:ea typeface="等线" panose="02010600030101010101" pitchFamily="2" charset="-122"/>
              </a:rPr>
              <a:t>K-Means算法的不足之处主要表现在：</a:t>
            </a:r>
          </a:p>
          <a:p>
            <a:pPr marL="800100" lvl="1" indent="-342900">
              <a:lnSpc>
                <a:spcPct val="130000"/>
              </a:lnSpc>
              <a:spcBef>
                <a:spcPts val="0"/>
              </a:spcBef>
              <a:spcAft>
                <a:spcPts val="0"/>
              </a:spcAft>
              <a:buFont typeface="Wingdings" panose="05000000000000000000" charset="0"/>
              <a:buChar char="l"/>
            </a:pPr>
            <a:r>
              <a:rPr lang="zh-CN" sz="2000">
                <a:ea typeface="等线" panose="02010600030101010101" pitchFamily="2" charset="-122"/>
                <a:sym typeface="+mn-ea"/>
              </a:rPr>
              <a:t>只有当数据样本的均值有定义的情况下才能使用</a:t>
            </a:r>
            <a:endParaRPr lang="zh-CN" sz="2000" b="0">
              <a:ea typeface="等线" panose="02010600030101010101" pitchFamily="2" charset="-122"/>
            </a:endParaRPr>
          </a:p>
          <a:p>
            <a:pPr marL="800100" lvl="1" indent="-342900">
              <a:lnSpc>
                <a:spcPct val="130000"/>
              </a:lnSpc>
              <a:spcBef>
                <a:spcPts val="0"/>
              </a:spcBef>
              <a:spcAft>
                <a:spcPts val="0"/>
              </a:spcAft>
              <a:buFont typeface="Wingdings" panose="05000000000000000000" charset="0"/>
              <a:buChar char="l"/>
            </a:pPr>
            <a:r>
              <a:rPr lang="zh-CN" sz="2000">
                <a:ea typeface="等线" panose="02010600030101010101" pitchFamily="2" charset="-122"/>
                <a:sym typeface="+mn-ea"/>
              </a:rPr>
              <a:t>必须事先给定簇的数量k</a:t>
            </a:r>
            <a:endParaRPr lang="zh-CN" sz="2000" b="0">
              <a:ea typeface="等线" panose="02010600030101010101" pitchFamily="2" charset="-122"/>
            </a:endParaRPr>
          </a:p>
          <a:p>
            <a:pPr marL="800100" lvl="1" indent="-342900">
              <a:lnSpc>
                <a:spcPct val="130000"/>
              </a:lnSpc>
              <a:spcBef>
                <a:spcPts val="0"/>
              </a:spcBef>
              <a:spcAft>
                <a:spcPts val="0"/>
              </a:spcAft>
              <a:buFont typeface="Wingdings" panose="05000000000000000000" charset="0"/>
              <a:buChar char="l"/>
            </a:pPr>
            <a:r>
              <a:rPr lang="zh-CN" sz="2000">
                <a:ea typeface="等线" panose="02010600030101010101" pitchFamily="2" charset="-122"/>
                <a:sym typeface="+mn-ea"/>
              </a:rPr>
              <a:t>不能处理噪声和离群点</a:t>
            </a:r>
            <a:endParaRPr lang="zh-CN" sz="2000" b="0">
              <a:ea typeface="等线" panose="02010600030101010101" pitchFamily="2" charset="-122"/>
            </a:endParaRPr>
          </a:p>
          <a:p>
            <a:pPr marL="800100" lvl="1" indent="-342900">
              <a:lnSpc>
                <a:spcPct val="130000"/>
              </a:lnSpc>
              <a:spcBef>
                <a:spcPts val="0"/>
              </a:spcBef>
              <a:spcAft>
                <a:spcPts val="0"/>
              </a:spcAft>
              <a:buFont typeface="Wingdings" panose="05000000000000000000" charset="0"/>
              <a:buChar char="l"/>
            </a:pPr>
            <a:r>
              <a:rPr lang="zh-CN" sz="2000">
                <a:ea typeface="等线" panose="02010600030101010101" pitchFamily="2" charset="-122"/>
                <a:sym typeface="+mn-ea"/>
              </a:rPr>
              <a:t>不适合于发现非凸形状的簇流形（manifold）</a:t>
            </a:r>
            <a:r>
              <a:rPr lang="en-US" altLang="zh-CN" sz="2000">
                <a:ea typeface="等线" panose="02010600030101010101" pitchFamily="2" charset="-122"/>
                <a:sym typeface="+mn-ea"/>
              </a:rPr>
              <a:t>         </a:t>
            </a:r>
            <a:r>
              <a:rPr lang="en-US" altLang="zh-CN" sz="1000">
                <a:ea typeface="等线" panose="02010600030101010101" pitchFamily="2" charset="-122"/>
                <a:sym typeface="+mn-ea"/>
              </a:rPr>
              <a:t>流形（manifold）数据的聚类示意图</a:t>
            </a:r>
          </a:p>
          <a:p>
            <a:pPr marL="457200" lvl="1" indent="0">
              <a:lnSpc>
                <a:spcPct val="130000"/>
              </a:lnSpc>
              <a:spcBef>
                <a:spcPts val="0"/>
              </a:spcBef>
              <a:spcAft>
                <a:spcPts val="0"/>
              </a:spcAft>
              <a:buFont typeface="Wingdings" panose="05000000000000000000" charset="0"/>
              <a:buNone/>
            </a:pPr>
            <a:r>
              <a:rPr lang="zh-CN" sz="2000" b="0">
                <a:ea typeface="等线" panose="02010600030101010101" pitchFamily="2" charset="-122"/>
              </a:rPr>
              <a:t>对于如右图所示的流形（manifold）数据，K-Means算法的效果就很差。</a:t>
            </a:r>
          </a:p>
          <a:p>
            <a:pPr marL="342900" indent="-342900">
              <a:lnSpc>
                <a:spcPct val="130000"/>
              </a:lnSpc>
              <a:spcBef>
                <a:spcPts val="0"/>
              </a:spcBef>
              <a:spcAft>
                <a:spcPts val="0"/>
              </a:spcAft>
            </a:pPr>
            <a:endParaRPr lang="zh-CN" sz="2000" b="0">
              <a:ea typeface="等线" panose="02010600030101010101" pitchFamily="2" charset="-122"/>
            </a:endParaRPr>
          </a:p>
        </p:txBody>
      </p:sp>
      <p:pic>
        <p:nvPicPr>
          <p:cNvPr id="193560" name="图片 4"/>
          <p:cNvPicPr>
            <a:picLocks noChangeAspect="1"/>
          </p:cNvPicPr>
          <p:nvPr>
            <p:custDataLst>
              <p:tags r:id="rId1"/>
            </p:custDataLst>
          </p:nvPr>
        </p:nvPicPr>
        <p:blipFill>
          <a:blip r:embed="rId3"/>
          <a:srcRect t="2326" b="3400"/>
          <a:stretch>
            <a:fillRect/>
          </a:stretch>
        </p:blipFill>
        <p:spPr>
          <a:xfrm>
            <a:off x="6617335" y="2013903"/>
            <a:ext cx="1926590" cy="1691005"/>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8.4.3</a:t>
            </a:r>
            <a:r>
              <a:rPr lang="en-US"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K-Means算法</a:t>
            </a:r>
          </a:p>
        </p:txBody>
      </p:sp>
      <p:sp>
        <p:nvSpPr>
          <p:cNvPr id="2" name="文本框 1"/>
          <p:cNvSpPr txBox="1"/>
          <p:nvPr/>
        </p:nvSpPr>
        <p:spPr>
          <a:xfrm>
            <a:off x="349250" y="807085"/>
            <a:ext cx="8630285" cy="4092575"/>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lang="en-US" altLang="zh-CN" sz="2000" b="1">
                <a:ea typeface="等线" panose="02010600030101010101" pitchFamily="2" charset="-122"/>
              </a:rPr>
              <a:t> </a:t>
            </a:r>
            <a:r>
              <a:rPr sz="2000" b="1">
                <a:ea typeface="等线" panose="02010600030101010101" pitchFamily="2" charset="-122"/>
              </a:rPr>
              <a:t>3.K-Means算法的改进</a:t>
            </a:r>
          </a:p>
          <a:p>
            <a:pPr indent="266700">
              <a:lnSpc>
                <a:spcPct val="130000"/>
              </a:lnSpc>
              <a:spcBef>
                <a:spcPts val="0"/>
              </a:spcBef>
              <a:spcAft>
                <a:spcPts val="0"/>
              </a:spcAft>
            </a:pPr>
            <a:r>
              <a:rPr lang="zh-CN" sz="2000" b="1">
                <a:ea typeface="等线" panose="02010600030101010101" pitchFamily="2" charset="-122"/>
              </a:rPr>
              <a:t> </a:t>
            </a:r>
            <a:r>
              <a:rPr lang="en-US" altLang="zh-CN" sz="2000" b="1">
                <a:ea typeface="等线" panose="02010600030101010101" pitchFamily="2" charset="-122"/>
              </a:rPr>
              <a:t>  </a:t>
            </a:r>
            <a:r>
              <a:rPr sz="2000">
                <a:ea typeface="等线" panose="02010600030101010101" pitchFamily="2" charset="-122"/>
              </a:rPr>
              <a:t>对于K-Means 算法，k个初始化的簇中心的选择对最后的聚类结果和运行时间都有很大的影响，因此需要选择合适的k个簇中心。如果仅仅是完全随机的选择，有可能导致算法收敛很慢。</a:t>
            </a:r>
          </a:p>
          <a:p>
            <a:pPr indent="266700">
              <a:lnSpc>
                <a:spcPct val="130000"/>
              </a:lnSpc>
              <a:spcBef>
                <a:spcPts val="0"/>
              </a:spcBef>
              <a:spcAft>
                <a:spcPts val="0"/>
              </a:spcAft>
            </a:pPr>
            <a:r>
              <a:rPr lang="en-US" sz="2000">
                <a:ea typeface="等线" panose="02010600030101010101" pitchFamily="2" charset="-122"/>
              </a:rPr>
              <a:t>  </a:t>
            </a:r>
            <a:r>
              <a:rPr sz="2000">
                <a:ea typeface="等线" panose="02010600030101010101" pitchFamily="2" charset="-122"/>
              </a:rPr>
              <a:t>K-Means++算法就是对K-Means随机初始化质心的方法的优化。</a:t>
            </a:r>
          </a:p>
          <a:p>
            <a:pPr indent="266700">
              <a:lnSpc>
                <a:spcPct val="130000"/>
              </a:lnSpc>
              <a:spcBef>
                <a:spcPts val="0"/>
              </a:spcBef>
              <a:spcAft>
                <a:spcPts val="0"/>
              </a:spcAft>
            </a:pPr>
            <a:r>
              <a:rPr lang="en-US" sz="2000">
                <a:ea typeface="等线" panose="02010600030101010101" pitchFamily="2" charset="-122"/>
              </a:rPr>
              <a:t>  </a:t>
            </a:r>
            <a:r>
              <a:rPr sz="2000">
                <a:ea typeface="等线" panose="02010600030101010101" pitchFamily="2" charset="-122"/>
              </a:rPr>
              <a:t>K-Means++的对于初始化质心的优化策略很简单有效：</a:t>
            </a:r>
          </a:p>
          <a:p>
            <a:pPr indent="266700">
              <a:lnSpc>
                <a:spcPct val="130000"/>
              </a:lnSpc>
              <a:spcBef>
                <a:spcPts val="0"/>
              </a:spcBef>
              <a:spcAft>
                <a:spcPts val="0"/>
              </a:spcAft>
            </a:pPr>
            <a:r>
              <a:rPr lang="en-US" sz="2000">
                <a:ea typeface="等线" panose="02010600030101010101" pitchFamily="2" charset="-122"/>
              </a:rPr>
              <a:t>  </a:t>
            </a:r>
            <a:r>
              <a:rPr sz="2000">
                <a:ea typeface="等线" panose="02010600030101010101" pitchFamily="2" charset="-122"/>
              </a:rPr>
              <a:t>a)  从输入的数据集合中随机选择一个样本作为第一个聚类中心　　</a:t>
            </a:r>
          </a:p>
          <a:p>
            <a:pPr indent="266700">
              <a:lnSpc>
                <a:spcPct val="130000"/>
              </a:lnSpc>
              <a:spcBef>
                <a:spcPts val="0"/>
              </a:spcBef>
              <a:spcAft>
                <a:spcPts val="0"/>
              </a:spcAft>
            </a:pPr>
            <a:r>
              <a:rPr lang="en-US" sz="2000">
                <a:ea typeface="等线" panose="02010600030101010101" pitchFamily="2" charset="-122"/>
              </a:rPr>
              <a:t>  </a:t>
            </a:r>
            <a:r>
              <a:rPr sz="2000">
                <a:ea typeface="等线" panose="02010600030101010101" pitchFamily="2" charset="-122"/>
              </a:rPr>
              <a:t>b) 对于数据集中的每一个点，计算它与已选择的簇中心中最近的距离</a:t>
            </a:r>
            <a:r>
              <a:rPr lang="zh-CN" sz="2000">
                <a:ea typeface="等线" panose="02010600030101010101" pitchFamily="2" charset="-122"/>
                <a:sym typeface="+mn-ea"/>
              </a:rPr>
              <a:t>只有当数据样本的均值有定义的情况下才能使用</a:t>
            </a:r>
            <a:endParaRPr lang="zh-CN" sz="2000" b="0">
              <a:ea typeface="等线" panose="02010600030101010101" pitchFamily="2" charset="-122"/>
            </a:endParaRPr>
          </a:p>
          <a:p>
            <a:pPr marL="342900" indent="-342900">
              <a:lnSpc>
                <a:spcPct val="130000"/>
              </a:lnSpc>
              <a:spcBef>
                <a:spcPts val="0"/>
              </a:spcBef>
              <a:spcAft>
                <a:spcPts val="0"/>
              </a:spcAft>
            </a:pPr>
            <a:endParaRPr lang="zh-CN" sz="2000" b="0">
              <a:ea typeface="等线"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8.4.3</a:t>
            </a:r>
            <a:r>
              <a:rPr lang="en-US"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K-Means算法</a:t>
            </a:r>
          </a:p>
        </p:txBody>
      </p:sp>
      <p:sp>
        <p:nvSpPr>
          <p:cNvPr id="2" name="文本框 1"/>
          <p:cNvSpPr txBox="1"/>
          <p:nvPr/>
        </p:nvSpPr>
        <p:spPr>
          <a:xfrm>
            <a:off x="349250" y="807085"/>
            <a:ext cx="8630285" cy="4092575"/>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lang="en-US" altLang="zh-CN" sz="2000" b="1">
                <a:ea typeface="等线" panose="02010600030101010101" pitchFamily="2" charset="-122"/>
              </a:rPr>
              <a:t> </a:t>
            </a:r>
            <a:r>
              <a:rPr sz="2000" b="1">
                <a:ea typeface="等线" panose="02010600030101010101" pitchFamily="2" charset="-122"/>
              </a:rPr>
              <a:t>3.K-Means算法的改进</a:t>
            </a:r>
          </a:p>
          <a:p>
            <a:pPr indent="266700">
              <a:lnSpc>
                <a:spcPct val="130000"/>
              </a:lnSpc>
              <a:spcBef>
                <a:spcPts val="0"/>
              </a:spcBef>
              <a:spcAft>
                <a:spcPts val="0"/>
              </a:spcAft>
            </a:pPr>
            <a:r>
              <a:rPr lang="zh-CN" sz="2000" b="1">
                <a:ea typeface="等线" panose="02010600030101010101" pitchFamily="2" charset="-122"/>
              </a:rPr>
              <a:t> </a:t>
            </a:r>
            <a:r>
              <a:rPr lang="en-US" altLang="zh-CN" sz="2000" b="1">
                <a:ea typeface="等线" panose="02010600030101010101" pitchFamily="2" charset="-122"/>
              </a:rPr>
              <a:t>  </a:t>
            </a:r>
            <a:r>
              <a:rPr sz="2000">
                <a:ea typeface="等线" panose="02010600030101010101" pitchFamily="2" charset="-122"/>
              </a:rPr>
              <a:t>对于K-Means 算法，k个初始化的簇中心的选择对最后的聚类结果和运行时间都有很大的影响，因此需要选择合适的k个簇中心。如果仅仅是完全随机的选择，有可能导致算法收敛很慢。</a:t>
            </a:r>
          </a:p>
          <a:p>
            <a:pPr indent="266700">
              <a:lnSpc>
                <a:spcPct val="130000"/>
              </a:lnSpc>
              <a:spcBef>
                <a:spcPts val="0"/>
              </a:spcBef>
              <a:spcAft>
                <a:spcPts val="0"/>
              </a:spcAft>
            </a:pPr>
            <a:r>
              <a:rPr sz="2000">
                <a:ea typeface="等线" panose="02010600030101010101" pitchFamily="2" charset="-122"/>
              </a:rPr>
              <a:t>K-Means++算法就是对K-Means随机初始化质心的方法的优化。</a:t>
            </a:r>
          </a:p>
          <a:p>
            <a:pPr indent="266700">
              <a:lnSpc>
                <a:spcPct val="130000"/>
              </a:lnSpc>
              <a:spcBef>
                <a:spcPts val="0"/>
              </a:spcBef>
              <a:spcAft>
                <a:spcPts val="0"/>
              </a:spcAft>
            </a:pPr>
            <a:r>
              <a:rPr sz="2000">
                <a:ea typeface="等线" panose="02010600030101010101" pitchFamily="2" charset="-122"/>
              </a:rPr>
              <a:t>K-Means++的对于初始化质心的优化策略很简单有效：</a:t>
            </a:r>
          </a:p>
          <a:p>
            <a:pPr indent="266700">
              <a:lnSpc>
                <a:spcPct val="130000"/>
              </a:lnSpc>
              <a:spcBef>
                <a:spcPts val="0"/>
              </a:spcBef>
              <a:spcAft>
                <a:spcPts val="0"/>
              </a:spcAft>
            </a:pPr>
            <a:r>
              <a:rPr sz="2000">
                <a:ea typeface="等线" panose="02010600030101010101" pitchFamily="2" charset="-122"/>
              </a:rPr>
              <a:t>a)  从输入的数据集合中随机选择一个样本作为第一个聚类中心　　</a:t>
            </a:r>
          </a:p>
          <a:p>
            <a:pPr indent="266700">
              <a:lnSpc>
                <a:spcPct val="130000"/>
              </a:lnSpc>
              <a:spcBef>
                <a:spcPts val="0"/>
              </a:spcBef>
              <a:spcAft>
                <a:spcPts val="0"/>
              </a:spcAft>
            </a:pPr>
            <a:r>
              <a:rPr sz="2000">
                <a:ea typeface="等线" panose="02010600030101010101" pitchFamily="2" charset="-122"/>
              </a:rPr>
              <a:t>b) 对于数据集中的每一个点，计算它与已选择的簇中心中最近的距离</a:t>
            </a:r>
            <a:r>
              <a:rPr lang="zh-CN" sz="2000">
                <a:ea typeface="等线" panose="02010600030101010101" pitchFamily="2" charset="-122"/>
                <a:sym typeface="+mn-ea"/>
              </a:rPr>
              <a:t>只有当数据样本的均值有定义的情况下才能使用</a:t>
            </a:r>
            <a:endParaRPr lang="zh-CN" sz="2000" b="0">
              <a:ea typeface="等线" panose="02010600030101010101" pitchFamily="2" charset="-122"/>
            </a:endParaRPr>
          </a:p>
          <a:p>
            <a:pPr marL="342900" indent="-342900">
              <a:lnSpc>
                <a:spcPct val="130000"/>
              </a:lnSpc>
              <a:spcBef>
                <a:spcPts val="0"/>
              </a:spcBef>
              <a:spcAft>
                <a:spcPts val="0"/>
              </a:spcAft>
            </a:pPr>
            <a:endParaRPr lang="zh-CN" sz="2000" b="0">
              <a:ea typeface="等线" panose="02010600030101010101" pitchFamily="2" charset="-122"/>
            </a:endParaRPr>
          </a:p>
        </p:txBody>
      </p:sp>
      <p:pic>
        <p:nvPicPr>
          <p:cNvPr id="108" name="图片 107"/>
          <p:cNvPicPr/>
          <p:nvPr/>
        </p:nvPicPr>
        <p:blipFill>
          <a:blip r:embed="rId2"/>
          <a:stretch>
            <a:fillRect/>
          </a:stretch>
        </p:blipFill>
        <p:spPr>
          <a:xfrm>
            <a:off x="3494405" y="4425633"/>
            <a:ext cx="3467100" cy="39052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8.4.3</a:t>
            </a:r>
            <a:r>
              <a:rPr lang="en-US"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K-Means算法</a:t>
            </a:r>
          </a:p>
        </p:txBody>
      </p:sp>
      <p:sp>
        <p:nvSpPr>
          <p:cNvPr id="2" name="文本框 1"/>
          <p:cNvSpPr txBox="1"/>
          <p:nvPr/>
        </p:nvSpPr>
        <p:spPr>
          <a:xfrm>
            <a:off x="330835" y="1344295"/>
            <a:ext cx="8630285" cy="1691640"/>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a:spAutoFit/>
          </a:bodyPr>
          <a:lstStyle/>
          <a:p>
            <a:pPr indent="266700">
              <a:lnSpc>
                <a:spcPct val="130000"/>
              </a:lnSpc>
              <a:spcBef>
                <a:spcPts val="0"/>
              </a:spcBef>
              <a:spcAft>
                <a:spcPts val="0"/>
              </a:spcAft>
            </a:pPr>
            <a:r>
              <a:rPr lang="en-US" altLang="zh-CN" sz="2000" b="0">
                <a:ea typeface="等线" panose="02010600030101010101" pitchFamily="2" charset="-122"/>
              </a:rPr>
              <a:t> </a:t>
            </a:r>
            <a:r>
              <a:rPr sz="2000">
                <a:ea typeface="等线" panose="02010600030101010101" pitchFamily="2" charset="-122"/>
              </a:rPr>
              <a:t>c) 选择一个新的数据点作为新的簇中心，选择的原则是D(x)较大的点，被选取作为聚类中心的概率较大</a:t>
            </a:r>
          </a:p>
          <a:p>
            <a:pPr indent="266700">
              <a:lnSpc>
                <a:spcPct val="130000"/>
              </a:lnSpc>
              <a:spcBef>
                <a:spcPts val="0"/>
              </a:spcBef>
              <a:spcAft>
                <a:spcPts val="0"/>
              </a:spcAft>
            </a:pPr>
            <a:r>
              <a:rPr sz="2000">
                <a:ea typeface="等线" panose="02010600030101010101" pitchFamily="2" charset="-122"/>
              </a:rPr>
              <a:t>d) 重复b和c直到选择出k个聚类质心</a:t>
            </a:r>
          </a:p>
          <a:p>
            <a:pPr indent="266700">
              <a:lnSpc>
                <a:spcPct val="130000"/>
              </a:lnSpc>
              <a:spcBef>
                <a:spcPts val="0"/>
              </a:spcBef>
              <a:spcAft>
                <a:spcPts val="0"/>
              </a:spcAft>
            </a:pPr>
            <a:r>
              <a:rPr sz="2000">
                <a:ea typeface="等线" panose="02010600030101010101" pitchFamily="2" charset="-122"/>
              </a:rPr>
              <a:t>e) 利用这k个质心来作为初始化质心去运行标准的K-Means算法</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8.4.3</a:t>
            </a:r>
            <a:r>
              <a:rPr lang="en-US"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K-Means算法</a:t>
            </a:r>
          </a:p>
        </p:txBody>
      </p:sp>
      <p:sp>
        <p:nvSpPr>
          <p:cNvPr id="109" name="文本框 108"/>
          <p:cNvSpPr txBox="1"/>
          <p:nvPr/>
        </p:nvSpPr>
        <p:spPr>
          <a:xfrm>
            <a:off x="118745" y="807402"/>
            <a:ext cx="5080000" cy="398780"/>
          </a:xfrm>
          <a:prstGeom prst="rect">
            <a:avLst/>
          </a:prstGeom>
          <a:noFill/>
          <a:ln w="9525">
            <a:noFill/>
          </a:ln>
        </p:spPr>
        <p:txBody>
          <a:bodyPr>
            <a:spAutoFit/>
          </a:bodyPr>
          <a:lstStyle/>
          <a:p>
            <a:pPr indent="266700"/>
            <a:r>
              <a:rPr lang="en-US" altLang="zh-CN" sz="2000" b="1">
                <a:ea typeface="等线" panose="02010600030101010101" pitchFamily="2" charset="-122"/>
              </a:rPr>
              <a:t>    </a:t>
            </a:r>
            <a:r>
              <a:rPr lang="zh-CN" sz="2000" b="1">
                <a:ea typeface="等线" panose="02010600030101010101" pitchFamily="2" charset="-122"/>
              </a:rPr>
              <a:t>（</a:t>
            </a:r>
            <a:r>
              <a:rPr lang="zh-CN" sz="2000" b="1">
                <a:ea typeface="等线" panose="02010600030101010101" pitchFamily="2" charset="-122"/>
                <a:cs typeface="Times New Roman" panose="02020603050405020304" pitchFamily="18" charset="0"/>
              </a:rPr>
              <a:t>2）确定K值的方法</a:t>
            </a:r>
            <a:endParaRPr lang="zh-CN" altLang="en-US" sz="2000"/>
          </a:p>
        </p:txBody>
      </p:sp>
      <p:graphicFrame>
        <p:nvGraphicFramePr>
          <p:cNvPr id="3" name="表格 2"/>
          <p:cNvGraphicFramePr/>
          <p:nvPr/>
        </p:nvGraphicFramePr>
        <p:xfrm>
          <a:off x="1266190" y="2380932"/>
          <a:ext cx="416560" cy="59436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0">
                <a:tc>
                  <a:txBody>
                    <a:bodyPr/>
                    <a:lstStyle/>
                    <a:p>
                      <a:pPr indent="0">
                        <a:buNone/>
                      </a:pPr>
                      <a:endParaRPr lang="zh-CN" altLang="en-US" b="0"/>
                    </a:p>
                  </a:txBody>
                  <a:tcPr>
                    <a:lnL>
                      <a:noFill/>
                    </a:lnL>
                    <a:lnR>
                      <a:noFill/>
                    </a:lnR>
                    <a:lnT cap="flat">
                      <a:noFill/>
                    </a:lnT>
                    <a:lnB cap="flat">
                      <a:noFill/>
                    </a:lnB>
                    <a:lnTlToBr>
                      <a:noFill/>
                    </a:lnTlToBr>
                    <a:lnBlToTr>
                      <a:noFill/>
                    </a:lnBlToTr>
                    <a:noFill/>
                  </a:tcPr>
                </a:tc>
                <a:tc>
                  <a:txBody>
                    <a:bodyPr/>
                    <a:lstStyle/>
                    <a:p>
                      <a:pPr>
                        <a:buNone/>
                      </a:pPr>
                      <a:endParaRPr lang="zh-CN" altLang="en-US"/>
                    </a:p>
                  </a:txBody>
                  <a:tcPr>
                    <a:lnL>
                      <a:noFill/>
                    </a:lnL>
                    <a:lnR>
                      <a:noFill/>
                    </a:lnR>
                    <a:lnT>
                      <a:noFill/>
                    </a:lnT>
                    <a:lnB cap="flat">
                      <a:noFill/>
                    </a:lnB>
                    <a:lnTlToBr>
                      <a:noFill/>
                    </a:lnTlToBr>
                    <a:lnBlToTr>
                      <a:noFill/>
                    </a:lnBlToTr>
                    <a:solidFill>
                      <a:srgbClr val="FFFFFF"/>
                    </a:solidFill>
                  </a:tcPr>
                </a:tc>
                <a:extLst>
                  <a:ext uri="{0D108BD9-81ED-4DB2-BD59-A6C34878D82A}">
                    <a16:rowId xmlns:a16="http://schemas.microsoft.com/office/drawing/2014/main" val="10000"/>
                  </a:ext>
                </a:extLst>
              </a:tr>
              <a:tr h="0">
                <a:tc>
                  <a:txBody>
                    <a:bodyPr/>
                    <a:lstStyle/>
                    <a:p>
                      <a:pPr indent="0">
                        <a:buNone/>
                      </a:pPr>
                      <a:endParaRPr lang="zh-CN" altLang="en-US"/>
                    </a:p>
                  </a:txBody>
                  <a:tcPr>
                    <a:lnL>
                      <a:noFill/>
                    </a:lnL>
                    <a:lnR>
                      <a:noFill/>
                    </a:lnR>
                    <a:lnT cap="flat">
                      <a:noFill/>
                    </a:lnT>
                    <a:lnB cap="flat">
                      <a:noFill/>
                    </a:lnB>
                    <a:lnTlToBr>
                      <a:noFill/>
                    </a:lnTlToBr>
                    <a:lnBlToTr>
                      <a:noFill/>
                    </a:lnBlToTr>
                    <a:noFill/>
                  </a:tcPr>
                </a:tc>
                <a:tc>
                  <a:txBody>
                    <a:bodyPr/>
                    <a:lstStyle/>
                    <a:p>
                      <a:pPr indent="0">
                        <a:buNone/>
                      </a:pPr>
                      <a:endParaRPr lang="zh-CN" altLang="en-US"/>
                    </a:p>
                  </a:txBody>
                  <a:tcPr>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5" name="图片 4"/>
          <p:cNvPicPr/>
          <p:nvPr/>
        </p:nvPicPr>
        <p:blipFill>
          <a:blip r:embed="rId2"/>
          <a:stretch>
            <a:fillRect/>
          </a:stretch>
        </p:blipFill>
        <p:spPr>
          <a:xfrm>
            <a:off x="3968115" y="3443922"/>
            <a:ext cx="2847975" cy="1809750"/>
          </a:xfrm>
          <a:prstGeom prst="rect">
            <a:avLst/>
          </a:prstGeom>
          <a:noFill/>
          <a:ln w="9525">
            <a:noFill/>
          </a:ln>
        </p:spPr>
      </p:pic>
      <p:graphicFrame>
        <p:nvGraphicFramePr>
          <p:cNvPr id="7" name="表格 6"/>
          <p:cNvGraphicFramePr/>
          <p:nvPr/>
        </p:nvGraphicFramePr>
        <p:xfrm>
          <a:off x="473710" y="2380932"/>
          <a:ext cx="416560" cy="59436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0">
                <a:tc>
                  <a:txBody>
                    <a:bodyPr/>
                    <a:lstStyle/>
                    <a:p>
                      <a:pPr indent="0">
                        <a:buNone/>
                      </a:pPr>
                      <a:endParaRPr lang="zh-CN" altLang="en-US" b="0"/>
                    </a:p>
                  </a:txBody>
                  <a:tcPr>
                    <a:lnL>
                      <a:noFill/>
                    </a:lnL>
                    <a:lnR>
                      <a:noFill/>
                    </a:lnR>
                    <a:lnT cap="flat">
                      <a:noFill/>
                    </a:lnT>
                    <a:lnB cap="flat">
                      <a:noFill/>
                    </a:lnB>
                    <a:lnTlToBr>
                      <a:noFill/>
                    </a:lnTlToBr>
                    <a:lnBlToTr>
                      <a:noFill/>
                    </a:lnBlToTr>
                    <a:noFill/>
                  </a:tcPr>
                </a:tc>
                <a:tc>
                  <a:txBody>
                    <a:bodyPr/>
                    <a:lstStyle/>
                    <a:p>
                      <a:pPr>
                        <a:buNone/>
                      </a:pPr>
                      <a:endParaRPr lang="zh-CN" altLang="en-US"/>
                    </a:p>
                  </a:txBody>
                  <a:tcPr>
                    <a:lnL>
                      <a:noFill/>
                    </a:lnL>
                    <a:lnR>
                      <a:noFill/>
                    </a:lnR>
                    <a:lnT>
                      <a:noFill/>
                    </a:lnT>
                    <a:lnB cap="flat">
                      <a:noFill/>
                    </a:lnB>
                    <a:lnTlToBr>
                      <a:noFill/>
                    </a:lnTlToBr>
                    <a:lnBlToTr>
                      <a:noFill/>
                    </a:lnBlToTr>
                    <a:solidFill>
                      <a:srgbClr val="FFFFFF"/>
                    </a:solidFill>
                  </a:tcPr>
                </a:tc>
                <a:extLst>
                  <a:ext uri="{0D108BD9-81ED-4DB2-BD59-A6C34878D82A}">
                    <a16:rowId xmlns:a16="http://schemas.microsoft.com/office/drawing/2014/main" val="10000"/>
                  </a:ext>
                </a:extLst>
              </a:tr>
              <a:tr h="0">
                <a:tc>
                  <a:txBody>
                    <a:bodyPr/>
                    <a:lstStyle/>
                    <a:p>
                      <a:pPr indent="0">
                        <a:buNone/>
                      </a:pPr>
                      <a:endParaRPr lang="zh-CN" altLang="en-US"/>
                    </a:p>
                  </a:txBody>
                  <a:tcPr>
                    <a:lnL>
                      <a:noFill/>
                    </a:lnL>
                    <a:lnR>
                      <a:noFill/>
                    </a:lnR>
                    <a:lnT cap="flat">
                      <a:noFill/>
                    </a:lnT>
                    <a:lnB cap="flat">
                      <a:noFill/>
                    </a:lnB>
                    <a:lnTlToBr>
                      <a:noFill/>
                    </a:lnTlToBr>
                    <a:lnBlToTr>
                      <a:noFill/>
                    </a:lnBlToTr>
                    <a:noFill/>
                  </a:tcPr>
                </a:tc>
                <a:tc>
                  <a:txBody>
                    <a:bodyPr/>
                    <a:lstStyle/>
                    <a:p>
                      <a:pPr indent="0">
                        <a:buNone/>
                      </a:pPr>
                      <a:endParaRPr lang="zh-CN" altLang="en-US"/>
                    </a:p>
                  </a:txBody>
                  <a:tcPr>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9" name="文本框 8"/>
          <p:cNvSpPr txBox="1"/>
          <p:nvPr/>
        </p:nvSpPr>
        <p:spPr>
          <a:xfrm>
            <a:off x="473710" y="1042035"/>
            <a:ext cx="8573135" cy="2891790"/>
          </a:xfrm>
          <a:prstGeom prst="rect">
            <a:avLst/>
          </a:prstGeom>
          <a:noFill/>
          <a:ln w="9525">
            <a:noFill/>
          </a:ln>
        </p:spPr>
        <p:txBody>
          <a:bodyPr wrap="square">
            <a:spAutoFit/>
          </a:bodyPr>
          <a:lstStyle/>
          <a:p>
            <a:pPr indent="0">
              <a:lnSpc>
                <a:spcPct val="130000"/>
              </a:lnSpc>
              <a:spcBef>
                <a:spcPts val="0"/>
              </a:spcBef>
              <a:spcAft>
                <a:spcPts val="0"/>
              </a:spcAft>
            </a:pPr>
            <a:r>
              <a:rPr lang="en-US" altLang="zh-CN" sz="1500" b="0">
                <a:ea typeface="等线" panose="02010600030101010101" pitchFamily="2" charset="-122"/>
              </a:rPr>
              <a:t>        </a:t>
            </a:r>
            <a:r>
              <a:rPr lang="zh-CN" sz="2000" b="0">
                <a:ea typeface="等线" panose="02010600030101010101" pitchFamily="2" charset="-122"/>
              </a:rPr>
              <a:t>“肘”方法（Elbow method）是常用的一种确定K值的方法，它采用的核心指标是SSE</a:t>
            </a:r>
            <a:r>
              <a:rPr lang="en-US" sz="2000" b="0" i="1">
                <a:latin typeface="等线" panose="02010600030101010101" pitchFamily="2" charset="-122"/>
                <a:cs typeface="Times New Roman" panose="02020603050405020304" pitchFamily="18" charset="0"/>
              </a:rPr>
              <a:t> </a:t>
            </a:r>
            <a:r>
              <a:rPr lang="zh-CN" sz="2000" b="0">
                <a:ea typeface="等线" panose="02010600030101010101" pitchFamily="2" charset="-122"/>
              </a:rPr>
              <a:t>(sum of the squared errors，误差平方和)，选择指标突然变化的点作为K值。下图是</a:t>
            </a:r>
            <a:r>
              <a:rPr lang="zh-CN" sz="2000" b="0">
                <a:ea typeface="等线" panose="02010600030101010101" pitchFamily="2" charset="-122"/>
                <a:cs typeface="Times New Roman" panose="02020603050405020304" pitchFamily="18" charset="0"/>
              </a:rPr>
              <a:t>“肘”方法的示意图。</a:t>
            </a:r>
          </a:p>
          <a:p>
            <a:pPr indent="0">
              <a:lnSpc>
                <a:spcPct val="130000"/>
              </a:lnSpc>
              <a:spcBef>
                <a:spcPts val="0"/>
              </a:spcBef>
              <a:spcAft>
                <a:spcPts val="0"/>
              </a:spcAft>
            </a:pPr>
            <a:r>
              <a:rPr lang="zh-CN" sz="2000" b="0">
                <a:ea typeface="等线" panose="02010600030101010101" pitchFamily="2" charset="-122"/>
                <a:cs typeface="Times New Roman" panose="02020603050405020304" pitchFamily="18" charset="0"/>
              </a:rPr>
              <a:t> </a:t>
            </a:r>
            <a:r>
              <a:rPr lang="en-US" altLang="zh-CN" sz="2000" b="0">
                <a:ea typeface="等线" panose="02010600030101010101" pitchFamily="2" charset="-122"/>
                <a:cs typeface="Times New Roman" panose="02020603050405020304" pitchFamily="18" charset="0"/>
              </a:rPr>
              <a:t>      </a:t>
            </a:r>
            <a:r>
              <a:rPr lang="zh-CN" sz="2000" b="0">
                <a:ea typeface="等线" panose="02010600030101010101" pitchFamily="2" charset="-122"/>
              </a:rPr>
              <a:t>当选择的</a:t>
            </a:r>
            <a:r>
              <a:rPr lang="en-US" sz="2000" b="0" i="1">
                <a:latin typeface="Times New Roman" panose="02020603050405020304" pitchFamily="18" charset="0"/>
                <a:ea typeface="等线" panose="02010600030101010101" pitchFamily="2" charset="-122"/>
              </a:rPr>
              <a:t>k</a:t>
            </a:r>
            <a:r>
              <a:rPr lang="zh-CN" sz="2000" b="0">
                <a:ea typeface="等线" panose="02010600030101010101" pitchFamily="2" charset="-122"/>
              </a:rPr>
              <a:t>值小于真正的类别数时，</a:t>
            </a:r>
            <a:r>
              <a:rPr lang="en-US" sz="2000" b="0" i="1">
                <a:latin typeface="Times New Roman" panose="02020603050405020304" pitchFamily="18" charset="0"/>
                <a:ea typeface="等线" panose="02010600030101010101" pitchFamily="2" charset="-122"/>
              </a:rPr>
              <a:t>k</a:t>
            </a:r>
            <a:r>
              <a:rPr lang="zh-CN" sz="2000" b="0">
                <a:ea typeface="等线" panose="02010600030101010101" pitchFamily="2" charset="-122"/>
              </a:rPr>
              <a:t>每增加</a:t>
            </a:r>
            <a:r>
              <a:rPr lang="zh-CN" sz="2000" b="0">
                <a:ea typeface="等线" panose="02010600030101010101" pitchFamily="2" charset="-122"/>
                <a:cs typeface="Times New Roman" panose="02020603050405020304" pitchFamily="18" charset="0"/>
              </a:rPr>
              <a:t>1，</a:t>
            </a:r>
            <a:r>
              <a:rPr lang="zh-CN" sz="2000" b="0">
                <a:ea typeface="等线" panose="02010600030101010101" pitchFamily="2" charset="-122"/>
              </a:rPr>
              <a:t>代价函数（</a:t>
            </a:r>
            <a:r>
              <a:rPr lang="en-US" sz="2000" b="0">
                <a:latin typeface="等线" panose="02010600030101010101" pitchFamily="2" charset="-122"/>
                <a:cs typeface="Times New Roman" panose="02020603050405020304" pitchFamily="18" charset="0"/>
              </a:rPr>
              <a:t>Cost Function</a:t>
            </a:r>
            <a:r>
              <a:rPr lang="zh-CN" sz="2000" b="0">
                <a:ea typeface="等线" panose="02010600030101010101" pitchFamily="2" charset="-122"/>
              </a:rPr>
              <a:t>）的值就会大幅的减小；而当选择的</a:t>
            </a:r>
            <a:r>
              <a:rPr lang="en-US" sz="2000" b="0" i="1">
                <a:latin typeface="Times New Roman" panose="02020603050405020304" pitchFamily="18" charset="0"/>
                <a:ea typeface="等线" panose="02010600030101010101" pitchFamily="2" charset="-122"/>
              </a:rPr>
              <a:t>k</a:t>
            </a:r>
            <a:r>
              <a:rPr lang="zh-CN" sz="2000" b="0">
                <a:ea typeface="等线" panose="02010600030101010101" pitchFamily="2" charset="-122"/>
              </a:rPr>
              <a:t>值大于真正的类别数时，</a:t>
            </a:r>
            <a:r>
              <a:rPr lang="en-US" sz="2000" b="0" i="1">
                <a:latin typeface="Times New Roman" panose="02020603050405020304" pitchFamily="18" charset="0"/>
                <a:ea typeface="等线" panose="02010600030101010101" pitchFamily="2" charset="-122"/>
              </a:rPr>
              <a:t>k</a:t>
            </a:r>
            <a:r>
              <a:rPr lang="zh-CN" sz="2000" b="0">
                <a:ea typeface="等线" panose="02010600030101010101" pitchFamily="2" charset="-122"/>
              </a:rPr>
              <a:t>每增加</a:t>
            </a:r>
            <a:r>
              <a:rPr lang="zh-CN" sz="2000" b="0">
                <a:ea typeface="等线" panose="02010600030101010101" pitchFamily="2" charset="-122"/>
                <a:cs typeface="Times New Roman" panose="02020603050405020304" pitchFamily="18" charset="0"/>
              </a:rPr>
              <a:t>1，</a:t>
            </a:r>
            <a:r>
              <a:rPr lang="zh-CN" sz="2000" b="0">
                <a:ea typeface="等线" panose="02010600030101010101" pitchFamily="2" charset="-122"/>
              </a:rPr>
              <a:t>代价函数值的变化就不会那么明显。因此，正确的</a:t>
            </a:r>
            <a:r>
              <a:rPr lang="en-US" sz="2000" b="0" i="1">
                <a:latin typeface="Times New Roman" panose="02020603050405020304" pitchFamily="18" charset="0"/>
                <a:ea typeface="等线" panose="02010600030101010101" pitchFamily="2" charset="-122"/>
              </a:rPr>
              <a:t>k</a:t>
            </a:r>
            <a:r>
              <a:rPr lang="zh-CN" sz="2000" b="0">
                <a:ea typeface="等线" panose="02010600030101010101" pitchFamily="2" charset="-122"/>
              </a:rPr>
              <a:t>值就会在这个转折点，如图</a:t>
            </a:r>
            <a:r>
              <a:rPr lang="en-US" sz="2000" b="0">
                <a:latin typeface="等线" panose="02010600030101010101" pitchFamily="2" charset="-122"/>
                <a:cs typeface="Times New Roman" panose="02020603050405020304" pitchFamily="18" charset="0"/>
              </a:rPr>
              <a:t> </a:t>
            </a:r>
            <a:r>
              <a:rPr lang="zh-CN" sz="2000" b="0">
                <a:ea typeface="等线" panose="02010600030101010101" pitchFamily="2" charset="-122"/>
              </a:rPr>
              <a:t>所示（</a:t>
            </a:r>
            <a:r>
              <a:rPr lang="en-US" sz="2000" b="0" i="1">
                <a:latin typeface="Times New Roman" panose="02020603050405020304" pitchFamily="18" charset="0"/>
                <a:ea typeface="等线" panose="02010600030101010101" pitchFamily="2" charset="-122"/>
              </a:rPr>
              <a:t>k</a:t>
            </a:r>
            <a:r>
              <a:rPr lang="zh-CN" sz="2000" b="0">
                <a:ea typeface="等线" panose="02010600030101010101" pitchFamily="2" charset="-122"/>
              </a:rPr>
              <a:t>值可以取为</a:t>
            </a:r>
            <a:r>
              <a:rPr lang="zh-CN" sz="2000" b="0">
                <a:ea typeface="等线" panose="02010600030101010101" pitchFamily="2" charset="-122"/>
                <a:cs typeface="Times New Roman" panose="02020603050405020304" pitchFamily="18" charset="0"/>
              </a:rPr>
              <a:t>3）</a:t>
            </a:r>
            <a:endParaRPr lang="zh-CN" altLang="en-US" sz="2000"/>
          </a:p>
        </p:txBody>
      </p:sp>
      <p:sp>
        <p:nvSpPr>
          <p:cNvPr id="10" name="文本框 9"/>
          <p:cNvSpPr txBox="1"/>
          <p:nvPr/>
        </p:nvSpPr>
        <p:spPr>
          <a:xfrm>
            <a:off x="6816090" y="3747135"/>
            <a:ext cx="555671" cy="1091565"/>
          </a:xfrm>
          <a:prstGeom prst="rect">
            <a:avLst/>
          </a:prstGeom>
          <a:noFill/>
          <a:ln w="9525">
            <a:noFill/>
          </a:ln>
        </p:spPr>
        <p:txBody>
          <a:bodyPr wrap="square">
            <a:spAutoFit/>
          </a:bodyPr>
          <a:lstStyle/>
          <a:p>
            <a:pPr indent="0" algn="ctr"/>
            <a:r>
              <a:rPr lang="en-US" sz="1500" b="0">
                <a:latin typeface="Cambria Math" panose="02040503050406030204" charset="0"/>
                <a:ea typeface="等线" panose="02010600030101010101" pitchFamily="2" charset="-122"/>
                <a:cs typeface="Times New Roman" panose="02020603050405020304" pitchFamily="18" charset="0"/>
              </a:rPr>
              <a:t> </a:t>
            </a:r>
            <a:r>
              <a:rPr lang="zh-CN" sz="1000" b="0">
                <a:latin typeface="Cambria Math" panose="02040503050406030204" charset="0"/>
                <a:ea typeface="等线" panose="02010600030101010101" pitchFamily="2" charset="-122"/>
              </a:rPr>
              <a:t>“肘”</a:t>
            </a:r>
          </a:p>
          <a:p>
            <a:pPr indent="0" algn="ctr"/>
            <a:r>
              <a:rPr lang="zh-CN" sz="1000" b="0">
                <a:latin typeface="Cambria Math" panose="02040503050406030204" charset="0"/>
                <a:ea typeface="等线" panose="02010600030101010101" pitchFamily="2" charset="-122"/>
              </a:rPr>
              <a:t>方</a:t>
            </a:r>
          </a:p>
          <a:p>
            <a:pPr indent="0" algn="ctr"/>
            <a:r>
              <a:rPr lang="zh-CN" sz="1000" b="0">
                <a:latin typeface="Cambria Math" panose="02040503050406030204" charset="0"/>
                <a:ea typeface="等线" panose="02010600030101010101" pitchFamily="2" charset="-122"/>
              </a:rPr>
              <a:t>法</a:t>
            </a:r>
          </a:p>
          <a:p>
            <a:pPr indent="0" algn="ctr"/>
            <a:r>
              <a:rPr lang="zh-CN" sz="1000" b="0">
                <a:latin typeface="Cambria Math" panose="02040503050406030204" charset="0"/>
                <a:ea typeface="等线" panose="02010600030101010101" pitchFamily="2" charset="-122"/>
              </a:rPr>
              <a:t>示</a:t>
            </a:r>
          </a:p>
          <a:p>
            <a:pPr indent="0" algn="ctr"/>
            <a:r>
              <a:rPr lang="zh-CN" sz="1000" b="0">
                <a:latin typeface="Cambria Math" panose="02040503050406030204" charset="0"/>
                <a:ea typeface="等线" panose="02010600030101010101" pitchFamily="2" charset="-122"/>
              </a:rPr>
              <a:t>意</a:t>
            </a:r>
          </a:p>
          <a:p>
            <a:pPr indent="0" algn="ctr"/>
            <a:r>
              <a:rPr lang="zh-CN" sz="1000" b="0">
                <a:latin typeface="Cambria Math" panose="02040503050406030204" charset="0"/>
                <a:ea typeface="等线" panose="02010600030101010101" pitchFamily="2" charset="-122"/>
              </a:rPr>
              <a:t>图</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97706" y="0"/>
            <a:ext cx="9141291" cy="5143500"/>
          </a:xfrm>
          <a:prstGeom prst="rect">
            <a:avLst/>
          </a:prstGeom>
        </p:spPr>
      </p:pic>
      <p:grpSp>
        <p:nvGrpSpPr>
          <p:cNvPr id="32" name="组合 14"/>
          <p:cNvGrpSpPr/>
          <p:nvPr/>
        </p:nvGrpSpPr>
        <p:grpSpPr bwMode="auto">
          <a:xfrm>
            <a:off x="2143825" y="2399148"/>
            <a:ext cx="4167679" cy="124642"/>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1940560" y="1654175"/>
            <a:ext cx="6899910" cy="645160"/>
          </a:xfrm>
          <a:prstGeom prst="rect">
            <a:avLst/>
          </a:prstGeom>
          <a:noFill/>
        </p:spPr>
        <p:txBody>
          <a:bodyPr wrap="square">
            <a:spAutoFit/>
          </a:bodyPr>
          <a:lstStyle/>
          <a:p>
            <a:r>
              <a:rPr lang="en-US" altLang="zh-CN" sz="3600" b="1">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  </a:t>
            </a:r>
            <a:r>
              <a:rPr lang="zh-CN" altLang="en-US" sz="3600" b="1">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分布式大数据挖掘算法典型案例</a:t>
            </a:r>
          </a:p>
        </p:txBody>
      </p:sp>
      <p:sp>
        <p:nvSpPr>
          <p:cNvPr id="41" name="文本框 40"/>
          <p:cNvSpPr txBox="1">
            <a:spLocks noChangeArrowheads="1"/>
          </p:cNvSpPr>
          <p:nvPr/>
        </p:nvSpPr>
        <p:spPr bwMode="auto">
          <a:xfrm>
            <a:off x="520569" y="1539377"/>
            <a:ext cx="1698527" cy="922020"/>
          </a:xfrm>
          <a:prstGeom prst="rect">
            <a:avLst/>
          </a:prstGeom>
          <a:noFill/>
          <a:ln w="9525">
            <a:noFill/>
            <a:miter lim="800000"/>
          </a:ln>
        </p:spPr>
        <p:txBody>
          <a:bodyPr wrap="square">
            <a:spAutoFit/>
          </a:bodyPr>
          <a:lstStyle/>
          <a:p>
            <a:pPr algn="ctr"/>
            <a:r>
              <a:rPr lang="en-US" altLang="zh-CN" sz="5400">
                <a:solidFill>
                  <a:srgbClr val="00B0F0"/>
                </a:solidFill>
                <a:latin typeface="IrisUPC" panose="020B0604020202020204" pitchFamily="34" charset="-34"/>
                <a:cs typeface="IrisUPC" panose="020B0604020202020204" pitchFamily="34" charset="-34"/>
              </a:rPr>
              <a:t>8.5</a:t>
            </a:r>
          </a:p>
        </p:txBody>
      </p:sp>
      <p:sp>
        <p:nvSpPr>
          <p:cNvPr id="4" name="文本框 3"/>
          <p:cNvSpPr txBox="1"/>
          <p:nvPr/>
        </p:nvSpPr>
        <p:spPr>
          <a:xfrm>
            <a:off x="2143760" y="2695575"/>
            <a:ext cx="4535170" cy="119888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800">
                <a:solidFill>
                  <a:schemeClr val="bg1"/>
                </a:solidFill>
                <a:latin typeface="微软雅黑" panose="020B0503020204020204" pitchFamily="34" charset="-122"/>
                <a:ea typeface="微软雅黑" panose="020B0503020204020204" pitchFamily="34" charset="-122"/>
              </a:rPr>
              <a:t>主要的聚类算法类型</a:t>
            </a:r>
          </a:p>
          <a:p>
            <a:pPr marL="285750" indent="-285750">
              <a:buFont typeface="Wingdings" panose="05000000000000000000" pitchFamily="2" charset="2"/>
              <a:buChar char="Ø"/>
            </a:pPr>
            <a:r>
              <a:rPr lang="zh-CN" altLang="en-US" sz="1800">
                <a:solidFill>
                  <a:schemeClr val="bg1"/>
                </a:solidFill>
                <a:latin typeface="微软雅黑" panose="020B0503020204020204" pitchFamily="34" charset="-122"/>
                <a:ea typeface="微软雅黑" panose="020B0503020204020204" pitchFamily="34" charset="-122"/>
              </a:rPr>
              <a:t>聚类质量度量指标决策树算法</a:t>
            </a:r>
          </a:p>
          <a:p>
            <a:pPr marL="285750" indent="-285750">
              <a:buFont typeface="Wingdings" panose="05000000000000000000" pitchFamily="2" charset="2"/>
              <a:buChar char="Ø"/>
            </a:pPr>
            <a:r>
              <a:rPr lang="zh-CN" altLang="en-US" sz="1800">
                <a:solidFill>
                  <a:schemeClr val="bg1"/>
                </a:solidFill>
                <a:latin typeface="微软雅黑" panose="020B0503020204020204" pitchFamily="34" charset="-122"/>
                <a:ea typeface="微软雅黑" panose="020B0503020204020204" pitchFamily="34" charset="-122"/>
              </a:rPr>
              <a:t>K-Means算法</a:t>
            </a:r>
          </a:p>
          <a:p>
            <a:pPr marL="285750" indent="-285750">
              <a:buFont typeface="Wingdings" panose="05000000000000000000" pitchFamily="2" charset="2"/>
              <a:buChar char="Ø"/>
            </a:pPr>
            <a:endParaRPr lang="zh-CN" altLang="en-US" sz="18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par>
                          <p:cTn id="17" fill="hold">
                            <p:stCondLst>
                              <p:cond delay="1400"/>
                            </p:stCondLst>
                            <p:childTnLst>
                              <p:par>
                                <p:cTn id="18" presetID="1" presetClass="entr" presetSubtype="0" fill="hold" grpId="0" nodeType="afterEffect">
                                  <p:stCondLst>
                                    <p:cond delay="0"/>
                                  </p:stCondLst>
                                  <p:iterate type="wd">
                                    <p:tmAbs val="100"/>
                                  </p:iterate>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4"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8.5</a:t>
            </a:r>
            <a:r>
              <a:rPr lang="en-US"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分布式大数据挖掘算法典型案例</a:t>
            </a:r>
          </a:p>
        </p:txBody>
      </p:sp>
      <p:sp>
        <p:nvSpPr>
          <p:cNvPr id="3" name="文本框 2"/>
          <p:cNvSpPr txBox="1"/>
          <p:nvPr/>
        </p:nvSpPr>
        <p:spPr>
          <a:xfrm>
            <a:off x="300990" y="807085"/>
            <a:ext cx="8678545" cy="4092575"/>
          </a:xfrm>
          <a:prstGeom prst="rect">
            <a:avLst/>
          </a:prstGeom>
          <a:noFill/>
        </p:spPr>
        <p:txBody>
          <a:bodyPr wrap="square" rtlCol="0" anchor="t">
            <a:spAutoFit/>
          </a:bodyPr>
          <a:lstStyle/>
          <a:p>
            <a:pPr>
              <a:lnSpc>
                <a:spcPct val="130000"/>
              </a:lnSpc>
              <a:spcBef>
                <a:spcPts val="0"/>
              </a:spcBef>
              <a:spcAft>
                <a:spcPts val="0"/>
              </a:spcAft>
            </a:pPr>
            <a:r>
              <a:rPr lang="en-US" altLang="zh-CN" sz="2000">
                <a:ea typeface="等线" panose="02010600030101010101" pitchFamily="2" charset="-122"/>
              </a:rPr>
              <a:t>         </a:t>
            </a:r>
            <a:r>
              <a:rPr sz="2000">
                <a:ea typeface="等线" panose="02010600030101010101" pitchFamily="2" charset="-122"/>
              </a:rPr>
              <a:t>将传统的数据挖掘算法应用于大数据时，由于数据量的剧增，使得计算时间和对内存空间的要求非常巨大，通常难以正常执行。为了解决这样的困境，分布式计算模型的引入就成为一种必然的选择。分布式计算将应用分解成许多小部分，分配给多台计算机协作处理，这样可以节约整体计算时间，大大提高计算效率。</a:t>
            </a:r>
          </a:p>
          <a:p>
            <a:pPr>
              <a:lnSpc>
                <a:spcPct val="130000"/>
              </a:lnSpc>
              <a:spcBef>
                <a:spcPts val="0"/>
              </a:spcBef>
              <a:spcAft>
                <a:spcPts val="0"/>
              </a:spcAft>
            </a:pPr>
            <a:r>
              <a:rPr lang="en-US" sz="2000">
                <a:ea typeface="等线" panose="02010600030101010101" pitchFamily="2" charset="-122"/>
              </a:rPr>
              <a:t>          </a:t>
            </a:r>
            <a:r>
              <a:rPr sz="2000">
                <a:ea typeface="等线" panose="02010600030101010101" pitchFamily="2" charset="-122"/>
              </a:rPr>
              <a:t>Hadoop所提供的MapReduce计算模型能够将计算任务分配到集群中的多台服务上执行，每台服务器上的子任务可以从本地读取数据完成计算子任务，最后将中间结果进行合并计算。因此，分布式存储在集群中的大数据就不必读取到同一个节点进行集中处理，大大节约了数据传输量，并且可以协同集群中的多台服务器共同完成计算任务，减小了计算时间。</a:t>
            </a:r>
            <a:r>
              <a:rPr lang="en-US" altLang="zh-CN" sz="2000">
                <a:ea typeface="等线" panose="02010600030101010101" pitchFamily="2" charset="-122"/>
              </a:rPr>
              <a:t>  </a:t>
            </a:r>
            <a:endParaRPr lang="zh-CN" altLang="en-US" sz="2000">
              <a:ea typeface="等线"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8.5</a:t>
            </a:r>
            <a:r>
              <a:rPr lang="en-US"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分布式大数据挖掘算法典型案例</a:t>
            </a:r>
          </a:p>
        </p:txBody>
      </p:sp>
      <p:sp>
        <p:nvSpPr>
          <p:cNvPr id="3" name="文本框 2"/>
          <p:cNvSpPr txBox="1"/>
          <p:nvPr/>
        </p:nvSpPr>
        <p:spPr>
          <a:xfrm>
            <a:off x="232727" y="1023901"/>
            <a:ext cx="8454073" cy="2460674"/>
          </a:xfrm>
          <a:prstGeom prst="rect">
            <a:avLst/>
          </a:prstGeom>
          <a:noFill/>
        </p:spPr>
        <p:txBody>
          <a:bodyPr wrap="square" rtlCol="0" anchor="t">
            <a:spAutoFit/>
          </a:bodyPr>
          <a:lstStyle/>
          <a:p>
            <a:pPr>
              <a:lnSpc>
                <a:spcPct val="130000"/>
              </a:lnSpc>
            </a:pPr>
            <a:r>
              <a:rPr lang="en-US" altLang="zh-CN" sz="2000" b="1"/>
              <a:t>    </a:t>
            </a:r>
            <a:r>
              <a:rPr lang="en-US" altLang="zh-CN" sz="2000"/>
              <a:t>     </a:t>
            </a:r>
            <a:r>
              <a:rPr sz="2000">
                <a:ea typeface="等线" panose="02010600030101010101" pitchFamily="2" charset="-122"/>
              </a:rPr>
              <a:t>MapReduce 能够解决的问题有一个共同特点：任务可以被分解为多个子问题，且这些子问题相对独立，可以并行处理这些子问题。在实际应用中，这类问题非常多，在谷歌的相关论文中提到了MapReduce 的一些典型应用，包括分布式grep、URL 访问频率统计、Web 连接图反转、倒排索引构建、分布式排序等问题。</a:t>
            </a:r>
          </a:p>
          <a:p>
            <a:pPr>
              <a:lnSpc>
                <a:spcPct val="130000"/>
              </a:lnSpc>
            </a:pPr>
            <a:r>
              <a:rPr lang="en-US" sz="2000">
                <a:ea typeface="等线" panose="02010600030101010101" pitchFamily="2" charset="-122"/>
              </a:rPr>
              <a:t>          </a:t>
            </a:r>
            <a:endParaRPr sz="2000">
              <a:ea typeface="等线"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8.5</a:t>
            </a:r>
            <a:r>
              <a:rPr lang="en-US"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分布式大数据挖掘算法典型案例</a:t>
            </a:r>
          </a:p>
        </p:txBody>
      </p:sp>
      <p:sp>
        <p:nvSpPr>
          <p:cNvPr id="3" name="文本框 2"/>
          <p:cNvSpPr txBox="1"/>
          <p:nvPr/>
        </p:nvSpPr>
        <p:spPr>
          <a:xfrm>
            <a:off x="279544" y="1127596"/>
            <a:ext cx="8510951" cy="2461315"/>
          </a:xfrm>
          <a:prstGeom prst="rect">
            <a:avLst/>
          </a:prstGeom>
          <a:noFill/>
        </p:spPr>
        <p:txBody>
          <a:bodyPr wrap="square" rtlCol="0" anchor="t">
            <a:spAutoFit/>
          </a:bodyPr>
          <a:lstStyle/>
          <a:p>
            <a:pPr>
              <a:lnSpc>
                <a:spcPct val="130000"/>
              </a:lnSpc>
            </a:pPr>
            <a:r>
              <a:rPr lang="en-US" altLang="zh-CN" sz="2000">
                <a:ea typeface="等线" panose="02010600030101010101" pitchFamily="2" charset="-122"/>
              </a:rPr>
              <a:t>        </a:t>
            </a:r>
            <a:r>
              <a:rPr sz="2000">
                <a:ea typeface="等线" panose="02010600030101010101" pitchFamily="2" charset="-122"/>
              </a:rPr>
              <a:t>Mahout 是Apache的一个开源项目，提供一些可扩展的机器学习领域经典算法的实现，旨在帮助开发人员更加方便快捷地创建智能应用程序，并且 Mahout还提供了对Apache Hadoop 的支持，把诸多经典的算法转换到MapReduce计算框架下，大大提高了算法可处理的数据量和处理性能，使这些算法可以更高效的运行在分布式环境中。Mahout中实现的主要算法在</a:t>
            </a:r>
            <a:r>
              <a:rPr lang="zh-CN" altLang="en-US" sz="2000">
                <a:ea typeface="等线" panose="02010600030101010101" pitchFamily="2" charset="-122"/>
              </a:rPr>
              <a:t>下</a:t>
            </a:r>
            <a:r>
              <a:rPr sz="2000">
                <a:ea typeface="等线" panose="02010600030101010101" pitchFamily="2" charset="-122"/>
              </a:rPr>
              <a:t>表中列出。</a:t>
            </a:r>
          </a:p>
        </p:txBody>
      </p:sp>
    </p:spTree>
    <p:extLst>
      <p:ext uri="{BB962C8B-B14F-4D97-AF65-F5344CB8AC3E}">
        <p14:creationId xmlns:p14="http://schemas.microsoft.com/office/powerpoint/2010/main" val="41629850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8.5</a:t>
            </a:r>
            <a:r>
              <a:rPr lang="en-US"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分布式大数据挖掘算法典型案例</a:t>
            </a:r>
          </a:p>
        </p:txBody>
      </p:sp>
      <p:pic>
        <p:nvPicPr>
          <p:cNvPr id="2" name="图片 1"/>
          <p:cNvPicPr>
            <a:picLocks noChangeAspect="1"/>
          </p:cNvPicPr>
          <p:nvPr/>
        </p:nvPicPr>
        <p:blipFill>
          <a:blip r:embed="rId2"/>
          <a:stretch>
            <a:fillRect/>
          </a:stretch>
        </p:blipFill>
        <p:spPr>
          <a:xfrm>
            <a:off x="24765" y="982980"/>
            <a:ext cx="4380865" cy="3476625"/>
          </a:xfrm>
          <a:prstGeom prst="rect">
            <a:avLst/>
          </a:prstGeom>
          <a:ln>
            <a:solidFill>
              <a:srgbClr val="FF0000"/>
            </a:solidFill>
          </a:ln>
        </p:spPr>
      </p:pic>
      <p:pic>
        <p:nvPicPr>
          <p:cNvPr id="3" name="图片 2"/>
          <p:cNvPicPr>
            <a:picLocks noChangeAspect="1"/>
          </p:cNvPicPr>
          <p:nvPr/>
        </p:nvPicPr>
        <p:blipFill>
          <a:blip r:embed="rId3"/>
          <a:stretch>
            <a:fillRect/>
          </a:stretch>
        </p:blipFill>
        <p:spPr>
          <a:xfrm>
            <a:off x="4620895" y="982980"/>
            <a:ext cx="4344035" cy="3422015"/>
          </a:xfrm>
          <a:prstGeom prst="rect">
            <a:avLst/>
          </a:prstGeom>
          <a:ln>
            <a:solidFill>
              <a:srgbClr val="FF0000"/>
            </a:solidFill>
          </a:ln>
        </p:spPr>
      </p:pic>
      <p:cxnSp>
        <p:nvCxnSpPr>
          <p:cNvPr id="7" name="肘形连接符 6"/>
          <p:cNvCxnSpPr/>
          <p:nvPr/>
        </p:nvCxnSpPr>
        <p:spPr>
          <a:xfrm flipV="1">
            <a:off x="4389120" y="2099310"/>
            <a:ext cx="247015" cy="243840"/>
          </a:xfrm>
          <a:prstGeom prst="bentConnector3">
            <a:avLst>
              <a:gd name="adj1" fmla="val 50129"/>
            </a:avLst>
          </a:prstGeom>
          <a:ln>
            <a:tailEnd type="arrow" w="med" len="med"/>
          </a:ln>
        </p:spPr>
        <p:style>
          <a:lnRef idx="3">
            <a:schemeClr val="accent2"/>
          </a:lnRef>
          <a:fillRef idx="0">
            <a:schemeClr val="accent2"/>
          </a:fillRef>
          <a:effectRef idx="2">
            <a:schemeClr val="accent2"/>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zh-CN"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8.5</a:t>
            </a:r>
            <a:r>
              <a:rPr lang="zh-CN" altLang="en-US"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分布式大数据挖掘算法典型案例</a:t>
            </a:r>
          </a:p>
        </p:txBody>
      </p:sp>
      <p:sp>
        <p:nvSpPr>
          <p:cNvPr id="3" name="文本框 2"/>
          <p:cNvSpPr txBox="1"/>
          <p:nvPr/>
        </p:nvSpPr>
        <p:spPr>
          <a:xfrm>
            <a:off x="259715" y="807085"/>
            <a:ext cx="8623935" cy="2861424"/>
          </a:xfrm>
          <a:prstGeom prst="rect">
            <a:avLst/>
          </a:prstGeom>
          <a:noFill/>
        </p:spPr>
        <p:txBody>
          <a:bodyPr wrap="square" rtlCol="0" anchor="t">
            <a:spAutoFit/>
          </a:bodyPr>
          <a:lstStyle/>
          <a:p>
            <a:pPr>
              <a:lnSpc>
                <a:spcPct val="130000"/>
              </a:lnSpc>
              <a:spcBef>
                <a:spcPts val="0"/>
              </a:spcBef>
              <a:spcAft>
                <a:spcPts val="0"/>
              </a:spcAft>
            </a:pPr>
            <a:r>
              <a:rPr lang="en-US" altLang="zh-CN" sz="2000" b="1"/>
              <a:t>    </a:t>
            </a:r>
            <a:r>
              <a:rPr lang="en-US" altLang="zh-CN" sz="2000"/>
              <a:t>     </a:t>
            </a:r>
            <a:r>
              <a:rPr sz="2000">
                <a:latin typeface="等线" panose="02010600030101010101" pitchFamily="2" charset="-122"/>
                <a:ea typeface="等线" panose="02010600030101010101" pitchFamily="2" charset="-122"/>
                <a:cs typeface="等线" panose="02010600030101010101" pitchFamily="2" charset="-122"/>
              </a:rPr>
              <a:t>Mahout最大的优点就是基于hadoop实现，把很多以前运行于单机上的算法，转化为了MapReduce模式，这样大大提升了算法可处理的数据量和处理性能。</a:t>
            </a:r>
          </a:p>
          <a:p>
            <a:pPr>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从Mahout所实现的MapReduce型算法可以看出，许多经典的数据挖掘算法可以被改造成分布式算法在Hadoop平台上执行，但要求这些算法在执行过程划能够被划分成多个相互独立的子任务并行执行。</a:t>
            </a:r>
          </a:p>
          <a:p>
            <a:pPr>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endParaRPr lang="zh-CN" altLang="en-US" sz="2000" b="1"/>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796726"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a:t>
            </a:r>
            <a:r>
              <a:rPr lang="en-US" altLang="zh-CN"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5</a:t>
            </a:r>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a:t>
            </a:r>
            <a:r>
              <a:rPr lang="en-US" altLang="zh-CN"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1 </a:t>
            </a:r>
            <a:r>
              <a:rPr lang="zh-CN" altLang="zh-CN"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基于</a:t>
            </a:r>
            <a:r>
              <a:rPr lang="en-US" altLang="zh-CN"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MapReduce</a:t>
            </a:r>
            <a:r>
              <a:rPr lang="zh-CN" altLang="zh-CN"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的</a:t>
            </a:r>
            <a:r>
              <a:rPr lang="en-US" altLang="zh-CN"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K-Means</a:t>
            </a:r>
            <a:r>
              <a:rPr lang="zh-CN" altLang="zh-CN"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聚类算法</a:t>
            </a:r>
          </a:p>
        </p:txBody>
      </p:sp>
      <p:sp>
        <p:nvSpPr>
          <p:cNvPr id="3" name="文本框 2"/>
          <p:cNvSpPr txBox="1"/>
          <p:nvPr/>
        </p:nvSpPr>
        <p:spPr>
          <a:xfrm>
            <a:off x="335130" y="1353839"/>
            <a:ext cx="8441226" cy="1661096"/>
          </a:xfrm>
          <a:prstGeom prst="rect">
            <a:avLst/>
          </a:prstGeom>
          <a:noFill/>
        </p:spPr>
        <p:txBody>
          <a:bodyPr wrap="square" rtlCol="0" anchor="t">
            <a:spAutoFit/>
          </a:bodyPr>
          <a:lstStyle/>
          <a:p>
            <a:pPr>
              <a:lnSpc>
                <a:spcPct val="130000"/>
              </a:lnSpc>
              <a:spcBef>
                <a:spcPts val="0"/>
              </a:spcBef>
              <a:spcAft>
                <a:spcPts val="0"/>
              </a:spcAft>
            </a:pPr>
            <a:r>
              <a:rPr lang="en-US" altLang="zh-CN"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接下来介绍如何运用Python语言，将传统聚类算法K-Means改造成基于MapReduce计算模型的分布式算法，与大量现有的教材所运用的Java语言实现方法相比，本书的内容给出了分布式大数据挖掘算法的</a:t>
            </a:r>
            <a:r>
              <a:rPr lang="en-US" sz="2000">
                <a:latin typeface="等线" panose="02010600030101010101" pitchFamily="2" charset="-122"/>
                <a:ea typeface="等线" panose="02010600030101010101" pitchFamily="2" charset="-122"/>
                <a:cs typeface="等线" panose="02010600030101010101" pitchFamily="2" charset="-122"/>
              </a:rPr>
              <a:t>Python</a:t>
            </a:r>
            <a:r>
              <a:rPr sz="2000">
                <a:latin typeface="等线" panose="02010600030101010101" pitchFamily="2" charset="-122"/>
                <a:ea typeface="等线" panose="02010600030101010101" pitchFamily="2" charset="-122"/>
                <a:cs typeface="等线" panose="02010600030101010101" pitchFamily="2" charset="-122"/>
              </a:rPr>
              <a:t>实现方法，更方便于熟悉Python语言但对Java语言不太了解的读者学习。</a:t>
            </a:r>
            <a:r>
              <a:rPr lang="en-US" altLang="zh-CN" sz="2000"/>
              <a:t>    </a:t>
            </a:r>
            <a:endParaRPr lang="zh-CN" altLang="en-US" sz="2000" b="1"/>
          </a:p>
        </p:txBody>
      </p:sp>
    </p:spTree>
    <p:extLst>
      <p:ext uri="{BB962C8B-B14F-4D97-AF65-F5344CB8AC3E}">
        <p14:creationId xmlns:p14="http://schemas.microsoft.com/office/powerpoint/2010/main" val="33307710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1" y="199390"/>
            <a:ext cx="7008829"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8.5.1</a:t>
            </a:r>
            <a:r>
              <a:rPr lang="en-US" altLang="zh-CN"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基于MapReduce的K-Means聚类算法</a:t>
            </a:r>
          </a:p>
        </p:txBody>
      </p:sp>
      <p:sp>
        <p:nvSpPr>
          <p:cNvPr id="3" name="文本框 2"/>
          <p:cNvSpPr txBox="1"/>
          <p:nvPr/>
        </p:nvSpPr>
        <p:spPr>
          <a:xfrm>
            <a:off x="259715" y="807085"/>
            <a:ext cx="8623935" cy="4265142"/>
          </a:xfrm>
          <a:prstGeom prst="rect">
            <a:avLst/>
          </a:prstGeom>
          <a:noFill/>
        </p:spPr>
        <p:txBody>
          <a:bodyPr wrap="square" rtlCol="0" anchor="t">
            <a:spAutoFit/>
          </a:bodyPr>
          <a:lstStyle/>
          <a:p>
            <a:pPr>
              <a:lnSpc>
                <a:spcPct val="130000"/>
              </a:lnSpc>
              <a:spcBef>
                <a:spcPts val="0"/>
              </a:spcBef>
              <a:spcAft>
                <a:spcPts val="0"/>
              </a:spcAft>
            </a:pPr>
            <a:r>
              <a:rPr lang="en-US" altLang="zh-CN" sz="2000" b="1"/>
              <a:t>    </a:t>
            </a:r>
            <a:r>
              <a:rPr lang="en-US" altLang="zh-CN" sz="2000"/>
              <a:t>     </a:t>
            </a:r>
            <a:r>
              <a:rPr sz="2000">
                <a:latin typeface="等线" panose="02010600030101010101" pitchFamily="2" charset="-122"/>
                <a:ea typeface="等线" panose="02010600030101010101" pitchFamily="2" charset="-122"/>
                <a:cs typeface="等线" panose="02010600030101010101" pitchFamily="2" charset="-122"/>
              </a:rPr>
              <a:t>K-Means之所以能用MapReduce进行分布式计算，是因为K-Means算法中求簇质心的过程可以并行计算，即可以在各个节点计算每个簇中所有样本的累加和以及对应的样本数，然后再把各结点数据汇总到中心结点求平均值，就得到新的簇质心。</a:t>
            </a:r>
          </a:p>
          <a:p>
            <a:pPr>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1.设计思路</a:t>
            </a:r>
          </a:p>
          <a:p>
            <a:pPr>
              <a:lnSpc>
                <a:spcPct val="130000"/>
              </a:lnSpc>
              <a:spcBef>
                <a:spcPts val="0"/>
              </a:spcBef>
              <a:spcAft>
                <a:spcPts val="0"/>
              </a:spcAft>
            </a:pPr>
            <a:r>
              <a:rPr lang="en-US" sz="1800">
                <a:latin typeface="等线" panose="02010600030101010101" pitchFamily="2" charset="-122"/>
                <a:ea typeface="等线" panose="02010600030101010101" pitchFamily="2" charset="-122"/>
                <a:cs typeface="等线" panose="02010600030101010101" pitchFamily="2" charset="-122"/>
              </a:rPr>
              <a:t>       </a:t>
            </a:r>
            <a:r>
              <a:rPr sz="1800">
                <a:latin typeface="等线" panose="02010600030101010101" pitchFamily="2" charset="-122"/>
                <a:ea typeface="等线" panose="02010600030101010101" pitchFamily="2" charset="-122"/>
                <a:cs typeface="等线" panose="02010600030101010101" pitchFamily="2" charset="-122"/>
              </a:rPr>
              <a:t>基于MapReduce 的K-Means算法（简称为MRK-Means）需要设计三个阶段的MapReduce任务：</a:t>
            </a:r>
          </a:p>
          <a:p>
            <a:pPr>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（1）Map阶段</a:t>
            </a:r>
          </a:p>
          <a:p>
            <a:pPr lvl="1">
              <a:lnSpc>
                <a:spcPct val="130000"/>
              </a:lnSpc>
              <a:spcBef>
                <a:spcPts val="0"/>
              </a:spcBef>
              <a:spcAft>
                <a:spcPts val="0"/>
              </a:spcAft>
            </a:pPr>
            <a:r>
              <a:rPr sz="1800" b="1">
                <a:latin typeface="等线" panose="02010600030101010101" pitchFamily="2" charset="-122"/>
                <a:ea typeface="等线" panose="02010600030101010101" pitchFamily="2" charset="-122"/>
                <a:cs typeface="等线" panose="02010600030101010101" pitchFamily="2" charset="-122"/>
              </a:rPr>
              <a:t>输入：</a:t>
            </a:r>
            <a:r>
              <a:rPr sz="1800">
                <a:latin typeface="等线" panose="02010600030101010101" pitchFamily="2" charset="-122"/>
                <a:ea typeface="等线" panose="02010600030101010101" pitchFamily="2" charset="-122"/>
                <a:cs typeface="等线" panose="02010600030101010101" pitchFamily="2" charset="-122"/>
              </a:rPr>
              <a:t>初始的K个簇中心，从数据集中读取所有样本</a:t>
            </a:r>
          </a:p>
          <a:p>
            <a:pPr lvl="1">
              <a:lnSpc>
                <a:spcPct val="130000"/>
              </a:lnSpc>
              <a:spcBef>
                <a:spcPts val="0"/>
              </a:spcBef>
              <a:spcAft>
                <a:spcPts val="0"/>
              </a:spcAft>
            </a:pPr>
            <a:r>
              <a:rPr sz="1800" b="1">
                <a:latin typeface="等线" panose="02010600030101010101" pitchFamily="2" charset="-122"/>
                <a:ea typeface="等线" panose="02010600030101010101" pitchFamily="2" charset="-122"/>
                <a:cs typeface="等线" panose="02010600030101010101" pitchFamily="2" charset="-122"/>
              </a:rPr>
              <a:t>处理：</a:t>
            </a:r>
            <a:r>
              <a:rPr sz="1800">
                <a:latin typeface="等线" panose="02010600030101010101" pitchFamily="2" charset="-122"/>
                <a:ea typeface="等线" panose="02010600030101010101" pitchFamily="2" charset="-122"/>
                <a:cs typeface="等线" panose="02010600030101010101" pitchFamily="2" charset="-122"/>
              </a:rPr>
              <a:t>将每个样本分配到每个最近的簇中心</a:t>
            </a:r>
          </a:p>
          <a:p>
            <a:pPr lvl="1">
              <a:lnSpc>
                <a:spcPct val="130000"/>
              </a:lnSpc>
              <a:spcBef>
                <a:spcPts val="0"/>
              </a:spcBef>
              <a:spcAft>
                <a:spcPts val="0"/>
              </a:spcAft>
            </a:pPr>
            <a:r>
              <a:rPr sz="1800" b="1">
                <a:latin typeface="等线" panose="02010600030101010101" pitchFamily="2" charset="-122"/>
                <a:ea typeface="等线" panose="02010600030101010101" pitchFamily="2" charset="-122"/>
                <a:cs typeface="等线" panose="02010600030101010101" pitchFamily="2" charset="-122"/>
              </a:rPr>
              <a:t>输出：</a:t>
            </a:r>
            <a:r>
              <a:rPr sz="1800">
                <a:latin typeface="等线" panose="02010600030101010101" pitchFamily="2" charset="-122"/>
                <a:ea typeface="等线" panose="02010600030101010101" pitchFamily="2" charset="-122"/>
                <a:cs typeface="等线" panose="02010600030101010101" pitchFamily="2" charset="-122"/>
              </a:rPr>
              <a:t> &lt;Key, Value&gt;序列：&lt;簇编号, 样本&gt;</a:t>
            </a:r>
            <a:endParaRPr sz="2000">
              <a:latin typeface="等线" panose="02010600030101010101" pitchFamily="2" charset="-122"/>
              <a:ea typeface="等线" panose="02010600030101010101" pitchFamily="2" charset="-122"/>
              <a:cs typeface="等线"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8.5.1基于MapReduce的K-Means聚类算法</a:t>
            </a:r>
          </a:p>
        </p:txBody>
      </p:sp>
      <p:sp>
        <p:nvSpPr>
          <p:cNvPr id="3" name="文本框 2"/>
          <p:cNvSpPr txBox="1"/>
          <p:nvPr/>
        </p:nvSpPr>
        <p:spPr>
          <a:xfrm>
            <a:off x="259715" y="807085"/>
            <a:ext cx="8623935" cy="3692525"/>
          </a:xfrm>
          <a:prstGeom prst="rect">
            <a:avLst/>
          </a:prstGeom>
          <a:noFill/>
        </p:spPr>
        <p:txBody>
          <a:bodyPr wrap="square" rtlCol="0" anchor="t">
            <a:spAutoFit/>
          </a:bodyPr>
          <a:lstStyle/>
          <a:p>
            <a:pPr>
              <a:lnSpc>
                <a:spcPct val="130000"/>
              </a:lnSpc>
              <a:spcBef>
                <a:spcPts val="0"/>
              </a:spcBef>
              <a:spcAft>
                <a:spcPts val="0"/>
              </a:spcAft>
            </a:pPr>
            <a:r>
              <a:rPr lang="en-US" altLang="zh-CN" sz="2000" b="1"/>
              <a:t>    </a:t>
            </a:r>
            <a:r>
              <a:rPr lang="en-US" altLang="zh-CN" sz="2000"/>
              <a:t>  </a:t>
            </a:r>
            <a:r>
              <a:rPr sz="2000" b="1">
                <a:latin typeface="等线" panose="02010600030101010101" pitchFamily="2" charset="-122"/>
                <a:ea typeface="等线" panose="02010600030101010101" pitchFamily="2" charset="-122"/>
                <a:cs typeface="等线" panose="02010600030101010101" pitchFamily="2" charset="-122"/>
              </a:rPr>
              <a:t>【例】MRK-Means算法各阶段数据示例</a:t>
            </a:r>
          </a:p>
          <a:p>
            <a:pPr>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假设K=2，d=3（属性数），初始两个簇中心为1:(0, 0, 0)和2:(2, 2, 2)。样本x1的坐标为(1.8,  2.1,  1.9)，x2的坐标为(0.1,  0.3,  0.9)，x3的坐标为(2.1,  2.3,  1.9)。</a:t>
            </a:r>
          </a:p>
          <a:p>
            <a:pPr>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显然x1和x3与第2个簇中心距离较近，x2与第1个簇中心距离较近，</a:t>
            </a:r>
          </a:p>
          <a:p>
            <a:pPr>
              <a:lnSpc>
                <a:spcPct val="130000"/>
              </a:lnSpc>
              <a:spcBef>
                <a:spcPts val="0"/>
              </a:spcBef>
              <a:spcAft>
                <a:spcPts val="0"/>
              </a:spcAft>
            </a:pPr>
            <a:r>
              <a:rPr sz="2000">
                <a:latin typeface="等线" panose="02010600030101010101" pitchFamily="2" charset="-122"/>
                <a:ea typeface="等线" panose="02010600030101010101" pitchFamily="2" charset="-122"/>
                <a:cs typeface="等线" panose="02010600030101010101" pitchFamily="2" charset="-122"/>
              </a:rPr>
              <a:t>则Map阶段输出的&lt;key, value&gt;序列为：</a:t>
            </a:r>
          </a:p>
          <a:p>
            <a:pPr lvl="2">
              <a:lnSpc>
                <a:spcPct val="130000"/>
              </a:lnSpc>
              <a:spcBef>
                <a:spcPts val="0"/>
              </a:spcBef>
              <a:spcAft>
                <a:spcPts val="0"/>
              </a:spcAft>
            </a:pPr>
            <a:r>
              <a:rPr sz="2000">
                <a:latin typeface="等线" panose="02010600030101010101" pitchFamily="2" charset="-122"/>
                <a:ea typeface="等线" panose="02010600030101010101" pitchFamily="2" charset="-122"/>
                <a:cs typeface="等线" panose="02010600030101010101" pitchFamily="2" charset="-122"/>
              </a:rPr>
              <a:t>&lt;2</a:t>
            </a: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1.8, 2.1 ,1.9 &gt;</a:t>
            </a:r>
          </a:p>
          <a:p>
            <a:pPr lvl="2">
              <a:lnSpc>
                <a:spcPct val="130000"/>
              </a:lnSpc>
              <a:spcBef>
                <a:spcPts val="0"/>
              </a:spcBef>
              <a:spcAft>
                <a:spcPts val="0"/>
              </a:spcAft>
            </a:pPr>
            <a:r>
              <a:rPr sz="2000">
                <a:latin typeface="等线" panose="02010600030101010101" pitchFamily="2" charset="-122"/>
                <a:ea typeface="等线" panose="02010600030101010101" pitchFamily="2" charset="-122"/>
                <a:cs typeface="等线" panose="02010600030101010101" pitchFamily="2" charset="-122"/>
              </a:rPr>
              <a:t>&lt;1</a:t>
            </a: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0.1, 0.3, 0.9&gt;   </a:t>
            </a:r>
          </a:p>
          <a:p>
            <a:pPr lvl="2">
              <a:lnSpc>
                <a:spcPct val="130000"/>
              </a:lnSpc>
              <a:spcBef>
                <a:spcPts val="0"/>
              </a:spcBef>
              <a:spcAft>
                <a:spcPts val="0"/>
              </a:spcAft>
            </a:pPr>
            <a:r>
              <a:rPr sz="2000">
                <a:latin typeface="等线" panose="02010600030101010101" pitchFamily="2" charset="-122"/>
                <a:ea typeface="等线" panose="02010600030101010101" pitchFamily="2" charset="-122"/>
                <a:cs typeface="等线" panose="02010600030101010101" pitchFamily="2" charset="-122"/>
              </a:rPr>
              <a:t>&lt;2</a:t>
            </a: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2.1, 2.3, 1.9&gt;</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8.5.1基于MapReduce的K-Means聚类算法</a:t>
            </a:r>
          </a:p>
        </p:txBody>
      </p:sp>
      <p:sp>
        <p:nvSpPr>
          <p:cNvPr id="3" name="文本框 2"/>
          <p:cNvSpPr txBox="1"/>
          <p:nvPr/>
        </p:nvSpPr>
        <p:spPr>
          <a:xfrm>
            <a:off x="205105" y="807085"/>
            <a:ext cx="9037955" cy="3344890"/>
          </a:xfrm>
          <a:prstGeom prst="rect">
            <a:avLst/>
          </a:prstGeom>
          <a:noFill/>
        </p:spPr>
        <p:txBody>
          <a:bodyPr wrap="square" rtlCol="0" anchor="t">
            <a:spAutoFit/>
          </a:bodyPr>
          <a:lstStyle/>
          <a:p>
            <a:pPr>
              <a:lnSpc>
                <a:spcPct val="130000"/>
              </a:lnSpc>
              <a:spcBef>
                <a:spcPts val="0"/>
              </a:spcBef>
              <a:spcAft>
                <a:spcPts val="0"/>
              </a:spcAft>
            </a:pPr>
            <a:r>
              <a:rPr lang="en-US" altLang="zh-CN" sz="2000" b="1"/>
              <a:t>    </a:t>
            </a:r>
            <a:r>
              <a:rPr lang="en-US" altLang="zh-CN" sz="2000"/>
              <a:t>  </a:t>
            </a:r>
            <a:r>
              <a:rPr lang="en-US" sz="2000">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（2）Combine阶段</a:t>
            </a:r>
          </a:p>
          <a:p>
            <a:pPr>
              <a:lnSpc>
                <a:spcPct val="130000"/>
              </a:lnSpc>
              <a:spcBef>
                <a:spcPts val="0"/>
              </a:spcBef>
              <a:spcAft>
                <a:spcPts val="0"/>
              </a:spcAft>
            </a:pPr>
            <a:r>
              <a:rPr lang="en-US" sz="1800">
                <a:latin typeface="等线" panose="02010600030101010101" pitchFamily="2" charset="-122"/>
                <a:ea typeface="等线" panose="02010600030101010101" pitchFamily="2" charset="-122"/>
                <a:cs typeface="等线" panose="02010600030101010101" pitchFamily="2" charset="-122"/>
              </a:rPr>
              <a:t>        </a:t>
            </a:r>
            <a:r>
              <a:rPr sz="1800">
                <a:latin typeface="等线" panose="02010600030101010101" pitchFamily="2" charset="-122"/>
                <a:ea typeface="等线" panose="02010600030101010101" pitchFamily="2" charset="-122"/>
                <a:cs typeface="等线" panose="02010600030101010101" pitchFamily="2" charset="-122"/>
              </a:rPr>
              <a:t>每个Map任务完成之后，用Combine去合并同一个Map任务的中间结果，在Combine函数中，把属于相同簇的values求和。</a:t>
            </a:r>
          </a:p>
          <a:p>
            <a:pPr>
              <a:lnSpc>
                <a:spcPct val="130000"/>
              </a:lnSpc>
              <a:spcBef>
                <a:spcPts val="0"/>
              </a:spcBef>
              <a:spcAft>
                <a:spcPts val="0"/>
              </a:spcAft>
            </a:pPr>
            <a:r>
              <a:rPr lang="en-US" sz="1800">
                <a:latin typeface="等线" panose="02010600030101010101" pitchFamily="2" charset="-122"/>
                <a:ea typeface="等线" panose="02010600030101010101" pitchFamily="2" charset="-122"/>
                <a:cs typeface="等线" panose="02010600030101010101" pitchFamily="2" charset="-122"/>
              </a:rPr>
              <a:t>       </a:t>
            </a:r>
            <a:r>
              <a:rPr sz="1800" b="1">
                <a:latin typeface="等线" panose="02010600030101010101" pitchFamily="2" charset="-122"/>
                <a:ea typeface="等线" panose="02010600030101010101" pitchFamily="2" charset="-122"/>
                <a:cs typeface="等线" panose="02010600030101010101" pitchFamily="2" charset="-122"/>
              </a:rPr>
              <a:t>输入：</a:t>
            </a:r>
            <a:r>
              <a:rPr sz="1800">
                <a:latin typeface="等线" panose="02010600030101010101" pitchFamily="2" charset="-122"/>
                <a:ea typeface="等线" panose="02010600030101010101" pitchFamily="2" charset="-122"/>
                <a:cs typeface="等线" panose="02010600030101010101" pitchFamily="2" charset="-122"/>
              </a:rPr>
              <a:t>Map阶段的输出结果（&lt;key, value&gt;序列）</a:t>
            </a:r>
          </a:p>
          <a:p>
            <a:pPr>
              <a:lnSpc>
                <a:spcPct val="130000"/>
              </a:lnSpc>
              <a:spcBef>
                <a:spcPts val="0"/>
              </a:spcBef>
              <a:spcAft>
                <a:spcPts val="0"/>
              </a:spcAft>
            </a:pPr>
            <a:r>
              <a:rPr lang="en-US" sz="1800">
                <a:latin typeface="等线" panose="02010600030101010101" pitchFamily="2" charset="-122"/>
                <a:ea typeface="等线" panose="02010600030101010101" pitchFamily="2" charset="-122"/>
                <a:cs typeface="等线" panose="02010600030101010101" pitchFamily="2" charset="-122"/>
              </a:rPr>
              <a:t>      </a:t>
            </a:r>
            <a:r>
              <a:rPr lang="en-US" sz="1800" b="1">
                <a:latin typeface="等线" panose="02010600030101010101" pitchFamily="2" charset="-122"/>
                <a:ea typeface="等线" panose="02010600030101010101" pitchFamily="2" charset="-122"/>
                <a:cs typeface="等线" panose="02010600030101010101" pitchFamily="2" charset="-122"/>
              </a:rPr>
              <a:t> </a:t>
            </a:r>
            <a:r>
              <a:rPr sz="1800" b="1">
                <a:latin typeface="等线" panose="02010600030101010101" pitchFamily="2" charset="-122"/>
                <a:ea typeface="等线" panose="02010600030101010101" pitchFamily="2" charset="-122"/>
                <a:cs typeface="等线" panose="02010600030101010101" pitchFamily="2" charset="-122"/>
              </a:rPr>
              <a:t>处理：</a:t>
            </a:r>
            <a:r>
              <a:rPr sz="1800">
                <a:latin typeface="等线" panose="02010600030101010101" pitchFamily="2" charset="-122"/>
                <a:ea typeface="等线" panose="02010600030101010101" pitchFamily="2" charset="-122"/>
                <a:cs typeface="等线" panose="02010600030101010101" pitchFamily="2" charset="-122"/>
              </a:rPr>
              <a:t>将同属于相同簇编号的values求和。</a:t>
            </a:r>
          </a:p>
          <a:p>
            <a:pPr>
              <a:lnSpc>
                <a:spcPct val="130000"/>
              </a:lnSpc>
              <a:spcBef>
                <a:spcPts val="0"/>
              </a:spcBef>
              <a:spcAft>
                <a:spcPts val="0"/>
              </a:spcAft>
            </a:pPr>
            <a:r>
              <a:rPr lang="en-US" sz="1800">
                <a:latin typeface="等线" panose="02010600030101010101" pitchFamily="2" charset="-122"/>
                <a:ea typeface="等线" panose="02010600030101010101" pitchFamily="2" charset="-122"/>
                <a:cs typeface="等线" panose="02010600030101010101" pitchFamily="2" charset="-122"/>
              </a:rPr>
              <a:t>      </a:t>
            </a:r>
            <a:r>
              <a:rPr lang="en-US" sz="1800" b="1">
                <a:latin typeface="等线" panose="02010600030101010101" pitchFamily="2" charset="-122"/>
                <a:ea typeface="等线" panose="02010600030101010101" pitchFamily="2" charset="-122"/>
                <a:cs typeface="等线" panose="02010600030101010101" pitchFamily="2" charset="-122"/>
              </a:rPr>
              <a:t> </a:t>
            </a:r>
            <a:r>
              <a:rPr sz="1800" b="1">
                <a:latin typeface="等线" panose="02010600030101010101" pitchFamily="2" charset="-122"/>
                <a:ea typeface="等线" panose="02010600030101010101" pitchFamily="2" charset="-122"/>
                <a:cs typeface="等线" panose="02010600030101010101" pitchFamily="2" charset="-122"/>
              </a:rPr>
              <a:t>输出：</a:t>
            </a:r>
            <a:r>
              <a:rPr sz="1800">
                <a:latin typeface="等线" panose="02010600030101010101" pitchFamily="2" charset="-122"/>
                <a:ea typeface="等线" panose="02010600030101010101" pitchFamily="2" charset="-122"/>
                <a:cs typeface="等线" panose="02010600030101010101" pitchFamily="2" charset="-122"/>
              </a:rPr>
              <a:t> &lt;Key, Value, num&gt;形式的序列：&lt;簇编号, values的累加和, 样本数&gt;</a:t>
            </a:r>
          </a:p>
          <a:p>
            <a:pPr>
              <a:lnSpc>
                <a:spcPct val="130000"/>
              </a:lnSpc>
              <a:spcBef>
                <a:spcPts val="0"/>
              </a:spcBef>
              <a:spcAft>
                <a:spcPts val="0"/>
              </a:spcAft>
            </a:pPr>
            <a:r>
              <a:rPr sz="1800">
                <a:latin typeface="等线" panose="02010600030101010101" pitchFamily="2" charset="-122"/>
                <a:ea typeface="等线" panose="02010600030101010101" pitchFamily="2" charset="-122"/>
                <a:cs typeface="等线" panose="02010600030101010101" pitchFamily="2" charset="-122"/>
              </a:rPr>
              <a:t>根据【例8.8】Map阶段的输出结果，Combine阶段的输出为：</a:t>
            </a:r>
          </a:p>
          <a:p>
            <a:pPr lvl="2">
              <a:lnSpc>
                <a:spcPct val="130000"/>
              </a:lnSpc>
              <a:spcBef>
                <a:spcPts val="0"/>
              </a:spcBef>
              <a:spcAft>
                <a:spcPts val="0"/>
              </a:spcAft>
            </a:pPr>
            <a:r>
              <a:rPr sz="1800">
                <a:latin typeface="等线" panose="02010600030101010101" pitchFamily="2" charset="-122"/>
                <a:ea typeface="等线" panose="02010600030101010101" pitchFamily="2" charset="-122"/>
                <a:cs typeface="等线" panose="02010600030101010101" pitchFamily="2" charset="-122"/>
              </a:rPr>
              <a:t>&lt;2</a:t>
            </a:r>
            <a:r>
              <a:rPr lang="en-US" sz="1800">
                <a:latin typeface="等线" panose="02010600030101010101" pitchFamily="2" charset="-122"/>
                <a:ea typeface="等线" panose="02010600030101010101" pitchFamily="2" charset="-122"/>
                <a:cs typeface="等线" panose="02010600030101010101" pitchFamily="2" charset="-122"/>
              </a:rPr>
              <a:t>  </a:t>
            </a:r>
            <a:r>
              <a:rPr sz="1800">
                <a:latin typeface="等线" panose="02010600030101010101" pitchFamily="2" charset="-122"/>
                <a:ea typeface="等线" panose="02010600030101010101" pitchFamily="2" charset="-122"/>
                <a:cs typeface="等线" panose="02010600030101010101" pitchFamily="2" charset="-122"/>
              </a:rPr>
              <a:t>3.9, 4.4, 3.8</a:t>
            </a:r>
            <a:r>
              <a:rPr lang="en-US" sz="1800">
                <a:latin typeface="等线" panose="02010600030101010101" pitchFamily="2" charset="-122"/>
                <a:ea typeface="等线" panose="02010600030101010101" pitchFamily="2" charset="-122"/>
                <a:cs typeface="等线" panose="02010600030101010101" pitchFamily="2" charset="-122"/>
              </a:rPr>
              <a:t>  </a:t>
            </a:r>
            <a:r>
              <a:rPr sz="1800">
                <a:latin typeface="等线" panose="02010600030101010101" pitchFamily="2" charset="-122"/>
                <a:ea typeface="等线" panose="02010600030101010101" pitchFamily="2" charset="-122"/>
                <a:cs typeface="等线" panose="02010600030101010101" pitchFamily="2" charset="-122"/>
              </a:rPr>
              <a:t>2&gt;</a:t>
            </a:r>
          </a:p>
          <a:p>
            <a:pPr lvl="2">
              <a:lnSpc>
                <a:spcPct val="130000"/>
              </a:lnSpc>
              <a:spcBef>
                <a:spcPts val="0"/>
              </a:spcBef>
              <a:spcAft>
                <a:spcPts val="0"/>
              </a:spcAft>
            </a:pPr>
            <a:r>
              <a:rPr sz="1800">
                <a:latin typeface="等线" panose="02010600030101010101" pitchFamily="2" charset="-122"/>
                <a:ea typeface="等线" panose="02010600030101010101" pitchFamily="2" charset="-122"/>
                <a:cs typeface="等线" panose="02010600030101010101" pitchFamily="2" charset="-122"/>
              </a:rPr>
              <a:t>&lt;1</a:t>
            </a:r>
            <a:r>
              <a:rPr lang="en-US" sz="1800">
                <a:latin typeface="等线" panose="02010600030101010101" pitchFamily="2" charset="-122"/>
                <a:ea typeface="等线" panose="02010600030101010101" pitchFamily="2" charset="-122"/>
                <a:cs typeface="等线" panose="02010600030101010101" pitchFamily="2" charset="-122"/>
              </a:rPr>
              <a:t>  </a:t>
            </a:r>
            <a:r>
              <a:rPr sz="1800">
                <a:latin typeface="等线" panose="02010600030101010101" pitchFamily="2" charset="-122"/>
                <a:ea typeface="等线" panose="02010600030101010101" pitchFamily="2" charset="-122"/>
                <a:cs typeface="等线" panose="02010600030101010101" pitchFamily="2" charset="-122"/>
              </a:rPr>
              <a:t>0.1, 0.3, 0.9</a:t>
            </a:r>
            <a:r>
              <a:rPr lang="en-US" sz="1800">
                <a:latin typeface="等线" panose="02010600030101010101" pitchFamily="2" charset="-122"/>
                <a:ea typeface="等线" panose="02010600030101010101" pitchFamily="2" charset="-122"/>
                <a:cs typeface="等线" panose="02010600030101010101" pitchFamily="2" charset="-122"/>
              </a:rPr>
              <a:t>  </a:t>
            </a:r>
            <a:r>
              <a:rPr sz="1800">
                <a:latin typeface="等线" panose="02010600030101010101" pitchFamily="2" charset="-122"/>
                <a:ea typeface="等线" panose="02010600030101010101" pitchFamily="2" charset="-122"/>
                <a:cs typeface="等线" panose="02010600030101010101" pitchFamily="2" charset="-122"/>
              </a:rPr>
              <a:t>1&gt;   </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8.5.1基于MapReduce的K-Means聚类算法</a:t>
            </a:r>
          </a:p>
        </p:txBody>
      </p:sp>
      <p:sp>
        <p:nvSpPr>
          <p:cNvPr id="3" name="文本框 2"/>
          <p:cNvSpPr txBox="1"/>
          <p:nvPr/>
        </p:nvSpPr>
        <p:spPr>
          <a:xfrm>
            <a:off x="205105" y="807085"/>
            <a:ext cx="9037955" cy="2891790"/>
          </a:xfrm>
          <a:prstGeom prst="rect">
            <a:avLst/>
          </a:prstGeom>
          <a:noFill/>
        </p:spPr>
        <p:txBody>
          <a:bodyPr wrap="square" rtlCol="0" anchor="t">
            <a:spAutoFit/>
          </a:bodyPr>
          <a:lstStyle/>
          <a:p>
            <a:pPr>
              <a:lnSpc>
                <a:spcPct val="130000"/>
              </a:lnSpc>
              <a:spcBef>
                <a:spcPts val="0"/>
              </a:spcBef>
              <a:spcAft>
                <a:spcPts val="0"/>
              </a:spcAft>
            </a:pPr>
            <a:r>
              <a:rPr lang="en-US" altLang="zh-CN" sz="2000" b="1"/>
              <a:t>    </a:t>
            </a:r>
            <a:r>
              <a:rPr lang="en-US" altLang="zh-CN" sz="2000"/>
              <a:t>  </a:t>
            </a:r>
            <a:r>
              <a:rPr lang="en-US" sz="2000">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（3）Reduce阶段</a:t>
            </a:r>
          </a:p>
          <a:p>
            <a:pPr>
              <a:lnSpc>
                <a:spcPct val="130000"/>
              </a:lnSpc>
              <a:spcBef>
                <a:spcPts val="0"/>
              </a:spcBef>
              <a:spcAft>
                <a:spcPts val="0"/>
              </a:spcAft>
            </a:pPr>
            <a:r>
              <a:rPr lang="en-US" sz="2000" b="1">
                <a:latin typeface="等线" panose="02010600030101010101" pitchFamily="2" charset="-122"/>
                <a:ea typeface="等线" panose="02010600030101010101" pitchFamily="2" charset="-122"/>
                <a:cs typeface="等线" panose="02010600030101010101" pitchFamily="2" charset="-122"/>
              </a:rPr>
              <a:t>       </a:t>
            </a: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Reduce阶段将每个结点的combine函数输出的数据进行汇总，对于各节点传来的同一簇编号的&lt;key, value, num&gt;求values均值，得出新的簇的中心。</a:t>
            </a:r>
          </a:p>
          <a:p>
            <a:pPr lvl="2">
              <a:lnSpc>
                <a:spcPct val="130000"/>
              </a:lnSpc>
              <a:spcBef>
                <a:spcPts val="0"/>
              </a:spcBef>
              <a:spcAft>
                <a:spcPts val="0"/>
              </a:spcAft>
            </a:pPr>
            <a:r>
              <a:rPr sz="2000" b="1">
                <a:latin typeface="等线" panose="02010600030101010101" pitchFamily="2" charset="-122"/>
                <a:ea typeface="等线" panose="02010600030101010101" pitchFamily="2" charset="-122"/>
                <a:cs typeface="等线" panose="02010600030101010101" pitchFamily="2" charset="-122"/>
              </a:rPr>
              <a:t>输入：</a:t>
            </a:r>
            <a:r>
              <a:rPr sz="2000">
                <a:latin typeface="等线" panose="02010600030101010101" pitchFamily="2" charset="-122"/>
                <a:ea typeface="等线" panose="02010600030101010101" pitchFamily="2" charset="-122"/>
                <a:cs typeface="等线" panose="02010600030101010101" pitchFamily="2" charset="-122"/>
              </a:rPr>
              <a:t>Combine阶段的输出结果（&lt;key, value, num&gt;）</a:t>
            </a:r>
          </a:p>
          <a:p>
            <a:pPr lvl="2">
              <a:lnSpc>
                <a:spcPct val="130000"/>
              </a:lnSpc>
              <a:spcBef>
                <a:spcPts val="0"/>
              </a:spcBef>
              <a:spcAft>
                <a:spcPts val="0"/>
              </a:spcAft>
            </a:pPr>
            <a:r>
              <a:rPr sz="2000" b="1">
                <a:latin typeface="等线" panose="02010600030101010101" pitchFamily="2" charset="-122"/>
                <a:ea typeface="等线" panose="02010600030101010101" pitchFamily="2" charset="-122"/>
                <a:cs typeface="等线" panose="02010600030101010101" pitchFamily="2" charset="-122"/>
              </a:rPr>
              <a:t>处理：</a:t>
            </a:r>
            <a:r>
              <a:rPr sz="2000">
                <a:latin typeface="等线" panose="02010600030101010101" pitchFamily="2" charset="-122"/>
                <a:ea typeface="等线" panose="02010600030101010101" pitchFamily="2" charset="-122"/>
                <a:cs typeface="等线" panose="02010600030101010101" pitchFamily="2" charset="-122"/>
              </a:rPr>
              <a:t>将同属于相同簇的values求和。</a:t>
            </a:r>
            <a:endParaRPr sz="2000" b="1">
              <a:latin typeface="等线" panose="02010600030101010101" pitchFamily="2" charset="-122"/>
              <a:ea typeface="等线" panose="02010600030101010101" pitchFamily="2" charset="-122"/>
              <a:cs typeface="等线" panose="02010600030101010101" pitchFamily="2" charset="-122"/>
            </a:endParaRPr>
          </a:p>
          <a:p>
            <a:pPr lvl="2">
              <a:lnSpc>
                <a:spcPct val="130000"/>
              </a:lnSpc>
              <a:spcBef>
                <a:spcPts val="0"/>
              </a:spcBef>
              <a:spcAft>
                <a:spcPts val="0"/>
              </a:spcAft>
            </a:pPr>
            <a:r>
              <a:rPr sz="2000" b="1">
                <a:latin typeface="等线" panose="02010600030101010101" pitchFamily="2" charset="-122"/>
                <a:ea typeface="等线" panose="02010600030101010101" pitchFamily="2" charset="-122"/>
                <a:cs typeface="等线" panose="02010600030101010101" pitchFamily="2" charset="-122"/>
              </a:rPr>
              <a:t>输出： </a:t>
            </a:r>
            <a:r>
              <a:rPr sz="2000">
                <a:latin typeface="等线" panose="02010600030101010101" pitchFamily="2" charset="-122"/>
                <a:ea typeface="等线" panose="02010600030101010101" pitchFamily="2" charset="-122"/>
                <a:cs typeface="等线" panose="02010600030101010101" pitchFamily="2" charset="-122"/>
              </a:rPr>
              <a:t>k个&lt;Key, Value&gt;：&lt;簇编号, values的平均值&gt;</a:t>
            </a:r>
          </a:p>
          <a:p>
            <a:pPr lvl="2">
              <a:lnSpc>
                <a:spcPct val="130000"/>
              </a:lnSpc>
              <a:spcBef>
                <a:spcPts val="0"/>
              </a:spcBef>
              <a:spcAft>
                <a:spcPts val="0"/>
              </a:spcAft>
            </a:pPr>
            <a:r>
              <a:rPr sz="2000">
                <a:latin typeface="等线" panose="02010600030101010101" pitchFamily="2" charset="-122"/>
                <a:ea typeface="等线" panose="02010600030101010101" pitchFamily="2" charset="-122"/>
                <a:cs typeface="等线" panose="02010600030101010101" pitchFamily="2" charset="-122"/>
              </a:rPr>
              <a:t>其中，</a:t>
            </a:r>
          </a:p>
        </p:txBody>
      </p:sp>
      <p:pic>
        <p:nvPicPr>
          <p:cNvPr id="110" name="图片 109"/>
          <p:cNvPicPr/>
          <p:nvPr/>
        </p:nvPicPr>
        <p:blipFill>
          <a:blip r:embed="rId2"/>
          <a:stretch>
            <a:fillRect/>
          </a:stretch>
        </p:blipFill>
        <p:spPr>
          <a:xfrm>
            <a:off x="1833514" y="3403599"/>
            <a:ext cx="3874416" cy="626359"/>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8.5.1基于MapReduce的K-Means聚类算法</a:t>
            </a:r>
          </a:p>
        </p:txBody>
      </p:sp>
      <p:sp>
        <p:nvSpPr>
          <p:cNvPr id="3" name="文本框 2"/>
          <p:cNvSpPr txBox="1"/>
          <p:nvPr/>
        </p:nvSpPr>
        <p:spPr>
          <a:xfrm>
            <a:off x="160256" y="807085"/>
            <a:ext cx="5731274" cy="4092575"/>
          </a:xfrm>
          <a:prstGeom prst="rect">
            <a:avLst/>
          </a:prstGeom>
          <a:noFill/>
        </p:spPr>
        <p:txBody>
          <a:bodyPr wrap="square" rtlCol="0" anchor="t">
            <a:spAutoFit/>
          </a:bodyPr>
          <a:lstStyle/>
          <a:p>
            <a:pPr>
              <a:lnSpc>
                <a:spcPct val="130000"/>
              </a:lnSpc>
              <a:spcBef>
                <a:spcPts val="0"/>
              </a:spcBef>
              <a:spcAft>
                <a:spcPts val="0"/>
              </a:spcAft>
            </a:pPr>
            <a:r>
              <a:rPr lang="en-US" altLang="zh-CN" sz="2000" b="1"/>
              <a:t>    </a:t>
            </a:r>
            <a:r>
              <a:rPr lang="en-US" altLang="zh-CN" sz="2000"/>
              <a:t>  </a:t>
            </a:r>
            <a:r>
              <a:rPr lang="en-US" sz="2000">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2.程序代码</a:t>
            </a:r>
          </a:p>
          <a:p>
            <a:pPr>
              <a:lnSpc>
                <a:spcPct val="130000"/>
              </a:lnSpc>
              <a:spcBef>
                <a:spcPts val="0"/>
              </a:spcBef>
              <a:spcAft>
                <a:spcPts val="0"/>
              </a:spcAft>
            </a:pPr>
            <a:r>
              <a:rPr lang="en-US" sz="2000" b="1">
                <a:latin typeface="等线" panose="02010600030101010101" pitchFamily="2" charset="-122"/>
                <a:ea typeface="等线" panose="02010600030101010101" pitchFamily="2" charset="-122"/>
                <a:cs typeface="等线" panose="02010600030101010101" pitchFamily="2" charset="-122"/>
              </a:rPr>
              <a:t>       </a:t>
            </a: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以下给出用Python语言实现的MRK-Menas算法的Mapper函数、Combiner函数和Reducer函数的参考代码。</a:t>
            </a:r>
          </a:p>
          <a:p>
            <a:pPr>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运行代码时可以根据不同数据集的特点设置K值和D值（属性数），还可以改进初始簇中心的选取方法。</a:t>
            </a:r>
          </a:p>
          <a:p>
            <a:pPr>
              <a:lnSpc>
                <a:spcPct val="130000"/>
              </a:lnSpc>
              <a:spcBef>
                <a:spcPts val="0"/>
              </a:spcBef>
              <a:spcAft>
                <a:spcPts val="0"/>
              </a:spcAft>
            </a:pPr>
            <a:r>
              <a:rPr lang="en-US" altLang="zh-CN"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数据集的文件格式是每行一个数据样本，各个属性之间用逗号分隔（例如csv格式的文件），示例数据如</a:t>
            </a:r>
            <a:r>
              <a:rPr lang="zh-CN" sz="2000">
                <a:latin typeface="等线" panose="02010600030101010101" pitchFamily="2" charset="-122"/>
                <a:ea typeface="等线" panose="02010600030101010101" pitchFamily="2" charset="-122"/>
                <a:cs typeface="等线" panose="02010600030101010101" pitchFamily="2" charset="-122"/>
              </a:rPr>
              <a:t>右</a:t>
            </a:r>
            <a:r>
              <a:rPr sz="2000">
                <a:latin typeface="等线" panose="02010600030101010101" pitchFamily="2" charset="-122"/>
                <a:ea typeface="等线" panose="02010600030101010101" pitchFamily="2" charset="-122"/>
                <a:cs typeface="等线" panose="02010600030101010101" pitchFamily="2" charset="-122"/>
              </a:rPr>
              <a:t>：</a:t>
            </a:r>
          </a:p>
        </p:txBody>
      </p:sp>
      <p:graphicFrame>
        <p:nvGraphicFramePr>
          <p:cNvPr id="2" name="表格 1">
            <a:extLst>
              <a:ext uri="{FF2B5EF4-FFF2-40B4-BE49-F238E27FC236}">
                <a16:creationId xmlns:a16="http://schemas.microsoft.com/office/drawing/2014/main" id="{69271631-6FF6-4C41-86A1-F84C67ED40B1}"/>
              </a:ext>
            </a:extLst>
          </p:cNvPr>
          <p:cNvGraphicFramePr>
            <a:graphicFrameLocks noGrp="1"/>
          </p:cNvGraphicFramePr>
          <p:nvPr>
            <p:extLst>
              <p:ext uri="{D42A27DB-BD31-4B8C-83A1-F6EECF244321}">
                <p14:modId xmlns:p14="http://schemas.microsoft.com/office/powerpoint/2010/main" val="556426961"/>
              </p:ext>
            </p:extLst>
          </p:nvPr>
        </p:nvGraphicFramePr>
        <p:xfrm>
          <a:off x="6214110" y="3354165"/>
          <a:ext cx="2005965" cy="1520381"/>
        </p:xfrm>
        <a:graphic>
          <a:graphicData uri="http://schemas.openxmlformats.org/drawingml/2006/table">
            <a:tbl>
              <a:tblPr firstRow="1" firstCol="1" bandRow="1">
                <a:tableStyleId>{5C22544A-7EE6-4342-B048-85BDC9FD1C3A}</a:tableStyleId>
              </a:tblPr>
              <a:tblGrid>
                <a:gridCol w="2005965">
                  <a:extLst>
                    <a:ext uri="{9D8B030D-6E8A-4147-A177-3AD203B41FA5}">
                      <a16:colId xmlns:a16="http://schemas.microsoft.com/office/drawing/2014/main" val="2708199801"/>
                    </a:ext>
                  </a:extLst>
                </a:gridCol>
              </a:tblGrid>
              <a:tr h="0">
                <a:tc>
                  <a:txBody>
                    <a:bodyPr/>
                    <a:lstStyle/>
                    <a:p>
                      <a:pPr marL="266700" indent="228600">
                        <a:lnSpc>
                          <a:spcPct val="120000"/>
                        </a:lnSpc>
                        <a:spcAft>
                          <a:spcPts val="0"/>
                        </a:spcAft>
                      </a:pPr>
                      <a:r>
                        <a:rPr lang="en-US" sz="1200" b="0" kern="100">
                          <a:solidFill>
                            <a:schemeClr val="tx1"/>
                          </a:solidFill>
                          <a:effectLst/>
                        </a:rPr>
                        <a:t>6.3,2.9,5.6,1.8</a:t>
                      </a:r>
                      <a:endParaRPr lang="zh-CN" sz="1600" b="0" kern="100">
                        <a:solidFill>
                          <a:schemeClr val="tx1"/>
                        </a:solidFill>
                        <a:effectLst/>
                      </a:endParaRPr>
                    </a:p>
                    <a:p>
                      <a:pPr marL="266700" indent="228600">
                        <a:lnSpc>
                          <a:spcPct val="120000"/>
                        </a:lnSpc>
                        <a:spcAft>
                          <a:spcPts val="0"/>
                        </a:spcAft>
                      </a:pPr>
                      <a:r>
                        <a:rPr lang="en-US" sz="1200" b="0" kern="100">
                          <a:solidFill>
                            <a:schemeClr val="tx1"/>
                          </a:solidFill>
                          <a:effectLst/>
                        </a:rPr>
                        <a:t>6.5,3,5.8,2.2</a:t>
                      </a:r>
                      <a:endParaRPr lang="zh-CN" sz="1600" b="0" kern="100">
                        <a:solidFill>
                          <a:schemeClr val="tx1"/>
                        </a:solidFill>
                        <a:effectLst/>
                      </a:endParaRPr>
                    </a:p>
                    <a:p>
                      <a:pPr marL="266700" indent="228600">
                        <a:lnSpc>
                          <a:spcPct val="120000"/>
                        </a:lnSpc>
                        <a:spcAft>
                          <a:spcPts val="0"/>
                        </a:spcAft>
                      </a:pPr>
                      <a:r>
                        <a:rPr lang="en-US" sz="1200" b="0" kern="100">
                          <a:solidFill>
                            <a:schemeClr val="tx1"/>
                          </a:solidFill>
                          <a:effectLst/>
                        </a:rPr>
                        <a:t>7.6,3,6.6,2.1</a:t>
                      </a:r>
                      <a:endParaRPr lang="zh-CN" sz="1600" b="0" kern="100">
                        <a:solidFill>
                          <a:schemeClr val="tx1"/>
                        </a:solidFill>
                        <a:effectLst/>
                      </a:endParaRPr>
                    </a:p>
                    <a:p>
                      <a:pPr marL="266700" indent="228600">
                        <a:lnSpc>
                          <a:spcPct val="120000"/>
                        </a:lnSpc>
                        <a:spcAft>
                          <a:spcPts val="0"/>
                        </a:spcAft>
                      </a:pPr>
                      <a:r>
                        <a:rPr lang="en-US" sz="1200" b="0" kern="100">
                          <a:solidFill>
                            <a:schemeClr val="tx1"/>
                          </a:solidFill>
                          <a:effectLst/>
                        </a:rPr>
                        <a:t>6.4,3.2,4.5,1.5</a:t>
                      </a:r>
                      <a:endParaRPr lang="zh-CN" sz="1600" b="0" kern="100">
                        <a:solidFill>
                          <a:schemeClr val="tx1"/>
                        </a:solidFill>
                        <a:effectLst/>
                      </a:endParaRPr>
                    </a:p>
                    <a:p>
                      <a:pPr marL="266700" indent="228600">
                        <a:lnSpc>
                          <a:spcPct val="120000"/>
                        </a:lnSpc>
                        <a:spcAft>
                          <a:spcPts val="0"/>
                        </a:spcAft>
                      </a:pPr>
                      <a:r>
                        <a:rPr lang="en-US" sz="1200" b="0" kern="100">
                          <a:solidFill>
                            <a:schemeClr val="tx1"/>
                          </a:solidFill>
                          <a:effectLst/>
                        </a:rPr>
                        <a:t>6.9,3.1,4.9,1.5</a:t>
                      </a:r>
                      <a:endParaRPr lang="zh-CN" sz="1600" b="0" kern="100">
                        <a:solidFill>
                          <a:schemeClr val="tx1"/>
                        </a:solidFill>
                        <a:effectLst/>
                      </a:endParaRPr>
                    </a:p>
                    <a:p>
                      <a:pPr marL="266700" indent="228600">
                        <a:lnSpc>
                          <a:spcPct val="120000"/>
                        </a:lnSpc>
                        <a:spcAft>
                          <a:spcPts val="0"/>
                        </a:spcAft>
                      </a:pPr>
                      <a:r>
                        <a:rPr lang="en-US" sz="1200" b="0" kern="100">
                          <a:solidFill>
                            <a:schemeClr val="tx1"/>
                          </a:solidFill>
                          <a:effectLst/>
                        </a:rPr>
                        <a:t>5.5,2.3,4,1.3</a:t>
                      </a:r>
                      <a:endParaRPr lang="zh-CN" sz="1600" b="0" kern="100">
                        <a:solidFill>
                          <a:schemeClr val="tx1"/>
                        </a:solidFill>
                        <a:effectLst/>
                      </a:endParaRPr>
                    </a:p>
                    <a:p>
                      <a:pPr marL="266700" indent="228600">
                        <a:lnSpc>
                          <a:spcPct val="120000"/>
                        </a:lnSpc>
                        <a:spcAft>
                          <a:spcPts val="0"/>
                        </a:spcAft>
                      </a:pPr>
                      <a:r>
                        <a:rPr lang="zh-CN" sz="1200" b="0" kern="100">
                          <a:solidFill>
                            <a:schemeClr val="tx1"/>
                          </a:solidFill>
                          <a:effectLst/>
                        </a:rPr>
                        <a:t>…………</a:t>
                      </a:r>
                      <a:endParaRPr lang="zh-CN" sz="1600" b="0"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endParaRPr>
                    </a:p>
                  </a:txBody>
                  <a:tcPr marL="68580" marR="68580" marT="0" marB="0">
                    <a:noFill/>
                  </a:tcPr>
                </a:tc>
                <a:extLst>
                  <a:ext uri="{0D108BD9-81ED-4DB2-BD59-A6C34878D82A}">
                    <a16:rowId xmlns:a16="http://schemas.microsoft.com/office/drawing/2014/main" val="2200965114"/>
                  </a:ext>
                </a:extLst>
              </a:tr>
            </a:tbl>
          </a:graphicData>
        </a:graphic>
      </p:graphicFrame>
      <p:sp>
        <p:nvSpPr>
          <p:cNvPr id="5" name="箭头: 右 4">
            <a:extLst>
              <a:ext uri="{FF2B5EF4-FFF2-40B4-BE49-F238E27FC236}">
                <a16:creationId xmlns:a16="http://schemas.microsoft.com/office/drawing/2014/main" id="{8CB88A6B-CF4D-4E56-AAFB-32E309B27FAB}"/>
              </a:ext>
            </a:extLst>
          </p:cNvPr>
          <p:cNvSpPr/>
          <p:nvPr/>
        </p:nvSpPr>
        <p:spPr>
          <a:xfrm>
            <a:off x="5891530" y="3946525"/>
            <a:ext cx="560070" cy="177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8.5.1基于MapReduce的K-Means聚类算法</a:t>
            </a:r>
          </a:p>
        </p:txBody>
      </p:sp>
      <p:sp>
        <p:nvSpPr>
          <p:cNvPr id="3" name="文本框 2"/>
          <p:cNvSpPr txBox="1"/>
          <p:nvPr/>
        </p:nvSpPr>
        <p:spPr>
          <a:xfrm>
            <a:off x="86360" y="807085"/>
            <a:ext cx="5805170" cy="458715"/>
          </a:xfrm>
          <a:prstGeom prst="rect">
            <a:avLst/>
          </a:prstGeom>
          <a:noFill/>
        </p:spPr>
        <p:txBody>
          <a:bodyPr wrap="square" rtlCol="0" anchor="t">
            <a:spAutoFit/>
          </a:bodyPr>
          <a:lstStyle/>
          <a:p>
            <a:pPr>
              <a:lnSpc>
                <a:spcPct val="130000"/>
              </a:lnSpc>
              <a:spcBef>
                <a:spcPts val="0"/>
              </a:spcBef>
              <a:spcAft>
                <a:spcPts val="0"/>
              </a:spcAft>
            </a:pPr>
            <a:r>
              <a:rPr lang="en-US" altLang="zh-CN" sz="2000" b="1"/>
              <a:t>     </a:t>
            </a:r>
            <a:r>
              <a:rPr sz="2000" b="1"/>
              <a:t>（1）Mapper函数</a:t>
            </a:r>
          </a:p>
        </p:txBody>
      </p:sp>
      <p:sp>
        <p:nvSpPr>
          <p:cNvPr id="6" name="文本框 5">
            <a:extLst>
              <a:ext uri="{FF2B5EF4-FFF2-40B4-BE49-F238E27FC236}">
                <a16:creationId xmlns:a16="http://schemas.microsoft.com/office/drawing/2014/main" id="{A9F3E96D-B05F-4E77-9105-E3E1D90E15DD}"/>
              </a:ext>
            </a:extLst>
          </p:cNvPr>
          <p:cNvSpPr txBox="1"/>
          <p:nvPr/>
        </p:nvSpPr>
        <p:spPr>
          <a:xfrm>
            <a:off x="438786" y="4023360"/>
            <a:ext cx="8035912" cy="1015663"/>
          </a:xfrm>
          <a:prstGeom prst="rect">
            <a:avLst/>
          </a:prstGeom>
          <a:noFill/>
          <a:ln w="9525">
            <a:noFill/>
          </a:ln>
        </p:spPr>
        <p:txBody>
          <a:bodyPr wrap="square">
            <a:spAutoFit/>
          </a:bodyPr>
          <a:lstStyle/>
          <a:p>
            <a:pPr indent="266700">
              <a:spcBef>
                <a:spcPts val="0"/>
              </a:spcBef>
              <a:spcAft>
                <a:spcPts val="0"/>
              </a:spcAft>
            </a:pPr>
            <a:r>
              <a:rPr lang="en-US" altLang="zh-CN" sz="2000" b="1">
                <a:ea typeface="等线" panose="02010600030101010101" pitchFamily="2" charset="-122"/>
              </a:rPr>
              <a:t>   </a:t>
            </a:r>
            <a:r>
              <a:rPr lang="zh-CN" sz="2000" b="1">
                <a:ea typeface="等线" panose="02010600030101010101" pitchFamily="2" charset="-122"/>
              </a:rPr>
              <a:t>说明：</a:t>
            </a:r>
            <a:r>
              <a:rPr lang="zh-CN" sz="2000" b="0">
                <a:ea typeface="等线" panose="02010600030101010101" pitchFamily="2" charset="-122"/>
              </a:rPr>
              <a:t>程序中的第一条语句</a:t>
            </a:r>
            <a:r>
              <a:rPr lang="en-US" sz="2000" b="0">
                <a:latin typeface="等线" panose="02010600030101010101" pitchFamily="2" charset="-122"/>
                <a:cs typeface="Times New Roman" panose="02020603050405020304" pitchFamily="18" charset="0"/>
              </a:rPr>
              <a:t>“#!/usr/bin/python3.6</a:t>
            </a:r>
            <a:r>
              <a:rPr lang="zh-CN" sz="2000" b="0">
                <a:ea typeface="等线" panose="02010600030101010101" pitchFamily="2" charset="-122"/>
              </a:rPr>
              <a:t>”的具体写法，可查看L</a:t>
            </a:r>
            <a:r>
              <a:rPr lang="en-US" sz="2000" b="0">
                <a:latin typeface="等线" panose="02010600030101010101" pitchFamily="2" charset="-122"/>
                <a:cs typeface="Times New Roman" panose="02020603050405020304" pitchFamily="18" charset="0"/>
              </a:rPr>
              <a:t>inux</a:t>
            </a:r>
            <a:r>
              <a:rPr lang="zh-CN" sz="2000" b="0">
                <a:ea typeface="等线" panose="02010600030101010101" pitchFamily="2" charset="-122"/>
              </a:rPr>
              <a:t>系统的</a:t>
            </a:r>
            <a:r>
              <a:rPr lang="en-US" sz="2000" b="0">
                <a:latin typeface="等线" panose="02010600030101010101" pitchFamily="2" charset="-122"/>
                <a:cs typeface="Times New Roman" panose="02020603050405020304" pitchFamily="18" charset="0"/>
              </a:rPr>
              <a:t>/usr/bin</a:t>
            </a:r>
            <a:r>
              <a:rPr lang="zh-CN" sz="2000" b="0">
                <a:ea typeface="等线" panose="02010600030101010101" pitchFamily="2" charset="-122"/>
              </a:rPr>
              <a:t>目录中关于</a:t>
            </a:r>
            <a:r>
              <a:rPr lang="en-US" sz="2000" b="0">
                <a:latin typeface="等线" panose="02010600030101010101" pitchFamily="2" charset="-122"/>
                <a:cs typeface="Times New Roman" panose="02020603050405020304" pitchFamily="18" charset="0"/>
              </a:rPr>
              <a:t>Python</a:t>
            </a:r>
            <a:r>
              <a:rPr lang="zh-CN" sz="2000" b="0">
                <a:ea typeface="等线" panose="02010600030101010101" pitchFamily="2" charset="-122"/>
              </a:rPr>
              <a:t>的软链接，它会依照</a:t>
            </a:r>
            <a:r>
              <a:rPr lang="en-US" sz="2000" b="0">
                <a:latin typeface="等线" panose="02010600030101010101" pitchFamily="2" charset="-122"/>
                <a:cs typeface="Times New Roman" panose="02020603050405020304" pitchFamily="18" charset="0"/>
              </a:rPr>
              <a:t>Li</a:t>
            </a:r>
            <a:r>
              <a:rPr lang="zh-CN" sz="2000" b="0">
                <a:ea typeface="等线" panose="02010600030101010101" pitchFamily="2" charset="-122"/>
              </a:rPr>
              <a:t>nux中安装的P</a:t>
            </a:r>
            <a:r>
              <a:rPr lang="en-US" sz="2000" b="0">
                <a:latin typeface="等线" panose="02010600030101010101" pitchFamily="2" charset="-122"/>
                <a:cs typeface="Times New Roman" panose="02020603050405020304" pitchFamily="18" charset="0"/>
              </a:rPr>
              <a:t>ython</a:t>
            </a:r>
            <a:r>
              <a:rPr lang="zh-CN" sz="2000" b="0">
                <a:ea typeface="等线" panose="02010600030101010101" pitchFamily="2" charset="-122"/>
              </a:rPr>
              <a:t>版本相应调整。</a:t>
            </a:r>
            <a:endParaRPr lang="zh-CN" altLang="en-US" sz="2000"/>
          </a:p>
        </p:txBody>
      </p:sp>
      <p:sp>
        <p:nvSpPr>
          <p:cNvPr id="7" name="矩形 6">
            <a:extLst>
              <a:ext uri="{FF2B5EF4-FFF2-40B4-BE49-F238E27FC236}">
                <a16:creationId xmlns:a16="http://schemas.microsoft.com/office/drawing/2014/main" id="{2BF1E730-5DAE-47A5-AA47-BDA2572090F3}"/>
              </a:ext>
            </a:extLst>
          </p:cNvPr>
          <p:cNvSpPr/>
          <p:nvPr/>
        </p:nvSpPr>
        <p:spPr>
          <a:xfrm>
            <a:off x="1033895" y="1362375"/>
            <a:ext cx="6276109" cy="240245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lnSpc>
                <a:spcPct val="120000"/>
              </a:lnSpc>
              <a:spcAft>
                <a:spcPts val="0"/>
              </a:spcAft>
            </a:pPr>
            <a:r>
              <a:rPr lang="en-US" altLang="zh-CN" sz="1400" kern="100">
                <a:latin typeface="等线" panose="02010600030101010101" pitchFamily="2" charset="-122"/>
                <a:cs typeface="Times New Roman" panose="02020603050405020304" pitchFamily="18" charset="0"/>
              </a:rPr>
              <a:t>#!/usr/bin/python3.6</a:t>
            </a:r>
            <a:endParaRPr lang="zh-CN" altLang="zh-CN" sz="18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400" kern="100">
                <a:latin typeface="等线" panose="02010600030101010101" pitchFamily="2" charset="-122"/>
                <a:cs typeface="Times New Roman" panose="02020603050405020304" pitchFamily="18" charset="0"/>
              </a:rPr>
              <a:t>import sys</a:t>
            </a:r>
            <a:endParaRPr lang="zh-CN" altLang="zh-CN" sz="18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400" kern="100">
                <a:latin typeface="等线" panose="02010600030101010101" pitchFamily="2" charset="-122"/>
                <a:cs typeface="Times New Roman" panose="02020603050405020304" pitchFamily="18" charset="0"/>
              </a:rPr>
              <a:t>import numpy as np</a:t>
            </a:r>
            <a:endParaRPr lang="zh-CN" altLang="zh-CN" sz="18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400" kern="100">
                <a:latin typeface="等线" panose="02010600030101010101" pitchFamily="2" charset="-122"/>
                <a:cs typeface="Times New Roman" panose="02020603050405020304" pitchFamily="18" charset="0"/>
              </a:rPr>
              <a:t> </a:t>
            </a:r>
            <a:endParaRPr lang="zh-CN" altLang="zh-CN" sz="18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400" kern="100">
                <a:latin typeface="等线" panose="02010600030101010101" pitchFamily="2" charset="-122"/>
                <a:cs typeface="Times New Roman" panose="02020603050405020304" pitchFamily="18" charset="0"/>
              </a:rPr>
              <a:t>def Distance(instance, center):                     #</a:t>
            </a:r>
            <a:r>
              <a:rPr lang="zh-CN" altLang="zh-CN" sz="1400" kern="100">
                <a:latin typeface="等线" panose="02010600030101010101" pitchFamily="2" charset="-122"/>
                <a:cs typeface="Times New Roman" panose="02020603050405020304" pitchFamily="18" charset="0"/>
              </a:rPr>
              <a:t>计算对象与簇中心距离</a:t>
            </a:r>
            <a:r>
              <a:rPr lang="zh-CN" altLang="en-US" sz="1400" kern="100">
                <a:latin typeface="等线" panose="02010600030101010101" pitchFamily="2" charset="-122"/>
                <a:cs typeface="Times New Roman" panose="02020603050405020304" pitchFamily="18" charset="0"/>
              </a:rPr>
              <a:t>的函数</a:t>
            </a:r>
            <a:endParaRPr lang="zh-CN" altLang="zh-CN" sz="18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400" kern="100">
                <a:latin typeface="等线" panose="02010600030101010101" pitchFamily="2" charset="-122"/>
                <a:cs typeface="Times New Roman" panose="02020603050405020304" pitchFamily="18" charset="0"/>
              </a:rPr>
              <a:t>    i = np.array(eval(instance)).astype(np.float)</a:t>
            </a:r>
            <a:endParaRPr lang="zh-CN" altLang="zh-CN" sz="18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400" kern="100">
                <a:latin typeface="等线" panose="02010600030101010101" pitchFamily="2" charset="-122"/>
                <a:cs typeface="Times New Roman" panose="02020603050405020304" pitchFamily="18" charset="0"/>
              </a:rPr>
              <a:t>    c = np.array(center).astype(np.float)</a:t>
            </a:r>
            <a:endParaRPr lang="zh-CN" altLang="zh-CN" sz="18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400" kern="100">
                <a:latin typeface="等线" panose="02010600030101010101" pitchFamily="2" charset="-122"/>
                <a:cs typeface="Times New Roman" panose="02020603050405020304" pitchFamily="18" charset="0"/>
              </a:rPr>
              <a:t>    ans = np.sqrt(np.sum(np.square(i - c)))</a:t>
            </a:r>
            <a:endParaRPr lang="zh-CN" altLang="zh-CN" sz="18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400" kern="100">
                <a:latin typeface="等线" panose="02010600030101010101" pitchFamily="2" charset="-122"/>
                <a:cs typeface="Times New Roman" panose="02020603050405020304" pitchFamily="18" charset="0"/>
              </a:rPr>
              <a:t>    return ans</a:t>
            </a:r>
            <a:endParaRPr lang="zh-CN" altLang="zh-CN" sz="1800" kern="100">
              <a:latin typeface="等线"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8.5.1基于MapReduce的K-Means聚类算法</a:t>
            </a:r>
          </a:p>
        </p:txBody>
      </p:sp>
      <p:sp>
        <p:nvSpPr>
          <p:cNvPr id="2" name="矩形 1">
            <a:extLst>
              <a:ext uri="{FF2B5EF4-FFF2-40B4-BE49-F238E27FC236}">
                <a16:creationId xmlns:a16="http://schemas.microsoft.com/office/drawing/2014/main" id="{67CD9E9A-5FC1-40A9-A412-F37E15DA3D45}"/>
              </a:ext>
            </a:extLst>
          </p:cNvPr>
          <p:cNvSpPr/>
          <p:nvPr/>
        </p:nvSpPr>
        <p:spPr>
          <a:xfrm>
            <a:off x="461914" y="742295"/>
            <a:ext cx="7715839" cy="440120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lnSpc>
                <a:spcPct val="100000"/>
              </a:lnSpc>
              <a:spcAft>
                <a:spcPts val="0"/>
              </a:spcAft>
            </a:pPr>
            <a:r>
              <a:rPr lang="en-US" altLang="zh-CN" sz="1400" kern="100">
                <a:latin typeface="Times New Roman" panose="02020603050405020304" pitchFamily="18" charset="0"/>
                <a:cs typeface="Times New Roman" panose="02020603050405020304" pitchFamily="18" charset="0"/>
              </a:rPr>
              <a:t>def Mapper(d, k, separator = '\n'):     #d:</a:t>
            </a:r>
            <a:r>
              <a:rPr lang="zh-CN" altLang="zh-CN" sz="1400" kern="100">
                <a:latin typeface="Times New Roman" panose="02020603050405020304" pitchFamily="18" charset="0"/>
                <a:cs typeface="Times New Roman" panose="02020603050405020304" pitchFamily="18" charset="0"/>
              </a:rPr>
              <a:t>属性数</a:t>
            </a:r>
            <a:r>
              <a:rPr lang="en-US" altLang="zh-CN" sz="1400" kern="100">
                <a:latin typeface="Times New Roman" panose="02020603050405020304" pitchFamily="18" charset="0"/>
                <a:cs typeface="Times New Roman" panose="02020603050405020304" pitchFamily="18" charset="0"/>
              </a:rPr>
              <a:t>,k:</a:t>
            </a:r>
            <a:r>
              <a:rPr lang="zh-CN" altLang="zh-CN" sz="1400" kern="100">
                <a:latin typeface="Times New Roman" panose="02020603050405020304" pitchFamily="18" charset="0"/>
                <a:cs typeface="Times New Roman" panose="02020603050405020304" pitchFamily="18" charset="0"/>
              </a:rPr>
              <a:t>类别数</a:t>
            </a:r>
            <a:r>
              <a:rPr lang="en-US" altLang="zh-CN" sz="1400" kern="100">
                <a:latin typeface="Times New Roman" panose="02020603050405020304" pitchFamily="18" charset="0"/>
                <a:cs typeface="Times New Roman" panose="02020603050405020304" pitchFamily="18" charset="0"/>
              </a:rPr>
              <a:t>,separator:</a:t>
            </a:r>
            <a:r>
              <a:rPr lang="zh-CN" altLang="zh-CN" sz="1400" kern="100">
                <a:latin typeface="Times New Roman" panose="02020603050405020304" pitchFamily="18" charset="0"/>
                <a:cs typeface="Times New Roman" panose="02020603050405020304" pitchFamily="18" charset="0"/>
              </a:rPr>
              <a:t>行分隔符</a:t>
            </a:r>
          </a:p>
          <a:p>
            <a:pPr algn="just">
              <a:lnSpc>
                <a:spcPct val="100000"/>
              </a:lnSpc>
              <a:spcAft>
                <a:spcPts val="0"/>
              </a:spcAft>
            </a:pPr>
            <a:r>
              <a:rPr lang="en-US" altLang="zh-CN" sz="1400" kern="100">
                <a:latin typeface="Times New Roman" panose="02020603050405020304" pitchFamily="18" charset="0"/>
                <a:cs typeface="Times New Roman" panose="02020603050405020304" pitchFamily="18" charset="0"/>
              </a:rPr>
              <a:t>    minDis = float('inf')  </a:t>
            </a:r>
            <a:endParaRPr lang="zh-CN" altLang="zh-CN" sz="1400" kern="100">
              <a:latin typeface="Times New Roman" panose="02020603050405020304" pitchFamily="18" charset="0"/>
              <a:cs typeface="Times New Roman" panose="02020603050405020304" pitchFamily="18" charset="0"/>
            </a:endParaRPr>
          </a:p>
          <a:p>
            <a:pPr algn="just">
              <a:lnSpc>
                <a:spcPct val="100000"/>
              </a:lnSpc>
              <a:spcAft>
                <a:spcPts val="0"/>
              </a:spcAft>
            </a:pPr>
            <a:r>
              <a:rPr lang="en-US" altLang="zh-CN" sz="1400" kern="100">
                <a:latin typeface="Times New Roman" panose="02020603050405020304" pitchFamily="18" charset="0"/>
                <a:cs typeface="Times New Roman" panose="02020603050405020304" pitchFamily="18" charset="0"/>
              </a:rPr>
              <a:t>    centers = []</a:t>
            </a:r>
            <a:endParaRPr lang="zh-CN" altLang="zh-CN" sz="1400" kern="100">
              <a:latin typeface="Times New Roman" panose="02020603050405020304" pitchFamily="18" charset="0"/>
              <a:cs typeface="Times New Roman" panose="02020603050405020304" pitchFamily="18" charset="0"/>
            </a:endParaRPr>
          </a:p>
          <a:p>
            <a:pPr algn="just">
              <a:lnSpc>
                <a:spcPct val="100000"/>
              </a:lnSpc>
              <a:spcAft>
                <a:spcPts val="0"/>
              </a:spcAft>
            </a:pPr>
            <a:r>
              <a:rPr lang="en-US" altLang="zh-CN" sz="1400" kern="100">
                <a:latin typeface="Times New Roman" panose="02020603050405020304" pitchFamily="18" charset="0"/>
                <a:cs typeface="Times New Roman" panose="02020603050405020304" pitchFamily="18" charset="0"/>
              </a:rPr>
              <a:t>    for i in range(k):                  #</a:t>
            </a:r>
            <a:r>
              <a:rPr lang="zh-CN" altLang="zh-CN" sz="1400" kern="100">
                <a:latin typeface="Times New Roman" panose="02020603050405020304" pitchFamily="18" charset="0"/>
                <a:cs typeface="Times New Roman" panose="02020603050405020304" pitchFamily="18" charset="0"/>
              </a:rPr>
              <a:t>随机生成</a:t>
            </a:r>
            <a:r>
              <a:rPr lang="en-US" altLang="zh-CN" sz="1400" kern="100">
                <a:latin typeface="Times New Roman" panose="02020603050405020304" pitchFamily="18" charset="0"/>
                <a:cs typeface="Times New Roman" panose="02020603050405020304" pitchFamily="18" charset="0"/>
              </a:rPr>
              <a:t>k</a:t>
            </a:r>
            <a:r>
              <a:rPr lang="zh-CN" altLang="zh-CN" sz="1400" kern="100">
                <a:latin typeface="Times New Roman" panose="02020603050405020304" pitchFamily="18" charset="0"/>
                <a:cs typeface="Times New Roman" panose="02020603050405020304" pitchFamily="18" charset="0"/>
              </a:rPr>
              <a:t>个簇中心</a:t>
            </a:r>
          </a:p>
          <a:p>
            <a:pPr algn="just">
              <a:lnSpc>
                <a:spcPct val="100000"/>
              </a:lnSpc>
              <a:spcAft>
                <a:spcPts val="0"/>
              </a:spcAft>
            </a:pPr>
            <a:r>
              <a:rPr lang="en-US" altLang="zh-CN" sz="1400" kern="100">
                <a:latin typeface="Times New Roman" panose="02020603050405020304" pitchFamily="18" charset="0"/>
                <a:cs typeface="Times New Roman" panose="02020603050405020304" pitchFamily="18" charset="0"/>
              </a:rPr>
              <a:t>        arr = np.random.randint(0,10,d)  #</a:t>
            </a:r>
            <a:r>
              <a:rPr lang="zh-CN" altLang="zh-CN" sz="1400" kern="100">
                <a:latin typeface="Times New Roman" panose="02020603050405020304" pitchFamily="18" charset="0"/>
                <a:cs typeface="Times New Roman" panose="02020603050405020304" pitchFamily="18" charset="0"/>
              </a:rPr>
              <a:t>生成界于</a:t>
            </a:r>
            <a:r>
              <a:rPr lang="en-US" altLang="zh-CN" sz="1400" kern="100">
                <a:latin typeface="Times New Roman" panose="02020603050405020304" pitchFamily="18" charset="0"/>
                <a:cs typeface="Times New Roman" panose="02020603050405020304" pitchFamily="18" charset="0"/>
              </a:rPr>
              <a:t>0</a:t>
            </a:r>
            <a:r>
              <a:rPr lang="zh-CN" altLang="zh-CN" sz="1400" kern="100">
                <a:latin typeface="Times New Roman" panose="02020603050405020304" pitchFamily="18" charset="0"/>
                <a:cs typeface="Times New Roman" panose="02020603050405020304" pitchFamily="18" charset="0"/>
              </a:rPr>
              <a:t>到</a:t>
            </a:r>
            <a:r>
              <a:rPr lang="en-US" altLang="zh-CN" sz="1400" kern="100">
                <a:latin typeface="Times New Roman" panose="02020603050405020304" pitchFamily="18" charset="0"/>
                <a:cs typeface="Times New Roman" panose="02020603050405020304" pitchFamily="18" charset="0"/>
              </a:rPr>
              <a:t>10</a:t>
            </a:r>
            <a:r>
              <a:rPr lang="zh-CN" altLang="zh-CN" sz="1400" kern="100">
                <a:latin typeface="Times New Roman" panose="02020603050405020304" pitchFamily="18" charset="0"/>
                <a:cs typeface="Times New Roman" panose="02020603050405020304" pitchFamily="18" charset="0"/>
              </a:rPr>
              <a:t>的</a:t>
            </a:r>
            <a:r>
              <a:rPr lang="en-US" altLang="zh-CN" sz="1400" kern="100">
                <a:latin typeface="Times New Roman" panose="02020603050405020304" pitchFamily="18" charset="0"/>
                <a:cs typeface="Times New Roman" panose="02020603050405020304" pitchFamily="18" charset="0"/>
              </a:rPr>
              <a:t>d</a:t>
            </a:r>
            <a:r>
              <a:rPr lang="zh-CN" altLang="zh-CN" sz="1400" kern="100">
                <a:latin typeface="Times New Roman" panose="02020603050405020304" pitchFamily="18" charset="0"/>
                <a:cs typeface="Times New Roman" panose="02020603050405020304" pitchFamily="18" charset="0"/>
              </a:rPr>
              <a:t>维随机数组</a:t>
            </a:r>
            <a:r>
              <a:rPr lang="en-US" altLang="zh-CN" sz="1400" kern="100">
                <a:latin typeface="Times New Roman" panose="02020603050405020304" pitchFamily="18" charset="0"/>
                <a:cs typeface="Times New Roman" panose="02020603050405020304" pitchFamily="18" charset="0"/>
              </a:rPr>
              <a:t>,</a:t>
            </a:r>
            <a:r>
              <a:rPr lang="zh-CN" altLang="zh-CN" sz="1400" kern="100">
                <a:latin typeface="Times New Roman" panose="02020603050405020304" pitchFamily="18" charset="0"/>
                <a:cs typeface="Times New Roman" panose="02020603050405020304" pitchFamily="18" charset="0"/>
              </a:rPr>
              <a:t>应根据数据集调整上下界</a:t>
            </a:r>
          </a:p>
          <a:p>
            <a:pPr algn="just">
              <a:lnSpc>
                <a:spcPct val="100000"/>
              </a:lnSpc>
              <a:spcAft>
                <a:spcPts val="0"/>
              </a:spcAft>
            </a:pPr>
            <a:r>
              <a:rPr lang="en-US" altLang="zh-CN" sz="1400" kern="100">
                <a:latin typeface="Times New Roman" panose="02020603050405020304" pitchFamily="18" charset="0"/>
                <a:cs typeface="Times New Roman" panose="02020603050405020304" pitchFamily="18" charset="0"/>
              </a:rPr>
              <a:t>        centers.append(arr)</a:t>
            </a:r>
            <a:endParaRPr lang="zh-CN" altLang="zh-CN" sz="1400" kern="100">
              <a:latin typeface="Times New Roman" panose="02020603050405020304" pitchFamily="18" charset="0"/>
              <a:cs typeface="Times New Roman" panose="02020603050405020304" pitchFamily="18" charset="0"/>
            </a:endParaRPr>
          </a:p>
          <a:p>
            <a:pPr algn="just">
              <a:lnSpc>
                <a:spcPct val="100000"/>
              </a:lnSpc>
              <a:spcAft>
                <a:spcPts val="0"/>
              </a:spcAft>
            </a:pPr>
            <a:r>
              <a:rPr lang="en-US" altLang="zh-CN" sz="1400" kern="100">
                <a:latin typeface="Times New Roman" panose="02020603050405020304" pitchFamily="18" charset="0"/>
                <a:cs typeface="Times New Roman" panose="02020603050405020304" pitchFamily="18" charset="0"/>
              </a:rPr>
              <a:t>    #centers = [(4,5,2,3), (2,4,1,1),(5,4,4,3)]  #</a:t>
            </a:r>
            <a:r>
              <a:rPr lang="zh-CN" altLang="zh-CN" sz="1400" kern="100">
                <a:latin typeface="Times New Roman" panose="02020603050405020304" pitchFamily="18" charset="0"/>
                <a:cs typeface="Times New Roman" panose="02020603050405020304" pitchFamily="18" charset="0"/>
              </a:rPr>
              <a:t>人为设定</a:t>
            </a:r>
            <a:r>
              <a:rPr lang="en-US" altLang="zh-CN" sz="1400" kern="100">
                <a:latin typeface="Times New Roman" panose="02020603050405020304" pitchFamily="18" charset="0"/>
                <a:cs typeface="Times New Roman" panose="02020603050405020304" pitchFamily="18" charset="0"/>
              </a:rPr>
              <a:t>K</a:t>
            </a:r>
            <a:r>
              <a:rPr lang="zh-CN" altLang="zh-CN" sz="1400" kern="100">
                <a:latin typeface="Times New Roman" panose="02020603050405020304" pitchFamily="18" charset="0"/>
                <a:cs typeface="Times New Roman" panose="02020603050405020304" pitchFamily="18" charset="0"/>
              </a:rPr>
              <a:t>个初始簇中心</a:t>
            </a:r>
            <a:r>
              <a:rPr lang="en-US" altLang="zh-CN" sz="1400" kern="100">
                <a:latin typeface="Times New Roman" panose="02020603050405020304" pitchFamily="18" charset="0"/>
                <a:cs typeface="Times New Roman" panose="02020603050405020304" pitchFamily="18" charset="0"/>
              </a:rPr>
              <a:t>  </a:t>
            </a:r>
            <a:endParaRPr lang="zh-CN" altLang="zh-CN" sz="1400" kern="100">
              <a:latin typeface="Times New Roman" panose="02020603050405020304" pitchFamily="18" charset="0"/>
              <a:cs typeface="Times New Roman" panose="02020603050405020304" pitchFamily="18" charset="0"/>
            </a:endParaRPr>
          </a:p>
          <a:p>
            <a:pPr algn="just">
              <a:lnSpc>
                <a:spcPct val="100000"/>
              </a:lnSpc>
              <a:spcAft>
                <a:spcPts val="0"/>
              </a:spcAft>
            </a:pPr>
            <a:r>
              <a:rPr lang="en-US" altLang="zh-CN" sz="1400" kern="100">
                <a:latin typeface="Times New Roman" panose="02020603050405020304" pitchFamily="18" charset="0"/>
                <a:cs typeface="Times New Roman" panose="02020603050405020304" pitchFamily="18" charset="0"/>
              </a:rPr>
              <a:t>    index = -1</a:t>
            </a:r>
            <a:endParaRPr lang="zh-CN" altLang="zh-CN" sz="1400" kern="100">
              <a:latin typeface="Times New Roman" panose="02020603050405020304" pitchFamily="18" charset="0"/>
              <a:cs typeface="Times New Roman" panose="02020603050405020304" pitchFamily="18" charset="0"/>
            </a:endParaRPr>
          </a:p>
          <a:p>
            <a:pPr algn="just">
              <a:lnSpc>
                <a:spcPct val="100000"/>
              </a:lnSpc>
              <a:spcAft>
                <a:spcPts val="0"/>
              </a:spcAft>
            </a:pPr>
            <a:r>
              <a:rPr lang="en-US" altLang="zh-CN" sz="1400" kern="100">
                <a:latin typeface="Times New Roman" panose="02020603050405020304" pitchFamily="18" charset="0"/>
                <a:cs typeface="Times New Roman" panose="02020603050405020304" pitchFamily="18" charset="0"/>
              </a:rPr>
              <a:t>    for line in sys.stdin:</a:t>
            </a:r>
            <a:endParaRPr lang="zh-CN" altLang="zh-CN" sz="1400" kern="100">
              <a:latin typeface="Times New Roman" panose="02020603050405020304" pitchFamily="18" charset="0"/>
              <a:cs typeface="Times New Roman" panose="02020603050405020304" pitchFamily="18" charset="0"/>
            </a:endParaRPr>
          </a:p>
          <a:p>
            <a:pPr algn="just">
              <a:lnSpc>
                <a:spcPct val="100000"/>
              </a:lnSpc>
              <a:spcAft>
                <a:spcPts val="0"/>
              </a:spcAft>
            </a:pPr>
            <a:r>
              <a:rPr lang="en-US" altLang="zh-CN" sz="1400" kern="100">
                <a:latin typeface="Times New Roman" panose="02020603050405020304" pitchFamily="18" charset="0"/>
                <a:cs typeface="Times New Roman" panose="02020603050405020304" pitchFamily="18" charset="0"/>
              </a:rPr>
              <a:t>        instances = line.split(separator)           #</a:t>
            </a:r>
            <a:r>
              <a:rPr lang="zh-CN" altLang="zh-CN" sz="1400" kern="100">
                <a:latin typeface="Times New Roman" panose="02020603050405020304" pitchFamily="18" charset="0"/>
                <a:cs typeface="Times New Roman" panose="02020603050405020304" pitchFamily="18" charset="0"/>
              </a:rPr>
              <a:t>取一行数据</a:t>
            </a:r>
            <a:r>
              <a:rPr lang="en-US" altLang="zh-CN" sz="1400" kern="100">
                <a:latin typeface="Times New Roman" panose="02020603050405020304" pitchFamily="18" charset="0"/>
                <a:cs typeface="Times New Roman" panose="02020603050405020304" pitchFamily="18" charset="0"/>
              </a:rPr>
              <a:t>,</a:t>
            </a:r>
            <a:r>
              <a:rPr lang="zh-CN" altLang="zh-CN" sz="1400" kern="100">
                <a:latin typeface="Times New Roman" panose="02020603050405020304" pitchFamily="18" charset="0"/>
                <a:cs typeface="Times New Roman" panose="02020603050405020304" pitchFamily="18" charset="0"/>
              </a:rPr>
              <a:t>删除回车符</a:t>
            </a:r>
          </a:p>
          <a:p>
            <a:pPr algn="just">
              <a:lnSpc>
                <a:spcPct val="100000"/>
              </a:lnSpc>
              <a:spcAft>
                <a:spcPts val="0"/>
              </a:spcAft>
            </a:pPr>
            <a:r>
              <a:rPr lang="en-US" altLang="zh-CN" sz="1400" kern="100">
                <a:latin typeface="Times New Roman" panose="02020603050405020304" pitchFamily="18" charset="0"/>
                <a:cs typeface="Times New Roman" panose="02020603050405020304" pitchFamily="18" charset="0"/>
              </a:rPr>
              <a:t>        instance = instances[0].strip()             #</a:t>
            </a:r>
            <a:r>
              <a:rPr lang="zh-CN" altLang="zh-CN" sz="1400" kern="100">
                <a:latin typeface="Times New Roman" panose="02020603050405020304" pitchFamily="18" charset="0"/>
                <a:cs typeface="Times New Roman" panose="02020603050405020304" pitchFamily="18" charset="0"/>
              </a:rPr>
              <a:t>删除头尾空格等字符</a:t>
            </a:r>
            <a:r>
              <a:rPr lang="en-US" altLang="zh-CN" sz="1400" kern="100">
                <a:latin typeface="Times New Roman" panose="02020603050405020304" pitchFamily="18" charset="0"/>
                <a:cs typeface="Times New Roman" panose="02020603050405020304" pitchFamily="18" charset="0"/>
              </a:rPr>
              <a:t>   </a:t>
            </a:r>
            <a:endParaRPr lang="zh-CN" altLang="zh-CN" sz="1400" kern="100">
              <a:latin typeface="Times New Roman" panose="02020603050405020304" pitchFamily="18" charset="0"/>
              <a:cs typeface="Times New Roman" panose="02020603050405020304" pitchFamily="18" charset="0"/>
            </a:endParaRPr>
          </a:p>
          <a:p>
            <a:pPr algn="just">
              <a:lnSpc>
                <a:spcPct val="100000"/>
              </a:lnSpc>
              <a:spcAft>
                <a:spcPts val="0"/>
              </a:spcAft>
            </a:pPr>
            <a:r>
              <a:rPr lang="en-US" altLang="zh-CN" sz="1400" kern="100">
                <a:latin typeface="Times New Roman" panose="02020603050405020304" pitchFamily="18" charset="0"/>
                <a:cs typeface="Times New Roman" panose="02020603050405020304" pitchFamily="18" charset="0"/>
              </a:rPr>
              <a:t>        for i in range(0, len(centers)):</a:t>
            </a:r>
            <a:endParaRPr lang="zh-CN" altLang="zh-CN" sz="1400" kern="100">
              <a:latin typeface="Times New Roman" panose="02020603050405020304" pitchFamily="18" charset="0"/>
              <a:cs typeface="Times New Roman" panose="02020603050405020304" pitchFamily="18" charset="0"/>
            </a:endParaRPr>
          </a:p>
          <a:p>
            <a:pPr algn="just">
              <a:lnSpc>
                <a:spcPct val="100000"/>
              </a:lnSpc>
              <a:spcAft>
                <a:spcPts val="0"/>
              </a:spcAft>
            </a:pPr>
            <a:r>
              <a:rPr lang="en-US" altLang="zh-CN" sz="1400" kern="100">
                <a:latin typeface="Times New Roman" panose="02020603050405020304" pitchFamily="18" charset="0"/>
                <a:cs typeface="Times New Roman" panose="02020603050405020304" pitchFamily="18" charset="0"/>
              </a:rPr>
              <a:t>            dis = Distance(instance, centers[i])    #</a:t>
            </a:r>
            <a:r>
              <a:rPr lang="zh-CN" altLang="zh-CN" sz="1400" kern="100">
                <a:latin typeface="Times New Roman" panose="02020603050405020304" pitchFamily="18" charset="0"/>
                <a:cs typeface="Times New Roman" panose="02020603050405020304" pitchFamily="18" charset="0"/>
              </a:rPr>
              <a:t>遍历寻找距离最近的簇中心</a:t>
            </a:r>
          </a:p>
          <a:p>
            <a:pPr algn="just">
              <a:lnSpc>
                <a:spcPct val="100000"/>
              </a:lnSpc>
              <a:spcAft>
                <a:spcPts val="0"/>
              </a:spcAft>
            </a:pPr>
            <a:r>
              <a:rPr lang="en-US" altLang="zh-CN" sz="1400" kern="100">
                <a:latin typeface="Times New Roman" panose="02020603050405020304" pitchFamily="18" charset="0"/>
                <a:cs typeface="Times New Roman" panose="02020603050405020304" pitchFamily="18" charset="0"/>
              </a:rPr>
              <a:t>            if dis &lt; minDis:</a:t>
            </a:r>
            <a:endParaRPr lang="zh-CN" altLang="zh-CN" sz="1400" kern="100">
              <a:latin typeface="Times New Roman" panose="02020603050405020304" pitchFamily="18" charset="0"/>
              <a:cs typeface="Times New Roman" panose="02020603050405020304" pitchFamily="18" charset="0"/>
            </a:endParaRPr>
          </a:p>
          <a:p>
            <a:pPr algn="just">
              <a:lnSpc>
                <a:spcPct val="100000"/>
              </a:lnSpc>
              <a:spcAft>
                <a:spcPts val="0"/>
              </a:spcAft>
            </a:pPr>
            <a:r>
              <a:rPr lang="en-US" altLang="zh-CN" sz="1400" kern="100">
                <a:latin typeface="Times New Roman" panose="02020603050405020304" pitchFamily="18" charset="0"/>
                <a:cs typeface="Times New Roman" panose="02020603050405020304" pitchFamily="18" charset="0"/>
              </a:rPr>
              <a:t>                minDis = dis</a:t>
            </a:r>
            <a:endParaRPr lang="zh-CN" altLang="zh-CN" sz="1400" kern="100">
              <a:latin typeface="Times New Roman" panose="02020603050405020304" pitchFamily="18" charset="0"/>
              <a:cs typeface="Times New Roman" panose="02020603050405020304" pitchFamily="18" charset="0"/>
            </a:endParaRPr>
          </a:p>
          <a:p>
            <a:pPr algn="just">
              <a:lnSpc>
                <a:spcPct val="100000"/>
              </a:lnSpc>
              <a:spcAft>
                <a:spcPts val="0"/>
              </a:spcAft>
            </a:pPr>
            <a:r>
              <a:rPr lang="en-US" altLang="zh-CN" sz="1400" kern="100">
                <a:latin typeface="Times New Roman" panose="02020603050405020304" pitchFamily="18" charset="0"/>
                <a:cs typeface="Times New Roman" panose="02020603050405020304" pitchFamily="18" charset="0"/>
              </a:rPr>
              <a:t>                index = i</a:t>
            </a:r>
            <a:endParaRPr lang="zh-CN" altLang="zh-CN" sz="1400" kern="100">
              <a:latin typeface="Times New Roman" panose="02020603050405020304" pitchFamily="18" charset="0"/>
              <a:cs typeface="Times New Roman" panose="02020603050405020304" pitchFamily="18" charset="0"/>
            </a:endParaRPr>
          </a:p>
          <a:p>
            <a:pPr algn="just">
              <a:lnSpc>
                <a:spcPct val="100000"/>
              </a:lnSpc>
              <a:spcAft>
                <a:spcPts val="0"/>
              </a:spcAft>
            </a:pPr>
            <a:r>
              <a:rPr lang="en-US" altLang="zh-CN" sz="1400" kern="100">
                <a:latin typeface="Times New Roman" panose="02020603050405020304" pitchFamily="18" charset="0"/>
                <a:cs typeface="Times New Roman" panose="02020603050405020304" pitchFamily="18" charset="0"/>
              </a:rPr>
              <a:t>        print("%d%s%s" % (index, '\t', instance))        #</a:t>
            </a:r>
            <a:r>
              <a:rPr lang="zh-CN" altLang="zh-CN" sz="1400" kern="100">
                <a:latin typeface="Times New Roman" panose="02020603050405020304" pitchFamily="18" charset="0"/>
                <a:cs typeface="Times New Roman" panose="02020603050405020304" pitchFamily="18" charset="0"/>
              </a:rPr>
              <a:t>输出</a:t>
            </a:r>
            <a:r>
              <a:rPr lang="en-US" altLang="zh-CN" sz="1400" kern="100">
                <a:latin typeface="Times New Roman" panose="02020603050405020304" pitchFamily="18" charset="0"/>
                <a:cs typeface="Times New Roman" panose="02020603050405020304" pitchFamily="18" charset="0"/>
              </a:rPr>
              <a:t>&lt;Key:value&gt;(&lt;</a:t>
            </a:r>
            <a:r>
              <a:rPr lang="zh-CN" altLang="zh-CN" sz="1400" kern="100">
                <a:latin typeface="Times New Roman" panose="02020603050405020304" pitchFamily="18" charset="0"/>
                <a:cs typeface="Times New Roman" panose="02020603050405020304" pitchFamily="18" charset="0"/>
              </a:rPr>
              <a:t>簇中心编号</a:t>
            </a:r>
            <a:r>
              <a:rPr lang="en-US" altLang="zh-CN" sz="1400" kern="100">
                <a:latin typeface="Times New Roman" panose="02020603050405020304" pitchFamily="18" charset="0"/>
                <a:cs typeface="Times New Roman" panose="02020603050405020304" pitchFamily="18" charset="0"/>
              </a:rPr>
              <a:t>:</a:t>
            </a:r>
            <a:r>
              <a:rPr lang="zh-CN" altLang="zh-CN" sz="1400" kern="100">
                <a:latin typeface="Times New Roman" panose="02020603050405020304" pitchFamily="18" charset="0"/>
                <a:cs typeface="Times New Roman" panose="02020603050405020304" pitchFamily="18" charset="0"/>
              </a:rPr>
              <a:t>数据点</a:t>
            </a:r>
            <a:r>
              <a:rPr lang="en-US" altLang="zh-CN" sz="1400" kern="100">
                <a:latin typeface="Times New Roman" panose="02020603050405020304" pitchFamily="18" charset="0"/>
                <a:cs typeface="Times New Roman" panose="02020603050405020304" pitchFamily="18" charset="0"/>
              </a:rPr>
              <a:t>&gt;</a:t>
            </a:r>
            <a:r>
              <a:rPr lang="zh-CN" altLang="zh-CN" sz="1400" kern="100">
                <a:latin typeface="Times New Roman" panose="02020603050405020304" pitchFamily="18" charset="0"/>
                <a:cs typeface="Times New Roman" panose="02020603050405020304" pitchFamily="18" charset="0"/>
              </a:rPr>
              <a:t>）</a:t>
            </a:r>
            <a:r>
              <a:rPr lang="en-US" altLang="zh-CN" sz="1400" kern="100">
                <a:latin typeface="Times New Roman" panose="02020603050405020304" pitchFamily="18" charset="0"/>
                <a:cs typeface="Times New Roman" panose="02020603050405020304" pitchFamily="18" charset="0"/>
              </a:rPr>
              <a:t>       </a:t>
            </a:r>
            <a:endParaRPr lang="zh-CN" altLang="zh-CN" sz="1400" kern="100">
              <a:latin typeface="Times New Roman" panose="02020603050405020304" pitchFamily="18" charset="0"/>
              <a:cs typeface="Times New Roman" panose="02020603050405020304" pitchFamily="18" charset="0"/>
            </a:endParaRPr>
          </a:p>
          <a:p>
            <a:pPr algn="just">
              <a:lnSpc>
                <a:spcPct val="100000"/>
              </a:lnSpc>
              <a:spcAft>
                <a:spcPts val="0"/>
              </a:spcAft>
            </a:pPr>
            <a:r>
              <a:rPr lang="en-US" altLang="zh-CN" sz="1400" kern="100">
                <a:latin typeface="Times New Roman" panose="02020603050405020304" pitchFamily="18" charset="0"/>
                <a:cs typeface="Times New Roman" panose="02020603050405020304" pitchFamily="18" charset="0"/>
              </a:rPr>
              <a:t> </a:t>
            </a:r>
            <a:endParaRPr lang="zh-CN" altLang="zh-CN" sz="1400" kern="100">
              <a:latin typeface="Times New Roman" panose="02020603050405020304" pitchFamily="18" charset="0"/>
              <a:cs typeface="Times New Roman" panose="02020603050405020304" pitchFamily="18" charset="0"/>
            </a:endParaRPr>
          </a:p>
          <a:p>
            <a:pPr algn="just">
              <a:lnSpc>
                <a:spcPct val="100000"/>
              </a:lnSpc>
              <a:spcAft>
                <a:spcPts val="0"/>
              </a:spcAft>
            </a:pPr>
            <a:r>
              <a:rPr lang="en-US" altLang="zh-CN" sz="1400" kern="100">
                <a:latin typeface="Times New Roman" panose="02020603050405020304" pitchFamily="18" charset="0"/>
                <a:cs typeface="Times New Roman" panose="02020603050405020304" pitchFamily="18" charset="0"/>
              </a:rPr>
              <a:t>if __name__ == "__main__":</a:t>
            </a:r>
            <a:endParaRPr lang="zh-CN" altLang="zh-CN" sz="1400" kern="100">
              <a:latin typeface="Times New Roman" panose="02020603050405020304" pitchFamily="18" charset="0"/>
              <a:cs typeface="Times New Roman" panose="02020603050405020304" pitchFamily="18" charset="0"/>
            </a:endParaRPr>
          </a:p>
          <a:p>
            <a:pPr algn="just">
              <a:lnSpc>
                <a:spcPct val="100000"/>
              </a:lnSpc>
              <a:spcAft>
                <a:spcPts val="0"/>
              </a:spcAft>
            </a:pPr>
            <a:r>
              <a:rPr lang="en-US" altLang="zh-CN" sz="1400" kern="100">
                <a:latin typeface="Times New Roman" panose="02020603050405020304" pitchFamily="18" charset="0"/>
                <a:cs typeface="Times New Roman" panose="02020603050405020304" pitchFamily="18" charset="0"/>
              </a:rPr>
              <a:t>    Mapper(d=4, k=3)       #</a:t>
            </a:r>
            <a:r>
              <a:rPr lang="zh-CN" altLang="zh-CN" sz="1400" kern="100">
                <a:latin typeface="Times New Roman" panose="02020603050405020304" pitchFamily="18" charset="0"/>
                <a:cs typeface="Times New Roman" panose="02020603050405020304" pitchFamily="18" charset="0"/>
              </a:rPr>
              <a:t>应根据数据集调整</a:t>
            </a:r>
            <a:r>
              <a:rPr lang="en-US" altLang="zh-CN" sz="1400" kern="100">
                <a:latin typeface="Times New Roman" panose="02020603050405020304" pitchFamily="18" charset="0"/>
                <a:cs typeface="Times New Roman" panose="02020603050405020304" pitchFamily="18" charset="0"/>
              </a:rPr>
              <a:t>d</a:t>
            </a:r>
            <a:r>
              <a:rPr lang="zh-CN" altLang="zh-CN" sz="1400" kern="100">
                <a:latin typeface="Times New Roman" panose="02020603050405020304" pitchFamily="18" charset="0"/>
                <a:cs typeface="Times New Roman" panose="02020603050405020304" pitchFamily="18" charset="0"/>
              </a:rPr>
              <a:t>和</a:t>
            </a:r>
            <a:r>
              <a:rPr lang="en-US" altLang="zh-CN" sz="1400" kern="100">
                <a:latin typeface="Times New Roman" panose="02020603050405020304" pitchFamily="18" charset="0"/>
                <a:cs typeface="Times New Roman" panose="02020603050405020304" pitchFamily="18" charset="0"/>
              </a:rPr>
              <a:t>k</a:t>
            </a:r>
            <a:r>
              <a:rPr lang="zh-CN" altLang="zh-CN" sz="1400" kern="100">
                <a:latin typeface="Times New Roman" panose="02020603050405020304" pitchFamily="18" charset="0"/>
                <a:cs typeface="Times New Roman" panose="02020603050405020304" pitchFamily="18" charset="0"/>
              </a:rPr>
              <a:t>值</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8.5.1基于MapReduce的K-Means聚类算法</a:t>
            </a:r>
          </a:p>
        </p:txBody>
      </p:sp>
      <p:sp>
        <p:nvSpPr>
          <p:cNvPr id="3" name="文本框 2"/>
          <p:cNvSpPr txBox="1"/>
          <p:nvPr/>
        </p:nvSpPr>
        <p:spPr>
          <a:xfrm>
            <a:off x="6118501" y="324906"/>
            <a:ext cx="2930470" cy="458715"/>
          </a:xfrm>
          <a:prstGeom prst="rect">
            <a:avLst/>
          </a:prstGeom>
          <a:noFill/>
        </p:spPr>
        <p:txBody>
          <a:bodyPr wrap="square" rtlCol="0" anchor="t">
            <a:spAutoFit/>
          </a:bodyPr>
          <a:lstStyle/>
          <a:p>
            <a:pPr>
              <a:lnSpc>
                <a:spcPct val="130000"/>
              </a:lnSpc>
              <a:spcBef>
                <a:spcPts val="0"/>
              </a:spcBef>
              <a:spcAft>
                <a:spcPts val="0"/>
              </a:spcAft>
            </a:pPr>
            <a:r>
              <a:rPr lang="zh-CN" altLang="en-US" sz="2000" b="1"/>
              <a:t>（</a:t>
            </a:r>
            <a:r>
              <a:rPr lang="en-US" altLang="zh-CN" sz="2000" b="1"/>
              <a:t>2</a:t>
            </a:r>
            <a:r>
              <a:rPr sz="2000" b="1"/>
              <a:t>）</a:t>
            </a:r>
            <a:r>
              <a:rPr lang="en-US" sz="2000" b="1"/>
              <a:t>Combiner</a:t>
            </a:r>
            <a:r>
              <a:rPr lang="zh-CN" altLang="en-US" sz="2000" b="1"/>
              <a:t>函数</a:t>
            </a:r>
            <a:endParaRPr sz="2000" b="1"/>
          </a:p>
        </p:txBody>
      </p:sp>
      <p:sp>
        <p:nvSpPr>
          <p:cNvPr id="8" name="矩形 7">
            <a:extLst>
              <a:ext uri="{FF2B5EF4-FFF2-40B4-BE49-F238E27FC236}">
                <a16:creationId xmlns:a16="http://schemas.microsoft.com/office/drawing/2014/main" id="{F2E38138-99F7-4CD9-B94C-C9C457EC4644}"/>
              </a:ext>
            </a:extLst>
          </p:cNvPr>
          <p:cNvSpPr/>
          <p:nvPr/>
        </p:nvSpPr>
        <p:spPr>
          <a:xfrm>
            <a:off x="618889" y="838391"/>
            <a:ext cx="7116445" cy="430887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lnSpc>
                <a:spcPct val="120000"/>
              </a:lnSpc>
              <a:spcAft>
                <a:spcPts val="0"/>
              </a:spcAft>
            </a:pPr>
            <a:r>
              <a:rPr lang="en-US" altLang="zh-CN" sz="1000" kern="100">
                <a:latin typeface="+mn-ea"/>
                <a:cs typeface="Times New Roman" panose="02020603050405020304" pitchFamily="18" charset="0"/>
              </a:rPr>
              <a:t>#!/usr/bin/python3.6</a:t>
            </a:r>
            <a:endParaRPr lang="zh-CN" altLang="zh-CN" sz="1000" kern="100">
              <a:latin typeface="+mn-ea"/>
              <a:cs typeface="Times New Roman" panose="02020603050405020304" pitchFamily="18" charset="0"/>
            </a:endParaRPr>
          </a:p>
          <a:p>
            <a:pPr algn="just">
              <a:lnSpc>
                <a:spcPct val="120000"/>
              </a:lnSpc>
              <a:spcAft>
                <a:spcPts val="0"/>
              </a:spcAft>
            </a:pPr>
            <a:r>
              <a:rPr lang="en-US" altLang="zh-CN" sz="1000" kern="100">
                <a:latin typeface="+mn-ea"/>
                <a:cs typeface="Times New Roman" panose="02020603050405020304" pitchFamily="18" charset="0"/>
              </a:rPr>
              <a:t>import sys</a:t>
            </a:r>
            <a:endParaRPr lang="zh-CN" altLang="zh-CN" sz="1000" kern="100">
              <a:latin typeface="+mn-ea"/>
              <a:cs typeface="Times New Roman" panose="02020603050405020304" pitchFamily="18" charset="0"/>
            </a:endParaRPr>
          </a:p>
          <a:p>
            <a:pPr algn="just">
              <a:lnSpc>
                <a:spcPct val="120000"/>
              </a:lnSpc>
              <a:spcAft>
                <a:spcPts val="0"/>
              </a:spcAft>
            </a:pPr>
            <a:r>
              <a:rPr lang="en-US" altLang="zh-CN" sz="1000" kern="100">
                <a:latin typeface="+mn-ea"/>
                <a:cs typeface="Times New Roman" panose="02020603050405020304" pitchFamily="18" charset="0"/>
              </a:rPr>
              <a:t>import numpy as np</a:t>
            </a:r>
            <a:endParaRPr lang="zh-CN" altLang="zh-CN" sz="1000" kern="100">
              <a:latin typeface="+mn-ea"/>
              <a:cs typeface="Times New Roman" panose="02020603050405020304" pitchFamily="18" charset="0"/>
            </a:endParaRPr>
          </a:p>
          <a:p>
            <a:pPr algn="just">
              <a:lnSpc>
                <a:spcPct val="120000"/>
              </a:lnSpc>
              <a:spcAft>
                <a:spcPts val="0"/>
              </a:spcAft>
            </a:pPr>
            <a:r>
              <a:rPr lang="en-US" altLang="zh-CN" sz="1000" kern="100">
                <a:latin typeface="+mn-ea"/>
                <a:cs typeface="Times New Roman" panose="02020603050405020304" pitchFamily="18" charset="0"/>
              </a:rPr>
              <a:t> </a:t>
            </a:r>
            <a:endParaRPr lang="zh-CN" altLang="zh-CN" sz="1000" kern="100">
              <a:latin typeface="+mn-ea"/>
              <a:cs typeface="Times New Roman" panose="02020603050405020304" pitchFamily="18" charset="0"/>
            </a:endParaRPr>
          </a:p>
          <a:p>
            <a:pPr algn="just">
              <a:lnSpc>
                <a:spcPct val="120000"/>
              </a:lnSpc>
              <a:spcAft>
                <a:spcPts val="0"/>
              </a:spcAft>
            </a:pPr>
            <a:r>
              <a:rPr lang="en-US" altLang="zh-CN" sz="1000" kern="100">
                <a:latin typeface="+mn-ea"/>
                <a:cs typeface="Times New Roman" panose="02020603050405020304" pitchFamily="18" charset="0"/>
              </a:rPr>
              <a:t>def Combiner(d, separator='\t'):        #d</a:t>
            </a:r>
            <a:r>
              <a:rPr lang="zh-CN" altLang="zh-CN" sz="1000" kern="100">
                <a:latin typeface="+mn-ea"/>
                <a:cs typeface="Times New Roman" panose="02020603050405020304" pitchFamily="18" charset="0"/>
              </a:rPr>
              <a:t>为样本属性数</a:t>
            </a:r>
          </a:p>
          <a:p>
            <a:pPr algn="just">
              <a:lnSpc>
                <a:spcPct val="120000"/>
              </a:lnSpc>
              <a:spcAft>
                <a:spcPts val="0"/>
              </a:spcAft>
            </a:pPr>
            <a:r>
              <a:rPr lang="en-US" altLang="zh-CN" sz="1000" kern="100">
                <a:latin typeface="+mn-ea"/>
                <a:cs typeface="Times New Roman" panose="02020603050405020304" pitchFamily="18" charset="0"/>
              </a:rPr>
              <a:t>    values = {}</a:t>
            </a:r>
            <a:endParaRPr lang="zh-CN" altLang="zh-CN" sz="1000" kern="100">
              <a:latin typeface="+mn-ea"/>
              <a:cs typeface="Times New Roman" panose="02020603050405020304" pitchFamily="18" charset="0"/>
            </a:endParaRPr>
          </a:p>
          <a:p>
            <a:pPr algn="just">
              <a:lnSpc>
                <a:spcPct val="120000"/>
              </a:lnSpc>
              <a:spcAft>
                <a:spcPts val="0"/>
              </a:spcAft>
            </a:pPr>
            <a:r>
              <a:rPr lang="en-US" altLang="zh-CN" sz="1000" kern="100">
                <a:latin typeface="+mn-ea"/>
                <a:cs typeface="Times New Roman" panose="02020603050405020304" pitchFamily="18" charset="0"/>
              </a:rPr>
              <a:t>    num = {}</a:t>
            </a:r>
            <a:endParaRPr lang="zh-CN" altLang="zh-CN" sz="1000" kern="100">
              <a:latin typeface="+mn-ea"/>
              <a:cs typeface="Times New Roman" panose="02020603050405020304" pitchFamily="18" charset="0"/>
            </a:endParaRPr>
          </a:p>
          <a:p>
            <a:pPr algn="just">
              <a:lnSpc>
                <a:spcPct val="120000"/>
              </a:lnSpc>
              <a:spcAft>
                <a:spcPts val="0"/>
              </a:spcAft>
            </a:pPr>
            <a:r>
              <a:rPr lang="en-US" altLang="zh-CN" sz="1000" kern="100">
                <a:latin typeface="+mn-ea"/>
                <a:cs typeface="Times New Roman" panose="02020603050405020304" pitchFamily="18" charset="0"/>
              </a:rPr>
              <a:t>    keys = []</a:t>
            </a:r>
            <a:endParaRPr lang="zh-CN" altLang="zh-CN" sz="1000" kern="100">
              <a:latin typeface="+mn-ea"/>
              <a:cs typeface="Times New Roman" panose="02020603050405020304" pitchFamily="18" charset="0"/>
            </a:endParaRPr>
          </a:p>
          <a:p>
            <a:pPr algn="just">
              <a:lnSpc>
                <a:spcPct val="120000"/>
              </a:lnSpc>
              <a:spcAft>
                <a:spcPts val="0"/>
              </a:spcAft>
            </a:pPr>
            <a:r>
              <a:rPr lang="en-US" altLang="zh-CN" sz="1000" kern="100">
                <a:latin typeface="+mn-ea"/>
                <a:cs typeface="Times New Roman" panose="02020603050405020304" pitchFamily="18" charset="0"/>
              </a:rPr>
              <a:t>    for line in sys.stdin:</a:t>
            </a:r>
            <a:endParaRPr lang="zh-CN" altLang="zh-CN" sz="1000" kern="100">
              <a:latin typeface="+mn-ea"/>
              <a:cs typeface="Times New Roman" panose="02020603050405020304" pitchFamily="18" charset="0"/>
            </a:endParaRPr>
          </a:p>
          <a:p>
            <a:pPr algn="just">
              <a:lnSpc>
                <a:spcPct val="120000"/>
              </a:lnSpc>
              <a:spcAft>
                <a:spcPts val="0"/>
              </a:spcAft>
            </a:pPr>
            <a:r>
              <a:rPr lang="en-US" altLang="zh-CN" sz="1000" kern="100">
                <a:latin typeface="+mn-ea"/>
                <a:cs typeface="Times New Roman" panose="02020603050405020304" pitchFamily="18" charset="0"/>
              </a:rPr>
              <a:t>        line = line.strip()</a:t>
            </a:r>
            <a:endParaRPr lang="zh-CN" altLang="zh-CN" sz="1000" kern="100">
              <a:latin typeface="+mn-ea"/>
              <a:cs typeface="Times New Roman" panose="02020603050405020304" pitchFamily="18" charset="0"/>
            </a:endParaRPr>
          </a:p>
          <a:p>
            <a:pPr algn="just">
              <a:lnSpc>
                <a:spcPct val="120000"/>
              </a:lnSpc>
              <a:spcAft>
                <a:spcPts val="0"/>
              </a:spcAft>
            </a:pPr>
            <a:r>
              <a:rPr lang="en-US" altLang="zh-CN" sz="1000" kern="100">
                <a:latin typeface="+mn-ea"/>
                <a:cs typeface="Times New Roman" panose="02020603050405020304" pitchFamily="18" charset="0"/>
              </a:rPr>
              <a:t>        key, value = line.split(separator, 1)           # </a:t>
            </a:r>
            <a:r>
              <a:rPr lang="zh-CN" altLang="zh-CN" sz="1000" kern="100">
                <a:latin typeface="+mn-ea"/>
                <a:cs typeface="Times New Roman" panose="02020603050405020304" pitchFamily="18" charset="0"/>
              </a:rPr>
              <a:t>获取</a:t>
            </a:r>
            <a:r>
              <a:rPr lang="en-US" altLang="zh-CN" sz="1000" kern="100">
                <a:latin typeface="+mn-ea"/>
                <a:cs typeface="Times New Roman" panose="02020603050405020304" pitchFamily="18" charset="0"/>
              </a:rPr>
              <a:t>mapper</a:t>
            </a:r>
            <a:r>
              <a:rPr lang="zh-CN" altLang="zh-CN" sz="1000" kern="100">
                <a:latin typeface="+mn-ea"/>
                <a:cs typeface="Times New Roman" panose="02020603050405020304" pitchFamily="18" charset="0"/>
              </a:rPr>
              <a:t>簇中心索引与对象</a:t>
            </a:r>
          </a:p>
          <a:p>
            <a:pPr algn="just">
              <a:lnSpc>
                <a:spcPct val="120000"/>
              </a:lnSpc>
              <a:spcAft>
                <a:spcPts val="0"/>
              </a:spcAft>
            </a:pPr>
            <a:r>
              <a:rPr lang="en-US" altLang="zh-CN" sz="1000" kern="100">
                <a:latin typeface="+mn-ea"/>
                <a:cs typeface="Times New Roman" panose="02020603050405020304" pitchFamily="18" charset="0"/>
              </a:rPr>
              <a:t>        value = np.array(eval(value)).astype(np.float)  # </a:t>
            </a:r>
            <a:r>
              <a:rPr lang="zh-CN" altLang="zh-CN" sz="1000" kern="100">
                <a:latin typeface="+mn-ea"/>
                <a:cs typeface="Times New Roman" panose="02020603050405020304" pitchFamily="18" charset="0"/>
              </a:rPr>
              <a:t>将样本字符串</a:t>
            </a:r>
            <a:r>
              <a:rPr lang="en-US" altLang="zh-CN" sz="1000" kern="100">
                <a:latin typeface="+mn-ea"/>
                <a:cs typeface="Times New Roman" panose="02020603050405020304" pitchFamily="18" charset="0"/>
              </a:rPr>
              <a:t>-&gt;</a:t>
            </a:r>
            <a:r>
              <a:rPr lang="zh-CN" altLang="zh-CN" sz="1000" kern="100">
                <a:latin typeface="+mn-ea"/>
                <a:cs typeface="Times New Roman" panose="02020603050405020304" pitchFamily="18" charset="0"/>
              </a:rPr>
              <a:t>数组</a:t>
            </a:r>
            <a:r>
              <a:rPr lang="en-US" altLang="zh-CN" sz="1000" kern="100">
                <a:latin typeface="+mn-ea"/>
                <a:cs typeface="Times New Roman" panose="02020603050405020304" pitchFamily="18" charset="0"/>
              </a:rPr>
              <a:t>-&gt;</a:t>
            </a:r>
            <a:r>
              <a:rPr lang="zh-CN" altLang="zh-CN" sz="1000" kern="100">
                <a:latin typeface="+mn-ea"/>
                <a:cs typeface="Times New Roman" panose="02020603050405020304" pitchFamily="18" charset="0"/>
              </a:rPr>
              <a:t>向量化</a:t>
            </a:r>
            <a:r>
              <a:rPr lang="en-US" altLang="zh-CN" sz="1000" kern="100">
                <a:latin typeface="+mn-ea"/>
                <a:cs typeface="Times New Roman" panose="02020603050405020304" pitchFamily="18" charset="0"/>
              </a:rPr>
              <a:t>       </a:t>
            </a:r>
            <a:endParaRPr lang="zh-CN" altLang="zh-CN" sz="1000" kern="100">
              <a:latin typeface="+mn-ea"/>
              <a:cs typeface="Times New Roman" panose="02020603050405020304" pitchFamily="18" charset="0"/>
            </a:endParaRPr>
          </a:p>
          <a:p>
            <a:pPr algn="just">
              <a:lnSpc>
                <a:spcPct val="120000"/>
              </a:lnSpc>
              <a:spcAft>
                <a:spcPts val="0"/>
              </a:spcAft>
            </a:pPr>
            <a:r>
              <a:rPr lang="en-US" altLang="zh-CN" sz="1000" kern="100">
                <a:latin typeface="+mn-ea"/>
                <a:cs typeface="Times New Roman" panose="02020603050405020304" pitchFamily="18" charset="0"/>
              </a:rPr>
              <a:t>        keys.append(key)</a:t>
            </a:r>
            <a:endParaRPr lang="zh-CN" altLang="zh-CN" sz="1000" kern="100">
              <a:latin typeface="+mn-ea"/>
              <a:cs typeface="Times New Roman" panose="02020603050405020304" pitchFamily="18" charset="0"/>
            </a:endParaRPr>
          </a:p>
          <a:p>
            <a:pPr algn="just">
              <a:lnSpc>
                <a:spcPct val="120000"/>
              </a:lnSpc>
              <a:spcAft>
                <a:spcPts val="0"/>
              </a:spcAft>
            </a:pPr>
            <a:r>
              <a:rPr lang="en-US" altLang="zh-CN" sz="1000" kern="100">
                <a:latin typeface="+mn-ea"/>
                <a:cs typeface="Times New Roman" panose="02020603050405020304" pitchFamily="18" charset="0"/>
              </a:rPr>
              <a:t>        p = np.zeros(d)    </a:t>
            </a:r>
            <a:endParaRPr lang="zh-CN" altLang="zh-CN" sz="1000" kern="100">
              <a:latin typeface="+mn-ea"/>
              <a:cs typeface="Times New Roman" panose="02020603050405020304" pitchFamily="18" charset="0"/>
            </a:endParaRPr>
          </a:p>
          <a:p>
            <a:pPr algn="just">
              <a:lnSpc>
                <a:spcPct val="120000"/>
              </a:lnSpc>
              <a:spcAft>
                <a:spcPts val="0"/>
              </a:spcAft>
            </a:pPr>
            <a:r>
              <a:rPr lang="en-US" altLang="zh-CN" sz="1000" kern="100">
                <a:latin typeface="+mn-ea"/>
                <a:cs typeface="Times New Roman" panose="02020603050405020304" pitchFamily="18" charset="0"/>
              </a:rPr>
              <a:t>        # </a:t>
            </a:r>
            <a:r>
              <a:rPr lang="zh-CN" altLang="zh-CN" sz="1000" kern="100">
                <a:latin typeface="+mn-ea"/>
                <a:cs typeface="Times New Roman" panose="02020603050405020304" pitchFamily="18" charset="0"/>
              </a:rPr>
              <a:t>取字典中</a:t>
            </a:r>
            <a:r>
              <a:rPr lang="en-US" altLang="zh-CN" sz="1000" kern="100">
                <a:latin typeface="+mn-ea"/>
                <a:cs typeface="Times New Roman" panose="02020603050405020304" pitchFamily="18" charset="0"/>
              </a:rPr>
              <a:t>key</a:t>
            </a:r>
            <a:r>
              <a:rPr lang="zh-CN" altLang="zh-CN" sz="1000" kern="100">
                <a:latin typeface="+mn-ea"/>
                <a:cs typeface="Times New Roman" panose="02020603050405020304" pitchFamily="18" charset="0"/>
              </a:rPr>
              <a:t>的值</a:t>
            </a:r>
            <a:r>
              <a:rPr lang="en-US" altLang="zh-CN" sz="1000" kern="100">
                <a:latin typeface="+mn-ea"/>
                <a:cs typeface="Times New Roman" panose="02020603050405020304" pitchFamily="18" charset="0"/>
              </a:rPr>
              <a:t>(</a:t>
            </a:r>
            <a:r>
              <a:rPr lang="zh-CN" altLang="zh-CN" sz="1000" kern="100">
                <a:latin typeface="+mn-ea"/>
                <a:cs typeface="Times New Roman" panose="02020603050405020304" pitchFamily="18" charset="0"/>
              </a:rPr>
              <a:t>不存在</a:t>
            </a:r>
            <a:r>
              <a:rPr lang="en-US" altLang="zh-CN" sz="1000" kern="100">
                <a:latin typeface="+mn-ea"/>
                <a:cs typeface="Times New Roman" panose="02020603050405020304" pitchFamily="18" charset="0"/>
              </a:rPr>
              <a:t>key</a:t>
            </a:r>
            <a:r>
              <a:rPr lang="zh-CN" altLang="zh-CN" sz="1000" kern="100">
                <a:latin typeface="+mn-ea"/>
                <a:cs typeface="Times New Roman" panose="02020603050405020304" pitchFamily="18" charset="0"/>
              </a:rPr>
              <a:t>，则取</a:t>
            </a:r>
            <a:r>
              <a:rPr lang="en-US" altLang="zh-CN" sz="1000" kern="100">
                <a:latin typeface="+mn-ea"/>
                <a:cs typeface="Times New Roman" panose="02020603050405020304" pitchFamily="18" charset="0"/>
              </a:rPr>
              <a:t>p</a:t>
            </a:r>
            <a:r>
              <a:rPr lang="zh-CN" altLang="zh-CN" sz="1000" kern="100">
                <a:latin typeface="+mn-ea"/>
                <a:cs typeface="Times New Roman" panose="02020603050405020304" pitchFamily="18" charset="0"/>
              </a:rPr>
              <a:t>值</a:t>
            </a:r>
            <a:r>
              <a:rPr lang="en-US" altLang="zh-CN" sz="1000" kern="100">
                <a:latin typeface="+mn-ea"/>
                <a:cs typeface="Times New Roman" panose="02020603050405020304" pitchFamily="18" charset="0"/>
              </a:rPr>
              <a:t>(</a:t>
            </a:r>
            <a:r>
              <a:rPr lang="zh-CN" altLang="en-US" sz="1000" kern="100">
                <a:latin typeface="+mn-ea"/>
                <a:cs typeface="Times New Roman" panose="02020603050405020304" pitchFamily="18" charset="0"/>
              </a:rPr>
              <a:t>默认值</a:t>
            </a:r>
            <a:r>
              <a:rPr lang="en-US" altLang="zh-CN" sz="1000" kern="100">
                <a:latin typeface="+mn-ea"/>
                <a:cs typeface="Times New Roman" panose="02020603050405020304" pitchFamily="18" charset="0"/>
              </a:rPr>
              <a:t>))</a:t>
            </a:r>
            <a:r>
              <a:rPr lang="zh-CN" altLang="zh-CN" sz="1000" kern="100">
                <a:latin typeface="+mn-ea"/>
                <a:cs typeface="Times New Roman" panose="02020603050405020304" pitchFamily="18" charset="0"/>
              </a:rPr>
              <a:t>，再相加</a:t>
            </a:r>
          </a:p>
          <a:p>
            <a:pPr algn="just">
              <a:lnSpc>
                <a:spcPct val="120000"/>
              </a:lnSpc>
              <a:spcAft>
                <a:spcPts val="0"/>
              </a:spcAft>
            </a:pPr>
            <a:r>
              <a:rPr lang="en-US" altLang="zh-CN" sz="1000" kern="100">
                <a:latin typeface="+mn-ea"/>
                <a:cs typeface="Times New Roman" panose="02020603050405020304" pitchFamily="18" charset="0"/>
              </a:rPr>
              <a:t>        values[key] = values.get(key, p.astype(np.float)) + value        </a:t>
            </a:r>
            <a:endParaRPr lang="zh-CN" altLang="zh-CN" sz="1000" kern="100">
              <a:latin typeface="+mn-ea"/>
              <a:cs typeface="Times New Roman" panose="02020603050405020304" pitchFamily="18" charset="0"/>
            </a:endParaRPr>
          </a:p>
          <a:p>
            <a:pPr algn="just">
              <a:lnSpc>
                <a:spcPct val="120000"/>
              </a:lnSpc>
              <a:spcAft>
                <a:spcPts val="0"/>
              </a:spcAft>
            </a:pPr>
            <a:r>
              <a:rPr lang="en-US" altLang="zh-CN" sz="1000" kern="100">
                <a:latin typeface="+mn-ea"/>
                <a:cs typeface="Times New Roman" panose="02020603050405020304" pitchFamily="18" charset="0"/>
              </a:rPr>
              <a:t>        num[key] = num.get(key, 0) + 1   </a:t>
            </a:r>
            <a:endParaRPr lang="zh-CN" altLang="zh-CN" sz="1000" kern="100">
              <a:latin typeface="+mn-ea"/>
              <a:cs typeface="Times New Roman" panose="02020603050405020304" pitchFamily="18" charset="0"/>
            </a:endParaRPr>
          </a:p>
          <a:p>
            <a:pPr algn="just">
              <a:lnSpc>
                <a:spcPct val="120000"/>
              </a:lnSpc>
              <a:spcAft>
                <a:spcPts val="0"/>
              </a:spcAft>
            </a:pPr>
            <a:r>
              <a:rPr lang="en-US" altLang="zh-CN" sz="1000" kern="100">
                <a:latin typeface="+mn-ea"/>
                <a:cs typeface="Times New Roman" panose="02020603050405020304" pitchFamily="18" charset="0"/>
              </a:rPr>
              <a:t>    for key in set(keys):</a:t>
            </a:r>
            <a:endParaRPr lang="zh-CN" altLang="zh-CN" sz="1000" kern="100">
              <a:latin typeface="+mn-ea"/>
              <a:cs typeface="Times New Roman" panose="02020603050405020304" pitchFamily="18" charset="0"/>
            </a:endParaRPr>
          </a:p>
          <a:p>
            <a:pPr algn="just">
              <a:lnSpc>
                <a:spcPct val="120000"/>
              </a:lnSpc>
              <a:spcAft>
                <a:spcPts val="0"/>
              </a:spcAft>
            </a:pPr>
            <a:r>
              <a:rPr lang="en-US" altLang="zh-CN" sz="1000" kern="100">
                <a:latin typeface="+mn-ea"/>
                <a:cs typeface="Times New Roman" panose="02020603050405020304" pitchFamily="18" charset="0"/>
              </a:rPr>
              <a:t>        print("%s%s%s%s%s" % (key, separator, str(tuple(values[key])), separator, num[key]))  </a:t>
            </a:r>
            <a:endParaRPr lang="zh-CN" altLang="zh-CN" sz="1000" kern="100">
              <a:latin typeface="+mn-ea"/>
              <a:cs typeface="Times New Roman" panose="02020603050405020304" pitchFamily="18" charset="0"/>
            </a:endParaRPr>
          </a:p>
          <a:p>
            <a:pPr indent="457200" algn="just">
              <a:lnSpc>
                <a:spcPct val="120000"/>
              </a:lnSpc>
              <a:spcAft>
                <a:spcPts val="0"/>
              </a:spcAft>
            </a:pPr>
            <a:r>
              <a:rPr lang="en-US" altLang="zh-CN" sz="1000" kern="100">
                <a:latin typeface="+mn-ea"/>
                <a:cs typeface="Times New Roman" panose="02020603050405020304" pitchFamily="18" charset="0"/>
              </a:rPr>
              <a:t>#</a:t>
            </a:r>
            <a:r>
              <a:rPr lang="zh-CN" altLang="zh-CN" sz="1000" kern="100">
                <a:latin typeface="+mn-ea"/>
                <a:cs typeface="Times New Roman" panose="02020603050405020304" pitchFamily="18" charset="0"/>
              </a:rPr>
              <a:t>将向量</a:t>
            </a:r>
            <a:r>
              <a:rPr lang="en-US" altLang="zh-CN" sz="1000" kern="100">
                <a:latin typeface="+mn-ea"/>
                <a:cs typeface="Times New Roman" panose="02020603050405020304" pitchFamily="18" charset="0"/>
              </a:rPr>
              <a:t>-&gt;</a:t>
            </a:r>
            <a:r>
              <a:rPr lang="zh-CN" altLang="zh-CN" sz="1000" kern="100">
                <a:latin typeface="+mn-ea"/>
                <a:cs typeface="Times New Roman" panose="02020603050405020304" pitchFamily="18" charset="0"/>
              </a:rPr>
              <a:t>元组</a:t>
            </a:r>
            <a:r>
              <a:rPr lang="en-US" altLang="zh-CN" sz="1000" kern="100">
                <a:latin typeface="+mn-ea"/>
                <a:cs typeface="Times New Roman" panose="02020603050405020304" pitchFamily="18" charset="0"/>
              </a:rPr>
              <a:t>-&gt;</a:t>
            </a:r>
            <a:r>
              <a:rPr lang="zh-CN" altLang="zh-CN" sz="1000" kern="100">
                <a:latin typeface="+mn-ea"/>
                <a:cs typeface="Times New Roman" panose="02020603050405020304" pitchFamily="18" charset="0"/>
              </a:rPr>
              <a:t>字符串</a:t>
            </a:r>
          </a:p>
          <a:p>
            <a:pPr algn="just">
              <a:lnSpc>
                <a:spcPct val="120000"/>
              </a:lnSpc>
              <a:spcAft>
                <a:spcPts val="0"/>
              </a:spcAft>
            </a:pPr>
            <a:endParaRPr lang="zh-CN" altLang="zh-CN" sz="1000" kern="100">
              <a:latin typeface="+mn-ea"/>
              <a:cs typeface="Times New Roman" panose="02020603050405020304" pitchFamily="18" charset="0"/>
            </a:endParaRPr>
          </a:p>
          <a:p>
            <a:pPr algn="just">
              <a:lnSpc>
                <a:spcPct val="120000"/>
              </a:lnSpc>
              <a:spcAft>
                <a:spcPts val="0"/>
              </a:spcAft>
            </a:pPr>
            <a:r>
              <a:rPr lang="en-US" altLang="zh-CN" sz="1000" kern="100">
                <a:latin typeface="+mn-ea"/>
                <a:cs typeface="Times New Roman" panose="02020603050405020304" pitchFamily="18" charset="0"/>
              </a:rPr>
              <a:t>if __name__ == '__main__':</a:t>
            </a:r>
            <a:endParaRPr lang="zh-CN" altLang="zh-CN" sz="1000" kern="100">
              <a:latin typeface="+mn-ea"/>
              <a:cs typeface="Times New Roman" panose="02020603050405020304" pitchFamily="18" charset="0"/>
            </a:endParaRPr>
          </a:p>
          <a:p>
            <a:r>
              <a:rPr lang="en-US" altLang="zh-CN" sz="1000" kern="100">
                <a:latin typeface="+mn-ea"/>
                <a:cs typeface="Times New Roman" panose="02020603050405020304" pitchFamily="18" charset="0"/>
              </a:rPr>
              <a:t>    Combiner(d=4)</a:t>
            </a:r>
            <a:endParaRPr lang="zh-CN" altLang="en-US" sz="1000">
              <a:latin typeface="+mn-ea"/>
            </a:endParaRPr>
          </a:p>
        </p:txBody>
      </p:sp>
    </p:spTree>
    <p:extLst>
      <p:ext uri="{BB962C8B-B14F-4D97-AF65-F5344CB8AC3E}">
        <p14:creationId xmlns:p14="http://schemas.microsoft.com/office/powerpoint/2010/main" val="242085932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8.5.1基于MapReduce的K-Means聚类算法</a:t>
            </a:r>
          </a:p>
        </p:txBody>
      </p:sp>
      <p:sp>
        <p:nvSpPr>
          <p:cNvPr id="3" name="文本框 2"/>
          <p:cNvSpPr txBox="1"/>
          <p:nvPr/>
        </p:nvSpPr>
        <p:spPr>
          <a:xfrm>
            <a:off x="77932" y="856153"/>
            <a:ext cx="4029710" cy="458715"/>
          </a:xfrm>
          <a:prstGeom prst="rect">
            <a:avLst/>
          </a:prstGeom>
          <a:noFill/>
        </p:spPr>
        <p:txBody>
          <a:bodyPr wrap="square" rtlCol="0" anchor="t">
            <a:spAutoFit/>
          </a:bodyPr>
          <a:lstStyle/>
          <a:p>
            <a:pPr>
              <a:lnSpc>
                <a:spcPct val="130000"/>
              </a:lnSpc>
              <a:spcBef>
                <a:spcPts val="0"/>
              </a:spcBef>
              <a:spcAft>
                <a:spcPts val="0"/>
              </a:spcAft>
            </a:pPr>
            <a:r>
              <a:rPr lang="en-US" altLang="zh-CN" sz="2000" b="1"/>
              <a:t>     </a:t>
            </a:r>
            <a:r>
              <a:rPr sz="2000" b="1"/>
              <a:t>（</a:t>
            </a:r>
            <a:r>
              <a:rPr lang="en-US" altLang="zh-CN" sz="2000" b="1"/>
              <a:t>3</a:t>
            </a:r>
            <a:r>
              <a:rPr sz="2000" b="1"/>
              <a:t>）Reducer函数</a:t>
            </a:r>
          </a:p>
        </p:txBody>
      </p:sp>
      <p:sp>
        <p:nvSpPr>
          <p:cNvPr id="2" name="矩形 1">
            <a:extLst>
              <a:ext uri="{FF2B5EF4-FFF2-40B4-BE49-F238E27FC236}">
                <a16:creationId xmlns:a16="http://schemas.microsoft.com/office/drawing/2014/main" id="{72BDBF23-661D-4370-ABCB-15A5379A1F8A}"/>
              </a:ext>
            </a:extLst>
          </p:cNvPr>
          <p:cNvSpPr/>
          <p:nvPr/>
        </p:nvSpPr>
        <p:spPr>
          <a:xfrm>
            <a:off x="3927763" y="54137"/>
            <a:ext cx="5138305" cy="471359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#!/usr/bin/python3.6</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import sys</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import numpy as np</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 </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def Reducer(separator='\t'):</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    Num = {}</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    keys = []</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    values = {}</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    for line in sys.stdin:</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        line = line.strip()</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        key, value, num = line.split(separator, 2)      #</a:t>
            </a:r>
            <a:r>
              <a:rPr lang="zh-CN" altLang="zh-CN" sz="1050" kern="100">
                <a:latin typeface="等线" panose="02010600030101010101" pitchFamily="2" charset="-122"/>
                <a:cs typeface="Times New Roman" panose="02020603050405020304" pitchFamily="18" charset="0"/>
              </a:rPr>
              <a:t>分为</a:t>
            </a:r>
            <a:r>
              <a:rPr lang="en-US" altLang="zh-CN" sz="1050" kern="100">
                <a:latin typeface="等线" panose="02010600030101010101" pitchFamily="2" charset="-122"/>
                <a:cs typeface="Times New Roman" panose="02020603050405020304" pitchFamily="18" charset="0"/>
              </a:rPr>
              <a:t>3</a:t>
            </a:r>
            <a:r>
              <a:rPr lang="zh-CN" altLang="zh-CN" sz="1050" kern="100">
                <a:latin typeface="等线" panose="02010600030101010101" pitchFamily="2" charset="-122"/>
                <a:cs typeface="Times New Roman" panose="02020603050405020304" pitchFamily="18" charset="0"/>
              </a:rPr>
              <a:t>个字符串</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        value = np.array(eval(value))                #</a:t>
            </a:r>
            <a:r>
              <a:rPr lang="zh-CN" altLang="zh-CN" sz="1050" kern="100">
                <a:latin typeface="等线" panose="02010600030101010101" pitchFamily="2" charset="-122"/>
                <a:cs typeface="Times New Roman" panose="02020603050405020304" pitchFamily="18" charset="0"/>
              </a:rPr>
              <a:t>样本字符串</a:t>
            </a:r>
            <a:r>
              <a:rPr lang="en-US" altLang="zh-CN" sz="1050" kern="100">
                <a:latin typeface="等线" panose="02010600030101010101" pitchFamily="2" charset="-122"/>
                <a:cs typeface="Times New Roman" panose="02020603050405020304" pitchFamily="18" charset="0"/>
              </a:rPr>
              <a:t>-&gt;</a:t>
            </a:r>
            <a:r>
              <a:rPr lang="zh-CN" altLang="zh-CN" sz="1050" kern="100">
                <a:latin typeface="等线" panose="02010600030101010101" pitchFamily="2" charset="-122"/>
                <a:cs typeface="Times New Roman" panose="02020603050405020304" pitchFamily="18" charset="0"/>
              </a:rPr>
              <a:t>向量化</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        num = int(num)                                   #</a:t>
            </a:r>
            <a:r>
              <a:rPr lang="zh-CN" altLang="zh-CN" sz="1050" kern="100">
                <a:latin typeface="等线" panose="02010600030101010101" pitchFamily="2" charset="-122"/>
                <a:cs typeface="Times New Roman" panose="02020603050405020304" pitchFamily="18" charset="0"/>
              </a:rPr>
              <a:t>计数</a:t>
            </a:r>
            <a:r>
              <a:rPr lang="en-US" altLang="zh-CN" sz="1050" kern="100">
                <a:latin typeface="等线" panose="02010600030101010101" pitchFamily="2" charset="-122"/>
                <a:cs typeface="Times New Roman" panose="02020603050405020304" pitchFamily="18" charset="0"/>
              </a:rPr>
              <a:t>-&gt;</a:t>
            </a:r>
            <a:r>
              <a:rPr lang="zh-CN" altLang="zh-CN" sz="1050" kern="100">
                <a:latin typeface="等线" panose="02010600030101010101" pitchFamily="2" charset="-122"/>
                <a:cs typeface="Times New Roman" panose="02020603050405020304" pitchFamily="18" charset="0"/>
              </a:rPr>
              <a:t>整数化</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        keys.append(key)</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        values[key] = values.get(key, 0) + value</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        Num[key] = Num.get(key, 0) + num</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    for key in keys:</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        center = values[key] / Num[key]</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        print('%s%s(' % (key, separator), end=' ')</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        for i in range(d):</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            print('%.2f' % (center[i]), end=' ')</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        print(')')</a:t>
            </a:r>
            <a:endParaRPr lang="zh-CN" altLang="zh-CN" sz="1200" kern="100">
              <a:latin typeface="等线" panose="02010600030101010101" pitchFamily="2" charset="-122"/>
              <a:cs typeface="Times New Roman" panose="02020603050405020304" pitchFamily="18" charset="0"/>
            </a:endParaRPr>
          </a:p>
          <a:p>
            <a:pPr algn="just">
              <a:lnSpc>
                <a:spcPct val="120000"/>
              </a:lnSpc>
              <a:spcAft>
                <a:spcPts val="0"/>
              </a:spcAft>
            </a:pPr>
            <a:r>
              <a:rPr lang="en-US" altLang="zh-CN" sz="1050" kern="100">
                <a:latin typeface="等线" panose="02010600030101010101" pitchFamily="2" charset="-122"/>
                <a:cs typeface="Times New Roman" panose="02020603050405020304" pitchFamily="18" charset="0"/>
              </a:rPr>
              <a:t>if __name__ == '__main__':</a:t>
            </a:r>
            <a:endParaRPr lang="zh-CN" altLang="zh-CN" sz="1200" kern="100">
              <a:latin typeface="等线" panose="02010600030101010101" pitchFamily="2" charset="-122"/>
              <a:cs typeface="Times New Roman" panose="02020603050405020304" pitchFamily="18" charset="0"/>
            </a:endParaRPr>
          </a:p>
          <a:p>
            <a:r>
              <a:rPr lang="en-US" altLang="zh-CN" sz="1050" kern="100">
                <a:latin typeface="等线" panose="02010600030101010101" pitchFamily="2" charset="-122"/>
                <a:cs typeface="Times New Roman" panose="02020603050405020304" pitchFamily="18" charset="0"/>
              </a:rPr>
              <a:t>    Reducer()</a:t>
            </a:r>
            <a:endParaRPr lang="zh-CN" altLang="en-US" sz="105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181610" y="2168739"/>
            <a:ext cx="2047031" cy="2763390"/>
            <a:chOff x="251" y="1821"/>
            <a:chExt cx="1277" cy="4387"/>
          </a:xfrm>
        </p:grpSpPr>
        <p:sp>
          <p:nvSpPr>
            <p:cNvPr id="2" name="矩形 1"/>
            <p:cNvSpPr/>
            <p:nvPr/>
          </p:nvSpPr>
          <p:spPr>
            <a:xfrm>
              <a:off x="251" y="1821"/>
              <a:ext cx="1270" cy="1554"/>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altLang="zh-CN" sz="1600" b="1">
                  <a:latin typeface="Impact" panose="020B0806030902050204" pitchFamily="34" charset="0"/>
                </a:rPr>
                <a:t>测试Mapper函数</a:t>
              </a:r>
            </a:p>
          </p:txBody>
        </p:sp>
        <p:sp>
          <p:nvSpPr>
            <p:cNvPr id="9" name="矩形 8"/>
            <p:cNvSpPr/>
            <p:nvPr/>
          </p:nvSpPr>
          <p:spPr>
            <a:xfrm>
              <a:off x="251" y="3593"/>
              <a:ext cx="1270" cy="1169"/>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sz="1600" b="1">
                  <a:latin typeface="Impact" panose="020B0806030902050204" pitchFamily="34" charset="0"/>
                </a:rPr>
                <a:t>测试Combiner函数</a:t>
              </a:r>
            </a:p>
          </p:txBody>
        </p:sp>
        <p:sp>
          <p:nvSpPr>
            <p:cNvPr id="10" name="矩形 9"/>
            <p:cNvSpPr/>
            <p:nvPr/>
          </p:nvSpPr>
          <p:spPr>
            <a:xfrm>
              <a:off x="258" y="5038"/>
              <a:ext cx="1270" cy="117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sz="1600" b="1">
                  <a:latin typeface="Impact" panose="020B0806030902050204" pitchFamily="34" charset="0"/>
                </a:rPr>
                <a:t>测试Reducer函数</a:t>
              </a:r>
            </a:p>
          </p:txBody>
        </p:sp>
      </p:grpSp>
      <p:grpSp>
        <p:nvGrpSpPr>
          <p:cNvPr id="22" name="组合 21"/>
          <p:cNvGrpSpPr/>
          <p:nvPr/>
        </p:nvGrpSpPr>
        <p:grpSpPr>
          <a:xfrm>
            <a:off x="2325370" y="2171065"/>
            <a:ext cx="6555215" cy="2748915"/>
            <a:chOff x="1716" y="1939"/>
            <a:chExt cx="9003" cy="3744"/>
          </a:xfrm>
        </p:grpSpPr>
        <p:sp>
          <p:nvSpPr>
            <p:cNvPr id="18" name="矩形 17"/>
            <p:cNvSpPr/>
            <p:nvPr/>
          </p:nvSpPr>
          <p:spPr>
            <a:xfrm>
              <a:off x="1716" y="1939"/>
              <a:ext cx="8976" cy="1298"/>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1400" b="1">
                  <a:latin typeface="+mn-ea"/>
                  <a:sym typeface="+mn-ea"/>
                </a:rPr>
                <a:t>假设数据集名称为test.csv（用ANSI格式保存），输出文件名为keyValue1.txt，则在本地（Linux和Windows中都可以）测试Mapper函数的命令为：</a:t>
              </a:r>
            </a:p>
            <a:p>
              <a:pPr>
                <a:lnSpc>
                  <a:spcPct val="100000"/>
                </a:lnSpc>
              </a:pPr>
              <a:r>
                <a:rPr lang="zh-CN" altLang="en-US" sz="1400" b="1">
                  <a:latin typeface="+mn-ea"/>
                  <a:sym typeface="+mn-ea"/>
                </a:rPr>
                <a:t>python3 mrkm_mapepr.py &lt; test.csv &gt; keyValue1.txt</a:t>
              </a:r>
            </a:p>
            <a:p>
              <a:pPr>
                <a:lnSpc>
                  <a:spcPct val="100000"/>
                </a:lnSpc>
              </a:pPr>
              <a:r>
                <a:rPr lang="zh-CN" altLang="en-US" sz="1400" b="1">
                  <a:latin typeface="+mn-ea"/>
                  <a:sym typeface="+mn-ea"/>
                </a:rPr>
                <a:t>注：’&lt;’和’&gt;’符号分别用于重定向输入和输出。</a:t>
              </a:r>
            </a:p>
          </p:txBody>
        </p:sp>
        <p:sp>
          <p:nvSpPr>
            <p:cNvPr id="19" name="矩形 18"/>
            <p:cNvSpPr/>
            <p:nvPr/>
          </p:nvSpPr>
          <p:spPr>
            <a:xfrm>
              <a:off x="1729" y="3457"/>
              <a:ext cx="8990" cy="1002"/>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sz="1400" b="1">
                  <a:latin typeface="+mn-ea"/>
                  <a:sym typeface="+mn-ea"/>
                </a:rPr>
                <a:t>将Mapper函数的输出keyValue1.txt作为Combiner函数的输入，输出文件名为keyValue2.txt，则测试Combiner函数的命令为：</a:t>
              </a:r>
            </a:p>
            <a:p>
              <a:pPr>
                <a:lnSpc>
                  <a:spcPct val="100000"/>
                </a:lnSpc>
              </a:pPr>
              <a:r>
                <a:rPr sz="1400" b="1">
                  <a:latin typeface="+mn-ea"/>
                  <a:sym typeface="+mn-ea"/>
                </a:rPr>
                <a:t>python3 mrkm_combiner.py &lt; keyValue1.txt &gt; keyValue2.txt</a:t>
              </a:r>
            </a:p>
          </p:txBody>
        </p:sp>
        <p:sp>
          <p:nvSpPr>
            <p:cNvPr id="21" name="矩形 20"/>
            <p:cNvSpPr/>
            <p:nvPr/>
          </p:nvSpPr>
          <p:spPr>
            <a:xfrm>
              <a:off x="1725" y="4681"/>
              <a:ext cx="8994" cy="1002"/>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1400" b="1">
                  <a:latin typeface="+mn-ea"/>
                  <a:sym typeface="+mn-ea"/>
                </a:rPr>
                <a:t>以Combiner函数的输出keyValue.txt作为Reducer函数的输入，输出文件名为result.txt，则测试Reducer函数的命令为：</a:t>
              </a:r>
            </a:p>
            <a:p>
              <a:pPr>
                <a:lnSpc>
                  <a:spcPct val="100000"/>
                </a:lnSpc>
              </a:pPr>
              <a:r>
                <a:rPr lang="zh-CN" altLang="en-US" sz="1400" b="1">
                  <a:latin typeface="+mn-ea"/>
                  <a:sym typeface="+mn-ea"/>
                </a:rPr>
                <a:t>python3 mrkm-reducer.py &lt; keyValue2.txt &gt; result.txt</a:t>
              </a:r>
            </a:p>
          </p:txBody>
        </p:sp>
      </p:grpSp>
      <p:sp>
        <p:nvSpPr>
          <p:cNvPr id="111" name="文本框 110"/>
          <p:cNvSpPr txBox="1"/>
          <p:nvPr/>
        </p:nvSpPr>
        <p:spPr>
          <a:xfrm>
            <a:off x="193040" y="1212850"/>
            <a:ext cx="8527415" cy="1014730"/>
          </a:xfrm>
          <a:prstGeom prst="rect">
            <a:avLst/>
          </a:prstGeom>
          <a:noFill/>
          <a:ln w="9525">
            <a:noFill/>
          </a:ln>
        </p:spPr>
        <p:txBody>
          <a:bodyPr wrap="square">
            <a:spAutoFit/>
          </a:bodyPr>
          <a:lstStyle/>
          <a:p>
            <a:pPr indent="266700"/>
            <a:r>
              <a:rPr lang="en-US" altLang="zh-CN" sz="2000">
                <a:latin typeface="等线" panose="02010600030101010101" pitchFamily="2" charset="-122"/>
                <a:ea typeface="等线" panose="02010600030101010101" pitchFamily="2" charset="-122"/>
                <a:cs typeface="等线" panose="02010600030101010101" pitchFamily="2" charset="-122"/>
              </a:rPr>
              <a:t>   </a:t>
            </a:r>
            <a:r>
              <a:rPr lang="zh-CN" sz="2000">
                <a:latin typeface="等线" panose="02010600030101010101" pitchFamily="2" charset="-122"/>
                <a:ea typeface="等线" panose="02010600030101010101" pitchFamily="2" charset="-122"/>
                <a:cs typeface="等线" panose="02010600030101010101" pitchFamily="2" charset="-122"/>
              </a:rPr>
              <a:t>假设</a:t>
            </a:r>
            <a:r>
              <a:rPr lang="en-US" sz="2000">
                <a:latin typeface="等线" panose="02010600030101010101" pitchFamily="2" charset="-122"/>
                <a:ea typeface="等线" panose="02010600030101010101" pitchFamily="2" charset="-122"/>
                <a:cs typeface="等线" panose="02010600030101010101" pitchFamily="2" charset="-122"/>
              </a:rPr>
              <a:t>MRK-Means</a:t>
            </a:r>
            <a:r>
              <a:rPr lang="zh-CN" sz="2000">
                <a:latin typeface="等线" panose="02010600030101010101" pitchFamily="2" charset="-122"/>
                <a:ea typeface="等线" panose="02010600030101010101" pitchFamily="2" charset="-122"/>
                <a:cs typeface="等线" panose="02010600030101010101" pitchFamily="2" charset="-122"/>
              </a:rPr>
              <a:t>算法的三个程序文件分别命令为：</a:t>
            </a:r>
            <a:r>
              <a:rPr lang="en-US" sz="2000">
                <a:latin typeface="等线" panose="02010600030101010101" pitchFamily="2" charset="-122"/>
                <a:ea typeface="等线" panose="02010600030101010101" pitchFamily="2" charset="-122"/>
                <a:cs typeface="等线" panose="02010600030101010101" pitchFamily="2" charset="-122"/>
              </a:rPr>
              <a:t>mrkm_mapepr.py</a:t>
            </a:r>
            <a:r>
              <a:rPr lang="zh-CN" sz="2000">
                <a:latin typeface="等线" panose="02010600030101010101" pitchFamily="2" charset="-122"/>
                <a:ea typeface="等线" panose="02010600030101010101" pitchFamily="2" charset="-122"/>
                <a:cs typeface="等线" panose="02010600030101010101" pitchFamily="2" charset="-122"/>
              </a:rPr>
              <a:t>、</a:t>
            </a:r>
            <a:r>
              <a:rPr lang="en-US" sz="2000">
                <a:latin typeface="等线" panose="02010600030101010101" pitchFamily="2" charset="-122"/>
                <a:ea typeface="等线" panose="02010600030101010101" pitchFamily="2" charset="-122"/>
                <a:cs typeface="等线" panose="02010600030101010101" pitchFamily="2" charset="-122"/>
              </a:rPr>
              <a:t>mrkm_combiner.py</a:t>
            </a:r>
            <a:r>
              <a:rPr lang="zh-CN" sz="2000">
                <a:latin typeface="等线" panose="02010600030101010101" pitchFamily="2" charset="-122"/>
                <a:ea typeface="等线" panose="02010600030101010101" pitchFamily="2" charset="-122"/>
                <a:cs typeface="等线" panose="02010600030101010101" pitchFamily="2" charset="-122"/>
              </a:rPr>
              <a:t>和</a:t>
            </a:r>
            <a:r>
              <a:rPr lang="en-US" sz="2000">
                <a:latin typeface="等线" panose="02010600030101010101" pitchFamily="2" charset="-122"/>
                <a:ea typeface="等线" panose="02010600030101010101" pitchFamily="2" charset="-122"/>
                <a:cs typeface="等线" panose="02010600030101010101" pitchFamily="2" charset="-122"/>
              </a:rPr>
              <a:t>mrkm-reducer.py</a:t>
            </a:r>
            <a:r>
              <a:rPr lang="zh-CN" sz="2000">
                <a:latin typeface="等线" panose="02010600030101010101" pitchFamily="2" charset="-122"/>
                <a:ea typeface="等线" panose="02010600030101010101" pitchFamily="2" charset="-122"/>
                <a:cs typeface="等线" panose="02010600030101010101" pitchFamily="2" charset="-122"/>
              </a:rPr>
              <a:t>，我们先在本地测试程序是否能够正常运行。</a:t>
            </a:r>
            <a:endParaRPr lang="zh-CN" altLang="en-US" sz="2000">
              <a:latin typeface="等线" panose="02010600030101010101" pitchFamily="2" charset="-122"/>
              <a:ea typeface="等线" panose="02010600030101010101" pitchFamily="2" charset="-122"/>
              <a:cs typeface="等线" panose="02010600030101010101" pitchFamily="2" charset="-122"/>
            </a:endParaRPr>
          </a:p>
        </p:txBody>
      </p:sp>
      <p:sp>
        <p:nvSpPr>
          <p:cNvPr id="3" name="文本框 2"/>
          <p:cNvSpPr txBox="1"/>
          <p:nvPr/>
        </p:nvSpPr>
        <p:spPr>
          <a:xfrm>
            <a:off x="667385" y="887730"/>
            <a:ext cx="5080000" cy="398780"/>
          </a:xfrm>
          <a:prstGeom prst="rect">
            <a:avLst/>
          </a:prstGeom>
          <a:noFill/>
          <a:ln w="9525">
            <a:noFill/>
          </a:ln>
        </p:spPr>
        <p:txBody>
          <a:bodyPr>
            <a:spAutoFit/>
          </a:bodyPr>
          <a:lstStyle/>
          <a:p>
            <a:pPr marL="266700" indent="-266700"/>
            <a:r>
              <a:rPr lang="en-US" sz="2000" b="1">
                <a:latin typeface="等线" panose="02010600030101010101" pitchFamily="2" charset="-122"/>
              </a:rPr>
              <a:t>3. </a:t>
            </a:r>
            <a:r>
              <a:rPr lang="zh-CN" sz="2000" b="1">
                <a:ea typeface="等线" panose="02010600030101010101" pitchFamily="2" charset="-122"/>
              </a:rPr>
              <a:t>本地测试</a:t>
            </a:r>
            <a:r>
              <a:rPr lang="en-US" sz="2000" b="1">
                <a:latin typeface="等线" panose="02010600030101010101" pitchFamily="2" charset="-122"/>
                <a:cs typeface="Times New Roman" panose="02020603050405020304" pitchFamily="18" charset="0"/>
              </a:rPr>
              <a:t>MRK-Means</a:t>
            </a:r>
            <a:r>
              <a:rPr lang="zh-CN" sz="2000" b="1">
                <a:ea typeface="等线" panose="02010600030101010101" pitchFamily="2" charset="-122"/>
              </a:rPr>
              <a:t>算法</a:t>
            </a:r>
            <a:endParaRPr lang="zh-CN" altLang="en-US" sz="2000"/>
          </a:p>
        </p:txBody>
      </p:sp>
      <p:sp>
        <p:nvSpPr>
          <p:cNvPr id="13" name="五边形 7">
            <a:extLst>
              <a:ext uri="{FF2B5EF4-FFF2-40B4-BE49-F238E27FC236}">
                <a16:creationId xmlns:a16="http://schemas.microsoft.com/office/drawing/2014/main" id="{6E2F7136-2109-480D-9ADA-7D0804577227}"/>
              </a:ext>
            </a:extLst>
          </p:cNvPr>
          <p:cNvSpPr/>
          <p:nvPr/>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8.5.1</a:t>
            </a:r>
            <a:r>
              <a:rPr lang="en-US" altLang="zh-CN"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基于MapReduce的K-Means聚类算法</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243205" y="933450"/>
            <a:ext cx="8456930" cy="8915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a:latin typeface="+mn-ea"/>
              </a:rPr>
              <a:t> </a:t>
            </a:r>
            <a:r>
              <a:rPr sz="2000" b="1"/>
              <a:t>4.在Hadoop集群中运行MRK-Means算法</a:t>
            </a:r>
          </a:p>
          <a:p>
            <a:pPr indent="266700">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endParaRPr sz="2000">
              <a:latin typeface="等线" panose="02010600030101010101" pitchFamily="2" charset="-122"/>
              <a:ea typeface="等线" panose="02010600030101010101" pitchFamily="2" charset="-122"/>
              <a:cs typeface="等线" panose="02010600030101010101" pitchFamily="2" charset="-122"/>
            </a:endParaRPr>
          </a:p>
        </p:txBody>
      </p:sp>
      <p:sp>
        <p:nvSpPr>
          <p:cNvPr id="2" name="文本框 1"/>
          <p:cNvSpPr txBox="1"/>
          <p:nvPr/>
        </p:nvSpPr>
        <p:spPr>
          <a:xfrm>
            <a:off x="63500" y="1385570"/>
            <a:ext cx="8456930" cy="3144835"/>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a:latin typeface="+mn-ea"/>
              </a:rPr>
              <a:t> </a:t>
            </a:r>
            <a:r>
              <a:rPr lang="en-US" sz="2000">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（1）文件准备</a:t>
            </a:r>
          </a:p>
          <a:p>
            <a:pPr indent="266700">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在Hadoop集群的HDFS中创建目录“km_in”，将所有测试数据文件拷贝到“km_in”目录中。</a:t>
            </a:r>
          </a:p>
          <a:p>
            <a:pPr indent="266700">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假设MRK-Means的Python程序文件存放在Linux系统的“/codes”目录中，对集群中的各个节点都要设置Python程序文件的可执行权限：</a:t>
            </a:r>
          </a:p>
          <a:p>
            <a:pPr lvl="1" indent="266700">
              <a:lnSpc>
                <a:spcPct val="130000"/>
              </a:lnSpc>
              <a:spcBef>
                <a:spcPts val="0"/>
              </a:spcBef>
              <a:spcAft>
                <a:spcPts val="0"/>
              </a:spcAft>
            </a:pPr>
            <a:r>
              <a:rPr sz="1800">
                <a:latin typeface="等线" panose="02010600030101010101" pitchFamily="2" charset="-122"/>
                <a:ea typeface="等线" panose="02010600030101010101" pitchFamily="2" charset="-122"/>
                <a:cs typeface="等线" panose="02010600030101010101" pitchFamily="2" charset="-122"/>
              </a:rPr>
              <a:t>chmod +x /codes/mrkm_mapper.py</a:t>
            </a:r>
          </a:p>
          <a:p>
            <a:pPr lvl="1" indent="266700">
              <a:lnSpc>
                <a:spcPct val="130000"/>
              </a:lnSpc>
              <a:spcBef>
                <a:spcPts val="0"/>
              </a:spcBef>
              <a:spcAft>
                <a:spcPts val="0"/>
              </a:spcAft>
            </a:pPr>
            <a:r>
              <a:rPr sz="1800">
                <a:latin typeface="等线" panose="02010600030101010101" pitchFamily="2" charset="-122"/>
                <a:ea typeface="等线" panose="02010600030101010101" pitchFamily="2" charset="-122"/>
                <a:cs typeface="等线" panose="02010600030101010101" pitchFamily="2" charset="-122"/>
              </a:rPr>
              <a:t>chmod +x /codes/mrkm_combiner.py</a:t>
            </a:r>
          </a:p>
          <a:p>
            <a:pPr lvl="1" indent="266700">
              <a:lnSpc>
                <a:spcPct val="130000"/>
              </a:lnSpc>
              <a:spcBef>
                <a:spcPts val="0"/>
              </a:spcBef>
              <a:spcAft>
                <a:spcPts val="0"/>
              </a:spcAft>
            </a:pPr>
            <a:r>
              <a:rPr sz="1800">
                <a:latin typeface="等线" panose="02010600030101010101" pitchFamily="2" charset="-122"/>
                <a:ea typeface="等线" panose="02010600030101010101" pitchFamily="2" charset="-122"/>
                <a:cs typeface="等线" panose="02010600030101010101" pitchFamily="2" charset="-122"/>
              </a:rPr>
              <a:t>chmod +x /codes/mrkm_reducer.py</a:t>
            </a:r>
          </a:p>
        </p:txBody>
      </p:sp>
      <p:sp>
        <p:nvSpPr>
          <p:cNvPr id="5" name="五边形 7">
            <a:extLst>
              <a:ext uri="{FF2B5EF4-FFF2-40B4-BE49-F238E27FC236}">
                <a16:creationId xmlns:a16="http://schemas.microsoft.com/office/drawing/2014/main" id="{5E640890-F7B2-4BF6-997A-C0E051F16AED}"/>
              </a:ext>
            </a:extLst>
          </p:cNvPr>
          <p:cNvSpPr/>
          <p:nvPr/>
        </p:nvSpPr>
        <p:spPr>
          <a:xfrm>
            <a:off x="0" y="199390"/>
            <a:ext cx="6144895" cy="621492"/>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8.5.1</a:t>
            </a:r>
            <a:r>
              <a:rPr lang="en-US" altLang="zh-CN"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基于MapReduce的K-Means聚类算法</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243205" y="933450"/>
            <a:ext cx="8456930" cy="491490"/>
          </a:xfrm>
          <a:prstGeom prst="rect">
            <a:avLst/>
          </a:prstGeom>
          <a:noFill/>
          <a:ln w="9525">
            <a:noFill/>
          </a:ln>
        </p:spPr>
        <p:txBody>
          <a:bodyPr wrap="square">
            <a:spAutoFit/>
          </a:bodyPr>
          <a:lstStyle/>
          <a:p>
            <a:pPr indent="266700">
              <a:lnSpc>
                <a:spcPct val="130000"/>
              </a:lnSpc>
              <a:spcBef>
                <a:spcPts val="0"/>
              </a:spcBef>
              <a:spcAft>
                <a:spcPts val="0"/>
              </a:spcAft>
            </a:pPr>
            <a:r>
              <a:rPr sz="2000" b="1"/>
              <a:t>（2）在Hadoop集群中执行MRK-Means程序</a:t>
            </a:r>
            <a:r>
              <a:rPr lang="en-US" sz="2000">
                <a:latin typeface="等线" panose="02010600030101010101" pitchFamily="2" charset="-122"/>
                <a:ea typeface="等线" panose="02010600030101010101" pitchFamily="2" charset="-122"/>
                <a:cs typeface="等线" panose="02010600030101010101" pitchFamily="2" charset="-122"/>
              </a:rPr>
              <a:t> </a:t>
            </a:r>
            <a:endParaRPr sz="2000">
              <a:latin typeface="等线" panose="02010600030101010101" pitchFamily="2" charset="-122"/>
              <a:ea typeface="等线" panose="02010600030101010101" pitchFamily="2" charset="-122"/>
              <a:cs typeface="等线" panose="02010600030101010101" pitchFamily="2" charset="-122"/>
            </a:endParaRPr>
          </a:p>
        </p:txBody>
      </p:sp>
      <p:sp>
        <p:nvSpPr>
          <p:cNvPr id="2" name="文本框 1"/>
          <p:cNvSpPr txBox="1"/>
          <p:nvPr/>
        </p:nvSpPr>
        <p:spPr>
          <a:xfrm>
            <a:off x="120650" y="1352550"/>
            <a:ext cx="8456930" cy="1144288"/>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1800" b="1">
                <a:latin typeface="+mn-ea"/>
              </a:rPr>
              <a:t> </a:t>
            </a:r>
            <a:r>
              <a:rPr lang="en-US" sz="1800">
                <a:latin typeface="等线" panose="02010600030101010101" pitchFamily="2" charset="-122"/>
                <a:ea typeface="等线" panose="02010600030101010101" pitchFamily="2" charset="-122"/>
                <a:cs typeface="等线" panose="02010600030101010101" pitchFamily="2" charset="-122"/>
              </a:rPr>
              <a:t> </a:t>
            </a:r>
            <a:r>
              <a:rPr sz="1800">
                <a:latin typeface="等线" panose="02010600030101010101" pitchFamily="2" charset="-122"/>
                <a:ea typeface="等线" panose="02010600030101010101" pitchFamily="2" charset="-122"/>
                <a:cs typeface="等线" panose="02010600030101010101" pitchFamily="2" charset="-122"/>
              </a:rPr>
              <a:t>Hadoop 本身是用 Java 开发的，但是通过 Hadoop Streaming，我们可以使用任意语言来编写程序，让 Hadoop 运行。</a:t>
            </a:r>
          </a:p>
          <a:p>
            <a:pPr indent="266700">
              <a:lnSpc>
                <a:spcPct val="130000"/>
              </a:lnSpc>
              <a:spcBef>
                <a:spcPts val="0"/>
              </a:spcBef>
              <a:spcAft>
                <a:spcPts val="0"/>
              </a:spcAft>
            </a:pPr>
            <a:r>
              <a:rPr sz="1800">
                <a:latin typeface="等线" panose="02010600030101010101" pitchFamily="2" charset="-122"/>
                <a:ea typeface="等线" panose="02010600030101010101" pitchFamily="2" charset="-122"/>
                <a:cs typeface="等线" panose="02010600030101010101" pitchFamily="2" charset="-122"/>
              </a:rPr>
              <a:t>在Hadoop集群中执行用Python编写的MRK-Means程序的命令如下：</a:t>
            </a:r>
          </a:p>
        </p:txBody>
      </p:sp>
      <p:sp>
        <p:nvSpPr>
          <p:cNvPr id="101" name="文本框 100"/>
          <p:cNvSpPr txBox="1"/>
          <p:nvPr/>
        </p:nvSpPr>
        <p:spPr>
          <a:xfrm>
            <a:off x="419851" y="4069426"/>
            <a:ext cx="8789035" cy="1014730"/>
          </a:xfrm>
          <a:prstGeom prst="rect">
            <a:avLst/>
          </a:prstGeom>
          <a:noFill/>
          <a:ln w="9525">
            <a:noFill/>
          </a:ln>
        </p:spPr>
        <p:txBody>
          <a:bodyPr wrap="square">
            <a:spAutoFit/>
          </a:bodyPr>
          <a:lstStyle/>
          <a:p>
            <a:pPr indent="0">
              <a:buFont typeface="+mj-ea"/>
              <a:buNone/>
            </a:pPr>
            <a:r>
              <a:rPr lang="zh-CN" sz="1500" b="1">
                <a:latin typeface="Cambria Math" panose="02040503050406030204" charset="0"/>
                <a:ea typeface="等线" panose="02010600030101010101" pitchFamily="2" charset="-122"/>
              </a:rPr>
              <a:t>说明：</a:t>
            </a:r>
          </a:p>
          <a:p>
            <a:pPr marL="342900" indent="-342900">
              <a:buFont typeface="+mj-ea"/>
              <a:buAutoNum type="circleNumDbPlain"/>
            </a:pPr>
            <a:r>
              <a:rPr lang="zh-CN" sz="1500" b="0">
                <a:latin typeface="Cambria Math" panose="02040503050406030204" charset="0"/>
                <a:ea typeface="等线" panose="02010600030101010101" pitchFamily="2" charset="-122"/>
              </a:rPr>
              <a:t>上述命令中的</a:t>
            </a:r>
            <a:r>
              <a:rPr lang="en-US" sz="1500" b="0">
                <a:latin typeface="Cambria Math" panose="02040503050406030204" charset="0"/>
                <a:ea typeface="等线" panose="02010600030101010101" pitchFamily="2" charset="-122"/>
                <a:cs typeface="Times New Roman" panose="02020603050405020304" pitchFamily="18" charset="0"/>
              </a:rPr>
              <a:t>’\’</a:t>
            </a:r>
            <a:r>
              <a:rPr lang="zh-CN" sz="1500" b="0">
                <a:latin typeface="Cambria Math" panose="02040503050406030204" charset="0"/>
                <a:ea typeface="等线" panose="02010600030101010101" pitchFamily="2" charset="-122"/>
              </a:rPr>
              <a:t>符号是为了在命令行输入时换行，</a:t>
            </a:r>
            <a:r>
              <a:rPr lang="en-US" sz="1500" b="0">
                <a:latin typeface="Cambria Math" panose="02040503050406030204" charset="0"/>
                <a:ea typeface="等线" panose="02010600030101010101" pitchFamily="2" charset="-122"/>
                <a:cs typeface="Times New Roman" panose="02020603050405020304" pitchFamily="18" charset="0"/>
              </a:rPr>
              <a:t>’\’</a:t>
            </a:r>
            <a:r>
              <a:rPr lang="zh-CN" sz="1500" b="0">
                <a:latin typeface="Cambria Math" panose="02040503050406030204" charset="0"/>
                <a:ea typeface="等线" panose="02010600030101010101" pitchFamily="2" charset="-122"/>
              </a:rPr>
              <a:t>前面应加空格，各个参数之间也需要加空格。</a:t>
            </a:r>
          </a:p>
          <a:p>
            <a:pPr marL="342900" indent="-342900">
              <a:buFont typeface="+mj-ea"/>
              <a:buAutoNum type="circleNumDbPlain"/>
            </a:pPr>
            <a:r>
              <a:rPr lang="zh-CN" sz="1500" b="0">
                <a:latin typeface="Cambria Math" panose="02040503050406030204" charset="0"/>
                <a:ea typeface="等线" panose="02010600030101010101" pitchFamily="2" charset="-122"/>
              </a:rPr>
              <a:t>上述命令中的</a:t>
            </a:r>
            <a:r>
              <a:rPr lang="en-US" sz="1500" b="0">
                <a:latin typeface="Cambria Math" panose="02040503050406030204" charset="0"/>
                <a:ea typeface="等线" panose="02010600030101010101" pitchFamily="2" charset="-122"/>
                <a:cs typeface="Times New Roman" panose="02020603050405020304" pitchFamily="18" charset="0"/>
              </a:rPr>
              <a:t>“</a:t>
            </a:r>
            <a:r>
              <a:rPr lang="en-US" sz="1500" b="0">
                <a:latin typeface="Cambria Math" panose="02040503050406030204" charset="0"/>
                <a:ea typeface="等线" panose="02010600030101010101" pitchFamily="2" charset="-122"/>
              </a:rPr>
              <a:t>m</a:t>
            </a:r>
            <a:r>
              <a:rPr lang="en-US" sz="1500" b="0">
                <a:latin typeface="Cambria Math" panose="02040503050406030204" charset="0"/>
                <a:ea typeface="等线" panose="02010600030101010101" pitchFamily="2" charset="-122"/>
                <a:cs typeface="Times New Roman" panose="02020603050405020304" pitchFamily="18" charset="0"/>
              </a:rPr>
              <a:t>apred streaming</a:t>
            </a:r>
            <a:r>
              <a:rPr lang="zh-CN" sz="1500" b="0">
                <a:latin typeface="Cambria Math" panose="02040503050406030204" charset="0"/>
                <a:ea typeface="等线" panose="02010600030101010101" pitchFamily="2" charset="-122"/>
              </a:rPr>
              <a:t>”可以用以下命令代替：</a:t>
            </a:r>
            <a:endParaRPr lang="en-US" sz="1500" b="0">
              <a:latin typeface="等线" panose="02010600030101010101" pitchFamily="2" charset="-122"/>
              <a:ea typeface="等线" panose="02010600030101010101" pitchFamily="2" charset="-122"/>
              <a:cs typeface="Times New Roman" panose="02020603050405020304" pitchFamily="18" charset="0"/>
            </a:endParaRPr>
          </a:p>
          <a:p>
            <a:pPr marL="342900" indent="-342900">
              <a:buFont typeface="+mj-ea"/>
              <a:buAutoNum type="circleNumDbPlain"/>
            </a:pPr>
            <a:r>
              <a:rPr lang="en-US" sz="1500" b="0">
                <a:latin typeface="等线" panose="02010600030101010101" pitchFamily="2" charset="-122"/>
                <a:ea typeface="等线" panose="02010600030101010101" pitchFamily="2" charset="-122"/>
                <a:cs typeface="Times New Roman" panose="02020603050405020304" pitchFamily="18" charset="0"/>
              </a:rPr>
              <a:t>hadoop jar $HADOOP_HOME/share/hadoop/tools/lib/hadoop-streaming-3.3.0.jar</a:t>
            </a:r>
            <a:endParaRPr lang="zh-CN" altLang="en-US"/>
          </a:p>
        </p:txBody>
      </p:sp>
      <p:sp>
        <p:nvSpPr>
          <p:cNvPr id="7" name="五边形 7">
            <a:extLst>
              <a:ext uri="{FF2B5EF4-FFF2-40B4-BE49-F238E27FC236}">
                <a16:creationId xmlns:a16="http://schemas.microsoft.com/office/drawing/2014/main" id="{7B556504-D6A0-4E97-B32F-DF5EBD343E2C}"/>
              </a:ext>
            </a:extLst>
          </p:cNvPr>
          <p:cNvSpPr/>
          <p:nvPr/>
        </p:nvSpPr>
        <p:spPr>
          <a:xfrm>
            <a:off x="0" y="199390"/>
            <a:ext cx="6144895" cy="644594"/>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l"/>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8.5.1基于MapReduce的K-Means聚类算法</a:t>
            </a:r>
          </a:p>
        </p:txBody>
      </p:sp>
      <p:sp>
        <p:nvSpPr>
          <p:cNvPr id="3" name="矩形 2">
            <a:extLst>
              <a:ext uri="{FF2B5EF4-FFF2-40B4-BE49-F238E27FC236}">
                <a16:creationId xmlns:a16="http://schemas.microsoft.com/office/drawing/2014/main" id="{513804DA-16D9-4677-8E1F-DB34937E5BC8}"/>
              </a:ext>
            </a:extLst>
          </p:cNvPr>
          <p:cNvSpPr/>
          <p:nvPr/>
        </p:nvSpPr>
        <p:spPr>
          <a:xfrm>
            <a:off x="1922838" y="2561359"/>
            <a:ext cx="4572000" cy="1600438"/>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marR="133350">
              <a:lnSpc>
                <a:spcPct val="120000"/>
              </a:lnSpc>
              <a:spcAft>
                <a:spcPts val="0"/>
              </a:spcAft>
            </a:pPr>
            <a:r>
              <a:rPr lang="en-US" altLang="zh-CN" sz="1400" kern="100">
                <a:latin typeface="等线" panose="02010600030101010101" pitchFamily="2" charset="-122"/>
                <a:cs typeface="Times New Roman" panose="02020603050405020304" pitchFamily="18" charset="0"/>
              </a:rPr>
              <a:t>mapred streaming \</a:t>
            </a:r>
            <a:endParaRPr lang="zh-CN" altLang="zh-CN" sz="1800" b="1" kern="100">
              <a:latin typeface="等线" panose="02010600030101010101" pitchFamily="2" charset="-122"/>
              <a:cs typeface="Times New Roman" panose="02020603050405020304" pitchFamily="18" charset="0"/>
            </a:endParaRPr>
          </a:p>
          <a:p>
            <a:pPr marR="133350">
              <a:lnSpc>
                <a:spcPct val="120000"/>
              </a:lnSpc>
              <a:spcAft>
                <a:spcPts val="0"/>
              </a:spcAft>
            </a:pPr>
            <a:r>
              <a:rPr lang="en-US" altLang="zh-CN" sz="1400" kern="100">
                <a:latin typeface="等线" panose="02010600030101010101" pitchFamily="2" charset="-122"/>
                <a:cs typeface="Times New Roman" panose="02020603050405020304" pitchFamily="18" charset="0"/>
              </a:rPr>
              <a:t> -input /km_in \</a:t>
            </a:r>
            <a:endParaRPr lang="zh-CN" altLang="zh-CN" sz="1800" b="1" kern="100">
              <a:latin typeface="等线" panose="02010600030101010101" pitchFamily="2" charset="-122"/>
              <a:cs typeface="Times New Roman" panose="02020603050405020304" pitchFamily="18" charset="0"/>
            </a:endParaRPr>
          </a:p>
          <a:p>
            <a:pPr marR="133350">
              <a:lnSpc>
                <a:spcPct val="120000"/>
              </a:lnSpc>
              <a:spcAft>
                <a:spcPts val="0"/>
              </a:spcAft>
            </a:pPr>
            <a:r>
              <a:rPr lang="en-US" altLang="zh-CN" sz="1400" kern="100">
                <a:latin typeface="等线" panose="02010600030101010101" pitchFamily="2" charset="-122"/>
                <a:cs typeface="Times New Roman" panose="02020603050405020304" pitchFamily="18" charset="0"/>
              </a:rPr>
              <a:t> -output /km_out \</a:t>
            </a:r>
            <a:endParaRPr lang="zh-CN" altLang="zh-CN" sz="1800" b="1" kern="100">
              <a:latin typeface="等线" panose="02010600030101010101" pitchFamily="2" charset="-122"/>
              <a:cs typeface="Times New Roman" panose="02020603050405020304" pitchFamily="18" charset="0"/>
            </a:endParaRPr>
          </a:p>
          <a:p>
            <a:pPr marR="133350">
              <a:lnSpc>
                <a:spcPct val="120000"/>
              </a:lnSpc>
              <a:spcAft>
                <a:spcPts val="0"/>
              </a:spcAft>
            </a:pPr>
            <a:r>
              <a:rPr lang="en-US" altLang="zh-CN" sz="1400" kern="100">
                <a:latin typeface="等线" panose="02010600030101010101" pitchFamily="2" charset="-122"/>
                <a:cs typeface="Times New Roman" panose="02020603050405020304" pitchFamily="18" charset="0"/>
              </a:rPr>
              <a:t> -mapper /codes/mrkm_mapper.py \</a:t>
            </a:r>
            <a:endParaRPr lang="zh-CN" altLang="zh-CN" sz="1800" b="1" kern="100">
              <a:latin typeface="等线" panose="02010600030101010101" pitchFamily="2" charset="-122"/>
              <a:cs typeface="Times New Roman" panose="02020603050405020304" pitchFamily="18" charset="0"/>
            </a:endParaRPr>
          </a:p>
          <a:p>
            <a:pPr marR="133350">
              <a:lnSpc>
                <a:spcPct val="120000"/>
              </a:lnSpc>
              <a:spcAft>
                <a:spcPts val="0"/>
              </a:spcAft>
            </a:pPr>
            <a:r>
              <a:rPr lang="en-US" altLang="zh-CN" sz="1400" kern="100">
                <a:latin typeface="等线" panose="02010600030101010101" pitchFamily="2" charset="-122"/>
                <a:cs typeface="Times New Roman" panose="02020603050405020304" pitchFamily="18" charset="0"/>
              </a:rPr>
              <a:t> -reducer /codes/mrkm_reducer.py \</a:t>
            </a:r>
            <a:endParaRPr lang="zh-CN" altLang="zh-CN" sz="1800" b="1" kern="100">
              <a:latin typeface="等线" panose="02010600030101010101" pitchFamily="2" charset="-122"/>
              <a:cs typeface="Times New Roman" panose="02020603050405020304" pitchFamily="18" charset="0"/>
            </a:endParaRPr>
          </a:p>
          <a:p>
            <a:r>
              <a:rPr lang="en-US" altLang="zh-CN" sz="1400" kern="100">
                <a:latin typeface="等线" panose="02010600030101010101" pitchFamily="2" charset="-122"/>
                <a:cs typeface="Times New Roman" panose="02020603050405020304" pitchFamily="18" charset="0"/>
              </a:rPr>
              <a:t> -combiner /codes/mrkm_combiner.py</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304454"/>
            <a:ext cx="6211570" cy="400110"/>
          </a:xfrm>
          <a:prstGeom prst="rect">
            <a:avLst/>
          </a:prstGeom>
          <a:noFill/>
        </p:spPr>
        <p:txBody>
          <a:bodyPr wrap="square" rtlCol="0">
            <a:spAutoFit/>
          </a:bodyPr>
          <a:lstStyle/>
          <a:p>
            <a:r>
              <a:rPr sz="20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8.5.1基于MapReduce的K-Means聚类算法</a:t>
            </a:r>
          </a:p>
        </p:txBody>
      </p:sp>
      <p:sp>
        <p:nvSpPr>
          <p:cNvPr id="2" name="文本框 1"/>
          <p:cNvSpPr txBox="1"/>
          <p:nvPr/>
        </p:nvSpPr>
        <p:spPr>
          <a:xfrm>
            <a:off x="342900" y="1172210"/>
            <a:ext cx="8456930" cy="8915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a:latin typeface="+mn-ea"/>
              </a:rPr>
              <a:t> </a:t>
            </a: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此外，为了更方便测试程序，还可以编写一个Python程序来执行上述的命令：</a:t>
            </a:r>
          </a:p>
        </p:txBody>
      </p:sp>
      <p:sp>
        <p:nvSpPr>
          <p:cNvPr id="4" name="矩形 3">
            <a:extLst>
              <a:ext uri="{FF2B5EF4-FFF2-40B4-BE49-F238E27FC236}">
                <a16:creationId xmlns:a16="http://schemas.microsoft.com/office/drawing/2014/main" id="{620DAFDC-4C14-45B9-94A9-2AD76FF324D3}"/>
              </a:ext>
            </a:extLst>
          </p:cNvPr>
          <p:cNvSpPr/>
          <p:nvPr/>
        </p:nvSpPr>
        <p:spPr>
          <a:xfrm>
            <a:off x="2104159" y="2171700"/>
            <a:ext cx="4572000" cy="2117503"/>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nSpc>
                <a:spcPct val="120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kern="100">
                <a:latin typeface="等线" panose="02010600030101010101" pitchFamily="2" charset="-122"/>
                <a:cs typeface="Times New Roman" panose="02020603050405020304" pitchFamily="18" charset="0"/>
              </a:rPr>
              <a:t>import os</a:t>
            </a:r>
            <a:endParaRPr lang="zh-CN" altLang="zh-CN" sz="1800" kern="100">
              <a:latin typeface="等线" panose="02010600030101010101" pitchFamily="2" charset="-122"/>
              <a:cs typeface="Times New Roman" panose="02020603050405020304" pitchFamily="18" charset="0"/>
            </a:endParaRPr>
          </a:p>
          <a:p>
            <a:pPr>
              <a:lnSpc>
                <a:spcPct val="120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kern="100">
                <a:latin typeface="等线" panose="02010600030101010101" pitchFamily="2" charset="-122"/>
                <a:cs typeface="Times New Roman" panose="02020603050405020304" pitchFamily="18" charset="0"/>
              </a:rPr>
              <a:t>cmd = "mapred streaming \</a:t>
            </a:r>
            <a:endParaRPr lang="zh-CN" altLang="zh-CN" sz="1800" kern="100">
              <a:latin typeface="等线" panose="02010600030101010101" pitchFamily="2" charset="-122"/>
              <a:cs typeface="Times New Roman" panose="02020603050405020304" pitchFamily="18" charset="0"/>
            </a:endParaRPr>
          </a:p>
          <a:p>
            <a:pPr>
              <a:lnSpc>
                <a:spcPct val="120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kern="100">
                <a:latin typeface="等线" panose="02010600030101010101" pitchFamily="2" charset="-122"/>
                <a:cs typeface="Times New Roman" panose="02020603050405020304" pitchFamily="18" charset="0"/>
              </a:rPr>
              <a:t> -input /km_in \</a:t>
            </a:r>
            <a:endParaRPr lang="zh-CN" altLang="zh-CN" sz="1800" kern="100">
              <a:latin typeface="等线" panose="02010600030101010101" pitchFamily="2" charset="-122"/>
              <a:cs typeface="Times New Roman" panose="02020603050405020304" pitchFamily="18" charset="0"/>
            </a:endParaRPr>
          </a:p>
          <a:p>
            <a:pPr>
              <a:lnSpc>
                <a:spcPct val="120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kern="100">
                <a:latin typeface="等线" panose="02010600030101010101" pitchFamily="2" charset="-122"/>
                <a:cs typeface="Times New Roman" panose="02020603050405020304" pitchFamily="18" charset="0"/>
              </a:rPr>
              <a:t> -output /km_out \</a:t>
            </a:r>
            <a:endParaRPr lang="zh-CN" altLang="zh-CN" sz="1800" kern="100">
              <a:latin typeface="等线" panose="02010600030101010101" pitchFamily="2" charset="-122"/>
              <a:cs typeface="Times New Roman" panose="02020603050405020304" pitchFamily="18" charset="0"/>
            </a:endParaRPr>
          </a:p>
          <a:p>
            <a:pPr>
              <a:lnSpc>
                <a:spcPct val="120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kern="100">
                <a:latin typeface="等线" panose="02010600030101010101" pitchFamily="2" charset="-122"/>
                <a:cs typeface="Times New Roman" panose="02020603050405020304" pitchFamily="18" charset="0"/>
              </a:rPr>
              <a:t> -mapper /codes/mrkm_mapper.py \</a:t>
            </a:r>
            <a:endParaRPr lang="zh-CN" altLang="zh-CN" sz="1800" kern="100">
              <a:latin typeface="等线" panose="02010600030101010101" pitchFamily="2" charset="-122"/>
              <a:cs typeface="Times New Roman" panose="02020603050405020304" pitchFamily="18" charset="0"/>
            </a:endParaRPr>
          </a:p>
          <a:p>
            <a:pPr>
              <a:lnSpc>
                <a:spcPct val="120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kern="100">
                <a:latin typeface="等线" panose="02010600030101010101" pitchFamily="2" charset="-122"/>
                <a:cs typeface="Times New Roman" panose="02020603050405020304" pitchFamily="18" charset="0"/>
              </a:rPr>
              <a:t> -reducer /codes/mrkm_reducer.py \</a:t>
            </a:r>
            <a:endParaRPr lang="zh-CN" altLang="zh-CN" sz="1800" kern="100">
              <a:latin typeface="等线" panose="02010600030101010101" pitchFamily="2" charset="-122"/>
              <a:cs typeface="Times New Roman" panose="02020603050405020304" pitchFamily="18" charset="0"/>
            </a:endParaRPr>
          </a:p>
          <a:p>
            <a:pPr>
              <a:lnSpc>
                <a:spcPct val="120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kern="100">
                <a:latin typeface="等线" panose="02010600030101010101" pitchFamily="2" charset="-122"/>
                <a:cs typeface="Times New Roman" panose="02020603050405020304" pitchFamily="18" charset="0"/>
              </a:rPr>
              <a:t> -combiner /codes/mrkm_combiner.py"</a:t>
            </a:r>
            <a:endParaRPr lang="zh-CN" altLang="zh-CN" sz="1800" kern="100">
              <a:latin typeface="等线" panose="02010600030101010101" pitchFamily="2" charset="-122"/>
              <a:cs typeface="Times New Roman" panose="02020603050405020304" pitchFamily="18" charset="0"/>
            </a:endParaRPr>
          </a:p>
          <a:p>
            <a:r>
              <a:rPr lang="en-US" altLang="zh-CN" sz="1400" kern="100">
                <a:latin typeface="等线" panose="02010600030101010101" pitchFamily="2" charset="-122"/>
                <a:cs typeface="Times New Roman" panose="02020603050405020304" pitchFamily="18" charset="0"/>
              </a:rPr>
              <a:t>os.system(cmd)</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88181" y="0"/>
            <a:ext cx="9141291" cy="5143500"/>
          </a:xfrm>
          <a:prstGeom prst="rect">
            <a:avLst/>
          </a:prstGeom>
        </p:spPr>
      </p:pic>
      <p:grpSp>
        <p:nvGrpSpPr>
          <p:cNvPr id="32" name="组合 14"/>
          <p:cNvGrpSpPr/>
          <p:nvPr/>
        </p:nvGrpSpPr>
        <p:grpSpPr bwMode="auto">
          <a:xfrm>
            <a:off x="1925385" y="1878447"/>
            <a:ext cx="3046665" cy="152975"/>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2398395" y="1295400"/>
            <a:ext cx="2422987" cy="645160"/>
          </a:xfrm>
          <a:prstGeom prst="rect">
            <a:avLst/>
          </a:prstGeom>
          <a:noFill/>
        </p:spPr>
        <p:txBody>
          <a:bodyPr wrap="square">
            <a:spAutoFit/>
          </a:bodyPr>
          <a:lstStyle/>
          <a:p>
            <a:r>
              <a:rPr lang="zh-CN" altLang="en-US" sz="3600" b="1">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本章小结</a:t>
            </a:r>
          </a:p>
        </p:txBody>
      </p:sp>
      <p:sp>
        <p:nvSpPr>
          <p:cNvPr id="41" name="文本框 40"/>
          <p:cNvSpPr txBox="1">
            <a:spLocks noChangeArrowheads="1"/>
          </p:cNvSpPr>
          <p:nvPr/>
        </p:nvSpPr>
        <p:spPr bwMode="auto">
          <a:xfrm>
            <a:off x="775204" y="1157107"/>
            <a:ext cx="1698527" cy="922020"/>
          </a:xfrm>
          <a:prstGeom prst="rect">
            <a:avLst/>
          </a:prstGeom>
          <a:noFill/>
          <a:ln w="9525">
            <a:noFill/>
            <a:miter lim="800000"/>
          </a:ln>
        </p:spPr>
        <p:txBody>
          <a:bodyPr wrap="square">
            <a:spAutoFit/>
          </a:bodyPr>
          <a:lstStyle/>
          <a:p>
            <a:pPr algn="ctr"/>
            <a:r>
              <a:rPr lang="en-US" altLang="zh-CN" sz="5400">
                <a:solidFill>
                  <a:srgbClr val="00B0F0"/>
                </a:solidFill>
                <a:latin typeface="IrisUPC" panose="020B0604020202020204" pitchFamily="34" charset="-34"/>
                <a:cs typeface="IrisUPC" panose="020B0604020202020204" pitchFamily="34" charset="-34"/>
              </a:rPr>
              <a:t>8.6</a:t>
            </a:r>
          </a:p>
        </p:txBody>
      </p:sp>
      <p:sp>
        <p:nvSpPr>
          <p:cNvPr id="111" name="文本框 110"/>
          <p:cNvSpPr txBox="1"/>
          <p:nvPr/>
        </p:nvSpPr>
        <p:spPr>
          <a:xfrm>
            <a:off x="461645" y="2258695"/>
            <a:ext cx="8436610" cy="2091690"/>
          </a:xfrm>
          <a:prstGeom prst="rect">
            <a:avLst/>
          </a:prstGeom>
          <a:noFill/>
          <a:ln w="9525">
            <a:noFill/>
          </a:ln>
        </p:spPr>
        <p:txBody>
          <a:bodyPr wrap="square">
            <a:spAutoFit/>
          </a:bodyPr>
          <a:lstStyle/>
          <a:p>
            <a:pPr indent="0" algn="l">
              <a:lnSpc>
                <a:spcPct val="130000"/>
              </a:lnSpc>
              <a:spcBef>
                <a:spcPts val="0"/>
              </a:spcBef>
              <a:spcAft>
                <a:spcPts val="0"/>
              </a:spcAft>
              <a:buClrTx/>
              <a:buSzTx/>
              <a:buFont typeface="Wingdings" panose="05000000000000000000" pitchFamily="2" charset="2"/>
              <a:buNone/>
            </a:pPr>
            <a:r>
              <a:rPr lang="en-US" altLang="zh-CN" sz="2000" b="0">
                <a:ea typeface="宋体" panose="02010600030101010101" pitchFamily="2" charset="-122"/>
              </a:rPr>
              <a:t>       </a:t>
            </a:r>
            <a:r>
              <a:rPr lang="en-US" altLang="zh-CN" sz="2000" b="0">
                <a:latin typeface="等线" panose="02010600030101010101" pitchFamily="2" charset="-122"/>
                <a:ea typeface="等线" panose="02010600030101010101" pitchFamily="2" charset="-122"/>
                <a:cs typeface="等线" panose="02010600030101010101" pitchFamily="2" charset="-122"/>
              </a:rPr>
              <a:t> </a:t>
            </a:r>
            <a:r>
              <a:rPr lang="zh-CN" altLang="en-US" sz="2000" b="0">
                <a:solidFill>
                  <a:schemeClr val="bg1"/>
                </a:solidFill>
                <a:latin typeface="等线" panose="02010600030101010101" pitchFamily="2" charset="-122"/>
                <a:ea typeface="等线" panose="02010600030101010101" pitchFamily="2" charset="-122"/>
                <a:cs typeface="等线" panose="02010600030101010101" pitchFamily="2" charset="-122"/>
              </a:rPr>
              <a:t>本章首先介绍了数据的描述性分析方法，包括数据集中趋势度量、离散趋势度量和数据的偏态特性度量等。接着介绍了一些经典的分类和聚类算法，包括逻辑回归、近邻分类算法、决策树算法和K-Means聚类算法等。本章最后讨论K-Means算法的并行化问题，给出了基于MapReduce模型的MRK-Means的Python语言实现和相关的运行与测试方法。</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32698" y="4816947"/>
            <a:ext cx="775136" cy="246221"/>
          </a:xfrm>
          <a:prstGeom prst="rect">
            <a:avLst/>
          </a:prstGeom>
        </p:spPr>
        <p:txBody>
          <a:bodyPr wrap="square">
            <a:spAutoFit/>
          </a:bodyPr>
          <a:lstStyle/>
          <a:p>
            <a:pPr defTabSz="914400"/>
            <a:r>
              <a:rPr lang="en-US" altLang="zh-CN" sz="100">
                <a:solidFill>
                  <a:prstClr val="white"/>
                </a:solidFill>
                <a:ea typeface="宋体" panose="02010600030101010101" pitchFamily="2" charset="-122"/>
              </a:rPr>
              <a:t>PPT</a:t>
            </a:r>
            <a:r>
              <a:rPr lang="zh-CN" altLang="en-US" sz="100">
                <a:solidFill>
                  <a:prstClr val="white"/>
                </a:solidFill>
                <a:ea typeface="宋体" panose="02010600030101010101" pitchFamily="2" charset="-122"/>
              </a:rPr>
              <a:t>模板下载：</a:t>
            </a:r>
            <a:r>
              <a:rPr lang="en-US" altLang="zh-CN" sz="100">
                <a:solidFill>
                  <a:prstClr val="white"/>
                </a:solidFill>
                <a:ea typeface="宋体" panose="02010600030101010101" pitchFamily="2" charset="-122"/>
              </a:rPr>
              <a:t>www.1ppt.com/moban/     </a:t>
            </a:r>
            <a:r>
              <a:rPr lang="zh-CN" altLang="en-US" sz="100">
                <a:solidFill>
                  <a:prstClr val="white"/>
                </a:solidFill>
                <a:ea typeface="宋体" panose="02010600030101010101" pitchFamily="2" charset="-122"/>
              </a:rPr>
              <a:t>行业</a:t>
            </a:r>
            <a:r>
              <a:rPr lang="en-US" altLang="zh-CN" sz="100">
                <a:solidFill>
                  <a:prstClr val="white"/>
                </a:solidFill>
                <a:ea typeface="宋体" panose="02010600030101010101" pitchFamily="2" charset="-122"/>
              </a:rPr>
              <a:t>PPT</a:t>
            </a:r>
            <a:r>
              <a:rPr lang="zh-CN" altLang="en-US" sz="100">
                <a:solidFill>
                  <a:prstClr val="white"/>
                </a:solidFill>
                <a:ea typeface="宋体" panose="02010600030101010101" pitchFamily="2" charset="-122"/>
              </a:rPr>
              <a:t>模板：</a:t>
            </a:r>
            <a:r>
              <a:rPr lang="en-US" altLang="zh-CN" sz="100">
                <a:solidFill>
                  <a:prstClr val="white"/>
                </a:solidFill>
                <a:ea typeface="宋体" panose="02010600030101010101" pitchFamily="2" charset="-122"/>
              </a:rPr>
              <a:t>www.1ppt.com/hangye/ </a:t>
            </a:r>
          </a:p>
          <a:p>
            <a:pPr defTabSz="914400"/>
            <a:r>
              <a:rPr lang="zh-CN" altLang="en-US" sz="100">
                <a:solidFill>
                  <a:prstClr val="white"/>
                </a:solidFill>
                <a:ea typeface="宋体" panose="02010600030101010101" pitchFamily="2" charset="-122"/>
              </a:rPr>
              <a:t>节日</a:t>
            </a:r>
            <a:r>
              <a:rPr lang="en-US" altLang="zh-CN" sz="100">
                <a:solidFill>
                  <a:prstClr val="white"/>
                </a:solidFill>
                <a:ea typeface="宋体" panose="02010600030101010101" pitchFamily="2" charset="-122"/>
              </a:rPr>
              <a:t>PPT</a:t>
            </a:r>
            <a:r>
              <a:rPr lang="zh-CN" altLang="en-US" sz="100">
                <a:solidFill>
                  <a:prstClr val="white"/>
                </a:solidFill>
                <a:ea typeface="宋体" panose="02010600030101010101" pitchFamily="2" charset="-122"/>
              </a:rPr>
              <a:t>模板：</a:t>
            </a:r>
            <a:r>
              <a:rPr lang="en-US" altLang="zh-CN" sz="100">
                <a:solidFill>
                  <a:prstClr val="white"/>
                </a:solidFill>
                <a:ea typeface="宋体" panose="02010600030101010101" pitchFamily="2" charset="-122"/>
              </a:rPr>
              <a:t>www.1ppt.com/jieri/           PPT</a:t>
            </a:r>
            <a:r>
              <a:rPr lang="zh-CN" altLang="en-US" sz="100">
                <a:solidFill>
                  <a:prstClr val="white"/>
                </a:solidFill>
                <a:ea typeface="宋体" panose="02010600030101010101" pitchFamily="2" charset="-122"/>
              </a:rPr>
              <a:t>素材下载：</a:t>
            </a:r>
            <a:r>
              <a:rPr lang="en-US" altLang="zh-CN" sz="100">
                <a:solidFill>
                  <a:prstClr val="white"/>
                </a:solidFill>
                <a:ea typeface="宋体" panose="02010600030101010101" pitchFamily="2" charset="-122"/>
              </a:rPr>
              <a:t>www.1ppt.com/sucai/</a:t>
            </a:r>
          </a:p>
          <a:p>
            <a:pPr defTabSz="914400"/>
            <a:r>
              <a:rPr lang="en-US" altLang="zh-CN" sz="100">
                <a:solidFill>
                  <a:prstClr val="white"/>
                </a:solidFill>
                <a:ea typeface="宋体" panose="02010600030101010101" pitchFamily="2" charset="-122"/>
              </a:rPr>
              <a:t>PPT</a:t>
            </a:r>
            <a:r>
              <a:rPr lang="zh-CN" altLang="en-US" sz="100">
                <a:solidFill>
                  <a:prstClr val="white"/>
                </a:solidFill>
                <a:ea typeface="宋体" panose="02010600030101010101" pitchFamily="2" charset="-122"/>
              </a:rPr>
              <a:t>背景图片：</a:t>
            </a:r>
            <a:r>
              <a:rPr lang="en-US" altLang="zh-CN" sz="100">
                <a:solidFill>
                  <a:prstClr val="white"/>
                </a:solidFill>
                <a:ea typeface="宋体" panose="02010600030101010101" pitchFamily="2" charset="-122"/>
              </a:rPr>
              <a:t>www.1ppt.com/beijing/      PPT</a:t>
            </a:r>
            <a:r>
              <a:rPr lang="zh-CN" altLang="en-US" sz="100">
                <a:solidFill>
                  <a:prstClr val="white"/>
                </a:solidFill>
                <a:ea typeface="宋体" panose="02010600030101010101" pitchFamily="2" charset="-122"/>
              </a:rPr>
              <a:t>图表下载：</a:t>
            </a:r>
            <a:r>
              <a:rPr lang="en-US" altLang="zh-CN" sz="100">
                <a:solidFill>
                  <a:prstClr val="white"/>
                </a:solidFill>
                <a:ea typeface="宋体" panose="02010600030101010101" pitchFamily="2" charset="-122"/>
              </a:rPr>
              <a:t>www.1ppt.com/tubiao/      </a:t>
            </a:r>
          </a:p>
          <a:p>
            <a:pPr defTabSz="914400"/>
            <a:r>
              <a:rPr lang="zh-CN" altLang="en-US" sz="100">
                <a:solidFill>
                  <a:prstClr val="white"/>
                </a:solidFill>
                <a:ea typeface="宋体" panose="02010600030101010101" pitchFamily="2" charset="-122"/>
              </a:rPr>
              <a:t>优秀</a:t>
            </a:r>
            <a:r>
              <a:rPr lang="en-US" altLang="zh-CN" sz="100">
                <a:solidFill>
                  <a:prstClr val="white"/>
                </a:solidFill>
                <a:ea typeface="宋体" panose="02010600030101010101" pitchFamily="2" charset="-122"/>
              </a:rPr>
              <a:t>PPT</a:t>
            </a:r>
            <a:r>
              <a:rPr lang="zh-CN" altLang="en-US" sz="100">
                <a:solidFill>
                  <a:prstClr val="white"/>
                </a:solidFill>
                <a:ea typeface="宋体" panose="02010600030101010101" pitchFamily="2" charset="-122"/>
              </a:rPr>
              <a:t>下载：</a:t>
            </a:r>
            <a:r>
              <a:rPr lang="en-US" altLang="zh-CN" sz="100">
                <a:solidFill>
                  <a:prstClr val="white"/>
                </a:solidFill>
                <a:ea typeface="宋体" panose="02010600030101010101" pitchFamily="2" charset="-122"/>
              </a:rPr>
              <a:t>www.1ppt.com/xiazai/        PPT</a:t>
            </a:r>
            <a:r>
              <a:rPr lang="zh-CN" altLang="en-US" sz="100">
                <a:solidFill>
                  <a:prstClr val="white"/>
                </a:solidFill>
                <a:ea typeface="宋体" panose="02010600030101010101" pitchFamily="2" charset="-122"/>
              </a:rPr>
              <a:t>教程： </a:t>
            </a:r>
            <a:r>
              <a:rPr lang="en-US" altLang="zh-CN" sz="100">
                <a:solidFill>
                  <a:prstClr val="white"/>
                </a:solidFill>
                <a:ea typeface="宋体" panose="02010600030101010101" pitchFamily="2" charset="-122"/>
              </a:rPr>
              <a:t>www.1ppt.com/powerpoint/      </a:t>
            </a:r>
          </a:p>
          <a:p>
            <a:pPr defTabSz="914400"/>
            <a:r>
              <a:rPr lang="en-US" altLang="zh-CN" sz="100">
                <a:solidFill>
                  <a:prstClr val="white"/>
                </a:solidFill>
                <a:ea typeface="宋体" panose="02010600030101010101" pitchFamily="2" charset="-122"/>
              </a:rPr>
              <a:t>Word</a:t>
            </a:r>
            <a:r>
              <a:rPr lang="zh-CN" altLang="en-US" sz="100">
                <a:solidFill>
                  <a:prstClr val="white"/>
                </a:solidFill>
                <a:ea typeface="宋体" panose="02010600030101010101" pitchFamily="2" charset="-122"/>
              </a:rPr>
              <a:t>教程： </a:t>
            </a:r>
            <a:r>
              <a:rPr lang="en-US" altLang="zh-CN" sz="100">
                <a:solidFill>
                  <a:prstClr val="white"/>
                </a:solidFill>
                <a:ea typeface="宋体" panose="02010600030101010101" pitchFamily="2" charset="-122"/>
              </a:rPr>
              <a:t>www.1ppt.com/word/              Excel</a:t>
            </a:r>
            <a:r>
              <a:rPr lang="zh-CN" altLang="en-US" sz="100">
                <a:solidFill>
                  <a:prstClr val="white"/>
                </a:solidFill>
                <a:ea typeface="宋体" panose="02010600030101010101" pitchFamily="2" charset="-122"/>
              </a:rPr>
              <a:t>教程：</a:t>
            </a:r>
            <a:r>
              <a:rPr lang="en-US" altLang="zh-CN" sz="100">
                <a:solidFill>
                  <a:prstClr val="white"/>
                </a:solidFill>
                <a:ea typeface="宋体" panose="02010600030101010101" pitchFamily="2" charset="-122"/>
              </a:rPr>
              <a:t>www.1ppt.com/excel/  </a:t>
            </a:r>
          </a:p>
          <a:p>
            <a:pPr defTabSz="914400"/>
            <a:r>
              <a:rPr lang="zh-CN" altLang="en-US" sz="100">
                <a:solidFill>
                  <a:prstClr val="white"/>
                </a:solidFill>
                <a:ea typeface="宋体" panose="02010600030101010101" pitchFamily="2" charset="-122"/>
              </a:rPr>
              <a:t>资料下载：</a:t>
            </a:r>
            <a:r>
              <a:rPr lang="en-US" altLang="zh-CN" sz="100">
                <a:solidFill>
                  <a:prstClr val="white"/>
                </a:solidFill>
                <a:ea typeface="宋体" panose="02010600030101010101" pitchFamily="2" charset="-122"/>
              </a:rPr>
              <a:t>www.1ppt.com/ziliao/                PPT</a:t>
            </a:r>
            <a:r>
              <a:rPr lang="zh-CN" altLang="en-US" sz="100">
                <a:solidFill>
                  <a:prstClr val="white"/>
                </a:solidFill>
                <a:ea typeface="宋体" panose="02010600030101010101" pitchFamily="2" charset="-122"/>
              </a:rPr>
              <a:t>课件下载：</a:t>
            </a:r>
            <a:r>
              <a:rPr lang="en-US" altLang="zh-CN" sz="100">
                <a:solidFill>
                  <a:prstClr val="white"/>
                </a:solidFill>
                <a:ea typeface="宋体" panose="02010600030101010101" pitchFamily="2" charset="-122"/>
              </a:rPr>
              <a:t>www.1ppt.com/kejian/ </a:t>
            </a:r>
          </a:p>
          <a:p>
            <a:pPr defTabSz="914400"/>
            <a:r>
              <a:rPr lang="zh-CN" altLang="en-US" sz="100">
                <a:solidFill>
                  <a:prstClr val="white"/>
                </a:solidFill>
                <a:ea typeface="宋体" panose="02010600030101010101" pitchFamily="2" charset="-122"/>
              </a:rPr>
              <a:t>范文下载：</a:t>
            </a:r>
            <a:r>
              <a:rPr lang="en-US" altLang="zh-CN" sz="100">
                <a:solidFill>
                  <a:prstClr val="white"/>
                </a:solidFill>
                <a:ea typeface="宋体" panose="02010600030101010101" pitchFamily="2" charset="-122"/>
              </a:rPr>
              <a:t>www.1ppt.com/fanwen/             </a:t>
            </a:r>
            <a:r>
              <a:rPr lang="zh-CN" altLang="en-US" sz="100">
                <a:solidFill>
                  <a:prstClr val="white"/>
                </a:solidFill>
                <a:ea typeface="宋体" panose="02010600030101010101" pitchFamily="2" charset="-122"/>
              </a:rPr>
              <a:t>试卷下载：</a:t>
            </a:r>
            <a:r>
              <a:rPr lang="en-US" altLang="zh-CN" sz="100">
                <a:solidFill>
                  <a:prstClr val="white"/>
                </a:solidFill>
                <a:ea typeface="宋体" panose="02010600030101010101" pitchFamily="2" charset="-122"/>
              </a:rPr>
              <a:t>www.1ppt.com/shiti/  </a:t>
            </a:r>
          </a:p>
          <a:p>
            <a:pPr defTabSz="914400"/>
            <a:r>
              <a:rPr lang="zh-CN" altLang="en-US" sz="100">
                <a:solidFill>
                  <a:prstClr val="white"/>
                </a:solidFill>
                <a:ea typeface="宋体" panose="02010600030101010101" pitchFamily="2" charset="-122"/>
              </a:rPr>
              <a:t>教案下载：</a:t>
            </a:r>
            <a:r>
              <a:rPr lang="en-US" altLang="zh-CN" sz="100">
                <a:solidFill>
                  <a:prstClr val="white"/>
                </a:solidFill>
                <a:ea typeface="宋体" panose="02010600030101010101" pitchFamily="2" charset="-122"/>
              </a:rPr>
              <a:t>www.1ppt.com/jiaoan/        </a:t>
            </a:r>
          </a:p>
          <a:p>
            <a:pPr defTabSz="914400"/>
            <a:r>
              <a:rPr lang="zh-CN" altLang="en-US" sz="100">
                <a:solidFill>
                  <a:prstClr val="white"/>
                </a:solidFill>
                <a:ea typeface="宋体" panose="02010600030101010101" pitchFamily="2" charset="-122"/>
              </a:rPr>
              <a:t>字体下载：</a:t>
            </a:r>
            <a:r>
              <a:rPr lang="en-US" altLang="zh-CN" sz="100">
                <a:solidFill>
                  <a:prstClr val="white"/>
                </a:solidFill>
                <a:ea typeface="宋体" panose="02010600030101010101" pitchFamily="2" charset="-122"/>
              </a:rPr>
              <a:t>www.1ppt.com/ziti/</a:t>
            </a:r>
          </a:p>
          <a:p>
            <a:pPr defTabSz="914400"/>
            <a:r>
              <a:rPr lang="en-US" altLang="zh-CN" sz="100">
                <a:solidFill>
                  <a:prstClr val="white"/>
                </a:solidFill>
                <a:ea typeface="宋体" panose="02010600030101010101" pitchFamily="2" charset="-122"/>
              </a:rPr>
              <a:t> </a:t>
            </a:r>
            <a:endParaRPr lang="zh-CN" altLang="en-US" sz="100">
              <a:solidFill>
                <a:prstClr val="white"/>
              </a:solidFill>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1354" y="0"/>
            <a:ext cx="9141291" cy="5143500"/>
          </a:xfrm>
          <a:prstGeom prst="rect">
            <a:avLst/>
          </a:prstGeom>
        </p:spPr>
      </p:pic>
      <p:pic>
        <p:nvPicPr>
          <p:cNvPr id="4" name="图片 3"/>
          <p:cNvPicPr>
            <a:picLocks noChangeAspect="1"/>
          </p:cNvPicPr>
          <p:nvPr/>
        </p:nvPicPr>
        <p:blipFill>
          <a:blip r:embed="rId4"/>
          <a:stretch>
            <a:fillRect/>
          </a:stretch>
        </p:blipFill>
        <p:spPr>
          <a:xfrm>
            <a:off x="1641307" y="294089"/>
            <a:ext cx="6260074" cy="4522858"/>
          </a:xfrm>
          <a:prstGeom prst="rect">
            <a:avLst/>
          </a:prstGeom>
        </p:spPr>
      </p:pic>
      <p:pic>
        <p:nvPicPr>
          <p:cNvPr id="7" name="图片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20226" y="1047394"/>
            <a:ext cx="2804652" cy="28170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8" name="文本框 7"/>
          <p:cNvSpPr txBox="1"/>
          <p:nvPr/>
        </p:nvSpPr>
        <p:spPr>
          <a:xfrm>
            <a:off x="312528" y="294089"/>
            <a:ext cx="3948450" cy="3416320"/>
          </a:xfrm>
          <a:prstGeom prst="rect">
            <a:avLst/>
          </a:prstGeom>
          <a:noFill/>
        </p:spPr>
        <p:txBody>
          <a:bodyPr wrap="square" rtlCol="0">
            <a:spAutoFit/>
          </a:bodyPr>
          <a:lstStyle/>
          <a:p>
            <a:r>
              <a:rPr lang="zh-CN" altLang="en-US" sz="7200">
                <a:solidFill>
                  <a:srgbClr val="FFC000"/>
                </a:solidFill>
              </a:rPr>
              <a:t>谢</a:t>
            </a:r>
            <a:endParaRPr lang="en-US" altLang="zh-CN" sz="7200">
              <a:solidFill>
                <a:srgbClr val="FFC000"/>
              </a:solidFill>
            </a:endParaRPr>
          </a:p>
          <a:p>
            <a:r>
              <a:rPr lang="zh-CN" altLang="en-US" sz="7200">
                <a:solidFill>
                  <a:srgbClr val="FFC000"/>
                </a:solidFill>
              </a:rPr>
              <a:t>  谢</a:t>
            </a:r>
            <a:endParaRPr lang="en-US" altLang="zh-CN" sz="7200">
              <a:solidFill>
                <a:srgbClr val="FFC000"/>
              </a:solidFill>
            </a:endParaRPr>
          </a:p>
          <a:p>
            <a:r>
              <a:rPr lang="zh-CN" altLang="en-US" sz="7200">
                <a:solidFill>
                  <a:srgbClr val="FFC000"/>
                </a:solidFill>
              </a:rPr>
              <a:t> ！</a:t>
            </a:r>
            <a:r>
              <a:rPr lang="zh-CN" altLang="en-US" sz="7200">
                <a:solidFill>
                  <a:srgbClr val="FF0000"/>
                </a:solidFill>
              </a:rPr>
              <a:t>       </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ppt_w</p:attrName>
                                        </p:attrNameLst>
                                      </p:cBhvr>
                                      <p:tavLst>
                                        <p:tav tm="0">
                                          <p:val>
                                            <p:fltVal val="0"/>
                                          </p:val>
                                        </p:tav>
                                        <p:tav tm="100000">
                                          <p:val>
                                            <p:strVal val="#ppt_w"/>
                                          </p:val>
                                        </p:tav>
                                      </p:tavLst>
                                    </p:anim>
                                    <p:anim calcmode="lin" valueType="num">
                                      <p:cBhvr>
                                        <p:cTn id="12" dur="500" fill="hold"/>
                                        <p:tgtEl>
                                          <p:spTgt spid="8"/>
                                        </p:tgtEl>
                                        <p:attrNameLst>
                                          <p:attrName>ppt_h</p:attrName>
                                        </p:attrNameLst>
                                      </p:cBhvr>
                                      <p:tavLst>
                                        <p:tav tm="0">
                                          <p:val>
                                            <p:fltVal val="0"/>
                                          </p:val>
                                        </p:tav>
                                        <p:tav tm="100000">
                                          <p:val>
                                            <p:strVal val="#ppt_h"/>
                                          </p:val>
                                        </p:tav>
                                      </p:tavLst>
                                    </p:anim>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e445e531-7bdc-4555-bd94-62ffdee2a3c6}"/>
  <p:tag name="TABLE_ENDDRAG_ORIGIN_RECT" val="402*93"/>
  <p:tag name="TABLE_ENDDRAG_RECT" val="143*278*402*93"/>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364f8cfc-d312-40e4-b906-0b68b7a767c5}"/>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6f6b6d92-4fc0-4cb8-80d2-0a5720c2fa79}"/>
  <p:tag name="TABLE_ENDDRAG_ORIGIN_RECT" val="374*40"/>
  <p:tag name="TABLE_ENDDRAG_RECT" val="159*259*374*40"/>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364f8cfc-d312-40e4-b906-0b68b7a767c5}"/>
</p:tagLst>
</file>

<file path=ppt/tags/tag5.xml><?xml version="1.0" encoding="utf-8"?>
<p:tagLst xmlns:a="http://schemas.openxmlformats.org/drawingml/2006/main" xmlns:r="http://schemas.openxmlformats.org/officeDocument/2006/relationships" xmlns:p="http://schemas.openxmlformats.org/presentationml/2006/main">
  <p:tag name="KSO_WM_UNIT_TABLE_BEAUTIFY" val="smartTable{2c35230a-38cf-480f-b323-716ddf2b239d}"/>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2c35230a-38cf-480f-b323-716ddf2b239d}"/>
</p:tagLst>
</file>

<file path=ppt/tags/tag7.xml><?xml version="1.0" encoding="utf-8"?>
<p:tagLst xmlns:a="http://schemas.openxmlformats.org/drawingml/2006/main" xmlns:r="http://schemas.openxmlformats.org/officeDocument/2006/relationships" xmlns:p="http://schemas.openxmlformats.org/presentationml/2006/main">
  <p:tag name="KSO_WM_UNIT_TABLE_BEAUTIFY" val="smartTable{2c35230a-38cf-480f-b323-716ddf2b239d}"/>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2c35230a-38cf-480f-b323-716ddf2b239d}"/>
</p:tagLst>
</file>

<file path=ppt/tags/tag9.xml><?xml version="1.0" encoding="utf-8"?>
<p:tagLst xmlns:a="http://schemas.openxmlformats.org/drawingml/2006/main" xmlns:r="http://schemas.openxmlformats.org/officeDocument/2006/relationships" xmlns:p="http://schemas.openxmlformats.org/presentationml/2006/main">
  <p:tag name="KSO_WM_UNIT_TABLE_BEAUTIFY" val="smartTable{2c35230a-38cf-480f-b323-716ddf2b239d}"/>
</p:tagLst>
</file>

<file path=ppt/tags/tag10.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543,&quot;width&quot;:4720}"/>
</p:tagLst>
</file>

<file path=ppt/tags/tag11.xml><?xml version="1.0" encoding="utf-8"?>
<p:tagLst xmlns:a="http://schemas.openxmlformats.org/drawingml/2006/main" xmlns:r="http://schemas.openxmlformats.org/officeDocument/2006/relationships" xmlns:p="http://schemas.openxmlformats.org/presentationml/2006/main">
  <p:tag name="KSO_WM_UNIT_TABLE_BEAUTIFY" val="smartTable{47367948-2b9e-49ef-bd06-57508457a544}"/>
  <p:tag name="TABLE_ENDDRAG_ORIGIN_RECT" val="335*33"/>
  <p:tag name="TABLE_ENDDRAG_RECT" val="158*146*335*33"/>
</p:tagLst>
</file>

<file path=ppt/tags/tag12.xml><?xml version="1.0" encoding="utf-8"?>
<p:tagLst xmlns:a="http://schemas.openxmlformats.org/drawingml/2006/main" xmlns:r="http://schemas.openxmlformats.org/officeDocument/2006/relationships" xmlns:p="http://schemas.openxmlformats.org/presentationml/2006/main">
  <p:tag name="KSO_WM_UNIT_TABLE_BEAUTIFY" val="smartTable{1902d4be-be9e-4b8f-818e-d6e91424d898}"/>
</p:tagLst>
</file>

<file path=ppt/tags/tag13.xml><?xml version="1.0" encoding="utf-8"?>
<p:tagLst xmlns:a="http://schemas.openxmlformats.org/drawingml/2006/main" xmlns:r="http://schemas.openxmlformats.org/officeDocument/2006/relationships" xmlns:p="http://schemas.openxmlformats.org/presentationml/2006/main">
  <p:tag name="KSO_WM_UNIT_TABLE_BEAUTIFY" val="smartTable{da535f6e-2a39-456d-a109-bbfe0b23fc90}"/>
  <p:tag name="TABLE_ENDDRAG_ORIGIN_RECT" val="291*287"/>
  <p:tag name="TABLE_ENDDRAG_RECT" val="413*89*291*287"/>
</p:tagLst>
</file>

<file path=ppt/tags/tag1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663,&quot;width&quot;:3034}"/>
</p:tagLst>
</file>

<file path=ppt/theme/theme1.xml><?xml version="1.0" encoding="utf-8"?>
<a:theme xmlns:a="http://schemas.openxmlformats.org/drawingml/2006/main" name="第一PPT，www.1ppt.com">
  <a:themeElements>
    <a:clrScheme name="自定义 11">
      <a:dk1>
        <a:sysClr val="windowText" lastClr="000000"/>
      </a:dk1>
      <a:lt1>
        <a:sysClr val="window" lastClr="FFFFFF"/>
      </a:lt1>
      <a:dk2>
        <a:srgbClr val="44546A"/>
      </a:dk2>
      <a:lt2>
        <a:srgbClr val="E7E6E6"/>
      </a:lt2>
      <a:accent1>
        <a:srgbClr val="5B9BD5"/>
      </a:accent1>
      <a:accent2>
        <a:srgbClr val="459BB3"/>
      </a:accent2>
      <a:accent3>
        <a:srgbClr val="00B0F0"/>
      </a:accent3>
      <a:accent4>
        <a:srgbClr val="00B0F0"/>
      </a:accent4>
      <a:accent5>
        <a:srgbClr val="459BB3"/>
      </a:accent5>
      <a:accent6>
        <a:srgbClr val="459BB3"/>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1">
    <a:dk1>
      <a:sysClr val="windowText" lastClr="000000"/>
    </a:dk1>
    <a:lt1>
      <a:sysClr val="window" lastClr="FFFFFF"/>
    </a:lt1>
    <a:dk2>
      <a:srgbClr val="44546A"/>
    </a:dk2>
    <a:lt2>
      <a:srgbClr val="E7E6E6"/>
    </a:lt2>
    <a:accent1>
      <a:srgbClr val="5B9BD5"/>
    </a:accent1>
    <a:accent2>
      <a:srgbClr val="459BB3"/>
    </a:accent2>
    <a:accent3>
      <a:srgbClr val="00B0F0"/>
    </a:accent3>
    <a:accent4>
      <a:srgbClr val="00B0F0"/>
    </a:accent4>
    <a:accent5>
      <a:srgbClr val="459BB3"/>
    </a:accent5>
    <a:accent6>
      <a:srgbClr val="459BB3"/>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Gallery</Template>
  <TotalTime>461</TotalTime>
  <Words>7299</Words>
  <Application>Microsoft Office PowerPoint</Application>
  <PresentationFormat>全屏显示(16:9)</PresentationFormat>
  <Paragraphs>939</Paragraphs>
  <Slides>97</Slides>
  <Notes>51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97</vt:i4>
      </vt:variant>
    </vt:vector>
  </HeadingPairs>
  <TitlesOfParts>
    <vt:vector size="112" baseType="lpstr">
      <vt:lpstr>MS Gothic</vt:lpstr>
      <vt:lpstr>等线</vt:lpstr>
      <vt:lpstr>等线 Light</vt:lpstr>
      <vt:lpstr>黑体</vt:lpstr>
      <vt:lpstr>宋体</vt:lpstr>
      <vt:lpstr>微软雅黑</vt:lpstr>
      <vt:lpstr>Arial</vt:lpstr>
      <vt:lpstr>Calibri</vt:lpstr>
      <vt:lpstr>Calibri Light</vt:lpstr>
      <vt:lpstr>Cambria Math</vt:lpstr>
      <vt:lpstr>Impact</vt:lpstr>
      <vt:lpstr>IrisUPC</vt:lpstr>
      <vt:lpstr>Times New Roman</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http://www.ypppt.com/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第一PPT</dc:creator>
  <cp:keywords>www.1ppt.com</cp:keywords>
  <dc:description>www.1ppt.com</dc:description>
  <cp:lastModifiedBy>lenovo</cp:lastModifiedBy>
  <cp:revision>344</cp:revision>
  <dcterms:created xsi:type="dcterms:W3CDTF">2017-03-04T06:55:00Z</dcterms:created>
  <dcterms:modified xsi:type="dcterms:W3CDTF">2022-12-08T07:40:11Z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2052-11.1.0.10938</vt:lpwstr>
  </property>
  <property fmtid="{D5CDD505-2E9C-101B-9397-08002B2CF9AE}" pid="3" name="ICV">
    <vt:lpwstr>252D1EE556A7488796FAE8D3BC33E8EE</vt:lpwstr>
  </property>
</Properties>
</file>
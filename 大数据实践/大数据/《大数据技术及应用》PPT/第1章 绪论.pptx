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vsdx" ContentType="application/vnd.ms-visio.drawing"/>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3">
  <p:sldMasterIdLst>
    <p:sldMasterId id="2147483648" r:id="rId1"/>
  </p:sldMasterIdLst>
  <p:notesMasterIdLst>
    <p:notesMasterId r:id="rId50"/>
  </p:notesMasterIdLst>
  <p:handoutMasterIdLst>
    <p:handoutMasterId r:id="rId51"/>
  </p:handoutMasterIdLst>
  <p:sldIdLst>
    <p:sldId id="288" r:id="rId2"/>
    <p:sldId id="290" r:id="rId3"/>
    <p:sldId id="289" r:id="rId4"/>
    <p:sldId id="318" r:id="rId5"/>
    <p:sldId id="723" r:id="rId6"/>
    <p:sldId id="724" r:id="rId7"/>
    <p:sldId id="337" r:id="rId8"/>
    <p:sldId id="509" r:id="rId9"/>
    <p:sldId id="726" r:id="rId10"/>
    <p:sldId id="699" r:id="rId11"/>
    <p:sldId id="384" r:id="rId12"/>
    <p:sldId id="700" r:id="rId13"/>
    <p:sldId id="725" r:id="rId14"/>
    <p:sldId id="701" r:id="rId15"/>
    <p:sldId id="707" r:id="rId16"/>
    <p:sldId id="727" r:id="rId17"/>
    <p:sldId id="385" r:id="rId18"/>
    <p:sldId id="702" r:id="rId19"/>
    <p:sldId id="703" r:id="rId20"/>
    <p:sldId id="386" r:id="rId21"/>
    <p:sldId id="708" r:id="rId22"/>
    <p:sldId id="387" r:id="rId23"/>
    <p:sldId id="704" r:id="rId24"/>
    <p:sldId id="705" r:id="rId25"/>
    <p:sldId id="706" r:id="rId26"/>
    <p:sldId id="709" r:id="rId27"/>
    <p:sldId id="513" r:id="rId28"/>
    <p:sldId id="710" r:id="rId29"/>
    <p:sldId id="711" r:id="rId30"/>
    <p:sldId id="712" r:id="rId31"/>
    <p:sldId id="713" r:id="rId32"/>
    <p:sldId id="714" r:id="rId33"/>
    <p:sldId id="715" r:id="rId34"/>
    <p:sldId id="514" r:id="rId35"/>
    <p:sldId id="391" r:id="rId36"/>
    <p:sldId id="515" r:id="rId37"/>
    <p:sldId id="580" r:id="rId38"/>
    <p:sldId id="720" r:id="rId39"/>
    <p:sldId id="716" r:id="rId40"/>
    <p:sldId id="717" r:id="rId41"/>
    <p:sldId id="721" r:id="rId42"/>
    <p:sldId id="722" r:id="rId43"/>
    <p:sldId id="510" r:id="rId44"/>
    <p:sldId id="393" r:id="rId45"/>
    <p:sldId id="718" r:id="rId46"/>
    <p:sldId id="719" r:id="rId47"/>
    <p:sldId id="728" r:id="rId48"/>
    <p:sldId id="311" r:id="rId49"/>
  </p:sldIdLst>
  <p:sldSz cx="9144000" cy="5143500" type="screen16x9"/>
  <p:notesSz cx="6858000" cy="9144000"/>
  <p:defaultTex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95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74991"/>
    <a:srgbClr val="5B9BD5"/>
    <a:srgbClr val="0070C0"/>
    <a:srgbClr val="55375F"/>
    <a:srgbClr val="7CA82A"/>
    <a:srgbClr val="442C4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660" autoAdjust="0"/>
    <p:restoredTop sz="95104" autoAdjust="0"/>
  </p:normalViewPr>
  <p:slideViewPr>
    <p:cSldViewPr snapToGrid="0">
      <p:cViewPr varScale="1">
        <p:scale>
          <a:sx n="207" d="100"/>
          <a:sy n="207" d="100"/>
        </p:scale>
        <p:origin x="352" y="108"/>
      </p:cViewPr>
      <p:guideLst>
        <p:guide orient="horz" pos="1620"/>
        <p:guide pos="2951"/>
      </p:guideLst>
    </p:cSldViewPr>
  </p:slideViewPr>
  <p:outlineViewPr>
    <p:cViewPr>
      <p:scale>
        <a:sx n="33" d="100"/>
        <a:sy n="33" d="100"/>
      </p:scale>
      <p:origin x="0" y="-108"/>
    </p:cViewPr>
  </p:outlineViewPr>
  <p:notesTextViewPr>
    <p:cViewPr>
      <p:scale>
        <a:sx n="1" d="1"/>
        <a:sy n="1" d="1"/>
      </p:scale>
      <p:origin x="0" y="0"/>
    </p:cViewPr>
  </p:notesTextViewPr>
  <p:sorterViewPr>
    <p:cViewPr>
      <p:scale>
        <a:sx n="121" d="100"/>
        <a:sy n="121" d="100"/>
      </p:scale>
      <p:origin x="0" y="0"/>
    </p:cViewPr>
  </p:sorterViewPr>
  <p:notesViewPr>
    <p:cSldViewPr snapToGrid="0">
      <p:cViewPr varScale="1">
        <p:scale>
          <a:sx n="95" d="100"/>
          <a:sy n="95" d="100"/>
        </p:scale>
        <p:origin x="4042" y="5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53D9ACA-1782-4FCB-A0EC-B2FE70654AFE}" type="datetimeFigureOut">
              <a:rPr lang="zh-CN" altLang="en-US" smtClean="0"/>
              <a:t>2022/9/6</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6782627-E3EE-4561-A6E9-BC344C6B2724}" type="slidenum">
              <a:rPr lang="zh-CN" altLang="en-US" smtClean="0"/>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E8BE76-29C8-41AB-8544-889D89FA4F96}" type="datetimeFigureOut">
              <a:rPr lang="zh-CN" altLang="en-US" smtClean="0"/>
              <a:t>2022/9/6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3AD677-048F-409F-AACD-0A0B5EF61C8C}"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1</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2</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3</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5</a:t>
            </a:fld>
            <a:endParaRPr lang="zh-CN" altLang="en-US"/>
          </a:p>
        </p:txBody>
      </p:sp>
    </p:spTree>
    <p:extLst>
      <p:ext uri="{BB962C8B-B14F-4D97-AF65-F5344CB8AC3E}">
        <p14:creationId xmlns:p14="http://schemas.microsoft.com/office/powerpoint/2010/main" val="25299781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6</a:t>
            </a:fld>
            <a:endParaRPr lang="zh-CN" altLang="en-US"/>
          </a:p>
        </p:txBody>
      </p:sp>
    </p:spTree>
    <p:extLst>
      <p:ext uri="{BB962C8B-B14F-4D97-AF65-F5344CB8AC3E}">
        <p14:creationId xmlns:p14="http://schemas.microsoft.com/office/powerpoint/2010/main" val="5342333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8</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t>Big data: </a:t>
            </a:r>
            <a:r>
              <a:rPr lang="zh-CN" altLang="en-US" sz="1200" b="0" i="0" kern="1200" dirty="0">
                <a:solidFill>
                  <a:schemeClr val="tx1"/>
                </a:solidFill>
                <a:effectLst/>
                <a:latin typeface="+mn-lt"/>
                <a:ea typeface="+mn-ea"/>
                <a:cs typeface="+mn-cs"/>
              </a:rPr>
              <a:t>创新、竞争和生产力的下一个前沿</a:t>
            </a: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9</a:t>
            </a:fld>
            <a:endParaRPr lang="zh-CN" altLang="en-US"/>
          </a:p>
        </p:txBody>
      </p:sp>
    </p:spTree>
    <p:extLst>
      <p:ext uri="{BB962C8B-B14F-4D97-AF65-F5344CB8AC3E}">
        <p14:creationId xmlns:p14="http://schemas.microsoft.com/office/powerpoint/2010/main" val="361787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793AD677-048F-409F-AACD-0A0B5EF61C8C}" type="slidenum">
              <a:rPr lang="zh-CN" altLang="en-US" smtClean="0"/>
              <a:t>10</a:t>
            </a:fld>
            <a:endParaRPr lang="zh-CN" altLang="en-US"/>
          </a:p>
        </p:txBody>
      </p:sp>
    </p:spTree>
    <p:extLst>
      <p:ext uri="{BB962C8B-B14F-4D97-AF65-F5344CB8AC3E}">
        <p14:creationId xmlns:p14="http://schemas.microsoft.com/office/powerpoint/2010/main" val="37682798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15</a:t>
            </a:fld>
            <a:endParaRPr lang="zh-CN" altLang="en-US" sz="120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25894580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21</a:t>
            </a:fld>
            <a:endParaRPr lang="zh-CN" altLang="en-US" sz="120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36917769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26</a:t>
            </a:fld>
            <a:endParaRPr lang="zh-CN" altLang="en-US" sz="120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4208641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43</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48</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fld id="{ACA37975-6AF7-4301-9DC5-87C074AA59D1}" type="datetimeFigureOut">
              <a:rPr lang="zh-CN" altLang="en-US" smtClean="0"/>
              <a:t>2022/9/6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27987A4-0198-42B4-AAAE-EDBADA4485A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4" name="五边形 7"/>
          <p:cNvSpPr/>
          <p:nvPr userDrawn="1"/>
        </p:nvSpPr>
        <p:spPr>
          <a:xfrm>
            <a:off x="0" y="217805"/>
            <a:ext cx="4634865" cy="607695"/>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solidFill>
                <a:srgbClr val="FFC000"/>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ACA37975-6AF7-4301-9DC5-87C074AA59D1}" type="datetimeFigureOut">
              <a:rPr lang="zh-CN" altLang="en-US" smtClean="0"/>
              <a:t>2022/9/6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27987A4-0198-42B4-AAAE-EDBADA4485A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628650" y="1369219"/>
            <a:ext cx="3886200" cy="326350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hasCustomPrompt="1"/>
          </p:nvPr>
        </p:nvSpPr>
        <p:spPr>
          <a:xfrm>
            <a:off x="4629150" y="1369219"/>
            <a:ext cx="3886200" cy="326350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ACA37975-6AF7-4301-9DC5-87C074AA59D1}" type="datetimeFigureOut">
              <a:rPr lang="zh-CN" altLang="en-US" smtClean="0"/>
              <a:t>2022/9/6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27987A4-0198-42B4-AAAE-EDBADA4485A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Content Placeholder 3"/>
          <p:cNvSpPr>
            <a:spLocks noGrp="1"/>
          </p:cNvSpPr>
          <p:nvPr>
            <p:ph sz="half" idx="2" hasCustomPrompt="1"/>
          </p:nvPr>
        </p:nvSpPr>
        <p:spPr>
          <a:xfrm>
            <a:off x="629842" y="1878806"/>
            <a:ext cx="3868340" cy="2763441"/>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hasCustomPrompt="1"/>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Content Placeholder 5"/>
          <p:cNvSpPr>
            <a:spLocks noGrp="1"/>
          </p:cNvSpPr>
          <p:nvPr>
            <p:ph sz="quarter" idx="4" hasCustomPrompt="1"/>
          </p:nvPr>
        </p:nvSpPr>
        <p:spPr>
          <a:xfrm>
            <a:off x="4629150" y="1878806"/>
            <a:ext cx="3887391" cy="2763441"/>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ACA37975-6AF7-4301-9DC5-87C074AA59D1}" type="datetimeFigureOut">
              <a:rPr lang="zh-CN" altLang="en-US" smtClean="0"/>
              <a:t>2022/9/6</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D27987A4-0198-42B4-AAAE-EDBADA4485A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ACA37975-6AF7-4301-9DC5-87C074AA59D1}" type="datetimeFigureOut">
              <a:rPr lang="zh-CN" altLang="en-US" smtClean="0"/>
              <a:t>2022/9/6</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D27987A4-0198-42B4-AAAE-EDBADA4485A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A37975-6AF7-4301-9DC5-87C074AA59D1}" type="datetimeFigureOut">
              <a:rPr lang="zh-CN" altLang="en-US" smtClean="0"/>
              <a:t>2022/9/6</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D27987A4-0198-42B4-AAAE-EDBADA4485A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hasCustomPrompt="1"/>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Date Placeholder 4"/>
          <p:cNvSpPr>
            <a:spLocks noGrp="1"/>
          </p:cNvSpPr>
          <p:nvPr>
            <p:ph type="dt" sz="half" idx="10"/>
          </p:nvPr>
        </p:nvSpPr>
        <p:spPr/>
        <p:txBody>
          <a:bodyPr/>
          <a:lstStyle/>
          <a:p>
            <a:fld id="{ACA37975-6AF7-4301-9DC5-87C074AA59D1}" type="datetimeFigureOut">
              <a:rPr lang="zh-CN" altLang="en-US" smtClean="0"/>
              <a:t>2022/9/6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27987A4-0198-42B4-AAAE-EDBADA4485A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Date Placeholder 4"/>
          <p:cNvSpPr>
            <a:spLocks noGrp="1"/>
          </p:cNvSpPr>
          <p:nvPr>
            <p:ph type="dt" sz="half" idx="10"/>
          </p:nvPr>
        </p:nvSpPr>
        <p:spPr/>
        <p:txBody>
          <a:bodyPr/>
          <a:lstStyle/>
          <a:p>
            <a:fld id="{ACA37975-6AF7-4301-9DC5-87C074AA59D1}" type="datetimeFigureOut">
              <a:rPr lang="zh-CN" altLang="en-US" smtClean="0"/>
              <a:t>2022/9/6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27987A4-0198-42B4-AAAE-EDBADA4485A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CA37975-6AF7-4301-9DC5-87C074AA59D1}" type="datetimeFigureOut">
              <a:rPr lang="zh-CN" altLang="en-US" smtClean="0"/>
              <a:t>2022/9/6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27987A4-0198-42B4-AAAE-EDBADA4485A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628650" y="273844"/>
            <a:ext cx="5800725" cy="4358879"/>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CA37975-6AF7-4301-9DC5-87C074AA59D1}" type="datetimeFigureOut">
              <a:rPr lang="zh-CN" altLang="en-US" smtClean="0"/>
              <a:t>2022/9/6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27987A4-0198-42B4-AAAE-EDBADA4485A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节标题">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ACA37975-6AF7-4301-9DC5-87C074AA59D1}" type="datetimeFigureOut">
              <a:rPr lang="zh-CN" altLang="en-US" smtClean="0"/>
              <a:t>2022/9/6</a:t>
            </a:fld>
            <a:endParaRPr lang="zh-CN" alt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D27987A4-0198-42B4-AAAE-EDBADA4485A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000" b="1"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domo.com/learn/data-never-sleeps-9)&#12290;"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package" Target="../embeddings/Microsoft_Visio_Drawing.vsdx"/><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0.e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package" Target="../embeddings/Microsoft_Visio_Drawing1.vsdx"/><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3.e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15.jpe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1354" y="0"/>
            <a:ext cx="9141291" cy="5143500"/>
          </a:xfrm>
          <a:prstGeom prst="rect">
            <a:avLst/>
          </a:prstGeom>
        </p:spPr>
      </p:pic>
      <p:pic>
        <p:nvPicPr>
          <p:cNvPr id="3" name="图片 2"/>
          <p:cNvPicPr>
            <a:picLocks noChangeAspect="1"/>
          </p:cNvPicPr>
          <p:nvPr/>
        </p:nvPicPr>
        <p:blipFill>
          <a:blip r:embed="rId4"/>
          <a:stretch>
            <a:fillRect/>
          </a:stretch>
        </p:blipFill>
        <p:spPr>
          <a:xfrm>
            <a:off x="1563873" y="1026542"/>
            <a:ext cx="6016254" cy="3090416"/>
          </a:xfrm>
          <a:prstGeom prst="rect">
            <a:avLst/>
          </a:prstGeom>
        </p:spPr>
      </p:pic>
      <p:pic>
        <p:nvPicPr>
          <p:cNvPr id="4" name="图片 3"/>
          <p:cNvPicPr>
            <a:picLocks noChangeAspect="1"/>
          </p:cNvPicPr>
          <p:nvPr/>
        </p:nvPicPr>
        <p:blipFill>
          <a:blip r:embed="rId5"/>
          <a:stretch>
            <a:fillRect/>
          </a:stretch>
        </p:blipFill>
        <p:spPr>
          <a:xfrm>
            <a:off x="1129665" y="0"/>
            <a:ext cx="6884670" cy="4974590"/>
          </a:xfrm>
          <a:prstGeom prst="rect">
            <a:avLst/>
          </a:prstGeom>
        </p:spPr>
      </p:pic>
      <p:sp>
        <p:nvSpPr>
          <p:cNvPr id="5" name="文本框 4"/>
          <p:cNvSpPr txBox="1"/>
          <p:nvPr/>
        </p:nvSpPr>
        <p:spPr>
          <a:xfrm>
            <a:off x="3344740" y="2105733"/>
            <a:ext cx="2454518" cy="646331"/>
          </a:xfrm>
          <a:prstGeom prst="rect">
            <a:avLst/>
          </a:prstGeom>
          <a:noFill/>
        </p:spPr>
        <p:txBody>
          <a:bodyPr wrap="none" rtlCol="0">
            <a:spAutoFit/>
          </a:bodyPr>
          <a:lstStyle/>
          <a:p>
            <a:pPr algn="ctr"/>
            <a:r>
              <a:rPr lang="zh-CN" altLang="en-US" sz="3600" b="1" dirty="0">
                <a:solidFill>
                  <a:schemeClr val="bg1"/>
                </a:solidFill>
                <a:latin typeface="微软雅黑" panose="020B0503020204020204" pitchFamily="34" charset="-122"/>
                <a:ea typeface="微软雅黑" panose="020B0503020204020204" pitchFamily="34" charset="-122"/>
              </a:rPr>
              <a:t>第</a:t>
            </a:r>
            <a:r>
              <a:rPr lang="en-US" altLang="zh-CN" sz="3600" b="1" dirty="0">
                <a:solidFill>
                  <a:schemeClr val="bg1"/>
                </a:solidFill>
                <a:latin typeface="微软雅黑" panose="020B0503020204020204" pitchFamily="34" charset="-122"/>
                <a:ea typeface="微软雅黑" panose="020B0503020204020204" pitchFamily="34" charset="-122"/>
              </a:rPr>
              <a:t>1</a:t>
            </a:r>
            <a:r>
              <a:rPr lang="zh-CN" altLang="en-US" sz="3600" b="1" dirty="0">
                <a:solidFill>
                  <a:schemeClr val="bg1"/>
                </a:solidFill>
                <a:latin typeface="微软雅黑" panose="020B0503020204020204" pitchFamily="34" charset="-122"/>
                <a:ea typeface="微软雅黑" panose="020B0503020204020204" pitchFamily="34" charset="-122"/>
              </a:rPr>
              <a:t>章 绪论</a:t>
            </a:r>
            <a:endParaRPr lang="zh-CN" altLang="en-US" sz="3600" b="1" dirty="0">
              <a:solidFill>
                <a:schemeClr val="bg1"/>
              </a:solidFill>
              <a:latin typeface="微软雅黑" panose="020B0503020204020204" pitchFamily="34" charset="-122"/>
              <a:ea typeface="微软雅黑" panose="020B0503020204020204" pitchFamily="34" charset="-122"/>
              <a:cs typeface="华文宋体" panose="02010600040101010101" charset="-122"/>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000" fill="hold"/>
                                        <p:tgtEl>
                                          <p:spTgt spid="3"/>
                                        </p:tgtEl>
                                        <p:attrNameLst>
                                          <p:attrName>ppt_x</p:attrName>
                                        </p:attrNameLst>
                                      </p:cBhvr>
                                      <p:tavLst>
                                        <p:tav tm="0">
                                          <p:val>
                                            <p:strVal val="1+#ppt_w/2"/>
                                          </p:val>
                                        </p:tav>
                                        <p:tav tm="100000">
                                          <p:val>
                                            <p:strVal val="#ppt_x"/>
                                          </p:val>
                                        </p:tav>
                                      </p:tavLst>
                                    </p:anim>
                                    <p:anim calcmode="lin" valueType="num">
                                      <p:cBhvr additive="base">
                                        <p:cTn id="8" dur="10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3" presetClass="entr" presetSubtype="16"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1000" fill="hold"/>
                                        <p:tgtEl>
                                          <p:spTgt spid="4"/>
                                        </p:tgtEl>
                                        <p:attrNameLst>
                                          <p:attrName>ppt_w</p:attrName>
                                        </p:attrNameLst>
                                      </p:cBhvr>
                                      <p:tavLst>
                                        <p:tav tm="0">
                                          <p:val>
                                            <p:fltVal val="0"/>
                                          </p:val>
                                        </p:tav>
                                        <p:tav tm="100000">
                                          <p:val>
                                            <p:strVal val="#ppt_w"/>
                                          </p:val>
                                        </p:tav>
                                      </p:tavLst>
                                    </p:anim>
                                    <p:anim calcmode="lin" valueType="num">
                                      <p:cBhvr>
                                        <p:cTn id="13" dur="1000" fill="hold"/>
                                        <p:tgtEl>
                                          <p:spTgt spid="4"/>
                                        </p:tgtEl>
                                        <p:attrNameLst>
                                          <p:attrName>ppt_h</p:attrName>
                                        </p:attrNameLst>
                                      </p:cBhvr>
                                      <p:tavLst>
                                        <p:tav tm="0">
                                          <p:val>
                                            <p:fltVal val="0"/>
                                          </p:val>
                                        </p:tav>
                                        <p:tav tm="100000">
                                          <p:val>
                                            <p:strVal val="#ppt_h"/>
                                          </p:val>
                                        </p:tav>
                                      </p:tavLst>
                                    </p:anim>
                                  </p:childTnLst>
                                </p:cTn>
                              </p:par>
                            </p:childTnLst>
                          </p:cTn>
                        </p:par>
                        <p:par>
                          <p:cTn id="14" fill="hold">
                            <p:stCondLst>
                              <p:cond delay="2000"/>
                            </p:stCondLst>
                            <p:childTnLst>
                              <p:par>
                                <p:cTn id="15" presetID="10" presetClass="entr" presetSubtype="0" fill="hold" grpId="0" nodeType="afterEffect">
                                  <p:stCondLst>
                                    <p:cond delay="0"/>
                                  </p:stCondLst>
                                  <p:iterate type="lt">
                                    <p:tmPct val="14000"/>
                                  </p:iterate>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2624" y="0"/>
            <a:ext cx="9141291" cy="5143500"/>
          </a:xfrm>
          <a:prstGeom prst="rect">
            <a:avLst/>
          </a:prstGeom>
        </p:spPr>
      </p:pic>
      <p:grpSp>
        <p:nvGrpSpPr>
          <p:cNvPr id="25" name="组合 54"/>
          <p:cNvGrpSpPr/>
          <p:nvPr/>
        </p:nvGrpSpPr>
        <p:grpSpPr bwMode="auto">
          <a:xfrm>
            <a:off x="0" y="349949"/>
            <a:ext cx="9142645" cy="841713"/>
            <a:chOff x="256379" y="27271"/>
            <a:chExt cx="7683149" cy="841022"/>
          </a:xfrm>
        </p:grpSpPr>
        <p:grpSp>
          <p:nvGrpSpPr>
            <p:cNvPr id="26" name="组合 55"/>
            <p:cNvGrpSpPr/>
            <p:nvPr/>
          </p:nvGrpSpPr>
          <p:grpSpPr bwMode="auto">
            <a:xfrm>
              <a:off x="256379" y="27271"/>
              <a:ext cx="7683149" cy="837427"/>
              <a:chOff x="256379" y="27271"/>
              <a:chExt cx="7683149" cy="837427"/>
            </a:xfrm>
          </p:grpSpPr>
          <p:sp>
            <p:nvSpPr>
              <p:cNvPr id="28" name="文本框 57"/>
              <p:cNvSpPr txBox="1">
                <a:spLocks noChangeArrowheads="1"/>
              </p:cNvSpPr>
              <p:nvPr/>
            </p:nvSpPr>
            <p:spPr bwMode="auto">
              <a:xfrm>
                <a:off x="439196" y="27271"/>
                <a:ext cx="1432561" cy="584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3200" b="1" dirty="0">
                    <a:solidFill>
                      <a:srgbClr val="FFC000"/>
                    </a:solidFill>
                    <a:latin typeface="微软雅黑" panose="020B0503020204020204" pitchFamily="34" charset="-122"/>
                    <a:ea typeface="微软雅黑" panose="020B0503020204020204" pitchFamily="34" charset="-122"/>
                  </a:rPr>
                  <a:t>目 录</a:t>
                </a:r>
              </a:p>
            </p:txBody>
          </p:sp>
          <p:cxnSp>
            <p:nvCxnSpPr>
              <p:cNvPr id="29" name="直接连接符 58"/>
              <p:cNvCxnSpPr>
                <a:cxnSpLocks noChangeShapeType="1"/>
              </p:cNvCxnSpPr>
              <p:nvPr/>
            </p:nvCxnSpPr>
            <p:spPr bwMode="auto">
              <a:xfrm flipV="1">
                <a:off x="256379" y="817054"/>
                <a:ext cx="7683149" cy="47644"/>
              </a:xfrm>
              <a:prstGeom prst="line">
                <a:avLst/>
              </a:prstGeom>
              <a:noFill/>
              <a:ln w="6350">
                <a:solidFill>
                  <a:schemeClr val="bg1"/>
                </a:solidFill>
                <a:round/>
              </a:ln>
              <a:extLst>
                <a:ext uri="{909E8E84-426E-40DD-AFC4-6F175D3DCCD1}">
                  <a14:hiddenFill xmlns:a14="http://schemas.microsoft.com/office/drawing/2010/main">
                    <a:noFill/>
                  </a14:hiddenFill>
                </a:ext>
              </a:extLst>
            </p:spPr>
          </p:cxnSp>
        </p:grpSp>
        <p:sp>
          <p:nvSpPr>
            <p:cNvPr id="27" name="文本框 56"/>
            <p:cNvSpPr txBox="1">
              <a:spLocks noChangeArrowheads="1"/>
            </p:cNvSpPr>
            <p:nvPr/>
          </p:nvSpPr>
          <p:spPr bwMode="auto">
            <a:xfrm>
              <a:off x="871257" y="499264"/>
              <a:ext cx="1050505" cy="3690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dist" eaLnBrk="1" hangingPunct="1"/>
              <a:r>
                <a:rPr lang="en-US" altLang="zh-CN" dirty="0">
                  <a:solidFill>
                    <a:schemeClr val="bg1"/>
                  </a:solidFill>
                  <a:latin typeface="微软雅黑" panose="020B0503020204020204" pitchFamily="34" charset="-122"/>
                  <a:ea typeface="微软雅黑" panose="020B0503020204020204" pitchFamily="34" charset="-122"/>
                </a:rPr>
                <a:t>Contents</a:t>
              </a:r>
              <a:endParaRPr lang="zh-CN" altLang="en-US" dirty="0">
                <a:solidFill>
                  <a:schemeClr val="bg1"/>
                </a:solidFill>
                <a:latin typeface="微软雅黑" panose="020B0503020204020204" pitchFamily="34" charset="-122"/>
                <a:ea typeface="微软雅黑" panose="020B0503020204020204" pitchFamily="34" charset="-122"/>
              </a:endParaRPr>
            </a:p>
          </p:txBody>
        </p:sp>
      </p:grpSp>
      <p:grpSp>
        <p:nvGrpSpPr>
          <p:cNvPr id="36" name="组合 35"/>
          <p:cNvGrpSpPr/>
          <p:nvPr/>
        </p:nvGrpSpPr>
        <p:grpSpPr>
          <a:xfrm>
            <a:off x="1323340" y="1413510"/>
            <a:ext cx="4714240" cy="518795"/>
            <a:chOff x="903" y="3512"/>
            <a:chExt cx="7424" cy="817"/>
          </a:xfrm>
        </p:grpSpPr>
        <p:grpSp>
          <p:nvGrpSpPr>
            <p:cNvPr id="4" name="组合 3"/>
            <p:cNvGrpSpPr/>
            <p:nvPr/>
          </p:nvGrpSpPr>
          <p:grpSpPr>
            <a:xfrm>
              <a:off x="903" y="3512"/>
              <a:ext cx="7424" cy="817"/>
              <a:chOff x="1264" y="2025"/>
              <a:chExt cx="5382" cy="817"/>
            </a:xfrm>
          </p:grpSpPr>
          <p:sp>
            <p:nvSpPr>
              <p:cNvPr id="10" name="Freeform 6"/>
              <p:cNvSpPr/>
              <p:nvPr/>
            </p:nvSpPr>
            <p:spPr bwMode="auto">
              <a:xfrm>
                <a:off x="1337" y="2026"/>
                <a:ext cx="1029" cy="816"/>
              </a:xfrm>
              <a:custGeom>
                <a:avLst/>
                <a:gdLst>
                  <a:gd name="T0" fmla="*/ 2158 w 2158"/>
                  <a:gd name="T1" fmla="*/ 531 h 1996"/>
                  <a:gd name="T2" fmla="*/ 1996 w 2158"/>
                  <a:gd name="T3" fmla="*/ 397 h 1996"/>
                  <a:gd name="T4" fmla="*/ 1996 w 2158"/>
                  <a:gd name="T5" fmla="*/ 0 h 1996"/>
                  <a:gd name="T6" fmla="*/ 0 w 2158"/>
                  <a:gd name="T7" fmla="*/ 0 h 1996"/>
                  <a:gd name="T8" fmla="*/ 0 w 2158"/>
                  <a:gd name="T9" fmla="*/ 1996 h 1996"/>
                  <a:gd name="T10" fmla="*/ 1996 w 2158"/>
                  <a:gd name="T11" fmla="*/ 1996 h 1996"/>
                  <a:gd name="T12" fmla="*/ 1996 w 2158"/>
                  <a:gd name="T13" fmla="*/ 666 h 1996"/>
                  <a:gd name="T14" fmla="*/ 2158 w 2158"/>
                  <a:gd name="T15" fmla="*/ 531 h 19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8" h="1996">
                    <a:moveTo>
                      <a:pt x="2158" y="531"/>
                    </a:moveTo>
                    <a:lnTo>
                      <a:pt x="1996" y="397"/>
                    </a:lnTo>
                    <a:lnTo>
                      <a:pt x="1996" y="0"/>
                    </a:lnTo>
                    <a:lnTo>
                      <a:pt x="0" y="0"/>
                    </a:lnTo>
                    <a:lnTo>
                      <a:pt x="0" y="1996"/>
                    </a:lnTo>
                    <a:lnTo>
                      <a:pt x="1996" y="1996"/>
                    </a:lnTo>
                    <a:lnTo>
                      <a:pt x="1996" y="666"/>
                    </a:lnTo>
                    <a:lnTo>
                      <a:pt x="2158" y="531"/>
                    </a:lnTo>
                    <a:close/>
                  </a:path>
                </a:pathLst>
              </a:custGeom>
              <a:solidFill>
                <a:srgbClr val="00B0F0"/>
              </a:solidFill>
              <a:ln w="19050">
                <a:solidFill>
                  <a:srgbClr val="F8F8F8"/>
                </a:solidFill>
                <a:round/>
              </a:ln>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ea typeface="宋体" panose="02010600030101010101" pitchFamily="2" charset="-122"/>
                </a:endParaRPr>
              </a:p>
            </p:txBody>
          </p:sp>
          <p:grpSp>
            <p:nvGrpSpPr>
              <p:cNvPr id="3" name="组合 2"/>
              <p:cNvGrpSpPr/>
              <p:nvPr/>
            </p:nvGrpSpPr>
            <p:grpSpPr>
              <a:xfrm>
                <a:off x="1264" y="2025"/>
                <a:ext cx="5382" cy="816"/>
                <a:chOff x="4471" y="2958"/>
                <a:chExt cx="5382" cy="816"/>
              </a:xfrm>
            </p:grpSpPr>
            <p:sp>
              <p:nvSpPr>
                <p:cNvPr id="9" name="Rectangle 5"/>
                <p:cNvSpPr>
                  <a:spLocks noChangeArrowheads="1"/>
                </p:cNvSpPr>
                <p:nvPr/>
              </p:nvSpPr>
              <p:spPr bwMode="auto">
                <a:xfrm>
                  <a:off x="4544" y="2958"/>
                  <a:ext cx="5309" cy="816"/>
                </a:xfrm>
                <a:prstGeom prst="rect">
                  <a:avLst/>
                </a:prstGeom>
                <a:noFill/>
                <a:ln w="6350" cap="flat">
                  <a:solidFill>
                    <a:schemeClr val="bg1"/>
                  </a:solidFill>
                  <a:prstDash val="solid"/>
                  <a:miter lim="800000"/>
                </a:ln>
                <a:effectLst>
                  <a:outerShdw blurRad="203200" sx="102000" sy="102000" algn="ctr" rotWithShape="0">
                    <a:prstClr val="black">
                      <a:alpha val="40000"/>
                    </a:prstClr>
                  </a:outerShdw>
                </a:effectLst>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latin typeface="微软雅黑" panose="020B0503020204020204" pitchFamily="34" charset="-122"/>
                    <a:ea typeface="微软雅黑" panose="020B0503020204020204" pitchFamily="34" charset="-122"/>
                  </a:endParaRPr>
                </a:p>
              </p:txBody>
            </p:sp>
            <p:sp>
              <p:nvSpPr>
                <p:cNvPr id="11" name="TextBox 144"/>
                <p:cNvSpPr txBox="1"/>
                <p:nvPr/>
              </p:nvSpPr>
              <p:spPr>
                <a:xfrm>
                  <a:off x="4471" y="3015"/>
                  <a:ext cx="816" cy="687"/>
                </a:xfrm>
                <a:prstGeom prst="rect">
                  <a:avLst/>
                </a:prstGeom>
                <a:noFill/>
              </p:spPr>
              <p:txBody>
                <a:bodyPr wrap="square" lIns="68553" tIns="34277" rIns="68553" bIns="34277" rtlCol="0">
                  <a:spAutoFit/>
                </a:bodyPr>
                <a:lstStyle/>
                <a:p>
                  <a:pPr algn="ctr" fontAlgn="base">
                    <a:spcBef>
                      <a:spcPct val="0"/>
                    </a:spcBef>
                    <a:spcAft>
                      <a:spcPct val="0"/>
                    </a:spcAft>
                    <a:buFont typeface="Arial" panose="020B0604020202020204" pitchFamily="34" charset="0"/>
                    <a:buNone/>
                  </a:pPr>
                  <a:r>
                    <a:rPr lang="en-US" sz="2400" b="1" dirty="0">
                      <a:solidFill>
                        <a:schemeClr val="bg1"/>
                      </a:solidFill>
                      <a:latin typeface="微软雅黑" panose="020B0503020204020204" pitchFamily="34" charset="-122"/>
                      <a:ea typeface="微软雅黑" panose="020B0503020204020204" pitchFamily="34" charset="-122"/>
                      <a:sym typeface="+mn-ea"/>
                    </a:rPr>
                    <a:t>1.1</a:t>
                  </a:r>
                  <a:endParaRPr lang="en-US" altLang="en-US" sz="2400" b="1" dirty="0">
                    <a:solidFill>
                      <a:schemeClr val="bg1"/>
                    </a:solidFill>
                    <a:latin typeface="微软雅黑" panose="020B0503020204020204" pitchFamily="34" charset="-122"/>
                    <a:ea typeface="微软雅黑" panose="020B0503020204020204" pitchFamily="34" charset="-122"/>
                    <a:sym typeface="+mn-ea"/>
                  </a:endParaRPr>
                </a:p>
              </p:txBody>
            </p:sp>
          </p:grpSp>
        </p:grpSp>
        <p:sp>
          <p:nvSpPr>
            <p:cNvPr id="100" name="文本框 99"/>
            <p:cNvSpPr txBox="1"/>
            <p:nvPr/>
          </p:nvSpPr>
          <p:spPr>
            <a:xfrm>
              <a:off x="2276" y="3631"/>
              <a:ext cx="6050" cy="580"/>
            </a:xfrm>
            <a:prstGeom prst="rect">
              <a:avLst/>
            </a:prstGeom>
            <a:noFill/>
            <a:ln w="9525">
              <a:noFill/>
            </a:ln>
          </p:spPr>
          <p:txBody>
            <a:bodyPr wrap="square">
              <a:spAutoFit/>
            </a:bodyPr>
            <a:lstStyle/>
            <a:p>
              <a:pPr marL="396240" indent="-396240"/>
              <a:r>
                <a:rPr lang="en-US" sz="1800" b="1" dirty="0">
                  <a:solidFill>
                    <a:schemeClr val="bg1"/>
                  </a:solidFill>
                  <a:latin typeface="等线 Light" panose="02010600030101010101" charset="-122"/>
                  <a:ea typeface="等线" panose="02010600030101010101" pitchFamily="2" charset="-122"/>
                </a:rPr>
                <a:t> </a:t>
              </a:r>
              <a:r>
                <a:rPr lang="zh-CN" altLang="en-US" sz="1800" b="1" dirty="0">
                  <a:solidFill>
                    <a:schemeClr val="bg1"/>
                  </a:solidFill>
                  <a:latin typeface="等线 Light" panose="02010600030101010101" charset="-122"/>
                </a:rPr>
                <a:t>大数据的基本概念</a:t>
              </a:r>
              <a:endParaRPr lang="zh-CN" altLang="en-US" sz="1800" b="1" dirty="0">
                <a:solidFill>
                  <a:schemeClr val="bg1"/>
                </a:solidFill>
                <a:latin typeface="等线 Light" panose="02010600030101010101" charset="-122"/>
                <a:ea typeface="等线" panose="02010600030101010101" pitchFamily="2" charset="-122"/>
              </a:endParaRPr>
            </a:p>
          </p:txBody>
        </p:sp>
      </p:grpSp>
      <p:grpSp>
        <p:nvGrpSpPr>
          <p:cNvPr id="48" name="组合 47"/>
          <p:cNvGrpSpPr/>
          <p:nvPr/>
        </p:nvGrpSpPr>
        <p:grpSpPr>
          <a:xfrm>
            <a:off x="1323340" y="2114550"/>
            <a:ext cx="4714240" cy="518795"/>
            <a:chOff x="903" y="3512"/>
            <a:chExt cx="7424" cy="817"/>
          </a:xfrm>
        </p:grpSpPr>
        <p:grpSp>
          <p:nvGrpSpPr>
            <p:cNvPr id="49" name="组合 48"/>
            <p:cNvGrpSpPr/>
            <p:nvPr/>
          </p:nvGrpSpPr>
          <p:grpSpPr>
            <a:xfrm>
              <a:off x="903" y="3512"/>
              <a:ext cx="7424" cy="817"/>
              <a:chOff x="1264" y="2025"/>
              <a:chExt cx="5382" cy="817"/>
            </a:xfrm>
          </p:grpSpPr>
          <p:sp>
            <p:nvSpPr>
              <p:cNvPr id="50" name="Freeform 6"/>
              <p:cNvSpPr/>
              <p:nvPr/>
            </p:nvSpPr>
            <p:spPr bwMode="auto">
              <a:xfrm>
                <a:off x="1337" y="2026"/>
                <a:ext cx="1029" cy="816"/>
              </a:xfrm>
              <a:custGeom>
                <a:avLst/>
                <a:gdLst>
                  <a:gd name="T0" fmla="*/ 2158 w 2158"/>
                  <a:gd name="T1" fmla="*/ 531 h 1996"/>
                  <a:gd name="T2" fmla="*/ 1996 w 2158"/>
                  <a:gd name="T3" fmla="*/ 397 h 1996"/>
                  <a:gd name="T4" fmla="*/ 1996 w 2158"/>
                  <a:gd name="T5" fmla="*/ 0 h 1996"/>
                  <a:gd name="T6" fmla="*/ 0 w 2158"/>
                  <a:gd name="T7" fmla="*/ 0 h 1996"/>
                  <a:gd name="T8" fmla="*/ 0 w 2158"/>
                  <a:gd name="T9" fmla="*/ 1996 h 1996"/>
                  <a:gd name="T10" fmla="*/ 1996 w 2158"/>
                  <a:gd name="T11" fmla="*/ 1996 h 1996"/>
                  <a:gd name="T12" fmla="*/ 1996 w 2158"/>
                  <a:gd name="T13" fmla="*/ 666 h 1996"/>
                  <a:gd name="T14" fmla="*/ 2158 w 2158"/>
                  <a:gd name="T15" fmla="*/ 531 h 19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8" h="1996">
                    <a:moveTo>
                      <a:pt x="2158" y="531"/>
                    </a:moveTo>
                    <a:lnTo>
                      <a:pt x="1996" y="397"/>
                    </a:lnTo>
                    <a:lnTo>
                      <a:pt x="1996" y="0"/>
                    </a:lnTo>
                    <a:lnTo>
                      <a:pt x="0" y="0"/>
                    </a:lnTo>
                    <a:lnTo>
                      <a:pt x="0" y="1996"/>
                    </a:lnTo>
                    <a:lnTo>
                      <a:pt x="1996" y="1996"/>
                    </a:lnTo>
                    <a:lnTo>
                      <a:pt x="1996" y="666"/>
                    </a:lnTo>
                    <a:lnTo>
                      <a:pt x="2158" y="531"/>
                    </a:lnTo>
                    <a:close/>
                  </a:path>
                </a:pathLst>
              </a:custGeom>
              <a:solidFill>
                <a:srgbClr val="00B0F0"/>
              </a:solidFill>
              <a:ln w="19050">
                <a:solidFill>
                  <a:srgbClr val="F8F8F8"/>
                </a:solidFill>
                <a:round/>
              </a:ln>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ea typeface="宋体" panose="02010600030101010101" pitchFamily="2" charset="-122"/>
                </a:endParaRPr>
              </a:p>
            </p:txBody>
          </p:sp>
          <p:grpSp>
            <p:nvGrpSpPr>
              <p:cNvPr id="51" name="组合 50"/>
              <p:cNvGrpSpPr/>
              <p:nvPr/>
            </p:nvGrpSpPr>
            <p:grpSpPr>
              <a:xfrm>
                <a:off x="1264" y="2025"/>
                <a:ext cx="5382" cy="816"/>
                <a:chOff x="4471" y="2958"/>
                <a:chExt cx="5382" cy="816"/>
              </a:xfrm>
            </p:grpSpPr>
            <p:sp>
              <p:nvSpPr>
                <p:cNvPr id="52" name="Rectangle 5"/>
                <p:cNvSpPr>
                  <a:spLocks noChangeArrowheads="1"/>
                </p:cNvSpPr>
                <p:nvPr/>
              </p:nvSpPr>
              <p:spPr bwMode="auto">
                <a:xfrm>
                  <a:off x="4544" y="2958"/>
                  <a:ext cx="5309" cy="816"/>
                </a:xfrm>
                <a:prstGeom prst="rect">
                  <a:avLst/>
                </a:prstGeom>
                <a:noFill/>
                <a:ln w="6350" cap="flat">
                  <a:solidFill>
                    <a:schemeClr val="bg1"/>
                  </a:solidFill>
                  <a:prstDash val="solid"/>
                  <a:miter lim="800000"/>
                </a:ln>
                <a:effectLst>
                  <a:outerShdw blurRad="203200" sx="102000" sy="102000" algn="ctr" rotWithShape="0">
                    <a:prstClr val="black">
                      <a:alpha val="40000"/>
                    </a:prstClr>
                  </a:outerShdw>
                </a:effectLst>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latin typeface="微软雅黑" panose="020B0503020204020204" pitchFamily="34" charset="-122"/>
                    <a:ea typeface="微软雅黑" panose="020B0503020204020204" pitchFamily="34" charset="-122"/>
                  </a:endParaRPr>
                </a:p>
              </p:txBody>
            </p:sp>
            <p:sp>
              <p:nvSpPr>
                <p:cNvPr id="53" name="TextBox 144"/>
                <p:cNvSpPr txBox="1"/>
                <p:nvPr/>
              </p:nvSpPr>
              <p:spPr>
                <a:xfrm>
                  <a:off x="4471" y="3015"/>
                  <a:ext cx="816" cy="687"/>
                </a:xfrm>
                <a:prstGeom prst="rect">
                  <a:avLst/>
                </a:prstGeom>
                <a:noFill/>
              </p:spPr>
              <p:txBody>
                <a:bodyPr wrap="square" lIns="68553" tIns="34277" rIns="68553" bIns="34277" rtlCol="0">
                  <a:spAutoFit/>
                </a:bodyPr>
                <a:lstStyle/>
                <a:p>
                  <a:pPr algn="ctr" fontAlgn="base">
                    <a:spcBef>
                      <a:spcPct val="0"/>
                    </a:spcBef>
                    <a:spcAft>
                      <a:spcPct val="0"/>
                    </a:spcAft>
                    <a:buFont typeface="Arial" panose="020B0604020202020204" pitchFamily="34" charset="0"/>
                    <a:buNone/>
                  </a:pPr>
                  <a:r>
                    <a:rPr lang="en-US" sz="2400" b="1" dirty="0">
                      <a:solidFill>
                        <a:schemeClr val="bg1"/>
                      </a:solidFill>
                      <a:latin typeface="微软雅黑" panose="020B0503020204020204" pitchFamily="34" charset="-122"/>
                      <a:ea typeface="微软雅黑" panose="020B0503020204020204" pitchFamily="34" charset="-122"/>
                    </a:rPr>
                    <a:t>1.</a:t>
                  </a:r>
                  <a:r>
                    <a:rPr lang="en-US" sz="2400" b="1" dirty="0">
                      <a:solidFill>
                        <a:schemeClr val="bg1"/>
                      </a:solidFill>
                      <a:latin typeface="微软雅黑" panose="020B0503020204020204" pitchFamily="34" charset="-122"/>
                      <a:ea typeface="微软雅黑" panose="020B0503020204020204" pitchFamily="34" charset="-122"/>
                      <a:sym typeface="+mn-ea"/>
                    </a:rPr>
                    <a:t>2</a:t>
                  </a:r>
                  <a:endParaRPr lang="zh-CN" altLang="en-US" sz="2400" b="1" dirty="0">
                    <a:solidFill>
                      <a:schemeClr val="bg1"/>
                    </a:solidFill>
                    <a:latin typeface="微软雅黑" panose="020B0503020204020204" pitchFamily="34" charset="-122"/>
                  </a:endParaRPr>
                </a:p>
              </p:txBody>
            </p:sp>
          </p:grpSp>
        </p:grpSp>
        <p:sp>
          <p:nvSpPr>
            <p:cNvPr id="54" name="文本框 53"/>
            <p:cNvSpPr txBox="1"/>
            <p:nvPr/>
          </p:nvSpPr>
          <p:spPr>
            <a:xfrm>
              <a:off x="2276" y="3631"/>
              <a:ext cx="6050" cy="580"/>
            </a:xfrm>
            <a:prstGeom prst="rect">
              <a:avLst/>
            </a:prstGeom>
            <a:noFill/>
            <a:ln w="9525">
              <a:noFill/>
            </a:ln>
          </p:spPr>
          <p:txBody>
            <a:bodyPr wrap="square">
              <a:spAutoFit/>
            </a:bodyPr>
            <a:lstStyle/>
            <a:p>
              <a:pPr marL="396240" indent="-396240"/>
              <a:r>
                <a:rPr lang="zh-CN" altLang="en-US" sz="1800" b="1" dirty="0">
                  <a:solidFill>
                    <a:schemeClr val="bg1"/>
                  </a:solidFill>
                  <a:latin typeface="等线 Light" panose="02010600030101010101" charset="-122"/>
                </a:rPr>
                <a:t>大数据的价值和作用</a:t>
              </a:r>
              <a:endParaRPr sz="1800" b="1" dirty="0">
                <a:solidFill>
                  <a:schemeClr val="bg1"/>
                </a:solidFill>
                <a:latin typeface="等线 Light" panose="02010600030101010101" charset="-122"/>
                <a:ea typeface="等线" panose="02010600030101010101" pitchFamily="2" charset="-122"/>
              </a:endParaRPr>
            </a:p>
          </p:txBody>
        </p:sp>
      </p:grpSp>
      <p:grpSp>
        <p:nvGrpSpPr>
          <p:cNvPr id="56" name="组合 55"/>
          <p:cNvGrpSpPr/>
          <p:nvPr/>
        </p:nvGrpSpPr>
        <p:grpSpPr>
          <a:xfrm>
            <a:off x="1322705" y="2787650"/>
            <a:ext cx="4714240" cy="518795"/>
            <a:chOff x="903" y="3512"/>
            <a:chExt cx="7424" cy="817"/>
          </a:xfrm>
        </p:grpSpPr>
        <p:grpSp>
          <p:nvGrpSpPr>
            <p:cNvPr id="57" name="组合 56"/>
            <p:cNvGrpSpPr/>
            <p:nvPr/>
          </p:nvGrpSpPr>
          <p:grpSpPr>
            <a:xfrm>
              <a:off x="903" y="3512"/>
              <a:ext cx="7424" cy="817"/>
              <a:chOff x="1264" y="2025"/>
              <a:chExt cx="5382" cy="817"/>
            </a:xfrm>
          </p:grpSpPr>
          <p:sp>
            <p:nvSpPr>
              <p:cNvPr id="58" name="Freeform 6"/>
              <p:cNvSpPr/>
              <p:nvPr/>
            </p:nvSpPr>
            <p:spPr bwMode="auto">
              <a:xfrm>
                <a:off x="1337" y="2026"/>
                <a:ext cx="1029" cy="816"/>
              </a:xfrm>
              <a:custGeom>
                <a:avLst/>
                <a:gdLst>
                  <a:gd name="T0" fmla="*/ 2158 w 2158"/>
                  <a:gd name="T1" fmla="*/ 531 h 1996"/>
                  <a:gd name="T2" fmla="*/ 1996 w 2158"/>
                  <a:gd name="T3" fmla="*/ 397 h 1996"/>
                  <a:gd name="T4" fmla="*/ 1996 w 2158"/>
                  <a:gd name="T5" fmla="*/ 0 h 1996"/>
                  <a:gd name="T6" fmla="*/ 0 w 2158"/>
                  <a:gd name="T7" fmla="*/ 0 h 1996"/>
                  <a:gd name="T8" fmla="*/ 0 w 2158"/>
                  <a:gd name="T9" fmla="*/ 1996 h 1996"/>
                  <a:gd name="T10" fmla="*/ 1996 w 2158"/>
                  <a:gd name="T11" fmla="*/ 1996 h 1996"/>
                  <a:gd name="T12" fmla="*/ 1996 w 2158"/>
                  <a:gd name="T13" fmla="*/ 666 h 1996"/>
                  <a:gd name="T14" fmla="*/ 2158 w 2158"/>
                  <a:gd name="T15" fmla="*/ 531 h 19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8" h="1996">
                    <a:moveTo>
                      <a:pt x="2158" y="531"/>
                    </a:moveTo>
                    <a:lnTo>
                      <a:pt x="1996" y="397"/>
                    </a:lnTo>
                    <a:lnTo>
                      <a:pt x="1996" y="0"/>
                    </a:lnTo>
                    <a:lnTo>
                      <a:pt x="0" y="0"/>
                    </a:lnTo>
                    <a:lnTo>
                      <a:pt x="0" y="1996"/>
                    </a:lnTo>
                    <a:lnTo>
                      <a:pt x="1996" y="1996"/>
                    </a:lnTo>
                    <a:lnTo>
                      <a:pt x="1996" y="666"/>
                    </a:lnTo>
                    <a:lnTo>
                      <a:pt x="2158" y="531"/>
                    </a:lnTo>
                    <a:close/>
                  </a:path>
                </a:pathLst>
              </a:custGeom>
              <a:solidFill>
                <a:srgbClr val="00B0F0"/>
              </a:solidFill>
              <a:ln w="19050">
                <a:solidFill>
                  <a:srgbClr val="F8F8F8"/>
                </a:solidFill>
                <a:round/>
              </a:ln>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ea typeface="宋体" panose="02010600030101010101" pitchFamily="2" charset="-122"/>
                </a:endParaRPr>
              </a:p>
            </p:txBody>
          </p:sp>
          <p:grpSp>
            <p:nvGrpSpPr>
              <p:cNvPr id="59" name="组合 58"/>
              <p:cNvGrpSpPr/>
              <p:nvPr/>
            </p:nvGrpSpPr>
            <p:grpSpPr>
              <a:xfrm>
                <a:off x="1264" y="2025"/>
                <a:ext cx="5382" cy="816"/>
                <a:chOff x="4471" y="2958"/>
                <a:chExt cx="5382" cy="816"/>
              </a:xfrm>
            </p:grpSpPr>
            <p:sp>
              <p:nvSpPr>
                <p:cNvPr id="60" name="Rectangle 5"/>
                <p:cNvSpPr>
                  <a:spLocks noChangeArrowheads="1"/>
                </p:cNvSpPr>
                <p:nvPr/>
              </p:nvSpPr>
              <p:spPr bwMode="auto">
                <a:xfrm>
                  <a:off x="4544" y="2958"/>
                  <a:ext cx="5309" cy="816"/>
                </a:xfrm>
                <a:prstGeom prst="rect">
                  <a:avLst/>
                </a:prstGeom>
                <a:noFill/>
                <a:ln w="6350" cap="flat">
                  <a:solidFill>
                    <a:schemeClr val="bg1"/>
                  </a:solidFill>
                  <a:prstDash val="solid"/>
                  <a:miter lim="800000"/>
                </a:ln>
                <a:effectLst>
                  <a:outerShdw blurRad="203200" sx="102000" sy="102000" algn="ctr" rotWithShape="0">
                    <a:prstClr val="black">
                      <a:alpha val="40000"/>
                    </a:prstClr>
                  </a:outerShdw>
                </a:effectLst>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latin typeface="微软雅黑" panose="020B0503020204020204" pitchFamily="34" charset="-122"/>
                    <a:ea typeface="微软雅黑" panose="020B0503020204020204" pitchFamily="34" charset="-122"/>
                  </a:endParaRPr>
                </a:p>
              </p:txBody>
            </p:sp>
            <p:sp>
              <p:nvSpPr>
                <p:cNvPr id="61" name="TextBox 144"/>
                <p:cNvSpPr txBox="1"/>
                <p:nvPr/>
              </p:nvSpPr>
              <p:spPr>
                <a:xfrm>
                  <a:off x="4471" y="3015"/>
                  <a:ext cx="816" cy="687"/>
                </a:xfrm>
                <a:prstGeom prst="rect">
                  <a:avLst/>
                </a:prstGeom>
                <a:noFill/>
              </p:spPr>
              <p:txBody>
                <a:bodyPr wrap="square" lIns="68553" tIns="34277" rIns="68553" bIns="34277" rtlCol="0">
                  <a:spAutoFit/>
                </a:bodyPr>
                <a:lstStyle/>
                <a:p>
                  <a:pPr algn="ctr" fontAlgn="base">
                    <a:spcBef>
                      <a:spcPct val="0"/>
                    </a:spcBef>
                    <a:spcAft>
                      <a:spcPct val="0"/>
                    </a:spcAft>
                    <a:buFont typeface="Arial" panose="020B0604020202020204" pitchFamily="34" charset="0"/>
                    <a:buNone/>
                  </a:pPr>
                  <a:r>
                    <a:rPr lang="en-US" sz="2400" b="1" dirty="0">
                      <a:solidFill>
                        <a:schemeClr val="bg1"/>
                      </a:solidFill>
                      <a:latin typeface="微软雅黑" panose="020B0503020204020204" pitchFamily="34" charset="-122"/>
                      <a:ea typeface="微软雅黑" panose="020B0503020204020204" pitchFamily="34" charset="-122"/>
                      <a:sym typeface="+mn-ea"/>
                    </a:rPr>
                    <a:t>1.3</a:t>
                  </a:r>
                  <a:endParaRPr lang="en-US" sz="2400" b="1" dirty="0">
                    <a:solidFill>
                      <a:schemeClr val="bg1"/>
                    </a:solidFill>
                    <a:latin typeface="微软雅黑" panose="020B0503020204020204" pitchFamily="34" charset="-122"/>
                    <a:ea typeface="微软雅黑" panose="020B0503020204020204" pitchFamily="34" charset="-122"/>
                  </a:endParaRPr>
                </a:p>
              </p:txBody>
            </p:sp>
          </p:grpSp>
        </p:grpSp>
        <p:sp>
          <p:nvSpPr>
            <p:cNvPr id="62" name="文本框 61"/>
            <p:cNvSpPr txBox="1"/>
            <p:nvPr/>
          </p:nvSpPr>
          <p:spPr>
            <a:xfrm>
              <a:off x="2276" y="3631"/>
              <a:ext cx="6050" cy="582"/>
            </a:xfrm>
            <a:prstGeom prst="rect">
              <a:avLst/>
            </a:prstGeom>
            <a:noFill/>
            <a:ln w="9525">
              <a:noFill/>
            </a:ln>
          </p:spPr>
          <p:txBody>
            <a:bodyPr wrap="square">
              <a:spAutoFit/>
            </a:bodyPr>
            <a:lstStyle/>
            <a:p>
              <a:pPr marL="396240" indent="-396240"/>
              <a:r>
                <a:rPr lang="zh-CN" altLang="en-US" sz="1800" b="1" dirty="0">
                  <a:solidFill>
                    <a:schemeClr val="bg1"/>
                  </a:solidFill>
                  <a:latin typeface="等线 Light" panose="02010600030101010101" charset="-122"/>
                </a:rPr>
                <a:t>大数据带来的思维方式变革</a:t>
              </a:r>
              <a:endParaRPr sz="1800" b="1" dirty="0">
                <a:solidFill>
                  <a:schemeClr val="bg1"/>
                </a:solidFill>
                <a:latin typeface="等线 Light" panose="02010600030101010101" charset="-122"/>
                <a:ea typeface="等线" panose="02010600030101010101" pitchFamily="2" charset="-122"/>
              </a:endParaRPr>
            </a:p>
          </p:txBody>
        </p:sp>
      </p:grpSp>
      <p:grpSp>
        <p:nvGrpSpPr>
          <p:cNvPr id="63" name="组合 62"/>
          <p:cNvGrpSpPr/>
          <p:nvPr/>
        </p:nvGrpSpPr>
        <p:grpSpPr>
          <a:xfrm>
            <a:off x="1322705" y="3506470"/>
            <a:ext cx="4714240" cy="518795"/>
            <a:chOff x="903" y="3512"/>
            <a:chExt cx="7424" cy="817"/>
          </a:xfrm>
        </p:grpSpPr>
        <p:grpSp>
          <p:nvGrpSpPr>
            <p:cNvPr id="64" name="组合 63"/>
            <p:cNvGrpSpPr/>
            <p:nvPr/>
          </p:nvGrpSpPr>
          <p:grpSpPr>
            <a:xfrm>
              <a:off x="903" y="3512"/>
              <a:ext cx="7424" cy="817"/>
              <a:chOff x="1264" y="2025"/>
              <a:chExt cx="5382" cy="817"/>
            </a:xfrm>
          </p:grpSpPr>
          <p:sp>
            <p:nvSpPr>
              <p:cNvPr id="65" name="Freeform 6"/>
              <p:cNvSpPr/>
              <p:nvPr/>
            </p:nvSpPr>
            <p:spPr bwMode="auto">
              <a:xfrm>
                <a:off x="1337" y="2026"/>
                <a:ext cx="1029" cy="816"/>
              </a:xfrm>
              <a:custGeom>
                <a:avLst/>
                <a:gdLst>
                  <a:gd name="T0" fmla="*/ 2158 w 2158"/>
                  <a:gd name="T1" fmla="*/ 531 h 1996"/>
                  <a:gd name="T2" fmla="*/ 1996 w 2158"/>
                  <a:gd name="T3" fmla="*/ 397 h 1996"/>
                  <a:gd name="T4" fmla="*/ 1996 w 2158"/>
                  <a:gd name="T5" fmla="*/ 0 h 1996"/>
                  <a:gd name="T6" fmla="*/ 0 w 2158"/>
                  <a:gd name="T7" fmla="*/ 0 h 1996"/>
                  <a:gd name="T8" fmla="*/ 0 w 2158"/>
                  <a:gd name="T9" fmla="*/ 1996 h 1996"/>
                  <a:gd name="T10" fmla="*/ 1996 w 2158"/>
                  <a:gd name="T11" fmla="*/ 1996 h 1996"/>
                  <a:gd name="T12" fmla="*/ 1996 w 2158"/>
                  <a:gd name="T13" fmla="*/ 666 h 1996"/>
                  <a:gd name="T14" fmla="*/ 2158 w 2158"/>
                  <a:gd name="T15" fmla="*/ 531 h 19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8" h="1996">
                    <a:moveTo>
                      <a:pt x="2158" y="531"/>
                    </a:moveTo>
                    <a:lnTo>
                      <a:pt x="1996" y="397"/>
                    </a:lnTo>
                    <a:lnTo>
                      <a:pt x="1996" y="0"/>
                    </a:lnTo>
                    <a:lnTo>
                      <a:pt x="0" y="0"/>
                    </a:lnTo>
                    <a:lnTo>
                      <a:pt x="0" y="1996"/>
                    </a:lnTo>
                    <a:lnTo>
                      <a:pt x="1996" y="1996"/>
                    </a:lnTo>
                    <a:lnTo>
                      <a:pt x="1996" y="666"/>
                    </a:lnTo>
                    <a:lnTo>
                      <a:pt x="2158" y="531"/>
                    </a:lnTo>
                    <a:close/>
                  </a:path>
                </a:pathLst>
              </a:custGeom>
              <a:solidFill>
                <a:srgbClr val="00B0F0"/>
              </a:solidFill>
              <a:ln w="19050">
                <a:solidFill>
                  <a:srgbClr val="F8F8F8"/>
                </a:solidFill>
                <a:round/>
              </a:ln>
            </p:spPr>
            <p:txBody>
              <a:bodyPr vert="horz" wrap="square" lIns="68553" tIns="34277" rIns="68553" bIns="34277" numCol="1" anchor="t" anchorCtr="0" compatLnSpc="1"/>
              <a:lstStyle/>
              <a:p>
                <a:pPr algn="ctr" fontAlgn="base">
                  <a:spcBef>
                    <a:spcPct val="0"/>
                  </a:spcBef>
                  <a:spcAft>
                    <a:spcPct val="0"/>
                  </a:spcAft>
                </a:pPr>
                <a:endParaRPr lang="zh-CN" altLang="en-US" kern="0">
                  <a:solidFill>
                    <a:schemeClr val="bg1"/>
                  </a:solidFill>
                  <a:ea typeface="宋体" panose="02010600030101010101" pitchFamily="2" charset="-122"/>
                </a:endParaRPr>
              </a:p>
            </p:txBody>
          </p:sp>
          <p:grpSp>
            <p:nvGrpSpPr>
              <p:cNvPr id="66" name="组合 65"/>
              <p:cNvGrpSpPr/>
              <p:nvPr/>
            </p:nvGrpSpPr>
            <p:grpSpPr>
              <a:xfrm>
                <a:off x="1264" y="2025"/>
                <a:ext cx="5382" cy="816"/>
                <a:chOff x="4471" y="2958"/>
                <a:chExt cx="5382" cy="816"/>
              </a:xfrm>
            </p:grpSpPr>
            <p:sp>
              <p:nvSpPr>
                <p:cNvPr id="67" name="Rectangle 5"/>
                <p:cNvSpPr>
                  <a:spLocks noChangeArrowheads="1"/>
                </p:cNvSpPr>
                <p:nvPr/>
              </p:nvSpPr>
              <p:spPr bwMode="auto">
                <a:xfrm>
                  <a:off x="4544" y="2958"/>
                  <a:ext cx="5309" cy="816"/>
                </a:xfrm>
                <a:prstGeom prst="rect">
                  <a:avLst/>
                </a:prstGeom>
                <a:noFill/>
                <a:ln w="6350" cap="flat">
                  <a:solidFill>
                    <a:schemeClr val="bg1"/>
                  </a:solidFill>
                  <a:prstDash val="solid"/>
                  <a:miter lim="800000"/>
                </a:ln>
                <a:effectLst>
                  <a:outerShdw blurRad="203200" sx="102000" sy="102000" algn="ctr" rotWithShape="0">
                    <a:prstClr val="black">
                      <a:alpha val="40000"/>
                    </a:prstClr>
                  </a:outerShdw>
                </a:effectLst>
              </p:spPr>
              <p:txBody>
                <a:bodyPr vert="horz" wrap="square" lIns="68553" tIns="34277" rIns="68553" bIns="34277" numCol="1" anchor="t" anchorCtr="0" compatLnSpc="1"/>
                <a:lstStyle/>
                <a:p>
                  <a:pPr algn="ctr" fontAlgn="base">
                    <a:spcBef>
                      <a:spcPct val="0"/>
                    </a:spcBef>
                    <a:spcAft>
                      <a:spcPct val="0"/>
                    </a:spcAft>
                  </a:pPr>
                  <a:endParaRPr lang="zh-CN" altLang="en-US" kern="0">
                    <a:solidFill>
                      <a:schemeClr val="bg1"/>
                    </a:solidFill>
                    <a:latin typeface="微软雅黑" panose="020B0503020204020204" pitchFamily="34" charset="-122"/>
                    <a:ea typeface="微软雅黑" panose="020B0503020204020204" pitchFamily="34" charset="-122"/>
                  </a:endParaRPr>
                </a:p>
              </p:txBody>
            </p:sp>
            <p:sp>
              <p:nvSpPr>
                <p:cNvPr id="68" name="TextBox 144"/>
                <p:cNvSpPr txBox="1"/>
                <p:nvPr/>
              </p:nvSpPr>
              <p:spPr>
                <a:xfrm>
                  <a:off x="4471" y="3015"/>
                  <a:ext cx="816" cy="687"/>
                </a:xfrm>
                <a:prstGeom prst="rect">
                  <a:avLst/>
                </a:prstGeom>
                <a:noFill/>
              </p:spPr>
              <p:txBody>
                <a:bodyPr wrap="square" lIns="68553" tIns="34277" rIns="68553" bIns="34277" rtlCol="0">
                  <a:spAutoFit/>
                </a:bodyPr>
                <a:lstStyle/>
                <a:p>
                  <a:pPr algn="ctr" fontAlgn="base">
                    <a:spcBef>
                      <a:spcPct val="0"/>
                    </a:spcBef>
                    <a:spcAft>
                      <a:spcPct val="0"/>
                    </a:spcAft>
                    <a:buFont typeface="Arial" panose="020B0604020202020204" pitchFamily="34" charset="0"/>
                    <a:buNone/>
                  </a:pPr>
                  <a:r>
                    <a:rPr lang="en-US" sz="2400" b="1" dirty="0">
                      <a:solidFill>
                        <a:schemeClr val="bg1"/>
                      </a:solidFill>
                      <a:latin typeface="微软雅黑" panose="020B0503020204020204" pitchFamily="34" charset="-122"/>
                      <a:ea typeface="微软雅黑" panose="020B0503020204020204" pitchFamily="34" charset="-122"/>
                      <a:sym typeface="+mn-ea"/>
                    </a:rPr>
                    <a:t>1.4</a:t>
                  </a:r>
                  <a:endParaRPr lang="zh-CN" altLang="en-US" sz="2400" b="1" dirty="0">
                    <a:solidFill>
                      <a:schemeClr val="bg1"/>
                    </a:solidFill>
                    <a:latin typeface="微软雅黑" panose="020B0503020204020204" pitchFamily="34" charset="-122"/>
                  </a:endParaRPr>
                </a:p>
              </p:txBody>
            </p:sp>
          </p:grpSp>
        </p:grpSp>
        <p:sp>
          <p:nvSpPr>
            <p:cNvPr id="69" name="文本框 68"/>
            <p:cNvSpPr txBox="1"/>
            <p:nvPr/>
          </p:nvSpPr>
          <p:spPr>
            <a:xfrm>
              <a:off x="2276" y="3631"/>
              <a:ext cx="6050" cy="582"/>
            </a:xfrm>
            <a:prstGeom prst="rect">
              <a:avLst/>
            </a:prstGeom>
            <a:noFill/>
            <a:ln w="9525">
              <a:noFill/>
            </a:ln>
          </p:spPr>
          <p:txBody>
            <a:bodyPr wrap="square">
              <a:spAutoFit/>
            </a:bodyPr>
            <a:lstStyle/>
            <a:p>
              <a:pPr marL="396240" indent="-396240"/>
              <a:r>
                <a:rPr lang="zh-CN" altLang="en-US" sz="1800" b="1" dirty="0">
                  <a:solidFill>
                    <a:schemeClr val="bg1"/>
                  </a:solidFill>
                  <a:latin typeface="等线 Light" panose="02010600030101010101" charset="-122"/>
                </a:rPr>
                <a:t>大数据处理技术基础</a:t>
              </a:r>
              <a:endParaRPr sz="1800" b="1" dirty="0">
                <a:solidFill>
                  <a:schemeClr val="bg1"/>
                </a:solidFill>
                <a:latin typeface="等线 Light" panose="02010600030101010101" charset="-122"/>
                <a:ea typeface="等线" panose="02010600030101010101" pitchFamily="2" charset="-122"/>
              </a:endParaRPr>
            </a:p>
          </p:txBody>
        </p:sp>
      </p:grpSp>
      <p:grpSp>
        <p:nvGrpSpPr>
          <p:cNvPr id="71" name="组合 70"/>
          <p:cNvGrpSpPr/>
          <p:nvPr/>
        </p:nvGrpSpPr>
        <p:grpSpPr>
          <a:xfrm>
            <a:off x="1322070" y="4162425"/>
            <a:ext cx="4714240" cy="518795"/>
            <a:chOff x="903" y="3512"/>
            <a:chExt cx="7424" cy="817"/>
          </a:xfrm>
        </p:grpSpPr>
        <p:grpSp>
          <p:nvGrpSpPr>
            <p:cNvPr id="72" name="组合 71"/>
            <p:cNvGrpSpPr/>
            <p:nvPr/>
          </p:nvGrpSpPr>
          <p:grpSpPr>
            <a:xfrm>
              <a:off x="903" y="3512"/>
              <a:ext cx="7424" cy="817"/>
              <a:chOff x="1264" y="2025"/>
              <a:chExt cx="5382" cy="817"/>
            </a:xfrm>
          </p:grpSpPr>
          <p:sp>
            <p:nvSpPr>
              <p:cNvPr id="73" name="Freeform 6"/>
              <p:cNvSpPr/>
              <p:nvPr/>
            </p:nvSpPr>
            <p:spPr bwMode="auto">
              <a:xfrm>
                <a:off x="1337" y="2026"/>
                <a:ext cx="1029" cy="816"/>
              </a:xfrm>
              <a:custGeom>
                <a:avLst/>
                <a:gdLst>
                  <a:gd name="T0" fmla="*/ 2158 w 2158"/>
                  <a:gd name="T1" fmla="*/ 531 h 1996"/>
                  <a:gd name="T2" fmla="*/ 1996 w 2158"/>
                  <a:gd name="T3" fmla="*/ 397 h 1996"/>
                  <a:gd name="T4" fmla="*/ 1996 w 2158"/>
                  <a:gd name="T5" fmla="*/ 0 h 1996"/>
                  <a:gd name="T6" fmla="*/ 0 w 2158"/>
                  <a:gd name="T7" fmla="*/ 0 h 1996"/>
                  <a:gd name="T8" fmla="*/ 0 w 2158"/>
                  <a:gd name="T9" fmla="*/ 1996 h 1996"/>
                  <a:gd name="T10" fmla="*/ 1996 w 2158"/>
                  <a:gd name="T11" fmla="*/ 1996 h 1996"/>
                  <a:gd name="T12" fmla="*/ 1996 w 2158"/>
                  <a:gd name="T13" fmla="*/ 666 h 1996"/>
                  <a:gd name="T14" fmla="*/ 2158 w 2158"/>
                  <a:gd name="T15" fmla="*/ 531 h 19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8" h="1996">
                    <a:moveTo>
                      <a:pt x="2158" y="531"/>
                    </a:moveTo>
                    <a:lnTo>
                      <a:pt x="1996" y="397"/>
                    </a:lnTo>
                    <a:lnTo>
                      <a:pt x="1996" y="0"/>
                    </a:lnTo>
                    <a:lnTo>
                      <a:pt x="0" y="0"/>
                    </a:lnTo>
                    <a:lnTo>
                      <a:pt x="0" y="1996"/>
                    </a:lnTo>
                    <a:lnTo>
                      <a:pt x="1996" y="1996"/>
                    </a:lnTo>
                    <a:lnTo>
                      <a:pt x="1996" y="666"/>
                    </a:lnTo>
                    <a:lnTo>
                      <a:pt x="2158" y="531"/>
                    </a:lnTo>
                    <a:close/>
                  </a:path>
                </a:pathLst>
              </a:custGeom>
              <a:solidFill>
                <a:srgbClr val="00B0F0"/>
              </a:solidFill>
              <a:ln w="19050">
                <a:solidFill>
                  <a:srgbClr val="F8F8F8"/>
                </a:solidFill>
                <a:round/>
              </a:ln>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ea typeface="宋体" panose="02010600030101010101" pitchFamily="2" charset="-122"/>
                </a:endParaRPr>
              </a:p>
            </p:txBody>
          </p:sp>
          <p:grpSp>
            <p:nvGrpSpPr>
              <p:cNvPr id="74" name="组合 73"/>
              <p:cNvGrpSpPr/>
              <p:nvPr/>
            </p:nvGrpSpPr>
            <p:grpSpPr>
              <a:xfrm>
                <a:off x="1264" y="2025"/>
                <a:ext cx="5382" cy="816"/>
                <a:chOff x="4471" y="2958"/>
                <a:chExt cx="5382" cy="816"/>
              </a:xfrm>
            </p:grpSpPr>
            <p:sp>
              <p:nvSpPr>
                <p:cNvPr id="75" name="Rectangle 5"/>
                <p:cNvSpPr>
                  <a:spLocks noChangeArrowheads="1"/>
                </p:cNvSpPr>
                <p:nvPr/>
              </p:nvSpPr>
              <p:spPr bwMode="auto">
                <a:xfrm>
                  <a:off x="4544" y="2958"/>
                  <a:ext cx="5309" cy="816"/>
                </a:xfrm>
                <a:prstGeom prst="rect">
                  <a:avLst/>
                </a:prstGeom>
                <a:noFill/>
                <a:ln w="6350" cap="flat">
                  <a:solidFill>
                    <a:schemeClr val="bg1"/>
                  </a:solidFill>
                  <a:prstDash val="solid"/>
                  <a:miter lim="800000"/>
                </a:ln>
                <a:effectLst>
                  <a:outerShdw blurRad="203200" sx="102000" sy="102000" algn="ctr" rotWithShape="0">
                    <a:prstClr val="black">
                      <a:alpha val="40000"/>
                    </a:prstClr>
                  </a:outerShdw>
                </a:effectLst>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latin typeface="微软雅黑" panose="020B0503020204020204" pitchFamily="34" charset="-122"/>
                    <a:ea typeface="微软雅黑" panose="020B0503020204020204" pitchFamily="34" charset="-122"/>
                  </a:endParaRPr>
                </a:p>
              </p:txBody>
            </p:sp>
            <p:sp>
              <p:nvSpPr>
                <p:cNvPr id="76" name="TextBox 144"/>
                <p:cNvSpPr txBox="1"/>
                <p:nvPr/>
              </p:nvSpPr>
              <p:spPr>
                <a:xfrm>
                  <a:off x="4471" y="3015"/>
                  <a:ext cx="816" cy="687"/>
                </a:xfrm>
                <a:prstGeom prst="rect">
                  <a:avLst/>
                </a:prstGeom>
                <a:noFill/>
              </p:spPr>
              <p:txBody>
                <a:bodyPr wrap="square" lIns="68553" tIns="34277" rIns="68553" bIns="34277" rtlCol="0">
                  <a:spAutoFit/>
                </a:bodyPr>
                <a:lstStyle/>
                <a:p>
                  <a:pPr algn="ctr" fontAlgn="base">
                    <a:spcBef>
                      <a:spcPct val="0"/>
                    </a:spcBef>
                    <a:spcAft>
                      <a:spcPct val="0"/>
                    </a:spcAft>
                    <a:buFont typeface="Arial" panose="020B0604020202020204" pitchFamily="34" charset="0"/>
                    <a:buNone/>
                  </a:pPr>
                  <a:r>
                    <a:rPr lang="en-US" altLang="zh-CN" sz="2400" b="1">
                      <a:solidFill>
                        <a:schemeClr val="bg1"/>
                      </a:solidFill>
                      <a:latin typeface="微软雅黑" panose="020B0503020204020204" pitchFamily="34" charset="-122"/>
                      <a:ea typeface="微软雅黑" panose="020B0503020204020204" pitchFamily="34" charset="-122"/>
                      <a:sym typeface="+mn-ea"/>
                    </a:rPr>
                    <a:t>1</a:t>
                  </a:r>
                  <a:r>
                    <a:rPr lang="en-US" sz="2400" b="1">
                      <a:solidFill>
                        <a:schemeClr val="bg1"/>
                      </a:solidFill>
                      <a:latin typeface="微软雅黑" panose="020B0503020204020204" pitchFamily="34" charset="-122"/>
                      <a:ea typeface="微软雅黑" panose="020B0503020204020204" pitchFamily="34" charset="-122"/>
                      <a:sym typeface="+mn-ea"/>
                    </a:rPr>
                    <a:t>.5</a:t>
                  </a:r>
                  <a:endParaRPr lang="en-US" sz="2400" b="1">
                    <a:solidFill>
                      <a:schemeClr val="bg1"/>
                    </a:solidFill>
                    <a:latin typeface="微软雅黑" panose="020B0503020204020204" pitchFamily="34" charset="-122"/>
                    <a:ea typeface="微软雅黑" panose="020B0503020204020204" pitchFamily="34" charset="-122"/>
                  </a:endParaRPr>
                </a:p>
              </p:txBody>
            </p:sp>
          </p:grpSp>
        </p:grpSp>
        <p:sp>
          <p:nvSpPr>
            <p:cNvPr id="77" name="文本框 76"/>
            <p:cNvSpPr txBox="1"/>
            <p:nvPr/>
          </p:nvSpPr>
          <p:spPr>
            <a:xfrm>
              <a:off x="2276" y="3631"/>
              <a:ext cx="6050" cy="582"/>
            </a:xfrm>
            <a:prstGeom prst="rect">
              <a:avLst/>
            </a:prstGeom>
            <a:noFill/>
            <a:ln w="9525">
              <a:noFill/>
            </a:ln>
          </p:spPr>
          <p:txBody>
            <a:bodyPr wrap="square">
              <a:spAutoFit/>
            </a:bodyPr>
            <a:lstStyle/>
            <a:p>
              <a:pPr marL="396240" indent="-396240"/>
              <a:r>
                <a:rPr lang="zh-CN" altLang="en-US" sz="1800" b="1" dirty="0">
                  <a:solidFill>
                    <a:schemeClr val="bg1"/>
                  </a:solidFill>
                  <a:latin typeface="等线 Light" panose="02010600030101010101" charset="-122"/>
                </a:rPr>
                <a:t>大数据面临的技术挑战</a:t>
              </a:r>
              <a:endParaRPr lang="zh-CN" altLang="en-US" sz="1800" b="1" dirty="0">
                <a:solidFill>
                  <a:schemeClr val="bg1"/>
                </a:solidFill>
                <a:latin typeface="等线 Light" panose="02010600030101010101" charset="-122"/>
                <a:ea typeface="等线" panose="02010600030101010101" pitchFamily="2" charset="-122"/>
              </a:endParaRP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2624" y="0"/>
            <a:ext cx="9141291" cy="5143500"/>
          </a:xfrm>
          <a:prstGeom prst="rect">
            <a:avLst/>
          </a:prstGeom>
        </p:spPr>
      </p:pic>
      <p:grpSp>
        <p:nvGrpSpPr>
          <p:cNvPr id="32" name="组合 14"/>
          <p:cNvGrpSpPr/>
          <p:nvPr/>
        </p:nvGrpSpPr>
        <p:grpSpPr bwMode="auto">
          <a:xfrm>
            <a:off x="1940560" y="2411912"/>
            <a:ext cx="4167679" cy="124642"/>
            <a:chOff x="3649980" y="3375660"/>
            <a:chExt cx="4638285" cy="108000"/>
          </a:xfrm>
        </p:grpSpPr>
        <p:cxnSp>
          <p:nvCxnSpPr>
            <p:cNvPr id="33" name="直接连接符 32"/>
            <p:cNvCxnSpPr/>
            <p:nvPr/>
          </p:nvCxnSpPr>
          <p:spPr>
            <a:xfrm>
              <a:off x="3734134" y="3429660"/>
              <a:ext cx="449513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3649980"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5" name="椭圆 34"/>
            <p:cNvSpPr/>
            <p:nvPr/>
          </p:nvSpPr>
          <p:spPr>
            <a:xfrm>
              <a:off x="8205448"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36" name="文本框 35"/>
          <p:cNvSpPr txBox="1"/>
          <p:nvPr/>
        </p:nvSpPr>
        <p:spPr>
          <a:xfrm>
            <a:off x="1940560" y="1654175"/>
            <a:ext cx="6555105" cy="645160"/>
          </a:xfrm>
          <a:prstGeom prst="rect">
            <a:avLst/>
          </a:prstGeom>
          <a:noFill/>
        </p:spPr>
        <p:txBody>
          <a:bodyPr wrap="square">
            <a:spAutoFit/>
          </a:bodyPr>
          <a:lstStyle/>
          <a:p>
            <a:r>
              <a:rPr lang="zh-CN" altLang="en-US" sz="3600" b="1" dirty="0">
                <a:solidFill>
                  <a:srgbClr val="FFC000"/>
                </a:solidFill>
                <a:effectLst>
                  <a:outerShdw blurRad="38100" dist="38100" dir="2700000" algn="tl">
                    <a:srgbClr val="000000">
                      <a:alpha val="43137"/>
                    </a:srgbClr>
                  </a:outerShdw>
                </a:effectLst>
                <a:latin typeface="IrisUPC" panose="020B0604020202020204" pitchFamily="34" charset="-34"/>
                <a:ea typeface="微软雅黑" panose="020B0503020204020204" pitchFamily="34" charset="-122"/>
                <a:cs typeface="IrisUPC" panose="020B0604020202020204" pitchFamily="34" charset="-34"/>
              </a:rPr>
              <a:t>大数据的基本概念</a:t>
            </a:r>
          </a:p>
        </p:txBody>
      </p:sp>
      <p:sp>
        <p:nvSpPr>
          <p:cNvPr id="41" name="文本框 40"/>
          <p:cNvSpPr txBox="1">
            <a:spLocks noChangeArrowheads="1"/>
          </p:cNvSpPr>
          <p:nvPr/>
        </p:nvSpPr>
        <p:spPr bwMode="auto">
          <a:xfrm>
            <a:off x="511044" y="1508897"/>
            <a:ext cx="1698527" cy="922020"/>
          </a:xfrm>
          <a:prstGeom prst="rect">
            <a:avLst/>
          </a:prstGeom>
          <a:noFill/>
          <a:ln w="9525">
            <a:noFill/>
            <a:miter lim="800000"/>
          </a:ln>
        </p:spPr>
        <p:txBody>
          <a:bodyPr wrap="square">
            <a:spAutoFit/>
          </a:bodyPr>
          <a:lstStyle/>
          <a:p>
            <a:pPr algn="ctr"/>
            <a:r>
              <a:rPr lang="en-US" altLang="zh-CN" sz="5400" dirty="0">
                <a:solidFill>
                  <a:srgbClr val="00B0F0"/>
                </a:solidFill>
                <a:latin typeface="微软雅黑" panose="020B0503020204020204" pitchFamily="34" charset="-122"/>
                <a:ea typeface="微软雅黑" panose="020B0503020204020204" pitchFamily="34" charset="-122"/>
                <a:cs typeface="IrisUPC" panose="020B0604020202020204" pitchFamily="34" charset="-34"/>
              </a:rPr>
              <a:t>1.1</a:t>
            </a:r>
          </a:p>
        </p:txBody>
      </p:sp>
      <p:sp>
        <p:nvSpPr>
          <p:cNvPr id="4" name="文本框 3"/>
          <p:cNvSpPr txBox="1"/>
          <p:nvPr/>
        </p:nvSpPr>
        <p:spPr>
          <a:xfrm>
            <a:off x="2866347" y="2731588"/>
            <a:ext cx="3393776" cy="923330"/>
          </a:xfrm>
          <a:prstGeom prst="rect">
            <a:avLst/>
          </a:prstGeom>
          <a:noFill/>
        </p:spPr>
        <p:txBody>
          <a:bodyPr wrap="square" rtlCol="0">
            <a:spAutoFit/>
          </a:bodyPr>
          <a:lstStyle/>
          <a:p>
            <a:pPr marL="285750" indent="-285750">
              <a:buFont typeface="Wingdings" panose="05000000000000000000" pitchFamily="2" charset="2"/>
              <a:buChar char="Ø"/>
            </a:pPr>
            <a:r>
              <a:rPr lang="zh-CN" altLang="en-US" sz="1800" dirty="0">
                <a:solidFill>
                  <a:schemeClr val="bg1"/>
                </a:solidFill>
                <a:latin typeface="微软雅黑" panose="020B0503020204020204" pitchFamily="34" charset="-122"/>
                <a:ea typeface="微软雅黑" panose="020B0503020204020204" pitchFamily="34" charset="-122"/>
              </a:rPr>
              <a:t>什么是“大数据”</a:t>
            </a:r>
            <a:endParaRPr lang="en-US" altLang="zh-CN" sz="1800" dirty="0">
              <a:solidFill>
                <a:schemeClr val="bg1"/>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Ø"/>
            </a:pPr>
            <a:r>
              <a:rPr lang="zh-CN" altLang="en-US" sz="1800" dirty="0">
                <a:solidFill>
                  <a:schemeClr val="bg1"/>
                </a:solidFill>
                <a:latin typeface="微软雅黑" panose="020B0503020204020204" pitchFamily="34" charset="-122"/>
                <a:ea typeface="微软雅黑" panose="020B0503020204020204" pitchFamily="34" charset="-122"/>
              </a:rPr>
              <a:t>大数据的特点</a:t>
            </a:r>
            <a:endParaRPr lang="en-US" altLang="zh-CN" sz="1800" dirty="0">
              <a:solidFill>
                <a:schemeClr val="bg1"/>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Ø"/>
            </a:pPr>
            <a:r>
              <a:rPr lang="zh-CN" altLang="en-US" sz="1800" dirty="0">
                <a:solidFill>
                  <a:schemeClr val="bg1"/>
                </a:solidFill>
                <a:latin typeface="微软雅黑" panose="020B0503020204020204" pitchFamily="34" charset="-122"/>
                <a:ea typeface="微软雅黑" panose="020B0503020204020204" pitchFamily="34" charset="-122"/>
              </a:rPr>
              <a:t>大数据的构成</a:t>
            </a: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40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par>
                          <p:cTn id="8" fill="hold">
                            <p:stCondLst>
                              <p:cond delay="900"/>
                            </p:stCondLst>
                            <p:childTnLst>
                              <p:par>
                                <p:cTn id="9" presetID="12" presetClass="entr" presetSubtype="4"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p:tgtEl>
                                          <p:spTgt spid="36"/>
                                        </p:tgtEl>
                                        <p:attrNameLst>
                                          <p:attrName>ppt_y</p:attrName>
                                        </p:attrNameLst>
                                      </p:cBhvr>
                                      <p:tavLst>
                                        <p:tav tm="0">
                                          <p:val>
                                            <p:strVal val="#ppt_y+#ppt_h*1.125000"/>
                                          </p:val>
                                        </p:tav>
                                        <p:tav tm="100000">
                                          <p:val>
                                            <p:strVal val="#ppt_y"/>
                                          </p:val>
                                        </p:tav>
                                      </p:tavLst>
                                    </p:anim>
                                    <p:animEffect transition="in" filter="wipe(up)">
                                      <p:cBhvr>
                                        <p:cTn id="12" dur="500"/>
                                        <p:tgtEl>
                                          <p:spTgt spid="36"/>
                                        </p:tgtEl>
                                      </p:cBhvr>
                                    </p:animEffect>
                                  </p:childTnLst>
                                </p:cTn>
                              </p:par>
                              <p:par>
                                <p:cTn id="13" presetID="2" presetClass="entr" presetSubtype="8"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0-#ppt_w/2"/>
                                          </p:val>
                                        </p:tav>
                                        <p:tav tm="100000">
                                          <p:val>
                                            <p:strVal val="#ppt_x"/>
                                          </p:val>
                                        </p:tav>
                                      </p:tavLst>
                                    </p:anim>
                                    <p:anim calcmode="lin" valueType="num">
                                      <p:cBhvr additive="base">
                                        <p:cTn id="16" dur="500" fill="hold"/>
                                        <p:tgtEl>
                                          <p:spTgt spid="41"/>
                                        </p:tgtEl>
                                        <p:attrNameLst>
                                          <p:attrName>ppt_y</p:attrName>
                                        </p:attrNameLst>
                                      </p:cBhvr>
                                      <p:tavLst>
                                        <p:tav tm="0">
                                          <p:val>
                                            <p:strVal val="#ppt_y"/>
                                          </p:val>
                                        </p:tav>
                                        <p:tav tm="100000">
                                          <p:val>
                                            <p:strVal val="#ppt_y"/>
                                          </p:val>
                                        </p:tav>
                                      </p:tavLst>
                                    </p:anim>
                                  </p:childTnLst>
                                </p:cTn>
                              </p:par>
                            </p:childTnLst>
                          </p:cTn>
                        </p:par>
                        <p:par>
                          <p:cTn id="17" fill="hold">
                            <p:stCondLst>
                              <p:cond delay="1400"/>
                            </p:stCondLst>
                            <p:childTnLst>
                              <p:par>
                                <p:cTn id="18" presetID="1" presetClass="entr" presetSubtype="0" fill="hold" grpId="0" nodeType="afterEffect">
                                  <p:stCondLst>
                                    <p:cond delay="0"/>
                                  </p:stCondLst>
                                  <p:iterate type="wd">
                                    <p:tmAbs val="100"/>
                                  </p:iterate>
                                  <p:childTnLst>
                                    <p:set>
                                      <p:cBhvr>
                                        <p:cTn id="19"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1" grpId="0"/>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0" y="248285"/>
            <a:ext cx="4265295" cy="521970"/>
          </a:xfrm>
          <a:prstGeom prst="rect">
            <a:avLst/>
          </a:prstGeom>
          <a:noFill/>
        </p:spPr>
        <p:txBody>
          <a:bodyPr wrap="square" rtlCol="0">
            <a:spAutoFit/>
          </a:bodyPr>
          <a:lstStyle/>
          <a:p>
            <a:r>
              <a:rPr lang="en-US" altLang="zh-CN"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1.1.1 </a:t>
            </a:r>
            <a:r>
              <a:rPr lang="zh-CN" alt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什么是“大数据”</a:t>
            </a:r>
            <a:endParaRPr lang="zh-CN" alt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00" name="文本框 99"/>
          <p:cNvSpPr txBox="1"/>
          <p:nvPr/>
        </p:nvSpPr>
        <p:spPr>
          <a:xfrm>
            <a:off x="339090" y="1205230"/>
            <a:ext cx="8466455" cy="2061398"/>
          </a:xfrm>
          <a:prstGeom prst="rect">
            <a:avLst/>
          </a:prstGeom>
          <a:noFill/>
          <a:ln w="9525">
            <a:noFill/>
          </a:ln>
        </p:spPr>
        <p:txBody>
          <a:bodyPr wrap="square">
            <a:spAutoFit/>
          </a:bodyPr>
          <a:lstStyle/>
          <a:p>
            <a:pPr indent="266700">
              <a:lnSpc>
                <a:spcPct val="130000"/>
              </a:lnSpc>
              <a:spcBef>
                <a:spcPts val="0"/>
              </a:spcBef>
              <a:spcAft>
                <a:spcPts val="0"/>
              </a:spcAft>
            </a:pPr>
            <a:r>
              <a:rPr lang="en-US" altLang="zh-CN" sz="2000" b="1" dirty="0">
                <a:latin typeface="+mn-ea"/>
              </a:rPr>
              <a:t>    </a:t>
            </a:r>
            <a:r>
              <a:rPr lang="zh-CN" altLang="en-US" sz="2000" dirty="0">
                <a:latin typeface="+mn-ea"/>
              </a:rPr>
              <a:t> “大数据”这一名词最早公开出现于</a:t>
            </a:r>
            <a:r>
              <a:rPr lang="en-US" altLang="zh-CN" sz="2000" dirty="0">
                <a:latin typeface="+mn-ea"/>
              </a:rPr>
              <a:t>1998</a:t>
            </a:r>
            <a:r>
              <a:rPr lang="zh-CN" altLang="en-US" sz="2000" dirty="0">
                <a:latin typeface="+mn-ea"/>
              </a:rPr>
              <a:t>年，美国高性能计算公司</a:t>
            </a:r>
            <a:r>
              <a:rPr lang="en-US" altLang="zh-CN" sz="2000" dirty="0">
                <a:latin typeface="+mn-ea"/>
              </a:rPr>
              <a:t>SGI</a:t>
            </a:r>
            <a:r>
              <a:rPr lang="zh-CN" altLang="en-US" sz="2000" dirty="0">
                <a:latin typeface="+mn-ea"/>
              </a:rPr>
              <a:t>的首席科学家约翰</a:t>
            </a:r>
            <a:r>
              <a:rPr lang="en-US" altLang="zh-CN" sz="2000" dirty="0">
                <a:latin typeface="+mn-ea"/>
              </a:rPr>
              <a:t>•</a:t>
            </a:r>
            <a:r>
              <a:rPr lang="zh-CN" altLang="en-US" sz="2000" dirty="0">
                <a:latin typeface="+mn-ea"/>
              </a:rPr>
              <a:t>马西（</a:t>
            </a:r>
            <a:r>
              <a:rPr lang="en-US" altLang="zh-CN" sz="2000" dirty="0">
                <a:latin typeface="+mn-ea"/>
              </a:rPr>
              <a:t>John </a:t>
            </a:r>
            <a:r>
              <a:rPr lang="en-US" altLang="zh-CN" sz="2000" dirty="0" err="1">
                <a:latin typeface="+mn-ea"/>
              </a:rPr>
              <a:t>Mashey</a:t>
            </a:r>
            <a:r>
              <a:rPr lang="zh-CN" altLang="en-US" sz="2000" dirty="0">
                <a:latin typeface="+mn-ea"/>
              </a:rPr>
              <a:t>）在一个国际会议报告中指出：随着数据量的快速增长，必将出现数据难理解、难获取、难处理和难组织等四个难题，并用“</a:t>
            </a:r>
            <a:r>
              <a:rPr lang="en-US" altLang="zh-CN" sz="2000" dirty="0">
                <a:latin typeface="+mn-ea"/>
              </a:rPr>
              <a:t>Big Data</a:t>
            </a:r>
            <a:r>
              <a:rPr lang="zh-CN" altLang="en-US" sz="2000" dirty="0">
                <a:latin typeface="+mn-ea"/>
              </a:rPr>
              <a:t>（大数据）”来描述这一挑战，在计算机领域引起了人们的重视和关注。</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0" y="248285"/>
            <a:ext cx="4265295" cy="521970"/>
          </a:xfrm>
          <a:prstGeom prst="rect">
            <a:avLst/>
          </a:prstGeom>
          <a:noFill/>
        </p:spPr>
        <p:txBody>
          <a:bodyPr wrap="square" rtlCol="0">
            <a:spAutoFit/>
          </a:bodyPr>
          <a:lstStyle/>
          <a:p>
            <a:r>
              <a:rPr lang="en-US" altLang="zh-CN"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1.1.1 </a:t>
            </a:r>
            <a:r>
              <a:rPr lang="zh-CN" alt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什么是“大数据”</a:t>
            </a:r>
            <a:endParaRPr lang="zh-CN" alt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00" name="文本框 99"/>
          <p:cNvSpPr txBox="1"/>
          <p:nvPr/>
        </p:nvSpPr>
        <p:spPr>
          <a:xfrm>
            <a:off x="339090" y="1205230"/>
            <a:ext cx="8466455" cy="3661836"/>
          </a:xfrm>
          <a:prstGeom prst="rect">
            <a:avLst/>
          </a:prstGeom>
          <a:noFill/>
          <a:ln w="9525">
            <a:noFill/>
          </a:ln>
        </p:spPr>
        <p:txBody>
          <a:bodyPr wrap="square">
            <a:spAutoFit/>
          </a:bodyPr>
          <a:lstStyle/>
          <a:p>
            <a:pPr indent="266700">
              <a:lnSpc>
                <a:spcPct val="130000"/>
              </a:lnSpc>
              <a:spcBef>
                <a:spcPts val="0"/>
              </a:spcBef>
              <a:spcAft>
                <a:spcPts val="0"/>
              </a:spcAft>
            </a:pPr>
            <a:r>
              <a:rPr lang="zh-CN" altLang="en-US" sz="2000" b="1" dirty="0">
                <a:latin typeface="+mn-ea"/>
              </a:rPr>
              <a:t>在“大数据”这一概念形成的过程中，有三个标志性的事件。</a:t>
            </a:r>
          </a:p>
          <a:p>
            <a:pPr indent="266700">
              <a:lnSpc>
                <a:spcPct val="130000"/>
              </a:lnSpc>
              <a:spcBef>
                <a:spcPts val="0"/>
              </a:spcBef>
              <a:spcAft>
                <a:spcPts val="0"/>
              </a:spcAft>
            </a:pPr>
            <a:r>
              <a:rPr lang="en-US" altLang="zh-CN" sz="2000" dirty="0">
                <a:latin typeface="+mn-ea"/>
              </a:rPr>
              <a:t>2008</a:t>
            </a:r>
            <a:r>
              <a:rPr lang="zh-CN" altLang="en-US" sz="2000" dirty="0">
                <a:latin typeface="+mn-ea"/>
              </a:rPr>
              <a:t>年</a:t>
            </a:r>
            <a:r>
              <a:rPr lang="en-US" altLang="zh-CN" sz="2000" dirty="0">
                <a:latin typeface="+mn-ea"/>
              </a:rPr>
              <a:t>9 </a:t>
            </a:r>
            <a:r>
              <a:rPr lang="zh-CN" altLang="en-US" sz="2000" dirty="0">
                <a:latin typeface="+mn-ea"/>
              </a:rPr>
              <a:t>月，美国</a:t>
            </a:r>
            <a:r>
              <a:rPr lang="en-US" altLang="zh-CN" sz="2000" dirty="0">
                <a:latin typeface="+mn-ea"/>
              </a:rPr>
              <a:t>《</a:t>
            </a:r>
            <a:r>
              <a:rPr lang="zh-CN" altLang="en-US" sz="2000" dirty="0">
                <a:latin typeface="+mn-ea"/>
              </a:rPr>
              <a:t>自然</a:t>
            </a:r>
            <a:r>
              <a:rPr lang="en-US" altLang="zh-CN" sz="2000" dirty="0">
                <a:latin typeface="+mn-ea"/>
              </a:rPr>
              <a:t>》</a:t>
            </a:r>
            <a:r>
              <a:rPr lang="zh-CN" altLang="en-US" sz="2000" dirty="0">
                <a:latin typeface="+mn-ea"/>
              </a:rPr>
              <a:t>（</a:t>
            </a:r>
            <a:r>
              <a:rPr lang="en-US" altLang="zh-CN" sz="2000" dirty="0">
                <a:latin typeface="+mn-ea"/>
              </a:rPr>
              <a:t>Nature</a:t>
            </a:r>
            <a:r>
              <a:rPr lang="zh-CN" altLang="en-US" sz="2000" dirty="0">
                <a:latin typeface="+mn-ea"/>
              </a:rPr>
              <a:t>）杂志专刊</a:t>
            </a:r>
            <a:r>
              <a:rPr lang="en-US" altLang="zh-CN" sz="2000" dirty="0">
                <a:latin typeface="+mn-ea"/>
              </a:rPr>
              <a:t>——The next Google</a:t>
            </a:r>
            <a:r>
              <a:rPr lang="zh-CN" altLang="en-US" sz="2000" dirty="0">
                <a:latin typeface="+mn-ea"/>
              </a:rPr>
              <a:t>，第一次正式提出了“大数据”概念。</a:t>
            </a:r>
          </a:p>
          <a:p>
            <a:pPr indent="266700">
              <a:lnSpc>
                <a:spcPct val="130000"/>
              </a:lnSpc>
              <a:spcBef>
                <a:spcPts val="0"/>
              </a:spcBef>
              <a:spcAft>
                <a:spcPts val="0"/>
              </a:spcAft>
            </a:pPr>
            <a:r>
              <a:rPr lang="en-US" altLang="zh-CN" sz="2000" dirty="0">
                <a:latin typeface="+mn-ea"/>
              </a:rPr>
              <a:t>2011</a:t>
            </a:r>
            <a:r>
              <a:rPr lang="zh-CN" altLang="en-US" sz="2000" dirty="0">
                <a:latin typeface="+mn-ea"/>
              </a:rPr>
              <a:t>年</a:t>
            </a:r>
            <a:r>
              <a:rPr lang="en-US" altLang="zh-CN" sz="2000" dirty="0">
                <a:latin typeface="+mn-ea"/>
              </a:rPr>
              <a:t>2</a:t>
            </a:r>
            <a:r>
              <a:rPr lang="zh-CN" altLang="en-US" sz="2000" dirty="0">
                <a:latin typeface="+mn-ea"/>
              </a:rPr>
              <a:t>月</a:t>
            </a:r>
            <a:r>
              <a:rPr lang="en-US" altLang="zh-CN" sz="2000" dirty="0">
                <a:latin typeface="+mn-ea"/>
              </a:rPr>
              <a:t>1</a:t>
            </a:r>
            <a:r>
              <a:rPr lang="zh-CN" altLang="en-US" sz="2000" dirty="0">
                <a:latin typeface="+mn-ea"/>
              </a:rPr>
              <a:t>日，</a:t>
            </a:r>
            <a:r>
              <a:rPr lang="en-US" altLang="zh-CN" sz="2000" dirty="0">
                <a:latin typeface="+mn-ea"/>
              </a:rPr>
              <a:t>《</a:t>
            </a:r>
            <a:r>
              <a:rPr lang="zh-CN" altLang="en-US" sz="2000" dirty="0">
                <a:latin typeface="+mn-ea"/>
              </a:rPr>
              <a:t>科学</a:t>
            </a:r>
            <a:r>
              <a:rPr lang="en-US" altLang="zh-CN" sz="2000" dirty="0">
                <a:latin typeface="+mn-ea"/>
              </a:rPr>
              <a:t>》</a:t>
            </a:r>
            <a:r>
              <a:rPr lang="zh-CN" altLang="en-US" sz="2000" dirty="0">
                <a:latin typeface="+mn-ea"/>
              </a:rPr>
              <a:t>（</a:t>
            </a:r>
            <a:r>
              <a:rPr lang="en-US" altLang="zh-CN" sz="2000" dirty="0">
                <a:latin typeface="+mn-ea"/>
              </a:rPr>
              <a:t>Science</a:t>
            </a:r>
            <a:r>
              <a:rPr lang="zh-CN" altLang="en-US" sz="2000" dirty="0">
                <a:latin typeface="+mn-ea"/>
              </a:rPr>
              <a:t>）杂志专刊</a:t>
            </a:r>
            <a:r>
              <a:rPr lang="en-US" altLang="zh-CN" sz="2000" dirty="0">
                <a:latin typeface="+mn-ea"/>
              </a:rPr>
              <a:t>——Dealing with data</a:t>
            </a:r>
            <a:r>
              <a:rPr lang="zh-CN" altLang="en-US" sz="2000" dirty="0">
                <a:latin typeface="+mn-ea"/>
              </a:rPr>
              <a:t>，第一次综合分析了大数据对人们生活造成的影响，详细描述了人类面临的“数据困境”。</a:t>
            </a:r>
          </a:p>
          <a:p>
            <a:pPr indent="266700">
              <a:lnSpc>
                <a:spcPct val="130000"/>
              </a:lnSpc>
              <a:spcBef>
                <a:spcPts val="0"/>
              </a:spcBef>
              <a:spcAft>
                <a:spcPts val="0"/>
              </a:spcAft>
            </a:pPr>
            <a:r>
              <a:rPr lang="en-US" altLang="zh-CN" sz="2000" dirty="0">
                <a:latin typeface="+mn-ea"/>
              </a:rPr>
              <a:t>2011</a:t>
            </a:r>
            <a:r>
              <a:rPr lang="zh-CN" altLang="en-US" sz="2000" dirty="0">
                <a:latin typeface="+mn-ea"/>
              </a:rPr>
              <a:t>年</a:t>
            </a:r>
            <a:r>
              <a:rPr lang="en-US" altLang="zh-CN" sz="2000" dirty="0">
                <a:latin typeface="+mn-ea"/>
              </a:rPr>
              <a:t>5</a:t>
            </a:r>
            <a:r>
              <a:rPr lang="zh-CN" altLang="en-US" sz="2000" dirty="0">
                <a:latin typeface="+mn-ea"/>
              </a:rPr>
              <a:t>月，麦肯锡全球研究院（</a:t>
            </a:r>
            <a:r>
              <a:rPr lang="en-US" altLang="zh-CN" sz="2000" dirty="0">
                <a:latin typeface="+mn-ea"/>
              </a:rPr>
              <a:t>McKinsey Global Institute</a:t>
            </a:r>
            <a:r>
              <a:rPr lang="zh-CN" altLang="en-US" sz="2000" dirty="0">
                <a:latin typeface="+mn-ea"/>
              </a:rPr>
              <a:t>）发布报告</a:t>
            </a:r>
            <a:r>
              <a:rPr lang="en-US" altLang="zh-CN" sz="2000" dirty="0">
                <a:latin typeface="+mn-ea"/>
              </a:rPr>
              <a:t>——Big Data: The Next Frontier for Innovation, Competition, and Productivity</a:t>
            </a:r>
            <a:r>
              <a:rPr lang="zh-CN" altLang="en-US" sz="2000" dirty="0">
                <a:latin typeface="+mn-ea"/>
              </a:rPr>
              <a:t>，第一次给大数据做出相对清晰的定义。</a:t>
            </a:r>
          </a:p>
        </p:txBody>
      </p:sp>
    </p:spTree>
    <p:extLst>
      <p:ext uri="{BB962C8B-B14F-4D97-AF65-F5344CB8AC3E}">
        <p14:creationId xmlns:p14="http://schemas.microsoft.com/office/powerpoint/2010/main" val="16105328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0" y="248285"/>
            <a:ext cx="4265295" cy="521970"/>
          </a:xfrm>
          <a:prstGeom prst="rect">
            <a:avLst/>
          </a:prstGeom>
          <a:noFill/>
        </p:spPr>
        <p:txBody>
          <a:bodyPr wrap="square" rtlCol="0">
            <a:spAutoFit/>
          </a:bodyPr>
          <a:lstStyle/>
          <a:p>
            <a:r>
              <a:rPr lang="en-US" altLang="zh-CN"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1.1.1 </a:t>
            </a:r>
            <a:r>
              <a:rPr lang="zh-CN" alt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什么是“大数据”</a:t>
            </a:r>
            <a:endParaRPr lang="zh-CN" alt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00" name="文本框 99"/>
          <p:cNvSpPr txBox="1"/>
          <p:nvPr/>
        </p:nvSpPr>
        <p:spPr>
          <a:xfrm>
            <a:off x="339090" y="1205230"/>
            <a:ext cx="8466455" cy="1892121"/>
          </a:xfrm>
          <a:prstGeom prst="rect">
            <a:avLst/>
          </a:prstGeom>
          <a:noFill/>
          <a:ln w="9525">
            <a:noFill/>
          </a:ln>
        </p:spPr>
        <p:txBody>
          <a:bodyPr wrap="square">
            <a:spAutoFit/>
          </a:bodyPr>
          <a:lstStyle/>
          <a:p>
            <a:pPr indent="266700">
              <a:lnSpc>
                <a:spcPct val="150000"/>
              </a:lnSpc>
              <a:spcBef>
                <a:spcPts val="0"/>
              </a:spcBef>
              <a:spcAft>
                <a:spcPts val="0"/>
              </a:spcAft>
            </a:pPr>
            <a:r>
              <a:rPr lang="zh-CN" altLang="en-US" sz="2000" dirty="0">
                <a:latin typeface="+mn-ea"/>
              </a:rPr>
              <a:t>   维基百科（</a:t>
            </a:r>
            <a:r>
              <a:rPr lang="en-US" altLang="zh-CN" sz="2000" dirty="0">
                <a:latin typeface="+mn-ea"/>
              </a:rPr>
              <a:t>Wikipedia</a:t>
            </a:r>
            <a:r>
              <a:rPr lang="zh-CN" altLang="en-US" sz="2000" dirty="0">
                <a:latin typeface="+mn-ea"/>
              </a:rPr>
              <a:t>）对大数据的定义是：规模庞大，结构复杂，难以通过现有商业工具和技术在可容忍的时间内获取、管理和处理的数据集。</a:t>
            </a:r>
          </a:p>
          <a:p>
            <a:pPr indent="266700">
              <a:lnSpc>
                <a:spcPct val="150000"/>
              </a:lnSpc>
              <a:spcBef>
                <a:spcPts val="0"/>
              </a:spcBef>
              <a:spcAft>
                <a:spcPts val="0"/>
              </a:spcAft>
            </a:pPr>
            <a:r>
              <a:rPr lang="zh-CN" altLang="en-US" sz="2000" dirty="0">
                <a:latin typeface="+mn-ea"/>
              </a:rPr>
              <a:t>   从以上对大数据的定义可以看出，大数据与传统所处理的数据相比，具有体量大、结构复杂的显著特点，并且难以用常规的技术进行处理。</a:t>
            </a:r>
          </a:p>
        </p:txBody>
      </p:sp>
    </p:spTree>
    <p:extLst>
      <p:ext uri="{BB962C8B-B14F-4D97-AF65-F5344CB8AC3E}">
        <p14:creationId xmlns:p14="http://schemas.microsoft.com/office/powerpoint/2010/main" val="4498782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6807" y="234362"/>
            <a:ext cx="3927476" cy="521970"/>
          </a:xfrm>
          <a:prstGeom prst="rect">
            <a:avLst/>
          </a:prstGeom>
        </p:spPr>
        <p:txBody>
          <a:bodyPr wrap="square">
            <a:spAutoFit/>
          </a:bodyPr>
          <a:lstStyle/>
          <a:p>
            <a:r>
              <a:rPr lang="en-US" altLang="zh-CN"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a:t>
            </a:r>
            <a:r>
              <a:rPr lang="zh-CN" alt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a:t>
            </a:r>
            <a:r>
              <a:rPr lang="en-US" altLang="zh-CN"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 </a:t>
            </a:r>
            <a:r>
              <a:rPr lang="zh-CN" alt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大数据的特点</a:t>
            </a:r>
          </a:p>
        </p:txBody>
      </p:sp>
      <p:sp>
        <p:nvSpPr>
          <p:cNvPr id="100" name="文本框 99"/>
          <p:cNvSpPr txBox="1"/>
          <p:nvPr/>
        </p:nvSpPr>
        <p:spPr>
          <a:xfrm>
            <a:off x="612775" y="927100"/>
            <a:ext cx="7138035" cy="1261179"/>
          </a:xfrm>
          <a:prstGeom prst="rect">
            <a:avLst/>
          </a:prstGeom>
          <a:noFill/>
          <a:ln w="9525">
            <a:noFill/>
          </a:ln>
        </p:spPr>
        <p:txBody>
          <a:bodyPr wrap="square">
            <a:spAutoFit/>
          </a:bodyPr>
          <a:lstStyle/>
          <a:p>
            <a:pPr indent="266700">
              <a:lnSpc>
                <a:spcPct val="130000"/>
              </a:lnSpc>
            </a:pPr>
            <a:r>
              <a:rPr lang="zh-CN" altLang="en-US" sz="2000" dirty="0">
                <a:latin typeface="+mn-ea"/>
              </a:rPr>
              <a:t>通常用“</a:t>
            </a:r>
            <a:r>
              <a:rPr lang="en-US" altLang="zh-CN" sz="2000" dirty="0">
                <a:latin typeface="+mn-ea"/>
              </a:rPr>
              <a:t>4V</a:t>
            </a:r>
            <a:r>
              <a:rPr lang="zh-CN" altLang="en-US" sz="2000" dirty="0">
                <a:latin typeface="+mn-ea"/>
              </a:rPr>
              <a:t>特性”来描述大数据的主要特征，即大数据具有体量大（</a:t>
            </a:r>
            <a:r>
              <a:rPr lang="en-US" altLang="zh-CN" sz="2000" dirty="0">
                <a:latin typeface="+mn-ea"/>
              </a:rPr>
              <a:t>Volume</a:t>
            </a:r>
            <a:r>
              <a:rPr lang="zh-CN" altLang="en-US" sz="2000" dirty="0">
                <a:latin typeface="+mn-ea"/>
              </a:rPr>
              <a:t>）、种类多（</a:t>
            </a:r>
            <a:r>
              <a:rPr lang="en-US" altLang="zh-CN" sz="2000" dirty="0">
                <a:latin typeface="+mn-ea"/>
              </a:rPr>
              <a:t>Variety</a:t>
            </a:r>
            <a:r>
              <a:rPr lang="zh-CN" altLang="en-US" sz="2000" dirty="0">
                <a:latin typeface="+mn-ea"/>
              </a:rPr>
              <a:t>） 、速度快（</a:t>
            </a:r>
            <a:r>
              <a:rPr lang="en-US" altLang="zh-CN" sz="2000" dirty="0">
                <a:latin typeface="+mn-ea"/>
              </a:rPr>
              <a:t>Velocity</a:t>
            </a:r>
            <a:r>
              <a:rPr lang="zh-CN" altLang="en-US" sz="2000" dirty="0">
                <a:latin typeface="+mn-ea"/>
              </a:rPr>
              <a:t>）和价值高（</a:t>
            </a:r>
            <a:r>
              <a:rPr lang="en-US" altLang="zh-CN" sz="2000" dirty="0">
                <a:latin typeface="+mn-ea"/>
              </a:rPr>
              <a:t>Value</a:t>
            </a:r>
            <a:r>
              <a:rPr lang="zh-CN" altLang="en-US" sz="2000" dirty="0">
                <a:latin typeface="+mn-ea"/>
              </a:rPr>
              <a:t>）四个主要特征。</a:t>
            </a:r>
            <a:endParaRPr lang="en-US" altLang="zh-CN" sz="2000" dirty="0">
              <a:latin typeface="+mn-ea"/>
            </a:endParaRPr>
          </a:p>
        </p:txBody>
      </p:sp>
      <p:pic>
        <p:nvPicPr>
          <p:cNvPr id="6" name="图片 5">
            <a:extLst>
              <a:ext uri="{FF2B5EF4-FFF2-40B4-BE49-F238E27FC236}">
                <a16:creationId xmlns:a16="http://schemas.microsoft.com/office/drawing/2014/main" id="{DDDDDCD6-30C1-4D70-95C3-A8EF27BA310F}"/>
              </a:ext>
            </a:extLst>
          </p:cNvPr>
          <p:cNvPicPr>
            <a:picLocks noChangeAspect="1"/>
          </p:cNvPicPr>
          <p:nvPr/>
        </p:nvPicPr>
        <p:blipFill rotWithShape="1">
          <a:blip r:embed="rId2"/>
          <a:srcRect t="19710"/>
          <a:stretch/>
        </p:blipFill>
        <p:spPr>
          <a:xfrm>
            <a:off x="1763688" y="2499742"/>
            <a:ext cx="4630465" cy="1877901"/>
          </a:xfrm>
          <a:prstGeom prst="rect">
            <a:avLst/>
          </a:prstGeom>
        </p:spPr>
      </p:pic>
    </p:spTree>
  </p:cSld>
  <p:clrMapOvr>
    <a:masterClrMapping/>
  </p:clrMapOvr>
  <p:transition spd="slow">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0" y="248285"/>
            <a:ext cx="4265295" cy="954107"/>
          </a:xfrm>
          <a:prstGeom prst="rect">
            <a:avLst/>
          </a:prstGeom>
          <a:noFill/>
        </p:spPr>
        <p:txBody>
          <a:bodyPr wrap="square" rtlCol="0">
            <a:spAutoFit/>
          </a:bodyPr>
          <a:lstStyle/>
          <a:p>
            <a:r>
              <a:rPr lang="zh-CN" alt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大数据的基本特征</a:t>
            </a:r>
          </a:p>
          <a:p>
            <a:endParaRPr lang="zh-CN" alt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00" name="文本框 99"/>
          <p:cNvSpPr txBox="1"/>
          <p:nvPr/>
        </p:nvSpPr>
        <p:spPr>
          <a:xfrm>
            <a:off x="548005" y="958850"/>
            <a:ext cx="8275320" cy="3708003"/>
          </a:xfrm>
          <a:prstGeom prst="rect">
            <a:avLst/>
          </a:prstGeom>
          <a:noFill/>
          <a:ln w="9525">
            <a:noFill/>
          </a:ln>
        </p:spPr>
        <p:txBody>
          <a:bodyPr wrap="square">
            <a:spAutoFit/>
          </a:bodyPr>
          <a:lstStyle/>
          <a:p>
            <a:pPr indent="266700">
              <a:lnSpc>
                <a:spcPct val="130000"/>
              </a:lnSpc>
            </a:pPr>
            <a:r>
              <a:rPr lang="zh-CN" altLang="en-US" sz="2000" b="1" dirty="0">
                <a:latin typeface="+mn-ea"/>
              </a:rPr>
              <a:t>（</a:t>
            </a:r>
            <a:r>
              <a:rPr lang="en-US" altLang="zh-CN" sz="2000" b="1" dirty="0">
                <a:latin typeface="+mn-ea"/>
              </a:rPr>
              <a:t>1</a:t>
            </a:r>
            <a:r>
              <a:rPr lang="zh-CN" altLang="en-US" sz="2000" b="1" dirty="0">
                <a:latin typeface="+mn-ea"/>
              </a:rPr>
              <a:t>）体量大（</a:t>
            </a:r>
            <a:r>
              <a:rPr lang="en-US" altLang="zh-CN" sz="2000" b="1" dirty="0">
                <a:latin typeface="+mn-ea"/>
              </a:rPr>
              <a:t>Volume</a:t>
            </a:r>
            <a:r>
              <a:rPr lang="zh-CN" altLang="en-US" sz="2000" b="1" dirty="0">
                <a:latin typeface="+mn-ea"/>
              </a:rPr>
              <a:t>）</a:t>
            </a:r>
          </a:p>
          <a:p>
            <a:pPr indent="266700">
              <a:lnSpc>
                <a:spcPct val="130000"/>
              </a:lnSpc>
            </a:pPr>
            <a:r>
              <a:rPr lang="zh-CN" altLang="en-US" sz="2000" b="1" dirty="0">
                <a:latin typeface="+mn-ea"/>
              </a:rPr>
              <a:t>   </a:t>
            </a:r>
            <a:r>
              <a:rPr lang="zh-CN" altLang="en-US" sz="2000" dirty="0">
                <a:latin typeface="+mn-ea"/>
              </a:rPr>
              <a:t>大数据的特征首先体现在数量巨大，存储单位达到</a:t>
            </a:r>
            <a:r>
              <a:rPr lang="en-US" altLang="zh-CN" sz="2000" dirty="0">
                <a:latin typeface="+mn-ea"/>
              </a:rPr>
              <a:t>TB</a:t>
            </a:r>
            <a:r>
              <a:rPr lang="zh-CN" altLang="en-US" sz="2000" dirty="0">
                <a:latin typeface="+mn-ea"/>
              </a:rPr>
              <a:t>、</a:t>
            </a:r>
            <a:r>
              <a:rPr lang="en-US" altLang="zh-CN" sz="2000" dirty="0">
                <a:latin typeface="+mn-ea"/>
              </a:rPr>
              <a:t>PB</a:t>
            </a:r>
            <a:r>
              <a:rPr lang="zh-CN" altLang="en-US" sz="2000" dirty="0">
                <a:latin typeface="+mn-ea"/>
              </a:rPr>
              <a:t>甚至</a:t>
            </a:r>
            <a:r>
              <a:rPr lang="en-US" altLang="zh-CN" sz="2000" dirty="0">
                <a:latin typeface="+mn-ea"/>
              </a:rPr>
              <a:t>EB</a:t>
            </a:r>
            <a:r>
              <a:rPr lang="zh-CN" altLang="en-US" sz="2000" dirty="0">
                <a:latin typeface="+mn-ea"/>
              </a:rPr>
              <a:t>级别。图灵奖得主</a:t>
            </a:r>
            <a:r>
              <a:rPr lang="en-US" altLang="zh-CN" sz="2000" dirty="0">
                <a:latin typeface="+mn-ea"/>
              </a:rPr>
              <a:t>Jim Grey</a:t>
            </a:r>
            <a:r>
              <a:rPr lang="zh-CN" altLang="en-US" sz="2000" dirty="0">
                <a:latin typeface="+mn-ea"/>
              </a:rPr>
              <a:t>对人类社会信息量的增长提出一个“新摩尔定律：”每</a:t>
            </a:r>
            <a:r>
              <a:rPr lang="en-US" altLang="zh-CN" sz="2000" dirty="0">
                <a:latin typeface="+mn-ea"/>
              </a:rPr>
              <a:t>18</a:t>
            </a:r>
            <a:r>
              <a:rPr lang="zh-CN" altLang="en-US" sz="2000" dirty="0">
                <a:latin typeface="+mn-ea"/>
              </a:rPr>
              <a:t>个月，全球信息量是计算机有史以来全部信息量的总和“。根据</a:t>
            </a:r>
            <a:r>
              <a:rPr lang="en-US" altLang="zh-CN" sz="2000" dirty="0">
                <a:latin typeface="+mn-ea"/>
              </a:rPr>
              <a:t>IDC</a:t>
            </a:r>
            <a:r>
              <a:rPr lang="zh-CN" altLang="en-US" sz="2000" dirty="0">
                <a:latin typeface="+mn-ea"/>
              </a:rPr>
              <a:t>（</a:t>
            </a:r>
            <a:r>
              <a:rPr lang="en-US" altLang="zh-CN" sz="2000" dirty="0">
                <a:latin typeface="+mn-ea"/>
              </a:rPr>
              <a:t>International Data Corporation</a:t>
            </a:r>
            <a:r>
              <a:rPr lang="zh-CN" altLang="en-US" sz="2000" dirty="0">
                <a:latin typeface="+mn-ea"/>
              </a:rPr>
              <a:t>，国际数据公司）的一份报告预测，从</a:t>
            </a:r>
            <a:r>
              <a:rPr lang="en-US" altLang="zh-CN" sz="2000" dirty="0">
                <a:latin typeface="+mn-ea"/>
              </a:rPr>
              <a:t>2013</a:t>
            </a:r>
            <a:r>
              <a:rPr lang="zh-CN" altLang="en-US" sz="2000" dirty="0">
                <a:latin typeface="+mn-ea"/>
              </a:rPr>
              <a:t>年至</a:t>
            </a:r>
            <a:r>
              <a:rPr lang="en-US" altLang="zh-CN" sz="2000" dirty="0">
                <a:latin typeface="+mn-ea"/>
              </a:rPr>
              <a:t>2020</a:t>
            </a:r>
            <a:r>
              <a:rPr lang="zh-CN" altLang="en-US" sz="2000" dirty="0">
                <a:latin typeface="+mn-ea"/>
              </a:rPr>
              <a:t>年，全球数据规模扩大了</a:t>
            </a:r>
            <a:r>
              <a:rPr lang="en-US" altLang="zh-CN" sz="2000" dirty="0">
                <a:latin typeface="+mn-ea"/>
              </a:rPr>
              <a:t>50</a:t>
            </a:r>
            <a:r>
              <a:rPr lang="zh-CN" altLang="en-US" sz="2000" dirty="0">
                <a:latin typeface="+mn-ea"/>
              </a:rPr>
              <a:t>倍，每年产生的数据量将增长到</a:t>
            </a:r>
            <a:r>
              <a:rPr lang="en-US" altLang="zh-CN" sz="2000" dirty="0">
                <a:latin typeface="+mn-ea"/>
              </a:rPr>
              <a:t>44</a:t>
            </a:r>
            <a:r>
              <a:rPr lang="zh-CN" altLang="en-US" sz="2000" dirty="0">
                <a:latin typeface="+mn-ea"/>
              </a:rPr>
              <a:t>万亿</a:t>
            </a:r>
            <a:r>
              <a:rPr lang="en-US" altLang="zh-CN" sz="2000" dirty="0">
                <a:latin typeface="+mn-ea"/>
              </a:rPr>
              <a:t>GB</a:t>
            </a:r>
            <a:r>
              <a:rPr lang="zh-CN" altLang="en-US" sz="2000" dirty="0">
                <a:latin typeface="+mn-ea"/>
              </a:rPr>
              <a:t>，相当于美国国家图书馆数据量的数百万倍，</a:t>
            </a:r>
            <a:r>
              <a:rPr lang="en-US" altLang="zh-CN" sz="2000" dirty="0">
                <a:latin typeface="+mn-ea"/>
              </a:rPr>
              <a:t>2025</a:t>
            </a:r>
            <a:r>
              <a:rPr lang="zh-CN" altLang="en-US" sz="2000" dirty="0">
                <a:latin typeface="+mn-ea"/>
              </a:rPr>
              <a:t>年全球数据总量预计将达</a:t>
            </a:r>
            <a:r>
              <a:rPr lang="en-US" altLang="zh-CN" sz="2000" dirty="0">
                <a:latin typeface="+mn-ea"/>
              </a:rPr>
              <a:t>175ZB</a:t>
            </a:r>
            <a:r>
              <a:rPr lang="zh-CN" altLang="en-US" sz="2000" dirty="0">
                <a:latin typeface="+mn-ea"/>
              </a:rPr>
              <a:t>。</a:t>
            </a:r>
          </a:p>
          <a:p>
            <a:pPr indent="0">
              <a:lnSpc>
                <a:spcPct val="150000"/>
              </a:lnSpc>
            </a:pPr>
            <a:r>
              <a:rPr lang="en-US" altLang="zh-CN" sz="2000" dirty="0">
                <a:latin typeface="等线" panose="02010600030101010101" pitchFamily="2" charset="-122"/>
                <a:ea typeface="等线" panose="02010600030101010101" pitchFamily="2" charset="-122"/>
                <a:cs typeface="等线" panose="02010600030101010101" pitchFamily="2" charset="-122"/>
                <a:sym typeface="+mn-ea"/>
              </a:rPr>
              <a:t>       </a:t>
            </a:r>
            <a:endParaRPr lang="zh-CN" altLang="en-US" sz="2000" dirty="0">
              <a:latin typeface="等线" panose="02010600030101010101" pitchFamily="2" charset="-122"/>
              <a:ea typeface="等线" panose="02010600030101010101" pitchFamily="2" charset="-122"/>
              <a:cs typeface="等线"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0" y="248285"/>
            <a:ext cx="4265295" cy="523220"/>
          </a:xfrm>
          <a:prstGeom prst="rect">
            <a:avLst/>
          </a:prstGeom>
          <a:noFill/>
        </p:spPr>
        <p:txBody>
          <a:bodyPr wrap="square" rtlCol="0">
            <a:spAutoFit/>
          </a:bodyPr>
          <a:lstStyle/>
          <a:p>
            <a:r>
              <a:rPr lang="zh-CN" altLang="en-US" sz="2800" b="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大数据体量大</a:t>
            </a:r>
            <a:endParaRPr lang="zh-CN" alt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00" name="文本框 99"/>
          <p:cNvSpPr txBox="1"/>
          <p:nvPr/>
        </p:nvSpPr>
        <p:spPr>
          <a:xfrm>
            <a:off x="548005" y="958850"/>
            <a:ext cx="4265295" cy="2127634"/>
          </a:xfrm>
          <a:prstGeom prst="rect">
            <a:avLst/>
          </a:prstGeom>
          <a:noFill/>
          <a:ln w="9525">
            <a:noFill/>
          </a:ln>
        </p:spPr>
        <p:txBody>
          <a:bodyPr wrap="square">
            <a:spAutoFit/>
          </a:bodyPr>
          <a:lstStyle/>
          <a:p>
            <a:r>
              <a:rPr lang="en-US" altLang="zh-CN" sz="1800"/>
              <a:t>         Domo</a:t>
            </a:r>
            <a:r>
              <a:rPr lang="zh-CN" altLang="zh-CN" sz="1800"/>
              <a:t>公司</a:t>
            </a:r>
            <a:r>
              <a:rPr lang="en-US" altLang="zh-CN" sz="1800"/>
              <a:t>2020</a:t>
            </a:r>
            <a:r>
              <a:rPr lang="zh-CN" altLang="zh-CN" sz="1800"/>
              <a:t>年</a:t>
            </a:r>
            <a:r>
              <a:rPr lang="zh-CN" altLang="zh-CN" sz="1800" b="1"/>
              <a:t>每秒</a:t>
            </a:r>
            <a:r>
              <a:rPr lang="zh-CN" altLang="zh-CN" sz="1800"/>
              <a:t>全球大数据产生量分析的可视化图示</a:t>
            </a:r>
            <a:r>
              <a:rPr lang="en-US" altLang="zh-CN" sz="1800"/>
              <a:t>(</a:t>
            </a:r>
            <a:r>
              <a:rPr lang="en-US" altLang="zh-CN" sz="1800" u="sng">
                <a:hlinkClick r:id="rId3"/>
              </a:rPr>
              <a:t>https://www.domo.com/learn/data-never-sleeps-9</a:t>
            </a:r>
            <a:r>
              <a:rPr lang="en-US" altLang="zh-CN" sz="1800"/>
              <a:t>)</a:t>
            </a:r>
            <a:r>
              <a:rPr lang="zh-CN" altLang="zh-CN" sz="1800"/>
              <a:t>。可以看出</a:t>
            </a:r>
            <a:r>
              <a:rPr lang="en-US" altLang="zh-CN" sz="1800"/>
              <a:t>Facebook</a:t>
            </a:r>
            <a:r>
              <a:rPr lang="zh-CN" altLang="zh-CN" sz="1800"/>
              <a:t>用户每秒共享</a:t>
            </a:r>
            <a:r>
              <a:rPr lang="zh-CN" altLang="en-US" sz="1800"/>
              <a:t>的</a:t>
            </a:r>
            <a:r>
              <a:rPr lang="zh-CN" altLang="zh-CN" sz="1800"/>
              <a:t>图片有</a:t>
            </a:r>
            <a:r>
              <a:rPr lang="en-US" altLang="zh-CN" sz="1800"/>
              <a:t>240K</a:t>
            </a:r>
            <a:r>
              <a:rPr lang="zh-CN" altLang="zh-CN" sz="1800"/>
              <a:t>张、上传</a:t>
            </a:r>
            <a:r>
              <a:rPr lang="zh-CN" altLang="en-US" sz="1800"/>
              <a:t>了</a:t>
            </a:r>
            <a:r>
              <a:rPr lang="en-US" altLang="zh-CN" sz="1800"/>
              <a:t>44M</a:t>
            </a:r>
            <a:r>
              <a:rPr lang="zh-CN" altLang="zh-CN" sz="1800"/>
              <a:t>条信息，</a:t>
            </a:r>
            <a:r>
              <a:rPr lang="en-US" altLang="zh-CN" sz="1800"/>
              <a:t>INSTAGRAM</a:t>
            </a:r>
            <a:r>
              <a:rPr lang="zh-CN" altLang="zh-CN" sz="1800"/>
              <a:t>用户每秒</a:t>
            </a:r>
            <a:r>
              <a:rPr lang="zh-CN" altLang="en-US" sz="1800"/>
              <a:t>共享</a:t>
            </a:r>
            <a:r>
              <a:rPr lang="zh-CN" altLang="zh-CN" sz="1800"/>
              <a:t>了</a:t>
            </a:r>
            <a:r>
              <a:rPr lang="en-US" altLang="zh-CN" sz="1800"/>
              <a:t>65K</a:t>
            </a:r>
            <a:r>
              <a:rPr lang="zh-CN" altLang="en-US" sz="1800"/>
              <a:t>张图片</a:t>
            </a:r>
            <a:r>
              <a:rPr lang="zh-CN" altLang="zh-CN" sz="1800"/>
              <a:t>……。</a:t>
            </a:r>
          </a:p>
          <a:p>
            <a:pPr indent="0">
              <a:lnSpc>
                <a:spcPct val="150000"/>
              </a:lnSpc>
            </a:pPr>
            <a:r>
              <a:rPr lang="en-US" altLang="zh-CN" sz="1800">
                <a:latin typeface="等线" panose="02010600030101010101" pitchFamily="2" charset="-122"/>
                <a:ea typeface="等线" panose="02010600030101010101" pitchFamily="2" charset="-122"/>
                <a:cs typeface="等线" panose="02010600030101010101" pitchFamily="2" charset="-122"/>
                <a:sym typeface="+mn-ea"/>
              </a:rPr>
              <a:t>       </a:t>
            </a:r>
            <a:endParaRPr lang="zh-CN" altLang="en-US" sz="1800" dirty="0">
              <a:latin typeface="等线" panose="02010600030101010101" pitchFamily="2" charset="-122"/>
              <a:ea typeface="等线" panose="02010600030101010101" pitchFamily="2" charset="-122"/>
              <a:cs typeface="等线" panose="02010600030101010101" pitchFamily="2" charset="-122"/>
            </a:endParaRPr>
          </a:p>
        </p:txBody>
      </p:sp>
      <p:pic>
        <p:nvPicPr>
          <p:cNvPr id="8194" name="Picture 2" descr="Domo">
            <a:extLst>
              <a:ext uri="{FF2B5EF4-FFF2-40B4-BE49-F238E27FC236}">
                <a16:creationId xmlns:a16="http://schemas.microsoft.com/office/drawing/2014/main" id="{19FA40DB-4241-4E51-A8E3-B3073450B2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60645" y="0"/>
            <a:ext cx="299085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63591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文本框 104"/>
          <p:cNvSpPr txBox="1"/>
          <p:nvPr/>
        </p:nvSpPr>
        <p:spPr>
          <a:xfrm>
            <a:off x="0" y="248285"/>
            <a:ext cx="4265295" cy="954107"/>
          </a:xfrm>
          <a:prstGeom prst="rect">
            <a:avLst/>
          </a:prstGeom>
          <a:noFill/>
        </p:spPr>
        <p:txBody>
          <a:bodyPr wrap="square" rtlCol="0">
            <a:spAutoFit/>
          </a:bodyPr>
          <a:lstStyle/>
          <a:p>
            <a:r>
              <a:rPr lang="zh-CN" alt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大数据的基本特征</a:t>
            </a:r>
          </a:p>
          <a:p>
            <a:endParaRPr lang="zh-CN" alt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00" name="文本框 99"/>
          <p:cNvSpPr txBox="1"/>
          <p:nvPr/>
        </p:nvSpPr>
        <p:spPr>
          <a:xfrm>
            <a:off x="454025" y="958850"/>
            <a:ext cx="8369300" cy="4061946"/>
          </a:xfrm>
          <a:prstGeom prst="rect">
            <a:avLst/>
          </a:prstGeom>
          <a:noFill/>
          <a:ln w="9525">
            <a:noFill/>
          </a:ln>
        </p:spPr>
        <p:txBody>
          <a:bodyPr wrap="square">
            <a:spAutoFit/>
          </a:bodyPr>
          <a:lstStyle/>
          <a:p>
            <a:pPr indent="266700">
              <a:lnSpc>
                <a:spcPct val="130000"/>
              </a:lnSpc>
            </a:pPr>
            <a:r>
              <a:rPr lang="zh-CN" altLang="en-US" sz="2000" b="1" dirty="0">
                <a:latin typeface="+mn-ea"/>
              </a:rPr>
              <a:t>（</a:t>
            </a:r>
            <a:r>
              <a:rPr lang="en-US" altLang="zh-CN" sz="2000" b="1" dirty="0">
                <a:latin typeface="+mn-ea"/>
              </a:rPr>
              <a:t>2</a:t>
            </a:r>
            <a:r>
              <a:rPr lang="zh-CN" altLang="en-US" sz="2000" b="1" dirty="0">
                <a:latin typeface="+mn-ea"/>
              </a:rPr>
              <a:t>）种类多（</a:t>
            </a:r>
            <a:r>
              <a:rPr lang="en-US" altLang="zh-CN" sz="2000" b="1" dirty="0">
                <a:latin typeface="+mn-ea"/>
              </a:rPr>
              <a:t>Variety</a:t>
            </a:r>
            <a:r>
              <a:rPr lang="zh-CN" altLang="en-US" sz="2000" b="1" dirty="0">
                <a:latin typeface="+mn-ea"/>
              </a:rPr>
              <a:t>）</a:t>
            </a:r>
          </a:p>
          <a:p>
            <a:pPr indent="266700">
              <a:lnSpc>
                <a:spcPct val="130000"/>
              </a:lnSpc>
            </a:pPr>
            <a:r>
              <a:rPr lang="zh-CN" altLang="en-US" sz="2000" b="1" dirty="0">
                <a:latin typeface="+mn-ea"/>
              </a:rPr>
              <a:t>  </a:t>
            </a:r>
            <a:r>
              <a:rPr lang="zh-CN" altLang="en-US" sz="2000" dirty="0">
                <a:latin typeface="+mn-ea"/>
              </a:rPr>
              <a:t>大数据与传统数据相比，数据的来源广、维度大、类型杂。</a:t>
            </a:r>
          </a:p>
          <a:p>
            <a:pPr indent="266700">
              <a:lnSpc>
                <a:spcPct val="130000"/>
              </a:lnSpc>
            </a:pPr>
            <a:r>
              <a:rPr lang="zh-CN" altLang="en-US" sz="2000" b="1" dirty="0">
                <a:latin typeface="+mn-ea"/>
              </a:rPr>
              <a:t>（</a:t>
            </a:r>
            <a:r>
              <a:rPr lang="en-US" altLang="zh-CN" sz="2000" b="1" dirty="0">
                <a:latin typeface="+mn-ea"/>
              </a:rPr>
              <a:t>3</a:t>
            </a:r>
            <a:r>
              <a:rPr lang="zh-CN" altLang="en-US" sz="2000" b="1" dirty="0">
                <a:latin typeface="+mn-ea"/>
              </a:rPr>
              <a:t>）速度快（</a:t>
            </a:r>
            <a:r>
              <a:rPr lang="en-US" altLang="zh-CN" sz="2000" b="1" dirty="0">
                <a:latin typeface="+mn-ea"/>
              </a:rPr>
              <a:t>Velocity</a:t>
            </a:r>
            <a:r>
              <a:rPr lang="zh-CN" altLang="en-US" sz="2000" b="1" dirty="0">
                <a:latin typeface="+mn-ea"/>
              </a:rPr>
              <a:t>）</a:t>
            </a:r>
          </a:p>
          <a:p>
            <a:pPr indent="266700">
              <a:lnSpc>
                <a:spcPct val="130000"/>
              </a:lnSpc>
            </a:pPr>
            <a:r>
              <a:rPr lang="zh-CN" altLang="en-US" sz="2000" b="1" dirty="0">
                <a:latin typeface="+mn-ea"/>
              </a:rPr>
              <a:t>   </a:t>
            </a:r>
            <a:r>
              <a:rPr lang="zh-CN" altLang="en-US" sz="2000" dirty="0">
                <a:latin typeface="+mn-ea"/>
              </a:rPr>
              <a:t>随着计算机技术、互联网和物联网的发展，数据生成、储存、分析、处理的速度远远超出人们的想象力，这是大数据区别于传统数据或小数据的显著特征。</a:t>
            </a:r>
          </a:p>
          <a:p>
            <a:pPr indent="266700">
              <a:lnSpc>
                <a:spcPct val="130000"/>
              </a:lnSpc>
            </a:pPr>
            <a:r>
              <a:rPr lang="zh-CN" altLang="en-US" sz="2000" b="1" dirty="0">
                <a:latin typeface="+mn-ea"/>
              </a:rPr>
              <a:t>（</a:t>
            </a:r>
            <a:r>
              <a:rPr lang="en-US" altLang="zh-CN" sz="2000" b="1" dirty="0">
                <a:latin typeface="+mn-ea"/>
              </a:rPr>
              <a:t>4</a:t>
            </a:r>
            <a:r>
              <a:rPr lang="zh-CN" altLang="en-US" sz="2000" b="1" dirty="0">
                <a:latin typeface="+mn-ea"/>
              </a:rPr>
              <a:t>）价值高（</a:t>
            </a:r>
            <a:r>
              <a:rPr lang="en-US" altLang="zh-CN" sz="2000" b="1" dirty="0">
                <a:latin typeface="+mn-ea"/>
              </a:rPr>
              <a:t>Value</a:t>
            </a:r>
            <a:r>
              <a:rPr lang="zh-CN" altLang="en-US" sz="2000" b="1" dirty="0">
                <a:latin typeface="+mn-ea"/>
              </a:rPr>
              <a:t>）</a:t>
            </a:r>
          </a:p>
          <a:p>
            <a:pPr indent="266700">
              <a:lnSpc>
                <a:spcPct val="130000"/>
              </a:lnSpc>
            </a:pPr>
            <a:r>
              <a:rPr lang="zh-CN" altLang="en-US" sz="2000" b="1" dirty="0">
                <a:latin typeface="+mn-ea"/>
              </a:rPr>
              <a:t>   </a:t>
            </a:r>
            <a:r>
              <a:rPr lang="zh-CN" altLang="en-US" sz="2000" dirty="0">
                <a:latin typeface="+mn-ea"/>
              </a:rPr>
              <a:t>大数据有巨大的潜在价值，具有价值高但</a:t>
            </a:r>
            <a:r>
              <a:rPr lang="zh-CN" altLang="en-US" sz="2000" b="1" dirty="0">
                <a:solidFill>
                  <a:srgbClr val="FF0000"/>
                </a:solidFill>
                <a:latin typeface="+mn-ea"/>
              </a:rPr>
              <a:t>价值密度低</a:t>
            </a:r>
            <a:r>
              <a:rPr lang="zh-CN" altLang="en-US" sz="2000" dirty="0">
                <a:latin typeface="+mn-ea"/>
              </a:rPr>
              <a:t>的特点，也就是说同其呈几何指数爆发式增长相比，某一对象或模块数据的价值密度较低，这给我们挖掘海量的大数据增加了难度和成本。</a:t>
            </a:r>
            <a:r>
              <a:rPr lang="en-US" altLang="zh-CN" sz="2000" dirty="0">
                <a:latin typeface="等线" panose="02010600030101010101" pitchFamily="2" charset="-122"/>
                <a:ea typeface="等线" panose="02010600030101010101" pitchFamily="2" charset="-122"/>
                <a:cs typeface="等线" panose="02010600030101010101" pitchFamily="2" charset="-122"/>
                <a:sym typeface="+mn-ea"/>
              </a:rPr>
              <a:t>      </a:t>
            </a:r>
            <a:endParaRPr lang="zh-CN" altLang="en-US" sz="2000" dirty="0">
              <a:latin typeface="等线" panose="02010600030101010101" pitchFamily="2" charset="-122"/>
              <a:ea typeface="等线" panose="02010600030101010101" pitchFamily="2" charset="-122"/>
              <a:cs typeface="等线" panose="02010600030101010101" pitchFamily="2" charset="-122"/>
            </a:endParaRPr>
          </a:p>
        </p:txBody>
      </p:sp>
    </p:spTree>
    <p:extLst>
      <p:ext uri="{BB962C8B-B14F-4D97-AF65-F5344CB8AC3E}">
        <p14:creationId xmlns:p14="http://schemas.microsoft.com/office/powerpoint/2010/main" val="26353845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6807" y="234362"/>
            <a:ext cx="3927476" cy="521970"/>
          </a:xfrm>
          <a:prstGeom prst="rect">
            <a:avLst/>
          </a:prstGeom>
        </p:spPr>
        <p:txBody>
          <a:bodyPr wrap="square">
            <a:spAutoFit/>
          </a:bodyPr>
          <a:lstStyle/>
          <a:p>
            <a:r>
              <a:rPr lang="en-US" altLang="zh-CN"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a:t>
            </a:r>
            <a:r>
              <a:rPr lang="zh-CN" alt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a:t>
            </a:r>
            <a:r>
              <a:rPr lang="en-US" altLang="zh-CN"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 </a:t>
            </a:r>
            <a:r>
              <a:rPr lang="zh-CN" alt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大数据的构成</a:t>
            </a:r>
          </a:p>
        </p:txBody>
      </p:sp>
      <p:sp>
        <p:nvSpPr>
          <p:cNvPr id="6" name="文本框 5">
            <a:extLst>
              <a:ext uri="{FF2B5EF4-FFF2-40B4-BE49-F238E27FC236}">
                <a16:creationId xmlns:a16="http://schemas.microsoft.com/office/drawing/2014/main" id="{84416E46-48CF-4166-8A78-4DF83B760D16}"/>
              </a:ext>
            </a:extLst>
          </p:cNvPr>
          <p:cNvSpPr txBox="1"/>
          <p:nvPr/>
        </p:nvSpPr>
        <p:spPr>
          <a:xfrm>
            <a:off x="532682" y="940679"/>
            <a:ext cx="8280920" cy="830997"/>
          </a:xfrm>
          <a:prstGeom prst="rect">
            <a:avLst/>
          </a:prstGeom>
          <a:noFill/>
        </p:spPr>
        <p:txBody>
          <a:bodyPr wrap="square">
            <a:spAutoFit/>
          </a:bodyPr>
          <a:lstStyle/>
          <a:p>
            <a:r>
              <a:rPr lang="zh-CN" altLang="en-US" sz="2400" dirty="0"/>
              <a:t>        大数据的构成可以分为结构化数据、非结构化数据和半结构化数据三类</a:t>
            </a:r>
          </a:p>
        </p:txBody>
      </p:sp>
      <p:sp>
        <p:nvSpPr>
          <p:cNvPr id="7" name="文本框 6">
            <a:extLst>
              <a:ext uri="{FF2B5EF4-FFF2-40B4-BE49-F238E27FC236}">
                <a16:creationId xmlns:a16="http://schemas.microsoft.com/office/drawing/2014/main" id="{AF3D73CF-E971-4816-A2DB-8CA058D2AEFA}"/>
              </a:ext>
            </a:extLst>
          </p:cNvPr>
          <p:cNvSpPr txBox="1"/>
          <p:nvPr/>
        </p:nvSpPr>
        <p:spPr>
          <a:xfrm>
            <a:off x="539552" y="1732878"/>
            <a:ext cx="7999758" cy="1200329"/>
          </a:xfrm>
          <a:prstGeom prst="rect">
            <a:avLst/>
          </a:prstGeom>
          <a:noFill/>
        </p:spPr>
        <p:txBody>
          <a:bodyPr wrap="square">
            <a:spAutoFit/>
          </a:bodyPr>
          <a:lstStyle/>
          <a:p>
            <a:r>
              <a:rPr lang="zh-CN" altLang="en-US" sz="2400" dirty="0"/>
              <a:t>     </a:t>
            </a:r>
            <a:r>
              <a:rPr lang="zh-CN" altLang="en-US" sz="2400" dirty="0">
                <a:solidFill>
                  <a:srgbClr val="FF0000"/>
                </a:solidFill>
              </a:rPr>
              <a:t>（</a:t>
            </a:r>
            <a:r>
              <a:rPr lang="en-US" altLang="zh-CN" sz="2400" dirty="0">
                <a:solidFill>
                  <a:srgbClr val="FF0000"/>
                </a:solidFill>
              </a:rPr>
              <a:t>1</a:t>
            </a:r>
            <a:r>
              <a:rPr lang="zh-CN" altLang="en-US" sz="2400" dirty="0">
                <a:solidFill>
                  <a:srgbClr val="FF0000"/>
                </a:solidFill>
              </a:rPr>
              <a:t>）结构化数据：</a:t>
            </a:r>
            <a:r>
              <a:rPr lang="zh-CN" altLang="en-US" sz="2400" dirty="0"/>
              <a:t>结构化数据具有固定的结构、类型和属性划分等，通常可以用二维表表示，如用关系型数据库存储的信息、</a:t>
            </a:r>
            <a:r>
              <a:rPr lang="en-US" altLang="zh-CN" sz="2400" dirty="0"/>
              <a:t>Excel</a:t>
            </a:r>
            <a:r>
              <a:rPr lang="zh-CN" altLang="en-US" sz="2400" dirty="0"/>
              <a:t>表所存放的信息等。</a:t>
            </a:r>
          </a:p>
        </p:txBody>
      </p:sp>
      <p:graphicFrame>
        <p:nvGraphicFramePr>
          <p:cNvPr id="10" name="表格 9">
            <a:extLst>
              <a:ext uri="{FF2B5EF4-FFF2-40B4-BE49-F238E27FC236}">
                <a16:creationId xmlns:a16="http://schemas.microsoft.com/office/drawing/2014/main" id="{47A7E8CB-B191-4370-98AA-E806C9A1A913}"/>
              </a:ext>
            </a:extLst>
          </p:cNvPr>
          <p:cNvGraphicFramePr>
            <a:graphicFrameLocks noGrp="1"/>
          </p:cNvGraphicFramePr>
          <p:nvPr>
            <p:extLst>
              <p:ext uri="{D42A27DB-BD31-4B8C-83A1-F6EECF244321}">
                <p14:modId xmlns:p14="http://schemas.microsoft.com/office/powerpoint/2010/main" val="4059674652"/>
              </p:ext>
            </p:extLst>
          </p:nvPr>
        </p:nvGraphicFramePr>
        <p:xfrm>
          <a:off x="2771800" y="3507854"/>
          <a:ext cx="3816424" cy="1101869"/>
        </p:xfrm>
        <a:graphic>
          <a:graphicData uri="http://schemas.openxmlformats.org/drawingml/2006/table">
            <a:tbl>
              <a:tblPr firstRow="1" firstCol="1" bandRow="1">
                <a:tableStyleId>{5C22544A-7EE6-4342-B048-85BDC9FD1C3A}</a:tableStyleId>
              </a:tblPr>
              <a:tblGrid>
                <a:gridCol w="789296">
                  <a:extLst>
                    <a:ext uri="{9D8B030D-6E8A-4147-A177-3AD203B41FA5}">
                      <a16:colId xmlns:a16="http://schemas.microsoft.com/office/drawing/2014/main" val="1814452423"/>
                    </a:ext>
                  </a:extLst>
                </a:gridCol>
                <a:gridCol w="1009042">
                  <a:extLst>
                    <a:ext uri="{9D8B030D-6E8A-4147-A177-3AD203B41FA5}">
                      <a16:colId xmlns:a16="http://schemas.microsoft.com/office/drawing/2014/main" val="1240161813"/>
                    </a:ext>
                  </a:extLst>
                </a:gridCol>
                <a:gridCol w="902309">
                  <a:extLst>
                    <a:ext uri="{9D8B030D-6E8A-4147-A177-3AD203B41FA5}">
                      <a16:colId xmlns:a16="http://schemas.microsoft.com/office/drawing/2014/main" val="2854542033"/>
                    </a:ext>
                  </a:extLst>
                </a:gridCol>
                <a:gridCol w="1115777">
                  <a:extLst>
                    <a:ext uri="{9D8B030D-6E8A-4147-A177-3AD203B41FA5}">
                      <a16:colId xmlns:a16="http://schemas.microsoft.com/office/drawing/2014/main" val="3085703213"/>
                    </a:ext>
                  </a:extLst>
                </a:gridCol>
              </a:tblGrid>
              <a:tr h="272471">
                <a:tc>
                  <a:txBody>
                    <a:bodyPr/>
                    <a:lstStyle/>
                    <a:p>
                      <a:pPr algn="just">
                        <a:lnSpc>
                          <a:spcPct val="120000"/>
                        </a:lnSpc>
                        <a:spcAft>
                          <a:spcPts val="0"/>
                        </a:spcAft>
                      </a:pPr>
                      <a:r>
                        <a:rPr lang="zh-CN" sz="1200" kern="100">
                          <a:effectLst/>
                        </a:rPr>
                        <a:t>学号</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20000"/>
                        </a:lnSpc>
                        <a:spcAft>
                          <a:spcPts val="0"/>
                        </a:spcAft>
                      </a:pPr>
                      <a:r>
                        <a:rPr lang="zh-CN" sz="1200" kern="100" dirty="0">
                          <a:effectLst/>
                        </a:rPr>
                        <a:t>姓名</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20000"/>
                        </a:lnSpc>
                        <a:spcAft>
                          <a:spcPts val="0"/>
                        </a:spcAft>
                      </a:pPr>
                      <a:r>
                        <a:rPr lang="zh-CN" sz="1200" kern="100">
                          <a:effectLst/>
                        </a:rPr>
                        <a:t>性别</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20000"/>
                        </a:lnSpc>
                        <a:spcAft>
                          <a:spcPts val="0"/>
                        </a:spcAft>
                      </a:pPr>
                      <a:r>
                        <a:rPr lang="zh-CN" sz="1200" kern="100">
                          <a:effectLst/>
                        </a:rPr>
                        <a:t>出生日期</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714945928"/>
                  </a:ext>
                </a:extLst>
              </a:tr>
              <a:tr h="276466">
                <a:tc>
                  <a:txBody>
                    <a:bodyPr/>
                    <a:lstStyle/>
                    <a:p>
                      <a:pPr algn="just">
                        <a:lnSpc>
                          <a:spcPct val="120000"/>
                        </a:lnSpc>
                        <a:spcAft>
                          <a:spcPts val="0"/>
                        </a:spcAft>
                      </a:pPr>
                      <a:r>
                        <a:rPr lang="en-US" sz="1200" kern="100">
                          <a:effectLst/>
                        </a:rPr>
                        <a:t>1100101</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20000"/>
                        </a:lnSpc>
                        <a:spcAft>
                          <a:spcPts val="0"/>
                        </a:spcAft>
                      </a:pPr>
                      <a:r>
                        <a:rPr lang="zh-CN" sz="1200" kern="100">
                          <a:effectLst/>
                        </a:rPr>
                        <a:t>小王</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20000"/>
                        </a:lnSpc>
                        <a:spcAft>
                          <a:spcPts val="0"/>
                        </a:spcAft>
                      </a:pPr>
                      <a:r>
                        <a:rPr lang="zh-CN" sz="1200" kern="100" dirty="0">
                          <a:effectLst/>
                        </a:rPr>
                        <a:t>男</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20000"/>
                        </a:lnSpc>
                        <a:spcAft>
                          <a:spcPts val="0"/>
                        </a:spcAft>
                      </a:pPr>
                      <a:r>
                        <a:rPr lang="en-US" sz="1200" kern="100">
                          <a:effectLst/>
                        </a:rPr>
                        <a:t>1998-03-05</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53595587"/>
                  </a:ext>
                </a:extLst>
              </a:tr>
              <a:tr h="276466">
                <a:tc>
                  <a:txBody>
                    <a:bodyPr/>
                    <a:lstStyle/>
                    <a:p>
                      <a:pPr algn="just">
                        <a:lnSpc>
                          <a:spcPct val="120000"/>
                        </a:lnSpc>
                        <a:spcAft>
                          <a:spcPts val="0"/>
                        </a:spcAft>
                      </a:pPr>
                      <a:r>
                        <a:rPr lang="en-US" sz="1200" kern="100">
                          <a:effectLst/>
                        </a:rPr>
                        <a:t>1100102</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20000"/>
                        </a:lnSpc>
                        <a:spcAft>
                          <a:spcPts val="0"/>
                        </a:spcAft>
                      </a:pPr>
                      <a:r>
                        <a:rPr lang="zh-CN" sz="1200" kern="100">
                          <a:effectLst/>
                        </a:rPr>
                        <a:t>小李</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20000"/>
                        </a:lnSpc>
                        <a:spcAft>
                          <a:spcPts val="0"/>
                        </a:spcAft>
                      </a:pPr>
                      <a:r>
                        <a:rPr lang="zh-CN" sz="1200" kern="100">
                          <a:effectLst/>
                        </a:rPr>
                        <a:t>女</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20000"/>
                        </a:lnSpc>
                        <a:spcAft>
                          <a:spcPts val="0"/>
                        </a:spcAft>
                      </a:pPr>
                      <a:r>
                        <a:rPr lang="en-US" sz="1200" kern="100">
                          <a:effectLst/>
                        </a:rPr>
                        <a:t>1999-08-05</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428294956"/>
                  </a:ext>
                </a:extLst>
              </a:tr>
              <a:tr h="276466">
                <a:tc>
                  <a:txBody>
                    <a:bodyPr/>
                    <a:lstStyle/>
                    <a:p>
                      <a:pPr algn="just">
                        <a:lnSpc>
                          <a:spcPct val="120000"/>
                        </a:lnSpc>
                        <a:spcAft>
                          <a:spcPts val="0"/>
                        </a:spcAft>
                      </a:pPr>
                      <a:r>
                        <a:rPr lang="en-US" sz="1200" kern="100">
                          <a:effectLst/>
                        </a:rPr>
                        <a:t>1100103</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20000"/>
                        </a:lnSpc>
                        <a:spcAft>
                          <a:spcPts val="0"/>
                        </a:spcAft>
                      </a:pPr>
                      <a:r>
                        <a:rPr lang="zh-CN" sz="1200" kern="100">
                          <a:effectLst/>
                        </a:rPr>
                        <a:t>小陈</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20000"/>
                        </a:lnSpc>
                        <a:spcAft>
                          <a:spcPts val="0"/>
                        </a:spcAft>
                      </a:pPr>
                      <a:r>
                        <a:rPr lang="zh-CN" sz="1200" kern="100">
                          <a:effectLst/>
                        </a:rPr>
                        <a:t>男</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20000"/>
                        </a:lnSpc>
                        <a:spcAft>
                          <a:spcPts val="0"/>
                        </a:spcAft>
                      </a:pPr>
                      <a:r>
                        <a:rPr lang="en-US" sz="1200" kern="100" dirty="0">
                          <a:effectLst/>
                        </a:rPr>
                        <a:t>2000-03-07</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045437720"/>
                  </a:ext>
                </a:extLst>
              </a:tr>
            </a:tbl>
          </a:graphicData>
        </a:graphic>
      </p:graphicFrame>
      <p:sp>
        <p:nvSpPr>
          <p:cNvPr id="11" name="矩形 10">
            <a:extLst>
              <a:ext uri="{FF2B5EF4-FFF2-40B4-BE49-F238E27FC236}">
                <a16:creationId xmlns:a16="http://schemas.microsoft.com/office/drawing/2014/main" id="{E7F9E142-4305-4890-AFF6-C84C8E19B617}"/>
              </a:ext>
            </a:extLst>
          </p:cNvPr>
          <p:cNvSpPr/>
          <p:nvPr/>
        </p:nvSpPr>
        <p:spPr>
          <a:xfrm>
            <a:off x="3563888" y="3075806"/>
            <a:ext cx="1800493" cy="369332"/>
          </a:xfrm>
          <a:prstGeom prst="rect">
            <a:avLst/>
          </a:prstGeom>
        </p:spPr>
        <p:txBody>
          <a:bodyPr wrap="none">
            <a:spAutoFit/>
          </a:bodyPr>
          <a:lstStyle/>
          <a:p>
            <a:r>
              <a:rPr lang="zh-CN" altLang="zh-CN" kern="100" dirty="0">
                <a:ea typeface="等线" panose="02010600030101010101" pitchFamily="2" charset="-122"/>
                <a:cs typeface="Times New Roman" panose="02020603050405020304" pitchFamily="18" charset="0"/>
              </a:rPr>
              <a:t>结构化数据示例</a:t>
            </a:r>
            <a:endParaRPr lang="zh-CN" altLang="en-US" dirty="0"/>
          </a:p>
        </p:txBody>
      </p:sp>
    </p:spTree>
  </p:cSld>
  <p:clrMapOvr>
    <a:masterClrMapping/>
  </p:clrMapOvr>
  <p:transition spd="slow">
    <p:pul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6807" y="234362"/>
            <a:ext cx="3927476" cy="521970"/>
          </a:xfrm>
          <a:prstGeom prst="rect">
            <a:avLst/>
          </a:prstGeom>
        </p:spPr>
        <p:txBody>
          <a:bodyPr wrap="square">
            <a:spAutoFit/>
          </a:bodyPr>
          <a:lstStyle/>
          <a:p>
            <a:r>
              <a:rPr lang="en-US" altLang="zh-CN"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a:t>
            </a:r>
            <a:r>
              <a:rPr lang="zh-CN" alt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a:t>
            </a:r>
            <a:r>
              <a:rPr lang="en-US" altLang="zh-CN"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 </a:t>
            </a:r>
            <a:r>
              <a:rPr lang="zh-CN" alt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大数据的构成</a:t>
            </a:r>
          </a:p>
        </p:txBody>
      </p:sp>
      <p:sp>
        <p:nvSpPr>
          <p:cNvPr id="8" name="文本框 7">
            <a:extLst>
              <a:ext uri="{FF2B5EF4-FFF2-40B4-BE49-F238E27FC236}">
                <a16:creationId xmlns:a16="http://schemas.microsoft.com/office/drawing/2014/main" id="{8BAE74F6-5634-46D7-BE66-8E861D236BC9}"/>
              </a:ext>
            </a:extLst>
          </p:cNvPr>
          <p:cNvSpPr txBox="1"/>
          <p:nvPr/>
        </p:nvSpPr>
        <p:spPr>
          <a:xfrm>
            <a:off x="494813" y="1215563"/>
            <a:ext cx="8154374" cy="1938992"/>
          </a:xfrm>
          <a:prstGeom prst="rect">
            <a:avLst/>
          </a:prstGeom>
          <a:noFill/>
        </p:spPr>
        <p:txBody>
          <a:bodyPr wrap="square">
            <a:spAutoFit/>
          </a:bodyPr>
          <a:lstStyle/>
          <a:p>
            <a:r>
              <a:rPr lang="zh-CN" altLang="en-US" sz="2400" dirty="0"/>
              <a:t>     </a:t>
            </a:r>
            <a:r>
              <a:rPr lang="zh-CN" altLang="en-US" sz="2400" dirty="0">
                <a:solidFill>
                  <a:srgbClr val="FF0000"/>
                </a:solidFill>
              </a:rPr>
              <a:t>（</a:t>
            </a:r>
            <a:r>
              <a:rPr lang="en-US" altLang="zh-CN" sz="2400" dirty="0">
                <a:solidFill>
                  <a:srgbClr val="FF0000"/>
                </a:solidFill>
              </a:rPr>
              <a:t>2</a:t>
            </a:r>
            <a:r>
              <a:rPr lang="zh-CN" altLang="en-US" sz="2400" dirty="0">
                <a:solidFill>
                  <a:srgbClr val="FF0000"/>
                </a:solidFill>
              </a:rPr>
              <a:t>）半结构化数据：</a:t>
            </a:r>
            <a:r>
              <a:rPr lang="zh-CN" altLang="en-US" sz="2400" dirty="0"/>
              <a:t>半结构化数据具有一定的结构性，但又灵活多变。例如</a:t>
            </a:r>
            <a:r>
              <a:rPr lang="en-US" altLang="zh-CN" sz="2400" dirty="0"/>
              <a:t>XML</a:t>
            </a:r>
            <a:r>
              <a:rPr lang="zh-CN" altLang="en-US" sz="2400" dirty="0"/>
              <a:t>、</a:t>
            </a:r>
            <a:r>
              <a:rPr lang="en-US" altLang="zh-CN" sz="2400" dirty="0"/>
              <a:t>HTML</a:t>
            </a:r>
            <a:r>
              <a:rPr lang="zh-CN" altLang="en-US" sz="2400" dirty="0"/>
              <a:t>格式的文件，其自描述、数据结构和内容混杂在一起。可扩展标记语言</a:t>
            </a:r>
            <a:r>
              <a:rPr lang="en-US" altLang="zh-CN" sz="2400" dirty="0"/>
              <a:t>XML</a:t>
            </a:r>
            <a:r>
              <a:rPr lang="zh-CN" altLang="en-US" sz="2400" dirty="0"/>
              <a:t>是一种</a:t>
            </a:r>
            <a:r>
              <a:rPr lang="en-US" altLang="zh-CN" sz="2400" dirty="0"/>
              <a:t>W3C</a:t>
            </a:r>
            <a:r>
              <a:rPr lang="zh-CN" altLang="en-US" sz="2400" dirty="0"/>
              <a:t>制定的标准通用标记语言，已成为国际上数据交换的一种公共语言。</a:t>
            </a:r>
          </a:p>
        </p:txBody>
      </p:sp>
    </p:spTree>
    <p:extLst>
      <p:ext uri="{BB962C8B-B14F-4D97-AF65-F5344CB8AC3E}">
        <p14:creationId xmlns:p14="http://schemas.microsoft.com/office/powerpoint/2010/main" val="884705284"/>
      </p:ext>
    </p:extLst>
  </p:cSld>
  <p:clrMapOvr>
    <a:masterClrMapping/>
  </p:clrMapOvr>
  <p:transition spd="slow">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6807" y="234362"/>
            <a:ext cx="3927476" cy="521970"/>
          </a:xfrm>
          <a:prstGeom prst="rect">
            <a:avLst/>
          </a:prstGeom>
        </p:spPr>
        <p:txBody>
          <a:bodyPr wrap="square">
            <a:spAutoFit/>
          </a:bodyPr>
          <a:lstStyle/>
          <a:p>
            <a:r>
              <a:rPr lang="en-US" altLang="zh-CN"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a:t>
            </a:r>
            <a:r>
              <a:rPr lang="zh-CN" alt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a:t>
            </a:r>
            <a:r>
              <a:rPr lang="en-US" altLang="zh-CN"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 </a:t>
            </a:r>
            <a:r>
              <a:rPr lang="zh-CN" alt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大数据的构成</a:t>
            </a:r>
          </a:p>
        </p:txBody>
      </p:sp>
      <p:sp>
        <p:nvSpPr>
          <p:cNvPr id="8" name="文本框 7">
            <a:extLst>
              <a:ext uri="{FF2B5EF4-FFF2-40B4-BE49-F238E27FC236}">
                <a16:creationId xmlns:a16="http://schemas.microsoft.com/office/drawing/2014/main" id="{8BAE74F6-5634-46D7-BE66-8E861D236BC9}"/>
              </a:ext>
            </a:extLst>
          </p:cNvPr>
          <p:cNvSpPr txBox="1"/>
          <p:nvPr/>
        </p:nvSpPr>
        <p:spPr>
          <a:xfrm>
            <a:off x="463063" y="945688"/>
            <a:ext cx="1508612" cy="1323439"/>
          </a:xfrm>
          <a:prstGeom prst="rect">
            <a:avLst/>
          </a:prstGeom>
          <a:noFill/>
        </p:spPr>
        <p:txBody>
          <a:bodyPr wrap="square">
            <a:spAutoFit/>
          </a:bodyPr>
          <a:lstStyle/>
          <a:p>
            <a:r>
              <a:rPr lang="zh-CN" altLang="en-US" sz="2000" dirty="0"/>
              <a:t>用</a:t>
            </a:r>
            <a:r>
              <a:rPr lang="en-US" altLang="zh-CN" sz="2000" dirty="0"/>
              <a:t>XML</a:t>
            </a:r>
            <a:r>
              <a:rPr lang="zh-CN" altLang="en-US" sz="2000" dirty="0"/>
              <a:t>文件格式来描述表</a:t>
            </a:r>
            <a:r>
              <a:rPr lang="en-US" altLang="zh-CN" sz="2000" dirty="0"/>
              <a:t>1.2</a:t>
            </a:r>
            <a:r>
              <a:rPr lang="zh-CN" altLang="en-US" sz="2000" dirty="0"/>
              <a:t>中的三条记录。</a:t>
            </a:r>
          </a:p>
        </p:txBody>
      </p:sp>
      <p:pic>
        <p:nvPicPr>
          <p:cNvPr id="3" name="图片 2">
            <a:extLst>
              <a:ext uri="{FF2B5EF4-FFF2-40B4-BE49-F238E27FC236}">
                <a16:creationId xmlns:a16="http://schemas.microsoft.com/office/drawing/2014/main" id="{025F13ED-5AD7-471D-A527-08DD34844C7F}"/>
              </a:ext>
            </a:extLst>
          </p:cNvPr>
          <p:cNvPicPr>
            <a:picLocks noChangeAspect="1"/>
          </p:cNvPicPr>
          <p:nvPr/>
        </p:nvPicPr>
        <p:blipFill>
          <a:blip r:embed="rId2"/>
          <a:stretch>
            <a:fillRect/>
          </a:stretch>
        </p:blipFill>
        <p:spPr>
          <a:xfrm>
            <a:off x="2397633" y="1043686"/>
            <a:ext cx="5282184" cy="3957828"/>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3552459060"/>
      </p:ext>
    </p:extLst>
  </p:cSld>
  <p:clrMapOvr>
    <a:masterClrMapping/>
  </p:clrMapOvr>
  <p:transition spd="slow">
    <p:pull/>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6807" y="234362"/>
            <a:ext cx="3927476" cy="521970"/>
          </a:xfrm>
          <a:prstGeom prst="rect">
            <a:avLst/>
          </a:prstGeom>
        </p:spPr>
        <p:txBody>
          <a:bodyPr wrap="square">
            <a:spAutoFit/>
          </a:bodyPr>
          <a:lstStyle/>
          <a:p>
            <a:r>
              <a:rPr lang="en-US" altLang="zh-CN"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a:t>
            </a:r>
            <a:r>
              <a:rPr lang="zh-CN" alt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a:t>
            </a:r>
            <a:r>
              <a:rPr lang="en-US" altLang="zh-CN"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 </a:t>
            </a:r>
            <a:r>
              <a:rPr lang="zh-CN" alt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大数据的构成</a:t>
            </a:r>
          </a:p>
        </p:txBody>
      </p:sp>
      <p:sp>
        <p:nvSpPr>
          <p:cNvPr id="4" name="文本框 3">
            <a:extLst>
              <a:ext uri="{FF2B5EF4-FFF2-40B4-BE49-F238E27FC236}">
                <a16:creationId xmlns:a16="http://schemas.microsoft.com/office/drawing/2014/main" id="{B953BC9C-6A33-4EE7-AE4E-4A4BB21B0455}"/>
              </a:ext>
            </a:extLst>
          </p:cNvPr>
          <p:cNvSpPr txBox="1"/>
          <p:nvPr/>
        </p:nvSpPr>
        <p:spPr>
          <a:xfrm>
            <a:off x="495032" y="1059582"/>
            <a:ext cx="8109218" cy="1569660"/>
          </a:xfrm>
          <a:prstGeom prst="rect">
            <a:avLst/>
          </a:prstGeom>
          <a:noFill/>
        </p:spPr>
        <p:txBody>
          <a:bodyPr wrap="square">
            <a:spAutoFit/>
          </a:bodyPr>
          <a:lstStyle/>
          <a:p>
            <a:r>
              <a:rPr lang="zh-CN" altLang="en-US" sz="2400" dirty="0"/>
              <a:t>     </a:t>
            </a:r>
            <a:r>
              <a:rPr lang="zh-CN" altLang="en-US" sz="2400" dirty="0">
                <a:solidFill>
                  <a:srgbClr val="FF0000"/>
                </a:solidFill>
              </a:rPr>
              <a:t>（</a:t>
            </a:r>
            <a:r>
              <a:rPr lang="en-US" altLang="zh-CN" sz="2400" dirty="0">
                <a:solidFill>
                  <a:srgbClr val="FF0000"/>
                </a:solidFill>
              </a:rPr>
              <a:t>3</a:t>
            </a:r>
            <a:r>
              <a:rPr lang="zh-CN" altLang="en-US" sz="2400" dirty="0">
                <a:solidFill>
                  <a:srgbClr val="FF0000"/>
                </a:solidFill>
              </a:rPr>
              <a:t>）非结构化数据：</a:t>
            </a:r>
            <a:r>
              <a:rPr lang="zh-CN" altLang="en-US" sz="2400" dirty="0"/>
              <a:t>非结构化数据是指无法采用固定的结构来表示的数据，如文本、图像、视频和音频等数据。非结构化数据其格式非常多样，无法用统一的结构表示，而且在技术上非结构化信息比结构化信息更难标准化和理解。</a:t>
            </a:r>
          </a:p>
        </p:txBody>
      </p:sp>
      <p:grpSp>
        <p:nvGrpSpPr>
          <p:cNvPr id="5" name="组合 4">
            <a:extLst>
              <a:ext uri="{FF2B5EF4-FFF2-40B4-BE49-F238E27FC236}">
                <a16:creationId xmlns:a16="http://schemas.microsoft.com/office/drawing/2014/main" id="{3DADD011-AE2F-4204-9A82-F1AD39063235}"/>
              </a:ext>
            </a:extLst>
          </p:cNvPr>
          <p:cNvGrpSpPr/>
          <p:nvPr/>
        </p:nvGrpSpPr>
        <p:grpSpPr>
          <a:xfrm>
            <a:off x="2259512" y="2962476"/>
            <a:ext cx="4580257" cy="1050925"/>
            <a:chOff x="0" y="0"/>
            <a:chExt cx="4580558" cy="1050925"/>
          </a:xfrm>
        </p:grpSpPr>
        <p:pic>
          <p:nvPicPr>
            <p:cNvPr id="6" name="Picture 12">
              <a:extLst>
                <a:ext uri="{FF2B5EF4-FFF2-40B4-BE49-F238E27FC236}">
                  <a16:creationId xmlns:a16="http://schemas.microsoft.com/office/drawing/2014/main" id="{E3FD730E-4258-4AAC-94F5-FCC8FED2E38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0" y="91440"/>
              <a:ext cx="864235" cy="864235"/>
            </a:xfrm>
            <a:prstGeom prst="rect">
              <a:avLst/>
            </a:prstGeom>
            <a:noFill/>
          </p:spPr>
        </p:pic>
        <p:pic>
          <p:nvPicPr>
            <p:cNvPr id="7" name="Picture 14">
              <a:extLst>
                <a:ext uri="{FF2B5EF4-FFF2-40B4-BE49-F238E27FC236}">
                  <a16:creationId xmlns:a16="http://schemas.microsoft.com/office/drawing/2014/main" id="{8DDCDC2A-65C1-4EAC-92FF-EB0314CBC51A}"/>
                </a:ext>
              </a:extLst>
            </p:cNvPr>
            <p:cNvPicPr>
              <a:picLocks noChangeAspect="1"/>
            </p:cNvPicPr>
            <p:nvPr/>
          </p:nvPicPr>
          <p:blipFill>
            <a:blip r:embed="rId3" cstate="print">
              <a:extLst>
                <a:ext uri="{28A0092B-C50C-407E-A947-70E740481C1C}">
                  <a14:useLocalDpi xmlns:a14="http://schemas.microsoft.com/office/drawing/2010/main" val="0"/>
                </a:ext>
              </a:extLst>
            </a:blip>
            <a:srcRect l="31631" t="8022" r="10902" b="51963"/>
            <a:stretch>
              <a:fillRect/>
            </a:stretch>
          </p:blipFill>
          <p:spPr>
            <a:xfrm>
              <a:off x="989937" y="79513"/>
              <a:ext cx="1638935" cy="793115"/>
            </a:xfrm>
            <a:prstGeom prst="rect">
              <a:avLst/>
            </a:prstGeom>
            <a:noFill/>
          </p:spPr>
        </p:pic>
        <p:pic>
          <p:nvPicPr>
            <p:cNvPr id="9" name="图片 8">
              <a:extLst>
                <a:ext uri="{FF2B5EF4-FFF2-40B4-BE49-F238E27FC236}">
                  <a16:creationId xmlns:a16="http://schemas.microsoft.com/office/drawing/2014/main" id="{A232A032-E3B6-4632-AE5B-9E52D507FF3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18128" y="0"/>
              <a:ext cx="1662430" cy="1050925"/>
            </a:xfrm>
            <a:prstGeom prst="rect">
              <a:avLst/>
            </a:prstGeom>
          </p:spPr>
        </p:pic>
      </p:grpSp>
      <p:sp>
        <p:nvSpPr>
          <p:cNvPr id="10" name="矩形 9">
            <a:extLst>
              <a:ext uri="{FF2B5EF4-FFF2-40B4-BE49-F238E27FC236}">
                <a16:creationId xmlns:a16="http://schemas.microsoft.com/office/drawing/2014/main" id="{6F0FAEDA-E584-4C3A-9F2B-D325E0B22ECF}"/>
              </a:ext>
            </a:extLst>
          </p:cNvPr>
          <p:cNvSpPr/>
          <p:nvPr/>
        </p:nvSpPr>
        <p:spPr>
          <a:xfrm>
            <a:off x="3135084" y="4155926"/>
            <a:ext cx="3185487" cy="369332"/>
          </a:xfrm>
          <a:prstGeom prst="rect">
            <a:avLst/>
          </a:prstGeom>
        </p:spPr>
        <p:txBody>
          <a:bodyPr wrap="none">
            <a:spAutoFit/>
          </a:bodyPr>
          <a:lstStyle/>
          <a:p>
            <a:r>
              <a:rPr lang="zh-CN" altLang="zh-CN" kern="100" dirty="0">
                <a:latin typeface="等线 Light" panose="02010600030101010101" pitchFamily="2" charset="-122"/>
                <a:ea typeface="等线" panose="02010600030101010101" pitchFamily="2" charset="-122"/>
                <a:cs typeface="Times New Roman" panose="02020603050405020304" pitchFamily="18" charset="0"/>
              </a:rPr>
              <a:t>文本、图片和视频文件示意图</a:t>
            </a:r>
            <a:endParaRPr lang="zh-CN" altLang="en-US" dirty="0"/>
          </a:p>
        </p:txBody>
      </p:sp>
    </p:spTree>
    <p:extLst>
      <p:ext uri="{BB962C8B-B14F-4D97-AF65-F5344CB8AC3E}">
        <p14:creationId xmlns:p14="http://schemas.microsoft.com/office/powerpoint/2010/main" val="4067852976"/>
      </p:ext>
    </p:extLst>
  </p:cSld>
  <p:clrMapOvr>
    <a:masterClrMapping/>
  </p:clrMapOvr>
  <p:transition spd="slow">
    <p:pull/>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2624" y="0"/>
            <a:ext cx="9141291" cy="5143500"/>
          </a:xfrm>
          <a:prstGeom prst="rect">
            <a:avLst/>
          </a:prstGeom>
        </p:spPr>
      </p:pic>
      <p:grpSp>
        <p:nvGrpSpPr>
          <p:cNvPr id="32" name="组合 14"/>
          <p:cNvGrpSpPr/>
          <p:nvPr/>
        </p:nvGrpSpPr>
        <p:grpSpPr bwMode="auto">
          <a:xfrm>
            <a:off x="1911985" y="2430917"/>
            <a:ext cx="4380865" cy="134438"/>
            <a:chOff x="3649980" y="3375660"/>
            <a:chExt cx="4638285" cy="108000"/>
          </a:xfrm>
        </p:grpSpPr>
        <p:cxnSp>
          <p:nvCxnSpPr>
            <p:cNvPr id="33" name="直接连接符 32"/>
            <p:cNvCxnSpPr/>
            <p:nvPr/>
          </p:nvCxnSpPr>
          <p:spPr>
            <a:xfrm>
              <a:off x="3734134" y="3429660"/>
              <a:ext cx="449513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3649980"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5" name="椭圆 34"/>
            <p:cNvSpPr/>
            <p:nvPr/>
          </p:nvSpPr>
          <p:spPr>
            <a:xfrm>
              <a:off x="8205448"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36" name="文本框 35"/>
          <p:cNvSpPr txBox="1"/>
          <p:nvPr/>
        </p:nvSpPr>
        <p:spPr>
          <a:xfrm>
            <a:off x="1940560" y="1654175"/>
            <a:ext cx="6555105" cy="645160"/>
          </a:xfrm>
          <a:prstGeom prst="rect">
            <a:avLst/>
          </a:prstGeom>
          <a:noFill/>
        </p:spPr>
        <p:txBody>
          <a:bodyPr wrap="square">
            <a:spAutoFit/>
          </a:bodyPr>
          <a:lstStyle/>
          <a:p>
            <a:r>
              <a:rPr lang="zh-CN" altLang="en-US" sz="3600" b="1" dirty="0">
                <a:solidFill>
                  <a:srgbClr val="FFC000"/>
                </a:solidFill>
                <a:effectLst>
                  <a:outerShdw blurRad="38100" dist="38100" dir="2700000" algn="tl">
                    <a:srgbClr val="000000">
                      <a:alpha val="43137"/>
                    </a:srgbClr>
                  </a:outerShdw>
                </a:effectLst>
                <a:latin typeface="IrisUPC" panose="020B0604020202020204" pitchFamily="34" charset="-34"/>
                <a:ea typeface="微软雅黑" panose="020B0503020204020204" pitchFamily="34" charset="-122"/>
                <a:cs typeface="IrisUPC" panose="020B0604020202020204" pitchFamily="34" charset="-34"/>
              </a:rPr>
              <a:t>大数据的价值和作用</a:t>
            </a:r>
          </a:p>
        </p:txBody>
      </p:sp>
      <p:sp>
        <p:nvSpPr>
          <p:cNvPr id="41" name="文本框 40"/>
          <p:cNvSpPr txBox="1">
            <a:spLocks noChangeArrowheads="1"/>
          </p:cNvSpPr>
          <p:nvPr/>
        </p:nvSpPr>
        <p:spPr bwMode="auto">
          <a:xfrm>
            <a:off x="511044" y="1508897"/>
            <a:ext cx="1698527" cy="922020"/>
          </a:xfrm>
          <a:prstGeom prst="rect">
            <a:avLst/>
          </a:prstGeom>
          <a:noFill/>
          <a:ln w="9525">
            <a:noFill/>
            <a:miter lim="800000"/>
          </a:ln>
        </p:spPr>
        <p:txBody>
          <a:bodyPr wrap="square">
            <a:spAutoFit/>
          </a:bodyPr>
          <a:lstStyle/>
          <a:p>
            <a:pPr algn="ctr"/>
            <a:r>
              <a:rPr lang="en-US" altLang="zh-CN" sz="5400" dirty="0">
                <a:solidFill>
                  <a:srgbClr val="00B0F0"/>
                </a:solidFill>
                <a:latin typeface="微软雅黑" panose="020B0503020204020204" pitchFamily="34" charset="-122"/>
                <a:ea typeface="微软雅黑" panose="020B0503020204020204" pitchFamily="34" charset="-122"/>
                <a:cs typeface="IrisUPC" panose="020B0604020202020204" pitchFamily="34" charset="-34"/>
              </a:rPr>
              <a:t>1.2</a:t>
            </a:r>
          </a:p>
        </p:txBody>
      </p:sp>
    </p:spTree>
    <p:extLst>
      <p:ext uri="{BB962C8B-B14F-4D97-AF65-F5344CB8AC3E}">
        <p14:creationId xmlns:p14="http://schemas.microsoft.com/office/powerpoint/2010/main" val="265316680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40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par>
                          <p:cTn id="8" fill="hold">
                            <p:stCondLst>
                              <p:cond delay="900"/>
                            </p:stCondLst>
                            <p:childTnLst>
                              <p:par>
                                <p:cTn id="9" presetID="12" presetClass="entr" presetSubtype="4"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p:tgtEl>
                                          <p:spTgt spid="36"/>
                                        </p:tgtEl>
                                        <p:attrNameLst>
                                          <p:attrName>ppt_y</p:attrName>
                                        </p:attrNameLst>
                                      </p:cBhvr>
                                      <p:tavLst>
                                        <p:tav tm="0">
                                          <p:val>
                                            <p:strVal val="#ppt_y+#ppt_h*1.125000"/>
                                          </p:val>
                                        </p:tav>
                                        <p:tav tm="100000">
                                          <p:val>
                                            <p:strVal val="#ppt_y"/>
                                          </p:val>
                                        </p:tav>
                                      </p:tavLst>
                                    </p:anim>
                                    <p:animEffect transition="in" filter="wipe(up)">
                                      <p:cBhvr>
                                        <p:cTn id="12" dur="500"/>
                                        <p:tgtEl>
                                          <p:spTgt spid="36"/>
                                        </p:tgtEl>
                                      </p:cBhvr>
                                    </p:animEffect>
                                  </p:childTnLst>
                                </p:cTn>
                              </p:par>
                              <p:par>
                                <p:cTn id="13" presetID="2" presetClass="entr" presetSubtype="8"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0-#ppt_w/2"/>
                                          </p:val>
                                        </p:tav>
                                        <p:tav tm="100000">
                                          <p:val>
                                            <p:strVal val="#ppt_x"/>
                                          </p:val>
                                        </p:tav>
                                      </p:tavLst>
                                    </p:anim>
                                    <p:anim calcmode="lin" valueType="num">
                                      <p:cBhvr additive="base">
                                        <p:cTn id="16" dur="500" fill="hold"/>
                                        <p:tgtEl>
                                          <p:spTgt spid="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6808" y="234362"/>
            <a:ext cx="4600707" cy="523220"/>
          </a:xfrm>
          <a:prstGeom prst="rect">
            <a:avLst/>
          </a:prstGeom>
        </p:spPr>
        <p:txBody>
          <a:bodyPr wrap="square">
            <a:spAutoFit/>
          </a:bodyPr>
          <a:lstStyle/>
          <a:p>
            <a:r>
              <a:rPr lang="zh-CN" alt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a:t>
            </a:r>
            <a:r>
              <a:rPr lang="en-US" altLang="zh-CN"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 </a:t>
            </a:r>
            <a:r>
              <a:rPr lang="zh-CN" alt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大数据的价值和作用</a:t>
            </a:r>
          </a:p>
        </p:txBody>
      </p:sp>
      <p:sp>
        <p:nvSpPr>
          <p:cNvPr id="9" name="文本框 8">
            <a:extLst>
              <a:ext uri="{FF2B5EF4-FFF2-40B4-BE49-F238E27FC236}">
                <a16:creationId xmlns:a16="http://schemas.microsoft.com/office/drawing/2014/main" id="{3F66B2AE-C962-4D60-88B2-60B63C3032B9}"/>
              </a:ext>
            </a:extLst>
          </p:cNvPr>
          <p:cNvSpPr txBox="1"/>
          <p:nvPr/>
        </p:nvSpPr>
        <p:spPr>
          <a:xfrm>
            <a:off x="856159" y="934660"/>
            <a:ext cx="5544616" cy="523220"/>
          </a:xfrm>
          <a:prstGeom prst="rect">
            <a:avLst/>
          </a:prstGeom>
          <a:noFill/>
        </p:spPr>
        <p:txBody>
          <a:bodyPr wrap="square">
            <a:spAutoFit/>
          </a:bodyPr>
          <a:lstStyle/>
          <a:p>
            <a:r>
              <a:rPr lang="en-US" altLang="zh-CN" sz="2800" dirty="0">
                <a:solidFill>
                  <a:srgbClr val="FF0000"/>
                </a:solidFill>
              </a:rPr>
              <a:t>1.</a:t>
            </a:r>
            <a:r>
              <a:rPr lang="zh-CN" altLang="en-US" sz="2800" dirty="0">
                <a:solidFill>
                  <a:srgbClr val="FF0000"/>
                </a:solidFill>
              </a:rPr>
              <a:t>人类的活动越来越依赖于数据</a:t>
            </a:r>
          </a:p>
        </p:txBody>
      </p:sp>
      <p:sp>
        <p:nvSpPr>
          <p:cNvPr id="10" name="文本框 9">
            <a:extLst>
              <a:ext uri="{FF2B5EF4-FFF2-40B4-BE49-F238E27FC236}">
                <a16:creationId xmlns:a16="http://schemas.microsoft.com/office/drawing/2014/main" id="{51BFD0CF-3E53-4C3B-A4F8-80D87B25EBBE}"/>
              </a:ext>
            </a:extLst>
          </p:cNvPr>
          <p:cNvSpPr txBox="1"/>
          <p:nvPr/>
        </p:nvSpPr>
        <p:spPr>
          <a:xfrm>
            <a:off x="1260474" y="1610436"/>
            <a:ext cx="4175987" cy="2308324"/>
          </a:xfrm>
          <a:prstGeom prst="rect">
            <a:avLst/>
          </a:prstGeom>
          <a:noFill/>
        </p:spPr>
        <p:txBody>
          <a:bodyPr wrap="square">
            <a:spAutoFit/>
          </a:bodyPr>
          <a:lstStyle/>
          <a:p>
            <a:r>
              <a:rPr lang="zh-CN" altLang="en-US" sz="2400"/>
              <a:t>电子商务</a:t>
            </a:r>
            <a:endParaRPr lang="en-US" altLang="zh-CN" sz="2400"/>
          </a:p>
          <a:p>
            <a:r>
              <a:rPr lang="zh-CN" altLang="zh-CN" sz="2400"/>
              <a:t>物流</a:t>
            </a:r>
            <a:endParaRPr lang="en-US" altLang="zh-CN" sz="2400"/>
          </a:p>
          <a:p>
            <a:r>
              <a:rPr lang="zh-CN" altLang="en-US" sz="2400"/>
              <a:t>金融</a:t>
            </a:r>
            <a:endParaRPr lang="en-US" altLang="zh-CN" sz="2400"/>
          </a:p>
          <a:p>
            <a:r>
              <a:rPr lang="zh-CN" altLang="en-US" sz="2400"/>
              <a:t>教育</a:t>
            </a:r>
            <a:endParaRPr lang="en-US" altLang="zh-CN" sz="2400"/>
          </a:p>
          <a:p>
            <a:r>
              <a:rPr lang="zh-CN" altLang="zh-CN" sz="2400"/>
              <a:t>科学研究</a:t>
            </a:r>
            <a:endParaRPr lang="en-US" altLang="zh-CN" sz="2400"/>
          </a:p>
          <a:p>
            <a:r>
              <a:rPr lang="en-US" altLang="zh-CN" sz="2400"/>
              <a:t>……</a:t>
            </a:r>
            <a:endParaRPr lang="zh-CN" altLang="en-US" sz="2400" dirty="0"/>
          </a:p>
        </p:txBody>
      </p:sp>
    </p:spTree>
    <p:extLst>
      <p:ext uri="{BB962C8B-B14F-4D97-AF65-F5344CB8AC3E}">
        <p14:creationId xmlns:p14="http://schemas.microsoft.com/office/powerpoint/2010/main" val="3113789484"/>
      </p:ext>
    </p:extLst>
  </p:cSld>
  <p:clrMapOvr>
    <a:masterClrMapping/>
  </p:clrMapOvr>
  <p:transition spd="slow">
    <p:pull/>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6808" y="234362"/>
            <a:ext cx="4600707" cy="523220"/>
          </a:xfrm>
          <a:prstGeom prst="rect">
            <a:avLst/>
          </a:prstGeom>
        </p:spPr>
        <p:txBody>
          <a:bodyPr wrap="square">
            <a:spAutoFit/>
          </a:bodyPr>
          <a:lstStyle/>
          <a:p>
            <a:r>
              <a:rPr lang="zh-CN" alt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a:t>
            </a:r>
            <a:r>
              <a:rPr lang="en-US" altLang="zh-CN"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 </a:t>
            </a:r>
            <a:r>
              <a:rPr lang="zh-CN" alt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大数据的价值和作用</a:t>
            </a:r>
          </a:p>
        </p:txBody>
      </p:sp>
      <p:sp>
        <p:nvSpPr>
          <p:cNvPr id="10" name="文本框 9">
            <a:extLst>
              <a:ext uri="{FF2B5EF4-FFF2-40B4-BE49-F238E27FC236}">
                <a16:creationId xmlns:a16="http://schemas.microsoft.com/office/drawing/2014/main" id="{51BFD0CF-3E53-4C3B-A4F8-80D87B25EBBE}"/>
              </a:ext>
            </a:extLst>
          </p:cNvPr>
          <p:cNvSpPr txBox="1"/>
          <p:nvPr/>
        </p:nvSpPr>
        <p:spPr>
          <a:xfrm>
            <a:off x="903784" y="1058352"/>
            <a:ext cx="4597636" cy="523220"/>
          </a:xfrm>
          <a:prstGeom prst="rect">
            <a:avLst/>
          </a:prstGeom>
          <a:noFill/>
        </p:spPr>
        <p:txBody>
          <a:bodyPr wrap="square">
            <a:spAutoFit/>
          </a:bodyPr>
          <a:lstStyle/>
          <a:p>
            <a:r>
              <a:rPr lang="en-US" altLang="zh-CN" sz="2800" dirty="0">
                <a:solidFill>
                  <a:srgbClr val="FF0000"/>
                </a:solidFill>
              </a:rPr>
              <a:t>2.</a:t>
            </a:r>
            <a:r>
              <a:rPr lang="zh-CN" altLang="en-US" sz="2800" dirty="0">
                <a:solidFill>
                  <a:srgbClr val="FF0000"/>
                </a:solidFill>
              </a:rPr>
              <a:t>大数据的核心价值</a:t>
            </a:r>
          </a:p>
        </p:txBody>
      </p:sp>
      <p:sp>
        <p:nvSpPr>
          <p:cNvPr id="11" name="文本框 10">
            <a:extLst>
              <a:ext uri="{FF2B5EF4-FFF2-40B4-BE49-F238E27FC236}">
                <a16:creationId xmlns:a16="http://schemas.microsoft.com/office/drawing/2014/main" id="{403D5022-3775-4EEB-81F7-1C335EF2EAE2}"/>
              </a:ext>
            </a:extLst>
          </p:cNvPr>
          <p:cNvSpPr txBox="1"/>
          <p:nvPr/>
        </p:nvSpPr>
        <p:spPr>
          <a:xfrm>
            <a:off x="903784" y="3038708"/>
            <a:ext cx="4597636" cy="523220"/>
          </a:xfrm>
          <a:prstGeom prst="rect">
            <a:avLst/>
          </a:prstGeom>
          <a:noFill/>
        </p:spPr>
        <p:txBody>
          <a:bodyPr wrap="square">
            <a:spAutoFit/>
          </a:bodyPr>
          <a:lstStyle/>
          <a:p>
            <a:r>
              <a:rPr lang="en-US" altLang="zh-CN" sz="2800" dirty="0">
                <a:solidFill>
                  <a:srgbClr val="FF0000"/>
                </a:solidFill>
              </a:rPr>
              <a:t>3.</a:t>
            </a:r>
            <a:r>
              <a:rPr lang="zh-CN" altLang="en-US" sz="2800" dirty="0">
                <a:solidFill>
                  <a:srgbClr val="FF0000"/>
                </a:solidFill>
              </a:rPr>
              <a:t>大数据的作用</a:t>
            </a:r>
          </a:p>
        </p:txBody>
      </p:sp>
      <p:sp>
        <p:nvSpPr>
          <p:cNvPr id="13" name="文本框 12">
            <a:extLst>
              <a:ext uri="{FF2B5EF4-FFF2-40B4-BE49-F238E27FC236}">
                <a16:creationId xmlns:a16="http://schemas.microsoft.com/office/drawing/2014/main" id="{A61D55E1-8D0C-4988-82B6-8FEC9ADAA951}"/>
              </a:ext>
            </a:extLst>
          </p:cNvPr>
          <p:cNvSpPr txBox="1"/>
          <p:nvPr/>
        </p:nvSpPr>
        <p:spPr>
          <a:xfrm>
            <a:off x="345053" y="1623912"/>
            <a:ext cx="8280920" cy="1200329"/>
          </a:xfrm>
          <a:prstGeom prst="rect">
            <a:avLst/>
          </a:prstGeom>
          <a:noFill/>
        </p:spPr>
        <p:txBody>
          <a:bodyPr wrap="square">
            <a:spAutoFit/>
          </a:bodyPr>
          <a:lstStyle/>
          <a:p>
            <a:r>
              <a:rPr lang="zh-CN" altLang="en-US" sz="2400" dirty="0"/>
              <a:t>        大数据的核心价值在于提供了一种人类认识复杂系统的新思维和新手段，可以帮助人们</a:t>
            </a:r>
            <a:r>
              <a:rPr lang="zh-CN" altLang="en-US" sz="2400" b="1" dirty="0">
                <a:solidFill>
                  <a:srgbClr val="0000CC"/>
                </a:solidFill>
                <a:effectLst>
                  <a:outerShdw blurRad="38100" dist="38100" dir="2700000" algn="tl">
                    <a:srgbClr val="000000">
                      <a:alpha val="43137"/>
                    </a:srgbClr>
                  </a:outerShdw>
                </a:effectLst>
              </a:rPr>
              <a:t>发现规律</a:t>
            </a:r>
            <a:r>
              <a:rPr lang="zh-CN" altLang="en-US" sz="2400" b="1" dirty="0">
                <a:effectLst>
                  <a:outerShdw blurRad="38100" dist="38100" dir="2700000" algn="tl">
                    <a:srgbClr val="000000">
                      <a:alpha val="43137"/>
                    </a:srgbClr>
                  </a:outerShdw>
                </a:effectLst>
              </a:rPr>
              <a:t>、</a:t>
            </a:r>
            <a:r>
              <a:rPr lang="zh-CN" altLang="en-US" sz="2400" b="1" dirty="0">
                <a:solidFill>
                  <a:srgbClr val="0000CC"/>
                </a:solidFill>
                <a:effectLst>
                  <a:outerShdw blurRad="38100" dist="38100" dir="2700000" algn="tl">
                    <a:srgbClr val="000000">
                      <a:alpha val="43137"/>
                    </a:srgbClr>
                  </a:outerShdw>
                </a:effectLst>
              </a:rPr>
              <a:t>预测未来</a:t>
            </a:r>
            <a:r>
              <a:rPr lang="zh-CN" altLang="en-US" sz="2400" dirty="0"/>
              <a:t>和</a:t>
            </a:r>
            <a:r>
              <a:rPr lang="zh-CN" altLang="en-US" sz="2400" b="1" dirty="0">
                <a:solidFill>
                  <a:srgbClr val="0000CC"/>
                </a:solidFill>
                <a:effectLst>
                  <a:outerShdw blurRad="38100" dist="38100" dir="2700000" algn="tl">
                    <a:srgbClr val="000000">
                      <a:alpha val="43137"/>
                    </a:srgbClr>
                  </a:outerShdw>
                </a:effectLst>
              </a:rPr>
              <a:t>决策指导</a:t>
            </a:r>
            <a:r>
              <a:rPr lang="zh-CN" altLang="en-US" sz="2400" dirty="0"/>
              <a:t>。</a:t>
            </a:r>
          </a:p>
        </p:txBody>
      </p:sp>
      <p:sp>
        <p:nvSpPr>
          <p:cNvPr id="14" name="文本框 13">
            <a:extLst>
              <a:ext uri="{FF2B5EF4-FFF2-40B4-BE49-F238E27FC236}">
                <a16:creationId xmlns:a16="http://schemas.microsoft.com/office/drawing/2014/main" id="{3F057088-09B6-4315-95D1-274AD60C3761}"/>
              </a:ext>
            </a:extLst>
          </p:cNvPr>
          <p:cNvSpPr txBox="1"/>
          <p:nvPr/>
        </p:nvSpPr>
        <p:spPr>
          <a:xfrm>
            <a:off x="436876" y="3561928"/>
            <a:ext cx="7920682" cy="830997"/>
          </a:xfrm>
          <a:prstGeom prst="rect">
            <a:avLst/>
          </a:prstGeom>
          <a:noFill/>
        </p:spPr>
        <p:txBody>
          <a:bodyPr wrap="square">
            <a:spAutoFit/>
          </a:bodyPr>
          <a:lstStyle/>
          <a:p>
            <a:r>
              <a:rPr lang="zh-CN" altLang="en-US" sz="2400" dirty="0"/>
              <a:t>       目前，大数据技术在国内外各个行业发挥着越来越大作用，以下介绍几个著名的大数据应用案例。</a:t>
            </a:r>
          </a:p>
        </p:txBody>
      </p:sp>
    </p:spTree>
  </p:cSld>
  <p:clrMapOvr>
    <a:masterClrMapping/>
  </p:clrMapOvr>
  <p:transition spd="slow">
    <p:pull/>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6808" y="234362"/>
            <a:ext cx="4600707" cy="523220"/>
          </a:xfrm>
          <a:prstGeom prst="rect">
            <a:avLst/>
          </a:prstGeom>
        </p:spPr>
        <p:txBody>
          <a:bodyPr wrap="square">
            <a:spAutoFit/>
          </a:bodyPr>
          <a:lstStyle/>
          <a:p>
            <a:r>
              <a:rPr lang="zh-CN" alt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a:t>
            </a:r>
            <a:r>
              <a:rPr lang="en-US" altLang="zh-CN"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 </a:t>
            </a:r>
            <a:r>
              <a:rPr lang="zh-CN" alt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大数据的价值和作用</a:t>
            </a:r>
          </a:p>
        </p:txBody>
      </p:sp>
      <p:sp>
        <p:nvSpPr>
          <p:cNvPr id="8" name="文本框 7">
            <a:extLst>
              <a:ext uri="{FF2B5EF4-FFF2-40B4-BE49-F238E27FC236}">
                <a16:creationId xmlns:a16="http://schemas.microsoft.com/office/drawing/2014/main" id="{D288C531-26B7-410F-BFA0-2B4216032B50}"/>
              </a:ext>
            </a:extLst>
          </p:cNvPr>
          <p:cNvSpPr txBox="1"/>
          <p:nvPr/>
        </p:nvSpPr>
        <p:spPr>
          <a:xfrm>
            <a:off x="467346" y="987574"/>
            <a:ext cx="8136904" cy="3416320"/>
          </a:xfrm>
          <a:prstGeom prst="rect">
            <a:avLst/>
          </a:prstGeom>
          <a:noFill/>
        </p:spPr>
        <p:txBody>
          <a:bodyPr wrap="square">
            <a:spAutoFit/>
          </a:bodyPr>
          <a:lstStyle/>
          <a:p>
            <a:r>
              <a:rPr lang="en-US" altLang="zh-CN" sz="2400" dirty="0">
                <a:solidFill>
                  <a:srgbClr val="FF0000"/>
                </a:solidFill>
              </a:rPr>
              <a:t>        【</a:t>
            </a:r>
            <a:r>
              <a:rPr lang="zh-CN" altLang="en-US" sz="2400" dirty="0">
                <a:solidFill>
                  <a:srgbClr val="FF0000"/>
                </a:solidFill>
              </a:rPr>
              <a:t>案例 </a:t>
            </a:r>
            <a:r>
              <a:rPr lang="en-US" altLang="zh-CN" sz="2400" dirty="0">
                <a:solidFill>
                  <a:srgbClr val="FF0000"/>
                </a:solidFill>
              </a:rPr>
              <a:t>】</a:t>
            </a:r>
            <a:r>
              <a:rPr lang="zh-CN" altLang="en-US" sz="2400" dirty="0"/>
              <a:t>孟山都（</a:t>
            </a:r>
            <a:r>
              <a:rPr lang="en-US" altLang="zh-CN" sz="2400" dirty="0"/>
              <a:t>Monsanto</a:t>
            </a:r>
            <a:r>
              <a:rPr lang="zh-CN" altLang="en-US" sz="2400" dirty="0"/>
              <a:t>）是一家美国的跨国农业生物技术公司，该公司首先发起“</a:t>
            </a:r>
            <a:r>
              <a:rPr lang="en-US" altLang="zh-CN" sz="2400" dirty="0"/>
              <a:t>Green Data Revolution”</a:t>
            </a:r>
            <a:r>
              <a:rPr lang="zh-CN" altLang="en-US" sz="2400" dirty="0"/>
              <a:t>运动，建立农业数据联盟（</a:t>
            </a:r>
            <a:r>
              <a:rPr lang="en-US" altLang="zh-CN" sz="2400" dirty="0"/>
              <a:t>Open Ag Data Alliance</a:t>
            </a:r>
            <a:r>
              <a:rPr lang="zh-CN" altLang="en-US" sz="2400" dirty="0"/>
              <a:t>）来统一数据标准，让农民也能享受大数据的</a:t>
            </a:r>
            <a:r>
              <a:rPr lang="zh-CN" altLang="en-US" sz="2400"/>
              <a:t>成果。</a:t>
            </a:r>
            <a:endParaRPr lang="en-US" altLang="zh-CN" sz="2400"/>
          </a:p>
          <a:p>
            <a:r>
              <a:rPr lang="en-US" altLang="zh-CN" sz="2400"/>
              <a:t>        </a:t>
            </a:r>
            <a:r>
              <a:rPr lang="zh-CN" altLang="en-US" sz="2400"/>
              <a:t>典型</a:t>
            </a:r>
            <a:r>
              <a:rPr lang="zh-CN" altLang="en-US" sz="2400" dirty="0"/>
              <a:t>的应用如农场设备制造商</a:t>
            </a:r>
            <a:r>
              <a:rPr lang="en-US" altLang="zh-CN" sz="2400" dirty="0"/>
              <a:t>John Deere</a:t>
            </a:r>
            <a:r>
              <a:rPr lang="zh-CN" altLang="en-US" sz="2400" dirty="0"/>
              <a:t>与</a:t>
            </a:r>
            <a:r>
              <a:rPr lang="en-US" altLang="zh-CN" sz="2400" dirty="0"/>
              <a:t>DuPont Pioneer</a:t>
            </a:r>
            <a:r>
              <a:rPr lang="zh-CN" altLang="en-US" sz="2400" dirty="0"/>
              <a:t>联合提供“决策服务</a:t>
            </a:r>
            <a:r>
              <a:rPr lang="en-US" altLang="zh-CN" sz="2400" dirty="0"/>
              <a:t>(Decision Services)”</a:t>
            </a:r>
            <a:r>
              <a:rPr lang="zh-CN" altLang="en-US" sz="2400" dirty="0"/>
              <a:t>，农民只需在驾驶室里拿出平板电脑，收集种子监视器传来的数据，然后将其上传给服务器，通过服务器端的智能决策服务系统，返回化肥的配方到农场的拖拉机上。</a:t>
            </a:r>
          </a:p>
        </p:txBody>
      </p:sp>
    </p:spTree>
    <p:extLst>
      <p:ext uri="{BB962C8B-B14F-4D97-AF65-F5344CB8AC3E}">
        <p14:creationId xmlns:p14="http://schemas.microsoft.com/office/powerpoint/2010/main" val="811984209"/>
      </p:ext>
    </p:extLst>
  </p:cSld>
  <p:clrMapOvr>
    <a:masterClrMapping/>
  </p:clrMapOvr>
  <p:transition spd="slow">
    <p:pull/>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6808" y="234362"/>
            <a:ext cx="4600707" cy="523220"/>
          </a:xfrm>
          <a:prstGeom prst="rect">
            <a:avLst/>
          </a:prstGeom>
        </p:spPr>
        <p:txBody>
          <a:bodyPr wrap="square">
            <a:spAutoFit/>
          </a:bodyPr>
          <a:lstStyle/>
          <a:p>
            <a:r>
              <a:rPr lang="zh-CN" alt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a:t>
            </a:r>
            <a:r>
              <a:rPr lang="en-US" altLang="zh-CN"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 </a:t>
            </a:r>
            <a:r>
              <a:rPr lang="zh-CN" alt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大数据的价值和作用</a:t>
            </a:r>
          </a:p>
        </p:txBody>
      </p:sp>
      <p:sp>
        <p:nvSpPr>
          <p:cNvPr id="8" name="文本框 7">
            <a:extLst>
              <a:ext uri="{FF2B5EF4-FFF2-40B4-BE49-F238E27FC236}">
                <a16:creationId xmlns:a16="http://schemas.microsoft.com/office/drawing/2014/main" id="{9BAEB557-726F-4E81-89DC-BCDDB7D9D24E}"/>
              </a:ext>
            </a:extLst>
          </p:cNvPr>
          <p:cNvSpPr txBox="1"/>
          <p:nvPr/>
        </p:nvSpPr>
        <p:spPr>
          <a:xfrm>
            <a:off x="539552" y="1131590"/>
            <a:ext cx="7776864" cy="2677656"/>
          </a:xfrm>
          <a:prstGeom prst="rect">
            <a:avLst/>
          </a:prstGeom>
          <a:noFill/>
        </p:spPr>
        <p:txBody>
          <a:bodyPr wrap="square">
            <a:spAutoFit/>
          </a:bodyPr>
          <a:lstStyle/>
          <a:p>
            <a:r>
              <a:rPr lang="en-US" altLang="zh-CN" sz="2400" dirty="0"/>
              <a:t>       </a:t>
            </a:r>
            <a:r>
              <a:rPr lang="en-US" altLang="zh-CN" sz="2400" dirty="0">
                <a:solidFill>
                  <a:srgbClr val="FF0000"/>
                </a:solidFill>
              </a:rPr>
              <a:t>【</a:t>
            </a:r>
            <a:r>
              <a:rPr lang="zh-CN" altLang="en-US" sz="2400" dirty="0">
                <a:solidFill>
                  <a:srgbClr val="FF0000"/>
                </a:solidFill>
              </a:rPr>
              <a:t>案例 </a:t>
            </a:r>
            <a:r>
              <a:rPr lang="en-US" altLang="zh-CN" sz="2400" dirty="0">
                <a:solidFill>
                  <a:srgbClr val="FF0000"/>
                </a:solidFill>
              </a:rPr>
              <a:t>】</a:t>
            </a:r>
            <a:r>
              <a:rPr lang="zh-CN" altLang="en-US" sz="2400" dirty="0"/>
              <a:t>大数据金融监管。中国证监会于</a:t>
            </a:r>
            <a:r>
              <a:rPr lang="en-US" altLang="zh-CN" sz="2400" dirty="0"/>
              <a:t>2013</a:t>
            </a:r>
            <a:r>
              <a:rPr lang="zh-CN" altLang="en-US" sz="2400" dirty="0"/>
              <a:t>年下半年开始启用大数据分析系统，到</a:t>
            </a:r>
            <a:r>
              <a:rPr lang="en-US" altLang="zh-CN" sz="2400" dirty="0"/>
              <a:t>2015</a:t>
            </a:r>
            <a:r>
              <a:rPr lang="zh-CN" altLang="en-US" sz="2400" dirty="0"/>
              <a:t>年</a:t>
            </a:r>
            <a:r>
              <a:rPr lang="en-US" altLang="zh-CN" sz="2400" dirty="0"/>
              <a:t>8</a:t>
            </a:r>
            <a:r>
              <a:rPr lang="zh-CN" altLang="en-US" sz="2400" dirty="0"/>
              <a:t>月，已调查内幕交易线索</a:t>
            </a:r>
            <a:r>
              <a:rPr lang="en-US" altLang="zh-CN" sz="2400" dirty="0"/>
              <a:t>375</a:t>
            </a:r>
            <a:r>
              <a:rPr lang="zh-CN" altLang="en-US" sz="2400" dirty="0"/>
              <a:t>起，立案</a:t>
            </a:r>
            <a:r>
              <a:rPr lang="en-US" altLang="zh-CN" sz="2400" dirty="0"/>
              <a:t>142</a:t>
            </a:r>
            <a:r>
              <a:rPr lang="zh-CN" altLang="en-US" sz="2400" dirty="0"/>
              <a:t>起，分别比以往同期增长了</a:t>
            </a:r>
            <a:r>
              <a:rPr lang="en-US" altLang="zh-CN" sz="2400" dirty="0"/>
              <a:t>21%</a:t>
            </a:r>
            <a:r>
              <a:rPr lang="zh-CN" altLang="en-US" sz="2400" dirty="0"/>
              <a:t>、</a:t>
            </a:r>
            <a:r>
              <a:rPr lang="en-US" altLang="zh-CN" sz="2400" dirty="0"/>
              <a:t>33%</a:t>
            </a:r>
            <a:r>
              <a:rPr lang="zh-CN" altLang="en-US" sz="2400" dirty="0"/>
              <a:t>。上海证监局</a:t>
            </a:r>
            <a:r>
              <a:rPr lang="en-US" altLang="zh-CN" sz="2400" dirty="0"/>
              <a:t>2017</a:t>
            </a:r>
            <a:r>
              <a:rPr lang="zh-CN" altLang="en-US" sz="2400" dirty="0"/>
              <a:t>年以来招聘了大量的大数据研究和挖掘人才，专门模拟不同账户之间的关联，通过无数次的模拟分析找到看似无关，但本质上相关的账户之间的交易关联。</a:t>
            </a:r>
          </a:p>
        </p:txBody>
      </p:sp>
    </p:spTree>
    <p:extLst>
      <p:ext uri="{BB962C8B-B14F-4D97-AF65-F5344CB8AC3E}">
        <p14:creationId xmlns:p14="http://schemas.microsoft.com/office/powerpoint/2010/main" val="1128862541"/>
      </p:ext>
    </p:extLst>
  </p:cSld>
  <p:clrMapOvr>
    <a:masterClrMapping/>
  </p:clrMapOvr>
  <p:transition spd="slow">
    <p:pull/>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6808" y="234362"/>
            <a:ext cx="4518157" cy="523220"/>
          </a:xfrm>
          <a:prstGeom prst="rect">
            <a:avLst/>
          </a:prstGeom>
        </p:spPr>
        <p:txBody>
          <a:bodyPr wrap="square">
            <a:spAutoFit/>
          </a:bodyPr>
          <a:lstStyle/>
          <a:p>
            <a:r>
              <a:rPr lang="zh-CN" alt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a:t>
            </a:r>
            <a:r>
              <a:rPr lang="en-US" altLang="zh-CN"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 </a:t>
            </a:r>
            <a:r>
              <a:rPr lang="zh-CN" alt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大数据的价值和作用</a:t>
            </a:r>
          </a:p>
        </p:txBody>
      </p:sp>
      <p:sp>
        <p:nvSpPr>
          <p:cNvPr id="9" name="文本框 8">
            <a:extLst>
              <a:ext uri="{FF2B5EF4-FFF2-40B4-BE49-F238E27FC236}">
                <a16:creationId xmlns:a16="http://schemas.microsoft.com/office/drawing/2014/main" id="{F3921C29-4633-4194-A01A-76FC28AAEC6E}"/>
              </a:ext>
            </a:extLst>
          </p:cNvPr>
          <p:cNvSpPr txBox="1"/>
          <p:nvPr/>
        </p:nvSpPr>
        <p:spPr>
          <a:xfrm>
            <a:off x="79508" y="988467"/>
            <a:ext cx="8254070" cy="4096634"/>
          </a:xfrm>
          <a:prstGeom prst="rect">
            <a:avLst/>
          </a:prstGeom>
          <a:noFill/>
        </p:spPr>
        <p:txBody>
          <a:bodyPr wrap="square">
            <a:spAutoFit/>
          </a:bodyPr>
          <a:lstStyle/>
          <a:p>
            <a:pPr algn="just">
              <a:lnSpc>
                <a:spcPct val="120000"/>
              </a:lnSpc>
            </a:pPr>
            <a:r>
              <a:rPr lang="zh-CN" altLang="en-US" sz="1800" kern="100" dirty="0">
                <a:latin typeface="+mn-ea"/>
                <a:cs typeface="Times New Roman" panose="02020603050405020304" pitchFamily="18" charset="0"/>
              </a:rPr>
              <a:t>     </a:t>
            </a:r>
            <a:r>
              <a:rPr lang="zh-CN" altLang="en-US" sz="2000" kern="100" dirty="0">
                <a:latin typeface="+mn-ea"/>
                <a:cs typeface="Times New Roman" panose="02020603050405020304" pitchFamily="18" charset="0"/>
              </a:rPr>
              <a:t>对于大数据在若干重要领域的作用，可以简短地总结如下：</a:t>
            </a:r>
          </a:p>
          <a:p>
            <a:pPr marL="342900" indent="342900" algn="just">
              <a:lnSpc>
                <a:spcPct val="120000"/>
              </a:lnSpc>
              <a:buFont typeface="Wingdings" panose="05000000000000000000" pitchFamily="2" charset="2"/>
              <a:buChar char=""/>
            </a:pPr>
            <a:r>
              <a:rPr lang="zh-CN" altLang="en-US" sz="1800" kern="100" dirty="0">
                <a:latin typeface="+mn-ea"/>
                <a:cs typeface="Times New Roman" panose="02020603050405020304" pitchFamily="18" charset="0"/>
              </a:rPr>
              <a:t>医疗大数据</a:t>
            </a:r>
            <a:r>
              <a:rPr lang="en-US" altLang="zh-CN" sz="1800" kern="100" dirty="0">
                <a:latin typeface="+mn-ea"/>
                <a:cs typeface="Times New Roman" panose="02020603050405020304" pitchFamily="18" charset="0"/>
              </a:rPr>
              <a:t>——</a:t>
            </a:r>
            <a:r>
              <a:rPr lang="zh-CN" altLang="en-US" sz="1800" kern="100" dirty="0">
                <a:latin typeface="+mn-ea"/>
                <a:cs typeface="Times New Roman" panose="02020603050405020304" pitchFamily="18" charset="0"/>
              </a:rPr>
              <a:t>看病更高效</a:t>
            </a:r>
          </a:p>
          <a:p>
            <a:pPr marL="342900" indent="342900" algn="just">
              <a:lnSpc>
                <a:spcPct val="120000"/>
              </a:lnSpc>
              <a:buFont typeface="Wingdings" panose="05000000000000000000" pitchFamily="2" charset="2"/>
              <a:buChar char=""/>
            </a:pPr>
            <a:r>
              <a:rPr lang="zh-CN" altLang="en-US" sz="1800" kern="100" dirty="0">
                <a:latin typeface="+mn-ea"/>
                <a:cs typeface="Times New Roman" panose="02020603050405020304" pitchFamily="18" charset="0"/>
              </a:rPr>
              <a:t>生物大</a:t>
            </a:r>
            <a:r>
              <a:rPr lang="zh-CN" altLang="en-US" sz="1800" kern="100">
                <a:latin typeface="+mn-ea"/>
                <a:cs typeface="Times New Roman" panose="02020603050405020304" pitchFamily="18" charset="0"/>
              </a:rPr>
              <a:t>数据</a:t>
            </a:r>
            <a:r>
              <a:rPr lang="en-US" altLang="zh-CN" sz="1800" kern="100">
                <a:latin typeface="+mn-ea"/>
                <a:cs typeface="Times New Roman" panose="02020603050405020304" pitchFamily="18" charset="0"/>
              </a:rPr>
              <a:t>——</a:t>
            </a:r>
            <a:r>
              <a:rPr lang="zh-CN" altLang="en-US" sz="1800" kern="100">
                <a:latin typeface="+mn-ea"/>
                <a:cs typeface="Times New Roman" panose="02020603050405020304" pitchFamily="18" charset="0"/>
              </a:rPr>
              <a:t>改良</a:t>
            </a:r>
            <a:r>
              <a:rPr lang="zh-CN" altLang="en-US" sz="1800" kern="100" dirty="0">
                <a:latin typeface="+mn-ea"/>
                <a:cs typeface="Times New Roman" panose="02020603050405020304" pitchFamily="18" charset="0"/>
              </a:rPr>
              <a:t>基因</a:t>
            </a:r>
          </a:p>
          <a:p>
            <a:pPr marL="342900" indent="342900" algn="just">
              <a:lnSpc>
                <a:spcPct val="120000"/>
              </a:lnSpc>
              <a:buFont typeface="Wingdings" panose="05000000000000000000" pitchFamily="2" charset="2"/>
              <a:buChar char=""/>
            </a:pPr>
            <a:r>
              <a:rPr lang="zh-CN" altLang="en-US" sz="1800" kern="100" dirty="0">
                <a:latin typeface="+mn-ea"/>
                <a:cs typeface="Times New Roman" panose="02020603050405020304" pitchFamily="18" charset="0"/>
              </a:rPr>
              <a:t>金融大数据</a:t>
            </a:r>
            <a:r>
              <a:rPr lang="en-US" altLang="zh-CN" sz="1800" kern="100" dirty="0">
                <a:latin typeface="+mn-ea"/>
                <a:cs typeface="Times New Roman" panose="02020603050405020304" pitchFamily="18" charset="0"/>
              </a:rPr>
              <a:t>——</a:t>
            </a:r>
            <a:r>
              <a:rPr lang="zh-CN" altLang="en-US" sz="1800" kern="100" dirty="0">
                <a:latin typeface="+mn-ea"/>
                <a:cs typeface="Times New Roman" panose="02020603050405020304" pitchFamily="18" charset="0"/>
              </a:rPr>
              <a:t>理财的利器</a:t>
            </a:r>
          </a:p>
          <a:p>
            <a:pPr marL="342900" indent="342900" algn="just">
              <a:lnSpc>
                <a:spcPct val="120000"/>
              </a:lnSpc>
              <a:buFont typeface="Wingdings" panose="05000000000000000000" pitchFamily="2" charset="2"/>
              <a:buChar char=""/>
            </a:pPr>
            <a:r>
              <a:rPr lang="zh-CN" altLang="en-US" sz="1800" kern="100" dirty="0">
                <a:latin typeface="+mn-ea"/>
                <a:cs typeface="Times New Roman" panose="02020603050405020304" pitchFamily="18" charset="0"/>
              </a:rPr>
              <a:t>零售大数据</a:t>
            </a:r>
            <a:r>
              <a:rPr lang="en-US" altLang="zh-CN" sz="1800" kern="100" dirty="0">
                <a:latin typeface="+mn-ea"/>
                <a:cs typeface="Times New Roman" panose="02020603050405020304" pitchFamily="18" charset="0"/>
              </a:rPr>
              <a:t>——</a:t>
            </a:r>
            <a:r>
              <a:rPr lang="zh-CN" altLang="en-US" sz="1800" kern="100" dirty="0">
                <a:latin typeface="+mn-ea"/>
                <a:cs typeface="Times New Roman" panose="02020603050405020304" pitchFamily="18" charset="0"/>
              </a:rPr>
              <a:t>了解消费者</a:t>
            </a:r>
          </a:p>
          <a:p>
            <a:pPr marL="342900" indent="342900" algn="just">
              <a:lnSpc>
                <a:spcPct val="120000"/>
              </a:lnSpc>
              <a:buFont typeface="Wingdings" panose="05000000000000000000" pitchFamily="2" charset="2"/>
              <a:buChar char=""/>
            </a:pPr>
            <a:r>
              <a:rPr lang="zh-CN" altLang="en-US" sz="1800" kern="100" dirty="0">
                <a:latin typeface="+mn-ea"/>
                <a:cs typeface="Times New Roman" panose="02020603050405020304" pitchFamily="18" charset="0"/>
              </a:rPr>
              <a:t>电商大数据</a:t>
            </a:r>
            <a:r>
              <a:rPr lang="en-US" altLang="zh-CN" sz="1800" kern="100" dirty="0">
                <a:latin typeface="+mn-ea"/>
                <a:cs typeface="Times New Roman" panose="02020603050405020304" pitchFamily="18" charset="0"/>
              </a:rPr>
              <a:t>——</a:t>
            </a:r>
            <a:r>
              <a:rPr lang="zh-CN" altLang="en-US" sz="1800" kern="100" dirty="0">
                <a:latin typeface="+mn-ea"/>
                <a:cs typeface="Times New Roman" panose="02020603050405020304" pitchFamily="18" charset="0"/>
              </a:rPr>
              <a:t>精准营销的法宝</a:t>
            </a:r>
          </a:p>
          <a:p>
            <a:pPr marL="342900" indent="342900" algn="just">
              <a:lnSpc>
                <a:spcPct val="120000"/>
              </a:lnSpc>
              <a:buFont typeface="Wingdings" panose="05000000000000000000" pitchFamily="2" charset="2"/>
              <a:buChar char=""/>
            </a:pPr>
            <a:r>
              <a:rPr lang="zh-CN" altLang="en-US" sz="1800" kern="100" dirty="0">
                <a:latin typeface="+mn-ea"/>
                <a:cs typeface="Times New Roman" panose="02020603050405020304" pitchFamily="18" charset="0"/>
              </a:rPr>
              <a:t>农牧大数据</a:t>
            </a:r>
            <a:r>
              <a:rPr lang="en-US" altLang="zh-CN" sz="1800" kern="100" dirty="0">
                <a:latin typeface="+mn-ea"/>
                <a:cs typeface="Times New Roman" panose="02020603050405020304" pitchFamily="18" charset="0"/>
              </a:rPr>
              <a:t>——</a:t>
            </a:r>
            <a:r>
              <a:rPr lang="zh-CN" altLang="en-US" sz="1800" kern="100" dirty="0">
                <a:latin typeface="+mn-ea"/>
                <a:cs typeface="Times New Roman" panose="02020603050405020304" pitchFamily="18" charset="0"/>
              </a:rPr>
              <a:t>量化生产</a:t>
            </a:r>
          </a:p>
          <a:p>
            <a:pPr marL="342900" indent="342900" algn="just">
              <a:lnSpc>
                <a:spcPct val="120000"/>
              </a:lnSpc>
              <a:buFont typeface="Wingdings" panose="05000000000000000000" pitchFamily="2" charset="2"/>
              <a:buChar char=""/>
            </a:pPr>
            <a:r>
              <a:rPr lang="zh-CN" altLang="en-US" sz="1800" kern="100" dirty="0">
                <a:latin typeface="+mn-ea"/>
                <a:cs typeface="Times New Roman" panose="02020603050405020304" pitchFamily="18" charset="0"/>
              </a:rPr>
              <a:t>交通大数据</a:t>
            </a:r>
            <a:r>
              <a:rPr lang="en-US" altLang="zh-CN" sz="1800" kern="100" dirty="0">
                <a:latin typeface="+mn-ea"/>
                <a:cs typeface="Times New Roman" panose="02020603050405020304" pitchFamily="18" charset="0"/>
              </a:rPr>
              <a:t>——</a:t>
            </a:r>
            <a:r>
              <a:rPr lang="zh-CN" altLang="en-US" sz="1800" kern="100" dirty="0">
                <a:latin typeface="+mn-ea"/>
                <a:cs typeface="Times New Roman" panose="02020603050405020304" pitchFamily="18" charset="0"/>
              </a:rPr>
              <a:t>畅通出行</a:t>
            </a:r>
            <a:endParaRPr lang="en-US" altLang="zh-CN" sz="1800" kern="100" dirty="0">
              <a:latin typeface="+mn-ea"/>
              <a:cs typeface="Times New Roman" panose="02020603050405020304" pitchFamily="18" charset="0"/>
            </a:endParaRPr>
          </a:p>
          <a:p>
            <a:pPr marL="342900" lvl="0" indent="342900" algn="just">
              <a:lnSpc>
                <a:spcPct val="120000"/>
              </a:lnSpc>
              <a:buFont typeface="Wingdings" panose="05000000000000000000" pitchFamily="2" charset="2"/>
              <a:buChar char=""/>
            </a:pPr>
            <a:r>
              <a:rPr lang="zh-CN" altLang="zh-CN" sz="1800" kern="100" dirty="0">
                <a:latin typeface="+mn-ea"/>
                <a:cs typeface="Times New Roman" panose="02020603050405020304" pitchFamily="18" charset="0"/>
              </a:rPr>
              <a:t>教育大数据——因材施教</a:t>
            </a:r>
          </a:p>
          <a:p>
            <a:pPr marL="342900" lvl="0" indent="342900" algn="just">
              <a:lnSpc>
                <a:spcPct val="120000"/>
              </a:lnSpc>
              <a:buFont typeface="Wingdings" panose="05000000000000000000" pitchFamily="2" charset="2"/>
              <a:buChar char=""/>
            </a:pPr>
            <a:r>
              <a:rPr lang="zh-CN" altLang="zh-CN" sz="1800" kern="100" dirty="0">
                <a:effectLst/>
                <a:latin typeface="+mn-ea"/>
                <a:cs typeface="Times New Roman" panose="02020603050405020304" pitchFamily="18" charset="0"/>
              </a:rPr>
              <a:t>体育大数据——夺冠精灵</a:t>
            </a:r>
          </a:p>
          <a:p>
            <a:pPr marL="342900" lvl="0" indent="342900" algn="just">
              <a:lnSpc>
                <a:spcPct val="120000"/>
              </a:lnSpc>
              <a:buFont typeface="Wingdings" panose="05000000000000000000" pitchFamily="2" charset="2"/>
              <a:buChar char=""/>
            </a:pPr>
            <a:r>
              <a:rPr lang="zh-CN" altLang="zh-CN" sz="1800" kern="100" dirty="0">
                <a:effectLst/>
                <a:latin typeface="+mn-ea"/>
                <a:cs typeface="Times New Roman" panose="02020603050405020304" pitchFamily="18" charset="0"/>
              </a:rPr>
              <a:t>食品大数据——安全饮食的保护伞</a:t>
            </a:r>
          </a:p>
          <a:p>
            <a:pPr marL="342900" lvl="0" indent="342900" algn="just">
              <a:lnSpc>
                <a:spcPct val="120000"/>
              </a:lnSpc>
              <a:buFont typeface="Wingdings" panose="05000000000000000000" pitchFamily="2" charset="2"/>
              <a:buChar char=""/>
            </a:pPr>
            <a:r>
              <a:rPr lang="zh-CN" altLang="zh-CN" sz="1800" kern="100" dirty="0">
                <a:effectLst/>
                <a:latin typeface="+mn-ea"/>
                <a:cs typeface="Times New Roman" panose="02020603050405020304" pitchFamily="18" charset="0"/>
              </a:rPr>
              <a:t>政府大数据——改进社会服务</a:t>
            </a:r>
          </a:p>
        </p:txBody>
      </p:sp>
      <p:sp>
        <p:nvSpPr>
          <p:cNvPr id="10" name="五边形 9">
            <a:extLst>
              <a:ext uri="{FF2B5EF4-FFF2-40B4-BE49-F238E27FC236}">
                <a16:creationId xmlns:a16="http://schemas.microsoft.com/office/drawing/2014/main" id="{292F1702-1DDA-4942-8AB4-012947DCB44C}"/>
              </a:ext>
            </a:extLst>
          </p:cNvPr>
          <p:cNvSpPr/>
          <p:nvPr/>
        </p:nvSpPr>
        <p:spPr>
          <a:xfrm>
            <a:off x="5796136" y="1817214"/>
            <a:ext cx="2592288" cy="2311129"/>
          </a:xfrm>
          <a:prstGeom prst="pent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bg1"/>
                </a:solidFill>
              </a:rPr>
              <a:t>讨论</a:t>
            </a:r>
            <a:endParaRPr lang="en-US" altLang="zh-CN" sz="2400" b="1" dirty="0">
              <a:solidFill>
                <a:schemeClr val="bg1"/>
              </a:solidFill>
            </a:endParaRPr>
          </a:p>
          <a:p>
            <a:pPr algn="ctr"/>
            <a:endParaRPr lang="en-US" altLang="zh-CN" sz="1000" b="1" dirty="0">
              <a:solidFill>
                <a:schemeClr val="bg1"/>
              </a:solidFill>
            </a:endParaRPr>
          </a:p>
          <a:p>
            <a:pPr algn="ctr"/>
            <a:r>
              <a:rPr lang="zh-CN" altLang="en-US" sz="1400" b="1">
                <a:solidFill>
                  <a:schemeClr val="bg1"/>
                </a:solidFill>
              </a:rPr>
              <a:t>同学们谈谈</a:t>
            </a:r>
            <a:r>
              <a:rPr lang="zh-CN" altLang="en-US" sz="1400" b="1" dirty="0">
                <a:solidFill>
                  <a:schemeClr val="bg1"/>
                </a:solidFill>
              </a:rPr>
              <a:t>大数据的作用</a:t>
            </a:r>
            <a:endParaRPr lang="zh-CN" altLang="en-US" sz="1400" b="1" dirty="0"/>
          </a:p>
        </p:txBody>
      </p:sp>
    </p:spTree>
  </p:cSld>
  <p:clrMapOvr>
    <a:masterClrMapping/>
  </p:clrMapOvr>
  <p:transition spd="slow">
    <p:pull/>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2624" y="0"/>
            <a:ext cx="9141291" cy="5143500"/>
          </a:xfrm>
          <a:prstGeom prst="rect">
            <a:avLst/>
          </a:prstGeom>
        </p:spPr>
      </p:pic>
      <p:grpSp>
        <p:nvGrpSpPr>
          <p:cNvPr id="32" name="组合 14"/>
          <p:cNvGrpSpPr/>
          <p:nvPr/>
        </p:nvGrpSpPr>
        <p:grpSpPr bwMode="auto">
          <a:xfrm>
            <a:off x="1940560" y="2411912"/>
            <a:ext cx="5222240" cy="96338"/>
            <a:chOff x="3649980" y="3375660"/>
            <a:chExt cx="4638285" cy="108000"/>
          </a:xfrm>
        </p:grpSpPr>
        <p:cxnSp>
          <p:nvCxnSpPr>
            <p:cNvPr id="33" name="直接连接符 32"/>
            <p:cNvCxnSpPr/>
            <p:nvPr/>
          </p:nvCxnSpPr>
          <p:spPr>
            <a:xfrm>
              <a:off x="3734134" y="3429660"/>
              <a:ext cx="449513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3649980"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5" name="椭圆 34"/>
            <p:cNvSpPr/>
            <p:nvPr/>
          </p:nvSpPr>
          <p:spPr>
            <a:xfrm>
              <a:off x="8205448"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36" name="文本框 35"/>
          <p:cNvSpPr txBox="1"/>
          <p:nvPr/>
        </p:nvSpPr>
        <p:spPr>
          <a:xfrm>
            <a:off x="1940560" y="1654175"/>
            <a:ext cx="6555105" cy="645160"/>
          </a:xfrm>
          <a:prstGeom prst="rect">
            <a:avLst/>
          </a:prstGeom>
          <a:noFill/>
        </p:spPr>
        <p:txBody>
          <a:bodyPr wrap="square">
            <a:spAutoFit/>
          </a:bodyPr>
          <a:lstStyle/>
          <a:p>
            <a:r>
              <a:rPr lang="zh-CN" altLang="en-US" sz="3600" b="1" dirty="0">
                <a:solidFill>
                  <a:srgbClr val="FFC000"/>
                </a:solidFill>
                <a:effectLst>
                  <a:outerShdw blurRad="38100" dist="38100" dir="2700000" algn="tl">
                    <a:srgbClr val="000000">
                      <a:alpha val="43137"/>
                    </a:srgbClr>
                  </a:outerShdw>
                </a:effectLst>
                <a:latin typeface="IrisUPC" panose="020B0604020202020204" pitchFamily="34" charset="-34"/>
                <a:ea typeface="微软雅黑" panose="020B0503020204020204" pitchFamily="34" charset="-122"/>
                <a:cs typeface="IrisUPC" panose="020B0604020202020204" pitchFamily="34" charset="-34"/>
              </a:rPr>
              <a:t>数据带来的思维方式变革</a:t>
            </a:r>
          </a:p>
        </p:txBody>
      </p:sp>
      <p:sp>
        <p:nvSpPr>
          <p:cNvPr id="41" name="文本框 40"/>
          <p:cNvSpPr txBox="1">
            <a:spLocks noChangeArrowheads="1"/>
          </p:cNvSpPr>
          <p:nvPr/>
        </p:nvSpPr>
        <p:spPr bwMode="auto">
          <a:xfrm>
            <a:off x="511044" y="1508897"/>
            <a:ext cx="1698527" cy="922020"/>
          </a:xfrm>
          <a:prstGeom prst="rect">
            <a:avLst/>
          </a:prstGeom>
          <a:noFill/>
          <a:ln w="9525">
            <a:noFill/>
            <a:miter lim="800000"/>
          </a:ln>
        </p:spPr>
        <p:txBody>
          <a:bodyPr wrap="square">
            <a:spAutoFit/>
          </a:bodyPr>
          <a:lstStyle/>
          <a:p>
            <a:pPr algn="ctr"/>
            <a:r>
              <a:rPr lang="en-US" altLang="zh-CN" sz="5400" dirty="0">
                <a:solidFill>
                  <a:srgbClr val="00B0F0"/>
                </a:solidFill>
                <a:latin typeface="微软雅黑" panose="020B0503020204020204" pitchFamily="34" charset="-122"/>
                <a:ea typeface="微软雅黑" panose="020B0503020204020204" pitchFamily="34" charset="-122"/>
                <a:cs typeface="IrisUPC" panose="020B0604020202020204" pitchFamily="34" charset="-34"/>
              </a:rPr>
              <a:t>1.3</a:t>
            </a:r>
          </a:p>
        </p:txBody>
      </p:sp>
    </p:spTree>
    <p:extLst>
      <p:ext uri="{BB962C8B-B14F-4D97-AF65-F5344CB8AC3E}">
        <p14:creationId xmlns:p14="http://schemas.microsoft.com/office/powerpoint/2010/main" val="299436855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40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par>
                          <p:cTn id="8" fill="hold">
                            <p:stCondLst>
                              <p:cond delay="900"/>
                            </p:stCondLst>
                            <p:childTnLst>
                              <p:par>
                                <p:cTn id="9" presetID="12" presetClass="entr" presetSubtype="4"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p:tgtEl>
                                          <p:spTgt spid="36"/>
                                        </p:tgtEl>
                                        <p:attrNameLst>
                                          <p:attrName>ppt_y</p:attrName>
                                        </p:attrNameLst>
                                      </p:cBhvr>
                                      <p:tavLst>
                                        <p:tav tm="0">
                                          <p:val>
                                            <p:strVal val="#ppt_y+#ppt_h*1.125000"/>
                                          </p:val>
                                        </p:tav>
                                        <p:tav tm="100000">
                                          <p:val>
                                            <p:strVal val="#ppt_y"/>
                                          </p:val>
                                        </p:tav>
                                      </p:tavLst>
                                    </p:anim>
                                    <p:animEffect transition="in" filter="wipe(up)">
                                      <p:cBhvr>
                                        <p:cTn id="12" dur="500"/>
                                        <p:tgtEl>
                                          <p:spTgt spid="36"/>
                                        </p:tgtEl>
                                      </p:cBhvr>
                                    </p:animEffect>
                                  </p:childTnLst>
                                </p:cTn>
                              </p:par>
                              <p:par>
                                <p:cTn id="13" presetID="2" presetClass="entr" presetSubtype="8"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0-#ppt_w/2"/>
                                          </p:val>
                                        </p:tav>
                                        <p:tav tm="100000">
                                          <p:val>
                                            <p:strVal val="#ppt_x"/>
                                          </p:val>
                                        </p:tav>
                                      </p:tavLst>
                                    </p:anim>
                                    <p:anim calcmode="lin" valueType="num">
                                      <p:cBhvr additive="base">
                                        <p:cTn id="16" dur="500" fill="hold"/>
                                        <p:tgtEl>
                                          <p:spTgt spid="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6808" y="234362"/>
            <a:ext cx="5661157" cy="523220"/>
          </a:xfrm>
          <a:prstGeom prst="rect">
            <a:avLst/>
          </a:prstGeom>
        </p:spPr>
        <p:txBody>
          <a:bodyPr wrap="square">
            <a:spAutoFit/>
          </a:bodyPr>
          <a:lstStyle/>
          <a:p>
            <a:r>
              <a:rPr lang="en-US" altLang="zh-CN"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a:t>
            </a:r>
            <a:r>
              <a:rPr lang="zh-CN" alt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en-US" altLang="zh-CN"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3 </a:t>
            </a:r>
            <a:r>
              <a:rPr lang="zh-CN" alt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大数据带来的思维方式变革</a:t>
            </a:r>
          </a:p>
        </p:txBody>
      </p:sp>
      <p:sp>
        <p:nvSpPr>
          <p:cNvPr id="6" name="文本框 5">
            <a:extLst>
              <a:ext uri="{FF2B5EF4-FFF2-40B4-BE49-F238E27FC236}">
                <a16:creationId xmlns:a16="http://schemas.microsoft.com/office/drawing/2014/main" id="{A5DEFE2F-0A82-4C26-8B72-40FC566F0749}"/>
              </a:ext>
            </a:extLst>
          </p:cNvPr>
          <p:cNvSpPr txBox="1"/>
          <p:nvPr/>
        </p:nvSpPr>
        <p:spPr>
          <a:xfrm>
            <a:off x="588596" y="1059582"/>
            <a:ext cx="8472854" cy="3062377"/>
          </a:xfrm>
          <a:prstGeom prst="rect">
            <a:avLst/>
          </a:prstGeom>
          <a:noFill/>
        </p:spPr>
        <p:txBody>
          <a:bodyPr wrap="square">
            <a:spAutoFit/>
          </a:bodyPr>
          <a:lstStyle/>
          <a:p>
            <a:pPr>
              <a:spcBef>
                <a:spcPts val="600"/>
              </a:spcBef>
            </a:pPr>
            <a:r>
              <a:rPr lang="zh-CN" altLang="en-US" sz="2400" dirty="0"/>
              <a:t>        大数据时代要关注三大变革：</a:t>
            </a:r>
            <a:endParaRPr lang="en-US" altLang="zh-CN" sz="2400" dirty="0"/>
          </a:p>
          <a:p>
            <a:pPr>
              <a:spcBef>
                <a:spcPts val="600"/>
              </a:spcBef>
            </a:pPr>
            <a:r>
              <a:rPr lang="zh-CN" altLang="en-US" sz="2400" dirty="0"/>
              <a:t>      （</a:t>
            </a:r>
            <a:r>
              <a:rPr lang="en-US" altLang="zh-CN" sz="2400" dirty="0"/>
              <a:t>1</a:t>
            </a:r>
            <a:r>
              <a:rPr lang="zh-CN" altLang="en-US" sz="2400" dirty="0"/>
              <a:t>）处理数据理念的思维变革</a:t>
            </a:r>
            <a:endParaRPr lang="en-US" altLang="zh-CN" sz="2400" dirty="0"/>
          </a:p>
          <a:p>
            <a:pPr>
              <a:spcBef>
                <a:spcPts val="600"/>
              </a:spcBef>
            </a:pPr>
            <a:r>
              <a:rPr lang="zh-CN" altLang="en-US" sz="2400" dirty="0"/>
              <a:t>      （</a:t>
            </a:r>
            <a:r>
              <a:rPr lang="en-US" altLang="zh-CN" sz="2400" dirty="0"/>
              <a:t>2</a:t>
            </a:r>
            <a:r>
              <a:rPr lang="zh-CN" altLang="en-US" sz="2400" dirty="0"/>
              <a:t>）挖掘数据价值的商业变革</a:t>
            </a:r>
            <a:endParaRPr lang="en-US" altLang="zh-CN" sz="2400" dirty="0"/>
          </a:p>
          <a:p>
            <a:pPr>
              <a:spcBef>
                <a:spcPts val="600"/>
              </a:spcBef>
            </a:pPr>
            <a:r>
              <a:rPr lang="zh-CN" altLang="en-US" sz="2400" dirty="0"/>
              <a:t>      （</a:t>
            </a:r>
            <a:r>
              <a:rPr lang="en-US" altLang="zh-CN" sz="2400" dirty="0"/>
              <a:t>3</a:t>
            </a:r>
            <a:r>
              <a:rPr lang="zh-CN" altLang="en-US" sz="2400" dirty="0"/>
              <a:t>）面对数据风险的管理变革</a:t>
            </a:r>
            <a:endParaRPr lang="en-US" altLang="zh-CN" sz="2400" dirty="0"/>
          </a:p>
          <a:p>
            <a:pPr>
              <a:spcBef>
                <a:spcPts val="600"/>
              </a:spcBef>
            </a:pPr>
            <a:r>
              <a:rPr lang="en-US" altLang="zh-CN" sz="2400" dirty="0"/>
              <a:t>         </a:t>
            </a:r>
          </a:p>
          <a:p>
            <a:pPr>
              <a:spcBef>
                <a:spcPts val="600"/>
              </a:spcBef>
            </a:pPr>
            <a:r>
              <a:rPr lang="en-US" altLang="zh-CN" sz="2400" dirty="0"/>
              <a:t>        </a:t>
            </a:r>
            <a:r>
              <a:rPr lang="zh-CN" altLang="en-US" sz="2400" dirty="0"/>
              <a:t>其中，对于大数据时代带来的处理数据理念的思维模式转变，舍恩伯格提出了三个常著名的观点。</a:t>
            </a:r>
          </a:p>
        </p:txBody>
      </p:sp>
    </p:spTree>
  </p:cSld>
  <p:clrMapOvr>
    <a:masterClrMapping/>
  </p:clrMapOvr>
  <p:transition spd="slow">
    <p:pull/>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6808" y="234362"/>
            <a:ext cx="5661157" cy="523220"/>
          </a:xfrm>
          <a:prstGeom prst="rect">
            <a:avLst/>
          </a:prstGeom>
        </p:spPr>
        <p:txBody>
          <a:bodyPr wrap="square">
            <a:spAutoFit/>
          </a:bodyPr>
          <a:lstStyle/>
          <a:p>
            <a:r>
              <a:rPr lang="zh-CN" alt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大数据带来的思维方式变革</a:t>
            </a:r>
          </a:p>
        </p:txBody>
      </p:sp>
      <p:sp>
        <p:nvSpPr>
          <p:cNvPr id="4" name="文本框 3">
            <a:extLst>
              <a:ext uri="{FF2B5EF4-FFF2-40B4-BE49-F238E27FC236}">
                <a16:creationId xmlns:a16="http://schemas.microsoft.com/office/drawing/2014/main" id="{5B106B73-8C0F-44C9-9439-602FD93EBCD7}"/>
              </a:ext>
            </a:extLst>
          </p:cNvPr>
          <p:cNvSpPr txBox="1"/>
          <p:nvPr/>
        </p:nvSpPr>
        <p:spPr>
          <a:xfrm>
            <a:off x="514711" y="1631318"/>
            <a:ext cx="8208912" cy="3277820"/>
          </a:xfrm>
          <a:prstGeom prst="rect">
            <a:avLst/>
          </a:prstGeom>
          <a:noFill/>
        </p:spPr>
        <p:txBody>
          <a:bodyPr wrap="square">
            <a:spAutoFit/>
          </a:bodyPr>
          <a:lstStyle/>
          <a:p>
            <a:pPr>
              <a:spcBef>
                <a:spcPts val="600"/>
              </a:spcBef>
            </a:pPr>
            <a:r>
              <a:rPr lang="en-US" altLang="zh-CN" sz="2400" dirty="0"/>
              <a:t>        </a:t>
            </a:r>
            <a:r>
              <a:rPr lang="zh-CN" altLang="zh-CN" sz="2400" dirty="0"/>
              <a:t>在过去，由于收集、储存和分析数据的技术落后，对大量数据的收集成本非常高昂，我们只能收集少量的数据进行分析。在大数据时代，可以获取足够大的数据样本乃至全体数据。抽样采用的不合理会导致预测结果的偏差，在大数据时代，依靠强大的数据处理能力，应该去处理所有数据。</a:t>
            </a:r>
          </a:p>
          <a:p>
            <a:pPr>
              <a:spcBef>
                <a:spcPts val="600"/>
              </a:spcBef>
            </a:pPr>
            <a:endParaRPr lang="en-US" altLang="zh-CN" sz="2400" dirty="0">
              <a:solidFill>
                <a:srgbClr val="FF0000"/>
              </a:solidFill>
            </a:endParaRPr>
          </a:p>
          <a:p>
            <a:pPr algn="ctr">
              <a:spcBef>
                <a:spcPts val="600"/>
              </a:spcBef>
            </a:pPr>
            <a:r>
              <a:rPr lang="en-US" altLang="zh-CN" sz="2400" dirty="0">
                <a:solidFill>
                  <a:srgbClr val="FF0000"/>
                </a:solidFill>
              </a:rPr>
              <a:t>【</a:t>
            </a:r>
            <a:r>
              <a:rPr lang="zh-CN" altLang="en-US" sz="2400" dirty="0">
                <a:solidFill>
                  <a:srgbClr val="FF0000"/>
                </a:solidFill>
              </a:rPr>
              <a:t>案例 </a:t>
            </a:r>
            <a:r>
              <a:rPr lang="en-US" altLang="zh-CN" sz="2400" dirty="0">
                <a:solidFill>
                  <a:srgbClr val="FF0000"/>
                </a:solidFill>
              </a:rPr>
              <a:t>】 </a:t>
            </a:r>
            <a:r>
              <a:rPr lang="en-US" altLang="zh-CN" sz="2400" dirty="0" err="1">
                <a:solidFill>
                  <a:srgbClr val="FF0000"/>
                </a:solidFill>
              </a:rPr>
              <a:t>Farecast</a:t>
            </a:r>
            <a:r>
              <a:rPr lang="zh-CN" altLang="en-US" sz="2400" dirty="0">
                <a:solidFill>
                  <a:srgbClr val="FF0000"/>
                </a:solidFill>
              </a:rPr>
              <a:t>系统用大数据预测机票价格</a:t>
            </a:r>
          </a:p>
          <a:p>
            <a:pPr>
              <a:spcBef>
                <a:spcPts val="600"/>
              </a:spcBef>
            </a:pPr>
            <a:r>
              <a:rPr lang="en-US" altLang="zh-CN" sz="2400" dirty="0"/>
              <a:t>         </a:t>
            </a:r>
            <a:endParaRPr lang="zh-CN" altLang="en-US" sz="2400" dirty="0"/>
          </a:p>
        </p:txBody>
      </p:sp>
      <p:sp>
        <p:nvSpPr>
          <p:cNvPr id="5" name="文本框 4">
            <a:extLst>
              <a:ext uri="{FF2B5EF4-FFF2-40B4-BE49-F238E27FC236}">
                <a16:creationId xmlns:a16="http://schemas.microsoft.com/office/drawing/2014/main" id="{CD4B0760-1A73-4ABA-9B02-F793CF5BB7D6}"/>
              </a:ext>
            </a:extLst>
          </p:cNvPr>
          <p:cNvSpPr txBox="1"/>
          <p:nvPr/>
        </p:nvSpPr>
        <p:spPr>
          <a:xfrm>
            <a:off x="557585" y="1080178"/>
            <a:ext cx="4597636" cy="523220"/>
          </a:xfrm>
          <a:prstGeom prst="rect">
            <a:avLst/>
          </a:prstGeom>
          <a:noFill/>
        </p:spPr>
        <p:txBody>
          <a:bodyPr wrap="square">
            <a:spAutoFit/>
          </a:bodyPr>
          <a:lstStyle/>
          <a:p>
            <a:r>
              <a:rPr lang="en-US" altLang="zh-CN" sz="2800" dirty="0">
                <a:solidFill>
                  <a:srgbClr val="FF0000"/>
                </a:solidFill>
              </a:rPr>
              <a:t>       </a:t>
            </a:r>
            <a:r>
              <a:rPr lang="en-US" altLang="zh-CN" sz="2800" b="1" dirty="0">
                <a:solidFill>
                  <a:srgbClr val="FF0000"/>
                </a:solidFill>
              </a:rPr>
              <a:t>1.</a:t>
            </a:r>
            <a:r>
              <a:rPr lang="zh-CN" altLang="en-US" sz="2800" b="1" dirty="0">
                <a:solidFill>
                  <a:srgbClr val="FF0000"/>
                </a:solidFill>
              </a:rPr>
              <a:t>要全体，不要抽样</a:t>
            </a:r>
          </a:p>
        </p:txBody>
      </p:sp>
    </p:spTree>
    <p:extLst>
      <p:ext uri="{BB962C8B-B14F-4D97-AF65-F5344CB8AC3E}">
        <p14:creationId xmlns:p14="http://schemas.microsoft.com/office/powerpoint/2010/main" val="4016058189"/>
      </p:ext>
    </p:extLst>
  </p:cSld>
  <p:clrMapOvr>
    <a:masterClrMapping/>
  </p:clrMapOvr>
  <p:transition spd="slow">
    <p:pull/>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6808" y="234362"/>
            <a:ext cx="5661157" cy="523220"/>
          </a:xfrm>
          <a:prstGeom prst="rect">
            <a:avLst/>
          </a:prstGeom>
        </p:spPr>
        <p:txBody>
          <a:bodyPr wrap="square">
            <a:spAutoFit/>
          </a:bodyPr>
          <a:lstStyle/>
          <a:p>
            <a:r>
              <a:rPr lang="zh-CN" alt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大数据带来的思维方式变革</a:t>
            </a:r>
          </a:p>
        </p:txBody>
      </p:sp>
      <p:sp>
        <p:nvSpPr>
          <p:cNvPr id="6" name="文本框 5">
            <a:extLst>
              <a:ext uri="{FF2B5EF4-FFF2-40B4-BE49-F238E27FC236}">
                <a16:creationId xmlns:a16="http://schemas.microsoft.com/office/drawing/2014/main" id="{82A16AA0-8D95-44A1-BE57-9B9CEB2124EE}"/>
              </a:ext>
            </a:extLst>
          </p:cNvPr>
          <p:cNvSpPr txBox="1"/>
          <p:nvPr/>
        </p:nvSpPr>
        <p:spPr>
          <a:xfrm>
            <a:off x="424670" y="1392020"/>
            <a:ext cx="8294659" cy="3308598"/>
          </a:xfrm>
          <a:prstGeom prst="rect">
            <a:avLst/>
          </a:prstGeom>
          <a:noFill/>
        </p:spPr>
        <p:txBody>
          <a:bodyPr wrap="square">
            <a:spAutoFit/>
          </a:bodyPr>
          <a:lstStyle/>
          <a:p>
            <a:r>
              <a:rPr lang="en-US" altLang="zh-CN" sz="2000" dirty="0"/>
              <a:t>        </a:t>
            </a:r>
            <a:r>
              <a:rPr lang="zh-CN" altLang="zh-CN" sz="2000" dirty="0"/>
              <a:t>因果分析和相关分析是人们认识、了解世界最重要的手段和方法。</a:t>
            </a:r>
            <a:endParaRPr lang="en-US" altLang="zh-CN" sz="2000" dirty="0"/>
          </a:p>
          <a:p>
            <a:r>
              <a:rPr lang="en-US" altLang="zh-CN" sz="2000" dirty="0"/>
              <a:t>        </a:t>
            </a:r>
            <a:r>
              <a:rPr lang="zh-CN" altLang="zh-CN" sz="2000" b="1" dirty="0">
                <a:solidFill>
                  <a:srgbClr val="FF0000"/>
                </a:solidFill>
              </a:rPr>
              <a:t>因果关系</a:t>
            </a:r>
            <a:r>
              <a:rPr lang="zh-CN" altLang="zh-CN" sz="2000" dirty="0"/>
              <a:t>，即某种现象（原因）引起了另一种现象（结果），其原因和结果必须同时具有必然的联系。</a:t>
            </a:r>
            <a:endParaRPr lang="en-US" altLang="zh-CN" sz="2000" dirty="0"/>
          </a:p>
          <a:p>
            <a:r>
              <a:rPr lang="en-US" altLang="zh-CN" sz="2000" dirty="0"/>
              <a:t>       </a:t>
            </a:r>
            <a:r>
              <a:rPr lang="zh-CN" altLang="zh-CN" sz="2000" b="1" dirty="0">
                <a:solidFill>
                  <a:srgbClr val="FF0000"/>
                </a:solidFill>
              </a:rPr>
              <a:t>相关关系</a:t>
            </a:r>
            <a:r>
              <a:rPr lang="zh-CN" altLang="zh-CN" sz="2000" dirty="0"/>
              <a:t>分析是从大量数据中通过频繁模式的挖掘，发现事物之间有趣的关联和相关联系，然而该分析方法通常面临数据量不足的问题。</a:t>
            </a:r>
          </a:p>
          <a:p>
            <a:r>
              <a:rPr lang="en-US" altLang="zh-CN" sz="2000" dirty="0"/>
              <a:t>        </a:t>
            </a:r>
            <a:r>
              <a:rPr lang="zh-CN" altLang="zh-CN" sz="2000" dirty="0"/>
              <a:t>在大数据时代，由于已经获取到了大量的数据，建立在相关关系分析法上面的预测成为大数据的核心。如果</a:t>
            </a:r>
            <a:r>
              <a:rPr lang="en-US" altLang="zh-CN" sz="2000" dirty="0"/>
              <a:t>A</a:t>
            </a:r>
            <a:r>
              <a:rPr lang="zh-CN" altLang="zh-CN" sz="2000" dirty="0"/>
              <a:t>事件和</a:t>
            </a:r>
            <a:r>
              <a:rPr lang="en-US" altLang="zh-CN" sz="2000" dirty="0"/>
              <a:t>B</a:t>
            </a:r>
            <a:r>
              <a:rPr lang="zh-CN" altLang="zh-CN" sz="2000" dirty="0"/>
              <a:t>事件经常一起发生，那么当</a:t>
            </a:r>
            <a:r>
              <a:rPr lang="en-US" altLang="zh-CN" sz="2000" dirty="0"/>
              <a:t>B</a:t>
            </a:r>
            <a:r>
              <a:rPr lang="zh-CN" altLang="zh-CN" sz="2000" dirty="0"/>
              <a:t>发生时，我们就可以预测</a:t>
            </a:r>
            <a:r>
              <a:rPr lang="en-US" altLang="zh-CN" sz="2000" dirty="0"/>
              <a:t>A</a:t>
            </a:r>
            <a:r>
              <a:rPr lang="zh-CN" altLang="zh-CN" sz="2000" dirty="0"/>
              <a:t>也发生了，至于为什么会是这样，在某些应用上，已经没那么重要了。</a:t>
            </a:r>
            <a:endParaRPr lang="en-US" altLang="zh-CN" sz="2800" dirty="0"/>
          </a:p>
          <a:p>
            <a:pPr algn="ctr">
              <a:spcBef>
                <a:spcPts val="600"/>
              </a:spcBef>
            </a:pPr>
            <a:r>
              <a:rPr lang="en-US" altLang="zh-CN" sz="2400" dirty="0">
                <a:solidFill>
                  <a:srgbClr val="FF0000"/>
                </a:solidFill>
              </a:rPr>
              <a:t>【</a:t>
            </a:r>
            <a:r>
              <a:rPr lang="zh-CN" altLang="en-US" sz="2400" dirty="0">
                <a:solidFill>
                  <a:srgbClr val="FF0000"/>
                </a:solidFill>
              </a:rPr>
              <a:t>案例 </a:t>
            </a:r>
            <a:r>
              <a:rPr lang="en-US" altLang="zh-CN" sz="2400" dirty="0">
                <a:solidFill>
                  <a:srgbClr val="FF0000"/>
                </a:solidFill>
              </a:rPr>
              <a:t>】</a:t>
            </a:r>
            <a:r>
              <a:rPr lang="zh-CN" altLang="en-US" sz="2400" dirty="0">
                <a:solidFill>
                  <a:srgbClr val="FF0000"/>
                </a:solidFill>
              </a:rPr>
              <a:t>沃尔玛：请把蛋挞与飓风用品摆在一起</a:t>
            </a:r>
          </a:p>
        </p:txBody>
      </p:sp>
      <p:sp>
        <p:nvSpPr>
          <p:cNvPr id="7" name="文本框 6">
            <a:extLst>
              <a:ext uri="{FF2B5EF4-FFF2-40B4-BE49-F238E27FC236}">
                <a16:creationId xmlns:a16="http://schemas.microsoft.com/office/drawing/2014/main" id="{F7D2B935-D351-48AA-9994-2683A184FA19}"/>
              </a:ext>
            </a:extLst>
          </p:cNvPr>
          <p:cNvSpPr txBox="1"/>
          <p:nvPr/>
        </p:nvSpPr>
        <p:spPr>
          <a:xfrm>
            <a:off x="928727" y="868800"/>
            <a:ext cx="4597636" cy="523220"/>
          </a:xfrm>
          <a:prstGeom prst="rect">
            <a:avLst/>
          </a:prstGeom>
          <a:noFill/>
        </p:spPr>
        <p:txBody>
          <a:bodyPr wrap="square">
            <a:spAutoFit/>
          </a:bodyPr>
          <a:lstStyle/>
          <a:p>
            <a:r>
              <a:rPr lang="en-US" altLang="zh-CN" sz="2800" b="1" dirty="0">
                <a:solidFill>
                  <a:srgbClr val="FF0000"/>
                </a:solidFill>
              </a:rPr>
              <a:t>2.</a:t>
            </a:r>
            <a:r>
              <a:rPr lang="zh-CN" altLang="en-US" sz="2800" b="1" dirty="0">
                <a:solidFill>
                  <a:srgbClr val="FF0000"/>
                </a:solidFill>
              </a:rPr>
              <a:t>要相关，不要因果</a:t>
            </a:r>
          </a:p>
        </p:txBody>
      </p:sp>
    </p:spTree>
    <p:extLst>
      <p:ext uri="{BB962C8B-B14F-4D97-AF65-F5344CB8AC3E}">
        <p14:creationId xmlns:p14="http://schemas.microsoft.com/office/powerpoint/2010/main" val="951720698"/>
      </p:ext>
    </p:extLst>
  </p:cSld>
  <p:clrMapOvr>
    <a:masterClrMapping/>
  </p:clrMapOvr>
  <p:transition spd="slow">
    <p:pull/>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6808" y="234362"/>
            <a:ext cx="5661157" cy="523220"/>
          </a:xfrm>
          <a:prstGeom prst="rect">
            <a:avLst/>
          </a:prstGeom>
        </p:spPr>
        <p:txBody>
          <a:bodyPr wrap="square">
            <a:spAutoFit/>
          </a:bodyPr>
          <a:lstStyle/>
          <a:p>
            <a:r>
              <a:rPr lang="zh-CN" alt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大数据带来的思维方式变革</a:t>
            </a:r>
          </a:p>
        </p:txBody>
      </p:sp>
      <p:sp>
        <p:nvSpPr>
          <p:cNvPr id="6" name="文本框 5">
            <a:extLst>
              <a:ext uri="{FF2B5EF4-FFF2-40B4-BE49-F238E27FC236}">
                <a16:creationId xmlns:a16="http://schemas.microsoft.com/office/drawing/2014/main" id="{93F8F561-5CAC-4D76-AD40-94DE9A46433E}"/>
              </a:ext>
            </a:extLst>
          </p:cNvPr>
          <p:cNvSpPr txBox="1"/>
          <p:nvPr/>
        </p:nvSpPr>
        <p:spPr>
          <a:xfrm>
            <a:off x="424670" y="1415874"/>
            <a:ext cx="8294659" cy="3493264"/>
          </a:xfrm>
          <a:prstGeom prst="rect">
            <a:avLst/>
          </a:prstGeom>
          <a:noFill/>
        </p:spPr>
        <p:txBody>
          <a:bodyPr wrap="square">
            <a:spAutoFit/>
          </a:bodyPr>
          <a:lstStyle/>
          <a:p>
            <a:pPr>
              <a:spcBef>
                <a:spcPts val="600"/>
              </a:spcBef>
            </a:pPr>
            <a:r>
              <a:rPr lang="en-US" altLang="zh-CN" sz="2400" dirty="0"/>
              <a:t>        </a:t>
            </a:r>
            <a:r>
              <a:rPr lang="zh-CN" altLang="zh-CN" sz="2400" dirty="0"/>
              <a:t>对于采用“小数据”而言，由于收集的信息量比较少，必须确保记录下来的数据尽量精确，并要求计算模型和运算也非常精确，因为“差之毫厘便失之千里“。然而在大数据的“全样本时代”，有多少偏差就是多少偏差而不会被放大。谷歌公司的人工智能专家彼得</a:t>
            </a:r>
            <a:r>
              <a:rPr lang="en-US" altLang="zh-CN" sz="2400" dirty="0"/>
              <a:t>.</a:t>
            </a:r>
            <a:r>
              <a:rPr lang="zh-CN" altLang="zh-CN" sz="2400" dirty="0"/>
              <a:t>诺维格（</a:t>
            </a:r>
            <a:r>
              <a:rPr lang="en-US" altLang="zh-CN" sz="2400" dirty="0"/>
              <a:t>Peter </a:t>
            </a:r>
            <a:r>
              <a:rPr lang="en-US" altLang="zh-CN" sz="2400" dirty="0" err="1"/>
              <a:t>Norvig</a:t>
            </a:r>
            <a:r>
              <a:rPr lang="zh-CN" altLang="zh-CN" sz="2400" dirty="0"/>
              <a:t>）说过：“大数据基础上的简单算法比小数据基础上的复杂算法更加有效。”因此快速获得一个大概的轮廓和发展脉络，要比严格的精确性重要得多。</a:t>
            </a:r>
          </a:p>
          <a:p>
            <a:pPr algn="ctr">
              <a:spcBef>
                <a:spcPts val="600"/>
              </a:spcBef>
            </a:pPr>
            <a:r>
              <a:rPr lang="en-US" altLang="zh-CN" sz="2400" dirty="0">
                <a:solidFill>
                  <a:srgbClr val="FF0000"/>
                </a:solidFill>
              </a:rPr>
              <a:t>【</a:t>
            </a:r>
            <a:r>
              <a:rPr lang="zh-CN" altLang="en-US" sz="2400" dirty="0">
                <a:solidFill>
                  <a:srgbClr val="FF0000"/>
                </a:solidFill>
              </a:rPr>
              <a:t>案例 </a:t>
            </a:r>
            <a:r>
              <a:rPr lang="en-US" altLang="zh-CN" sz="2400" dirty="0">
                <a:solidFill>
                  <a:srgbClr val="FF0000"/>
                </a:solidFill>
              </a:rPr>
              <a:t>】</a:t>
            </a:r>
            <a:r>
              <a:rPr lang="zh-CN" altLang="en-US" sz="2400" dirty="0">
                <a:solidFill>
                  <a:srgbClr val="FF0000"/>
                </a:solidFill>
              </a:rPr>
              <a:t>麻省理工学院的通货膨胀率预测</a:t>
            </a:r>
          </a:p>
        </p:txBody>
      </p:sp>
      <p:sp>
        <p:nvSpPr>
          <p:cNvPr id="7" name="文本框 6">
            <a:extLst>
              <a:ext uri="{FF2B5EF4-FFF2-40B4-BE49-F238E27FC236}">
                <a16:creationId xmlns:a16="http://schemas.microsoft.com/office/drawing/2014/main" id="{8A7AB411-0C1D-4A31-BB7B-ADC618724A88}"/>
              </a:ext>
            </a:extLst>
          </p:cNvPr>
          <p:cNvSpPr txBox="1"/>
          <p:nvPr/>
        </p:nvSpPr>
        <p:spPr>
          <a:xfrm>
            <a:off x="999383" y="850806"/>
            <a:ext cx="4572660" cy="523220"/>
          </a:xfrm>
          <a:prstGeom prst="rect">
            <a:avLst/>
          </a:prstGeom>
          <a:noFill/>
        </p:spPr>
        <p:txBody>
          <a:bodyPr wrap="square">
            <a:spAutoFit/>
          </a:bodyPr>
          <a:lstStyle/>
          <a:p>
            <a:r>
              <a:rPr lang="en-US" altLang="zh-CN" sz="2800" b="1" dirty="0">
                <a:solidFill>
                  <a:srgbClr val="FF0000"/>
                </a:solidFill>
              </a:rPr>
              <a:t>3.</a:t>
            </a:r>
            <a:r>
              <a:rPr lang="zh-CN" altLang="en-US" sz="2800" b="1" dirty="0">
                <a:solidFill>
                  <a:srgbClr val="FF0000"/>
                </a:solidFill>
              </a:rPr>
              <a:t>要效率，允许不精确 </a:t>
            </a:r>
          </a:p>
        </p:txBody>
      </p:sp>
    </p:spTree>
    <p:extLst>
      <p:ext uri="{BB962C8B-B14F-4D97-AF65-F5344CB8AC3E}">
        <p14:creationId xmlns:p14="http://schemas.microsoft.com/office/powerpoint/2010/main" val="3547466710"/>
      </p:ext>
    </p:extLst>
  </p:cSld>
  <p:clrMapOvr>
    <a:masterClrMapping/>
  </p:clrMapOvr>
  <p:transition spd="slow">
    <p:pull/>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2624" y="0"/>
            <a:ext cx="9141291" cy="5143500"/>
          </a:xfrm>
          <a:prstGeom prst="rect">
            <a:avLst/>
          </a:prstGeom>
        </p:spPr>
      </p:pic>
      <p:grpSp>
        <p:nvGrpSpPr>
          <p:cNvPr id="32" name="组合 14"/>
          <p:cNvGrpSpPr/>
          <p:nvPr/>
        </p:nvGrpSpPr>
        <p:grpSpPr bwMode="auto">
          <a:xfrm>
            <a:off x="1940560" y="2411912"/>
            <a:ext cx="4145915" cy="121738"/>
            <a:chOff x="3649980" y="3375660"/>
            <a:chExt cx="4638285" cy="108000"/>
          </a:xfrm>
        </p:grpSpPr>
        <p:cxnSp>
          <p:nvCxnSpPr>
            <p:cNvPr id="33" name="直接连接符 32"/>
            <p:cNvCxnSpPr/>
            <p:nvPr/>
          </p:nvCxnSpPr>
          <p:spPr>
            <a:xfrm>
              <a:off x="3734134" y="3429660"/>
              <a:ext cx="449513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3649980"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5" name="椭圆 34"/>
            <p:cNvSpPr/>
            <p:nvPr/>
          </p:nvSpPr>
          <p:spPr>
            <a:xfrm>
              <a:off x="8205448"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36" name="文本框 35"/>
          <p:cNvSpPr txBox="1"/>
          <p:nvPr/>
        </p:nvSpPr>
        <p:spPr>
          <a:xfrm>
            <a:off x="1940560" y="1654175"/>
            <a:ext cx="4958715" cy="645160"/>
          </a:xfrm>
          <a:prstGeom prst="rect">
            <a:avLst/>
          </a:prstGeom>
          <a:noFill/>
        </p:spPr>
        <p:txBody>
          <a:bodyPr wrap="square">
            <a:spAutoFit/>
          </a:bodyPr>
          <a:lstStyle/>
          <a:p>
            <a:r>
              <a:rPr lang="zh-CN" altLang="en-US" sz="3600" b="1" dirty="0">
                <a:solidFill>
                  <a:srgbClr val="FFC000"/>
                </a:solidFill>
                <a:effectLst>
                  <a:outerShdw blurRad="38100" dist="38100" dir="2700000" algn="tl">
                    <a:srgbClr val="000000">
                      <a:alpha val="43137"/>
                    </a:srgbClr>
                  </a:outerShdw>
                </a:effectLst>
                <a:latin typeface="IrisUPC" panose="020B0604020202020204" pitchFamily="34" charset="-34"/>
                <a:ea typeface="微软雅黑" panose="020B0503020204020204" pitchFamily="34" charset="-122"/>
                <a:cs typeface="IrisUPC" panose="020B0604020202020204" pitchFamily="34" charset="-34"/>
              </a:rPr>
              <a:t>大数据处理技术基础</a:t>
            </a:r>
          </a:p>
        </p:txBody>
      </p:sp>
      <p:sp>
        <p:nvSpPr>
          <p:cNvPr id="41" name="文本框 40"/>
          <p:cNvSpPr txBox="1">
            <a:spLocks noChangeArrowheads="1"/>
          </p:cNvSpPr>
          <p:nvPr/>
        </p:nvSpPr>
        <p:spPr bwMode="auto">
          <a:xfrm>
            <a:off x="511044" y="1508897"/>
            <a:ext cx="1698527" cy="922020"/>
          </a:xfrm>
          <a:prstGeom prst="rect">
            <a:avLst/>
          </a:prstGeom>
          <a:noFill/>
          <a:ln w="9525">
            <a:noFill/>
            <a:miter lim="800000"/>
          </a:ln>
        </p:spPr>
        <p:txBody>
          <a:bodyPr wrap="square">
            <a:spAutoFit/>
          </a:bodyPr>
          <a:lstStyle/>
          <a:p>
            <a:pPr algn="ctr"/>
            <a:r>
              <a:rPr lang="en-US" altLang="zh-CN" sz="5400" dirty="0">
                <a:solidFill>
                  <a:srgbClr val="00B0F0"/>
                </a:solidFill>
                <a:latin typeface="微软雅黑" panose="020B0503020204020204" pitchFamily="34" charset="-122"/>
                <a:ea typeface="微软雅黑" panose="020B0503020204020204" pitchFamily="34" charset="-122"/>
                <a:cs typeface="IrisUPC" panose="020B0604020202020204" pitchFamily="34" charset="-34"/>
              </a:rPr>
              <a:t>1.4</a:t>
            </a:r>
          </a:p>
        </p:txBody>
      </p:sp>
      <p:sp>
        <p:nvSpPr>
          <p:cNvPr id="4" name="文本框 3"/>
          <p:cNvSpPr txBox="1"/>
          <p:nvPr/>
        </p:nvSpPr>
        <p:spPr>
          <a:xfrm>
            <a:off x="2866347" y="2731588"/>
            <a:ext cx="3393776" cy="923330"/>
          </a:xfrm>
          <a:prstGeom prst="rect">
            <a:avLst/>
          </a:prstGeom>
          <a:noFill/>
        </p:spPr>
        <p:txBody>
          <a:bodyPr wrap="square" rtlCol="0">
            <a:spAutoFit/>
          </a:bodyPr>
          <a:lstStyle/>
          <a:p>
            <a:pPr marL="285750" indent="-285750">
              <a:buFont typeface="Wingdings" panose="05000000000000000000" pitchFamily="2" charset="2"/>
              <a:buChar char="Ø"/>
            </a:pPr>
            <a:r>
              <a:rPr lang="zh-CN" altLang="en-US" sz="1800" dirty="0">
                <a:solidFill>
                  <a:schemeClr val="bg1"/>
                </a:solidFill>
                <a:latin typeface="微软雅黑" panose="020B0503020204020204" pitchFamily="34" charset="-122"/>
                <a:ea typeface="微软雅黑" panose="020B0503020204020204" pitchFamily="34" charset="-122"/>
              </a:rPr>
              <a:t>大数据处理的主要环节</a:t>
            </a:r>
            <a:endParaRPr lang="en-US" altLang="zh-CN" sz="1800" dirty="0">
              <a:solidFill>
                <a:schemeClr val="bg1"/>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Ø"/>
            </a:pPr>
            <a:r>
              <a:rPr lang="zh-CN" altLang="en-US" sz="1800" dirty="0">
                <a:solidFill>
                  <a:schemeClr val="bg1"/>
                </a:solidFill>
                <a:latin typeface="微软雅黑" panose="020B0503020204020204" pitchFamily="34" charset="-122"/>
                <a:ea typeface="微软雅黑" panose="020B0503020204020204" pitchFamily="34" charset="-122"/>
              </a:rPr>
              <a:t>大数据的技术支撑</a:t>
            </a:r>
            <a:endParaRPr lang="en-US" altLang="zh-CN" sz="1800" dirty="0">
              <a:solidFill>
                <a:schemeClr val="bg1"/>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Ø"/>
            </a:pPr>
            <a:r>
              <a:rPr lang="zh-CN" altLang="en-US" sz="1800" dirty="0">
                <a:solidFill>
                  <a:schemeClr val="bg1"/>
                </a:solidFill>
                <a:latin typeface="微软雅黑" panose="020B0503020204020204" pitchFamily="34" charset="-122"/>
                <a:ea typeface="微软雅黑" panose="020B0503020204020204" pitchFamily="34" charset="-122"/>
              </a:rPr>
              <a:t>流行的大数据技术</a:t>
            </a:r>
          </a:p>
        </p:txBody>
      </p:sp>
    </p:spTree>
    <p:extLst>
      <p:ext uri="{BB962C8B-B14F-4D97-AF65-F5344CB8AC3E}">
        <p14:creationId xmlns:p14="http://schemas.microsoft.com/office/powerpoint/2010/main" val="408400424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40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par>
                          <p:cTn id="8" fill="hold">
                            <p:stCondLst>
                              <p:cond delay="900"/>
                            </p:stCondLst>
                            <p:childTnLst>
                              <p:par>
                                <p:cTn id="9" presetID="12" presetClass="entr" presetSubtype="4"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p:tgtEl>
                                          <p:spTgt spid="36"/>
                                        </p:tgtEl>
                                        <p:attrNameLst>
                                          <p:attrName>ppt_y</p:attrName>
                                        </p:attrNameLst>
                                      </p:cBhvr>
                                      <p:tavLst>
                                        <p:tav tm="0">
                                          <p:val>
                                            <p:strVal val="#ppt_y+#ppt_h*1.125000"/>
                                          </p:val>
                                        </p:tav>
                                        <p:tav tm="100000">
                                          <p:val>
                                            <p:strVal val="#ppt_y"/>
                                          </p:val>
                                        </p:tav>
                                      </p:tavLst>
                                    </p:anim>
                                    <p:animEffect transition="in" filter="wipe(up)">
                                      <p:cBhvr>
                                        <p:cTn id="12" dur="500"/>
                                        <p:tgtEl>
                                          <p:spTgt spid="36"/>
                                        </p:tgtEl>
                                      </p:cBhvr>
                                    </p:animEffect>
                                  </p:childTnLst>
                                </p:cTn>
                              </p:par>
                              <p:par>
                                <p:cTn id="13" presetID="2" presetClass="entr" presetSubtype="8"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0-#ppt_w/2"/>
                                          </p:val>
                                        </p:tav>
                                        <p:tav tm="100000">
                                          <p:val>
                                            <p:strVal val="#ppt_x"/>
                                          </p:val>
                                        </p:tav>
                                      </p:tavLst>
                                    </p:anim>
                                    <p:anim calcmode="lin" valueType="num">
                                      <p:cBhvr additive="base">
                                        <p:cTn id="16" dur="500" fill="hold"/>
                                        <p:tgtEl>
                                          <p:spTgt spid="41"/>
                                        </p:tgtEl>
                                        <p:attrNameLst>
                                          <p:attrName>ppt_y</p:attrName>
                                        </p:attrNameLst>
                                      </p:cBhvr>
                                      <p:tavLst>
                                        <p:tav tm="0">
                                          <p:val>
                                            <p:strVal val="#ppt_y"/>
                                          </p:val>
                                        </p:tav>
                                        <p:tav tm="100000">
                                          <p:val>
                                            <p:strVal val="#ppt_y"/>
                                          </p:val>
                                        </p:tav>
                                      </p:tavLst>
                                    </p:anim>
                                  </p:childTnLst>
                                </p:cTn>
                              </p:par>
                            </p:childTnLst>
                          </p:cTn>
                        </p:par>
                        <p:par>
                          <p:cTn id="17" fill="hold">
                            <p:stCondLst>
                              <p:cond delay="1400"/>
                            </p:stCondLst>
                            <p:childTnLst>
                              <p:par>
                                <p:cTn id="18" presetID="1" presetClass="entr" presetSubtype="0" fill="hold" grpId="0" nodeType="afterEffect">
                                  <p:stCondLst>
                                    <p:cond delay="0"/>
                                  </p:stCondLst>
                                  <p:iterate type="wd">
                                    <p:tmAbs val="100"/>
                                  </p:iterate>
                                  <p:childTnLst>
                                    <p:set>
                                      <p:cBhvr>
                                        <p:cTn id="19"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1" grpId="0"/>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6675" y="234315"/>
            <a:ext cx="5014595" cy="523220"/>
          </a:xfrm>
          <a:prstGeom prst="rect">
            <a:avLst/>
          </a:prstGeom>
        </p:spPr>
        <p:txBody>
          <a:bodyPr wrap="square">
            <a:spAutoFit/>
          </a:bodyPr>
          <a:lstStyle/>
          <a:p>
            <a:r>
              <a:rPr lang="en-US" altLang="zh-CN"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1</a:t>
            </a:r>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en-US" altLang="zh-CN"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4</a:t>
            </a:r>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en-US" altLang="zh-CN"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a:t>
            </a:r>
            <a:r>
              <a:rPr lang="zh-CN" alt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大数据处理的主要环节</a:t>
            </a:r>
            <a:endPar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A020A062-EA0B-4C07-9FB9-DE1F6E6596E5}"/>
              </a:ext>
            </a:extLst>
          </p:cNvPr>
          <p:cNvSpPr txBox="1"/>
          <p:nvPr/>
        </p:nvSpPr>
        <p:spPr>
          <a:xfrm>
            <a:off x="318184" y="1851670"/>
            <a:ext cx="8539818" cy="2816156"/>
          </a:xfrm>
          <a:prstGeom prst="rect">
            <a:avLst/>
          </a:prstGeom>
          <a:noFill/>
        </p:spPr>
        <p:txBody>
          <a:bodyPr wrap="square">
            <a:spAutoFit/>
          </a:bodyPr>
          <a:lstStyle/>
          <a:p>
            <a:r>
              <a:rPr lang="en-US" altLang="zh-CN" sz="2800" b="1" dirty="0">
                <a:solidFill>
                  <a:srgbClr val="FF0000"/>
                </a:solidFill>
              </a:rPr>
              <a:t>1.</a:t>
            </a:r>
            <a:r>
              <a:rPr lang="zh-CN" altLang="en-US" sz="2800" b="1" dirty="0">
                <a:solidFill>
                  <a:srgbClr val="FF0000"/>
                </a:solidFill>
              </a:rPr>
              <a:t>数据采集</a:t>
            </a:r>
          </a:p>
          <a:p>
            <a:pPr>
              <a:spcBef>
                <a:spcPts val="600"/>
              </a:spcBef>
            </a:pPr>
            <a:r>
              <a:rPr lang="zh-CN" altLang="en-US" sz="2400" dirty="0"/>
              <a:t>        数据采集又称为数据获取，是指从现实世界系统中采集信息，并进行计量和记录的过程。数据的来源可能是传感器、互联网、系统运行的日志文件等，也可能是人类生活和生产活动所产生的各种类型的数据。在数据规模不断扩大的情况下，运用</a:t>
            </a:r>
            <a:r>
              <a:rPr lang="zh-CN" altLang="en-US" sz="2400" b="1" dirty="0">
                <a:solidFill>
                  <a:srgbClr val="FF0000"/>
                </a:solidFill>
              </a:rPr>
              <a:t>数据采集自动化工具</a:t>
            </a:r>
            <a:r>
              <a:rPr lang="zh-CN" altLang="en-US" sz="2400" dirty="0"/>
              <a:t>，从外部系统、互联网和物联网等自动获取、传输和记录数据已经成为必要的技术手段。</a:t>
            </a:r>
          </a:p>
        </p:txBody>
      </p:sp>
      <p:graphicFrame>
        <p:nvGraphicFramePr>
          <p:cNvPr id="7" name="对象 6">
            <a:extLst>
              <a:ext uri="{FF2B5EF4-FFF2-40B4-BE49-F238E27FC236}">
                <a16:creationId xmlns:a16="http://schemas.microsoft.com/office/drawing/2014/main" id="{BE44634D-89E6-4DBE-AFF7-DED4750035C6}"/>
              </a:ext>
            </a:extLst>
          </p:cNvPr>
          <p:cNvGraphicFramePr>
            <a:graphicFrameLocks noChangeAspect="1"/>
          </p:cNvGraphicFramePr>
          <p:nvPr>
            <p:extLst>
              <p:ext uri="{D42A27DB-BD31-4B8C-83A1-F6EECF244321}">
                <p14:modId xmlns:p14="http://schemas.microsoft.com/office/powerpoint/2010/main" val="565263901"/>
              </p:ext>
            </p:extLst>
          </p:nvPr>
        </p:nvGraphicFramePr>
        <p:xfrm>
          <a:off x="1187628" y="987973"/>
          <a:ext cx="6768744" cy="864095"/>
        </p:xfrm>
        <a:graphic>
          <a:graphicData uri="http://schemas.openxmlformats.org/presentationml/2006/ole">
            <mc:AlternateContent xmlns:mc="http://schemas.openxmlformats.org/markup-compatibility/2006">
              <mc:Choice xmlns:v="urn:schemas-microsoft-com:vml" Requires="v">
                <p:oleObj spid="_x0000_s6177" name="Visio" r:id="rId3" imgW="6496219" imgH="831707" progId="Visio.Drawing.15">
                  <p:embed/>
                </p:oleObj>
              </mc:Choice>
              <mc:Fallback>
                <p:oleObj name="Visio" r:id="rId3" imgW="6496219" imgH="831707" progId="Visio.Drawing.15">
                  <p:embed/>
                  <p:pic>
                    <p:nvPicPr>
                      <p:cNvPr id="4" name="对象 3">
                        <a:extLst>
                          <a:ext uri="{FF2B5EF4-FFF2-40B4-BE49-F238E27FC236}">
                            <a16:creationId xmlns:a16="http://schemas.microsoft.com/office/drawing/2014/main" id="{A58D98F1-6B58-4BE0-BECD-1C0F1CAD083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628" y="987973"/>
                        <a:ext cx="6768744" cy="864095"/>
                      </a:xfrm>
                      <a:prstGeom prst="rect">
                        <a:avLst/>
                      </a:prstGeom>
                      <a:noFill/>
                    </p:spPr>
                  </p:pic>
                </p:oleObj>
              </mc:Fallback>
            </mc:AlternateContent>
          </a:graphicData>
        </a:graphic>
      </p:graphicFrame>
    </p:spTree>
  </p:cSld>
  <p:clrMapOvr>
    <a:masterClrMapping/>
  </p:clrMapOvr>
  <p:transition spd="slow">
    <p:pull/>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6675" y="234315"/>
            <a:ext cx="5014595" cy="523220"/>
          </a:xfrm>
          <a:prstGeom prst="rect">
            <a:avLst/>
          </a:prstGeom>
        </p:spPr>
        <p:txBody>
          <a:bodyPr wrap="square">
            <a:spAutoFit/>
          </a:bodyPr>
          <a:lstStyle/>
          <a:p>
            <a:r>
              <a:rPr lang="en-US" altLang="zh-CN"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1</a:t>
            </a:r>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en-US" altLang="zh-CN"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4</a:t>
            </a:r>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en-US" altLang="zh-CN"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a:t>
            </a:r>
            <a:r>
              <a:rPr lang="zh-CN" alt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大数据处理的主要环节</a:t>
            </a:r>
            <a:endPar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FD304B19-08AF-4DA8-BC26-7240794EA382}"/>
              </a:ext>
            </a:extLst>
          </p:cNvPr>
          <p:cNvSpPr txBox="1"/>
          <p:nvPr/>
        </p:nvSpPr>
        <p:spPr>
          <a:xfrm>
            <a:off x="413547" y="1087016"/>
            <a:ext cx="8222453" cy="2816156"/>
          </a:xfrm>
          <a:prstGeom prst="rect">
            <a:avLst/>
          </a:prstGeom>
          <a:noFill/>
        </p:spPr>
        <p:txBody>
          <a:bodyPr wrap="square">
            <a:spAutoFit/>
          </a:bodyPr>
          <a:lstStyle/>
          <a:p>
            <a:r>
              <a:rPr lang="en-US" altLang="zh-CN" sz="2800" dirty="0">
                <a:solidFill>
                  <a:srgbClr val="FF0000"/>
                </a:solidFill>
              </a:rPr>
              <a:t>      </a:t>
            </a:r>
            <a:r>
              <a:rPr lang="en-US" altLang="zh-CN" sz="2800" b="1" dirty="0">
                <a:solidFill>
                  <a:srgbClr val="FF0000"/>
                </a:solidFill>
              </a:rPr>
              <a:t>2.</a:t>
            </a:r>
            <a:r>
              <a:rPr lang="zh-CN" altLang="en-US" sz="2800" b="1" dirty="0">
                <a:solidFill>
                  <a:srgbClr val="FF0000"/>
                </a:solidFill>
              </a:rPr>
              <a:t>数据预处理</a:t>
            </a:r>
          </a:p>
          <a:p>
            <a:pPr>
              <a:spcBef>
                <a:spcPts val="600"/>
              </a:spcBef>
            </a:pPr>
            <a:r>
              <a:rPr lang="zh-CN" altLang="en-US" sz="2400" dirty="0"/>
              <a:t>       采集的数据可能包含噪声、缺失值、不一致性和冗余等问题，</a:t>
            </a:r>
            <a:r>
              <a:rPr lang="zh-CN" altLang="en-US" sz="2400" b="1" dirty="0">
                <a:solidFill>
                  <a:srgbClr val="FF0000"/>
                </a:solidFill>
              </a:rPr>
              <a:t>数据预处理的目的就是要提高数据的质量</a:t>
            </a:r>
            <a:r>
              <a:rPr lang="zh-CN" altLang="en-US" sz="2400" dirty="0"/>
              <a:t>。通过数据预处理工作，可以使残缺的数据完整，并将错误的数据纠正、多余的数据去除，进而将所需的数据挑选出来，并且进行数据集成。数据预处理有多种方法，如：</a:t>
            </a:r>
            <a:r>
              <a:rPr lang="zh-CN" altLang="en-US" sz="2400" b="1" dirty="0">
                <a:solidFill>
                  <a:srgbClr val="FF0000"/>
                </a:solidFill>
              </a:rPr>
              <a:t>数据清理，数据集成，数据变换，数据归纳</a:t>
            </a:r>
            <a:r>
              <a:rPr lang="zh-CN" altLang="en-US" sz="2400" dirty="0"/>
              <a:t>等。</a:t>
            </a:r>
          </a:p>
        </p:txBody>
      </p:sp>
    </p:spTree>
    <p:extLst>
      <p:ext uri="{BB962C8B-B14F-4D97-AF65-F5344CB8AC3E}">
        <p14:creationId xmlns:p14="http://schemas.microsoft.com/office/powerpoint/2010/main" val="1970748710"/>
      </p:ext>
    </p:extLst>
  </p:cSld>
  <p:clrMapOvr>
    <a:masterClrMapping/>
  </p:clrMapOvr>
  <p:transition spd="slow">
    <p:pull/>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6675" y="234315"/>
            <a:ext cx="5014595" cy="523220"/>
          </a:xfrm>
          <a:prstGeom prst="rect">
            <a:avLst/>
          </a:prstGeom>
        </p:spPr>
        <p:txBody>
          <a:bodyPr wrap="square">
            <a:spAutoFit/>
          </a:bodyPr>
          <a:lstStyle/>
          <a:p>
            <a:r>
              <a:rPr lang="en-US" altLang="zh-CN"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1</a:t>
            </a:r>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en-US" altLang="zh-CN"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4</a:t>
            </a:r>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en-US" altLang="zh-CN"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a:t>
            </a:r>
            <a:r>
              <a:rPr lang="zh-CN" alt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大数据处理的主要环节</a:t>
            </a:r>
            <a:endPar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4C933B10-56BD-4ED4-9B21-5AECD2992E06}"/>
              </a:ext>
            </a:extLst>
          </p:cNvPr>
          <p:cNvSpPr txBox="1"/>
          <p:nvPr/>
        </p:nvSpPr>
        <p:spPr>
          <a:xfrm>
            <a:off x="381797" y="915566"/>
            <a:ext cx="8582691" cy="2893100"/>
          </a:xfrm>
          <a:prstGeom prst="rect">
            <a:avLst/>
          </a:prstGeom>
          <a:noFill/>
        </p:spPr>
        <p:txBody>
          <a:bodyPr wrap="square">
            <a:spAutoFit/>
          </a:bodyPr>
          <a:lstStyle/>
          <a:p>
            <a:pPr>
              <a:spcBef>
                <a:spcPts val="600"/>
              </a:spcBef>
            </a:pPr>
            <a:r>
              <a:rPr lang="en-US" altLang="zh-CN" sz="2800" dirty="0">
                <a:solidFill>
                  <a:srgbClr val="FF0000"/>
                </a:solidFill>
              </a:rPr>
              <a:t>      </a:t>
            </a:r>
            <a:r>
              <a:rPr lang="en-US" altLang="zh-CN" sz="2800" b="1" dirty="0">
                <a:solidFill>
                  <a:srgbClr val="FF0000"/>
                </a:solidFill>
              </a:rPr>
              <a:t>3.</a:t>
            </a:r>
            <a:r>
              <a:rPr lang="zh-CN" altLang="en-US" sz="2800" b="1" dirty="0">
                <a:solidFill>
                  <a:srgbClr val="FF0000"/>
                </a:solidFill>
              </a:rPr>
              <a:t>大数据的存储与管理</a:t>
            </a:r>
          </a:p>
          <a:p>
            <a:pPr>
              <a:spcBef>
                <a:spcPts val="600"/>
              </a:spcBef>
            </a:pPr>
            <a:r>
              <a:rPr lang="zh-CN" altLang="en-US" sz="2400" dirty="0"/>
              <a:t>        目前， “</a:t>
            </a:r>
            <a:r>
              <a:rPr lang="zh-CN" altLang="en-US" sz="2400" b="1" dirty="0">
                <a:solidFill>
                  <a:srgbClr val="FF0000"/>
                </a:solidFill>
              </a:rPr>
              <a:t>分布式存储</a:t>
            </a:r>
            <a:r>
              <a:rPr lang="zh-CN" altLang="en-US" sz="2400" dirty="0"/>
              <a:t>系统”是大数据存储的主要技术手段，例如，分布式文件系统、集群文件系统和并行文件系统等。</a:t>
            </a:r>
            <a:endParaRPr lang="en-US" altLang="zh-CN" sz="2400" dirty="0"/>
          </a:p>
          <a:p>
            <a:pPr>
              <a:spcBef>
                <a:spcPts val="600"/>
              </a:spcBef>
            </a:pPr>
            <a:r>
              <a:rPr lang="en-US" altLang="zh-CN" sz="2400" dirty="0"/>
              <a:t>         </a:t>
            </a:r>
            <a:r>
              <a:rPr lang="zh-CN" altLang="en-US" sz="2400" dirty="0"/>
              <a:t>云存储也是大数据存储常用的技术方法，它通过集群应用、网格技术或分布式文件系统等，将网络中各种不同的存储设备通过应用软件集合起来协同工作，共同对外提供数据存储和业务访问功能的一个系统。</a:t>
            </a:r>
          </a:p>
        </p:txBody>
      </p:sp>
    </p:spTree>
    <p:extLst>
      <p:ext uri="{BB962C8B-B14F-4D97-AF65-F5344CB8AC3E}">
        <p14:creationId xmlns:p14="http://schemas.microsoft.com/office/powerpoint/2010/main" val="2842605501"/>
      </p:ext>
    </p:extLst>
  </p:cSld>
  <p:clrMapOvr>
    <a:masterClrMapping/>
  </p:clrMapOvr>
  <p:transition spd="slow">
    <p:pull/>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6675" y="234315"/>
            <a:ext cx="5014595" cy="523220"/>
          </a:xfrm>
          <a:prstGeom prst="rect">
            <a:avLst/>
          </a:prstGeom>
        </p:spPr>
        <p:txBody>
          <a:bodyPr wrap="square">
            <a:spAutoFit/>
          </a:bodyPr>
          <a:lstStyle/>
          <a:p>
            <a:r>
              <a:rPr lang="en-US" altLang="zh-CN"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1</a:t>
            </a:r>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en-US" altLang="zh-CN"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4</a:t>
            </a:r>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en-US" altLang="zh-CN"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a:t>
            </a:r>
            <a:r>
              <a:rPr lang="zh-CN" alt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大数据处理的主要环节</a:t>
            </a:r>
            <a:endPar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21EC066C-D061-44F4-ADDD-B16E37E379A5}"/>
              </a:ext>
            </a:extLst>
          </p:cNvPr>
          <p:cNvSpPr txBox="1"/>
          <p:nvPr/>
        </p:nvSpPr>
        <p:spPr>
          <a:xfrm>
            <a:off x="2646468" y="4165981"/>
            <a:ext cx="2808312" cy="369332"/>
          </a:xfrm>
          <a:prstGeom prst="rect">
            <a:avLst/>
          </a:prstGeom>
          <a:noFill/>
        </p:spPr>
        <p:txBody>
          <a:bodyPr wrap="square">
            <a:spAutoFit/>
          </a:bodyPr>
          <a:lstStyle/>
          <a:p>
            <a:r>
              <a:rPr lang="zh-CN" altLang="en-US" dirty="0"/>
              <a:t>分布式文件系统示意图</a:t>
            </a:r>
          </a:p>
        </p:txBody>
      </p:sp>
      <p:pic>
        <p:nvPicPr>
          <p:cNvPr id="6" name="图片 5">
            <a:extLst>
              <a:ext uri="{FF2B5EF4-FFF2-40B4-BE49-F238E27FC236}">
                <a16:creationId xmlns:a16="http://schemas.microsoft.com/office/drawing/2014/main" id="{D19A1AF6-A313-427F-8B31-D2F752D34CAF}"/>
              </a:ext>
            </a:extLst>
          </p:cNvPr>
          <p:cNvPicPr>
            <a:picLocks noChangeAspect="1"/>
          </p:cNvPicPr>
          <p:nvPr/>
        </p:nvPicPr>
        <p:blipFill>
          <a:blip r:embed="rId2"/>
          <a:stretch>
            <a:fillRect/>
          </a:stretch>
        </p:blipFill>
        <p:spPr>
          <a:xfrm>
            <a:off x="611560" y="1095586"/>
            <a:ext cx="5293953" cy="2952328"/>
          </a:xfrm>
          <a:prstGeom prst="rect">
            <a:avLst/>
          </a:prstGeom>
        </p:spPr>
      </p:pic>
      <p:sp>
        <p:nvSpPr>
          <p:cNvPr id="7" name="五边形 6">
            <a:extLst>
              <a:ext uri="{FF2B5EF4-FFF2-40B4-BE49-F238E27FC236}">
                <a16:creationId xmlns:a16="http://schemas.microsoft.com/office/drawing/2014/main" id="{FD9422FC-2271-4630-885F-241C956A0492}"/>
              </a:ext>
            </a:extLst>
          </p:cNvPr>
          <p:cNvSpPr/>
          <p:nvPr/>
        </p:nvSpPr>
        <p:spPr>
          <a:xfrm>
            <a:off x="6673850" y="1549399"/>
            <a:ext cx="2290638" cy="2318495"/>
          </a:xfrm>
          <a:prstGeom prst="pent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a:solidFill>
                  <a:schemeClr val="bg1"/>
                </a:solidFill>
              </a:rPr>
              <a:t>课后学习</a:t>
            </a:r>
            <a:endParaRPr lang="en-US" altLang="zh-CN" sz="2400" b="1">
              <a:solidFill>
                <a:schemeClr val="bg1"/>
              </a:solidFill>
            </a:endParaRPr>
          </a:p>
          <a:p>
            <a:pPr algn="ctr"/>
            <a:r>
              <a:rPr lang="zh-CN" altLang="en-US">
                <a:solidFill>
                  <a:schemeClr val="bg1"/>
                </a:solidFill>
              </a:rPr>
              <a:t> </a:t>
            </a:r>
            <a:r>
              <a:rPr lang="zh-CN" altLang="en-US" dirty="0">
                <a:solidFill>
                  <a:schemeClr val="bg1"/>
                </a:solidFill>
              </a:rPr>
              <a:t>分布式文件系统如何提高数据存储</a:t>
            </a:r>
            <a:r>
              <a:rPr lang="zh-CN" altLang="en-US">
                <a:solidFill>
                  <a:schemeClr val="bg1"/>
                </a:solidFill>
              </a:rPr>
              <a:t>的可靠性？</a:t>
            </a:r>
            <a:endParaRPr lang="zh-CN" altLang="en-US" dirty="0"/>
          </a:p>
        </p:txBody>
      </p:sp>
    </p:spTree>
    <p:extLst>
      <p:ext uri="{BB962C8B-B14F-4D97-AF65-F5344CB8AC3E}">
        <p14:creationId xmlns:p14="http://schemas.microsoft.com/office/powerpoint/2010/main" val="3759653886"/>
      </p:ext>
    </p:extLst>
  </p:cSld>
  <p:clrMapOvr>
    <a:masterClrMapping/>
  </p:clrMapOvr>
  <p:transition spd="slow">
    <p:pull/>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6675" y="234315"/>
            <a:ext cx="5014595" cy="523220"/>
          </a:xfrm>
          <a:prstGeom prst="rect">
            <a:avLst/>
          </a:prstGeom>
        </p:spPr>
        <p:txBody>
          <a:bodyPr wrap="square">
            <a:spAutoFit/>
          </a:bodyPr>
          <a:lstStyle/>
          <a:p>
            <a:r>
              <a:rPr lang="en-US" altLang="zh-CN"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1</a:t>
            </a:r>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en-US" altLang="zh-CN"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4</a:t>
            </a:r>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en-US" altLang="zh-CN"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a:t>
            </a:r>
            <a:r>
              <a:rPr lang="zh-CN" alt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大数据处理的主要环节</a:t>
            </a:r>
            <a:endPar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7ED20A94-C667-4680-9A53-E053F41CF735}"/>
              </a:ext>
            </a:extLst>
          </p:cNvPr>
          <p:cNvSpPr txBox="1"/>
          <p:nvPr/>
        </p:nvSpPr>
        <p:spPr>
          <a:xfrm>
            <a:off x="693093" y="958859"/>
            <a:ext cx="4597636" cy="523220"/>
          </a:xfrm>
          <a:prstGeom prst="rect">
            <a:avLst/>
          </a:prstGeom>
          <a:noFill/>
        </p:spPr>
        <p:txBody>
          <a:bodyPr wrap="square">
            <a:spAutoFit/>
          </a:bodyPr>
          <a:lstStyle/>
          <a:p>
            <a:r>
              <a:rPr lang="en-US" altLang="zh-CN" sz="2800" b="1" dirty="0">
                <a:solidFill>
                  <a:srgbClr val="FF0000"/>
                </a:solidFill>
              </a:rPr>
              <a:t>4.</a:t>
            </a:r>
            <a:r>
              <a:rPr lang="zh-CN" altLang="en-US" sz="2800" b="1" dirty="0">
                <a:solidFill>
                  <a:srgbClr val="FF0000"/>
                </a:solidFill>
              </a:rPr>
              <a:t>大数据分析与挖掘</a:t>
            </a:r>
          </a:p>
        </p:txBody>
      </p:sp>
      <p:grpSp>
        <p:nvGrpSpPr>
          <p:cNvPr id="6" name="组合 5">
            <a:extLst>
              <a:ext uri="{FF2B5EF4-FFF2-40B4-BE49-F238E27FC236}">
                <a16:creationId xmlns:a16="http://schemas.microsoft.com/office/drawing/2014/main" id="{FD1003D6-B53B-4E34-9DAD-40A8CBA8E70C}"/>
              </a:ext>
            </a:extLst>
          </p:cNvPr>
          <p:cNvGrpSpPr/>
          <p:nvPr/>
        </p:nvGrpSpPr>
        <p:grpSpPr>
          <a:xfrm>
            <a:off x="5591810" y="1852272"/>
            <a:ext cx="3021965" cy="1910715"/>
            <a:chOff x="0" y="0"/>
            <a:chExt cx="3388878" cy="2175493"/>
          </a:xfrm>
        </p:grpSpPr>
        <p:grpSp>
          <p:nvGrpSpPr>
            <p:cNvPr id="7" name="组合 6">
              <a:extLst>
                <a:ext uri="{FF2B5EF4-FFF2-40B4-BE49-F238E27FC236}">
                  <a16:creationId xmlns:a16="http://schemas.microsoft.com/office/drawing/2014/main" id="{5BE50C58-5A30-4AAE-83A0-7002F0289C0D}"/>
                </a:ext>
              </a:extLst>
            </p:cNvPr>
            <p:cNvGrpSpPr/>
            <p:nvPr/>
          </p:nvGrpSpPr>
          <p:grpSpPr>
            <a:xfrm>
              <a:off x="884931" y="0"/>
              <a:ext cx="2503947" cy="2164313"/>
              <a:chOff x="0" y="0"/>
              <a:chExt cx="2503947" cy="2164313"/>
            </a:xfrm>
          </p:grpSpPr>
          <p:grpSp>
            <p:nvGrpSpPr>
              <p:cNvPr id="16" name="组合 15">
                <a:extLst>
                  <a:ext uri="{FF2B5EF4-FFF2-40B4-BE49-F238E27FC236}">
                    <a16:creationId xmlns:a16="http://schemas.microsoft.com/office/drawing/2014/main" id="{F176AB94-BF77-4950-9DE8-6F8B456FE1BF}"/>
                  </a:ext>
                </a:extLst>
              </p:cNvPr>
              <p:cNvGrpSpPr/>
              <p:nvPr/>
            </p:nvGrpSpPr>
            <p:grpSpPr>
              <a:xfrm>
                <a:off x="0" y="0"/>
                <a:ext cx="2503947" cy="2164313"/>
                <a:chOff x="0" y="0"/>
                <a:chExt cx="2503947" cy="2164313"/>
              </a:xfrm>
            </p:grpSpPr>
            <p:sp>
              <p:nvSpPr>
                <p:cNvPr id="21" name="等腰三角形 20">
                  <a:extLst>
                    <a:ext uri="{FF2B5EF4-FFF2-40B4-BE49-F238E27FC236}">
                      <a16:creationId xmlns:a16="http://schemas.microsoft.com/office/drawing/2014/main" id="{CD5F2853-C501-4D78-95A4-9EF232E53230}"/>
                    </a:ext>
                  </a:extLst>
                </p:cNvPr>
                <p:cNvSpPr/>
                <p:nvPr/>
              </p:nvSpPr>
              <p:spPr>
                <a:xfrm>
                  <a:off x="0" y="0"/>
                  <a:ext cx="2503947" cy="2164313"/>
                </a:xfrm>
                <a:prstGeom prst="triangle">
                  <a:avLst/>
                </a:prstGeom>
                <a:noFill/>
                <a:ln w="12700" cap="flat" cmpd="sng" algn="ctr">
                  <a:solidFill>
                    <a:srgbClr val="4472C4">
                      <a:shade val="50000"/>
                    </a:srgbClr>
                  </a:solidFill>
                  <a:prstDash val="solid"/>
                  <a:miter lim="800000"/>
                </a:ln>
                <a:effectLst/>
              </p:spPr>
            </p:sp>
            <p:cxnSp>
              <p:nvCxnSpPr>
                <p:cNvPr id="22" name="直接连接符 21">
                  <a:extLst>
                    <a:ext uri="{FF2B5EF4-FFF2-40B4-BE49-F238E27FC236}">
                      <a16:creationId xmlns:a16="http://schemas.microsoft.com/office/drawing/2014/main" id="{504D916B-A383-461B-B2DC-43AF0500D276}"/>
                    </a:ext>
                  </a:extLst>
                </p:cNvPr>
                <p:cNvCxnSpPr/>
                <p:nvPr/>
              </p:nvCxnSpPr>
              <p:spPr>
                <a:xfrm flipV="1">
                  <a:off x="764721" y="850321"/>
                  <a:ext cx="977447" cy="14302"/>
                </a:xfrm>
                <a:prstGeom prst="line">
                  <a:avLst/>
                </a:prstGeom>
                <a:noFill/>
                <a:ln w="6350" cap="flat" cmpd="sng" algn="ctr">
                  <a:solidFill>
                    <a:srgbClr val="4472C4"/>
                  </a:solidFill>
                  <a:prstDash val="solid"/>
                  <a:miter lim="800000"/>
                </a:ln>
                <a:effectLst/>
              </p:spPr>
            </p:cxnSp>
            <p:cxnSp>
              <p:nvCxnSpPr>
                <p:cNvPr id="23" name="直接连接符 22">
                  <a:extLst>
                    <a:ext uri="{FF2B5EF4-FFF2-40B4-BE49-F238E27FC236}">
                      <a16:creationId xmlns:a16="http://schemas.microsoft.com/office/drawing/2014/main" id="{FAE00EA1-4D25-4349-9855-8DAF52B549F7}"/>
                    </a:ext>
                  </a:extLst>
                </p:cNvPr>
                <p:cNvCxnSpPr/>
                <p:nvPr/>
              </p:nvCxnSpPr>
              <p:spPr>
                <a:xfrm>
                  <a:off x="484593" y="1320076"/>
                  <a:ext cx="1537894" cy="0"/>
                </a:xfrm>
                <a:prstGeom prst="line">
                  <a:avLst/>
                </a:prstGeom>
                <a:noFill/>
                <a:ln w="6350" cap="flat" cmpd="sng" algn="ctr">
                  <a:solidFill>
                    <a:srgbClr val="4472C4"/>
                  </a:solidFill>
                  <a:prstDash val="solid"/>
                  <a:miter lim="800000"/>
                </a:ln>
                <a:effectLst/>
              </p:spPr>
            </p:cxnSp>
            <p:cxnSp>
              <p:nvCxnSpPr>
                <p:cNvPr id="24" name="直接连接符 23">
                  <a:extLst>
                    <a:ext uri="{FF2B5EF4-FFF2-40B4-BE49-F238E27FC236}">
                      <a16:creationId xmlns:a16="http://schemas.microsoft.com/office/drawing/2014/main" id="{83518A49-3859-49EB-BFA5-FD2438A90B43}"/>
                    </a:ext>
                  </a:extLst>
                </p:cNvPr>
                <p:cNvCxnSpPr/>
                <p:nvPr/>
              </p:nvCxnSpPr>
              <p:spPr>
                <a:xfrm flipV="1">
                  <a:off x="227278" y="1779892"/>
                  <a:ext cx="2049003" cy="11106"/>
                </a:xfrm>
                <a:prstGeom prst="line">
                  <a:avLst/>
                </a:prstGeom>
                <a:noFill/>
                <a:ln w="6350" cap="flat" cmpd="sng" algn="ctr">
                  <a:solidFill>
                    <a:srgbClr val="4472C4"/>
                  </a:solidFill>
                  <a:prstDash val="solid"/>
                  <a:miter lim="800000"/>
                </a:ln>
                <a:effectLst/>
              </p:spPr>
            </p:cxnSp>
          </p:grpSp>
          <p:sp>
            <p:nvSpPr>
              <p:cNvPr id="17" name="文本框 2">
                <a:extLst>
                  <a:ext uri="{FF2B5EF4-FFF2-40B4-BE49-F238E27FC236}">
                    <a16:creationId xmlns:a16="http://schemas.microsoft.com/office/drawing/2014/main" id="{F5309C48-B0F9-49E8-8BE9-4A0500768595}"/>
                  </a:ext>
                </a:extLst>
              </p:cNvPr>
              <p:cNvSpPr txBox="1">
                <a:spLocks noChangeArrowheads="1"/>
              </p:cNvSpPr>
              <p:nvPr/>
            </p:nvSpPr>
            <p:spPr bwMode="auto">
              <a:xfrm>
                <a:off x="1011050" y="1832144"/>
                <a:ext cx="548640" cy="298450"/>
              </a:xfrm>
              <a:prstGeom prst="rect">
                <a:avLst/>
              </a:prstGeom>
              <a:solidFill>
                <a:srgbClr val="FFFFFF"/>
              </a:solidFill>
              <a:ln w="9525">
                <a:noFill/>
                <a:miter lim="800000"/>
              </a:ln>
            </p:spPr>
            <p:txBody>
              <a:bodyPr rot="0" vert="horz" wrap="square" lIns="91440" tIns="45720" rIns="91440" bIns="45720" anchor="t" anchorCtr="0">
                <a:noAutofit/>
              </a:bodyPr>
              <a:lstStyle/>
              <a:p>
                <a:pPr marL="0" marR="0" lvl="0" indent="0" algn="just" defTabSz="914400" eaLnBrk="1" fontAlgn="auto" latinLnBrk="0" hangingPunct="1">
                  <a:lnSpc>
                    <a:spcPct val="120000"/>
                  </a:lnSpc>
                  <a:spcBef>
                    <a:spcPts val="0"/>
                  </a:spcBef>
                  <a:spcAft>
                    <a:spcPts val="0"/>
                  </a:spcAft>
                  <a:buClrTx/>
                  <a:buSzTx/>
                  <a:buFontTx/>
                  <a:buNone/>
                  <a:tabLst/>
                  <a:defRPr/>
                </a:pPr>
                <a:r>
                  <a:rPr kumimoji="0" lang="en-US" altLang="zh-CN" sz="900" b="0" i="0" u="none" strike="noStrike" kern="100" cap="none" spc="0" normalizeH="0" baseline="0" noProof="0">
                    <a:ln>
                      <a:noFill/>
                    </a:ln>
                    <a:solidFill>
                      <a:sysClr val="windowText" lastClr="000000"/>
                    </a:solidFill>
                    <a:effectLst/>
                    <a:uLnTx/>
                    <a:uFillTx/>
                    <a:latin typeface="等线"/>
                    <a:ea typeface="等线"/>
                    <a:cs typeface="Times New Roman"/>
                    <a:sym typeface="Times New Roman"/>
                  </a:rPr>
                  <a:t>数据</a:t>
                </a:r>
              </a:p>
            </p:txBody>
          </p:sp>
          <p:sp>
            <p:nvSpPr>
              <p:cNvPr id="18" name="文本框 2">
                <a:extLst>
                  <a:ext uri="{FF2B5EF4-FFF2-40B4-BE49-F238E27FC236}">
                    <a16:creationId xmlns:a16="http://schemas.microsoft.com/office/drawing/2014/main" id="{BA7D796F-6BDB-4B02-826D-324BEF6113A0}"/>
                  </a:ext>
                </a:extLst>
              </p:cNvPr>
              <p:cNvSpPr txBox="1">
                <a:spLocks noChangeArrowheads="1"/>
              </p:cNvSpPr>
              <p:nvPr/>
            </p:nvSpPr>
            <p:spPr bwMode="auto">
              <a:xfrm>
                <a:off x="1003585" y="1425329"/>
                <a:ext cx="548640" cy="298450"/>
              </a:xfrm>
              <a:prstGeom prst="rect">
                <a:avLst/>
              </a:prstGeom>
              <a:solidFill>
                <a:srgbClr val="FFFFFF"/>
              </a:solidFill>
              <a:ln w="9525">
                <a:noFill/>
                <a:miter lim="800000"/>
              </a:ln>
            </p:spPr>
            <p:txBody>
              <a:bodyPr rot="0" vert="horz" wrap="square" lIns="91440" tIns="45720" rIns="91440" bIns="45720" anchor="t" anchorCtr="0">
                <a:noAutofit/>
              </a:bodyPr>
              <a:lstStyle/>
              <a:p>
                <a:pPr marL="0" marR="0" lvl="0" indent="0" algn="just" defTabSz="914400" eaLnBrk="1" fontAlgn="auto" latinLnBrk="0" hangingPunct="1">
                  <a:lnSpc>
                    <a:spcPct val="120000"/>
                  </a:lnSpc>
                  <a:spcBef>
                    <a:spcPts val="0"/>
                  </a:spcBef>
                  <a:spcAft>
                    <a:spcPts val="0"/>
                  </a:spcAft>
                  <a:buClrTx/>
                  <a:buSzTx/>
                  <a:buFontTx/>
                  <a:buNone/>
                  <a:tabLst/>
                  <a:defRPr/>
                </a:pPr>
                <a:r>
                  <a:rPr kumimoji="0" lang="en-US" altLang="zh-CN" sz="900" b="0" i="0" u="none" strike="noStrike" kern="100" cap="none" spc="0" normalizeH="0" baseline="0" noProof="0">
                    <a:ln>
                      <a:noFill/>
                    </a:ln>
                    <a:solidFill>
                      <a:sysClr val="windowText" lastClr="000000"/>
                    </a:solidFill>
                    <a:effectLst/>
                    <a:uLnTx/>
                    <a:uFillTx/>
                    <a:latin typeface="等线"/>
                    <a:ea typeface="等线"/>
                    <a:cs typeface="Times New Roman"/>
                    <a:sym typeface="Times New Roman"/>
                  </a:rPr>
                  <a:t>信息</a:t>
                </a:r>
              </a:p>
            </p:txBody>
          </p:sp>
          <p:sp>
            <p:nvSpPr>
              <p:cNvPr id="19" name="文本框 2">
                <a:extLst>
                  <a:ext uri="{FF2B5EF4-FFF2-40B4-BE49-F238E27FC236}">
                    <a16:creationId xmlns:a16="http://schemas.microsoft.com/office/drawing/2014/main" id="{A60AD213-A776-490F-A101-50F76857FEEC}"/>
                  </a:ext>
                </a:extLst>
              </p:cNvPr>
              <p:cNvSpPr txBox="1">
                <a:spLocks noChangeArrowheads="1"/>
              </p:cNvSpPr>
              <p:nvPr/>
            </p:nvSpPr>
            <p:spPr bwMode="auto">
              <a:xfrm>
                <a:off x="996121" y="951334"/>
                <a:ext cx="548640" cy="298450"/>
              </a:xfrm>
              <a:prstGeom prst="rect">
                <a:avLst/>
              </a:prstGeom>
              <a:solidFill>
                <a:srgbClr val="FFFFFF"/>
              </a:solidFill>
              <a:ln w="9525">
                <a:noFill/>
                <a:miter lim="800000"/>
              </a:ln>
            </p:spPr>
            <p:txBody>
              <a:bodyPr rot="0" vert="horz" wrap="square" lIns="91440" tIns="45720" rIns="91440" bIns="45720" anchor="t" anchorCtr="0">
                <a:noAutofit/>
              </a:bodyPr>
              <a:lstStyle/>
              <a:p>
                <a:pPr marL="0" marR="0" lvl="0" indent="0" algn="just" defTabSz="914400" eaLnBrk="1" fontAlgn="auto" latinLnBrk="0" hangingPunct="1">
                  <a:lnSpc>
                    <a:spcPct val="120000"/>
                  </a:lnSpc>
                  <a:spcBef>
                    <a:spcPts val="0"/>
                  </a:spcBef>
                  <a:spcAft>
                    <a:spcPts val="0"/>
                  </a:spcAft>
                  <a:buClrTx/>
                  <a:buSzTx/>
                  <a:buFontTx/>
                  <a:buNone/>
                  <a:tabLst/>
                  <a:defRPr/>
                </a:pPr>
                <a:r>
                  <a:rPr kumimoji="0" lang="en-US" altLang="zh-CN" sz="900" b="0" i="0" u="none" strike="noStrike" kern="100" cap="none" spc="0" normalizeH="0" baseline="0" noProof="0">
                    <a:ln>
                      <a:noFill/>
                    </a:ln>
                    <a:solidFill>
                      <a:sysClr val="windowText" lastClr="000000"/>
                    </a:solidFill>
                    <a:effectLst/>
                    <a:uLnTx/>
                    <a:uFillTx/>
                    <a:latin typeface="等线"/>
                    <a:ea typeface="等线"/>
                    <a:cs typeface="Times New Roman"/>
                    <a:sym typeface="Times New Roman"/>
                  </a:rPr>
                  <a:t>知识</a:t>
                </a:r>
              </a:p>
            </p:txBody>
          </p:sp>
          <p:sp>
            <p:nvSpPr>
              <p:cNvPr id="20" name="文本框 2">
                <a:extLst>
                  <a:ext uri="{FF2B5EF4-FFF2-40B4-BE49-F238E27FC236}">
                    <a16:creationId xmlns:a16="http://schemas.microsoft.com/office/drawing/2014/main" id="{1666C088-E061-4B37-82C4-A1EF1EF007B8}"/>
                  </a:ext>
                </a:extLst>
              </p:cNvPr>
              <p:cNvSpPr txBox="1">
                <a:spLocks noChangeArrowheads="1"/>
              </p:cNvSpPr>
              <p:nvPr/>
            </p:nvSpPr>
            <p:spPr bwMode="auto">
              <a:xfrm>
                <a:off x="1022247" y="473607"/>
                <a:ext cx="492125" cy="298450"/>
              </a:xfrm>
              <a:prstGeom prst="rect">
                <a:avLst/>
              </a:prstGeom>
              <a:solidFill>
                <a:srgbClr val="FFFFFF"/>
              </a:solidFill>
              <a:ln w="9525">
                <a:noFill/>
                <a:miter lim="800000"/>
              </a:ln>
            </p:spPr>
            <p:txBody>
              <a:bodyPr rot="0" vert="horz" wrap="square" lIns="91440" tIns="45720" rIns="91440" bIns="45720" anchor="t" anchorCtr="0">
                <a:noAutofit/>
              </a:bodyPr>
              <a:lstStyle/>
              <a:p>
                <a:pPr marL="0" marR="0" lvl="0" indent="0" algn="just" defTabSz="914400" eaLnBrk="1" fontAlgn="auto" latinLnBrk="0" hangingPunct="1">
                  <a:lnSpc>
                    <a:spcPct val="120000"/>
                  </a:lnSpc>
                  <a:spcBef>
                    <a:spcPts val="0"/>
                  </a:spcBef>
                  <a:spcAft>
                    <a:spcPts val="0"/>
                  </a:spcAft>
                  <a:buClrTx/>
                  <a:buSzTx/>
                  <a:buFontTx/>
                  <a:buNone/>
                  <a:tabLst/>
                  <a:defRPr/>
                </a:pPr>
                <a:r>
                  <a:rPr kumimoji="0" lang="en-US" altLang="zh-CN" sz="900" b="0" i="0" u="none" strike="noStrike" kern="100" cap="none" spc="0" normalizeH="0" baseline="0" noProof="0">
                    <a:ln>
                      <a:noFill/>
                    </a:ln>
                    <a:solidFill>
                      <a:sysClr val="windowText" lastClr="000000"/>
                    </a:solidFill>
                    <a:effectLst/>
                    <a:uLnTx/>
                    <a:uFillTx/>
                    <a:latin typeface="等线"/>
                    <a:ea typeface="等线"/>
                    <a:cs typeface="Times New Roman"/>
                    <a:sym typeface="Times New Roman"/>
                  </a:rPr>
                  <a:t>智慧</a:t>
                </a:r>
              </a:p>
            </p:txBody>
          </p:sp>
        </p:grpSp>
        <p:grpSp>
          <p:nvGrpSpPr>
            <p:cNvPr id="8" name="组合 7">
              <a:extLst>
                <a:ext uri="{FF2B5EF4-FFF2-40B4-BE49-F238E27FC236}">
                  <a16:creationId xmlns:a16="http://schemas.microsoft.com/office/drawing/2014/main" id="{920865B5-DAF5-4160-BEBD-B83C2AB05274}"/>
                </a:ext>
              </a:extLst>
            </p:cNvPr>
            <p:cNvGrpSpPr/>
            <p:nvPr/>
          </p:nvGrpSpPr>
          <p:grpSpPr>
            <a:xfrm>
              <a:off x="0" y="389"/>
              <a:ext cx="2163834" cy="2175104"/>
              <a:chOff x="0" y="0"/>
              <a:chExt cx="2163834" cy="2175104"/>
            </a:xfrm>
          </p:grpSpPr>
          <p:cxnSp>
            <p:nvCxnSpPr>
              <p:cNvPr id="9" name="直接连接符 8">
                <a:extLst>
                  <a:ext uri="{FF2B5EF4-FFF2-40B4-BE49-F238E27FC236}">
                    <a16:creationId xmlns:a16="http://schemas.microsoft.com/office/drawing/2014/main" id="{781E2C28-378B-4357-BE9F-1E482E6F7AD7}"/>
                  </a:ext>
                </a:extLst>
              </p:cNvPr>
              <p:cNvCxnSpPr/>
              <p:nvPr/>
            </p:nvCxnSpPr>
            <p:spPr>
              <a:xfrm flipV="1">
                <a:off x="26126" y="869613"/>
                <a:ext cx="1604295" cy="18661"/>
              </a:xfrm>
              <a:prstGeom prst="line">
                <a:avLst/>
              </a:prstGeom>
              <a:noFill/>
              <a:ln w="6350" cap="flat" cmpd="sng" algn="ctr">
                <a:solidFill>
                  <a:srgbClr val="4472C4"/>
                </a:solidFill>
                <a:prstDash val="dash"/>
                <a:miter lim="800000"/>
              </a:ln>
              <a:effectLst/>
            </p:spPr>
          </p:cxnSp>
          <p:cxnSp>
            <p:nvCxnSpPr>
              <p:cNvPr id="10" name="直接连接符 9">
                <a:extLst>
                  <a:ext uri="{FF2B5EF4-FFF2-40B4-BE49-F238E27FC236}">
                    <a16:creationId xmlns:a16="http://schemas.microsoft.com/office/drawing/2014/main" id="{C8B21D59-7DDB-480A-B19C-C963AD234D40}"/>
                  </a:ext>
                </a:extLst>
              </p:cNvPr>
              <p:cNvCxnSpPr/>
              <p:nvPr/>
            </p:nvCxnSpPr>
            <p:spPr>
              <a:xfrm flipV="1">
                <a:off x="0" y="2164702"/>
                <a:ext cx="906081" cy="10402"/>
              </a:xfrm>
              <a:prstGeom prst="line">
                <a:avLst/>
              </a:prstGeom>
              <a:noFill/>
              <a:ln w="6350" cap="flat" cmpd="sng" algn="ctr">
                <a:solidFill>
                  <a:srgbClr val="4472C4"/>
                </a:solidFill>
                <a:prstDash val="dash"/>
                <a:miter lim="800000"/>
              </a:ln>
              <a:effectLst/>
            </p:spPr>
          </p:cxnSp>
          <p:cxnSp>
            <p:nvCxnSpPr>
              <p:cNvPr id="11" name="直接连接符 10">
                <a:extLst>
                  <a:ext uri="{FF2B5EF4-FFF2-40B4-BE49-F238E27FC236}">
                    <a16:creationId xmlns:a16="http://schemas.microsoft.com/office/drawing/2014/main" id="{19BFBCE7-2949-40AC-A9DB-763CAE4D57EA}"/>
                  </a:ext>
                </a:extLst>
              </p:cNvPr>
              <p:cNvCxnSpPr/>
              <p:nvPr/>
            </p:nvCxnSpPr>
            <p:spPr>
              <a:xfrm flipV="1">
                <a:off x="41055" y="0"/>
                <a:ext cx="2122779" cy="22393"/>
              </a:xfrm>
              <a:prstGeom prst="line">
                <a:avLst/>
              </a:prstGeom>
              <a:noFill/>
              <a:ln w="6350" cap="flat" cmpd="sng" algn="ctr">
                <a:solidFill>
                  <a:srgbClr val="4472C4"/>
                </a:solidFill>
                <a:prstDash val="dash"/>
                <a:miter lim="800000"/>
              </a:ln>
              <a:effectLst/>
            </p:spPr>
          </p:cxnSp>
          <p:cxnSp>
            <p:nvCxnSpPr>
              <p:cNvPr id="12" name="直接箭头连接符 11">
                <a:extLst>
                  <a:ext uri="{FF2B5EF4-FFF2-40B4-BE49-F238E27FC236}">
                    <a16:creationId xmlns:a16="http://schemas.microsoft.com/office/drawing/2014/main" id="{2CB87824-4C64-45B5-8BC6-680AC99FF6DC}"/>
                  </a:ext>
                </a:extLst>
              </p:cNvPr>
              <p:cNvCxnSpPr/>
              <p:nvPr/>
            </p:nvCxnSpPr>
            <p:spPr>
              <a:xfrm flipV="1">
                <a:off x="673360" y="896516"/>
                <a:ext cx="0" cy="1268964"/>
              </a:xfrm>
              <a:prstGeom prst="straightConnector1">
                <a:avLst/>
              </a:prstGeom>
              <a:noFill/>
              <a:ln w="6350" cap="flat" cmpd="sng" algn="ctr">
                <a:solidFill>
                  <a:srgbClr val="4472C4"/>
                </a:solidFill>
                <a:prstDash val="solid"/>
                <a:miter lim="800000"/>
                <a:headEnd type="triangle"/>
                <a:tailEnd type="triangle"/>
              </a:ln>
              <a:effectLst/>
            </p:spPr>
          </p:cxnSp>
          <p:sp>
            <p:nvSpPr>
              <p:cNvPr id="13" name="文本框 2">
                <a:extLst>
                  <a:ext uri="{FF2B5EF4-FFF2-40B4-BE49-F238E27FC236}">
                    <a16:creationId xmlns:a16="http://schemas.microsoft.com/office/drawing/2014/main" id="{833EC092-FFF1-4AB8-8A2F-B619CD6F6EFC}"/>
                  </a:ext>
                </a:extLst>
              </p:cNvPr>
              <p:cNvSpPr txBox="1">
                <a:spLocks noChangeArrowheads="1"/>
              </p:cNvSpPr>
              <p:nvPr/>
            </p:nvSpPr>
            <p:spPr bwMode="auto">
              <a:xfrm>
                <a:off x="130629" y="1425717"/>
                <a:ext cx="526591" cy="298450"/>
              </a:xfrm>
              <a:prstGeom prst="rect">
                <a:avLst/>
              </a:prstGeom>
              <a:solidFill>
                <a:srgbClr val="FFFFFF"/>
              </a:solidFill>
              <a:ln w="9525">
                <a:noFill/>
                <a:miter lim="800000"/>
              </a:ln>
            </p:spPr>
            <p:txBody>
              <a:bodyPr rot="0" vert="horz" wrap="square" lIns="91440" tIns="45720" rIns="91440" bIns="45720" anchor="t" anchorCtr="0">
                <a:noAutofit/>
              </a:bodyPr>
              <a:lstStyle/>
              <a:p>
                <a:pPr marL="0" marR="0" lvl="0" indent="0" algn="just" defTabSz="914400" eaLnBrk="1" fontAlgn="auto" latinLnBrk="0" hangingPunct="1">
                  <a:lnSpc>
                    <a:spcPct val="120000"/>
                  </a:lnSpc>
                  <a:spcBef>
                    <a:spcPts val="0"/>
                  </a:spcBef>
                  <a:spcAft>
                    <a:spcPts val="0"/>
                  </a:spcAft>
                  <a:buClrTx/>
                  <a:buSzTx/>
                  <a:buFontTx/>
                  <a:buNone/>
                  <a:tabLst/>
                  <a:defRPr/>
                </a:pPr>
                <a:r>
                  <a:rPr kumimoji="0" lang="en-US" altLang="zh-CN" sz="900" b="0" i="0" u="none" strike="noStrike" kern="100" cap="none" spc="0" normalizeH="0" baseline="0" noProof="0">
                    <a:ln>
                      <a:noFill/>
                    </a:ln>
                    <a:solidFill>
                      <a:sysClr val="windowText" lastClr="000000"/>
                    </a:solidFill>
                    <a:effectLst/>
                    <a:uLnTx/>
                    <a:uFillTx/>
                    <a:latin typeface="等线"/>
                    <a:ea typeface="等线"/>
                    <a:cs typeface="Times New Roman"/>
                    <a:sym typeface="Times New Roman"/>
                  </a:rPr>
                  <a:t>过去</a:t>
                </a:r>
              </a:p>
            </p:txBody>
          </p:sp>
          <p:sp>
            <p:nvSpPr>
              <p:cNvPr id="14" name="文本框 2">
                <a:extLst>
                  <a:ext uri="{FF2B5EF4-FFF2-40B4-BE49-F238E27FC236}">
                    <a16:creationId xmlns:a16="http://schemas.microsoft.com/office/drawing/2014/main" id="{20B28B89-0663-43F5-86FC-517BC229CC06}"/>
                  </a:ext>
                </a:extLst>
              </p:cNvPr>
              <p:cNvSpPr txBox="1">
                <a:spLocks noChangeArrowheads="1"/>
              </p:cNvSpPr>
              <p:nvPr/>
            </p:nvSpPr>
            <p:spPr bwMode="auto">
              <a:xfrm>
                <a:off x="82110" y="347098"/>
                <a:ext cx="535519" cy="298450"/>
              </a:xfrm>
              <a:prstGeom prst="rect">
                <a:avLst/>
              </a:prstGeom>
              <a:solidFill>
                <a:srgbClr val="FFFFFF"/>
              </a:solidFill>
              <a:ln w="9525">
                <a:noFill/>
                <a:miter lim="800000"/>
              </a:ln>
            </p:spPr>
            <p:txBody>
              <a:bodyPr rot="0" vert="horz" wrap="square" lIns="91440" tIns="45720" rIns="91440" bIns="45720" anchor="t" anchorCtr="0">
                <a:noAutofit/>
              </a:bodyPr>
              <a:lstStyle/>
              <a:p>
                <a:pPr marL="0" marR="0" lvl="0" indent="0" algn="just" defTabSz="914400" eaLnBrk="1" fontAlgn="auto" latinLnBrk="0" hangingPunct="1">
                  <a:lnSpc>
                    <a:spcPct val="120000"/>
                  </a:lnSpc>
                  <a:spcBef>
                    <a:spcPts val="0"/>
                  </a:spcBef>
                  <a:spcAft>
                    <a:spcPts val="0"/>
                  </a:spcAft>
                  <a:buClrTx/>
                  <a:buSzTx/>
                  <a:buFontTx/>
                  <a:buNone/>
                  <a:tabLst/>
                  <a:defRPr/>
                </a:pPr>
                <a:r>
                  <a:rPr kumimoji="0" lang="en-US" altLang="zh-CN" sz="900" b="0" i="0" u="none" strike="noStrike" kern="100" cap="none" spc="0" normalizeH="0" baseline="0" noProof="0">
                    <a:ln>
                      <a:noFill/>
                    </a:ln>
                    <a:solidFill>
                      <a:sysClr val="windowText" lastClr="000000"/>
                    </a:solidFill>
                    <a:effectLst/>
                    <a:uLnTx/>
                    <a:uFillTx/>
                    <a:latin typeface="等线"/>
                    <a:ea typeface="等线"/>
                    <a:cs typeface="Times New Roman"/>
                    <a:sym typeface="Times New Roman"/>
                  </a:rPr>
                  <a:t>未来</a:t>
                </a:r>
              </a:p>
            </p:txBody>
          </p:sp>
          <p:cxnSp>
            <p:nvCxnSpPr>
              <p:cNvPr id="15" name="直接箭头连接符 14">
                <a:extLst>
                  <a:ext uri="{FF2B5EF4-FFF2-40B4-BE49-F238E27FC236}">
                    <a16:creationId xmlns:a16="http://schemas.microsoft.com/office/drawing/2014/main" id="{0331BE0F-F0AF-4AC7-A876-126C3A91B753}"/>
                  </a:ext>
                </a:extLst>
              </p:cNvPr>
              <p:cNvCxnSpPr/>
              <p:nvPr/>
            </p:nvCxnSpPr>
            <p:spPr>
              <a:xfrm flipV="1">
                <a:off x="673360" y="8242"/>
                <a:ext cx="5909" cy="856680"/>
              </a:xfrm>
              <a:prstGeom prst="straightConnector1">
                <a:avLst/>
              </a:prstGeom>
              <a:noFill/>
              <a:ln w="6350" cap="flat" cmpd="sng" algn="ctr">
                <a:solidFill>
                  <a:srgbClr val="4472C4"/>
                </a:solidFill>
                <a:prstDash val="solid"/>
                <a:miter lim="800000"/>
                <a:headEnd type="triangle"/>
                <a:tailEnd type="triangle"/>
              </a:ln>
              <a:effectLst/>
            </p:spPr>
          </p:cxnSp>
        </p:grpSp>
      </p:grpSp>
      <p:sp>
        <p:nvSpPr>
          <p:cNvPr id="25" name="文本框 24">
            <a:extLst>
              <a:ext uri="{FF2B5EF4-FFF2-40B4-BE49-F238E27FC236}">
                <a16:creationId xmlns:a16="http://schemas.microsoft.com/office/drawing/2014/main" id="{8B051D43-DC0D-4534-B42B-2AC66E08F0B0}"/>
              </a:ext>
            </a:extLst>
          </p:cNvPr>
          <p:cNvSpPr txBox="1"/>
          <p:nvPr/>
        </p:nvSpPr>
        <p:spPr>
          <a:xfrm>
            <a:off x="216107" y="1502914"/>
            <a:ext cx="5316144" cy="3170099"/>
          </a:xfrm>
          <a:prstGeom prst="rect">
            <a:avLst/>
          </a:prstGeom>
          <a:noFill/>
        </p:spPr>
        <p:txBody>
          <a:bodyPr wrap="square">
            <a:spAutoFit/>
          </a:bodyPr>
          <a:lstStyle/>
          <a:p>
            <a:r>
              <a:rPr lang="zh-CN" altLang="en-US" sz="2200" dirty="0"/>
              <a:t>       “</a:t>
            </a:r>
            <a:r>
              <a:rPr lang="zh-CN" altLang="en-US" sz="2200" b="1" dirty="0">
                <a:solidFill>
                  <a:srgbClr val="FF0000"/>
                </a:solidFill>
              </a:rPr>
              <a:t>分析</a:t>
            </a:r>
            <a:r>
              <a:rPr lang="zh-CN" altLang="en-US" sz="2200" dirty="0"/>
              <a:t>”通常指用传统的统计学方法，对数据的特征进行分析，如：统计特征分析、数据分布特性分析和回归分析等。</a:t>
            </a:r>
            <a:endParaRPr lang="en-US" altLang="zh-CN" sz="2200" dirty="0"/>
          </a:p>
          <a:p>
            <a:r>
              <a:rPr lang="en-US" altLang="zh-CN" sz="2200" dirty="0"/>
              <a:t>        </a:t>
            </a:r>
            <a:r>
              <a:rPr lang="zh-CN" altLang="en-US" sz="2200" dirty="0"/>
              <a:t>而“</a:t>
            </a:r>
            <a:r>
              <a:rPr lang="zh-CN" altLang="en-US" sz="2200" b="1" dirty="0">
                <a:solidFill>
                  <a:srgbClr val="FF0000"/>
                </a:solidFill>
              </a:rPr>
              <a:t>挖掘</a:t>
            </a:r>
            <a:r>
              <a:rPr lang="zh-CN" altLang="en-US" sz="2200" dirty="0"/>
              <a:t>”通常指的是用人工智能方法，挖掘大数据中所蕴含的</a:t>
            </a:r>
            <a:r>
              <a:rPr lang="zh-CN" altLang="en-US" sz="2200" b="1" dirty="0">
                <a:solidFill>
                  <a:srgbClr val="FF0000"/>
                </a:solidFill>
              </a:rPr>
              <a:t>知识</a:t>
            </a:r>
            <a:r>
              <a:rPr lang="zh-CN" altLang="en-US" sz="2200" dirty="0"/>
              <a:t>，如：聚类、分类和关联规则挖掘等。</a:t>
            </a:r>
            <a:endParaRPr lang="en-US" altLang="zh-CN" sz="2200" dirty="0"/>
          </a:p>
          <a:p>
            <a:r>
              <a:rPr lang="en-US" altLang="zh-CN" sz="2200" dirty="0"/>
              <a:t>        </a:t>
            </a:r>
            <a:r>
              <a:rPr lang="zh-CN" altLang="en-US" sz="2200" dirty="0"/>
              <a:t>知识发现与数据挖掘（</a:t>
            </a:r>
            <a:r>
              <a:rPr lang="en-US" altLang="zh-CN" sz="2200" dirty="0"/>
              <a:t>KDD</a:t>
            </a:r>
            <a:r>
              <a:rPr lang="zh-CN" altLang="en-US" sz="2200" dirty="0"/>
              <a:t>）的过程可以用一个金字塔形形象地进行说明，如右图所示</a:t>
            </a:r>
            <a:r>
              <a:rPr lang="zh-CN" altLang="en-US" sz="2400" dirty="0"/>
              <a:t>。</a:t>
            </a:r>
          </a:p>
        </p:txBody>
      </p:sp>
      <p:sp>
        <p:nvSpPr>
          <p:cNvPr id="26" name="文本框 25">
            <a:extLst>
              <a:ext uri="{FF2B5EF4-FFF2-40B4-BE49-F238E27FC236}">
                <a16:creationId xmlns:a16="http://schemas.microsoft.com/office/drawing/2014/main" id="{5F5F0072-FB93-45EA-ADC4-A7B8EA0CDA30}"/>
              </a:ext>
            </a:extLst>
          </p:cNvPr>
          <p:cNvSpPr txBox="1"/>
          <p:nvPr/>
        </p:nvSpPr>
        <p:spPr>
          <a:xfrm>
            <a:off x="5678387" y="4071020"/>
            <a:ext cx="2818949" cy="369332"/>
          </a:xfrm>
          <a:prstGeom prst="rect">
            <a:avLst/>
          </a:prstGeom>
          <a:noFill/>
        </p:spPr>
        <p:txBody>
          <a:bodyPr wrap="square">
            <a:spAutoFit/>
          </a:bodyPr>
          <a:lstStyle/>
          <a:p>
            <a:r>
              <a:rPr lang="zh-CN" altLang="en-US" dirty="0"/>
              <a:t>知识发现与数据挖掘过程</a:t>
            </a:r>
          </a:p>
        </p:txBody>
      </p:sp>
    </p:spTree>
    <p:extLst>
      <p:ext uri="{BB962C8B-B14F-4D97-AF65-F5344CB8AC3E}">
        <p14:creationId xmlns:p14="http://schemas.microsoft.com/office/powerpoint/2010/main" val="2084869969"/>
      </p:ext>
    </p:extLst>
  </p:cSld>
  <p:clrMapOvr>
    <a:masterClrMapping/>
  </p:clrMapOvr>
  <p:transition spd="slow">
    <p:pull/>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6675" y="234315"/>
            <a:ext cx="5014595" cy="523220"/>
          </a:xfrm>
          <a:prstGeom prst="rect">
            <a:avLst/>
          </a:prstGeom>
        </p:spPr>
        <p:txBody>
          <a:bodyPr wrap="square">
            <a:spAutoFit/>
          </a:bodyPr>
          <a:lstStyle/>
          <a:p>
            <a:r>
              <a:rPr lang="en-US" altLang="zh-CN"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1</a:t>
            </a:r>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en-US" altLang="zh-CN"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4</a:t>
            </a:r>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en-US" altLang="zh-CN"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 </a:t>
            </a:r>
            <a:r>
              <a:rPr lang="zh-CN" alt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大数据的技术支撑</a:t>
            </a:r>
            <a:endPar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9" name="文本框 28">
            <a:extLst>
              <a:ext uri="{FF2B5EF4-FFF2-40B4-BE49-F238E27FC236}">
                <a16:creationId xmlns:a16="http://schemas.microsoft.com/office/drawing/2014/main" id="{C2B9923C-EC81-4DC9-BBA1-97B5707EA10C}"/>
              </a:ext>
            </a:extLst>
          </p:cNvPr>
          <p:cNvSpPr txBox="1"/>
          <p:nvPr/>
        </p:nvSpPr>
        <p:spPr>
          <a:xfrm>
            <a:off x="251520" y="989816"/>
            <a:ext cx="4660245" cy="3416320"/>
          </a:xfrm>
          <a:prstGeom prst="rect">
            <a:avLst/>
          </a:prstGeom>
          <a:noFill/>
        </p:spPr>
        <p:txBody>
          <a:bodyPr wrap="square">
            <a:spAutoFit/>
          </a:bodyPr>
          <a:lstStyle/>
          <a:p>
            <a:r>
              <a:rPr lang="zh-CN" altLang="en-US" sz="2400" dirty="0"/>
              <a:t>         大数据技术发展的主要技术支撑来自于存储成本的下降、计算速度的提高和人工智能理论与技术的发展，而云计算和分布式系统、人工智能、物联网、硬件性价比的提高以及软件技术的进步推动了大数据技术的发展。如右图 是大数据的</a:t>
            </a:r>
            <a:r>
              <a:rPr lang="zh-CN" altLang="en-US" sz="2400" b="1" dirty="0">
                <a:solidFill>
                  <a:srgbClr val="FF0000"/>
                </a:solidFill>
              </a:rPr>
              <a:t>三大支撑技术</a:t>
            </a:r>
            <a:r>
              <a:rPr lang="zh-CN" altLang="en-US" sz="2400" dirty="0"/>
              <a:t>之间关系的示意图。</a:t>
            </a:r>
          </a:p>
        </p:txBody>
      </p:sp>
      <p:pic>
        <p:nvPicPr>
          <p:cNvPr id="30" name="图片 29" descr="多智时代-人工智能大数据学习入门网站|人工智能、大数据、云计算、物联网的学习服务的好平台">
            <a:extLst>
              <a:ext uri="{FF2B5EF4-FFF2-40B4-BE49-F238E27FC236}">
                <a16:creationId xmlns:a16="http://schemas.microsoft.com/office/drawing/2014/main" id="{9B653EBC-55E1-405E-800D-BAF5EDF039D2}"/>
              </a:ext>
            </a:extLst>
          </p:cNvPr>
          <p:cNvPicPr/>
          <p:nvPr/>
        </p:nvPicPr>
        <p:blipFill>
          <a:blip r:embed="rId2">
            <a:extLst>
              <a:ext uri="{28A0092B-C50C-407E-A947-70E740481C1C}">
                <a14:useLocalDpi xmlns:a14="http://schemas.microsoft.com/office/drawing/2010/main" val="0"/>
              </a:ext>
            </a:extLst>
          </a:blip>
          <a:srcRect r="40064"/>
          <a:stretch>
            <a:fillRect/>
          </a:stretch>
        </p:blipFill>
        <p:spPr>
          <a:xfrm>
            <a:off x="5148064" y="1059583"/>
            <a:ext cx="3744416" cy="2620418"/>
          </a:xfrm>
          <a:prstGeom prst="rect">
            <a:avLst/>
          </a:prstGeom>
          <a:noFill/>
          <a:ln>
            <a:noFill/>
          </a:ln>
        </p:spPr>
      </p:pic>
      <p:sp>
        <p:nvSpPr>
          <p:cNvPr id="31" name="文本框 30">
            <a:extLst>
              <a:ext uri="{FF2B5EF4-FFF2-40B4-BE49-F238E27FC236}">
                <a16:creationId xmlns:a16="http://schemas.microsoft.com/office/drawing/2014/main" id="{94619BEB-E870-4FB8-959B-D2D1180DE918}"/>
              </a:ext>
            </a:extLst>
          </p:cNvPr>
          <p:cNvSpPr txBox="1"/>
          <p:nvPr/>
        </p:nvSpPr>
        <p:spPr>
          <a:xfrm>
            <a:off x="6156176" y="3855376"/>
            <a:ext cx="2232248" cy="369332"/>
          </a:xfrm>
          <a:prstGeom prst="rect">
            <a:avLst/>
          </a:prstGeom>
          <a:noFill/>
        </p:spPr>
        <p:txBody>
          <a:bodyPr wrap="square">
            <a:spAutoFit/>
          </a:bodyPr>
          <a:lstStyle/>
          <a:p>
            <a:r>
              <a:rPr lang="zh-CN" altLang="en-US" dirty="0"/>
              <a:t>大数据的支撑技术</a:t>
            </a:r>
          </a:p>
        </p:txBody>
      </p:sp>
    </p:spTree>
    <p:extLst>
      <p:ext uri="{BB962C8B-B14F-4D97-AF65-F5344CB8AC3E}">
        <p14:creationId xmlns:p14="http://schemas.microsoft.com/office/powerpoint/2010/main" val="1744744846"/>
      </p:ext>
    </p:extLst>
  </p:cSld>
  <p:clrMapOvr>
    <a:masterClrMapping/>
  </p:clrMapOvr>
  <p:transition spd="slow">
    <p:pull/>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6675" y="234315"/>
            <a:ext cx="5014595" cy="523220"/>
          </a:xfrm>
          <a:prstGeom prst="rect">
            <a:avLst/>
          </a:prstGeom>
        </p:spPr>
        <p:txBody>
          <a:bodyPr wrap="square">
            <a:spAutoFit/>
          </a:bodyPr>
          <a:lstStyle/>
          <a:p>
            <a:r>
              <a:rPr lang="en-US" altLang="zh-CN"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1</a:t>
            </a:r>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en-US" altLang="zh-CN"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4</a:t>
            </a:r>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en-US" altLang="zh-CN"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 </a:t>
            </a:r>
            <a:r>
              <a:rPr lang="zh-CN" alt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大数据的技术支撑</a:t>
            </a:r>
            <a:endPar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0EE81D91-9879-413B-A56F-8757E8CEF8A3}"/>
              </a:ext>
            </a:extLst>
          </p:cNvPr>
          <p:cNvSpPr txBox="1"/>
          <p:nvPr/>
        </p:nvSpPr>
        <p:spPr>
          <a:xfrm>
            <a:off x="403584" y="860450"/>
            <a:ext cx="8432441" cy="4231928"/>
          </a:xfrm>
          <a:prstGeom prst="rect">
            <a:avLst/>
          </a:prstGeom>
          <a:noFill/>
        </p:spPr>
        <p:txBody>
          <a:bodyPr wrap="square">
            <a:spAutoFit/>
          </a:bodyPr>
          <a:lstStyle/>
          <a:p>
            <a:pPr>
              <a:spcBef>
                <a:spcPts val="600"/>
              </a:spcBef>
            </a:pPr>
            <a:r>
              <a:rPr lang="en-US" altLang="zh-CN" sz="2400" dirty="0"/>
              <a:t>        </a:t>
            </a:r>
            <a:r>
              <a:rPr lang="en-US" altLang="zh-CN" sz="2800" b="1" dirty="0">
                <a:solidFill>
                  <a:srgbClr val="FF0000"/>
                </a:solidFill>
              </a:rPr>
              <a:t>1.</a:t>
            </a:r>
            <a:r>
              <a:rPr lang="zh-CN" altLang="en-US" sz="2800" b="1" dirty="0">
                <a:solidFill>
                  <a:srgbClr val="FF0000"/>
                </a:solidFill>
              </a:rPr>
              <a:t>云计算的支撑作用</a:t>
            </a:r>
            <a:endParaRPr lang="en-US" altLang="zh-CN" sz="2800" b="1" dirty="0">
              <a:solidFill>
                <a:srgbClr val="FF0000"/>
              </a:solidFill>
            </a:endParaRPr>
          </a:p>
          <a:p>
            <a:pPr>
              <a:spcBef>
                <a:spcPts val="600"/>
              </a:spcBef>
            </a:pPr>
            <a:r>
              <a:rPr lang="en-US" altLang="zh-CN" sz="2000" dirty="0"/>
              <a:t>        </a:t>
            </a:r>
            <a:r>
              <a:rPr lang="zh-CN" altLang="zh-CN" sz="2000" dirty="0"/>
              <a:t>云计算提供了云存储中心和分布式处理，一方面降低了存储成本，另一方面提供了强大的计算能力</a:t>
            </a:r>
            <a:r>
              <a:rPr lang="zh-CN" altLang="en-US" sz="2000" dirty="0"/>
              <a:t>。</a:t>
            </a:r>
            <a:r>
              <a:rPr lang="zh-CN" altLang="zh-CN" sz="2000" b="1" dirty="0">
                <a:solidFill>
                  <a:srgbClr val="FF0000"/>
                </a:solidFill>
              </a:rPr>
              <a:t>没有云计算，就不会有大数据的被分析和利用</a:t>
            </a:r>
            <a:r>
              <a:rPr lang="zh-CN" altLang="zh-CN" sz="2000" dirty="0"/>
              <a:t>。</a:t>
            </a:r>
          </a:p>
          <a:p>
            <a:pPr>
              <a:spcBef>
                <a:spcPts val="600"/>
              </a:spcBef>
            </a:pPr>
            <a:r>
              <a:rPr lang="en-US" altLang="zh-CN" sz="2800" b="1" dirty="0"/>
              <a:t>       </a:t>
            </a:r>
            <a:r>
              <a:rPr lang="en-US" altLang="zh-CN" sz="2800" b="1" dirty="0">
                <a:solidFill>
                  <a:srgbClr val="FF0000"/>
                </a:solidFill>
              </a:rPr>
              <a:t>2.</a:t>
            </a:r>
            <a:r>
              <a:rPr lang="zh-CN" altLang="en-US" sz="2800" b="1" dirty="0">
                <a:solidFill>
                  <a:srgbClr val="FF0000"/>
                </a:solidFill>
              </a:rPr>
              <a:t>人工智能与大数据</a:t>
            </a:r>
          </a:p>
          <a:p>
            <a:pPr>
              <a:spcBef>
                <a:spcPts val="600"/>
              </a:spcBef>
            </a:pPr>
            <a:r>
              <a:rPr lang="zh-CN" altLang="en-US" sz="2000" dirty="0"/>
              <a:t>        一方面，数据及对数据的分析，客观上支撑了一大类人工智能的发展；另一方面，人工智能使得机器拥有理解数据的能力。</a:t>
            </a:r>
          </a:p>
          <a:p>
            <a:pPr>
              <a:spcBef>
                <a:spcPts val="600"/>
              </a:spcBef>
            </a:pPr>
            <a:r>
              <a:rPr lang="en-US" altLang="zh-CN" sz="2400" dirty="0"/>
              <a:t>        </a:t>
            </a:r>
            <a:r>
              <a:rPr lang="en-US" altLang="zh-CN" sz="2800" b="1" dirty="0">
                <a:solidFill>
                  <a:srgbClr val="FF0000"/>
                </a:solidFill>
              </a:rPr>
              <a:t>3.</a:t>
            </a:r>
            <a:r>
              <a:rPr lang="zh-CN" altLang="en-US" sz="2800" b="1" dirty="0">
                <a:solidFill>
                  <a:srgbClr val="FF0000"/>
                </a:solidFill>
              </a:rPr>
              <a:t>物联网与大数据</a:t>
            </a:r>
            <a:endParaRPr lang="en-US" altLang="zh-CN" sz="2800" b="1" dirty="0">
              <a:solidFill>
                <a:srgbClr val="FF0000"/>
              </a:solidFill>
            </a:endParaRPr>
          </a:p>
          <a:p>
            <a:pPr>
              <a:spcBef>
                <a:spcPts val="600"/>
              </a:spcBef>
            </a:pPr>
            <a:r>
              <a:rPr lang="en-US" altLang="zh-CN" sz="2000" dirty="0"/>
              <a:t>        </a:t>
            </a:r>
            <a:r>
              <a:rPr lang="zh-CN" altLang="zh-CN" sz="2000" dirty="0"/>
              <a:t>物联网为大数据技术的发展提供了海量的数据来源和广泛的应用平台；而大数据技术的发展，促进了物联网系统在更多领域的应用，并提高了其应用的效果。</a:t>
            </a:r>
          </a:p>
        </p:txBody>
      </p:sp>
    </p:spTree>
    <p:extLst>
      <p:ext uri="{BB962C8B-B14F-4D97-AF65-F5344CB8AC3E}">
        <p14:creationId xmlns:p14="http://schemas.microsoft.com/office/powerpoint/2010/main" val="879698724"/>
      </p:ext>
    </p:extLst>
  </p:cSld>
  <p:clrMapOvr>
    <a:masterClrMapping/>
  </p:clrMapOvr>
  <p:transition spd="slow">
    <p:pull/>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6674" y="234315"/>
            <a:ext cx="4984750" cy="523220"/>
          </a:xfrm>
          <a:prstGeom prst="rect">
            <a:avLst/>
          </a:prstGeom>
        </p:spPr>
        <p:txBody>
          <a:bodyPr wrap="square">
            <a:spAutoFit/>
          </a:bodyPr>
          <a:lstStyle/>
          <a:p>
            <a:r>
              <a:rPr lang="en-US" altLang="zh-CN"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a:t>
            </a:r>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en-US" altLang="zh-CN"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4</a:t>
            </a:r>
            <a:r>
              <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en-US" altLang="zh-CN"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3</a:t>
            </a:r>
            <a:r>
              <a:rPr lang="zh-CN" alt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目前流行的大数据技术</a:t>
            </a:r>
            <a:endPar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FEB359FB-67C8-4C46-A48E-47CD27656EFA}"/>
              </a:ext>
            </a:extLst>
          </p:cNvPr>
          <p:cNvSpPr txBox="1"/>
          <p:nvPr/>
        </p:nvSpPr>
        <p:spPr>
          <a:xfrm>
            <a:off x="251520" y="1054049"/>
            <a:ext cx="8472929" cy="3123932"/>
          </a:xfrm>
          <a:prstGeom prst="rect">
            <a:avLst/>
          </a:prstGeom>
          <a:noFill/>
        </p:spPr>
        <p:txBody>
          <a:bodyPr wrap="square">
            <a:spAutoFit/>
          </a:bodyPr>
          <a:lstStyle/>
          <a:p>
            <a:pPr>
              <a:spcBef>
                <a:spcPts val="600"/>
              </a:spcBef>
            </a:pPr>
            <a:r>
              <a:rPr lang="zh-CN" altLang="en-US" sz="2400" dirty="0"/>
              <a:t>        大数据时代，数据的存储和处理由“集中式”向“分布式”演进。</a:t>
            </a:r>
            <a:r>
              <a:rPr lang="en-US" altLang="zh-CN" sz="2400" dirty="0"/>
              <a:t>2003~2006</a:t>
            </a:r>
            <a:r>
              <a:rPr lang="zh-CN" altLang="en-US" sz="2400" dirty="0"/>
              <a:t>年，</a:t>
            </a:r>
            <a:r>
              <a:rPr lang="en-US" altLang="zh-CN" sz="2400" dirty="0"/>
              <a:t>Google</a:t>
            </a:r>
            <a:r>
              <a:rPr lang="zh-CN" altLang="en-US" sz="2400" dirty="0"/>
              <a:t>发表了四篇文章，分别是关于分布式文件系统（</a:t>
            </a:r>
            <a:r>
              <a:rPr lang="en-US" altLang="zh-CN" sz="2400" dirty="0"/>
              <a:t>GFS</a:t>
            </a:r>
            <a:r>
              <a:rPr lang="zh-CN" altLang="en-US" sz="2400" dirty="0"/>
              <a:t>），分布式计算框架（</a:t>
            </a:r>
            <a:r>
              <a:rPr lang="en-US" altLang="zh-CN" sz="2400" dirty="0"/>
              <a:t>MapReduce</a:t>
            </a:r>
            <a:r>
              <a:rPr lang="zh-CN" altLang="en-US" sz="2400" dirty="0"/>
              <a:t>），大数据管理（</a:t>
            </a:r>
            <a:r>
              <a:rPr lang="en-US" altLang="zh-CN" sz="2400" dirty="0"/>
              <a:t>Big Table</a:t>
            </a:r>
            <a:r>
              <a:rPr lang="zh-CN" altLang="en-US" sz="2400" dirty="0"/>
              <a:t>）和分布式资源管理（</a:t>
            </a:r>
            <a:r>
              <a:rPr lang="en-US" altLang="zh-CN" sz="2400" dirty="0"/>
              <a:t>Chubby</a:t>
            </a:r>
            <a:r>
              <a:rPr lang="zh-CN" altLang="en-US" sz="2400" dirty="0"/>
              <a:t>），至此奠定了分布式计算发展的基础。</a:t>
            </a:r>
          </a:p>
          <a:p>
            <a:pPr>
              <a:spcBef>
                <a:spcPts val="600"/>
              </a:spcBef>
            </a:pPr>
            <a:r>
              <a:rPr lang="zh-CN" altLang="en-US" sz="2400" dirty="0"/>
              <a:t>         在大数据处理技术中，</a:t>
            </a:r>
            <a:r>
              <a:rPr lang="zh-CN" altLang="en-US" sz="2400" dirty="0">
                <a:solidFill>
                  <a:srgbClr val="FF0000"/>
                </a:solidFill>
              </a:rPr>
              <a:t>“分布式存储”</a:t>
            </a:r>
            <a:r>
              <a:rPr lang="zh-CN" altLang="en-US" sz="2400" dirty="0"/>
              <a:t>和</a:t>
            </a:r>
            <a:r>
              <a:rPr lang="zh-CN" altLang="en-US" sz="2400" dirty="0">
                <a:solidFill>
                  <a:srgbClr val="FF0000"/>
                </a:solidFill>
              </a:rPr>
              <a:t>“分布式计算”</a:t>
            </a:r>
            <a:r>
              <a:rPr lang="zh-CN" altLang="en-US" sz="2400" dirty="0"/>
              <a:t>框架最为重要也是最基础的技术支撑，所谓“框架”是一组负责对系统中的数据进行操作的“计算引擎和组件”。</a:t>
            </a:r>
          </a:p>
        </p:txBody>
      </p:sp>
    </p:spTree>
  </p:cSld>
  <p:clrMapOvr>
    <a:masterClrMapping/>
  </p:clrMapOvr>
  <p:transition spd="slow">
    <p:pull/>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6676" y="234315"/>
            <a:ext cx="4918075" cy="954107"/>
          </a:xfrm>
          <a:prstGeom prst="rect">
            <a:avLst/>
          </a:prstGeom>
        </p:spPr>
        <p:txBody>
          <a:bodyPr wrap="square">
            <a:spAutoFit/>
          </a:bodyPr>
          <a:lstStyle/>
          <a:p>
            <a:r>
              <a:rPr lang="en-US" altLang="zh-CN"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1.4.3</a:t>
            </a:r>
            <a:r>
              <a:rPr lang="zh-CN" alt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目前流行的大数据技术</a:t>
            </a:r>
          </a:p>
          <a:p>
            <a:endPar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C670EAEA-D1FD-422B-A8C0-92F2838694C4}"/>
              </a:ext>
            </a:extLst>
          </p:cNvPr>
          <p:cNvSpPr txBox="1"/>
          <p:nvPr/>
        </p:nvSpPr>
        <p:spPr>
          <a:xfrm>
            <a:off x="251520" y="957957"/>
            <a:ext cx="8472929" cy="461665"/>
          </a:xfrm>
          <a:prstGeom prst="rect">
            <a:avLst/>
          </a:prstGeom>
          <a:noFill/>
        </p:spPr>
        <p:txBody>
          <a:bodyPr wrap="square">
            <a:spAutoFit/>
          </a:bodyPr>
          <a:lstStyle/>
          <a:p>
            <a:pPr>
              <a:spcBef>
                <a:spcPts val="600"/>
              </a:spcBef>
            </a:pPr>
            <a:r>
              <a:rPr lang="en-US" altLang="zh-CN" sz="2400" dirty="0"/>
              <a:t>Hadoop</a:t>
            </a:r>
            <a:r>
              <a:rPr lang="zh-CN" altLang="zh-CN" sz="2400" dirty="0"/>
              <a:t>和</a:t>
            </a:r>
            <a:r>
              <a:rPr lang="en-US" altLang="zh-CN" sz="2400" dirty="0"/>
              <a:t>Spark</a:t>
            </a:r>
            <a:r>
              <a:rPr lang="zh-CN" altLang="zh-CN" sz="2400" dirty="0"/>
              <a:t>是目前最著名的两大主流大数据处理框架</a:t>
            </a:r>
            <a:r>
              <a:rPr lang="zh-CN" altLang="en-US" sz="2400" dirty="0"/>
              <a:t>。</a:t>
            </a:r>
            <a:endParaRPr lang="zh-CN" altLang="en-US" sz="3200" dirty="0"/>
          </a:p>
        </p:txBody>
      </p:sp>
      <p:sp>
        <p:nvSpPr>
          <p:cNvPr id="7" name="矩形 6">
            <a:extLst>
              <a:ext uri="{FF2B5EF4-FFF2-40B4-BE49-F238E27FC236}">
                <a16:creationId xmlns:a16="http://schemas.microsoft.com/office/drawing/2014/main" id="{0A07F0EF-D7EE-49B0-BAF8-C053B01829E9}"/>
              </a:ext>
            </a:extLst>
          </p:cNvPr>
          <p:cNvSpPr/>
          <p:nvPr/>
        </p:nvSpPr>
        <p:spPr>
          <a:xfrm>
            <a:off x="5940152" y="3795886"/>
            <a:ext cx="2270173" cy="338554"/>
          </a:xfrm>
          <a:prstGeom prst="rect">
            <a:avLst/>
          </a:prstGeom>
        </p:spPr>
        <p:txBody>
          <a:bodyPr wrap="none">
            <a:spAutoFit/>
          </a:bodyPr>
          <a:lstStyle/>
          <a:p>
            <a:r>
              <a:rPr lang="en-US" altLang="zh-CN" sz="1600" kern="1050" dirty="0">
                <a:solidFill>
                  <a:srgbClr val="000000"/>
                </a:solidFill>
                <a:latin typeface="Times New Roman" panose="02020603050405020304" pitchFamily="18" charset="0"/>
                <a:cs typeface="方正书宋简体"/>
              </a:rPr>
              <a:t>Hadoop</a:t>
            </a:r>
            <a:r>
              <a:rPr lang="zh-CN" altLang="zh-CN" sz="1600" kern="1050" dirty="0">
                <a:solidFill>
                  <a:srgbClr val="000000"/>
                </a:solidFill>
                <a:latin typeface="Times New Roman" panose="02020603050405020304" pitchFamily="18" charset="0"/>
                <a:cs typeface="方正书宋简体"/>
              </a:rPr>
              <a:t>生态系统示意图</a:t>
            </a:r>
            <a:endParaRPr lang="zh-CN" altLang="en-US" sz="1600" dirty="0"/>
          </a:p>
        </p:txBody>
      </p:sp>
      <p:sp>
        <p:nvSpPr>
          <p:cNvPr id="8" name="矩形 7">
            <a:extLst>
              <a:ext uri="{FF2B5EF4-FFF2-40B4-BE49-F238E27FC236}">
                <a16:creationId xmlns:a16="http://schemas.microsoft.com/office/drawing/2014/main" id="{32DB4C8A-ED43-4034-8F32-B5D0D8D4084F}"/>
              </a:ext>
            </a:extLst>
          </p:cNvPr>
          <p:cNvSpPr/>
          <p:nvPr/>
        </p:nvSpPr>
        <p:spPr>
          <a:xfrm>
            <a:off x="179512" y="1698196"/>
            <a:ext cx="4329639" cy="2461508"/>
          </a:xfrm>
          <a:prstGeom prst="rect">
            <a:avLst/>
          </a:prstGeom>
        </p:spPr>
        <p:txBody>
          <a:bodyPr wrap="square">
            <a:spAutoFit/>
          </a:bodyPr>
          <a:lstStyle/>
          <a:p>
            <a:pPr>
              <a:lnSpc>
                <a:spcPct val="130000"/>
              </a:lnSpc>
              <a:buClr>
                <a:srgbClr val="274991"/>
              </a:buClr>
              <a:buFont typeface="Wingdings" panose="05000000000000000000" pitchFamily="2" charset="2"/>
              <a:buChar char="Ø"/>
            </a:pPr>
            <a:r>
              <a:rPr lang="en-US" altLang="zh-CN" sz="2000" spc="20" dirty="0">
                <a:solidFill>
                  <a:srgbClr val="FF0000"/>
                </a:solidFill>
                <a:latin typeface="+mn-ea"/>
              </a:rPr>
              <a:t>Hadoop</a:t>
            </a:r>
            <a:r>
              <a:rPr lang="zh-CN" altLang="en-US" sz="2000" spc="20" dirty="0">
                <a:latin typeface="+mn-ea"/>
              </a:rPr>
              <a:t>被公认为行业大数据标准开源软件，通常运行在</a:t>
            </a:r>
            <a:r>
              <a:rPr lang="en-US" altLang="zh-CN" sz="2000" spc="20" dirty="0">
                <a:latin typeface="+mn-ea"/>
              </a:rPr>
              <a:t>Linux</a:t>
            </a:r>
            <a:r>
              <a:rPr lang="zh-CN" altLang="en-US" sz="2000" spc="20" dirty="0">
                <a:latin typeface="+mn-ea"/>
              </a:rPr>
              <a:t>平台上。</a:t>
            </a:r>
          </a:p>
          <a:p>
            <a:pPr>
              <a:lnSpc>
                <a:spcPct val="130000"/>
              </a:lnSpc>
              <a:buClr>
                <a:srgbClr val="274991"/>
              </a:buClr>
              <a:buFont typeface="Wingdings" panose="05000000000000000000" pitchFamily="2" charset="2"/>
              <a:buChar char="Ø"/>
            </a:pPr>
            <a:r>
              <a:rPr lang="zh-CN" altLang="en-US" sz="2000" spc="20" dirty="0">
                <a:latin typeface="+mn-ea"/>
              </a:rPr>
              <a:t>几乎所有主流厂商都围绕</a:t>
            </a:r>
            <a:r>
              <a:rPr lang="en-US" altLang="zh-CN" sz="2000" spc="20" dirty="0">
                <a:latin typeface="+mn-ea"/>
              </a:rPr>
              <a:t>Hadoop</a:t>
            </a:r>
            <a:r>
              <a:rPr lang="zh-CN" altLang="en-US" sz="2000" spc="20" dirty="0">
                <a:latin typeface="+mn-ea"/>
              </a:rPr>
              <a:t>提供开发工具和技术服务。</a:t>
            </a:r>
            <a:endParaRPr lang="en-US" altLang="zh-CN" sz="2000" spc="20" dirty="0">
              <a:latin typeface="+mn-ea"/>
            </a:endParaRPr>
          </a:p>
          <a:p>
            <a:pPr>
              <a:lnSpc>
                <a:spcPct val="130000"/>
              </a:lnSpc>
              <a:buClr>
                <a:srgbClr val="274991"/>
              </a:buClr>
              <a:buFont typeface="Wingdings" panose="05000000000000000000" pitchFamily="2" charset="2"/>
              <a:buChar char="Ø"/>
            </a:pPr>
            <a:r>
              <a:rPr lang="zh-CN" altLang="en-US" sz="2000" spc="20" dirty="0">
                <a:latin typeface="+mn-ea"/>
              </a:rPr>
              <a:t>国内采用</a:t>
            </a:r>
            <a:r>
              <a:rPr lang="en-US" altLang="zh-CN" sz="2000" spc="20" dirty="0">
                <a:latin typeface="+mn-ea"/>
              </a:rPr>
              <a:t>Hadoop</a:t>
            </a:r>
            <a:r>
              <a:rPr lang="zh-CN" altLang="en-US" sz="2000" spc="20" dirty="0">
                <a:latin typeface="+mn-ea"/>
              </a:rPr>
              <a:t>的公司主要有百度、淘宝、网易、华为、中国移动等。</a:t>
            </a:r>
            <a:endParaRPr lang="en-US" altLang="zh-CN" sz="2000" spc="20" dirty="0">
              <a:latin typeface="+mn-ea"/>
            </a:endParaRPr>
          </a:p>
        </p:txBody>
      </p:sp>
      <p:graphicFrame>
        <p:nvGraphicFramePr>
          <p:cNvPr id="10" name="对象 9">
            <a:extLst>
              <a:ext uri="{FF2B5EF4-FFF2-40B4-BE49-F238E27FC236}">
                <a16:creationId xmlns:a16="http://schemas.microsoft.com/office/drawing/2014/main" id="{D101A918-29B6-4EE6-BBA7-AF406A8AB216}"/>
              </a:ext>
            </a:extLst>
          </p:cNvPr>
          <p:cNvGraphicFramePr>
            <a:graphicFrameLocks noChangeAspect="1"/>
          </p:cNvGraphicFramePr>
          <p:nvPr>
            <p:extLst>
              <p:ext uri="{D42A27DB-BD31-4B8C-83A1-F6EECF244321}">
                <p14:modId xmlns:p14="http://schemas.microsoft.com/office/powerpoint/2010/main" val="354133996"/>
              </p:ext>
            </p:extLst>
          </p:nvPr>
        </p:nvGraphicFramePr>
        <p:xfrm>
          <a:off x="5080000" y="1651000"/>
          <a:ext cx="3644900" cy="1974850"/>
        </p:xfrm>
        <a:graphic>
          <a:graphicData uri="http://schemas.openxmlformats.org/presentationml/2006/ole">
            <mc:AlternateContent xmlns:mc="http://schemas.openxmlformats.org/markup-compatibility/2006">
              <mc:Choice xmlns:v="urn:schemas-microsoft-com:vml" Requires="v">
                <p:oleObj spid="_x0000_s7193" name="Visio" r:id="rId3" imgW="5588029" imgH="3029067" progId="Visio.Drawing.15">
                  <p:embed/>
                </p:oleObj>
              </mc:Choice>
              <mc:Fallback>
                <p:oleObj name="Visio" r:id="rId3" imgW="5588029" imgH="3029067" progId="Visio.Drawing.15">
                  <p:embed/>
                  <p:pic>
                    <p:nvPicPr>
                      <p:cNvPr id="7" name="对象 6">
                        <a:extLst>
                          <a:ext uri="{FF2B5EF4-FFF2-40B4-BE49-F238E27FC236}">
                            <a16:creationId xmlns:a16="http://schemas.microsoft.com/office/drawing/2014/main" id="{32909968-EC33-4066-9A89-39BBB5E13E1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80000" y="1651000"/>
                        <a:ext cx="3644900" cy="1974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slow">
    <p:pull/>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6676" y="234315"/>
            <a:ext cx="5254625" cy="954107"/>
          </a:xfrm>
          <a:prstGeom prst="rect">
            <a:avLst/>
          </a:prstGeom>
        </p:spPr>
        <p:txBody>
          <a:bodyPr wrap="square">
            <a:spAutoFit/>
          </a:bodyPr>
          <a:lstStyle/>
          <a:p>
            <a:r>
              <a:rPr lang="en-US" altLang="zh-CN"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1.4.3</a:t>
            </a:r>
            <a:r>
              <a:rPr lang="zh-CN" alt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目前流行的大数据技术</a:t>
            </a:r>
          </a:p>
          <a:p>
            <a:endPar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00" name="文本框 99"/>
          <p:cNvSpPr txBox="1"/>
          <p:nvPr/>
        </p:nvSpPr>
        <p:spPr>
          <a:xfrm>
            <a:off x="737235" y="1202055"/>
            <a:ext cx="7806690" cy="3261727"/>
          </a:xfrm>
          <a:prstGeom prst="rect">
            <a:avLst/>
          </a:prstGeom>
          <a:noFill/>
          <a:ln w="9525">
            <a:noFill/>
          </a:ln>
        </p:spPr>
        <p:txBody>
          <a:bodyPr wrap="square">
            <a:spAutoFit/>
          </a:bodyPr>
          <a:lstStyle/>
          <a:p>
            <a:pPr indent="266700">
              <a:lnSpc>
                <a:spcPct val="130000"/>
              </a:lnSpc>
            </a:pPr>
            <a:r>
              <a:rPr lang="en-US" sz="2000" dirty="0">
                <a:latin typeface="等线" panose="02010600030101010101" pitchFamily="2" charset="-122"/>
                <a:ea typeface="等线" panose="02010600030101010101" pitchFamily="2" charset="-122"/>
                <a:cs typeface="等线" panose="02010600030101010101" pitchFamily="2" charset="-122"/>
              </a:rPr>
              <a:t>    Apache Spark </a:t>
            </a:r>
            <a:r>
              <a:rPr lang="zh-CN" altLang="en-US" sz="2000" dirty="0">
                <a:latin typeface="等线" panose="02010600030101010101" pitchFamily="2" charset="-122"/>
                <a:cs typeface="等线" panose="02010600030101010101" pitchFamily="2" charset="-122"/>
              </a:rPr>
              <a:t>是</a:t>
            </a:r>
            <a:r>
              <a:rPr lang="en-US" sz="2000" dirty="0">
                <a:latin typeface="等线" panose="02010600030101010101" pitchFamily="2" charset="-122"/>
                <a:ea typeface="等线" panose="02010600030101010101" pitchFamily="2" charset="-122"/>
                <a:cs typeface="等线" panose="02010600030101010101" pitchFamily="2" charset="-122"/>
              </a:rPr>
              <a:t>UC Berkeley AMP Lab（</a:t>
            </a:r>
            <a:r>
              <a:rPr lang="zh-CN" altLang="en-US" sz="2000" dirty="0">
                <a:latin typeface="等线" panose="02010600030101010101" pitchFamily="2" charset="-122"/>
                <a:cs typeface="等线" panose="02010600030101010101" pitchFamily="2" charset="-122"/>
              </a:rPr>
              <a:t>加州大学伯克利分校的</a:t>
            </a:r>
            <a:r>
              <a:rPr lang="en-US" sz="2000" dirty="0">
                <a:latin typeface="等线" panose="02010600030101010101" pitchFamily="2" charset="-122"/>
                <a:ea typeface="等线" panose="02010600030101010101" pitchFamily="2" charset="-122"/>
                <a:cs typeface="等线" panose="02010600030101010101" pitchFamily="2" charset="-122"/>
              </a:rPr>
              <a:t>AMP</a:t>
            </a:r>
            <a:r>
              <a:rPr lang="zh-CN" altLang="en-US" sz="2000" dirty="0">
                <a:latin typeface="等线" panose="02010600030101010101" pitchFamily="2" charset="-122"/>
                <a:cs typeface="等线" panose="02010600030101010101" pitchFamily="2" charset="-122"/>
              </a:rPr>
              <a:t>实验室）所开源的类似于</a:t>
            </a:r>
            <a:r>
              <a:rPr lang="en-US" sz="2000" dirty="0">
                <a:latin typeface="等线" panose="02010600030101010101" pitchFamily="2" charset="-122"/>
                <a:ea typeface="等线" panose="02010600030101010101" pitchFamily="2" charset="-122"/>
                <a:cs typeface="等线" panose="02010600030101010101" pitchFamily="2" charset="-122"/>
              </a:rPr>
              <a:t>MapReduce</a:t>
            </a:r>
            <a:r>
              <a:rPr lang="zh-CN" altLang="en-US" sz="2000" dirty="0">
                <a:latin typeface="等线" panose="02010600030101010101" pitchFamily="2" charset="-122"/>
                <a:cs typeface="等线" panose="02010600030101010101" pitchFamily="2" charset="-122"/>
              </a:rPr>
              <a:t>的通用大数据计算框架，</a:t>
            </a:r>
            <a:r>
              <a:rPr lang="en-US" sz="2000" dirty="0">
                <a:latin typeface="等线" panose="02010600030101010101" pitchFamily="2" charset="-122"/>
                <a:ea typeface="等线" panose="02010600030101010101" pitchFamily="2" charset="-122"/>
                <a:cs typeface="等线" panose="02010600030101010101" pitchFamily="2" charset="-122"/>
              </a:rPr>
              <a:t>Spark</a:t>
            </a:r>
            <a:r>
              <a:rPr lang="zh-CN" altLang="en-US" sz="2000" dirty="0">
                <a:latin typeface="等线" panose="02010600030101010101" pitchFamily="2" charset="-122"/>
                <a:cs typeface="等线" panose="02010600030101010101" pitchFamily="2" charset="-122"/>
              </a:rPr>
              <a:t>不同于</a:t>
            </a:r>
            <a:r>
              <a:rPr lang="en-US" sz="2000" dirty="0">
                <a:latin typeface="等线" panose="02010600030101010101" pitchFamily="2" charset="-122"/>
                <a:ea typeface="等线" panose="02010600030101010101" pitchFamily="2" charset="-122"/>
                <a:cs typeface="等线" panose="02010600030101010101" pitchFamily="2" charset="-122"/>
              </a:rPr>
              <a:t>MapReduce</a:t>
            </a:r>
            <a:r>
              <a:rPr lang="zh-CN" altLang="en-US" sz="2000" dirty="0">
                <a:latin typeface="等线" panose="02010600030101010101" pitchFamily="2" charset="-122"/>
                <a:cs typeface="等线" panose="02010600030101010101" pitchFamily="2" charset="-122"/>
              </a:rPr>
              <a:t>的是中间结果可以保存在内存中，而不再需要频繁读写</a:t>
            </a:r>
            <a:r>
              <a:rPr lang="en-US" sz="2000" dirty="0" err="1">
                <a:latin typeface="等线" panose="02010600030101010101" pitchFamily="2" charset="-122"/>
                <a:ea typeface="等线" panose="02010600030101010101" pitchFamily="2" charset="-122"/>
                <a:cs typeface="等线" panose="02010600030101010101" pitchFamily="2" charset="-122"/>
              </a:rPr>
              <a:t>HDFS（Hadoop</a:t>
            </a:r>
            <a:r>
              <a:rPr lang="en-US" sz="2000" dirty="0">
                <a:latin typeface="等线" panose="02010600030101010101" pitchFamily="2" charset="-122"/>
                <a:ea typeface="等线" panose="02010600030101010101" pitchFamily="2" charset="-122"/>
                <a:cs typeface="等线" panose="02010600030101010101" pitchFamily="2" charset="-122"/>
              </a:rPr>
              <a:t> Distributed File System），</a:t>
            </a:r>
            <a:r>
              <a:rPr lang="zh-CN" altLang="en-US" sz="2000" dirty="0">
                <a:latin typeface="等线" panose="02010600030101010101" pitchFamily="2" charset="-122"/>
                <a:cs typeface="等线" panose="02010600030101010101" pitchFamily="2" charset="-122"/>
              </a:rPr>
              <a:t>因此</a:t>
            </a:r>
            <a:r>
              <a:rPr lang="en-US" sz="2000" dirty="0">
                <a:latin typeface="等线" panose="02010600030101010101" pitchFamily="2" charset="-122"/>
                <a:ea typeface="等线" panose="02010600030101010101" pitchFamily="2" charset="-122"/>
                <a:cs typeface="等线" panose="02010600030101010101" pitchFamily="2" charset="-122"/>
              </a:rPr>
              <a:t>Spark</a:t>
            </a:r>
            <a:r>
              <a:rPr lang="zh-CN" altLang="en-US" sz="2000" dirty="0">
                <a:latin typeface="等线" panose="02010600030101010101" pitchFamily="2" charset="-122"/>
                <a:cs typeface="等线" panose="02010600030101010101" pitchFamily="2" charset="-122"/>
              </a:rPr>
              <a:t>能更好地适用于数据挖掘与机器学习等需要迭代的</a:t>
            </a:r>
            <a:r>
              <a:rPr lang="en-US" sz="2000" dirty="0">
                <a:latin typeface="等线" panose="02010600030101010101" pitchFamily="2" charset="-122"/>
                <a:ea typeface="等线" panose="02010600030101010101" pitchFamily="2" charset="-122"/>
                <a:cs typeface="等线" panose="02010600030101010101" pitchFamily="2" charset="-122"/>
              </a:rPr>
              <a:t>MapReduce</a:t>
            </a:r>
            <a:r>
              <a:rPr lang="zh-CN" altLang="en-US" sz="2000" dirty="0">
                <a:latin typeface="等线" panose="02010600030101010101" pitchFamily="2" charset="-122"/>
                <a:cs typeface="等线" panose="02010600030101010101" pitchFamily="2" charset="-122"/>
              </a:rPr>
              <a:t>的算法。</a:t>
            </a:r>
          </a:p>
          <a:p>
            <a:pPr indent="266700">
              <a:lnSpc>
                <a:spcPct val="130000"/>
              </a:lnSpc>
            </a:pPr>
            <a:r>
              <a:rPr lang="zh-CN" altLang="en-US" sz="2000" dirty="0">
                <a:latin typeface="等线" panose="02010600030101010101" pitchFamily="2" charset="-122"/>
                <a:cs typeface="等线" panose="02010600030101010101" pitchFamily="2" charset="-122"/>
              </a:rPr>
              <a:t>    当前，</a:t>
            </a:r>
            <a:r>
              <a:rPr lang="en-US" sz="2000" dirty="0">
                <a:latin typeface="等线" panose="02010600030101010101" pitchFamily="2" charset="-122"/>
                <a:ea typeface="等线" panose="02010600030101010101" pitchFamily="2" charset="-122"/>
                <a:cs typeface="等线" panose="02010600030101010101" pitchFamily="2" charset="-122"/>
              </a:rPr>
              <a:t>Hadoop</a:t>
            </a:r>
            <a:r>
              <a:rPr lang="zh-CN" altLang="en-US" sz="2000" dirty="0">
                <a:latin typeface="等线" panose="02010600030101010101" pitchFamily="2" charset="-122"/>
                <a:cs typeface="等线" panose="02010600030101010101" pitchFamily="2" charset="-122"/>
              </a:rPr>
              <a:t>与</a:t>
            </a:r>
            <a:r>
              <a:rPr lang="en-US" sz="2000" dirty="0">
                <a:latin typeface="等线" panose="02010600030101010101" pitchFamily="2" charset="-122"/>
                <a:ea typeface="等线" panose="02010600030101010101" pitchFamily="2" charset="-122"/>
                <a:cs typeface="等线" panose="02010600030101010101" pitchFamily="2" charset="-122"/>
              </a:rPr>
              <a:t>Spark</a:t>
            </a:r>
            <a:r>
              <a:rPr lang="zh-CN" altLang="en-US" sz="2000" dirty="0">
                <a:latin typeface="等线" panose="02010600030101010101" pitchFamily="2" charset="-122"/>
                <a:cs typeface="等线" panose="02010600030101010101" pitchFamily="2" charset="-122"/>
              </a:rPr>
              <a:t>两个大数据计算框架的结合是一种被广泛应用的大数据处理架构。</a:t>
            </a:r>
          </a:p>
          <a:p>
            <a:pPr indent="266700" algn="l">
              <a:lnSpc>
                <a:spcPct val="130000"/>
              </a:lnSpc>
              <a:spcBef>
                <a:spcPts val="0"/>
              </a:spcBef>
              <a:spcAft>
                <a:spcPts val="0"/>
              </a:spcAft>
              <a:buClrTx/>
              <a:buSzTx/>
              <a:buFontTx/>
            </a:pPr>
            <a:r>
              <a:rPr sz="2000" b="0" dirty="0">
                <a:latin typeface="等线" panose="02010600030101010101" pitchFamily="2" charset="-122"/>
                <a:ea typeface="等线" panose="02010600030101010101" pitchFamily="2" charset="-122"/>
                <a:cs typeface="等线" panose="02010600030101010101" pitchFamily="2" charset="-122"/>
              </a:rPr>
              <a:t> </a:t>
            </a:r>
          </a:p>
        </p:txBody>
      </p:sp>
    </p:spTree>
  </p:cSld>
  <p:clrMapOvr>
    <a:masterClrMapping/>
  </p:clrMapOvr>
  <p:transition spd="slow">
    <p:pull/>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81001" y="234315"/>
            <a:ext cx="3689350" cy="523220"/>
          </a:xfrm>
          <a:prstGeom prst="rect">
            <a:avLst/>
          </a:prstGeom>
        </p:spPr>
        <p:txBody>
          <a:bodyPr wrap="square">
            <a:spAutoFit/>
          </a:bodyPr>
          <a:lstStyle/>
          <a:p>
            <a:r>
              <a:rPr lang="zh-CN" alt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分布式存储</a:t>
            </a:r>
            <a:endPar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00" name="文本框 99"/>
          <p:cNvSpPr txBox="1"/>
          <p:nvPr/>
        </p:nvSpPr>
        <p:spPr>
          <a:xfrm>
            <a:off x="469264" y="986155"/>
            <a:ext cx="8160385" cy="4061946"/>
          </a:xfrm>
          <a:prstGeom prst="rect">
            <a:avLst/>
          </a:prstGeom>
          <a:noFill/>
          <a:ln w="9525">
            <a:noFill/>
          </a:ln>
        </p:spPr>
        <p:txBody>
          <a:bodyPr wrap="square">
            <a:spAutoFit/>
          </a:bodyPr>
          <a:lstStyle/>
          <a:p>
            <a:pPr indent="266700">
              <a:lnSpc>
                <a:spcPct val="130000"/>
              </a:lnSpc>
            </a:pPr>
            <a:r>
              <a:rPr lang="en-US" altLang="zh-CN" sz="2000" b="1" dirty="0">
                <a:solidFill>
                  <a:srgbClr val="FF0000"/>
                </a:solidFill>
                <a:latin typeface="等线" panose="02010600030101010101" pitchFamily="2" charset="-122"/>
                <a:cs typeface="等线" panose="02010600030101010101" pitchFamily="2" charset="-122"/>
              </a:rPr>
              <a:t>1</a:t>
            </a:r>
            <a:r>
              <a:rPr lang="zh-CN" altLang="en-US" sz="2000" b="1" dirty="0">
                <a:solidFill>
                  <a:srgbClr val="FF0000"/>
                </a:solidFill>
                <a:latin typeface="等线" panose="02010600030101010101" pitchFamily="2" charset="-122"/>
                <a:cs typeface="等线" panose="02010600030101010101" pitchFamily="2" charset="-122"/>
              </a:rPr>
              <a:t>．分布式存储</a:t>
            </a:r>
          </a:p>
          <a:p>
            <a:pPr indent="266700">
              <a:lnSpc>
                <a:spcPct val="130000"/>
              </a:lnSpc>
            </a:pPr>
            <a:r>
              <a:rPr lang="zh-CN" altLang="en-US" sz="2000">
                <a:latin typeface="等线" panose="02010600030101010101" pitchFamily="2" charset="-122"/>
                <a:cs typeface="等线" panose="02010600030101010101" pitchFamily="2" charset="-122"/>
              </a:rPr>
              <a:t>  分布式</a:t>
            </a:r>
            <a:r>
              <a:rPr lang="zh-CN" altLang="en-US" sz="2000" dirty="0">
                <a:latin typeface="等线" panose="02010600030101010101" pitchFamily="2" charset="-122"/>
                <a:cs typeface="等线" panose="02010600030101010101" pitchFamily="2" charset="-122"/>
              </a:rPr>
              <a:t>存储是相对于集中式存储而言的。当前，随着大数据时代的到来和</a:t>
            </a:r>
            <a:r>
              <a:rPr lang="en-US" altLang="zh-CN" sz="2000" dirty="0">
                <a:latin typeface="等线" panose="02010600030101010101" pitchFamily="2" charset="-122"/>
                <a:cs typeface="等线" panose="02010600030101010101" pitchFamily="2" charset="-122"/>
              </a:rPr>
              <a:t>IT</a:t>
            </a:r>
            <a:r>
              <a:rPr lang="zh-CN" altLang="en-US" sz="2000" dirty="0">
                <a:latin typeface="等线" panose="02010600030101010101" pitchFamily="2" charset="-122"/>
                <a:cs typeface="等线" panose="02010600030101010101" pitchFamily="2" charset="-122"/>
              </a:rPr>
              <a:t>技术的飞速发展，各种非结构化数据（如图片、视频、音频等）呈几何数级增长，传统的集中式存储模式已经无法满足其容量、性能和安全性的需求。</a:t>
            </a:r>
          </a:p>
          <a:p>
            <a:pPr indent="266700">
              <a:lnSpc>
                <a:spcPct val="130000"/>
              </a:lnSpc>
            </a:pPr>
            <a:r>
              <a:rPr lang="zh-CN" altLang="en-US" sz="2000">
                <a:latin typeface="等线" panose="02010600030101010101" pitchFamily="2" charset="-122"/>
                <a:cs typeface="等线" panose="02010600030101010101" pitchFamily="2" charset="-122"/>
              </a:rPr>
              <a:t>  传统</a:t>
            </a:r>
            <a:r>
              <a:rPr lang="zh-CN" altLang="en-US" sz="2000" dirty="0">
                <a:latin typeface="等线" panose="02010600030101010101" pitchFamily="2" charset="-122"/>
                <a:cs typeface="等线" panose="02010600030101010101" pitchFamily="2" charset="-122"/>
              </a:rPr>
              <a:t>的网络存储系统采用集中的存储服务器存放所有数据，存储服务器成为系统性能的瓶颈，也是可靠性和安全性的焦点，不能满足大规模存储应用的需要。分布式网络存储系统采用可扩展的系统结构，利用多台存储服务器分担存储负荷，利用位置服务器定位存储信息，它不但提高了系统的可靠性、可用性和存取效率，还易于扩展。</a:t>
            </a:r>
          </a:p>
        </p:txBody>
      </p:sp>
    </p:spTree>
  </p:cSld>
  <p:clrMapOvr>
    <a:masterClrMapping/>
  </p:clrMapOvr>
  <p:transition spd="slow">
    <p:pull/>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9850" y="247393"/>
            <a:ext cx="4346576" cy="461665"/>
          </a:xfrm>
          <a:prstGeom prst="rect">
            <a:avLst/>
          </a:prstGeom>
        </p:spPr>
        <p:txBody>
          <a:bodyPr wrap="square">
            <a:spAutoFit/>
          </a:bodyPr>
          <a:lstStyle/>
          <a:p>
            <a:r>
              <a:rPr lang="zh-CN" altLang="en-US" sz="24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流行的开源分布式数据库系统</a:t>
            </a:r>
            <a:endParaRPr sz="24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aphicFrame>
        <p:nvGraphicFramePr>
          <p:cNvPr id="4" name="表格 3">
            <a:extLst>
              <a:ext uri="{FF2B5EF4-FFF2-40B4-BE49-F238E27FC236}">
                <a16:creationId xmlns:a16="http://schemas.microsoft.com/office/drawing/2014/main" id="{4A11542A-2B69-49C6-A195-35A7201B5BCD}"/>
              </a:ext>
            </a:extLst>
          </p:cNvPr>
          <p:cNvGraphicFramePr>
            <a:graphicFrameLocks noGrp="1"/>
          </p:cNvGraphicFramePr>
          <p:nvPr>
            <p:extLst>
              <p:ext uri="{D42A27DB-BD31-4B8C-83A1-F6EECF244321}">
                <p14:modId xmlns:p14="http://schemas.microsoft.com/office/powerpoint/2010/main" val="2050027926"/>
              </p:ext>
            </p:extLst>
          </p:nvPr>
        </p:nvGraphicFramePr>
        <p:xfrm>
          <a:off x="358774" y="1640762"/>
          <a:ext cx="8347075" cy="3255345"/>
        </p:xfrm>
        <a:graphic>
          <a:graphicData uri="http://schemas.openxmlformats.org/drawingml/2006/table">
            <a:tbl>
              <a:tblPr firstRow="1" firstCol="1" bandRow="1">
                <a:tableStyleId>{5C22544A-7EE6-4342-B048-85BDC9FD1C3A}</a:tableStyleId>
              </a:tblPr>
              <a:tblGrid>
                <a:gridCol w="1329100">
                  <a:extLst>
                    <a:ext uri="{9D8B030D-6E8A-4147-A177-3AD203B41FA5}">
                      <a16:colId xmlns:a16="http://schemas.microsoft.com/office/drawing/2014/main" val="520641918"/>
                    </a:ext>
                  </a:extLst>
                </a:gridCol>
                <a:gridCol w="1552992">
                  <a:extLst>
                    <a:ext uri="{9D8B030D-6E8A-4147-A177-3AD203B41FA5}">
                      <a16:colId xmlns:a16="http://schemas.microsoft.com/office/drawing/2014/main" val="4251949274"/>
                    </a:ext>
                  </a:extLst>
                </a:gridCol>
                <a:gridCol w="1396268">
                  <a:extLst>
                    <a:ext uri="{9D8B030D-6E8A-4147-A177-3AD203B41FA5}">
                      <a16:colId xmlns:a16="http://schemas.microsoft.com/office/drawing/2014/main" val="4060108300"/>
                    </a:ext>
                  </a:extLst>
                </a:gridCol>
                <a:gridCol w="2079135">
                  <a:extLst>
                    <a:ext uri="{9D8B030D-6E8A-4147-A177-3AD203B41FA5}">
                      <a16:colId xmlns:a16="http://schemas.microsoft.com/office/drawing/2014/main" val="2786577293"/>
                    </a:ext>
                  </a:extLst>
                </a:gridCol>
                <a:gridCol w="1989580">
                  <a:extLst>
                    <a:ext uri="{9D8B030D-6E8A-4147-A177-3AD203B41FA5}">
                      <a16:colId xmlns:a16="http://schemas.microsoft.com/office/drawing/2014/main" val="400322303"/>
                    </a:ext>
                  </a:extLst>
                </a:gridCol>
              </a:tblGrid>
              <a:tr h="749300">
                <a:tc>
                  <a:txBody>
                    <a:bodyPr/>
                    <a:lstStyle/>
                    <a:p>
                      <a:pPr algn="ctr">
                        <a:lnSpc>
                          <a:spcPts val="1400"/>
                        </a:lnSpc>
                        <a:spcAft>
                          <a:spcPts val="0"/>
                        </a:spcAft>
                      </a:pPr>
                      <a:r>
                        <a:rPr lang="zh-CN" sz="1800">
                          <a:effectLst/>
                        </a:rPr>
                        <a:t>名</a:t>
                      </a:r>
                      <a:r>
                        <a:rPr lang="en-US" sz="1800">
                          <a:effectLst/>
                        </a:rPr>
                        <a:t>    </a:t>
                      </a:r>
                      <a:r>
                        <a:rPr lang="zh-CN" sz="1800">
                          <a:effectLst/>
                        </a:rPr>
                        <a:t>称</a:t>
                      </a:r>
                      <a:endParaRPr lang="zh-CN" sz="1800">
                        <a:solidFill>
                          <a:srgbClr val="000000"/>
                        </a:solidFill>
                        <a:effectLst/>
                        <a:latin typeface="Arial" panose="020B0604020202020204" pitchFamily="34" charset="0"/>
                        <a:ea typeface="黑体" panose="02010609060101010101" pitchFamily="49" charset="-122"/>
                        <a:cs typeface="Times New Roman" panose="02020603050405020304" pitchFamily="18" charset="0"/>
                      </a:endParaRPr>
                    </a:p>
                  </a:txBody>
                  <a:tcPr marL="68580" marR="68580" marT="0" marB="0" anchor="ctr"/>
                </a:tc>
                <a:tc>
                  <a:txBody>
                    <a:bodyPr/>
                    <a:lstStyle/>
                    <a:p>
                      <a:pPr algn="ctr">
                        <a:lnSpc>
                          <a:spcPts val="1400"/>
                        </a:lnSpc>
                        <a:spcAft>
                          <a:spcPts val="0"/>
                        </a:spcAft>
                      </a:pPr>
                      <a:r>
                        <a:rPr lang="zh-CN" sz="1800">
                          <a:effectLst/>
                        </a:rPr>
                        <a:t>数据存储方式</a:t>
                      </a:r>
                      <a:endParaRPr lang="zh-CN" sz="1800">
                        <a:solidFill>
                          <a:srgbClr val="000000"/>
                        </a:solidFill>
                        <a:effectLst/>
                        <a:latin typeface="Arial" panose="020B0604020202020204" pitchFamily="34" charset="0"/>
                        <a:ea typeface="黑体" panose="02010609060101010101" pitchFamily="49" charset="-122"/>
                        <a:cs typeface="Times New Roman" panose="02020603050405020304" pitchFamily="18" charset="0"/>
                      </a:endParaRPr>
                    </a:p>
                  </a:txBody>
                  <a:tcPr marL="68580" marR="68580" marT="0" marB="0" anchor="ctr"/>
                </a:tc>
                <a:tc>
                  <a:txBody>
                    <a:bodyPr/>
                    <a:lstStyle/>
                    <a:p>
                      <a:pPr algn="ctr">
                        <a:lnSpc>
                          <a:spcPts val="1400"/>
                        </a:lnSpc>
                        <a:spcAft>
                          <a:spcPts val="0"/>
                        </a:spcAft>
                      </a:pPr>
                      <a:r>
                        <a:rPr lang="zh-CN" sz="1800">
                          <a:effectLst/>
                        </a:rPr>
                        <a:t>速</a:t>
                      </a:r>
                      <a:r>
                        <a:rPr lang="en-US" sz="1800">
                          <a:effectLst/>
                        </a:rPr>
                        <a:t>    </a:t>
                      </a:r>
                      <a:r>
                        <a:rPr lang="zh-CN" sz="1800">
                          <a:effectLst/>
                        </a:rPr>
                        <a:t>度</a:t>
                      </a:r>
                      <a:endParaRPr lang="zh-CN" sz="1800">
                        <a:solidFill>
                          <a:srgbClr val="000000"/>
                        </a:solidFill>
                        <a:effectLst/>
                        <a:latin typeface="Arial" panose="020B0604020202020204" pitchFamily="34" charset="0"/>
                        <a:ea typeface="黑体" panose="02010609060101010101" pitchFamily="49" charset="-122"/>
                        <a:cs typeface="Times New Roman" panose="02020603050405020304" pitchFamily="18" charset="0"/>
                      </a:endParaRPr>
                    </a:p>
                  </a:txBody>
                  <a:tcPr marL="68580" marR="68580" marT="0" marB="0" anchor="ctr"/>
                </a:tc>
                <a:tc>
                  <a:txBody>
                    <a:bodyPr/>
                    <a:lstStyle/>
                    <a:p>
                      <a:pPr algn="ctr">
                        <a:lnSpc>
                          <a:spcPts val="1400"/>
                        </a:lnSpc>
                        <a:spcAft>
                          <a:spcPts val="0"/>
                        </a:spcAft>
                      </a:pPr>
                      <a:r>
                        <a:rPr lang="zh-CN" sz="1800">
                          <a:effectLst/>
                        </a:rPr>
                        <a:t>事 务 支 持</a:t>
                      </a:r>
                      <a:endParaRPr lang="zh-CN" sz="1800">
                        <a:solidFill>
                          <a:srgbClr val="000000"/>
                        </a:solidFill>
                        <a:effectLst/>
                        <a:latin typeface="Arial" panose="020B0604020202020204" pitchFamily="34" charset="0"/>
                        <a:ea typeface="黑体" panose="02010609060101010101" pitchFamily="49" charset="-122"/>
                        <a:cs typeface="Times New Roman" panose="02020603050405020304" pitchFamily="18" charset="0"/>
                      </a:endParaRPr>
                    </a:p>
                  </a:txBody>
                  <a:tcPr marL="68580" marR="68580" marT="0" marB="0" anchor="ctr"/>
                </a:tc>
                <a:tc>
                  <a:txBody>
                    <a:bodyPr/>
                    <a:lstStyle/>
                    <a:p>
                      <a:pPr algn="ctr">
                        <a:lnSpc>
                          <a:spcPts val="1400"/>
                        </a:lnSpc>
                        <a:spcAft>
                          <a:spcPts val="0"/>
                        </a:spcAft>
                      </a:pPr>
                      <a:r>
                        <a:rPr lang="zh-CN" sz="1800">
                          <a:effectLst/>
                        </a:rPr>
                        <a:t>主要应用场景</a:t>
                      </a:r>
                      <a:endParaRPr lang="zh-CN" sz="1800">
                        <a:solidFill>
                          <a:srgbClr val="000000"/>
                        </a:solidFill>
                        <a:effectLst/>
                        <a:latin typeface="Arial" panose="020B0604020202020204" pitchFamily="34" charset="0"/>
                        <a:ea typeface="黑体"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635254778"/>
                  </a:ext>
                </a:extLst>
              </a:tr>
              <a:tr h="527763">
                <a:tc>
                  <a:txBody>
                    <a:bodyPr/>
                    <a:lstStyle/>
                    <a:p>
                      <a:pPr>
                        <a:lnSpc>
                          <a:spcPts val="1200"/>
                        </a:lnSpc>
                        <a:spcAft>
                          <a:spcPts val="0"/>
                        </a:spcAft>
                      </a:pPr>
                      <a:r>
                        <a:rPr lang="en-US" sz="1800">
                          <a:effectLst/>
                        </a:rPr>
                        <a:t>HBase</a:t>
                      </a:r>
                      <a:endParaRPr lang="zh-CN" sz="1800">
                        <a:solidFill>
                          <a:srgbClr val="000000"/>
                        </a:solidFill>
                        <a:effectLst/>
                        <a:latin typeface="Times New Roman" panose="02020603050405020304" pitchFamily="18" charset="0"/>
                        <a:ea typeface="方正书宋_GBK"/>
                      </a:endParaRPr>
                    </a:p>
                  </a:txBody>
                  <a:tcPr marL="68580" marR="68580" marT="0" marB="0" anchor="ctr"/>
                </a:tc>
                <a:tc>
                  <a:txBody>
                    <a:bodyPr/>
                    <a:lstStyle/>
                    <a:p>
                      <a:pPr>
                        <a:lnSpc>
                          <a:spcPts val="1200"/>
                        </a:lnSpc>
                        <a:spcAft>
                          <a:spcPts val="0"/>
                        </a:spcAft>
                      </a:pPr>
                      <a:r>
                        <a:rPr lang="zh-CN" sz="1800">
                          <a:effectLst/>
                        </a:rPr>
                        <a:t>表、列</a:t>
                      </a:r>
                      <a:endParaRPr lang="zh-CN" sz="1800">
                        <a:solidFill>
                          <a:srgbClr val="000000"/>
                        </a:solidFill>
                        <a:effectLst/>
                        <a:latin typeface="Times New Roman" panose="02020603050405020304" pitchFamily="18" charset="0"/>
                        <a:ea typeface="方正书宋_GBK"/>
                      </a:endParaRPr>
                    </a:p>
                  </a:txBody>
                  <a:tcPr marL="68580" marR="68580" marT="0" marB="0" anchor="ctr"/>
                </a:tc>
                <a:tc>
                  <a:txBody>
                    <a:bodyPr/>
                    <a:lstStyle/>
                    <a:p>
                      <a:pPr>
                        <a:lnSpc>
                          <a:spcPts val="1200"/>
                        </a:lnSpc>
                        <a:spcAft>
                          <a:spcPts val="0"/>
                        </a:spcAft>
                      </a:pPr>
                      <a:r>
                        <a:rPr lang="zh-CN" sz="1800">
                          <a:effectLst/>
                        </a:rPr>
                        <a:t>写快、读慢</a:t>
                      </a:r>
                      <a:endParaRPr lang="zh-CN" sz="1800">
                        <a:solidFill>
                          <a:srgbClr val="000000"/>
                        </a:solidFill>
                        <a:effectLst/>
                        <a:latin typeface="Times New Roman" panose="02020603050405020304" pitchFamily="18" charset="0"/>
                        <a:ea typeface="方正书宋_GBK"/>
                      </a:endParaRPr>
                    </a:p>
                  </a:txBody>
                  <a:tcPr marL="68580" marR="68580" marT="0" marB="0" anchor="ctr"/>
                </a:tc>
                <a:tc>
                  <a:txBody>
                    <a:bodyPr/>
                    <a:lstStyle/>
                    <a:p>
                      <a:pPr>
                        <a:lnSpc>
                          <a:spcPts val="1200"/>
                        </a:lnSpc>
                        <a:spcAft>
                          <a:spcPts val="0"/>
                        </a:spcAft>
                      </a:pPr>
                      <a:r>
                        <a:rPr lang="zh-CN" sz="1800">
                          <a:effectLst/>
                        </a:rPr>
                        <a:t>支持</a:t>
                      </a:r>
                      <a:endParaRPr lang="zh-CN" sz="1800">
                        <a:solidFill>
                          <a:srgbClr val="000000"/>
                        </a:solidFill>
                        <a:effectLst/>
                        <a:latin typeface="Times New Roman" panose="02020603050405020304" pitchFamily="18" charset="0"/>
                        <a:ea typeface="方正书宋_GBK"/>
                      </a:endParaRPr>
                    </a:p>
                  </a:txBody>
                  <a:tcPr marL="68580" marR="68580" marT="0" marB="0" anchor="ctr"/>
                </a:tc>
                <a:tc>
                  <a:txBody>
                    <a:bodyPr/>
                    <a:lstStyle/>
                    <a:p>
                      <a:pPr indent="107950" algn="just">
                        <a:lnSpc>
                          <a:spcPts val="1200"/>
                        </a:lnSpc>
                        <a:spcAft>
                          <a:spcPts val="0"/>
                        </a:spcAft>
                      </a:pPr>
                      <a:r>
                        <a:rPr lang="zh-CN" sz="1800">
                          <a:effectLst/>
                        </a:rPr>
                        <a:t>持久存储</a:t>
                      </a:r>
                      <a:endParaRPr lang="zh-CN" sz="1800">
                        <a:solidFill>
                          <a:srgbClr val="000000"/>
                        </a:solidFill>
                        <a:effectLst/>
                        <a:latin typeface="Times New Roman" panose="02020603050405020304" pitchFamily="18" charset="0"/>
                        <a:ea typeface="方正书宋_GBK"/>
                      </a:endParaRPr>
                    </a:p>
                  </a:txBody>
                  <a:tcPr marL="68580" marR="68580" marT="0" marB="0" anchor="ctr"/>
                </a:tc>
                <a:extLst>
                  <a:ext uri="{0D108BD9-81ED-4DB2-BD59-A6C34878D82A}">
                    <a16:rowId xmlns:a16="http://schemas.microsoft.com/office/drawing/2014/main" val="729074360"/>
                  </a:ext>
                </a:extLst>
              </a:tr>
              <a:tr h="430855">
                <a:tc>
                  <a:txBody>
                    <a:bodyPr/>
                    <a:lstStyle/>
                    <a:p>
                      <a:pPr>
                        <a:lnSpc>
                          <a:spcPts val="1200"/>
                        </a:lnSpc>
                        <a:spcAft>
                          <a:spcPts val="0"/>
                        </a:spcAft>
                      </a:pPr>
                      <a:r>
                        <a:rPr lang="en-US" sz="1800">
                          <a:effectLst/>
                        </a:rPr>
                        <a:t>MongoDB</a:t>
                      </a:r>
                      <a:endParaRPr lang="zh-CN" sz="1800">
                        <a:solidFill>
                          <a:srgbClr val="000000"/>
                        </a:solidFill>
                        <a:effectLst/>
                        <a:latin typeface="Times New Roman" panose="02020603050405020304" pitchFamily="18" charset="0"/>
                        <a:ea typeface="方正书宋_GBK"/>
                      </a:endParaRPr>
                    </a:p>
                  </a:txBody>
                  <a:tcPr marL="68580" marR="68580" marT="0" marB="0" anchor="ctr"/>
                </a:tc>
                <a:tc>
                  <a:txBody>
                    <a:bodyPr/>
                    <a:lstStyle/>
                    <a:p>
                      <a:pPr>
                        <a:lnSpc>
                          <a:spcPts val="1200"/>
                        </a:lnSpc>
                        <a:spcAft>
                          <a:spcPts val="0"/>
                        </a:spcAft>
                      </a:pPr>
                      <a:r>
                        <a:rPr lang="zh-CN" sz="1800">
                          <a:effectLst/>
                        </a:rPr>
                        <a:t>文档</a:t>
                      </a:r>
                      <a:endParaRPr lang="zh-CN" sz="1800">
                        <a:solidFill>
                          <a:srgbClr val="000000"/>
                        </a:solidFill>
                        <a:effectLst/>
                        <a:latin typeface="Times New Roman" panose="02020603050405020304" pitchFamily="18" charset="0"/>
                        <a:ea typeface="方正书宋_GBK"/>
                      </a:endParaRPr>
                    </a:p>
                  </a:txBody>
                  <a:tcPr marL="68580" marR="68580" marT="0" marB="0" anchor="ctr"/>
                </a:tc>
                <a:tc>
                  <a:txBody>
                    <a:bodyPr/>
                    <a:lstStyle/>
                    <a:p>
                      <a:pPr>
                        <a:lnSpc>
                          <a:spcPts val="1200"/>
                        </a:lnSpc>
                        <a:spcAft>
                          <a:spcPts val="0"/>
                        </a:spcAft>
                      </a:pPr>
                      <a:r>
                        <a:rPr lang="zh-CN" sz="1800">
                          <a:effectLst/>
                        </a:rPr>
                        <a:t>快</a:t>
                      </a:r>
                      <a:endParaRPr lang="zh-CN" sz="1800">
                        <a:solidFill>
                          <a:srgbClr val="000000"/>
                        </a:solidFill>
                        <a:effectLst/>
                        <a:latin typeface="Times New Roman" panose="02020603050405020304" pitchFamily="18" charset="0"/>
                        <a:ea typeface="方正书宋_GBK"/>
                      </a:endParaRPr>
                    </a:p>
                  </a:txBody>
                  <a:tcPr marL="68580" marR="68580" marT="0" marB="0" anchor="ctr"/>
                </a:tc>
                <a:tc>
                  <a:txBody>
                    <a:bodyPr/>
                    <a:lstStyle/>
                    <a:p>
                      <a:pPr>
                        <a:lnSpc>
                          <a:spcPts val="1200"/>
                        </a:lnSpc>
                        <a:spcAft>
                          <a:spcPts val="0"/>
                        </a:spcAft>
                      </a:pPr>
                      <a:r>
                        <a:rPr lang="zh-CN" sz="1800">
                          <a:effectLst/>
                        </a:rPr>
                        <a:t>只支持单文档事务</a:t>
                      </a:r>
                      <a:endParaRPr lang="zh-CN" sz="1800">
                        <a:solidFill>
                          <a:srgbClr val="000000"/>
                        </a:solidFill>
                        <a:effectLst/>
                        <a:latin typeface="Times New Roman" panose="02020603050405020304" pitchFamily="18" charset="0"/>
                        <a:ea typeface="方正书宋_GBK"/>
                      </a:endParaRPr>
                    </a:p>
                  </a:txBody>
                  <a:tcPr marL="68580" marR="68580" marT="0" marB="0" anchor="ctr"/>
                </a:tc>
                <a:tc>
                  <a:txBody>
                    <a:bodyPr/>
                    <a:lstStyle/>
                    <a:p>
                      <a:pPr indent="107950" algn="just">
                        <a:lnSpc>
                          <a:spcPts val="1200"/>
                        </a:lnSpc>
                        <a:spcAft>
                          <a:spcPts val="0"/>
                        </a:spcAft>
                      </a:pPr>
                      <a:r>
                        <a:rPr lang="zh-CN" sz="1800">
                          <a:effectLst/>
                        </a:rPr>
                        <a:t>文档存储</a:t>
                      </a:r>
                      <a:endParaRPr lang="zh-CN" sz="1800">
                        <a:solidFill>
                          <a:srgbClr val="000000"/>
                        </a:solidFill>
                        <a:effectLst/>
                        <a:latin typeface="Times New Roman" panose="02020603050405020304" pitchFamily="18" charset="0"/>
                        <a:ea typeface="方正书宋_GBK"/>
                      </a:endParaRPr>
                    </a:p>
                  </a:txBody>
                  <a:tcPr marL="68580" marR="68580" marT="0" marB="0" anchor="ctr"/>
                </a:tc>
                <a:extLst>
                  <a:ext uri="{0D108BD9-81ED-4DB2-BD59-A6C34878D82A}">
                    <a16:rowId xmlns:a16="http://schemas.microsoft.com/office/drawing/2014/main" val="2457212926"/>
                  </a:ext>
                </a:extLst>
              </a:tr>
              <a:tr h="468383">
                <a:tc>
                  <a:txBody>
                    <a:bodyPr/>
                    <a:lstStyle/>
                    <a:p>
                      <a:pPr>
                        <a:lnSpc>
                          <a:spcPts val="1200"/>
                        </a:lnSpc>
                        <a:spcAft>
                          <a:spcPts val="0"/>
                        </a:spcAft>
                      </a:pPr>
                      <a:r>
                        <a:rPr lang="en-US" sz="1800">
                          <a:effectLst/>
                        </a:rPr>
                        <a:t>PostgreDB</a:t>
                      </a:r>
                      <a:endParaRPr lang="zh-CN" sz="1800">
                        <a:solidFill>
                          <a:srgbClr val="000000"/>
                        </a:solidFill>
                        <a:effectLst/>
                        <a:latin typeface="Times New Roman" panose="02020603050405020304" pitchFamily="18" charset="0"/>
                        <a:ea typeface="方正书宋_GBK"/>
                      </a:endParaRPr>
                    </a:p>
                  </a:txBody>
                  <a:tcPr marL="68580" marR="68580" marT="0" marB="0" anchor="ctr"/>
                </a:tc>
                <a:tc>
                  <a:txBody>
                    <a:bodyPr/>
                    <a:lstStyle/>
                    <a:p>
                      <a:pPr>
                        <a:lnSpc>
                          <a:spcPts val="1200"/>
                        </a:lnSpc>
                        <a:spcAft>
                          <a:spcPts val="0"/>
                        </a:spcAft>
                      </a:pPr>
                      <a:r>
                        <a:rPr lang="zh-CN" sz="1800">
                          <a:effectLst/>
                        </a:rPr>
                        <a:t>表</a:t>
                      </a:r>
                      <a:endParaRPr lang="zh-CN" sz="1800">
                        <a:solidFill>
                          <a:srgbClr val="000000"/>
                        </a:solidFill>
                        <a:effectLst/>
                        <a:latin typeface="Times New Roman" panose="02020603050405020304" pitchFamily="18" charset="0"/>
                        <a:ea typeface="方正书宋_GBK"/>
                      </a:endParaRPr>
                    </a:p>
                  </a:txBody>
                  <a:tcPr marL="68580" marR="68580" marT="0" marB="0" anchor="ctr"/>
                </a:tc>
                <a:tc>
                  <a:txBody>
                    <a:bodyPr/>
                    <a:lstStyle/>
                    <a:p>
                      <a:pPr>
                        <a:lnSpc>
                          <a:spcPts val="1200"/>
                        </a:lnSpc>
                        <a:spcAft>
                          <a:spcPts val="0"/>
                        </a:spcAft>
                      </a:pPr>
                      <a:r>
                        <a:rPr lang="zh-CN" sz="1800">
                          <a:effectLst/>
                        </a:rPr>
                        <a:t>快</a:t>
                      </a:r>
                      <a:endParaRPr lang="zh-CN" sz="1800">
                        <a:solidFill>
                          <a:srgbClr val="000000"/>
                        </a:solidFill>
                        <a:effectLst/>
                        <a:latin typeface="Times New Roman" panose="02020603050405020304" pitchFamily="18" charset="0"/>
                        <a:ea typeface="方正书宋_GBK"/>
                      </a:endParaRPr>
                    </a:p>
                  </a:txBody>
                  <a:tcPr marL="68580" marR="68580" marT="0" marB="0" anchor="ctr"/>
                </a:tc>
                <a:tc>
                  <a:txBody>
                    <a:bodyPr/>
                    <a:lstStyle/>
                    <a:p>
                      <a:pPr>
                        <a:lnSpc>
                          <a:spcPts val="1200"/>
                        </a:lnSpc>
                        <a:spcAft>
                          <a:spcPts val="0"/>
                        </a:spcAft>
                      </a:pPr>
                      <a:r>
                        <a:rPr lang="zh-CN" sz="1800">
                          <a:effectLst/>
                        </a:rPr>
                        <a:t>支持</a:t>
                      </a:r>
                      <a:endParaRPr lang="zh-CN" sz="1800">
                        <a:solidFill>
                          <a:srgbClr val="000000"/>
                        </a:solidFill>
                        <a:effectLst/>
                        <a:latin typeface="Times New Roman" panose="02020603050405020304" pitchFamily="18" charset="0"/>
                        <a:ea typeface="方正书宋_GBK"/>
                      </a:endParaRPr>
                    </a:p>
                  </a:txBody>
                  <a:tcPr marL="68580" marR="68580" marT="0" marB="0" anchor="ctr"/>
                </a:tc>
                <a:tc>
                  <a:txBody>
                    <a:bodyPr/>
                    <a:lstStyle/>
                    <a:p>
                      <a:pPr indent="107950" algn="just">
                        <a:lnSpc>
                          <a:spcPts val="1200"/>
                        </a:lnSpc>
                        <a:spcAft>
                          <a:spcPts val="0"/>
                        </a:spcAft>
                      </a:pPr>
                      <a:r>
                        <a:rPr lang="zh-CN" sz="1800">
                          <a:effectLst/>
                        </a:rPr>
                        <a:t>多媒体数据</a:t>
                      </a:r>
                      <a:endParaRPr lang="zh-CN" sz="1800">
                        <a:solidFill>
                          <a:srgbClr val="000000"/>
                        </a:solidFill>
                        <a:effectLst/>
                        <a:latin typeface="Times New Roman" panose="02020603050405020304" pitchFamily="18" charset="0"/>
                        <a:ea typeface="方正书宋_GBK"/>
                      </a:endParaRPr>
                    </a:p>
                  </a:txBody>
                  <a:tcPr marL="68580" marR="68580" marT="0" marB="0" anchor="ctr"/>
                </a:tc>
                <a:extLst>
                  <a:ext uri="{0D108BD9-81ED-4DB2-BD59-A6C34878D82A}">
                    <a16:rowId xmlns:a16="http://schemas.microsoft.com/office/drawing/2014/main" val="2387675140"/>
                  </a:ext>
                </a:extLst>
              </a:tr>
              <a:tr h="450850">
                <a:tc>
                  <a:txBody>
                    <a:bodyPr/>
                    <a:lstStyle/>
                    <a:p>
                      <a:pPr>
                        <a:lnSpc>
                          <a:spcPts val="1200"/>
                        </a:lnSpc>
                        <a:spcAft>
                          <a:spcPts val="0"/>
                        </a:spcAft>
                      </a:pPr>
                      <a:r>
                        <a:rPr lang="en-US" sz="1800">
                          <a:effectLst/>
                        </a:rPr>
                        <a:t>Redis</a:t>
                      </a:r>
                      <a:endParaRPr lang="zh-CN" sz="1800">
                        <a:solidFill>
                          <a:srgbClr val="000000"/>
                        </a:solidFill>
                        <a:effectLst/>
                        <a:latin typeface="Times New Roman" panose="02020603050405020304" pitchFamily="18" charset="0"/>
                        <a:ea typeface="方正书宋_GBK"/>
                      </a:endParaRPr>
                    </a:p>
                  </a:txBody>
                  <a:tcPr marL="68580" marR="68580" marT="0" marB="0" anchor="ctr"/>
                </a:tc>
                <a:tc>
                  <a:txBody>
                    <a:bodyPr/>
                    <a:lstStyle/>
                    <a:p>
                      <a:pPr>
                        <a:lnSpc>
                          <a:spcPts val="1200"/>
                        </a:lnSpc>
                        <a:spcAft>
                          <a:spcPts val="0"/>
                        </a:spcAft>
                      </a:pPr>
                      <a:r>
                        <a:rPr lang="zh-CN" sz="1800">
                          <a:effectLst/>
                        </a:rPr>
                        <a:t>键</a:t>
                      </a:r>
                      <a:r>
                        <a:rPr lang="en-US" sz="1800">
                          <a:effectLst/>
                        </a:rPr>
                        <a:t>-</a:t>
                      </a:r>
                      <a:r>
                        <a:rPr lang="zh-CN" sz="1800">
                          <a:effectLst/>
                        </a:rPr>
                        <a:t>值</a:t>
                      </a:r>
                      <a:endParaRPr lang="zh-CN" sz="1800">
                        <a:solidFill>
                          <a:srgbClr val="000000"/>
                        </a:solidFill>
                        <a:effectLst/>
                        <a:latin typeface="Times New Roman" panose="02020603050405020304" pitchFamily="18" charset="0"/>
                        <a:ea typeface="方正书宋_GBK"/>
                      </a:endParaRPr>
                    </a:p>
                  </a:txBody>
                  <a:tcPr marL="68580" marR="68580" marT="0" marB="0" anchor="ctr"/>
                </a:tc>
                <a:tc>
                  <a:txBody>
                    <a:bodyPr/>
                    <a:lstStyle/>
                    <a:p>
                      <a:pPr>
                        <a:lnSpc>
                          <a:spcPts val="1200"/>
                        </a:lnSpc>
                        <a:spcAft>
                          <a:spcPts val="0"/>
                        </a:spcAft>
                      </a:pPr>
                      <a:r>
                        <a:rPr lang="zh-CN" sz="1800">
                          <a:effectLst/>
                        </a:rPr>
                        <a:t>很快</a:t>
                      </a:r>
                      <a:endParaRPr lang="zh-CN" sz="1800">
                        <a:solidFill>
                          <a:srgbClr val="000000"/>
                        </a:solidFill>
                        <a:effectLst/>
                        <a:latin typeface="Times New Roman" panose="02020603050405020304" pitchFamily="18" charset="0"/>
                        <a:ea typeface="方正书宋_GBK"/>
                      </a:endParaRPr>
                    </a:p>
                  </a:txBody>
                  <a:tcPr marL="68580" marR="68580" marT="0" marB="0" anchor="ctr"/>
                </a:tc>
                <a:tc>
                  <a:txBody>
                    <a:bodyPr/>
                    <a:lstStyle/>
                    <a:p>
                      <a:pPr>
                        <a:lnSpc>
                          <a:spcPts val="1200"/>
                        </a:lnSpc>
                        <a:spcAft>
                          <a:spcPts val="0"/>
                        </a:spcAft>
                      </a:pPr>
                      <a:r>
                        <a:rPr lang="zh-CN" sz="1800">
                          <a:effectLst/>
                        </a:rPr>
                        <a:t>支持</a:t>
                      </a:r>
                      <a:endParaRPr lang="zh-CN" sz="1800">
                        <a:solidFill>
                          <a:srgbClr val="000000"/>
                        </a:solidFill>
                        <a:effectLst/>
                        <a:latin typeface="Times New Roman" panose="02020603050405020304" pitchFamily="18" charset="0"/>
                        <a:ea typeface="方正书宋_GBK"/>
                      </a:endParaRPr>
                    </a:p>
                  </a:txBody>
                  <a:tcPr marL="68580" marR="68580" marT="0" marB="0" anchor="ctr"/>
                </a:tc>
                <a:tc>
                  <a:txBody>
                    <a:bodyPr/>
                    <a:lstStyle/>
                    <a:p>
                      <a:pPr indent="107950" algn="just">
                        <a:lnSpc>
                          <a:spcPts val="1200"/>
                        </a:lnSpc>
                        <a:spcAft>
                          <a:spcPts val="0"/>
                        </a:spcAft>
                      </a:pPr>
                      <a:r>
                        <a:rPr lang="zh-CN" sz="1800">
                          <a:effectLst/>
                        </a:rPr>
                        <a:t>缓存</a:t>
                      </a:r>
                      <a:endParaRPr lang="zh-CN" sz="1800">
                        <a:solidFill>
                          <a:srgbClr val="000000"/>
                        </a:solidFill>
                        <a:effectLst/>
                        <a:latin typeface="Times New Roman" panose="02020603050405020304" pitchFamily="18" charset="0"/>
                        <a:ea typeface="方正书宋_GBK"/>
                      </a:endParaRPr>
                    </a:p>
                  </a:txBody>
                  <a:tcPr marL="68580" marR="68580" marT="0" marB="0" anchor="ctr"/>
                </a:tc>
                <a:extLst>
                  <a:ext uri="{0D108BD9-81ED-4DB2-BD59-A6C34878D82A}">
                    <a16:rowId xmlns:a16="http://schemas.microsoft.com/office/drawing/2014/main" val="2954061348"/>
                  </a:ext>
                </a:extLst>
              </a:tr>
              <a:tr h="628194">
                <a:tc>
                  <a:txBody>
                    <a:bodyPr/>
                    <a:lstStyle/>
                    <a:p>
                      <a:pPr>
                        <a:lnSpc>
                          <a:spcPts val="1200"/>
                        </a:lnSpc>
                        <a:spcAft>
                          <a:spcPts val="0"/>
                        </a:spcAft>
                      </a:pPr>
                      <a:r>
                        <a:rPr lang="en-US" sz="1800">
                          <a:effectLst/>
                        </a:rPr>
                        <a:t>Mysql</a:t>
                      </a:r>
                      <a:endParaRPr lang="zh-CN" sz="1800">
                        <a:solidFill>
                          <a:srgbClr val="000000"/>
                        </a:solidFill>
                        <a:effectLst/>
                        <a:latin typeface="Times New Roman" panose="02020603050405020304" pitchFamily="18" charset="0"/>
                        <a:ea typeface="方正书宋_GBK"/>
                      </a:endParaRPr>
                    </a:p>
                  </a:txBody>
                  <a:tcPr marL="68580" marR="68580" marT="0" marB="0" anchor="ctr"/>
                </a:tc>
                <a:tc>
                  <a:txBody>
                    <a:bodyPr/>
                    <a:lstStyle/>
                    <a:p>
                      <a:pPr>
                        <a:lnSpc>
                          <a:spcPts val="1200"/>
                        </a:lnSpc>
                        <a:spcAft>
                          <a:spcPts val="0"/>
                        </a:spcAft>
                      </a:pPr>
                      <a:r>
                        <a:rPr lang="zh-CN" sz="1800">
                          <a:effectLst/>
                        </a:rPr>
                        <a:t>表</a:t>
                      </a:r>
                      <a:endParaRPr lang="zh-CN" sz="1800">
                        <a:solidFill>
                          <a:srgbClr val="000000"/>
                        </a:solidFill>
                        <a:effectLst/>
                        <a:latin typeface="Times New Roman" panose="02020603050405020304" pitchFamily="18" charset="0"/>
                        <a:ea typeface="方正书宋_GBK"/>
                      </a:endParaRPr>
                    </a:p>
                  </a:txBody>
                  <a:tcPr marL="68580" marR="68580" marT="0" marB="0" anchor="ctr"/>
                </a:tc>
                <a:tc>
                  <a:txBody>
                    <a:bodyPr/>
                    <a:lstStyle/>
                    <a:p>
                      <a:pPr>
                        <a:lnSpc>
                          <a:spcPts val="1200"/>
                        </a:lnSpc>
                        <a:spcAft>
                          <a:spcPts val="0"/>
                        </a:spcAft>
                      </a:pPr>
                      <a:r>
                        <a:rPr lang="zh-CN" sz="1800">
                          <a:effectLst/>
                        </a:rPr>
                        <a:t>快</a:t>
                      </a:r>
                      <a:endParaRPr lang="zh-CN" sz="1800">
                        <a:solidFill>
                          <a:srgbClr val="000000"/>
                        </a:solidFill>
                        <a:effectLst/>
                        <a:latin typeface="Times New Roman" panose="02020603050405020304" pitchFamily="18" charset="0"/>
                        <a:ea typeface="方正书宋_GBK"/>
                      </a:endParaRPr>
                    </a:p>
                  </a:txBody>
                  <a:tcPr marL="68580" marR="68580" marT="0" marB="0" anchor="ctr"/>
                </a:tc>
                <a:tc>
                  <a:txBody>
                    <a:bodyPr/>
                    <a:lstStyle/>
                    <a:p>
                      <a:pPr>
                        <a:lnSpc>
                          <a:spcPts val="1200"/>
                        </a:lnSpc>
                        <a:spcAft>
                          <a:spcPts val="0"/>
                        </a:spcAft>
                      </a:pPr>
                      <a:r>
                        <a:rPr lang="zh-CN" sz="1800">
                          <a:effectLst/>
                        </a:rPr>
                        <a:t>支持</a:t>
                      </a:r>
                      <a:endParaRPr lang="zh-CN" sz="1800">
                        <a:solidFill>
                          <a:srgbClr val="000000"/>
                        </a:solidFill>
                        <a:effectLst/>
                        <a:latin typeface="Times New Roman" panose="02020603050405020304" pitchFamily="18" charset="0"/>
                        <a:ea typeface="方正书宋_GBK"/>
                      </a:endParaRPr>
                    </a:p>
                  </a:txBody>
                  <a:tcPr marL="68580" marR="68580" marT="0" marB="0" anchor="ctr"/>
                </a:tc>
                <a:tc>
                  <a:txBody>
                    <a:bodyPr/>
                    <a:lstStyle/>
                    <a:p>
                      <a:pPr indent="107950" algn="just">
                        <a:lnSpc>
                          <a:spcPct val="100000"/>
                        </a:lnSpc>
                        <a:spcAft>
                          <a:spcPts val="0"/>
                        </a:spcAft>
                      </a:pPr>
                      <a:r>
                        <a:rPr lang="en-US" sz="1800" dirty="0">
                          <a:effectLst/>
                        </a:rPr>
                        <a:t>Web</a:t>
                      </a:r>
                      <a:r>
                        <a:rPr lang="zh-CN" sz="1800" dirty="0">
                          <a:effectLst/>
                        </a:rPr>
                        <a:t>系统、日志、嵌入式系统</a:t>
                      </a:r>
                      <a:endParaRPr lang="zh-CN" sz="1800" dirty="0">
                        <a:solidFill>
                          <a:srgbClr val="000000"/>
                        </a:solidFill>
                        <a:effectLst/>
                        <a:latin typeface="Times New Roman" panose="02020603050405020304" pitchFamily="18" charset="0"/>
                        <a:ea typeface="方正书宋_GBK"/>
                      </a:endParaRPr>
                    </a:p>
                  </a:txBody>
                  <a:tcPr marL="68580" marR="68580" marT="0" marB="0" anchor="ctr"/>
                </a:tc>
                <a:extLst>
                  <a:ext uri="{0D108BD9-81ED-4DB2-BD59-A6C34878D82A}">
                    <a16:rowId xmlns:a16="http://schemas.microsoft.com/office/drawing/2014/main" val="531983009"/>
                  </a:ext>
                </a:extLst>
              </a:tr>
            </a:tbl>
          </a:graphicData>
        </a:graphic>
      </p:graphicFrame>
      <p:sp>
        <p:nvSpPr>
          <p:cNvPr id="6" name="矩形 5">
            <a:extLst>
              <a:ext uri="{FF2B5EF4-FFF2-40B4-BE49-F238E27FC236}">
                <a16:creationId xmlns:a16="http://schemas.microsoft.com/office/drawing/2014/main" id="{3FED1CD8-343F-45E3-86DF-FF5AC9E67CE8}"/>
              </a:ext>
            </a:extLst>
          </p:cNvPr>
          <p:cNvSpPr/>
          <p:nvPr/>
        </p:nvSpPr>
        <p:spPr>
          <a:xfrm>
            <a:off x="1975836" y="1119287"/>
            <a:ext cx="4272323" cy="400110"/>
          </a:xfrm>
          <a:prstGeom prst="rect">
            <a:avLst/>
          </a:prstGeom>
        </p:spPr>
        <p:txBody>
          <a:bodyPr wrap="none">
            <a:spAutoFit/>
          </a:bodyPr>
          <a:lstStyle/>
          <a:p>
            <a:pPr lvl="0" defTabSz="914400" eaLnBrk="0" fontAlgn="base" hangingPunct="0">
              <a:spcBef>
                <a:spcPct val="0"/>
              </a:spcBef>
              <a:spcAft>
                <a:spcPct val="0"/>
              </a:spcAft>
            </a:pPr>
            <a:r>
              <a:rPr lang="zh-CN" altLang="zh-CN" sz="2000" dirty="0">
                <a:solidFill>
                  <a:srgbClr val="000000"/>
                </a:solidFill>
                <a:latin typeface="Arial" panose="020B0604020202020204" pitchFamily="34" charset="0"/>
                <a:ea typeface="黑体" panose="02010609060101010101" pitchFamily="49" charset="-122"/>
                <a:cs typeface="Arial" panose="020B0604020202020204" pitchFamily="34" charset="0"/>
              </a:rPr>
              <a:t>表</a:t>
            </a:r>
            <a:r>
              <a:rPr lang="en-US" altLang="zh-CN" sz="2000" dirty="0" bmk="">
                <a:solidFill>
                  <a:srgbClr val="000000"/>
                </a:solidFill>
                <a:latin typeface="Arial" panose="020B0604020202020204" pitchFamily="34" charset="0"/>
                <a:ea typeface="黑体" panose="02010609060101010101" pitchFamily="49" charset="-122"/>
                <a:cs typeface="Arial" panose="020B0604020202020204" pitchFamily="34" charset="0"/>
              </a:rPr>
              <a:t>1.4  </a:t>
            </a:r>
            <a:r>
              <a:rPr lang="zh-CN" altLang="en-US" sz="2000" dirty="0" bmk="">
                <a:solidFill>
                  <a:srgbClr val="000000"/>
                </a:solidFill>
                <a:latin typeface="Arial" panose="020B0604020202020204" pitchFamily="34" charset="0"/>
                <a:ea typeface="黑体" panose="02010609060101010101" pitchFamily="49" charset="-122"/>
                <a:cs typeface="Arial" panose="020B0604020202020204" pitchFamily="34" charset="0"/>
              </a:rPr>
              <a:t>流行的开源分布式数据库系统</a:t>
            </a:r>
            <a:endParaRPr lang="zh-CN" altLang="en-US" sz="1050" dirty="0"/>
          </a:p>
        </p:txBody>
      </p:sp>
    </p:spTree>
    <p:extLst>
      <p:ext uri="{BB962C8B-B14F-4D97-AF65-F5344CB8AC3E}">
        <p14:creationId xmlns:p14="http://schemas.microsoft.com/office/powerpoint/2010/main" val="3583704939"/>
      </p:ext>
    </p:extLst>
  </p:cSld>
  <p:clrMapOvr>
    <a:masterClrMapping/>
  </p:clrMapOvr>
  <p:transition spd="slow">
    <p:pull/>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92125" y="234315"/>
            <a:ext cx="3279775" cy="523220"/>
          </a:xfrm>
          <a:prstGeom prst="rect">
            <a:avLst/>
          </a:prstGeom>
        </p:spPr>
        <p:txBody>
          <a:bodyPr wrap="square">
            <a:spAutoFit/>
          </a:bodyPr>
          <a:lstStyle/>
          <a:p>
            <a:r>
              <a:rPr lang="zh-CN" alt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分布式计算框架</a:t>
            </a:r>
            <a:endPar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00" name="文本框 99"/>
          <p:cNvSpPr txBox="1"/>
          <p:nvPr/>
        </p:nvSpPr>
        <p:spPr>
          <a:xfrm>
            <a:off x="469264" y="986155"/>
            <a:ext cx="8160385" cy="3738588"/>
          </a:xfrm>
          <a:prstGeom prst="rect">
            <a:avLst/>
          </a:prstGeom>
          <a:noFill/>
          <a:ln w="9525">
            <a:noFill/>
          </a:ln>
        </p:spPr>
        <p:txBody>
          <a:bodyPr wrap="square">
            <a:spAutoFit/>
          </a:bodyPr>
          <a:lstStyle/>
          <a:p>
            <a:pPr hangingPunct="0">
              <a:lnSpc>
                <a:spcPct val="150000"/>
              </a:lnSpc>
            </a:pPr>
            <a:r>
              <a:rPr lang="en-US" altLang="zh-CN" sz="2000" b="1" dirty="0">
                <a:solidFill>
                  <a:srgbClr val="FF0000"/>
                </a:solidFill>
                <a:latin typeface="等线" panose="02010600030101010101" pitchFamily="2" charset="-122"/>
              </a:rPr>
              <a:t>1</a:t>
            </a:r>
            <a:r>
              <a:rPr lang="zh-CN" altLang="en-US" sz="2000" b="1" dirty="0">
                <a:solidFill>
                  <a:srgbClr val="FF0000"/>
                </a:solidFill>
                <a:latin typeface="等线" panose="02010600030101010101" pitchFamily="2" charset="-122"/>
              </a:rPr>
              <a:t>．</a:t>
            </a:r>
            <a:r>
              <a:rPr lang="zh-CN" altLang="zh-CN" sz="2000" b="1" dirty="0">
                <a:solidFill>
                  <a:srgbClr val="FF0000"/>
                </a:solidFill>
                <a:latin typeface="等线" panose="02010600030101010101" pitchFamily="2" charset="-122"/>
              </a:rPr>
              <a:t>分布式计算框架</a:t>
            </a:r>
          </a:p>
          <a:p>
            <a:pPr hangingPunct="0">
              <a:lnSpc>
                <a:spcPct val="150000"/>
              </a:lnSpc>
            </a:pPr>
            <a:r>
              <a:rPr lang="en-US" altLang="zh-CN" sz="2000" dirty="0"/>
              <a:t>       </a:t>
            </a:r>
            <a:r>
              <a:rPr lang="zh-CN" altLang="zh-CN" sz="2000" dirty="0"/>
              <a:t>目前流行的大数据计算框架包括</a:t>
            </a:r>
            <a:r>
              <a:rPr lang="en-US" altLang="zh-CN" sz="2000" dirty="0"/>
              <a:t>MapReduce</a:t>
            </a:r>
            <a:r>
              <a:rPr lang="zh-CN" altLang="zh-CN" sz="2000" dirty="0"/>
              <a:t>、</a:t>
            </a:r>
            <a:r>
              <a:rPr lang="en-US" altLang="zh-CN" sz="2000" dirty="0"/>
              <a:t>Storm</a:t>
            </a:r>
            <a:r>
              <a:rPr lang="zh-CN" altLang="zh-CN" sz="2000" dirty="0"/>
              <a:t>和</a:t>
            </a:r>
            <a:r>
              <a:rPr lang="en-US" altLang="zh-CN" sz="2000" dirty="0"/>
              <a:t>Spark</a:t>
            </a:r>
            <a:r>
              <a:rPr lang="zh-CN" altLang="zh-CN" sz="2000" dirty="0"/>
              <a:t>等，以下分别对这三种计算框架进行简要的介绍。</a:t>
            </a:r>
          </a:p>
          <a:p>
            <a:pPr hangingPunct="0">
              <a:lnSpc>
                <a:spcPct val="150000"/>
              </a:lnSpc>
            </a:pPr>
            <a:r>
              <a:rPr lang="zh-CN" altLang="zh-CN" sz="2000" b="1" dirty="0"/>
              <a:t>（</a:t>
            </a:r>
            <a:r>
              <a:rPr lang="en-US" altLang="zh-CN" sz="2000" b="1" dirty="0"/>
              <a:t>1</a:t>
            </a:r>
            <a:r>
              <a:rPr lang="zh-CN" altLang="zh-CN" sz="2000" b="1" dirty="0"/>
              <a:t>）</a:t>
            </a:r>
            <a:r>
              <a:rPr lang="en-US" altLang="zh-CN" sz="2000" b="1" dirty="0"/>
              <a:t>MapReduce</a:t>
            </a:r>
            <a:endParaRPr lang="zh-CN" altLang="zh-CN" sz="2000" b="1" dirty="0"/>
          </a:p>
          <a:p>
            <a:pPr hangingPunct="0">
              <a:lnSpc>
                <a:spcPct val="150000"/>
              </a:lnSpc>
            </a:pPr>
            <a:r>
              <a:rPr lang="en-US" altLang="zh-CN" sz="2000" dirty="0"/>
              <a:t>       Hadoop</a:t>
            </a:r>
            <a:r>
              <a:rPr lang="zh-CN" altLang="zh-CN" sz="2000" dirty="0"/>
              <a:t>的</a:t>
            </a:r>
            <a:r>
              <a:rPr lang="en-US" altLang="zh-CN" sz="2000" dirty="0"/>
              <a:t>MapReduce</a:t>
            </a:r>
            <a:r>
              <a:rPr lang="zh-CN" altLang="zh-CN" sz="2000" dirty="0"/>
              <a:t>属于“批量计算”框架。所谓“批量计算”是指对存储在文件系统中的数据集进行批量处理的方式，它适用于处理存储在文件系统中的大容量静态数据集，但每个任务需要多次执行读取和写入操作，因此不适用于实时性要求较高的场合。</a:t>
            </a:r>
          </a:p>
        </p:txBody>
      </p:sp>
    </p:spTree>
    <p:extLst>
      <p:ext uri="{BB962C8B-B14F-4D97-AF65-F5344CB8AC3E}">
        <p14:creationId xmlns:p14="http://schemas.microsoft.com/office/powerpoint/2010/main" val="4283320440"/>
      </p:ext>
    </p:extLst>
  </p:cSld>
  <p:clrMapOvr>
    <a:masterClrMapping/>
  </p:clrMapOvr>
  <p:transition spd="slow">
    <p:pull/>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6676" y="234315"/>
            <a:ext cx="5235575" cy="954107"/>
          </a:xfrm>
          <a:prstGeom prst="rect">
            <a:avLst/>
          </a:prstGeom>
        </p:spPr>
        <p:txBody>
          <a:bodyPr wrap="square">
            <a:spAutoFit/>
          </a:bodyPr>
          <a:lstStyle/>
          <a:p>
            <a:r>
              <a:rPr lang="en-US" altLang="zh-CN"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1.4.3</a:t>
            </a:r>
            <a:r>
              <a:rPr lang="zh-CN" alt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目前流行的大数据技术</a:t>
            </a:r>
          </a:p>
          <a:p>
            <a:endPar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00" name="文本框 99"/>
          <p:cNvSpPr txBox="1"/>
          <p:nvPr/>
        </p:nvSpPr>
        <p:spPr>
          <a:xfrm>
            <a:off x="469264" y="986155"/>
            <a:ext cx="8160385" cy="4093428"/>
          </a:xfrm>
          <a:prstGeom prst="rect">
            <a:avLst/>
          </a:prstGeom>
          <a:noFill/>
          <a:ln w="9525">
            <a:noFill/>
          </a:ln>
        </p:spPr>
        <p:txBody>
          <a:bodyPr wrap="square">
            <a:spAutoFit/>
          </a:bodyPr>
          <a:lstStyle/>
          <a:p>
            <a:pPr hangingPunct="0">
              <a:lnSpc>
                <a:spcPct val="150000"/>
              </a:lnSpc>
            </a:pPr>
            <a:r>
              <a:rPr lang="zh-CN" altLang="zh-CN" sz="2000" b="1" dirty="0"/>
              <a:t>（</a:t>
            </a:r>
            <a:r>
              <a:rPr lang="en-US" altLang="zh-CN" sz="2000" b="1" dirty="0"/>
              <a:t>2</a:t>
            </a:r>
            <a:r>
              <a:rPr lang="zh-CN" altLang="zh-CN" sz="2000" b="1" dirty="0"/>
              <a:t>）</a:t>
            </a:r>
            <a:r>
              <a:rPr lang="en-US" altLang="zh-CN" sz="2000" b="1" dirty="0"/>
              <a:t>Storm</a:t>
            </a:r>
            <a:endParaRPr lang="zh-CN" altLang="zh-CN" sz="2000" b="1" dirty="0"/>
          </a:p>
          <a:p>
            <a:pPr hangingPunct="0"/>
            <a:r>
              <a:rPr lang="en-US" altLang="zh-CN" sz="2000" dirty="0"/>
              <a:t>         Storm</a:t>
            </a:r>
            <a:r>
              <a:rPr lang="zh-CN" altLang="zh-CN" sz="2000" dirty="0"/>
              <a:t>是由</a:t>
            </a:r>
            <a:r>
              <a:rPr lang="en-US" altLang="zh-CN" sz="2000" dirty="0"/>
              <a:t>Twitter</a:t>
            </a:r>
            <a:r>
              <a:rPr lang="zh-CN" altLang="zh-CN" sz="2000" dirty="0"/>
              <a:t>公司开源的“实时流式计算”框架。“实时流式计算”方式是基于内存的计算模式，它无须针对整个数据集进行操作，而是对通过系统传输的每个数据项执行操作，可以对随时进入系统的数据进行计算，因此适用于时间性要求较高的场合。其他著名的实时流计算框架还有</a:t>
            </a:r>
            <a:r>
              <a:rPr lang="en-US" altLang="zh-CN" sz="2000" dirty="0"/>
              <a:t>Facebook</a:t>
            </a:r>
            <a:r>
              <a:rPr lang="zh-CN" altLang="zh-CN" sz="2000" dirty="0"/>
              <a:t>公司的</a:t>
            </a:r>
            <a:r>
              <a:rPr lang="en-US" altLang="zh-CN" sz="2000" dirty="0"/>
              <a:t>Puma</a:t>
            </a:r>
            <a:r>
              <a:rPr lang="zh-CN" altLang="zh-CN" sz="2000" dirty="0"/>
              <a:t>和</a:t>
            </a:r>
            <a:r>
              <a:rPr lang="en-US" altLang="zh-CN" sz="2000" dirty="0"/>
              <a:t>Yahoo!</a:t>
            </a:r>
            <a:r>
              <a:rPr lang="zh-CN" altLang="zh-CN" sz="2000" dirty="0"/>
              <a:t>公司的</a:t>
            </a:r>
            <a:r>
              <a:rPr lang="en-US" altLang="zh-CN" sz="2000" dirty="0"/>
              <a:t>S4</a:t>
            </a:r>
            <a:r>
              <a:rPr lang="zh-CN" altLang="zh-CN" sz="2000" dirty="0"/>
              <a:t>（</a:t>
            </a:r>
            <a:r>
              <a:rPr lang="en-US" altLang="zh-CN" sz="2000" dirty="0"/>
              <a:t>Simple Scalable Streaming System</a:t>
            </a:r>
            <a:r>
              <a:rPr lang="zh-CN" altLang="zh-CN" sz="2000" dirty="0"/>
              <a:t>）等。</a:t>
            </a:r>
          </a:p>
          <a:p>
            <a:pPr hangingPunct="0">
              <a:lnSpc>
                <a:spcPct val="150000"/>
              </a:lnSpc>
            </a:pPr>
            <a:r>
              <a:rPr lang="zh-CN" altLang="zh-CN" sz="2000" b="1" dirty="0"/>
              <a:t>（</a:t>
            </a:r>
            <a:r>
              <a:rPr lang="en-US" altLang="zh-CN" sz="2000" b="1" dirty="0"/>
              <a:t>3</a:t>
            </a:r>
            <a:r>
              <a:rPr lang="zh-CN" altLang="zh-CN" sz="2000" b="1" dirty="0"/>
              <a:t>）</a:t>
            </a:r>
            <a:r>
              <a:rPr lang="en-US" altLang="zh-CN" sz="2000" b="1" dirty="0"/>
              <a:t>Spark</a:t>
            </a:r>
            <a:endParaRPr lang="zh-CN" altLang="zh-CN" sz="2000" b="1" dirty="0"/>
          </a:p>
          <a:p>
            <a:pPr hangingPunct="0"/>
            <a:r>
              <a:rPr lang="en-US" altLang="zh-CN" sz="2000" dirty="0"/>
              <a:t>         Spark</a:t>
            </a:r>
            <a:r>
              <a:rPr lang="zh-CN" altLang="zh-CN" sz="2000" dirty="0"/>
              <a:t>属于前两种框架形式的集合体，是一种混合式的计算框架。它既有自带的“实时流式计算”引擎，也可以和</a:t>
            </a:r>
            <a:r>
              <a:rPr lang="en-US" altLang="zh-CN" sz="2000" dirty="0"/>
              <a:t>Hadoop</a:t>
            </a:r>
            <a:r>
              <a:rPr lang="zh-CN" altLang="zh-CN" sz="2000" dirty="0"/>
              <a:t>集成，代替其中的</a:t>
            </a:r>
            <a:r>
              <a:rPr lang="en-US" altLang="zh-CN" sz="2000" dirty="0"/>
              <a:t>MapReduce</a:t>
            </a:r>
            <a:r>
              <a:rPr lang="zh-CN" altLang="zh-CN" sz="2000" dirty="0"/>
              <a:t>，</a:t>
            </a:r>
            <a:r>
              <a:rPr lang="en-US" altLang="zh-CN" sz="2000" dirty="0"/>
              <a:t>Spark</a:t>
            </a:r>
            <a:r>
              <a:rPr lang="zh-CN" altLang="zh-CN" sz="2000" dirty="0"/>
              <a:t>也可以单独拿出来部署集群，但是还得借助</a:t>
            </a:r>
            <a:r>
              <a:rPr lang="en-US" altLang="zh-CN" sz="2000" dirty="0"/>
              <a:t>HDFS</a:t>
            </a:r>
            <a:r>
              <a:rPr lang="zh-CN" altLang="zh-CN" sz="2000" dirty="0"/>
              <a:t>等分布式存储系统作为其基础支撑架构。</a:t>
            </a:r>
          </a:p>
        </p:txBody>
      </p:sp>
    </p:spTree>
    <p:extLst>
      <p:ext uri="{BB962C8B-B14F-4D97-AF65-F5344CB8AC3E}">
        <p14:creationId xmlns:p14="http://schemas.microsoft.com/office/powerpoint/2010/main" val="1003831835"/>
      </p:ext>
    </p:extLst>
  </p:cSld>
  <p:clrMapOvr>
    <a:masterClrMapping/>
  </p:clrMapOvr>
  <p:transition spd="slow">
    <p:pull/>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76225" y="234315"/>
            <a:ext cx="3756025" cy="523220"/>
          </a:xfrm>
          <a:prstGeom prst="rect">
            <a:avLst/>
          </a:prstGeom>
        </p:spPr>
        <p:txBody>
          <a:bodyPr wrap="square">
            <a:spAutoFit/>
          </a:bodyPr>
          <a:lstStyle/>
          <a:p>
            <a:r>
              <a:rPr lang="zh-CN" alt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两种计算方式的对比</a:t>
            </a:r>
            <a:endPar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aphicFrame>
        <p:nvGraphicFramePr>
          <p:cNvPr id="3" name="表格 2">
            <a:extLst>
              <a:ext uri="{FF2B5EF4-FFF2-40B4-BE49-F238E27FC236}">
                <a16:creationId xmlns:a16="http://schemas.microsoft.com/office/drawing/2014/main" id="{01ACA48E-4345-45D5-9242-6A59D0582195}"/>
              </a:ext>
            </a:extLst>
          </p:cNvPr>
          <p:cNvGraphicFramePr>
            <a:graphicFrameLocks noGrp="1"/>
          </p:cNvGraphicFramePr>
          <p:nvPr>
            <p:extLst>
              <p:ext uri="{D42A27DB-BD31-4B8C-83A1-F6EECF244321}">
                <p14:modId xmlns:p14="http://schemas.microsoft.com/office/powerpoint/2010/main" val="2835707235"/>
              </p:ext>
            </p:extLst>
          </p:nvPr>
        </p:nvGraphicFramePr>
        <p:xfrm>
          <a:off x="498475" y="2178240"/>
          <a:ext cx="7921625" cy="1612714"/>
        </p:xfrm>
        <a:graphic>
          <a:graphicData uri="http://schemas.openxmlformats.org/drawingml/2006/table">
            <a:tbl>
              <a:tblPr firstRow="1" firstCol="1" bandRow="1">
                <a:tableStyleId>{5C22544A-7EE6-4342-B048-85BDC9FD1C3A}</a:tableStyleId>
              </a:tblPr>
              <a:tblGrid>
                <a:gridCol w="1896926">
                  <a:extLst>
                    <a:ext uri="{9D8B030D-6E8A-4147-A177-3AD203B41FA5}">
                      <a16:colId xmlns:a16="http://schemas.microsoft.com/office/drawing/2014/main" val="1496806685"/>
                    </a:ext>
                  </a:extLst>
                </a:gridCol>
                <a:gridCol w="2979874">
                  <a:extLst>
                    <a:ext uri="{9D8B030D-6E8A-4147-A177-3AD203B41FA5}">
                      <a16:colId xmlns:a16="http://schemas.microsoft.com/office/drawing/2014/main" val="370889357"/>
                    </a:ext>
                  </a:extLst>
                </a:gridCol>
                <a:gridCol w="3044825">
                  <a:extLst>
                    <a:ext uri="{9D8B030D-6E8A-4147-A177-3AD203B41FA5}">
                      <a16:colId xmlns:a16="http://schemas.microsoft.com/office/drawing/2014/main" val="2078289695"/>
                    </a:ext>
                  </a:extLst>
                </a:gridCol>
              </a:tblGrid>
              <a:tr h="333327">
                <a:tc>
                  <a:txBody>
                    <a:bodyPr/>
                    <a:lstStyle/>
                    <a:p>
                      <a:pPr algn="ctr">
                        <a:lnSpc>
                          <a:spcPct val="100000"/>
                        </a:lnSpc>
                        <a:spcAft>
                          <a:spcPts val="0"/>
                        </a:spcAft>
                      </a:pPr>
                      <a:r>
                        <a:rPr lang="en-US" sz="1800">
                          <a:effectLst/>
                        </a:rPr>
                        <a:t> </a:t>
                      </a:r>
                      <a:endParaRPr lang="zh-CN" sz="1800">
                        <a:solidFill>
                          <a:srgbClr val="000000"/>
                        </a:solidFill>
                        <a:effectLst/>
                        <a:latin typeface="Arial" panose="020B0604020202020204" pitchFamily="34" charset="0"/>
                        <a:ea typeface="黑体" panose="02010609060101010101" pitchFamily="49" charset="-122"/>
                        <a:cs typeface="Times New Roman" panose="02020603050405020304" pitchFamily="18" charset="0"/>
                      </a:endParaRPr>
                    </a:p>
                  </a:txBody>
                  <a:tcPr marL="68580" marR="68580" marT="0" marB="0" anchor="ctr"/>
                </a:tc>
                <a:tc>
                  <a:txBody>
                    <a:bodyPr/>
                    <a:lstStyle/>
                    <a:p>
                      <a:pPr algn="ctr">
                        <a:lnSpc>
                          <a:spcPct val="100000"/>
                        </a:lnSpc>
                        <a:spcAft>
                          <a:spcPts val="0"/>
                        </a:spcAft>
                      </a:pPr>
                      <a:r>
                        <a:rPr lang="zh-CN" sz="1800">
                          <a:effectLst/>
                        </a:rPr>
                        <a:t>批 量 计 算</a:t>
                      </a:r>
                      <a:endParaRPr lang="zh-CN" sz="1800">
                        <a:solidFill>
                          <a:srgbClr val="000000"/>
                        </a:solidFill>
                        <a:effectLst/>
                        <a:latin typeface="Arial" panose="020B0604020202020204" pitchFamily="34" charset="0"/>
                        <a:ea typeface="黑体" panose="02010609060101010101" pitchFamily="49" charset="-122"/>
                        <a:cs typeface="Times New Roman" panose="02020603050405020304" pitchFamily="18" charset="0"/>
                      </a:endParaRPr>
                    </a:p>
                  </a:txBody>
                  <a:tcPr marL="68580" marR="68580" marT="0" marB="0" anchor="ctr"/>
                </a:tc>
                <a:tc>
                  <a:txBody>
                    <a:bodyPr/>
                    <a:lstStyle/>
                    <a:p>
                      <a:pPr algn="ctr">
                        <a:lnSpc>
                          <a:spcPct val="100000"/>
                        </a:lnSpc>
                        <a:spcAft>
                          <a:spcPts val="0"/>
                        </a:spcAft>
                      </a:pPr>
                      <a:r>
                        <a:rPr lang="zh-CN" sz="1800">
                          <a:effectLst/>
                        </a:rPr>
                        <a:t>流 式 计 算</a:t>
                      </a:r>
                      <a:endParaRPr lang="zh-CN" sz="1800">
                        <a:solidFill>
                          <a:srgbClr val="000000"/>
                        </a:solidFill>
                        <a:effectLst/>
                        <a:latin typeface="Arial" panose="020B0604020202020204" pitchFamily="34" charset="0"/>
                        <a:ea typeface="黑体"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175117076"/>
                  </a:ext>
                </a:extLst>
              </a:tr>
              <a:tr h="472933">
                <a:tc>
                  <a:txBody>
                    <a:bodyPr/>
                    <a:lstStyle/>
                    <a:p>
                      <a:pPr>
                        <a:lnSpc>
                          <a:spcPct val="100000"/>
                        </a:lnSpc>
                        <a:spcAft>
                          <a:spcPts val="0"/>
                        </a:spcAft>
                      </a:pPr>
                      <a:r>
                        <a:rPr lang="zh-CN" sz="1800">
                          <a:effectLst/>
                        </a:rPr>
                        <a:t>数据到达</a:t>
                      </a:r>
                      <a:endParaRPr lang="zh-CN" sz="1800">
                        <a:solidFill>
                          <a:srgbClr val="000000"/>
                        </a:solidFill>
                        <a:effectLst/>
                        <a:latin typeface="Times New Roman" panose="02020603050405020304" pitchFamily="18" charset="0"/>
                        <a:ea typeface="方正书宋_GBK"/>
                      </a:endParaRPr>
                    </a:p>
                  </a:txBody>
                  <a:tcPr marL="68580" marR="68580" marT="0" marB="0" anchor="ctr"/>
                </a:tc>
                <a:tc>
                  <a:txBody>
                    <a:bodyPr/>
                    <a:lstStyle/>
                    <a:p>
                      <a:pPr>
                        <a:lnSpc>
                          <a:spcPct val="100000"/>
                        </a:lnSpc>
                        <a:spcAft>
                          <a:spcPts val="0"/>
                        </a:spcAft>
                      </a:pPr>
                      <a:r>
                        <a:rPr lang="zh-CN" sz="1800">
                          <a:effectLst/>
                        </a:rPr>
                        <a:t>计算开始前数据已准备好</a:t>
                      </a:r>
                      <a:endParaRPr lang="zh-CN" sz="1800">
                        <a:solidFill>
                          <a:srgbClr val="000000"/>
                        </a:solidFill>
                        <a:effectLst/>
                        <a:latin typeface="Times New Roman" panose="02020603050405020304" pitchFamily="18" charset="0"/>
                        <a:ea typeface="方正书宋_GBK"/>
                      </a:endParaRPr>
                    </a:p>
                  </a:txBody>
                  <a:tcPr marL="68580" marR="68580" marT="0" marB="0" anchor="ctr"/>
                </a:tc>
                <a:tc>
                  <a:txBody>
                    <a:bodyPr/>
                    <a:lstStyle/>
                    <a:p>
                      <a:pPr>
                        <a:lnSpc>
                          <a:spcPct val="100000"/>
                        </a:lnSpc>
                        <a:spcAft>
                          <a:spcPts val="0"/>
                        </a:spcAft>
                      </a:pPr>
                      <a:r>
                        <a:rPr lang="zh-CN" sz="1800">
                          <a:effectLst/>
                        </a:rPr>
                        <a:t>计算进行中数据持续到来</a:t>
                      </a:r>
                      <a:endParaRPr lang="zh-CN" sz="1800">
                        <a:solidFill>
                          <a:srgbClr val="000000"/>
                        </a:solidFill>
                        <a:effectLst/>
                        <a:latin typeface="Times New Roman" panose="02020603050405020304" pitchFamily="18" charset="0"/>
                        <a:ea typeface="方正书宋_GBK"/>
                      </a:endParaRPr>
                    </a:p>
                  </a:txBody>
                  <a:tcPr marL="68580" marR="68580" marT="0" marB="0" anchor="ctr"/>
                </a:tc>
                <a:extLst>
                  <a:ext uri="{0D108BD9-81ED-4DB2-BD59-A6C34878D82A}">
                    <a16:rowId xmlns:a16="http://schemas.microsoft.com/office/drawing/2014/main" val="3832913229"/>
                  </a:ext>
                </a:extLst>
              </a:tr>
              <a:tr h="457154">
                <a:tc>
                  <a:txBody>
                    <a:bodyPr/>
                    <a:lstStyle/>
                    <a:p>
                      <a:pPr>
                        <a:lnSpc>
                          <a:spcPct val="100000"/>
                        </a:lnSpc>
                        <a:spcAft>
                          <a:spcPts val="0"/>
                        </a:spcAft>
                      </a:pPr>
                      <a:r>
                        <a:rPr lang="zh-CN" sz="1800" dirty="0">
                          <a:effectLst/>
                        </a:rPr>
                        <a:t>计算周期</a:t>
                      </a:r>
                      <a:endParaRPr lang="zh-CN" sz="1800" dirty="0">
                        <a:solidFill>
                          <a:srgbClr val="000000"/>
                        </a:solidFill>
                        <a:effectLst/>
                        <a:latin typeface="Times New Roman" panose="02020603050405020304" pitchFamily="18" charset="0"/>
                        <a:ea typeface="方正书宋_GBK"/>
                      </a:endParaRPr>
                    </a:p>
                  </a:txBody>
                  <a:tcPr marL="68580" marR="68580" marT="0" marB="0" anchor="ctr"/>
                </a:tc>
                <a:tc>
                  <a:txBody>
                    <a:bodyPr/>
                    <a:lstStyle/>
                    <a:p>
                      <a:pPr>
                        <a:lnSpc>
                          <a:spcPct val="100000"/>
                        </a:lnSpc>
                        <a:spcAft>
                          <a:spcPts val="0"/>
                        </a:spcAft>
                      </a:pPr>
                      <a:r>
                        <a:rPr lang="zh-CN" sz="1800">
                          <a:effectLst/>
                        </a:rPr>
                        <a:t>计算完成后会结束计算</a:t>
                      </a:r>
                      <a:endParaRPr lang="zh-CN" sz="1800">
                        <a:solidFill>
                          <a:srgbClr val="000000"/>
                        </a:solidFill>
                        <a:effectLst/>
                        <a:latin typeface="Times New Roman" panose="02020603050405020304" pitchFamily="18" charset="0"/>
                        <a:ea typeface="方正书宋_GBK"/>
                      </a:endParaRPr>
                    </a:p>
                  </a:txBody>
                  <a:tcPr marL="68580" marR="68580" marT="0" marB="0" anchor="ctr"/>
                </a:tc>
                <a:tc>
                  <a:txBody>
                    <a:bodyPr/>
                    <a:lstStyle/>
                    <a:p>
                      <a:pPr>
                        <a:lnSpc>
                          <a:spcPct val="100000"/>
                        </a:lnSpc>
                        <a:spcAft>
                          <a:spcPts val="0"/>
                        </a:spcAft>
                      </a:pPr>
                      <a:r>
                        <a:rPr lang="zh-CN" sz="1800">
                          <a:effectLst/>
                        </a:rPr>
                        <a:t>一般会作为服务持续运行</a:t>
                      </a:r>
                      <a:endParaRPr lang="zh-CN" sz="1800">
                        <a:solidFill>
                          <a:srgbClr val="000000"/>
                        </a:solidFill>
                        <a:effectLst/>
                        <a:latin typeface="Times New Roman" panose="02020603050405020304" pitchFamily="18" charset="0"/>
                        <a:ea typeface="方正书宋_GBK"/>
                      </a:endParaRPr>
                    </a:p>
                  </a:txBody>
                  <a:tcPr marL="68580" marR="68580" marT="0" marB="0" anchor="ctr"/>
                </a:tc>
                <a:extLst>
                  <a:ext uri="{0D108BD9-81ED-4DB2-BD59-A6C34878D82A}">
                    <a16:rowId xmlns:a16="http://schemas.microsoft.com/office/drawing/2014/main" val="3870427794"/>
                  </a:ext>
                </a:extLst>
              </a:tr>
              <a:tr h="349300">
                <a:tc>
                  <a:txBody>
                    <a:bodyPr/>
                    <a:lstStyle/>
                    <a:p>
                      <a:pPr>
                        <a:lnSpc>
                          <a:spcPct val="100000"/>
                        </a:lnSpc>
                        <a:spcAft>
                          <a:spcPts val="0"/>
                        </a:spcAft>
                      </a:pPr>
                      <a:r>
                        <a:rPr lang="zh-CN" sz="1800">
                          <a:effectLst/>
                        </a:rPr>
                        <a:t>使用场景</a:t>
                      </a:r>
                      <a:endParaRPr lang="zh-CN" sz="1800">
                        <a:solidFill>
                          <a:srgbClr val="000000"/>
                        </a:solidFill>
                        <a:effectLst/>
                        <a:latin typeface="Times New Roman" panose="02020603050405020304" pitchFamily="18" charset="0"/>
                        <a:ea typeface="方正书宋_GBK"/>
                      </a:endParaRPr>
                    </a:p>
                  </a:txBody>
                  <a:tcPr marL="68580" marR="68580" marT="0" marB="0" anchor="ctr"/>
                </a:tc>
                <a:tc>
                  <a:txBody>
                    <a:bodyPr/>
                    <a:lstStyle/>
                    <a:p>
                      <a:pPr>
                        <a:lnSpc>
                          <a:spcPct val="100000"/>
                        </a:lnSpc>
                        <a:spcAft>
                          <a:spcPts val="0"/>
                        </a:spcAft>
                      </a:pPr>
                      <a:r>
                        <a:rPr lang="zh-CN" sz="1800">
                          <a:effectLst/>
                        </a:rPr>
                        <a:t>时效性要求低的场景</a:t>
                      </a:r>
                      <a:endParaRPr lang="zh-CN" sz="1800">
                        <a:solidFill>
                          <a:srgbClr val="000000"/>
                        </a:solidFill>
                        <a:effectLst/>
                        <a:latin typeface="Times New Roman" panose="02020603050405020304" pitchFamily="18" charset="0"/>
                        <a:ea typeface="方正书宋_GBK"/>
                      </a:endParaRPr>
                    </a:p>
                  </a:txBody>
                  <a:tcPr marL="68580" marR="68580" marT="0" marB="0" anchor="ctr"/>
                </a:tc>
                <a:tc>
                  <a:txBody>
                    <a:bodyPr/>
                    <a:lstStyle/>
                    <a:p>
                      <a:pPr>
                        <a:lnSpc>
                          <a:spcPct val="100000"/>
                        </a:lnSpc>
                        <a:spcAft>
                          <a:spcPts val="0"/>
                        </a:spcAft>
                      </a:pPr>
                      <a:r>
                        <a:rPr lang="zh-CN" sz="1800" dirty="0">
                          <a:effectLst/>
                        </a:rPr>
                        <a:t>时效性要求高的场景</a:t>
                      </a:r>
                      <a:endParaRPr lang="zh-CN" sz="1800" dirty="0">
                        <a:solidFill>
                          <a:srgbClr val="000000"/>
                        </a:solidFill>
                        <a:effectLst/>
                        <a:latin typeface="Times New Roman" panose="02020603050405020304" pitchFamily="18" charset="0"/>
                        <a:ea typeface="方正书宋_GBK"/>
                      </a:endParaRPr>
                    </a:p>
                  </a:txBody>
                  <a:tcPr marL="68580" marR="68580" marT="0" marB="0" anchor="ctr"/>
                </a:tc>
                <a:extLst>
                  <a:ext uri="{0D108BD9-81ED-4DB2-BD59-A6C34878D82A}">
                    <a16:rowId xmlns:a16="http://schemas.microsoft.com/office/drawing/2014/main" val="78398921"/>
                  </a:ext>
                </a:extLst>
              </a:tr>
            </a:tbl>
          </a:graphicData>
        </a:graphic>
      </p:graphicFrame>
      <p:sp>
        <p:nvSpPr>
          <p:cNvPr id="4" name="Rectangle 1">
            <a:extLst>
              <a:ext uri="{FF2B5EF4-FFF2-40B4-BE49-F238E27FC236}">
                <a16:creationId xmlns:a16="http://schemas.microsoft.com/office/drawing/2014/main" id="{21293E18-ADD2-4810-A144-EDB26847275F}"/>
              </a:ext>
            </a:extLst>
          </p:cNvPr>
          <p:cNvSpPr>
            <a:spLocks noChangeArrowheads="1"/>
          </p:cNvSpPr>
          <p:nvPr/>
        </p:nvSpPr>
        <p:spPr bwMode="auto">
          <a:xfrm>
            <a:off x="2125661" y="1350183"/>
            <a:ext cx="452880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00000"/>
                </a:solidFill>
                <a:effectLst/>
                <a:latin typeface="Arial" panose="020B0604020202020204" pitchFamily="34" charset="0"/>
                <a:ea typeface="黑体" panose="02010609060101010101" pitchFamily="49" charset="-122"/>
                <a:cs typeface="Arial" panose="020B0604020202020204" pitchFamily="34" charset="0"/>
              </a:rPr>
              <a:t>表</a:t>
            </a:r>
            <a:r>
              <a:rPr kumimoji="0" lang="en-US" altLang="zh-CN" sz="2000" b="0" i="0" u="none" strike="noStrike" cap="none" normalizeH="0" baseline="0" dirty="0" bmk="">
                <a:ln>
                  <a:noFill/>
                </a:ln>
                <a:solidFill>
                  <a:srgbClr val="000000"/>
                </a:solidFill>
                <a:effectLst/>
                <a:latin typeface="Arial" panose="020B0604020202020204" pitchFamily="34" charset="0"/>
                <a:ea typeface="黑体" panose="02010609060101010101" pitchFamily="49" charset="-122"/>
                <a:cs typeface="Arial" panose="020B0604020202020204" pitchFamily="34" charset="0"/>
              </a:rPr>
              <a:t>1.5  </a:t>
            </a:r>
            <a:r>
              <a:rPr kumimoji="0" lang="zh-CN" altLang="en-US" sz="2000" b="0" i="0" u="none" strike="noStrike" cap="none" normalizeH="0" baseline="0" dirty="0" bmk="">
                <a:ln>
                  <a:noFill/>
                </a:ln>
                <a:solidFill>
                  <a:srgbClr val="000000"/>
                </a:solidFill>
                <a:effectLst/>
                <a:latin typeface="Arial" panose="020B0604020202020204" pitchFamily="34" charset="0"/>
                <a:ea typeface="黑体" panose="02010609060101010101" pitchFamily="49" charset="-122"/>
                <a:cs typeface="Arial" panose="020B0604020202020204" pitchFamily="34" charset="0"/>
              </a:rPr>
              <a:t>批量计算和流式计算的特性比较</a:t>
            </a:r>
            <a:endParaRPr kumimoji="0" lang="zh-CN" altLang="en-US" sz="20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620754581"/>
      </p:ext>
    </p:extLst>
  </p:cSld>
  <p:clrMapOvr>
    <a:masterClrMapping/>
  </p:clrMapOvr>
  <p:transition spd="slow">
    <p:pull/>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82280F43-D25F-4909-B783-C1292CB9C504}"/>
              </a:ext>
            </a:extLst>
          </p:cNvPr>
          <p:cNvPicPr/>
          <p:nvPr/>
        </p:nvPicPr>
        <p:blipFill rotWithShape="1">
          <a:blip r:embed="rId2"/>
          <a:srcRect t="43183"/>
          <a:stretch/>
        </p:blipFill>
        <p:spPr bwMode="auto">
          <a:xfrm>
            <a:off x="1593850" y="1345882"/>
            <a:ext cx="5568950" cy="2114868"/>
          </a:xfrm>
          <a:prstGeom prst="rect">
            <a:avLst/>
          </a:prstGeom>
          <a:ln>
            <a:noFill/>
          </a:ln>
          <a:extLst>
            <a:ext uri="{53640926-AAD7-44D8-BBD7-CCE9431645EC}">
              <a14:shadowObscured xmlns:a14="http://schemas.microsoft.com/office/drawing/2010/main"/>
            </a:ext>
          </a:extLst>
        </p:spPr>
      </p:pic>
      <p:sp>
        <p:nvSpPr>
          <p:cNvPr id="3" name="矩形 2">
            <a:extLst>
              <a:ext uri="{FF2B5EF4-FFF2-40B4-BE49-F238E27FC236}">
                <a16:creationId xmlns:a16="http://schemas.microsoft.com/office/drawing/2014/main" id="{0767434B-C9F0-4192-B1EB-A827A75BDAD7}"/>
              </a:ext>
            </a:extLst>
          </p:cNvPr>
          <p:cNvSpPr/>
          <p:nvPr/>
        </p:nvSpPr>
        <p:spPr>
          <a:xfrm>
            <a:off x="2818522" y="3673942"/>
            <a:ext cx="3595856" cy="297517"/>
          </a:xfrm>
          <a:prstGeom prst="rect">
            <a:avLst/>
          </a:prstGeom>
        </p:spPr>
        <p:txBody>
          <a:bodyPr wrap="none">
            <a:spAutoFit/>
          </a:bodyPr>
          <a:lstStyle/>
          <a:p>
            <a:pPr algn="ctr">
              <a:lnSpc>
                <a:spcPts val="1560"/>
              </a:lnSpc>
              <a:spcBef>
                <a:spcPts val="240"/>
              </a:spcBef>
              <a:spcAft>
                <a:spcPts val="720"/>
              </a:spcAft>
            </a:pPr>
            <a:r>
              <a:rPr lang="zh-CN" altLang="zh-CN" sz="1400" kern="100" dirty="0">
                <a:latin typeface="Times New Roman" panose="02020603050405020304" pitchFamily="18" charset="0"/>
                <a:ea typeface="宋体" panose="02010600030101010101" pitchFamily="2" charset="-122"/>
              </a:rPr>
              <a:t>批量计算”和“实时流式计算”对比示意图</a:t>
            </a:r>
            <a:endParaRPr lang="zh-CN" altLang="zh-CN" sz="1400" kern="100" dirty="0">
              <a:effectLst/>
              <a:latin typeface="Times New Roman" panose="02020603050405020304" pitchFamily="18" charset="0"/>
              <a:ea typeface="宋体" panose="02010600030101010101" pitchFamily="2" charset="-122"/>
            </a:endParaRPr>
          </a:p>
        </p:txBody>
      </p:sp>
      <p:sp>
        <p:nvSpPr>
          <p:cNvPr id="5" name="矩形 4">
            <a:extLst>
              <a:ext uri="{FF2B5EF4-FFF2-40B4-BE49-F238E27FC236}">
                <a16:creationId xmlns:a16="http://schemas.microsoft.com/office/drawing/2014/main" id="{98F383BC-8493-434E-AC1F-3C70E6D96CC6}"/>
              </a:ext>
            </a:extLst>
          </p:cNvPr>
          <p:cNvSpPr/>
          <p:nvPr/>
        </p:nvSpPr>
        <p:spPr>
          <a:xfrm>
            <a:off x="276225" y="234315"/>
            <a:ext cx="3756025" cy="523220"/>
          </a:xfrm>
          <a:prstGeom prst="rect">
            <a:avLst/>
          </a:prstGeom>
        </p:spPr>
        <p:txBody>
          <a:bodyPr wrap="square">
            <a:spAutoFit/>
          </a:bodyPr>
          <a:lstStyle/>
          <a:p>
            <a:r>
              <a:rPr lang="zh-CN" alt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两种计算方式的对比</a:t>
            </a:r>
            <a:endPar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8017004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2624" y="0"/>
            <a:ext cx="9141291" cy="5143500"/>
          </a:xfrm>
          <a:prstGeom prst="rect">
            <a:avLst/>
          </a:prstGeom>
        </p:spPr>
      </p:pic>
      <p:grpSp>
        <p:nvGrpSpPr>
          <p:cNvPr id="32" name="组合 14"/>
          <p:cNvGrpSpPr/>
          <p:nvPr/>
        </p:nvGrpSpPr>
        <p:grpSpPr bwMode="auto">
          <a:xfrm>
            <a:off x="2229550" y="2306438"/>
            <a:ext cx="4167679" cy="124642"/>
            <a:chOff x="3649980" y="3375660"/>
            <a:chExt cx="4638285" cy="108000"/>
          </a:xfrm>
        </p:grpSpPr>
        <p:cxnSp>
          <p:nvCxnSpPr>
            <p:cNvPr id="33" name="直接连接符 32"/>
            <p:cNvCxnSpPr/>
            <p:nvPr/>
          </p:nvCxnSpPr>
          <p:spPr>
            <a:xfrm>
              <a:off x="3734134" y="3429660"/>
              <a:ext cx="449513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3649980"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5" name="椭圆 34"/>
            <p:cNvSpPr/>
            <p:nvPr/>
          </p:nvSpPr>
          <p:spPr>
            <a:xfrm>
              <a:off x="8205448"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36" name="文本框 35"/>
          <p:cNvSpPr txBox="1"/>
          <p:nvPr/>
        </p:nvSpPr>
        <p:spPr>
          <a:xfrm>
            <a:off x="2305050" y="1485265"/>
            <a:ext cx="6555105" cy="645160"/>
          </a:xfrm>
          <a:prstGeom prst="rect">
            <a:avLst/>
          </a:prstGeom>
          <a:noFill/>
        </p:spPr>
        <p:txBody>
          <a:bodyPr wrap="square">
            <a:spAutoFit/>
          </a:bodyPr>
          <a:lstStyle/>
          <a:p>
            <a:r>
              <a:rPr lang="zh-CN" altLang="en-US" sz="3600" b="1" dirty="0">
                <a:solidFill>
                  <a:srgbClr val="FFC000"/>
                </a:solidFill>
                <a:effectLst>
                  <a:outerShdw blurRad="38100" dist="38100" dir="2700000" algn="tl">
                    <a:srgbClr val="000000">
                      <a:alpha val="43137"/>
                    </a:srgbClr>
                  </a:outerShdw>
                </a:effectLst>
                <a:latin typeface="IrisUPC" panose="020B0604020202020204" pitchFamily="34" charset="-34"/>
                <a:ea typeface="微软雅黑" panose="020B0503020204020204" pitchFamily="34" charset="-122"/>
                <a:cs typeface="IrisUPC" panose="020B0604020202020204" pitchFamily="34" charset="-34"/>
              </a:rPr>
              <a:t>大数据面临的技术挑战</a:t>
            </a:r>
          </a:p>
        </p:txBody>
      </p:sp>
      <p:sp>
        <p:nvSpPr>
          <p:cNvPr id="41" name="文本框 40"/>
          <p:cNvSpPr txBox="1">
            <a:spLocks noChangeArrowheads="1"/>
          </p:cNvSpPr>
          <p:nvPr/>
        </p:nvSpPr>
        <p:spPr bwMode="auto">
          <a:xfrm>
            <a:off x="723900" y="1346835"/>
            <a:ext cx="1508125" cy="922020"/>
          </a:xfrm>
          <a:prstGeom prst="rect">
            <a:avLst/>
          </a:prstGeom>
          <a:noFill/>
          <a:ln w="9525">
            <a:noFill/>
            <a:miter lim="800000"/>
          </a:ln>
        </p:spPr>
        <p:txBody>
          <a:bodyPr wrap="square">
            <a:spAutoFit/>
          </a:bodyPr>
          <a:lstStyle/>
          <a:p>
            <a:pPr lvl="0" algn="ctr">
              <a:buClrTx/>
              <a:buSzTx/>
              <a:buFontTx/>
            </a:pPr>
            <a:r>
              <a:rPr lang="en-US" altLang="zh-CN" sz="5400" dirty="0">
                <a:solidFill>
                  <a:srgbClr val="00B0F0"/>
                </a:solidFill>
                <a:latin typeface="微软雅黑" panose="020B0503020204020204" pitchFamily="34" charset="-122"/>
                <a:ea typeface="微软雅黑" panose="020B0503020204020204" pitchFamily="34" charset="-122"/>
                <a:cs typeface="IrisUPC" panose="020B0604020202020204" pitchFamily="34" charset="-34"/>
                <a:sym typeface="+mn-ea"/>
              </a:rPr>
              <a:t>1.5</a:t>
            </a:r>
          </a:p>
        </p:txBody>
      </p:sp>
      <p:sp>
        <p:nvSpPr>
          <p:cNvPr id="4" name="文本框 3"/>
          <p:cNvSpPr txBox="1"/>
          <p:nvPr/>
        </p:nvSpPr>
        <p:spPr>
          <a:xfrm>
            <a:off x="2430780" y="2485390"/>
            <a:ext cx="3514725" cy="923330"/>
          </a:xfrm>
          <a:prstGeom prst="rect">
            <a:avLst/>
          </a:prstGeom>
          <a:noFill/>
        </p:spPr>
        <p:txBody>
          <a:bodyPr wrap="square" rtlCol="0">
            <a:spAutoFit/>
          </a:bodyPr>
          <a:lstStyle/>
          <a:p>
            <a:pPr marL="285750" indent="-285750">
              <a:buFont typeface="Wingdings" panose="05000000000000000000" pitchFamily="2" charset="2"/>
              <a:buChar char="Ø"/>
            </a:pPr>
            <a:r>
              <a:rPr lang="zh-CN" altLang="en-US" sz="1800" dirty="0">
                <a:solidFill>
                  <a:schemeClr val="bg1"/>
                </a:solidFill>
                <a:latin typeface="微软雅黑" panose="020B0503020204020204" pitchFamily="34" charset="-122"/>
                <a:ea typeface="微软雅黑" panose="020B0503020204020204" pitchFamily="34" charset="-122"/>
              </a:rPr>
              <a:t>数据存储和管理的挑战</a:t>
            </a:r>
            <a:endParaRPr lang="en-US" altLang="zh-CN" sz="1800" dirty="0">
              <a:solidFill>
                <a:schemeClr val="bg1"/>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Ø"/>
            </a:pPr>
            <a:r>
              <a:rPr lang="zh-CN" altLang="en-US" sz="1800" dirty="0">
                <a:solidFill>
                  <a:schemeClr val="bg1"/>
                </a:solidFill>
                <a:latin typeface="微软雅黑" panose="020B0503020204020204" pitchFamily="34" charset="-122"/>
                <a:ea typeface="微软雅黑" panose="020B0503020204020204" pitchFamily="34" charset="-122"/>
              </a:rPr>
              <a:t>计算速度的挑战</a:t>
            </a:r>
            <a:endParaRPr lang="en-US" altLang="zh-CN" sz="1800" dirty="0">
              <a:solidFill>
                <a:schemeClr val="bg1"/>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Ø"/>
            </a:pPr>
            <a:r>
              <a:rPr lang="zh-CN" altLang="en-US" sz="1800" dirty="0">
                <a:solidFill>
                  <a:schemeClr val="bg1"/>
                </a:solidFill>
                <a:latin typeface="微软雅黑" panose="020B0503020204020204" pitchFamily="34" charset="-122"/>
                <a:ea typeface="微软雅黑" panose="020B0503020204020204" pitchFamily="34" charset="-122"/>
              </a:rPr>
              <a:t>数据安全的挑战</a:t>
            </a: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40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par>
                          <p:cTn id="8" fill="hold">
                            <p:stCondLst>
                              <p:cond delay="900"/>
                            </p:stCondLst>
                            <p:childTnLst>
                              <p:par>
                                <p:cTn id="9" presetID="12" presetClass="entr" presetSubtype="4"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p:tgtEl>
                                          <p:spTgt spid="36"/>
                                        </p:tgtEl>
                                        <p:attrNameLst>
                                          <p:attrName>ppt_y</p:attrName>
                                        </p:attrNameLst>
                                      </p:cBhvr>
                                      <p:tavLst>
                                        <p:tav tm="0">
                                          <p:val>
                                            <p:strVal val="#ppt_y+#ppt_h*1.125000"/>
                                          </p:val>
                                        </p:tav>
                                        <p:tav tm="100000">
                                          <p:val>
                                            <p:strVal val="#ppt_y"/>
                                          </p:val>
                                        </p:tav>
                                      </p:tavLst>
                                    </p:anim>
                                    <p:animEffect transition="in" filter="wipe(up)">
                                      <p:cBhvr>
                                        <p:cTn id="12" dur="500"/>
                                        <p:tgtEl>
                                          <p:spTgt spid="36"/>
                                        </p:tgtEl>
                                      </p:cBhvr>
                                    </p:animEffect>
                                  </p:childTnLst>
                                </p:cTn>
                              </p:par>
                              <p:par>
                                <p:cTn id="13" presetID="2" presetClass="entr" presetSubtype="8"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0-#ppt_w/2"/>
                                          </p:val>
                                        </p:tav>
                                        <p:tav tm="100000">
                                          <p:val>
                                            <p:strVal val="#ppt_x"/>
                                          </p:val>
                                        </p:tav>
                                      </p:tavLst>
                                    </p:anim>
                                    <p:anim calcmode="lin" valueType="num">
                                      <p:cBhvr additive="base">
                                        <p:cTn id="16" dur="500" fill="hold"/>
                                        <p:tgtEl>
                                          <p:spTgt spid="41"/>
                                        </p:tgtEl>
                                        <p:attrNameLst>
                                          <p:attrName>ppt_y</p:attrName>
                                        </p:attrNameLst>
                                      </p:cBhvr>
                                      <p:tavLst>
                                        <p:tav tm="0">
                                          <p:val>
                                            <p:strVal val="#ppt_y"/>
                                          </p:val>
                                        </p:tav>
                                        <p:tav tm="100000">
                                          <p:val>
                                            <p:strVal val="#ppt_y"/>
                                          </p:val>
                                        </p:tav>
                                      </p:tavLst>
                                    </p:anim>
                                  </p:childTnLst>
                                </p:cTn>
                              </p:par>
                            </p:childTnLst>
                          </p:cTn>
                        </p:par>
                        <p:par>
                          <p:cTn id="17" fill="hold">
                            <p:stCondLst>
                              <p:cond delay="1400"/>
                            </p:stCondLst>
                            <p:childTnLst>
                              <p:par>
                                <p:cTn id="18" presetID="1" presetClass="entr" presetSubtype="0" fill="hold" grpId="0" nodeType="afterEffect">
                                  <p:stCondLst>
                                    <p:cond delay="0"/>
                                  </p:stCondLst>
                                  <p:iterate type="wd">
                                    <p:tmAbs val="100"/>
                                  </p:iterate>
                                  <p:childTnLst>
                                    <p:set>
                                      <p:cBhvr>
                                        <p:cTn id="19"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1" grpId="0"/>
      <p:bldP spid="4"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6675" y="234315"/>
            <a:ext cx="4593590" cy="523220"/>
          </a:xfrm>
          <a:prstGeom prst="rect">
            <a:avLst/>
          </a:prstGeom>
        </p:spPr>
        <p:txBody>
          <a:bodyPr wrap="square">
            <a:spAutoFit/>
          </a:bodyPr>
          <a:lstStyle/>
          <a:p>
            <a:r>
              <a:rPr 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en-US" sz="26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1.5.</a:t>
            </a:r>
            <a:r>
              <a:rPr lang="en-US" altLang="zh-CN" sz="26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 </a:t>
            </a:r>
            <a:r>
              <a:rPr lang="zh-CN" altLang="en-US" sz="26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数据存储和管理的挑战</a:t>
            </a:r>
            <a:endParaRPr sz="26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00" name="文本框 99"/>
          <p:cNvSpPr txBox="1"/>
          <p:nvPr/>
        </p:nvSpPr>
        <p:spPr>
          <a:xfrm>
            <a:off x="412115" y="916305"/>
            <a:ext cx="8522335" cy="2861424"/>
          </a:xfrm>
          <a:prstGeom prst="rect">
            <a:avLst/>
          </a:prstGeom>
          <a:noFill/>
          <a:ln w="9525">
            <a:noFill/>
          </a:ln>
        </p:spPr>
        <p:txBody>
          <a:bodyPr wrap="square">
            <a:spAutoFit/>
          </a:bodyPr>
          <a:lstStyle/>
          <a:p>
            <a:pPr indent="266700">
              <a:lnSpc>
                <a:spcPct val="130000"/>
              </a:lnSpc>
            </a:pPr>
            <a:r>
              <a:rPr lang="zh-CN" altLang="en-US" sz="2000" dirty="0"/>
              <a:t>    大数据的体量非常大，虽然一些新的数据存储技术已经被开发应用，但面对数据量大约每两年增长一倍的速度，如何跟上数据增长的步伐并找到有效存储数据的方法，仍然是许多企业面临的严峻挑战。但是仅仅存储数据是不够的，数据必须是有价值的，这取决于对数据的管理和分析。干净的数据，以及以支持有意义的分析的方式组织的数据，需要大量的工作。数据科学家通常需要花</a:t>
            </a:r>
            <a:r>
              <a:rPr lang="en-US" altLang="zh-CN" sz="2000" dirty="0"/>
              <a:t>50%</a:t>
            </a:r>
            <a:r>
              <a:rPr lang="zh-CN" altLang="en-US" sz="2000" dirty="0"/>
              <a:t>到</a:t>
            </a:r>
            <a:r>
              <a:rPr lang="en-US" altLang="zh-CN" sz="2000" dirty="0"/>
              <a:t>80%</a:t>
            </a:r>
            <a:r>
              <a:rPr lang="zh-CN" altLang="en-US" sz="2000" dirty="0"/>
              <a:t>的时间来管理和准备数据，然后才可以实际使用。</a:t>
            </a:r>
          </a:p>
        </p:txBody>
      </p:sp>
    </p:spTree>
  </p:cSld>
  <p:clrMapOvr>
    <a:masterClrMapping/>
  </p:clrMapOvr>
  <p:transition spd="slow">
    <p:pull/>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6675" y="234315"/>
            <a:ext cx="4593590" cy="523220"/>
          </a:xfrm>
          <a:prstGeom prst="rect">
            <a:avLst/>
          </a:prstGeom>
        </p:spPr>
        <p:txBody>
          <a:bodyPr wrap="square">
            <a:spAutoFit/>
          </a:bodyPr>
          <a:lstStyle/>
          <a:p>
            <a:r>
              <a:rPr lang="en-US" altLang="zh-CN"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1.5.2 </a:t>
            </a:r>
            <a:r>
              <a:rPr lang="zh-CN" alt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计算速度的挑战</a:t>
            </a:r>
            <a:endPar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00" name="文本框 99"/>
          <p:cNvSpPr txBox="1"/>
          <p:nvPr/>
        </p:nvSpPr>
        <p:spPr>
          <a:xfrm>
            <a:off x="412115" y="916305"/>
            <a:ext cx="8522335" cy="1661096"/>
          </a:xfrm>
          <a:prstGeom prst="rect">
            <a:avLst/>
          </a:prstGeom>
          <a:noFill/>
          <a:ln w="9525">
            <a:noFill/>
          </a:ln>
        </p:spPr>
        <p:txBody>
          <a:bodyPr wrap="square">
            <a:spAutoFit/>
          </a:bodyPr>
          <a:lstStyle/>
          <a:p>
            <a:pPr indent="266700">
              <a:lnSpc>
                <a:spcPct val="130000"/>
              </a:lnSpc>
            </a:pPr>
            <a:r>
              <a:rPr lang="zh-CN" altLang="en-US" sz="2000" dirty="0"/>
              <a:t>    大数据技术正在快速变化，跟上大数据技术的发展是一个持续不断的挑战。海量数据从原始数据源到产生价值，期间会经过存储、清洗、挖掘、分析等多个环节，如果计算速度不够快，很多事情是无法实现的。所以，在大数据的发展过程中，计算速度是非常关键的</a:t>
            </a:r>
            <a:r>
              <a:rPr lang="zh-CN" altLang="en-US" sz="2000"/>
              <a:t>因素。</a:t>
            </a:r>
            <a:endParaRPr lang="zh-CN" altLang="en-US" sz="2000" dirty="0"/>
          </a:p>
        </p:txBody>
      </p:sp>
    </p:spTree>
    <p:extLst>
      <p:ext uri="{BB962C8B-B14F-4D97-AF65-F5344CB8AC3E}">
        <p14:creationId xmlns:p14="http://schemas.microsoft.com/office/powerpoint/2010/main" val="3142350032"/>
      </p:ext>
    </p:extLst>
  </p:cSld>
  <p:clrMapOvr>
    <a:masterClrMapping/>
  </p:clrMapOvr>
  <p:transition spd="slow">
    <p:pull/>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6675" y="234315"/>
            <a:ext cx="4593590" cy="584775"/>
          </a:xfrm>
          <a:prstGeom prst="rect">
            <a:avLst/>
          </a:prstGeom>
        </p:spPr>
        <p:txBody>
          <a:bodyPr wrap="square">
            <a:spAutoFit/>
          </a:bodyPr>
          <a:lstStyle/>
          <a:p>
            <a:r>
              <a:rPr lang="en-US" altLang="zh-CN" sz="32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en-US" altLang="zh-CN"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1.5.3 </a:t>
            </a:r>
            <a:r>
              <a:rPr lang="zh-CN" alt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数据安全的挑战</a:t>
            </a:r>
            <a:endPar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00" name="文本框 99"/>
          <p:cNvSpPr txBox="1"/>
          <p:nvPr/>
        </p:nvSpPr>
        <p:spPr>
          <a:xfrm>
            <a:off x="412115" y="916305"/>
            <a:ext cx="8522335" cy="3261534"/>
          </a:xfrm>
          <a:prstGeom prst="rect">
            <a:avLst/>
          </a:prstGeom>
          <a:noFill/>
          <a:ln w="9525">
            <a:noFill/>
          </a:ln>
        </p:spPr>
        <p:txBody>
          <a:bodyPr wrap="square">
            <a:spAutoFit/>
          </a:bodyPr>
          <a:lstStyle/>
          <a:p>
            <a:pPr indent="266700">
              <a:lnSpc>
                <a:spcPct val="130000"/>
              </a:lnSpc>
            </a:pPr>
            <a:r>
              <a:rPr lang="zh-CN" altLang="en-US" sz="2000" dirty="0"/>
              <a:t>    除了技术上所面临的挑战，制约大数据应用发展的一个重要瓶颈是隐私、安全与共享利用之间的矛盾问题。一方面，数据共享开放的需求十分迫切，另一方面，数据的无序流通与共享，又可能导致隐私保护和数据安全方面的重大风险，必须对其加以规范和</a:t>
            </a:r>
            <a:r>
              <a:rPr lang="zh-CN" altLang="en-US" sz="2000"/>
              <a:t>限制。</a:t>
            </a:r>
            <a:endParaRPr lang="en-US" altLang="zh-CN" sz="2000"/>
          </a:p>
          <a:p>
            <a:pPr indent="266700">
              <a:lnSpc>
                <a:spcPct val="130000"/>
              </a:lnSpc>
            </a:pPr>
            <a:r>
              <a:rPr lang="zh-CN" altLang="en-US" sz="2000"/>
              <a:t>在</a:t>
            </a:r>
            <a:r>
              <a:rPr lang="zh-CN" altLang="en-US" sz="2000" dirty="0"/>
              <a:t>国家层面推出促进数据共享开放、保障数据安全和保护公民隐私的相关政策和法规，并制定相关的数据互操作技术规范和标准，以及保证数据质量的技术方法等，对于推动大数据技术的发展和规范应用具有非常重要的意义。</a:t>
            </a:r>
          </a:p>
        </p:txBody>
      </p:sp>
    </p:spTree>
    <p:extLst>
      <p:ext uri="{BB962C8B-B14F-4D97-AF65-F5344CB8AC3E}">
        <p14:creationId xmlns:p14="http://schemas.microsoft.com/office/powerpoint/2010/main" val="3918013157"/>
      </p:ext>
    </p:extLst>
  </p:cSld>
  <p:clrMapOvr>
    <a:masterClrMapping/>
  </p:clrMapOvr>
  <p:transition spd="slow">
    <p:pull/>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6675" y="234315"/>
            <a:ext cx="4593590" cy="584775"/>
          </a:xfrm>
          <a:prstGeom prst="rect">
            <a:avLst/>
          </a:prstGeom>
        </p:spPr>
        <p:txBody>
          <a:bodyPr wrap="square">
            <a:spAutoFit/>
          </a:bodyPr>
          <a:lstStyle/>
          <a:p>
            <a:r>
              <a:rPr lang="en-US" altLang="zh-CN" sz="32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en-US" altLang="zh-CN"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1.5.3 </a:t>
            </a:r>
            <a:r>
              <a:rPr lang="zh-CN" altLang="en-US"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数据安全的挑战</a:t>
            </a:r>
            <a:endParaRPr sz="2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00" name="文本框 99"/>
          <p:cNvSpPr txBox="1"/>
          <p:nvPr/>
        </p:nvSpPr>
        <p:spPr>
          <a:xfrm>
            <a:off x="412115" y="916305"/>
            <a:ext cx="8522335" cy="2741263"/>
          </a:xfrm>
          <a:prstGeom prst="rect">
            <a:avLst/>
          </a:prstGeom>
          <a:noFill/>
          <a:ln w="9525">
            <a:noFill/>
          </a:ln>
        </p:spPr>
        <p:txBody>
          <a:bodyPr wrap="square">
            <a:spAutoFit/>
          </a:bodyPr>
          <a:lstStyle/>
          <a:p>
            <a:pPr indent="266700">
              <a:lnSpc>
                <a:spcPct val="130000"/>
              </a:lnSpc>
            </a:pPr>
            <a:r>
              <a:rPr lang="zh-CN" altLang="en-US" sz="2000"/>
              <a:t>    </a:t>
            </a:r>
            <a:r>
              <a:rPr lang="en-US" altLang="zh-CN" sz="2000"/>
              <a:t>《</a:t>
            </a:r>
            <a:r>
              <a:rPr lang="zh-CN" altLang="en-US" sz="2000"/>
              <a:t>中华人民共和国数据安全法</a:t>
            </a:r>
            <a:r>
              <a:rPr lang="en-US" altLang="zh-CN" sz="2000"/>
              <a:t>》</a:t>
            </a:r>
            <a:r>
              <a:rPr lang="zh-CN" altLang="en-US" sz="2000"/>
              <a:t>，由中华人民共和国第十三届全国人民代表大会常务委员会第二十九次会议于</a:t>
            </a:r>
            <a:r>
              <a:rPr lang="en-US" altLang="zh-CN" sz="2000"/>
              <a:t>2021</a:t>
            </a:r>
            <a:r>
              <a:rPr lang="zh-CN" altLang="en-US" sz="2000"/>
              <a:t>年</a:t>
            </a:r>
            <a:r>
              <a:rPr lang="en-US" altLang="zh-CN" sz="2000"/>
              <a:t>6</a:t>
            </a:r>
            <a:r>
              <a:rPr lang="zh-CN" altLang="en-US" sz="2000"/>
              <a:t>月</a:t>
            </a:r>
            <a:r>
              <a:rPr lang="en-US" altLang="zh-CN" sz="2000"/>
              <a:t>10</a:t>
            </a:r>
            <a:r>
              <a:rPr lang="zh-CN" altLang="en-US" sz="2000"/>
              <a:t>日通过，自</a:t>
            </a:r>
            <a:r>
              <a:rPr lang="en-US" altLang="zh-CN" sz="2000"/>
              <a:t>2021</a:t>
            </a:r>
            <a:r>
              <a:rPr lang="zh-CN" altLang="en-US" sz="2000"/>
              <a:t>年</a:t>
            </a:r>
            <a:r>
              <a:rPr lang="en-US" altLang="zh-CN" sz="2000"/>
              <a:t>9</a:t>
            </a:r>
            <a:r>
              <a:rPr lang="zh-CN" altLang="en-US" sz="2000"/>
              <a:t>月</a:t>
            </a:r>
            <a:r>
              <a:rPr lang="en-US" altLang="zh-CN" sz="2000"/>
              <a:t>1</a:t>
            </a:r>
            <a:r>
              <a:rPr lang="zh-CN" altLang="en-US" sz="2000"/>
              <a:t>日起施行。</a:t>
            </a:r>
            <a:endParaRPr lang="en-US" altLang="zh-CN" sz="2000"/>
          </a:p>
          <a:p>
            <a:pPr indent="266700">
              <a:lnSpc>
                <a:spcPct val="130000"/>
              </a:lnSpc>
            </a:pPr>
            <a:r>
              <a:rPr lang="en-US" altLang="zh-CN" sz="2000"/>
              <a:t>《</a:t>
            </a:r>
            <a:r>
              <a:rPr lang="zh-CN" altLang="en-US" sz="2000"/>
              <a:t>中华人民共和国个人信息保护法</a:t>
            </a:r>
            <a:r>
              <a:rPr lang="en-US" altLang="zh-CN" sz="2000"/>
              <a:t>》</a:t>
            </a:r>
            <a:r>
              <a:rPr lang="zh-CN" altLang="en-US" sz="2000"/>
              <a:t>，由中华人民共和国第十三届全国人民代表大会常务委员会第三十次会议于</a:t>
            </a:r>
            <a:r>
              <a:rPr lang="en-US" altLang="zh-CN" sz="2000"/>
              <a:t>2021</a:t>
            </a:r>
            <a:r>
              <a:rPr lang="zh-CN" altLang="en-US" sz="2000"/>
              <a:t>年</a:t>
            </a:r>
            <a:r>
              <a:rPr lang="en-US" altLang="zh-CN" sz="2000"/>
              <a:t>8</a:t>
            </a:r>
            <a:r>
              <a:rPr lang="zh-CN" altLang="en-US" sz="2000"/>
              <a:t>月</a:t>
            </a:r>
            <a:r>
              <a:rPr lang="en-US" altLang="zh-CN" sz="2000"/>
              <a:t>20</a:t>
            </a:r>
            <a:r>
              <a:rPr lang="zh-CN" altLang="en-US" sz="2000"/>
              <a:t>日通过，自</a:t>
            </a:r>
            <a:r>
              <a:rPr lang="en-US" altLang="zh-CN" sz="2000"/>
              <a:t>2021</a:t>
            </a:r>
            <a:r>
              <a:rPr lang="zh-CN" altLang="en-US" sz="2000"/>
              <a:t>年</a:t>
            </a:r>
            <a:r>
              <a:rPr lang="en-US" altLang="zh-CN" sz="2000"/>
              <a:t>11</a:t>
            </a:r>
            <a:r>
              <a:rPr lang="zh-CN" altLang="en-US" sz="2000"/>
              <a:t>月</a:t>
            </a:r>
            <a:r>
              <a:rPr lang="en-US" altLang="zh-CN" sz="2000"/>
              <a:t>1</a:t>
            </a:r>
            <a:r>
              <a:rPr lang="zh-CN" altLang="en-US" sz="2000"/>
              <a:t>日起施行。</a:t>
            </a:r>
          </a:p>
          <a:p>
            <a:pPr indent="266700">
              <a:lnSpc>
                <a:spcPct val="130000"/>
              </a:lnSpc>
            </a:pPr>
            <a:endParaRPr lang="zh-CN" altLang="en-US" b="1"/>
          </a:p>
        </p:txBody>
      </p:sp>
    </p:spTree>
    <p:extLst>
      <p:ext uri="{BB962C8B-B14F-4D97-AF65-F5344CB8AC3E}">
        <p14:creationId xmlns:p14="http://schemas.microsoft.com/office/powerpoint/2010/main" val="2486666984"/>
      </p:ext>
    </p:extLst>
  </p:cSld>
  <p:clrMapOvr>
    <a:masterClrMapping/>
  </p:clrMapOvr>
  <p:transition spd="slow">
    <p:pull/>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32698" y="4816947"/>
            <a:ext cx="775136" cy="246221"/>
          </a:xfrm>
          <a:prstGeom prst="rect">
            <a:avLst/>
          </a:prstGeom>
        </p:spPr>
        <p:txBody>
          <a:bodyPr wrap="square">
            <a:spAutoFit/>
          </a:bodyPr>
          <a:lstStyle/>
          <a:p>
            <a:pPr defTabSz="914400"/>
            <a:r>
              <a:rPr lang="en-US" altLang="zh-CN" sz="100" dirty="0">
                <a:solidFill>
                  <a:prstClr val="white"/>
                </a:solidFill>
                <a:ea typeface="宋体" panose="02010600030101010101" pitchFamily="2" charset="-122"/>
              </a:rPr>
              <a:t>PPT</a:t>
            </a:r>
            <a:r>
              <a:rPr lang="zh-CN" altLang="en-US" sz="100" dirty="0">
                <a:solidFill>
                  <a:prstClr val="white"/>
                </a:solidFill>
                <a:ea typeface="宋体" panose="02010600030101010101" pitchFamily="2" charset="-122"/>
              </a:rPr>
              <a:t>模板下载：</a:t>
            </a:r>
            <a:r>
              <a:rPr lang="en-US" altLang="zh-CN" sz="100" dirty="0">
                <a:solidFill>
                  <a:prstClr val="white"/>
                </a:solidFill>
                <a:ea typeface="宋体" panose="02010600030101010101" pitchFamily="2" charset="-122"/>
              </a:rPr>
              <a:t>www.1ppt.com/moban/     </a:t>
            </a:r>
            <a:r>
              <a:rPr lang="zh-CN" altLang="en-US" sz="100" dirty="0">
                <a:solidFill>
                  <a:prstClr val="white"/>
                </a:solidFill>
                <a:ea typeface="宋体" panose="02010600030101010101" pitchFamily="2" charset="-122"/>
              </a:rPr>
              <a:t>行业</a:t>
            </a:r>
            <a:r>
              <a:rPr lang="en-US" altLang="zh-CN" sz="100" dirty="0">
                <a:solidFill>
                  <a:prstClr val="white"/>
                </a:solidFill>
                <a:ea typeface="宋体" panose="02010600030101010101" pitchFamily="2" charset="-122"/>
              </a:rPr>
              <a:t>PPT</a:t>
            </a:r>
            <a:r>
              <a:rPr lang="zh-CN" altLang="en-US" sz="100" dirty="0">
                <a:solidFill>
                  <a:prstClr val="white"/>
                </a:solidFill>
                <a:ea typeface="宋体" panose="02010600030101010101" pitchFamily="2" charset="-122"/>
              </a:rPr>
              <a:t>模板：</a:t>
            </a:r>
            <a:r>
              <a:rPr lang="en-US" altLang="zh-CN" sz="100" dirty="0">
                <a:solidFill>
                  <a:prstClr val="white"/>
                </a:solidFill>
                <a:ea typeface="宋体" panose="02010600030101010101" pitchFamily="2" charset="-122"/>
              </a:rPr>
              <a:t>www.1ppt.com/hangye/ </a:t>
            </a:r>
          </a:p>
          <a:p>
            <a:pPr defTabSz="914400"/>
            <a:r>
              <a:rPr lang="zh-CN" altLang="en-US" sz="100" dirty="0">
                <a:solidFill>
                  <a:prstClr val="white"/>
                </a:solidFill>
                <a:ea typeface="宋体" panose="02010600030101010101" pitchFamily="2" charset="-122"/>
              </a:rPr>
              <a:t>节日</a:t>
            </a:r>
            <a:r>
              <a:rPr lang="en-US" altLang="zh-CN" sz="100" dirty="0">
                <a:solidFill>
                  <a:prstClr val="white"/>
                </a:solidFill>
                <a:ea typeface="宋体" panose="02010600030101010101" pitchFamily="2" charset="-122"/>
              </a:rPr>
              <a:t>PPT</a:t>
            </a:r>
            <a:r>
              <a:rPr lang="zh-CN" altLang="en-US" sz="100" dirty="0">
                <a:solidFill>
                  <a:prstClr val="white"/>
                </a:solidFill>
                <a:ea typeface="宋体" panose="02010600030101010101" pitchFamily="2" charset="-122"/>
              </a:rPr>
              <a:t>模板：</a:t>
            </a:r>
            <a:r>
              <a:rPr lang="en-US" altLang="zh-CN" sz="100" dirty="0">
                <a:solidFill>
                  <a:prstClr val="white"/>
                </a:solidFill>
                <a:ea typeface="宋体" panose="02010600030101010101" pitchFamily="2" charset="-122"/>
              </a:rPr>
              <a:t>www.1ppt.com/jieri/           PPT</a:t>
            </a:r>
            <a:r>
              <a:rPr lang="zh-CN" altLang="en-US" sz="100" dirty="0">
                <a:solidFill>
                  <a:prstClr val="white"/>
                </a:solidFill>
                <a:ea typeface="宋体" panose="02010600030101010101" pitchFamily="2" charset="-122"/>
              </a:rPr>
              <a:t>素材下载：</a:t>
            </a:r>
            <a:r>
              <a:rPr lang="en-US" altLang="zh-CN" sz="100" dirty="0">
                <a:solidFill>
                  <a:prstClr val="white"/>
                </a:solidFill>
                <a:ea typeface="宋体" panose="02010600030101010101" pitchFamily="2" charset="-122"/>
              </a:rPr>
              <a:t>www.1ppt.com/sucai/</a:t>
            </a:r>
          </a:p>
          <a:p>
            <a:pPr defTabSz="914400"/>
            <a:r>
              <a:rPr lang="en-US" altLang="zh-CN" sz="100" dirty="0">
                <a:solidFill>
                  <a:prstClr val="white"/>
                </a:solidFill>
                <a:ea typeface="宋体" panose="02010600030101010101" pitchFamily="2" charset="-122"/>
              </a:rPr>
              <a:t>PPT</a:t>
            </a:r>
            <a:r>
              <a:rPr lang="zh-CN" altLang="en-US" sz="100" dirty="0">
                <a:solidFill>
                  <a:prstClr val="white"/>
                </a:solidFill>
                <a:ea typeface="宋体" panose="02010600030101010101" pitchFamily="2" charset="-122"/>
              </a:rPr>
              <a:t>背景图片：</a:t>
            </a:r>
            <a:r>
              <a:rPr lang="en-US" altLang="zh-CN" sz="100" dirty="0">
                <a:solidFill>
                  <a:prstClr val="white"/>
                </a:solidFill>
                <a:ea typeface="宋体" panose="02010600030101010101" pitchFamily="2" charset="-122"/>
              </a:rPr>
              <a:t>www.1ppt.com/beijing/      PPT</a:t>
            </a:r>
            <a:r>
              <a:rPr lang="zh-CN" altLang="en-US" sz="100" dirty="0">
                <a:solidFill>
                  <a:prstClr val="white"/>
                </a:solidFill>
                <a:ea typeface="宋体" panose="02010600030101010101" pitchFamily="2" charset="-122"/>
              </a:rPr>
              <a:t>图表下载：</a:t>
            </a:r>
            <a:r>
              <a:rPr lang="en-US" altLang="zh-CN" sz="100" dirty="0">
                <a:solidFill>
                  <a:prstClr val="white"/>
                </a:solidFill>
                <a:ea typeface="宋体" panose="02010600030101010101" pitchFamily="2" charset="-122"/>
              </a:rPr>
              <a:t>www.1ppt.com/tubiao/      </a:t>
            </a:r>
          </a:p>
          <a:p>
            <a:pPr defTabSz="914400"/>
            <a:r>
              <a:rPr lang="zh-CN" altLang="en-US" sz="100" dirty="0">
                <a:solidFill>
                  <a:prstClr val="white"/>
                </a:solidFill>
                <a:ea typeface="宋体" panose="02010600030101010101" pitchFamily="2" charset="-122"/>
              </a:rPr>
              <a:t>优秀</a:t>
            </a:r>
            <a:r>
              <a:rPr lang="en-US" altLang="zh-CN" sz="100" dirty="0">
                <a:solidFill>
                  <a:prstClr val="white"/>
                </a:solidFill>
                <a:ea typeface="宋体" panose="02010600030101010101" pitchFamily="2" charset="-122"/>
              </a:rPr>
              <a:t>PPT</a:t>
            </a:r>
            <a:r>
              <a:rPr lang="zh-CN" altLang="en-US" sz="100" dirty="0">
                <a:solidFill>
                  <a:prstClr val="white"/>
                </a:solidFill>
                <a:ea typeface="宋体" panose="02010600030101010101" pitchFamily="2" charset="-122"/>
              </a:rPr>
              <a:t>下载：</a:t>
            </a:r>
            <a:r>
              <a:rPr lang="en-US" altLang="zh-CN" sz="100" dirty="0">
                <a:solidFill>
                  <a:prstClr val="white"/>
                </a:solidFill>
                <a:ea typeface="宋体" panose="02010600030101010101" pitchFamily="2" charset="-122"/>
              </a:rPr>
              <a:t>www.1ppt.com/xiazai/        PPT</a:t>
            </a:r>
            <a:r>
              <a:rPr lang="zh-CN" altLang="en-US" sz="100" dirty="0">
                <a:solidFill>
                  <a:prstClr val="white"/>
                </a:solidFill>
                <a:ea typeface="宋体" panose="02010600030101010101" pitchFamily="2" charset="-122"/>
              </a:rPr>
              <a:t>教程： </a:t>
            </a:r>
            <a:r>
              <a:rPr lang="en-US" altLang="zh-CN" sz="100" dirty="0">
                <a:solidFill>
                  <a:prstClr val="white"/>
                </a:solidFill>
                <a:ea typeface="宋体" panose="02010600030101010101" pitchFamily="2" charset="-122"/>
              </a:rPr>
              <a:t>www.1ppt.com/powerpoint/      </a:t>
            </a:r>
          </a:p>
          <a:p>
            <a:pPr defTabSz="914400"/>
            <a:r>
              <a:rPr lang="en-US" altLang="zh-CN" sz="100" dirty="0">
                <a:solidFill>
                  <a:prstClr val="white"/>
                </a:solidFill>
                <a:ea typeface="宋体" panose="02010600030101010101" pitchFamily="2" charset="-122"/>
              </a:rPr>
              <a:t>Word</a:t>
            </a:r>
            <a:r>
              <a:rPr lang="zh-CN" altLang="en-US" sz="100" dirty="0">
                <a:solidFill>
                  <a:prstClr val="white"/>
                </a:solidFill>
                <a:ea typeface="宋体" panose="02010600030101010101" pitchFamily="2" charset="-122"/>
              </a:rPr>
              <a:t>教程： </a:t>
            </a:r>
            <a:r>
              <a:rPr lang="en-US" altLang="zh-CN" sz="100" dirty="0">
                <a:solidFill>
                  <a:prstClr val="white"/>
                </a:solidFill>
                <a:ea typeface="宋体" panose="02010600030101010101" pitchFamily="2" charset="-122"/>
              </a:rPr>
              <a:t>www.1ppt.com/word/              Excel</a:t>
            </a:r>
            <a:r>
              <a:rPr lang="zh-CN" altLang="en-US" sz="100" dirty="0">
                <a:solidFill>
                  <a:prstClr val="white"/>
                </a:solidFill>
                <a:ea typeface="宋体" panose="02010600030101010101" pitchFamily="2" charset="-122"/>
              </a:rPr>
              <a:t>教程：</a:t>
            </a:r>
            <a:r>
              <a:rPr lang="en-US" altLang="zh-CN" sz="100" dirty="0">
                <a:solidFill>
                  <a:prstClr val="white"/>
                </a:solidFill>
                <a:ea typeface="宋体" panose="02010600030101010101" pitchFamily="2" charset="-122"/>
              </a:rPr>
              <a:t>www.1ppt.com/excel/  </a:t>
            </a:r>
          </a:p>
          <a:p>
            <a:pPr defTabSz="914400"/>
            <a:r>
              <a:rPr lang="zh-CN" altLang="en-US" sz="100" dirty="0">
                <a:solidFill>
                  <a:prstClr val="white"/>
                </a:solidFill>
                <a:ea typeface="宋体" panose="02010600030101010101" pitchFamily="2" charset="-122"/>
              </a:rPr>
              <a:t>资料下载：</a:t>
            </a:r>
            <a:r>
              <a:rPr lang="en-US" altLang="zh-CN" sz="100" dirty="0">
                <a:solidFill>
                  <a:prstClr val="white"/>
                </a:solidFill>
                <a:ea typeface="宋体" panose="02010600030101010101" pitchFamily="2" charset="-122"/>
              </a:rPr>
              <a:t>www.1ppt.com/ziliao/                PPT</a:t>
            </a:r>
            <a:r>
              <a:rPr lang="zh-CN" altLang="en-US" sz="100" dirty="0">
                <a:solidFill>
                  <a:prstClr val="white"/>
                </a:solidFill>
                <a:ea typeface="宋体" panose="02010600030101010101" pitchFamily="2" charset="-122"/>
              </a:rPr>
              <a:t>课件下载：</a:t>
            </a:r>
            <a:r>
              <a:rPr lang="en-US" altLang="zh-CN" sz="100" dirty="0">
                <a:solidFill>
                  <a:prstClr val="white"/>
                </a:solidFill>
                <a:ea typeface="宋体" panose="02010600030101010101" pitchFamily="2" charset="-122"/>
              </a:rPr>
              <a:t>www.1ppt.com/kejian/ </a:t>
            </a:r>
          </a:p>
          <a:p>
            <a:pPr defTabSz="914400"/>
            <a:r>
              <a:rPr lang="zh-CN" altLang="en-US" sz="100" dirty="0">
                <a:solidFill>
                  <a:prstClr val="white"/>
                </a:solidFill>
                <a:ea typeface="宋体" panose="02010600030101010101" pitchFamily="2" charset="-122"/>
              </a:rPr>
              <a:t>范文下载：</a:t>
            </a:r>
            <a:r>
              <a:rPr lang="en-US" altLang="zh-CN" sz="100" dirty="0">
                <a:solidFill>
                  <a:prstClr val="white"/>
                </a:solidFill>
                <a:ea typeface="宋体" panose="02010600030101010101" pitchFamily="2" charset="-122"/>
              </a:rPr>
              <a:t>www.1ppt.com/fanwen/             </a:t>
            </a:r>
            <a:r>
              <a:rPr lang="zh-CN" altLang="en-US" sz="100" dirty="0">
                <a:solidFill>
                  <a:prstClr val="white"/>
                </a:solidFill>
                <a:ea typeface="宋体" panose="02010600030101010101" pitchFamily="2" charset="-122"/>
              </a:rPr>
              <a:t>试卷下载：</a:t>
            </a:r>
            <a:r>
              <a:rPr lang="en-US" altLang="zh-CN" sz="100" dirty="0">
                <a:solidFill>
                  <a:prstClr val="white"/>
                </a:solidFill>
                <a:ea typeface="宋体" panose="02010600030101010101" pitchFamily="2" charset="-122"/>
              </a:rPr>
              <a:t>www.1ppt.com/shiti/  </a:t>
            </a:r>
          </a:p>
          <a:p>
            <a:pPr defTabSz="914400"/>
            <a:r>
              <a:rPr lang="zh-CN" altLang="en-US" sz="100" dirty="0">
                <a:solidFill>
                  <a:prstClr val="white"/>
                </a:solidFill>
                <a:ea typeface="宋体" panose="02010600030101010101" pitchFamily="2" charset="-122"/>
              </a:rPr>
              <a:t>教案下载：</a:t>
            </a:r>
            <a:r>
              <a:rPr lang="en-US" altLang="zh-CN" sz="100" dirty="0">
                <a:solidFill>
                  <a:prstClr val="white"/>
                </a:solidFill>
                <a:ea typeface="宋体" panose="02010600030101010101" pitchFamily="2" charset="-122"/>
              </a:rPr>
              <a:t>www.1ppt.com/jiaoan/        </a:t>
            </a:r>
          </a:p>
          <a:p>
            <a:pPr defTabSz="914400"/>
            <a:r>
              <a:rPr lang="zh-CN" altLang="en-US" sz="100" dirty="0">
                <a:solidFill>
                  <a:prstClr val="white"/>
                </a:solidFill>
                <a:ea typeface="宋体" panose="02010600030101010101" pitchFamily="2" charset="-122"/>
              </a:rPr>
              <a:t>字体下载：</a:t>
            </a:r>
            <a:r>
              <a:rPr lang="en-US" altLang="zh-CN" sz="100" dirty="0">
                <a:solidFill>
                  <a:prstClr val="white"/>
                </a:solidFill>
                <a:ea typeface="宋体" panose="02010600030101010101" pitchFamily="2" charset="-122"/>
              </a:rPr>
              <a:t>www.1ppt.com/ziti/</a:t>
            </a:r>
          </a:p>
          <a:p>
            <a:pPr defTabSz="914400"/>
            <a:r>
              <a:rPr lang="en-US" altLang="zh-CN" sz="100" dirty="0">
                <a:solidFill>
                  <a:prstClr val="white"/>
                </a:solidFill>
                <a:ea typeface="宋体" panose="02010600030101010101" pitchFamily="2" charset="-122"/>
              </a:rPr>
              <a:t> </a:t>
            </a:r>
            <a:endParaRPr lang="zh-CN" altLang="en-US" sz="100" dirty="0">
              <a:solidFill>
                <a:prstClr val="white"/>
              </a:solidFill>
              <a:ea typeface="宋体" panose="02010600030101010101" pitchFamily="2" charset="-122"/>
            </a:endParaRPr>
          </a:p>
        </p:txBody>
      </p:sp>
      <p:pic>
        <p:nvPicPr>
          <p:cNvPr id="2" name="图片 1"/>
          <p:cNvPicPr>
            <a:picLocks noChangeAspect="1"/>
          </p:cNvPicPr>
          <p:nvPr/>
        </p:nvPicPr>
        <p:blipFill>
          <a:blip r:embed="rId3"/>
          <a:stretch>
            <a:fillRect/>
          </a:stretch>
        </p:blipFill>
        <p:spPr>
          <a:xfrm>
            <a:off x="1354" y="0"/>
            <a:ext cx="9141291" cy="5143500"/>
          </a:xfrm>
          <a:prstGeom prst="rect">
            <a:avLst/>
          </a:prstGeom>
        </p:spPr>
      </p:pic>
      <p:pic>
        <p:nvPicPr>
          <p:cNvPr id="4" name="图片 3"/>
          <p:cNvPicPr>
            <a:picLocks noChangeAspect="1"/>
          </p:cNvPicPr>
          <p:nvPr/>
        </p:nvPicPr>
        <p:blipFill>
          <a:blip r:embed="rId4"/>
          <a:stretch>
            <a:fillRect/>
          </a:stretch>
        </p:blipFill>
        <p:spPr>
          <a:xfrm>
            <a:off x="1641307" y="294089"/>
            <a:ext cx="6260074" cy="4522858"/>
          </a:xfrm>
          <a:prstGeom prst="rect">
            <a:avLst/>
          </a:prstGeom>
        </p:spPr>
      </p:pic>
      <p:pic>
        <p:nvPicPr>
          <p:cNvPr id="7" name="图片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020226" y="1047394"/>
            <a:ext cx="2804652" cy="2817025"/>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8" name="文本框 7"/>
          <p:cNvSpPr txBox="1"/>
          <p:nvPr/>
        </p:nvSpPr>
        <p:spPr>
          <a:xfrm>
            <a:off x="312528" y="294089"/>
            <a:ext cx="3948450" cy="3416320"/>
          </a:xfrm>
          <a:prstGeom prst="rect">
            <a:avLst/>
          </a:prstGeom>
          <a:noFill/>
        </p:spPr>
        <p:txBody>
          <a:bodyPr wrap="square" rtlCol="0">
            <a:spAutoFit/>
          </a:bodyPr>
          <a:lstStyle/>
          <a:p>
            <a:r>
              <a:rPr lang="zh-CN" altLang="en-US" sz="7200" dirty="0">
                <a:solidFill>
                  <a:srgbClr val="FFC000"/>
                </a:solidFill>
              </a:rPr>
              <a:t>谢</a:t>
            </a:r>
            <a:endParaRPr lang="en-US" altLang="zh-CN" sz="7200" dirty="0">
              <a:solidFill>
                <a:srgbClr val="FFC000"/>
              </a:solidFill>
            </a:endParaRPr>
          </a:p>
          <a:p>
            <a:r>
              <a:rPr lang="zh-CN" altLang="en-US" sz="7200" dirty="0">
                <a:solidFill>
                  <a:srgbClr val="FFC000"/>
                </a:solidFill>
              </a:rPr>
              <a:t>  谢</a:t>
            </a:r>
            <a:endParaRPr lang="en-US" altLang="zh-CN" sz="7200" dirty="0">
              <a:solidFill>
                <a:srgbClr val="FFC000"/>
              </a:solidFill>
            </a:endParaRPr>
          </a:p>
          <a:p>
            <a:r>
              <a:rPr lang="zh-CN" altLang="en-US" sz="7200" dirty="0">
                <a:solidFill>
                  <a:srgbClr val="FFC000"/>
                </a:solidFill>
              </a:rPr>
              <a:t> ！</a:t>
            </a:r>
            <a:r>
              <a:rPr lang="zh-CN" altLang="en-US" sz="7200" dirty="0">
                <a:solidFill>
                  <a:srgbClr val="FF0000"/>
                </a:solidFill>
              </a:rPr>
              <a:t>       </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childTnLst>
                                </p:cTn>
                              </p:par>
                              <p:par>
                                <p:cTn id="9" presetID="53" presetClass="entr" presetSubtype="16"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p:cTn id="11" dur="500" fill="hold"/>
                                        <p:tgtEl>
                                          <p:spTgt spid="8"/>
                                        </p:tgtEl>
                                        <p:attrNameLst>
                                          <p:attrName>ppt_w</p:attrName>
                                        </p:attrNameLst>
                                      </p:cBhvr>
                                      <p:tavLst>
                                        <p:tav tm="0">
                                          <p:val>
                                            <p:fltVal val="0"/>
                                          </p:val>
                                        </p:tav>
                                        <p:tav tm="100000">
                                          <p:val>
                                            <p:strVal val="#ppt_w"/>
                                          </p:val>
                                        </p:tav>
                                      </p:tavLst>
                                    </p:anim>
                                    <p:anim calcmode="lin" valueType="num">
                                      <p:cBhvr>
                                        <p:cTn id="12" dur="500" fill="hold"/>
                                        <p:tgtEl>
                                          <p:spTgt spid="8"/>
                                        </p:tgtEl>
                                        <p:attrNameLst>
                                          <p:attrName>ppt_h</p:attrName>
                                        </p:attrNameLst>
                                      </p:cBhvr>
                                      <p:tavLst>
                                        <p:tav tm="0">
                                          <p:val>
                                            <p:fltVal val="0"/>
                                          </p:val>
                                        </p:tav>
                                        <p:tav tm="100000">
                                          <p:val>
                                            <p:strVal val="#ppt_h"/>
                                          </p:val>
                                        </p:tav>
                                      </p:tavLst>
                                    </p:anim>
                                    <p:animEffect transition="in" filter="fade">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theme/theme1.xml><?xml version="1.0" encoding="utf-8"?>
<a:theme xmlns:a="http://schemas.openxmlformats.org/drawingml/2006/main" name="第一PPT，www.1ppt.com">
  <a:themeElements>
    <a:clrScheme name="自定义 11">
      <a:dk1>
        <a:sysClr val="windowText" lastClr="000000"/>
      </a:dk1>
      <a:lt1>
        <a:sysClr val="window" lastClr="FFFFFF"/>
      </a:lt1>
      <a:dk2>
        <a:srgbClr val="44546A"/>
      </a:dk2>
      <a:lt2>
        <a:srgbClr val="E7E6E6"/>
      </a:lt2>
      <a:accent1>
        <a:srgbClr val="5B9BD5"/>
      </a:accent1>
      <a:accent2>
        <a:srgbClr val="459BB3"/>
      </a:accent2>
      <a:accent3>
        <a:srgbClr val="00B0F0"/>
      </a:accent3>
      <a:accent4>
        <a:srgbClr val="00B0F0"/>
      </a:accent4>
      <a:accent5>
        <a:srgbClr val="459BB3"/>
      </a:accent5>
      <a:accent6>
        <a:srgbClr val="459BB3"/>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104</TotalTime>
  <Words>4228</Words>
  <Application>Microsoft Office PowerPoint</Application>
  <PresentationFormat>全屏显示(16:9)</PresentationFormat>
  <Paragraphs>296</Paragraphs>
  <Slides>48</Slides>
  <Notes>14</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vt:i4>
      </vt:variant>
      <vt:variant>
        <vt:lpstr>幻灯片标题</vt:lpstr>
      </vt:variant>
      <vt:variant>
        <vt:i4>48</vt:i4>
      </vt:variant>
    </vt:vector>
  </HeadingPairs>
  <TitlesOfParts>
    <vt:vector size="64" baseType="lpstr">
      <vt:lpstr>等线</vt:lpstr>
      <vt:lpstr>等线 Light</vt:lpstr>
      <vt:lpstr>方正书宋_GBK</vt:lpstr>
      <vt:lpstr>方正书宋简体</vt:lpstr>
      <vt:lpstr>黑体</vt:lpstr>
      <vt:lpstr>华文宋体</vt:lpstr>
      <vt:lpstr>宋体</vt:lpstr>
      <vt:lpstr>微软雅黑</vt:lpstr>
      <vt:lpstr>Arial</vt:lpstr>
      <vt:lpstr>Calibri</vt:lpstr>
      <vt:lpstr>Calibri Light</vt:lpstr>
      <vt:lpstr>IrisUPC</vt:lpstr>
      <vt:lpstr>Times New Roman</vt:lpstr>
      <vt:lpstr>Wingdings</vt:lpstr>
      <vt:lpstr>第一PPT，www.1ppt.com</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http://www.ypppt.com/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第一PPT</dc:creator>
  <cp:keywords>www.1ppt.com</cp:keywords>
  <dc:description>www.1ppt.com</dc:description>
  <cp:lastModifiedBy>lenovo</cp:lastModifiedBy>
  <cp:revision>313</cp:revision>
  <dcterms:created xsi:type="dcterms:W3CDTF">2017-03-04T06:55:00Z</dcterms:created>
  <dcterms:modified xsi:type="dcterms:W3CDTF">2022-09-06T01:15:52Z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2052-11.1.0.10938</vt:lpwstr>
  </property>
  <property fmtid="{D5CDD505-2E9C-101B-9397-08002B2CF9AE}" pid="3" name="ICV">
    <vt:lpwstr>252D1EE556A7488796FAE8D3BC33E8EE</vt:lpwstr>
  </property>
</Properties>
</file>
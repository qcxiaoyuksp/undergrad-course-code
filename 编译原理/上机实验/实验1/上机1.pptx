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6"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06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3A9BA5-F3AA-B097-CB0A-A98ACF0ABF6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1FAB39E-5146-1AC7-97B9-591FD59501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1E82EEB-7466-42C8-9DC5-0C591D88DC18}"/>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5" name="页脚占位符 4">
            <a:extLst>
              <a:ext uri="{FF2B5EF4-FFF2-40B4-BE49-F238E27FC236}">
                <a16:creationId xmlns:a16="http://schemas.microsoft.com/office/drawing/2014/main" id="{17E2F0BC-F80D-B5E9-99A6-AC95DAE9C0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9725E8A-9DD3-87A0-1E5C-6EA57DF56418}"/>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1370422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810C6-A618-62CC-53A5-6D5958086B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B39ADD9-078B-AF7D-0FF4-16A7B29B090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351A89-56CD-B0A9-0B4B-2A5845B60D57}"/>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5" name="页脚占位符 4">
            <a:extLst>
              <a:ext uri="{FF2B5EF4-FFF2-40B4-BE49-F238E27FC236}">
                <a16:creationId xmlns:a16="http://schemas.microsoft.com/office/drawing/2014/main" id="{AC9CBF92-831B-C6EB-CF4B-DA9D84C6C07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9AD351-B7E5-B194-A17C-3F756F5E7B7D}"/>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6951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CB8D92-0A06-429B-7A52-DC56DA239B5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F68599E-8068-E3FD-97A7-1A26CF4BDF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762DB31-4AEB-311A-0A79-110424DD678C}"/>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5" name="页脚占位符 4">
            <a:extLst>
              <a:ext uri="{FF2B5EF4-FFF2-40B4-BE49-F238E27FC236}">
                <a16:creationId xmlns:a16="http://schemas.microsoft.com/office/drawing/2014/main" id="{5522899D-0F93-E0E8-95C8-22944B5DE9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B59C24-E1A5-447F-9C4A-600CC133F386}"/>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95819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7F6956-1F9B-E3CE-8477-EEC7555AF2A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C21EBFC-CAF5-26BC-6167-7E84AFF37AF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E5ADEE1-95AD-3062-417D-3C1B2568E2F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00FA2E4-2655-F364-BB50-A90C08E68994}"/>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6" name="页脚占位符 5">
            <a:extLst>
              <a:ext uri="{FF2B5EF4-FFF2-40B4-BE49-F238E27FC236}">
                <a16:creationId xmlns:a16="http://schemas.microsoft.com/office/drawing/2014/main" id="{7CB35FC3-9839-1C32-32F3-10A07CAD580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7ACDB0-1CD7-394C-C113-3B1025C84B42}"/>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70438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34512D-EF06-0208-41AA-F6583EB6B90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F6AA477-0860-D665-C77A-C41A40CC2C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78B8CE7-34AF-92D8-A85C-2CB72347D7B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39A6C7-196E-F36C-EAF6-66E25F9755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D30E20B-D781-D885-2909-7AC06B01E2D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A566961-2000-890E-2B3F-51AD9D71332C}"/>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8" name="页脚占位符 7">
            <a:extLst>
              <a:ext uri="{FF2B5EF4-FFF2-40B4-BE49-F238E27FC236}">
                <a16:creationId xmlns:a16="http://schemas.microsoft.com/office/drawing/2014/main" id="{A6E79D48-A56A-49B1-DCC2-6CD84F7F1C7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9AF521E-9764-DEC0-A7C5-A872474BF268}"/>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4218857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A7A80F-CEA9-CF22-F4D1-EA2F4FFAA7D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79792E-1191-D7DC-0A55-E5197E91CAA9}"/>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4" name="页脚占位符 3">
            <a:extLst>
              <a:ext uri="{FF2B5EF4-FFF2-40B4-BE49-F238E27FC236}">
                <a16:creationId xmlns:a16="http://schemas.microsoft.com/office/drawing/2014/main" id="{51D5A12E-4C38-31E1-1148-EAB9663B88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339979-75CF-ED90-9DFC-FEFA0CDD4138}"/>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3897768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74E4FE2-EA49-97FC-CFAD-E062FDB16B3B}"/>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3" name="页脚占位符 2">
            <a:extLst>
              <a:ext uri="{FF2B5EF4-FFF2-40B4-BE49-F238E27FC236}">
                <a16:creationId xmlns:a16="http://schemas.microsoft.com/office/drawing/2014/main" id="{2503358C-3A63-8B5E-D325-793A619F5EA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611B99-A5F6-4C69-C642-8D552E576406}"/>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3155163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26C24-5E8B-6379-3773-FB63921247C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00567A2-2816-757A-77F5-09470F71B6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07C6BFE-9D58-151F-1AFF-96ABC503F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806E327-8D5A-74EB-75D1-82A44CA99396}"/>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6" name="页脚占位符 5">
            <a:extLst>
              <a:ext uri="{FF2B5EF4-FFF2-40B4-BE49-F238E27FC236}">
                <a16:creationId xmlns:a16="http://schemas.microsoft.com/office/drawing/2014/main" id="{00A42F60-2B99-DCA1-5BCC-B5DE97C3492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C147DB2-7C09-8DD8-1F04-2398BDF4B18A}"/>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4068762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0864CE-E9EE-7A94-FB88-D62C81F70A2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F3EF4A6-9F6A-3876-ED51-7A7D7A9374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850AFE4-FE63-4A9F-A4BC-9265EFCBF2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CBADF18-F9D2-1CCF-8088-F69DCA3FAF14}"/>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6" name="页脚占位符 5">
            <a:extLst>
              <a:ext uri="{FF2B5EF4-FFF2-40B4-BE49-F238E27FC236}">
                <a16:creationId xmlns:a16="http://schemas.microsoft.com/office/drawing/2014/main" id="{542D1057-E079-DD69-05E7-E629B76A5C8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855E5FE-B83A-4AB9-3782-45F6751AA300}"/>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63166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85011C-0FEB-3C46-C841-5DDB965327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DA4CA04-2C1C-150D-5DDF-E55833EDEA1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7B8F3E-0D97-6F35-0F4F-005B4EF6F794}"/>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5" name="页脚占位符 4">
            <a:extLst>
              <a:ext uri="{FF2B5EF4-FFF2-40B4-BE49-F238E27FC236}">
                <a16:creationId xmlns:a16="http://schemas.microsoft.com/office/drawing/2014/main" id="{7D7A393A-FC29-5143-6065-821E22CC240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14473E-9685-C22A-0DEC-9A73D383680D}"/>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3925452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4D27F8A-1E3A-993B-7B08-C1FA134361D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994EB0C-56BB-B430-2CB4-BD0AD6D17E3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E33C61-1374-CC21-AACF-1E96A84F5622}"/>
              </a:ext>
            </a:extLst>
          </p:cNvPr>
          <p:cNvSpPr>
            <a:spLocks noGrp="1"/>
          </p:cNvSpPr>
          <p:nvPr>
            <p:ph type="dt" sz="half" idx="10"/>
          </p:nvPr>
        </p:nvSpPr>
        <p:spPr/>
        <p:txBody>
          <a:bodyPr/>
          <a:lstStyle/>
          <a:p>
            <a:fld id="{277606BD-7706-484C-B197-F1844F6AAED4}" type="datetimeFigureOut">
              <a:rPr lang="zh-CN" altLang="en-US" smtClean="0"/>
              <a:t>2024-04-27</a:t>
            </a:fld>
            <a:endParaRPr lang="zh-CN" altLang="en-US"/>
          </a:p>
        </p:txBody>
      </p:sp>
      <p:sp>
        <p:nvSpPr>
          <p:cNvPr id="5" name="页脚占位符 4">
            <a:extLst>
              <a:ext uri="{FF2B5EF4-FFF2-40B4-BE49-F238E27FC236}">
                <a16:creationId xmlns:a16="http://schemas.microsoft.com/office/drawing/2014/main" id="{49533DEE-1AC9-E321-0A2C-41138B3D958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124E1A-2820-880A-FE80-B6A74BF7CB14}"/>
              </a:ext>
            </a:extLst>
          </p:cNvPr>
          <p:cNvSpPr>
            <a:spLocks noGrp="1"/>
          </p:cNvSpPr>
          <p:nvPr>
            <p:ph type="sldNum" sz="quarter" idx="12"/>
          </p:nvPr>
        </p:nvSpPr>
        <p:spPr/>
        <p:txBody>
          <a:body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380924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2FBBD8D-9BFD-830E-7D7F-645845F343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9C5949A-A41D-1590-E896-A5DF2F8C2B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BBD364B-E0D2-09BD-7D42-CCE9085D3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606BD-7706-484C-B197-F1844F6AAED4}" type="datetimeFigureOut">
              <a:rPr lang="zh-CN" altLang="en-US" smtClean="0"/>
              <a:t>2024-04-27</a:t>
            </a:fld>
            <a:endParaRPr lang="zh-CN" altLang="en-US"/>
          </a:p>
        </p:txBody>
      </p:sp>
      <p:sp>
        <p:nvSpPr>
          <p:cNvPr id="5" name="页脚占位符 4">
            <a:extLst>
              <a:ext uri="{FF2B5EF4-FFF2-40B4-BE49-F238E27FC236}">
                <a16:creationId xmlns:a16="http://schemas.microsoft.com/office/drawing/2014/main" id="{1E75AD67-4577-F292-A4CC-1CDF3F27E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ED9F800-D4A7-3CEA-28D5-A1F6E7CCC1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A85121-260C-4D09-9F2B-10FC40C60AFA}" type="slidenum">
              <a:rPr lang="zh-CN" altLang="en-US" smtClean="0"/>
              <a:t>‹#›</a:t>
            </a:fld>
            <a:endParaRPr lang="zh-CN" altLang="en-US"/>
          </a:p>
        </p:txBody>
      </p:sp>
    </p:spTree>
    <p:extLst>
      <p:ext uri="{BB962C8B-B14F-4D97-AF65-F5344CB8AC3E}">
        <p14:creationId xmlns:p14="http://schemas.microsoft.com/office/powerpoint/2010/main" val="2125835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633876" y="618767"/>
            <a:ext cx="4008235"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实验一：词法分析</a:t>
            </a:r>
            <a:endParaRPr lang="en-US" altLang="zh-CN" sz="2800" b="1" dirty="0">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DE43F369-5C06-0CB9-E73B-909B37F59241}"/>
              </a:ext>
            </a:extLst>
          </p:cNvPr>
          <p:cNvSpPr txBox="1"/>
          <p:nvPr/>
        </p:nvSpPr>
        <p:spPr>
          <a:xfrm>
            <a:off x="1383918" y="1729997"/>
            <a:ext cx="9424164" cy="3905877"/>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上机目的：</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通过设计、调试词法分析程序，实现从源程序中分出各种单词的方法；熟悉词法分析程序所用的工具自动机，进一步理解自动机理论。掌握文法转换成自动机的技术及有穷自动机实现的方法。确定词法分析器的输出形式及标识符与关键字的区分方法。加深对课堂教学的理解；提高词法分析方法的实践能力。</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kern="100" dirty="0">
                <a:latin typeface="宋体" panose="02010600030101010101" pitchFamily="2" charset="-122"/>
                <a:ea typeface="宋体" panose="02010600030101010101" pitchFamily="2" charset="-122"/>
                <a:cs typeface="Times New Roman" panose="02020603050405020304" pitchFamily="18" charset="0"/>
              </a:rPr>
              <a:t>内容：</a:t>
            </a:r>
            <a:endParaRPr lang="en-US" altLang="zh-CN" sz="2000" b="1" kern="100" dirty="0">
              <a:latin typeface="宋体" panose="02010600030101010101" pitchFamily="2" charset="-122"/>
              <a:ea typeface="宋体" panose="02010600030101010101" pitchFamily="2" charset="-122"/>
              <a:cs typeface="Times New Roman" panose="02020603050405020304" pitchFamily="18" charset="0"/>
            </a:endParaRP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）掌握文法转换成自动机的技术及有穷自动机实现的方法；</a:t>
            </a: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）确定词法分析器的输出形式及标识符与关键字的区分方法；</a:t>
            </a:r>
          </a:p>
          <a:p>
            <a:pPr>
              <a:lnSpc>
                <a:spcPct val="140000"/>
              </a:lnSpc>
            </a:pP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）通过设计、编制、调试词法分析程序，实现从源程序中拆分出各种单词。</a:t>
            </a:r>
          </a:p>
        </p:txBody>
      </p:sp>
    </p:spTree>
    <p:extLst>
      <p:ext uri="{BB962C8B-B14F-4D97-AF65-F5344CB8AC3E}">
        <p14:creationId xmlns:p14="http://schemas.microsoft.com/office/powerpoint/2010/main" val="30185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633876" y="618767"/>
            <a:ext cx="4008235"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实验一：词法分析</a:t>
            </a:r>
            <a:endParaRPr lang="en-US" altLang="zh-CN" sz="2800" b="1" dirty="0">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A163090C-289E-9BF9-CAD5-D6876E419E48}"/>
              </a:ext>
            </a:extLst>
          </p:cNvPr>
          <p:cNvSpPr txBox="1"/>
          <p:nvPr/>
        </p:nvSpPr>
        <p:spPr>
          <a:xfrm>
            <a:off x="950376" y="1159492"/>
            <a:ext cx="10291248" cy="5373202"/>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基本原理：</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词法分析程序的基本任务是从字符串表示的源程序中识别出具有独立意义的单词符号，包括：关键字、标识符、数字、运算符、界限符。在成功识别这些单词符号后，依次输出各个单词符号的</a:t>
            </a:r>
            <a:r>
              <a:rPr lang="en-US" altLang="zh-CN" sz="2000" b="1" dirty="0">
                <a:latin typeface="宋体" panose="02010600030101010101" pitchFamily="2" charset="-122"/>
                <a:ea typeface="宋体" panose="02010600030101010101" pitchFamily="2" charset="-122"/>
              </a:rPr>
              <a:t>token</a:t>
            </a:r>
            <a:r>
              <a:rPr lang="zh-CN" altLang="en-US" sz="2000" b="1" dirty="0">
                <a:latin typeface="宋体" panose="02010600030101010101" pitchFamily="2" charset="-122"/>
                <a:ea typeface="宋体" panose="02010600030101010101" pitchFamily="2" charset="-122"/>
              </a:rPr>
              <a:t>表示（单词类别，属性），单词类别用于区分单词所属的类别，以整数编码表示。属性用于区分该类别中哪一个单词符号，即单词符号的值。</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标识符：用来命名程序中出现的变量、数组、函数、过程、标号等，通常是字母打头的字母数字串，如</a:t>
            </a:r>
            <a:r>
              <a:rPr lang="en-US" altLang="zh-CN" sz="2000" b="1" dirty="0">
                <a:latin typeface="宋体" panose="02010600030101010101" pitchFamily="2" charset="-122"/>
                <a:ea typeface="宋体" panose="02010600030101010101" pitchFamily="2" charset="-122"/>
              </a:rPr>
              <a:t>length</a:t>
            </a:r>
            <a:r>
              <a:rPr lang="zh-CN" altLang="en-US" sz="2000" b="1" dirty="0">
                <a:latin typeface="宋体" panose="02010600030101010101" pitchFamily="2" charset="-122"/>
                <a:ea typeface="宋体" panose="02010600030101010101" pitchFamily="2" charset="-122"/>
              </a:rPr>
              <a:t>、</a:t>
            </a:r>
            <a:r>
              <a:rPr lang="en-US" altLang="zh-CN" sz="2000" b="1" dirty="0" err="1">
                <a:latin typeface="宋体" panose="02010600030101010101" pitchFamily="2" charset="-122"/>
                <a:ea typeface="宋体" panose="02010600030101010101" pitchFamily="2" charset="-122"/>
              </a:rPr>
              <a:t>nextch</a:t>
            </a:r>
            <a:r>
              <a:rPr lang="zh-CN" altLang="en-US" sz="2000" b="1" dirty="0">
                <a:latin typeface="宋体" panose="02010600030101010101" pitchFamily="2" charset="-122"/>
                <a:ea typeface="宋体" panose="02010600030101010101" pitchFamily="2" charset="-122"/>
              </a:rPr>
              <a:t>等；</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关键字：具有标识符的形式，但不是由用户定义的，而是由语言定义的，其意义是约定的，如</a:t>
            </a:r>
            <a:r>
              <a:rPr lang="en-US" altLang="zh-CN" sz="2000" b="1" dirty="0">
                <a:latin typeface="宋体" panose="02010600030101010101" pitchFamily="2" charset="-122"/>
                <a:ea typeface="宋体" panose="02010600030101010101" pitchFamily="2" charset="-122"/>
              </a:rPr>
              <a:t>if</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while</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for</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int</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do</a:t>
            </a:r>
            <a:r>
              <a:rPr lang="zh-CN" altLang="en-US" sz="2000" b="1" dirty="0">
                <a:latin typeface="宋体" panose="02010600030101010101" pitchFamily="2" charset="-122"/>
                <a:ea typeface="宋体" panose="02010600030101010101" pitchFamily="2" charset="-122"/>
              </a:rPr>
              <a:t>等；</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常数：由数字构成，包括各种类型的常数，如整型、浮点型等；</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运算符：算数运算符：＋－</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关系运算符：﹤﹥≦；逻辑运算符：</a:t>
            </a:r>
            <a:r>
              <a:rPr lang="en-US" altLang="zh-CN" sz="2000" b="1" dirty="0">
                <a:latin typeface="宋体" panose="02010600030101010101" pitchFamily="2" charset="-122"/>
                <a:ea typeface="宋体" panose="02010600030101010101" pitchFamily="2" charset="-122"/>
              </a:rPr>
              <a:t>&amp;&amp; ||</a:t>
            </a:r>
          </a:p>
          <a:p>
            <a:pPr>
              <a:lnSpc>
                <a:spcPct val="140000"/>
              </a:lnSpc>
            </a:pPr>
            <a:r>
              <a:rPr lang="zh-CN" altLang="en-US" sz="2000" b="1" dirty="0">
                <a:latin typeface="宋体" panose="02010600030101010101" pitchFamily="2" charset="-122"/>
                <a:ea typeface="宋体" panose="02010600030101010101" pitchFamily="2" charset="-122"/>
              </a:rPr>
              <a:t>界限符：</a:t>
            </a:r>
            <a:r>
              <a:rPr lang="en-US" altLang="zh-CN" sz="2000" b="1" dirty="0">
                <a:latin typeface="宋体" panose="02010600030101010101" pitchFamily="2" charset="-122"/>
                <a:ea typeface="宋体" panose="02010600030101010101" pitchFamily="2" charset="-122"/>
              </a:rPr>
              <a:t>; () {}</a:t>
            </a:r>
          </a:p>
        </p:txBody>
      </p:sp>
    </p:spTree>
    <p:extLst>
      <p:ext uri="{BB962C8B-B14F-4D97-AF65-F5344CB8AC3E}">
        <p14:creationId xmlns:p14="http://schemas.microsoft.com/office/powerpoint/2010/main" val="751578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633876" y="618767"/>
            <a:ext cx="4008235"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实验一：词法分析</a:t>
            </a:r>
            <a:endParaRPr lang="en-US" altLang="zh-CN" sz="2800" b="1" dirty="0">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A163090C-289E-9BF9-CAD5-D6876E419E48}"/>
              </a:ext>
            </a:extLst>
          </p:cNvPr>
          <p:cNvSpPr txBox="1"/>
          <p:nvPr/>
        </p:nvSpPr>
        <p:spPr>
          <a:xfrm>
            <a:off x="950376" y="1159492"/>
            <a:ext cx="10291248" cy="4767652"/>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要求：</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输入一个源程序文件，并识别源程序中所有单词符号，输出所有单词符号</a:t>
            </a:r>
            <a:r>
              <a:rPr lang="en-US" altLang="zh-CN" sz="2000" b="1" dirty="0">
                <a:latin typeface="宋体" panose="02010600030101010101" pitchFamily="2" charset="-122"/>
                <a:ea typeface="宋体" panose="02010600030101010101" pitchFamily="2" charset="-122"/>
              </a:rPr>
              <a:t>token</a:t>
            </a:r>
            <a:r>
              <a:rPr lang="zh-CN" altLang="en-US" sz="2000" b="1" dirty="0">
                <a:latin typeface="宋体" panose="02010600030101010101" pitchFamily="2" charset="-122"/>
                <a:ea typeface="宋体" panose="02010600030101010101" pitchFamily="2" charset="-122"/>
              </a:rPr>
              <a:t>表示。</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选择要进行词法分析的源程序文件</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给出单词符号对应的类别编码</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构思各类别单词的状态转换图</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画出程序流程图</a:t>
            </a:r>
            <a:endParaRPr lang="en-US" altLang="zh-CN" sz="2000" b="1" dirty="0">
              <a:latin typeface="宋体" panose="02010600030101010101" pitchFamily="2" charset="-122"/>
              <a:ea typeface="宋体" panose="02010600030101010101" pitchFamily="2" charset="-122"/>
            </a:endParaRPr>
          </a:p>
          <a:p>
            <a:pPr>
              <a:lnSpc>
                <a:spcPct val="140000"/>
              </a:lnSpc>
            </a:pPr>
            <a:r>
              <a:rPr lang="en-US" altLang="zh-CN" sz="2000" b="1" dirty="0">
                <a:latin typeface="宋体" panose="02010600030101010101" pitchFamily="2" charset="-122"/>
                <a:ea typeface="宋体" panose="02010600030101010101" pitchFamily="2" charset="-122"/>
              </a:rPr>
              <a:t>5.</a:t>
            </a:r>
            <a:r>
              <a:rPr lang="zh-CN" altLang="en-US" sz="2000" b="1" dirty="0">
                <a:latin typeface="宋体" panose="02010600030101010101" pitchFamily="2" charset="-122"/>
                <a:ea typeface="宋体" panose="02010600030101010101" pitchFamily="2" charset="-122"/>
              </a:rPr>
              <a:t>程序代码及运行结果图</a:t>
            </a:r>
            <a:endParaRPr lang="en-US" altLang="zh-CN" sz="2000" b="1" dirty="0">
              <a:latin typeface="宋体" panose="02010600030101010101" pitchFamily="2" charset="-122"/>
              <a:ea typeface="宋体" panose="02010600030101010101" pitchFamily="2" charset="-122"/>
            </a:endParaRPr>
          </a:p>
          <a:p>
            <a:pPr>
              <a:lnSpc>
                <a:spcPct val="140000"/>
              </a:lnSpc>
            </a:pP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语言：</a:t>
            </a:r>
            <a:r>
              <a:rPr lang="en-US" altLang="zh-CN" sz="2000" b="1" dirty="0">
                <a:latin typeface="宋体" panose="02010600030101010101" pitchFamily="2" charset="-122"/>
                <a:ea typeface="宋体" panose="02010600030101010101" pitchFamily="2" charset="-122"/>
              </a:rPr>
              <a:t>C/C++</a:t>
            </a:r>
          </a:p>
          <a:p>
            <a:pPr>
              <a:lnSpc>
                <a:spcPct val="140000"/>
              </a:lnSpc>
            </a:pPr>
            <a:r>
              <a:rPr lang="zh-CN" altLang="en-US" sz="2000" b="1" dirty="0">
                <a:latin typeface="宋体" panose="02010600030101010101" pitchFamily="2" charset="-122"/>
                <a:ea typeface="宋体" panose="02010600030101010101" pitchFamily="2" charset="-122"/>
              </a:rPr>
              <a:t>输入：</a:t>
            </a:r>
            <a:r>
              <a:rPr lang="en-US" altLang="zh-CN" sz="2000" b="1" dirty="0">
                <a:latin typeface="宋体" panose="02010600030101010101" pitchFamily="2" charset="-122"/>
                <a:ea typeface="宋体" panose="02010600030101010101" pitchFamily="2" charset="-122"/>
              </a:rPr>
              <a:t>example.txt</a:t>
            </a:r>
            <a:r>
              <a:rPr lang="zh-CN" altLang="en-US" sz="2000" b="1" dirty="0">
                <a:latin typeface="宋体" panose="02010600030101010101" pitchFamily="2" charset="-122"/>
                <a:ea typeface="宋体" panose="02010600030101010101" pitchFamily="2" charset="-122"/>
              </a:rPr>
              <a:t>源程序文件</a:t>
            </a:r>
            <a:endParaRPr lang="en-US" altLang="zh-CN" sz="2000" b="1" dirty="0">
              <a:latin typeface="宋体" panose="02010600030101010101" pitchFamily="2" charset="-122"/>
              <a:ea typeface="宋体" panose="02010600030101010101" pitchFamily="2" charset="-122"/>
            </a:endParaRPr>
          </a:p>
          <a:p>
            <a:pPr>
              <a:lnSpc>
                <a:spcPct val="140000"/>
              </a:lnSpc>
            </a:pPr>
            <a:r>
              <a:rPr lang="zh-CN" altLang="en-US" sz="2000" b="1" dirty="0">
                <a:latin typeface="宋体" panose="02010600030101010101" pitchFamily="2" charset="-122"/>
                <a:ea typeface="宋体" panose="02010600030101010101" pitchFamily="2" charset="-122"/>
              </a:rPr>
              <a:t>输出：所有单词</a:t>
            </a:r>
            <a:r>
              <a:rPr lang="en-US" altLang="zh-CN" sz="2000" b="1" dirty="0">
                <a:latin typeface="宋体" panose="02010600030101010101" pitchFamily="2" charset="-122"/>
                <a:ea typeface="宋体" panose="02010600030101010101" pitchFamily="2" charset="-122"/>
              </a:rPr>
              <a:t>token</a:t>
            </a:r>
          </a:p>
        </p:txBody>
      </p:sp>
      <p:pic>
        <p:nvPicPr>
          <p:cNvPr id="5" name="图片 4">
            <a:extLst>
              <a:ext uri="{FF2B5EF4-FFF2-40B4-BE49-F238E27FC236}">
                <a16:creationId xmlns:a16="http://schemas.microsoft.com/office/drawing/2014/main" id="{E9F726EC-AFFF-99F9-98FF-93CEB64B5B1D}"/>
              </a:ext>
            </a:extLst>
          </p:cNvPr>
          <p:cNvPicPr>
            <a:picLocks noChangeAspect="1"/>
          </p:cNvPicPr>
          <p:nvPr/>
        </p:nvPicPr>
        <p:blipFill rotWithShape="1">
          <a:blip r:embed="rId2">
            <a:extLst>
              <a:ext uri="{28A0092B-C50C-407E-A947-70E740481C1C}">
                <a14:useLocalDpi xmlns:a14="http://schemas.microsoft.com/office/drawing/2010/main" val="0"/>
              </a:ext>
            </a:extLst>
          </a:blip>
          <a:srcRect l="1980" t="10644" r="64203" b="62818"/>
          <a:stretch/>
        </p:blipFill>
        <p:spPr>
          <a:xfrm>
            <a:off x="5426764" y="3352800"/>
            <a:ext cx="2645609" cy="1557130"/>
          </a:xfrm>
          <a:prstGeom prst="rect">
            <a:avLst/>
          </a:prstGeom>
        </p:spPr>
      </p:pic>
      <p:pic>
        <p:nvPicPr>
          <p:cNvPr id="7" name="图片 6">
            <a:extLst>
              <a:ext uri="{FF2B5EF4-FFF2-40B4-BE49-F238E27FC236}">
                <a16:creationId xmlns:a16="http://schemas.microsoft.com/office/drawing/2014/main" id="{ADDF0B67-79BA-9119-2A37-9E79F4479DB0}"/>
              </a:ext>
            </a:extLst>
          </p:cNvPr>
          <p:cNvPicPr>
            <a:picLocks noChangeAspect="1"/>
          </p:cNvPicPr>
          <p:nvPr/>
        </p:nvPicPr>
        <p:blipFill rotWithShape="1">
          <a:blip r:embed="rId3">
            <a:extLst>
              <a:ext uri="{28A0092B-C50C-407E-A947-70E740481C1C}">
                <a14:useLocalDpi xmlns:a14="http://schemas.microsoft.com/office/drawing/2010/main" val="0"/>
              </a:ext>
            </a:extLst>
          </a:blip>
          <a:srcRect l="65314" t="11095" r="7053" b="21574"/>
          <a:stretch/>
        </p:blipFill>
        <p:spPr>
          <a:xfrm>
            <a:off x="8883390" y="2463941"/>
            <a:ext cx="2175549" cy="3975791"/>
          </a:xfrm>
          <a:prstGeom prst="rect">
            <a:avLst/>
          </a:prstGeom>
        </p:spPr>
      </p:pic>
    </p:spTree>
    <p:extLst>
      <p:ext uri="{BB962C8B-B14F-4D97-AF65-F5344CB8AC3E}">
        <p14:creationId xmlns:p14="http://schemas.microsoft.com/office/powerpoint/2010/main" val="3099449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633876" y="618767"/>
            <a:ext cx="4008235"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实验一：词法分析</a:t>
            </a:r>
            <a:endParaRPr lang="en-US" altLang="zh-CN" sz="2800" b="1" dirty="0">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A163090C-289E-9BF9-CAD5-D6876E419E48}"/>
              </a:ext>
            </a:extLst>
          </p:cNvPr>
          <p:cNvSpPr txBox="1"/>
          <p:nvPr/>
        </p:nvSpPr>
        <p:spPr>
          <a:xfrm>
            <a:off x="950376" y="1649823"/>
            <a:ext cx="10291248" cy="3044103"/>
          </a:xfrm>
          <a:prstGeom prst="rect">
            <a:avLst/>
          </a:prstGeom>
          <a:noFill/>
        </p:spPr>
        <p:txBody>
          <a:bodyPr wrap="square">
            <a:spAutoFit/>
          </a:bodyPr>
          <a:lstStyle/>
          <a:p>
            <a:pPr>
              <a:lnSpc>
                <a:spcPct val="140000"/>
              </a:lnSpc>
            </a:pPr>
            <a:r>
              <a:rPr lang="zh-CN" altLang="en-US" sz="2000" b="1" dirty="0">
                <a:latin typeface="宋体" panose="02010600030101010101" pitchFamily="2" charset="-122"/>
                <a:ea typeface="宋体" panose="02010600030101010101" pitchFamily="2" charset="-122"/>
              </a:rPr>
              <a:t>程序</a:t>
            </a:r>
            <a:r>
              <a:rPr lang="en-US" altLang="zh-CN" sz="2000" b="1" dirty="0">
                <a:latin typeface="宋体" panose="02010600030101010101" pitchFamily="2" charset="-122"/>
                <a:ea typeface="宋体" panose="02010600030101010101" pitchFamily="2" charset="-122"/>
              </a:rPr>
              <a:t>1                         </a:t>
            </a:r>
            <a:r>
              <a:rPr lang="zh-CN" altLang="en-US" sz="2000" b="1" dirty="0">
                <a:latin typeface="宋体" panose="02010600030101010101" pitchFamily="2" charset="-122"/>
                <a:ea typeface="宋体" panose="02010600030101010101" pitchFamily="2" charset="-122"/>
              </a:rPr>
              <a:t>程序</a:t>
            </a:r>
            <a:r>
              <a:rPr lang="en-US" altLang="zh-CN" sz="2000" b="1" dirty="0">
                <a:latin typeface="宋体" panose="02010600030101010101" pitchFamily="2" charset="-122"/>
                <a:ea typeface="宋体" panose="02010600030101010101" pitchFamily="2" charset="-122"/>
              </a:rPr>
              <a:t>2</a:t>
            </a:r>
          </a:p>
          <a:p>
            <a:pPr>
              <a:lnSpc>
                <a:spcPct val="140000"/>
              </a:lnSpc>
            </a:pPr>
            <a:r>
              <a:rPr lang="en-US" altLang="zh-CN" sz="2000" b="1" dirty="0">
                <a:latin typeface="宋体" panose="02010600030101010101" pitchFamily="2" charset="-122"/>
                <a:ea typeface="宋体" panose="02010600030101010101" pitchFamily="2" charset="-122"/>
              </a:rPr>
              <a:t>  main()                         while(</a:t>
            </a:r>
            <a:r>
              <a:rPr lang="en-US" altLang="zh-CN" sz="2000" b="1" dirty="0" err="1">
                <a:latin typeface="宋体" panose="02010600030101010101" pitchFamily="2" charset="-122"/>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&gt;5)</a:t>
            </a:r>
          </a:p>
          <a:p>
            <a:pPr>
              <a:lnSpc>
                <a:spcPct val="140000"/>
              </a:lnSpc>
            </a:pPr>
            <a:r>
              <a:rPr lang="en-US" altLang="zh-CN" sz="2000" b="1" dirty="0">
                <a:latin typeface="宋体" panose="02010600030101010101" pitchFamily="2" charset="-122"/>
                <a:ea typeface="宋体" panose="02010600030101010101" pitchFamily="2" charset="-122"/>
              </a:rPr>
              <a:t>  {                              {</a:t>
            </a:r>
          </a:p>
          <a:p>
            <a:pPr>
              <a:lnSpc>
                <a:spcPct val="140000"/>
              </a:lnSpc>
            </a:pPr>
            <a:r>
              <a:rPr lang="en-US" altLang="zh-CN" sz="2000" b="1" dirty="0">
                <a:latin typeface="宋体" panose="02010600030101010101" pitchFamily="2" charset="-122"/>
                <a:ea typeface="宋体" panose="02010600030101010101" pitchFamily="2" charset="-122"/>
              </a:rPr>
              <a:t>     int </a:t>
            </a:r>
            <a:r>
              <a:rPr lang="en-US" altLang="zh-CN" sz="2000" b="1" dirty="0" err="1">
                <a:latin typeface="宋体" panose="02010600030101010101" pitchFamily="2" charset="-122"/>
                <a:ea typeface="宋体" panose="02010600030101010101" pitchFamily="2" charset="-122"/>
              </a:rPr>
              <a:t>a,b</a:t>
            </a:r>
            <a:r>
              <a:rPr lang="en-US" altLang="zh-CN" sz="2000" b="1" dirty="0">
                <a:latin typeface="宋体" panose="02010600030101010101" pitchFamily="2" charset="-122"/>
                <a:ea typeface="宋体" panose="02010600030101010101" pitchFamily="2" charset="-122"/>
              </a:rPr>
              <a:t>;                       </a:t>
            </a:r>
            <a:r>
              <a:rPr lang="en-US" altLang="zh-CN" sz="2000" b="1" dirty="0" err="1">
                <a:latin typeface="宋体" panose="02010600030101010101" pitchFamily="2" charset="-122"/>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r>
              <a:rPr lang="en-US" altLang="zh-CN" sz="2000" b="1" dirty="0" err="1">
                <a:latin typeface="宋体" panose="02010600030101010101" pitchFamily="2" charset="-122"/>
                <a:ea typeface="宋体" panose="02010600030101010101" pitchFamily="2" charset="-122"/>
              </a:rPr>
              <a:t>i</a:t>
            </a:r>
            <a:r>
              <a:rPr lang="en-US" altLang="zh-CN" sz="2000" b="1" dirty="0">
                <a:latin typeface="宋体" panose="02010600030101010101" pitchFamily="2" charset="-122"/>
                <a:ea typeface="宋体" panose="02010600030101010101" pitchFamily="2" charset="-122"/>
              </a:rPr>
              <a:t>++;</a:t>
            </a:r>
          </a:p>
          <a:p>
            <a:pPr>
              <a:lnSpc>
                <a:spcPct val="140000"/>
              </a:lnSpc>
            </a:pPr>
            <a:r>
              <a:rPr lang="en-US" altLang="zh-CN" sz="2000" b="1" dirty="0">
                <a:latin typeface="宋体" panose="02010600030101010101" pitchFamily="2" charset="-122"/>
                <a:ea typeface="宋体" panose="02010600030101010101" pitchFamily="2" charset="-122"/>
              </a:rPr>
              <a:t>     a=10;                        }</a:t>
            </a:r>
          </a:p>
          <a:p>
            <a:pPr>
              <a:lnSpc>
                <a:spcPct val="140000"/>
              </a:lnSpc>
            </a:pPr>
            <a:r>
              <a:rPr lang="en-US" altLang="zh-CN" sz="2000" b="1" dirty="0">
                <a:latin typeface="宋体" panose="02010600030101010101" pitchFamily="2" charset="-122"/>
                <a:ea typeface="宋体" panose="02010600030101010101" pitchFamily="2" charset="-122"/>
              </a:rPr>
              <a:t>     b=a+20;</a:t>
            </a:r>
          </a:p>
          <a:p>
            <a:pPr>
              <a:lnSpc>
                <a:spcPct val="140000"/>
              </a:lnSpc>
            </a:pPr>
            <a:r>
              <a:rPr lang="en-US" altLang="zh-CN" sz="2000" b="1" dirty="0">
                <a:latin typeface="宋体" panose="02010600030101010101" pitchFamily="2" charset="-122"/>
                <a:ea typeface="宋体" panose="02010600030101010101" pitchFamily="2" charset="-122"/>
              </a:rPr>
              <a:t>   }</a:t>
            </a:r>
          </a:p>
        </p:txBody>
      </p:sp>
    </p:spTree>
    <p:extLst>
      <p:ext uri="{BB962C8B-B14F-4D97-AF65-F5344CB8AC3E}">
        <p14:creationId xmlns:p14="http://schemas.microsoft.com/office/powerpoint/2010/main" val="161986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8B357DE-CAF9-7D9B-85DB-4F6C617A2E73}"/>
              </a:ext>
            </a:extLst>
          </p:cNvPr>
          <p:cNvSpPr txBox="1"/>
          <p:nvPr/>
        </p:nvSpPr>
        <p:spPr>
          <a:xfrm>
            <a:off x="4633876" y="618767"/>
            <a:ext cx="4008235" cy="540725"/>
          </a:xfrm>
          <a:prstGeom prst="rect">
            <a:avLst/>
          </a:prstGeom>
          <a:noFill/>
        </p:spPr>
        <p:txBody>
          <a:bodyPr wrap="square" rtlCol="0">
            <a:spAutoFit/>
          </a:bodyPr>
          <a:lstStyle/>
          <a:p>
            <a:pPr>
              <a:lnSpc>
                <a:spcPct val="120000"/>
              </a:lnSpc>
            </a:pPr>
            <a:r>
              <a:rPr lang="zh-CN" altLang="en-US" sz="2800" b="1" dirty="0">
                <a:latin typeface="宋体" panose="02010600030101010101" pitchFamily="2" charset="-122"/>
                <a:ea typeface="宋体" panose="02010600030101010101" pitchFamily="2" charset="-122"/>
              </a:rPr>
              <a:t>上机报告</a:t>
            </a:r>
            <a:endParaRPr lang="en-US" altLang="zh-CN" sz="2800" b="1" dirty="0">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DE43F369-5C06-0CB9-E73B-909B37F59241}"/>
              </a:ext>
            </a:extLst>
          </p:cNvPr>
          <p:cNvSpPr txBox="1"/>
          <p:nvPr/>
        </p:nvSpPr>
        <p:spPr>
          <a:xfrm>
            <a:off x="1021841" y="1637231"/>
            <a:ext cx="4756108" cy="2182329"/>
          </a:xfrm>
          <a:prstGeom prst="rect">
            <a:avLst/>
          </a:prstGeom>
          <a:noFill/>
        </p:spPr>
        <p:txBody>
          <a:bodyPr wrap="square">
            <a:spAutoFit/>
          </a:bodyPr>
          <a:lstStyle/>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上机目的</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基本原理和上机步骤</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上机结果</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讨论与分析</a:t>
            </a:r>
          </a:p>
          <a:p>
            <a:pPr marL="342900" lvl="0" indent="-342900" algn="just">
              <a:lnSpc>
                <a:spcPct val="140000"/>
              </a:lnSpc>
              <a:buFont typeface="+mj-ea"/>
              <a:buAutoNum type="ea1JpnKorPlain"/>
            </a:pPr>
            <a:r>
              <a:rPr lang="zh-CN" altLang="en-US" sz="2000" b="1"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000" b="1" kern="100" dirty="0">
                <a:effectLst/>
                <a:latin typeface="宋体" panose="02010600030101010101" pitchFamily="2" charset="-122"/>
                <a:ea typeface="宋体" panose="02010600030101010101" pitchFamily="2" charset="-122"/>
                <a:cs typeface="Times New Roman" panose="02020603050405020304" pitchFamily="18" charset="0"/>
              </a:rPr>
              <a:t>源程序代码</a:t>
            </a:r>
          </a:p>
        </p:txBody>
      </p:sp>
    </p:spTree>
    <p:extLst>
      <p:ext uri="{BB962C8B-B14F-4D97-AF65-F5344CB8AC3E}">
        <p14:creationId xmlns:p14="http://schemas.microsoft.com/office/powerpoint/2010/main" val="1834520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C8C33F8-B1B0-017B-6AEE-52443C384C4F}"/>
              </a:ext>
            </a:extLst>
          </p:cNvPr>
          <p:cNvSpPr txBox="1"/>
          <p:nvPr/>
        </p:nvSpPr>
        <p:spPr>
          <a:xfrm>
            <a:off x="5638799" y="2971800"/>
            <a:ext cx="3690257" cy="923330"/>
          </a:xfrm>
          <a:prstGeom prst="rect">
            <a:avLst/>
          </a:prstGeom>
          <a:noFill/>
        </p:spPr>
        <p:txBody>
          <a:bodyPr wrap="square" rtlCol="0">
            <a:spAutoFit/>
          </a:bodyPr>
          <a:lstStyle/>
          <a:p>
            <a:r>
              <a:rPr lang="zh-CN" altLang="en-US" dirty="0"/>
              <a:t>遇到的问题：</a:t>
            </a:r>
            <a:endParaRPr lang="en-US" altLang="zh-CN" dirty="0"/>
          </a:p>
          <a:p>
            <a:r>
              <a:rPr lang="en-US" altLang="zh-CN" dirty="0"/>
              <a:t>1.&gt;= &lt;= != </a:t>
            </a:r>
            <a:r>
              <a:rPr lang="zh-CN" altLang="en-US" dirty="0"/>
              <a:t>的实现问题</a:t>
            </a:r>
            <a:endParaRPr lang="en-US" altLang="zh-CN" dirty="0"/>
          </a:p>
          <a:p>
            <a:r>
              <a:rPr lang="en-US" altLang="zh-CN" dirty="0"/>
              <a:t>2.++ -- </a:t>
            </a:r>
            <a:r>
              <a:rPr lang="zh-CN" altLang="en-US"/>
              <a:t>的问题</a:t>
            </a:r>
            <a:endParaRPr lang="zh-CN" altLang="en-US" dirty="0"/>
          </a:p>
        </p:txBody>
      </p:sp>
    </p:spTree>
    <p:extLst>
      <p:ext uri="{BB962C8B-B14F-4D97-AF65-F5344CB8AC3E}">
        <p14:creationId xmlns:p14="http://schemas.microsoft.com/office/powerpoint/2010/main" val="14231244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TotalTime>
  <Words>513</Words>
  <Application>Microsoft Office PowerPoint</Application>
  <PresentationFormat>宽屏</PresentationFormat>
  <Paragraphs>44</Paragraphs>
  <Slides>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等线</vt:lpstr>
      <vt:lpstr>等线 Light</vt:lpstr>
      <vt:lpstr>宋体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xinlei wang</dc:creator>
  <cp:lastModifiedBy>清晨 张</cp:lastModifiedBy>
  <cp:revision>9</cp:revision>
  <dcterms:created xsi:type="dcterms:W3CDTF">2024-04-10T02:48:11Z</dcterms:created>
  <dcterms:modified xsi:type="dcterms:W3CDTF">2024-04-27T06:58:51Z</dcterms:modified>
</cp:coreProperties>
</file>
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6" r:id="rId6"/>
    <p:sldId id="267" r:id="rId7"/>
    <p:sldId id="270" r:id="rId8"/>
    <p:sldId id="268" r:id="rId9"/>
    <p:sldId id="271" r:id="rId10"/>
    <p:sldId id="269" r:id="rId11"/>
    <p:sldId id="265"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87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3A9BA5-F3AA-B097-CB0A-A98ACF0ABF6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1FAB39E-5146-1AC7-97B9-591FD59501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1E82EEB-7466-42C8-9DC5-0C591D88DC18}"/>
              </a:ext>
            </a:extLst>
          </p:cNvPr>
          <p:cNvSpPr>
            <a:spLocks noGrp="1"/>
          </p:cNvSpPr>
          <p:nvPr>
            <p:ph type="dt" sz="half" idx="10"/>
          </p:nvPr>
        </p:nvSpPr>
        <p:spPr/>
        <p:txBody>
          <a:bodyPr/>
          <a:lstStyle/>
          <a:p>
            <a:fld id="{277606BD-7706-484C-B197-F1844F6AAED4}"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17E2F0BC-F80D-B5E9-99A6-AC95DAE9C0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9725E8A-9DD3-87A0-1E5C-6EA57DF56418}"/>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1370422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810C6-A618-62CC-53A5-6D5958086B4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B39ADD9-078B-AF7D-0FF4-16A7B29B090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3351A89-56CD-B0A9-0B4B-2A5845B60D57}"/>
              </a:ext>
            </a:extLst>
          </p:cNvPr>
          <p:cNvSpPr>
            <a:spLocks noGrp="1"/>
          </p:cNvSpPr>
          <p:nvPr>
            <p:ph type="dt" sz="half" idx="10"/>
          </p:nvPr>
        </p:nvSpPr>
        <p:spPr/>
        <p:txBody>
          <a:bodyPr/>
          <a:lstStyle/>
          <a:p>
            <a:fld id="{277606BD-7706-484C-B197-F1844F6AAED4}"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AC9CBF92-831B-C6EB-CF4B-DA9D84C6C0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D9AD351-B7E5-B194-A17C-3F756F5E7B7D}"/>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269515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CB8D92-0A06-429B-7A52-DC56DA239B5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F68599E-8068-E3FD-97A7-1A26CF4BDF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762DB31-4AEB-311A-0A79-110424DD678C}"/>
              </a:ext>
            </a:extLst>
          </p:cNvPr>
          <p:cNvSpPr>
            <a:spLocks noGrp="1"/>
          </p:cNvSpPr>
          <p:nvPr>
            <p:ph type="dt" sz="half" idx="10"/>
          </p:nvPr>
        </p:nvSpPr>
        <p:spPr/>
        <p:txBody>
          <a:bodyPr/>
          <a:lstStyle/>
          <a:p>
            <a:fld id="{277606BD-7706-484C-B197-F1844F6AAED4}"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5522899D-0F93-E0E8-95C8-22944B5DE93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B59C24-E1A5-447F-9C4A-600CC133F386}"/>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95819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7F6956-1F9B-E3CE-8477-EEC7555AF2A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C21EBFC-CAF5-26BC-6167-7E84AFF37AF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E5ADEE1-95AD-3062-417D-3C1B2568E2F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00FA2E4-2655-F364-BB50-A90C08E68994}"/>
              </a:ext>
            </a:extLst>
          </p:cNvPr>
          <p:cNvSpPr>
            <a:spLocks noGrp="1"/>
          </p:cNvSpPr>
          <p:nvPr>
            <p:ph type="dt" sz="half" idx="10"/>
          </p:nvPr>
        </p:nvSpPr>
        <p:spPr/>
        <p:txBody>
          <a:bodyPr/>
          <a:lstStyle/>
          <a:p>
            <a:fld id="{277606BD-7706-484C-B197-F1844F6AAED4}" type="datetimeFigureOut">
              <a:rPr lang="zh-CN" altLang="en-US" smtClean="0"/>
              <a:t>2024/5/15</a:t>
            </a:fld>
            <a:endParaRPr lang="zh-CN" altLang="en-US"/>
          </a:p>
        </p:txBody>
      </p:sp>
      <p:sp>
        <p:nvSpPr>
          <p:cNvPr id="6" name="页脚占位符 5">
            <a:extLst>
              <a:ext uri="{FF2B5EF4-FFF2-40B4-BE49-F238E27FC236}">
                <a16:creationId xmlns:a16="http://schemas.microsoft.com/office/drawing/2014/main" id="{7CB35FC3-9839-1C32-32F3-10A07CAD580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B7ACDB0-1CD7-394C-C113-3B1025C84B42}"/>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2704387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34512D-EF06-0208-41AA-F6583EB6B90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F6AA477-0860-D665-C77A-C41A40CC2C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78B8CE7-34AF-92D8-A85C-2CB72347D7B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339A6C7-196E-F36C-EAF6-66E25F9755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D30E20B-D781-D885-2909-7AC06B01E2D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A566961-2000-890E-2B3F-51AD9D71332C}"/>
              </a:ext>
            </a:extLst>
          </p:cNvPr>
          <p:cNvSpPr>
            <a:spLocks noGrp="1"/>
          </p:cNvSpPr>
          <p:nvPr>
            <p:ph type="dt" sz="half" idx="10"/>
          </p:nvPr>
        </p:nvSpPr>
        <p:spPr/>
        <p:txBody>
          <a:bodyPr/>
          <a:lstStyle/>
          <a:p>
            <a:fld id="{277606BD-7706-484C-B197-F1844F6AAED4}" type="datetimeFigureOut">
              <a:rPr lang="zh-CN" altLang="en-US" smtClean="0"/>
              <a:t>2024/5/15</a:t>
            </a:fld>
            <a:endParaRPr lang="zh-CN" altLang="en-US"/>
          </a:p>
        </p:txBody>
      </p:sp>
      <p:sp>
        <p:nvSpPr>
          <p:cNvPr id="8" name="页脚占位符 7">
            <a:extLst>
              <a:ext uri="{FF2B5EF4-FFF2-40B4-BE49-F238E27FC236}">
                <a16:creationId xmlns:a16="http://schemas.microsoft.com/office/drawing/2014/main" id="{A6E79D48-A56A-49B1-DCC2-6CD84F7F1C7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9AF521E-9764-DEC0-A7C5-A872474BF268}"/>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4218857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A7A80F-CEA9-CF22-F4D1-EA2F4FFAA7D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79792E-1191-D7DC-0A55-E5197E91CAA9}"/>
              </a:ext>
            </a:extLst>
          </p:cNvPr>
          <p:cNvSpPr>
            <a:spLocks noGrp="1"/>
          </p:cNvSpPr>
          <p:nvPr>
            <p:ph type="dt" sz="half" idx="10"/>
          </p:nvPr>
        </p:nvSpPr>
        <p:spPr/>
        <p:txBody>
          <a:bodyPr/>
          <a:lstStyle/>
          <a:p>
            <a:fld id="{277606BD-7706-484C-B197-F1844F6AAED4}" type="datetimeFigureOut">
              <a:rPr lang="zh-CN" altLang="en-US" smtClean="0"/>
              <a:t>2024/5/15</a:t>
            </a:fld>
            <a:endParaRPr lang="zh-CN" altLang="en-US"/>
          </a:p>
        </p:txBody>
      </p:sp>
      <p:sp>
        <p:nvSpPr>
          <p:cNvPr id="4" name="页脚占位符 3">
            <a:extLst>
              <a:ext uri="{FF2B5EF4-FFF2-40B4-BE49-F238E27FC236}">
                <a16:creationId xmlns:a16="http://schemas.microsoft.com/office/drawing/2014/main" id="{51D5A12E-4C38-31E1-1148-EAB9663B88F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339979-75CF-ED90-9DFC-FEFA0CDD4138}"/>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3897768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74E4FE2-EA49-97FC-CFAD-E062FDB16B3B}"/>
              </a:ext>
            </a:extLst>
          </p:cNvPr>
          <p:cNvSpPr>
            <a:spLocks noGrp="1"/>
          </p:cNvSpPr>
          <p:nvPr>
            <p:ph type="dt" sz="half" idx="10"/>
          </p:nvPr>
        </p:nvSpPr>
        <p:spPr/>
        <p:txBody>
          <a:bodyPr/>
          <a:lstStyle/>
          <a:p>
            <a:fld id="{277606BD-7706-484C-B197-F1844F6AAED4}" type="datetimeFigureOut">
              <a:rPr lang="zh-CN" altLang="en-US" smtClean="0"/>
              <a:t>2024/5/15</a:t>
            </a:fld>
            <a:endParaRPr lang="zh-CN" altLang="en-US"/>
          </a:p>
        </p:txBody>
      </p:sp>
      <p:sp>
        <p:nvSpPr>
          <p:cNvPr id="3" name="页脚占位符 2">
            <a:extLst>
              <a:ext uri="{FF2B5EF4-FFF2-40B4-BE49-F238E27FC236}">
                <a16:creationId xmlns:a16="http://schemas.microsoft.com/office/drawing/2014/main" id="{2503358C-3A63-8B5E-D325-793A619F5EA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611B99-A5F6-4C69-C642-8D552E576406}"/>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3155163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026C24-5E8B-6379-3773-FB63921247C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00567A2-2816-757A-77F5-09470F71B6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07C6BFE-9D58-151F-1AFF-96ABC503FA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806E327-8D5A-74EB-75D1-82A44CA99396}"/>
              </a:ext>
            </a:extLst>
          </p:cNvPr>
          <p:cNvSpPr>
            <a:spLocks noGrp="1"/>
          </p:cNvSpPr>
          <p:nvPr>
            <p:ph type="dt" sz="half" idx="10"/>
          </p:nvPr>
        </p:nvSpPr>
        <p:spPr/>
        <p:txBody>
          <a:bodyPr/>
          <a:lstStyle/>
          <a:p>
            <a:fld id="{277606BD-7706-484C-B197-F1844F6AAED4}" type="datetimeFigureOut">
              <a:rPr lang="zh-CN" altLang="en-US" smtClean="0"/>
              <a:t>2024/5/15</a:t>
            </a:fld>
            <a:endParaRPr lang="zh-CN" altLang="en-US"/>
          </a:p>
        </p:txBody>
      </p:sp>
      <p:sp>
        <p:nvSpPr>
          <p:cNvPr id="6" name="页脚占位符 5">
            <a:extLst>
              <a:ext uri="{FF2B5EF4-FFF2-40B4-BE49-F238E27FC236}">
                <a16:creationId xmlns:a16="http://schemas.microsoft.com/office/drawing/2014/main" id="{00A42F60-2B99-DCA1-5BCC-B5DE97C3492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C147DB2-7C09-8DD8-1F04-2398BDF4B18A}"/>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4068762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0864CE-E9EE-7A94-FB88-D62C81F70A2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F3EF4A6-9F6A-3876-ED51-7A7D7A9374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850AFE4-FE63-4A9F-A4BC-9265EFCBF2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CBADF18-F9D2-1CCF-8088-F69DCA3FAF14}"/>
              </a:ext>
            </a:extLst>
          </p:cNvPr>
          <p:cNvSpPr>
            <a:spLocks noGrp="1"/>
          </p:cNvSpPr>
          <p:nvPr>
            <p:ph type="dt" sz="half" idx="10"/>
          </p:nvPr>
        </p:nvSpPr>
        <p:spPr/>
        <p:txBody>
          <a:bodyPr/>
          <a:lstStyle/>
          <a:p>
            <a:fld id="{277606BD-7706-484C-B197-F1844F6AAED4}" type="datetimeFigureOut">
              <a:rPr lang="zh-CN" altLang="en-US" smtClean="0"/>
              <a:t>2024/5/15</a:t>
            </a:fld>
            <a:endParaRPr lang="zh-CN" altLang="en-US"/>
          </a:p>
        </p:txBody>
      </p:sp>
      <p:sp>
        <p:nvSpPr>
          <p:cNvPr id="6" name="页脚占位符 5">
            <a:extLst>
              <a:ext uri="{FF2B5EF4-FFF2-40B4-BE49-F238E27FC236}">
                <a16:creationId xmlns:a16="http://schemas.microsoft.com/office/drawing/2014/main" id="{542D1057-E079-DD69-05E7-E629B76A5C8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855E5FE-B83A-4AB9-3782-45F6751AA300}"/>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631665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85011C-0FEB-3C46-C841-5DDB965327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DA4CA04-2C1C-150D-5DDF-E55833EDEA1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7B8F3E-0D97-6F35-0F4F-005B4EF6F794}"/>
              </a:ext>
            </a:extLst>
          </p:cNvPr>
          <p:cNvSpPr>
            <a:spLocks noGrp="1"/>
          </p:cNvSpPr>
          <p:nvPr>
            <p:ph type="dt" sz="half" idx="10"/>
          </p:nvPr>
        </p:nvSpPr>
        <p:spPr/>
        <p:txBody>
          <a:bodyPr/>
          <a:lstStyle/>
          <a:p>
            <a:fld id="{277606BD-7706-484C-B197-F1844F6AAED4}"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7D7A393A-FC29-5143-6065-821E22CC240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414473E-9685-C22A-0DEC-9A73D383680D}"/>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3925452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4D27F8A-1E3A-993B-7B08-C1FA134361D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994EB0C-56BB-B430-2CB4-BD0AD6D17E3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BE33C61-1374-CC21-AACF-1E96A84F5622}"/>
              </a:ext>
            </a:extLst>
          </p:cNvPr>
          <p:cNvSpPr>
            <a:spLocks noGrp="1"/>
          </p:cNvSpPr>
          <p:nvPr>
            <p:ph type="dt" sz="half" idx="10"/>
          </p:nvPr>
        </p:nvSpPr>
        <p:spPr/>
        <p:txBody>
          <a:bodyPr/>
          <a:lstStyle/>
          <a:p>
            <a:fld id="{277606BD-7706-484C-B197-F1844F6AAED4}"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49533DEE-1AC9-E321-0A2C-41138B3D958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D124E1A-2820-880A-FE80-B6A74BF7CB14}"/>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2380924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2FBBD8D-9BFD-830E-7D7F-645845F343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9C5949A-A41D-1590-E896-A5DF2F8C2B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BBD364B-E0D2-09BD-7D42-CCE9085D30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7606BD-7706-484C-B197-F1844F6AAED4}"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1E75AD67-4577-F292-A4CC-1CDF3F27E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ED9F800-D4A7-3CEA-28D5-A1F6E7CCC1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2125835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8B357DE-CAF9-7D9B-85DB-4F6C617A2E73}"/>
              </a:ext>
            </a:extLst>
          </p:cNvPr>
          <p:cNvSpPr txBox="1"/>
          <p:nvPr/>
        </p:nvSpPr>
        <p:spPr>
          <a:xfrm>
            <a:off x="4216432" y="632019"/>
            <a:ext cx="4629394" cy="540725"/>
          </a:xfrm>
          <a:prstGeom prst="rect">
            <a:avLst/>
          </a:prstGeom>
          <a:noFill/>
        </p:spPr>
        <p:txBody>
          <a:bodyPr wrap="square" rtlCol="0">
            <a:spAutoFit/>
          </a:bodyPr>
          <a:lstStyle/>
          <a:p>
            <a:pPr>
              <a:lnSpc>
                <a:spcPct val="120000"/>
              </a:lnSpc>
            </a:pPr>
            <a:r>
              <a:rPr lang="zh-CN" altLang="en-US" sz="2800" b="1" dirty="0">
                <a:latin typeface="宋体" panose="02010600030101010101" pitchFamily="2" charset="-122"/>
                <a:ea typeface="宋体" panose="02010600030101010101" pitchFamily="2" charset="-122"/>
              </a:rPr>
              <a:t>实验三：</a:t>
            </a:r>
            <a:r>
              <a:rPr lang="en-US" altLang="zh-CN" sz="2800" b="1" dirty="0">
                <a:latin typeface="宋体" panose="02010600030101010101" pitchFamily="2" charset="-122"/>
                <a:ea typeface="宋体" panose="02010600030101010101" pitchFamily="2" charset="-122"/>
              </a:rPr>
              <a:t>LR</a:t>
            </a:r>
            <a:r>
              <a:rPr lang="zh-CN" altLang="en-US" sz="2800" b="1" dirty="0">
                <a:latin typeface="宋体" panose="02010600030101010101" pitchFamily="2" charset="-122"/>
                <a:ea typeface="宋体" panose="02010600030101010101" pitchFamily="2" charset="-122"/>
              </a:rPr>
              <a:t>类语法分析</a:t>
            </a:r>
            <a:endParaRPr lang="en-US" altLang="zh-CN" sz="2800" b="1" dirty="0">
              <a:latin typeface="宋体" panose="02010600030101010101" pitchFamily="2" charset="-122"/>
              <a:ea typeface="宋体" panose="02010600030101010101" pitchFamily="2" charset="-122"/>
            </a:endParaRPr>
          </a:p>
        </p:txBody>
      </p:sp>
      <p:sp>
        <p:nvSpPr>
          <p:cNvPr id="7" name="文本框 6">
            <a:extLst>
              <a:ext uri="{FF2B5EF4-FFF2-40B4-BE49-F238E27FC236}">
                <a16:creationId xmlns:a16="http://schemas.microsoft.com/office/drawing/2014/main" id="{DE43F369-5C06-0CB9-E73B-909B37F59241}"/>
              </a:ext>
            </a:extLst>
          </p:cNvPr>
          <p:cNvSpPr txBox="1"/>
          <p:nvPr/>
        </p:nvSpPr>
        <p:spPr>
          <a:xfrm>
            <a:off x="1383918" y="1729997"/>
            <a:ext cx="9424164" cy="3474990"/>
          </a:xfrm>
          <a:prstGeom prst="rect">
            <a:avLst/>
          </a:prstGeom>
          <a:noFill/>
        </p:spPr>
        <p:txBody>
          <a:bodyPr wrap="square">
            <a:spAutoFit/>
          </a:bodyPr>
          <a:lstStyle/>
          <a:p>
            <a:pPr>
              <a:lnSpc>
                <a:spcPct val="140000"/>
              </a:lnSpc>
            </a:pPr>
            <a:r>
              <a:rPr lang="zh-CN" altLang="en-US" sz="2000" b="1" dirty="0">
                <a:latin typeface="宋体" panose="02010600030101010101" pitchFamily="2" charset="-122"/>
                <a:ea typeface="宋体" panose="02010600030101010101" pitchFamily="2" charset="-122"/>
              </a:rPr>
              <a:t>上机目的：</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设计并实现一个</a:t>
            </a:r>
            <a:r>
              <a:rPr lang="en-US" altLang="zh-CN" sz="2000" b="1" dirty="0">
                <a:latin typeface="宋体" panose="02010600030101010101" pitchFamily="2" charset="-122"/>
                <a:ea typeface="宋体" panose="02010600030101010101" pitchFamily="2" charset="-122"/>
              </a:rPr>
              <a:t>LR</a:t>
            </a:r>
            <a:r>
              <a:rPr lang="zh-CN" altLang="en-US" sz="2000" b="1" dirty="0">
                <a:latin typeface="宋体" panose="02010600030101010101" pitchFamily="2" charset="-122"/>
                <a:ea typeface="宋体" panose="02010600030101010101" pitchFamily="2" charset="-122"/>
              </a:rPr>
              <a:t>语法分析器，根据文法生成</a:t>
            </a:r>
            <a:r>
              <a:rPr lang="en-US" altLang="zh-CN" sz="2000" b="1" dirty="0">
                <a:latin typeface="宋体" panose="02010600030101010101" pitchFamily="2" charset="-122"/>
                <a:ea typeface="宋体" panose="02010600030101010101" pitchFamily="2" charset="-122"/>
              </a:rPr>
              <a:t>LR</a:t>
            </a:r>
            <a:r>
              <a:rPr lang="zh-CN" altLang="en-US" sz="2000" b="1" dirty="0">
                <a:latin typeface="宋体" panose="02010600030101010101" pitchFamily="2" charset="-122"/>
                <a:ea typeface="宋体" panose="02010600030101010101" pitchFamily="2" charset="-122"/>
              </a:rPr>
              <a:t>分析表，实现</a:t>
            </a:r>
            <a:r>
              <a:rPr lang="en-US" altLang="zh-CN" sz="2000" b="1" dirty="0">
                <a:latin typeface="宋体" panose="02010600030101010101" pitchFamily="2" charset="-122"/>
                <a:ea typeface="宋体" panose="02010600030101010101" pitchFamily="2" charset="-122"/>
              </a:rPr>
              <a:t>LR</a:t>
            </a:r>
            <a:r>
              <a:rPr lang="zh-CN" altLang="en-US" sz="2000" b="1" dirty="0">
                <a:latin typeface="宋体" panose="02010600030101010101" pitchFamily="2" charset="-122"/>
                <a:ea typeface="宋体" panose="02010600030101010101" pitchFamily="2" charset="-122"/>
              </a:rPr>
              <a:t>分析器的状态转移和语法归约操作，并对输入串进行语法分析。</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kern="100" dirty="0">
                <a:latin typeface="宋体" panose="02010600030101010101" pitchFamily="2" charset="-122"/>
                <a:ea typeface="宋体" panose="02010600030101010101" pitchFamily="2" charset="-122"/>
                <a:cs typeface="Times New Roman" panose="02020603050405020304" pitchFamily="18" charset="0"/>
              </a:rPr>
              <a:t>内容：</a:t>
            </a:r>
            <a:endParaRPr lang="en-US" altLang="zh-CN" sz="2000" b="1" kern="100" dirty="0">
              <a:latin typeface="宋体" panose="02010600030101010101" pitchFamily="2" charset="-122"/>
              <a:ea typeface="宋体" panose="02010600030101010101" pitchFamily="2" charset="-122"/>
              <a:cs typeface="Times New Roman" panose="02020603050405020304" pitchFamily="18" charset="0"/>
            </a:endParaRPr>
          </a:p>
          <a:p>
            <a:pPr>
              <a:lnSpc>
                <a:spcPct val="140000"/>
              </a:lnSpc>
            </a:pP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）了解常用的自底向上语法分析方法</a:t>
            </a:r>
          </a:p>
          <a:p>
            <a:pPr>
              <a:lnSpc>
                <a:spcPct val="140000"/>
              </a:lnSpc>
            </a:pP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）理解</a:t>
            </a:r>
            <a:r>
              <a:rPr lang="en-US" altLang="zh-CN" sz="2000" b="1" dirty="0">
                <a:latin typeface="宋体" panose="02010600030101010101" pitchFamily="2" charset="-122"/>
                <a:ea typeface="宋体" panose="02010600030101010101" pitchFamily="2" charset="-122"/>
              </a:rPr>
              <a:t>LR</a:t>
            </a:r>
            <a:r>
              <a:rPr lang="zh-CN" altLang="en-US" sz="2000" b="1" dirty="0">
                <a:latin typeface="宋体" panose="02010600030101010101" pitchFamily="2" charset="-122"/>
                <a:ea typeface="宋体" panose="02010600030101010101" pitchFamily="2" charset="-122"/>
              </a:rPr>
              <a:t>类分析法的基本原理；掌握</a:t>
            </a:r>
            <a:r>
              <a:rPr lang="en-US" altLang="zh-CN" sz="2000" b="1" dirty="0">
                <a:latin typeface="宋体" panose="02010600030101010101" pitchFamily="2" charset="-122"/>
                <a:ea typeface="宋体" panose="02010600030101010101" pitchFamily="2" charset="-122"/>
              </a:rPr>
              <a:t>LR</a:t>
            </a:r>
            <a:r>
              <a:rPr lang="zh-CN" altLang="en-US" sz="2000" b="1" dirty="0">
                <a:latin typeface="宋体" panose="02010600030101010101" pitchFamily="2" charset="-122"/>
                <a:ea typeface="宋体" panose="02010600030101010101" pitchFamily="2" charset="-122"/>
              </a:rPr>
              <a:t>分析中总控程序的实现方法；</a:t>
            </a:r>
          </a:p>
          <a:p>
            <a:pPr>
              <a:lnSpc>
                <a:spcPct val="140000"/>
              </a:lnSpc>
            </a:pP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3</a:t>
            </a:r>
            <a:r>
              <a:rPr lang="zh-CN" altLang="en-US" sz="2000" b="1" dirty="0">
                <a:latin typeface="宋体" panose="02010600030101010101" pitchFamily="2" charset="-122"/>
                <a:ea typeface="宋体" panose="02010600030101010101" pitchFamily="2" charset="-122"/>
              </a:rPr>
              <a:t>）通过设计、编制、调试一个</a:t>
            </a:r>
            <a:r>
              <a:rPr lang="en-US" altLang="zh-CN" sz="2000" b="1" dirty="0">
                <a:latin typeface="宋体" panose="02010600030101010101" pitchFamily="2" charset="-122"/>
                <a:ea typeface="宋体" panose="02010600030101010101" pitchFamily="2" charset="-122"/>
              </a:rPr>
              <a:t>LR</a:t>
            </a:r>
            <a:r>
              <a:rPr lang="zh-CN" altLang="en-US" sz="2000" b="1" dirty="0">
                <a:latin typeface="宋体" panose="02010600030101010101" pitchFamily="2" charset="-122"/>
                <a:ea typeface="宋体" panose="02010600030101010101" pitchFamily="2" charset="-122"/>
              </a:rPr>
              <a:t>分析程序，加深对</a:t>
            </a:r>
            <a:r>
              <a:rPr lang="en-US" altLang="zh-CN" sz="2000" b="1" dirty="0">
                <a:latin typeface="宋体" panose="02010600030101010101" pitchFamily="2" charset="-122"/>
                <a:ea typeface="宋体" panose="02010600030101010101" pitchFamily="2" charset="-122"/>
              </a:rPr>
              <a:t>LR</a:t>
            </a:r>
            <a:r>
              <a:rPr lang="zh-CN" altLang="en-US" sz="2000" b="1" dirty="0">
                <a:latin typeface="宋体" panose="02010600030101010101" pitchFamily="2" charset="-122"/>
                <a:ea typeface="宋体" panose="02010600030101010101" pitchFamily="2" charset="-122"/>
              </a:rPr>
              <a:t>类分析方法的理解，实现对单词序列进行语法检查和结构分析。</a:t>
            </a:r>
          </a:p>
        </p:txBody>
      </p:sp>
    </p:spTree>
    <p:extLst>
      <p:ext uri="{BB962C8B-B14F-4D97-AF65-F5344CB8AC3E}">
        <p14:creationId xmlns:p14="http://schemas.microsoft.com/office/powerpoint/2010/main" val="301850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163090C-289E-9BF9-CAD5-D6876E419E48}"/>
              </a:ext>
            </a:extLst>
          </p:cNvPr>
          <p:cNvSpPr txBox="1"/>
          <p:nvPr/>
        </p:nvSpPr>
        <p:spPr>
          <a:xfrm>
            <a:off x="1416092" y="1578167"/>
            <a:ext cx="9359815" cy="2613216"/>
          </a:xfrm>
          <a:prstGeom prst="rect">
            <a:avLst/>
          </a:prstGeom>
          <a:noFill/>
        </p:spPr>
        <p:txBody>
          <a:bodyPr wrap="square">
            <a:spAutoFit/>
          </a:bodyPr>
          <a:lstStyle/>
          <a:p>
            <a:pPr>
              <a:lnSpc>
                <a:spcPct val="140000"/>
              </a:lnSpc>
            </a:pPr>
            <a:r>
              <a:rPr lang="zh-CN" altLang="en-US" sz="2000" b="1" dirty="0">
                <a:latin typeface="宋体" panose="02010600030101010101" pitchFamily="2" charset="-122"/>
                <a:ea typeface="宋体" panose="02010600030101010101" pitchFamily="2" charset="-122"/>
              </a:rPr>
              <a:t>基本原理：</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采用自底向上的语法分析方法</a:t>
            </a:r>
            <a:r>
              <a:rPr lang="en-US" altLang="zh-CN" sz="2000" b="1" dirty="0">
                <a:latin typeface="宋体" panose="02010600030101010101" pitchFamily="2" charset="-122"/>
                <a:ea typeface="宋体" panose="02010600030101010101" pitchFamily="2" charset="-122"/>
              </a:rPr>
              <a:t>LR(k)</a:t>
            </a:r>
            <a:r>
              <a:rPr lang="zh-CN" altLang="en-US" sz="2000" b="1" dirty="0">
                <a:latin typeface="宋体" panose="02010600030101010101" pitchFamily="2" charset="-122"/>
                <a:ea typeface="宋体" panose="02010600030101010101" pitchFamily="2" charset="-122"/>
              </a:rPr>
              <a:t>方法，根据栈中的符号串和向前查看</a:t>
            </a:r>
            <a:r>
              <a:rPr lang="en-US" altLang="zh-CN" sz="2000" b="1" dirty="0">
                <a:latin typeface="宋体" panose="02010600030101010101" pitchFamily="2" charset="-122"/>
                <a:ea typeface="宋体" panose="02010600030101010101" pitchFamily="2" charset="-122"/>
              </a:rPr>
              <a:t>k</a:t>
            </a:r>
            <a:r>
              <a:rPr lang="zh-CN" altLang="en-US" sz="2000" b="1" dirty="0">
                <a:latin typeface="宋体" panose="02010600030101010101" pitchFamily="2" charset="-122"/>
                <a:ea typeface="宋体" panose="02010600030101010101" pitchFamily="2" charset="-122"/>
              </a:rPr>
              <a:t>个输入符号，就能唯一确定分析器的动作是移进还是归约，以及用哪个产生式进行归约。</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上机步骤：</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LR</a:t>
            </a:r>
            <a:r>
              <a:rPr lang="zh-CN" altLang="en-US" sz="2000" b="1" dirty="0">
                <a:latin typeface="宋体" panose="02010600030101010101" pitchFamily="2" charset="-122"/>
                <a:ea typeface="宋体" panose="02010600030101010101" pitchFamily="2" charset="-122"/>
              </a:rPr>
              <a:t>分析器的结构</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LR</a:t>
            </a:r>
            <a:r>
              <a:rPr lang="zh-CN" altLang="en-US" sz="2000" b="1" dirty="0">
                <a:latin typeface="宋体" panose="02010600030101010101" pitchFamily="2" charset="-122"/>
                <a:ea typeface="宋体" panose="02010600030101010101" pitchFamily="2" charset="-122"/>
              </a:rPr>
              <a:t>分析表的构造</a:t>
            </a:r>
            <a:endParaRPr lang="en-US" altLang="zh-CN" sz="2000" b="1" dirty="0">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731276C1-11EC-186F-8ECB-51648726A74F}"/>
              </a:ext>
            </a:extLst>
          </p:cNvPr>
          <p:cNvSpPr txBox="1"/>
          <p:nvPr/>
        </p:nvSpPr>
        <p:spPr>
          <a:xfrm>
            <a:off x="4216432" y="632019"/>
            <a:ext cx="4629394" cy="540725"/>
          </a:xfrm>
          <a:prstGeom prst="rect">
            <a:avLst/>
          </a:prstGeom>
          <a:noFill/>
        </p:spPr>
        <p:txBody>
          <a:bodyPr wrap="square" rtlCol="0">
            <a:spAutoFit/>
          </a:bodyPr>
          <a:lstStyle/>
          <a:p>
            <a:pPr>
              <a:lnSpc>
                <a:spcPct val="120000"/>
              </a:lnSpc>
            </a:pPr>
            <a:r>
              <a:rPr lang="zh-CN" altLang="en-US" sz="2800" b="1" dirty="0">
                <a:latin typeface="宋体" panose="02010600030101010101" pitchFamily="2" charset="-122"/>
                <a:ea typeface="宋体" panose="02010600030101010101" pitchFamily="2" charset="-122"/>
              </a:rPr>
              <a:t>实验三：</a:t>
            </a:r>
            <a:r>
              <a:rPr lang="en-US" altLang="zh-CN" sz="2800" b="1" dirty="0">
                <a:latin typeface="宋体" panose="02010600030101010101" pitchFamily="2" charset="-122"/>
                <a:ea typeface="宋体" panose="02010600030101010101" pitchFamily="2" charset="-122"/>
              </a:rPr>
              <a:t>LR</a:t>
            </a:r>
            <a:r>
              <a:rPr lang="zh-CN" altLang="en-US" sz="2800" b="1" dirty="0">
                <a:latin typeface="宋体" panose="02010600030101010101" pitchFamily="2" charset="-122"/>
                <a:ea typeface="宋体" panose="02010600030101010101" pitchFamily="2" charset="-122"/>
              </a:rPr>
              <a:t>类语法分析</a:t>
            </a:r>
            <a:endParaRPr lang="en-US" altLang="zh-CN" sz="28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751578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163090C-289E-9BF9-CAD5-D6876E419E48}"/>
              </a:ext>
            </a:extLst>
          </p:cNvPr>
          <p:cNvSpPr txBox="1"/>
          <p:nvPr/>
        </p:nvSpPr>
        <p:spPr>
          <a:xfrm>
            <a:off x="1133061" y="1358275"/>
            <a:ext cx="8756841" cy="3474990"/>
          </a:xfrm>
          <a:prstGeom prst="rect">
            <a:avLst/>
          </a:prstGeom>
          <a:noFill/>
        </p:spPr>
        <p:txBody>
          <a:bodyPr wrap="square">
            <a:spAutoFit/>
          </a:bodyPr>
          <a:lstStyle/>
          <a:p>
            <a:pPr>
              <a:lnSpc>
                <a:spcPct val="140000"/>
              </a:lnSpc>
            </a:pPr>
            <a:r>
              <a:rPr lang="zh-CN" altLang="en-US" sz="2000" b="1" dirty="0">
                <a:latin typeface="宋体" panose="02010600030101010101" pitchFamily="2" charset="-122"/>
                <a:ea typeface="宋体" panose="02010600030101010101" pitchFamily="2" charset="-122"/>
              </a:rPr>
              <a:t>要求：</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输入一个符号串，构造</a:t>
            </a:r>
            <a:r>
              <a:rPr lang="en-US" altLang="zh-CN" sz="2000" b="1" dirty="0">
                <a:latin typeface="宋体" panose="02010600030101010101" pitchFamily="2" charset="-122"/>
                <a:ea typeface="宋体" panose="02010600030101010101" pitchFamily="2" charset="-122"/>
              </a:rPr>
              <a:t>LR</a:t>
            </a:r>
            <a:r>
              <a:rPr lang="zh-CN" altLang="en-US" sz="2000" b="1" dirty="0">
                <a:latin typeface="宋体" panose="02010600030101010101" pitchFamily="2" charset="-122"/>
                <a:ea typeface="宋体" panose="02010600030101010101" pitchFamily="2" charset="-122"/>
              </a:rPr>
              <a:t>分析表，编写程序判断该符号串是否是文法的句子，并输出分析推导过程。</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构造文法的</a:t>
            </a:r>
            <a:r>
              <a:rPr lang="en-US" altLang="zh-CN" sz="2000" b="1" dirty="0">
                <a:latin typeface="宋体" panose="02010600030101010101" pitchFamily="2" charset="-122"/>
                <a:ea typeface="宋体" panose="02010600030101010101" pitchFamily="2" charset="-122"/>
              </a:rPr>
              <a:t>LR(1)</a:t>
            </a:r>
            <a:r>
              <a:rPr lang="zh-CN" altLang="en-US" sz="2000" b="1" dirty="0">
                <a:latin typeface="宋体" panose="02010600030101010101" pitchFamily="2" charset="-122"/>
                <a:ea typeface="宋体" panose="02010600030101010101" pitchFamily="2" charset="-122"/>
              </a:rPr>
              <a:t>分析表</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能够输入一个符号串</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3.</a:t>
            </a:r>
            <a:r>
              <a:rPr lang="zh-CN" altLang="en-US" sz="2000" b="1" dirty="0">
                <a:latin typeface="宋体" panose="02010600030101010101" pitchFamily="2" charset="-122"/>
                <a:ea typeface="宋体" panose="02010600030101010101" pitchFamily="2" charset="-122"/>
              </a:rPr>
              <a:t>输出分析推导过程</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4.</a:t>
            </a:r>
            <a:r>
              <a:rPr lang="zh-CN" altLang="en-US" sz="2000" b="1" dirty="0">
                <a:latin typeface="宋体" panose="02010600030101010101" pitchFamily="2" charset="-122"/>
                <a:ea typeface="宋体" panose="02010600030101010101" pitchFamily="2" charset="-122"/>
              </a:rPr>
              <a:t>程序代码及运行结果图</a:t>
            </a:r>
            <a:endParaRPr lang="en-US" altLang="zh-CN" sz="2000" b="1" dirty="0">
              <a:latin typeface="宋体" panose="02010600030101010101" pitchFamily="2" charset="-122"/>
              <a:ea typeface="宋体" panose="02010600030101010101" pitchFamily="2" charset="-122"/>
            </a:endParaRPr>
          </a:p>
          <a:p>
            <a:pPr>
              <a:lnSpc>
                <a:spcPct val="140000"/>
              </a:lnSpc>
            </a:pPr>
            <a:endParaRPr lang="en-US" altLang="zh-CN" sz="2000" b="1" dirty="0">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7691C65B-FA62-6CA8-37FF-5DC2BC0DF461}"/>
              </a:ext>
            </a:extLst>
          </p:cNvPr>
          <p:cNvSpPr txBox="1"/>
          <p:nvPr/>
        </p:nvSpPr>
        <p:spPr>
          <a:xfrm>
            <a:off x="4216432" y="632019"/>
            <a:ext cx="4629394" cy="540725"/>
          </a:xfrm>
          <a:prstGeom prst="rect">
            <a:avLst/>
          </a:prstGeom>
          <a:noFill/>
        </p:spPr>
        <p:txBody>
          <a:bodyPr wrap="square" rtlCol="0">
            <a:spAutoFit/>
          </a:bodyPr>
          <a:lstStyle/>
          <a:p>
            <a:pPr>
              <a:lnSpc>
                <a:spcPct val="120000"/>
              </a:lnSpc>
            </a:pPr>
            <a:r>
              <a:rPr lang="zh-CN" altLang="en-US" sz="2800" b="1" dirty="0">
                <a:latin typeface="宋体" panose="02010600030101010101" pitchFamily="2" charset="-122"/>
                <a:ea typeface="宋体" panose="02010600030101010101" pitchFamily="2" charset="-122"/>
              </a:rPr>
              <a:t>实验三：</a:t>
            </a:r>
            <a:r>
              <a:rPr lang="en-US" altLang="zh-CN" sz="2800" b="1" dirty="0">
                <a:latin typeface="宋体" panose="02010600030101010101" pitchFamily="2" charset="-122"/>
                <a:ea typeface="宋体" panose="02010600030101010101" pitchFamily="2" charset="-122"/>
              </a:rPr>
              <a:t>LR</a:t>
            </a:r>
            <a:r>
              <a:rPr lang="zh-CN" altLang="en-US" sz="2800" b="1" dirty="0">
                <a:latin typeface="宋体" panose="02010600030101010101" pitchFamily="2" charset="-122"/>
                <a:ea typeface="宋体" panose="02010600030101010101" pitchFamily="2" charset="-122"/>
              </a:rPr>
              <a:t>类语法分析</a:t>
            </a:r>
            <a:endParaRPr lang="en-US" altLang="zh-CN" sz="2800" b="1" dirty="0">
              <a:latin typeface="宋体" panose="02010600030101010101" pitchFamily="2" charset="-122"/>
              <a:ea typeface="宋体" panose="02010600030101010101" pitchFamily="2" charset="-122"/>
            </a:endParaRPr>
          </a:p>
        </p:txBody>
      </p:sp>
      <p:pic>
        <p:nvPicPr>
          <p:cNvPr id="8" name="图片 7">
            <a:extLst>
              <a:ext uri="{FF2B5EF4-FFF2-40B4-BE49-F238E27FC236}">
                <a16:creationId xmlns:a16="http://schemas.microsoft.com/office/drawing/2014/main" id="{97C11D6F-0CFF-9E0E-81DF-D844777713E3}"/>
              </a:ext>
            </a:extLst>
          </p:cNvPr>
          <p:cNvPicPr>
            <a:picLocks noChangeAspect="1"/>
          </p:cNvPicPr>
          <p:nvPr/>
        </p:nvPicPr>
        <p:blipFill rotWithShape="1">
          <a:blip r:embed="rId2">
            <a:extLst>
              <a:ext uri="{28A0092B-C50C-407E-A947-70E740481C1C}">
                <a14:useLocalDpi xmlns:a14="http://schemas.microsoft.com/office/drawing/2010/main" val="0"/>
              </a:ext>
            </a:extLst>
          </a:blip>
          <a:srcRect l="4106" t="27520" r="18019" b="30225"/>
          <a:stretch/>
        </p:blipFill>
        <p:spPr>
          <a:xfrm>
            <a:off x="6096000" y="3803374"/>
            <a:ext cx="5340626" cy="2173356"/>
          </a:xfrm>
          <a:prstGeom prst="rect">
            <a:avLst/>
          </a:prstGeom>
        </p:spPr>
      </p:pic>
    </p:spTree>
    <p:extLst>
      <p:ext uri="{BB962C8B-B14F-4D97-AF65-F5344CB8AC3E}">
        <p14:creationId xmlns:p14="http://schemas.microsoft.com/office/powerpoint/2010/main" val="3099449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163090C-289E-9BF9-CAD5-D6876E419E48}"/>
              </a:ext>
            </a:extLst>
          </p:cNvPr>
          <p:cNvSpPr txBox="1"/>
          <p:nvPr/>
        </p:nvSpPr>
        <p:spPr>
          <a:xfrm>
            <a:off x="950376" y="1649823"/>
            <a:ext cx="10291248" cy="3474990"/>
          </a:xfrm>
          <a:prstGeom prst="rect">
            <a:avLst/>
          </a:prstGeom>
          <a:noFill/>
        </p:spPr>
        <p:txBody>
          <a:bodyPr wrap="square">
            <a:spAutoFit/>
          </a:bodyPr>
          <a:lstStyle/>
          <a:p>
            <a:pPr>
              <a:lnSpc>
                <a:spcPct val="140000"/>
              </a:lnSpc>
            </a:pPr>
            <a:r>
              <a:rPr lang="zh-CN" altLang="en-US" sz="2000" b="1" dirty="0">
                <a:latin typeface="宋体" panose="02010600030101010101" pitchFamily="2" charset="-122"/>
                <a:ea typeface="宋体" panose="02010600030101010101" pitchFamily="2" charset="-122"/>
              </a:rPr>
              <a:t>文法</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S→E</a:t>
            </a:r>
          </a:p>
          <a:p>
            <a:pPr>
              <a:lnSpc>
                <a:spcPct val="140000"/>
              </a:lnSpc>
            </a:pPr>
            <a:r>
              <a:rPr lang="en-US" altLang="zh-CN" sz="2000" b="1" dirty="0">
                <a:latin typeface="宋体" panose="02010600030101010101" pitchFamily="2" charset="-122"/>
                <a:ea typeface="宋体" panose="02010600030101010101" pitchFamily="2" charset="-122"/>
              </a:rPr>
              <a:t>E→E+T</a:t>
            </a:r>
          </a:p>
          <a:p>
            <a:pPr>
              <a:lnSpc>
                <a:spcPct val="140000"/>
              </a:lnSpc>
            </a:pPr>
            <a:r>
              <a:rPr lang="en-US" altLang="zh-CN" sz="2000" b="1" dirty="0">
                <a:latin typeface="宋体" panose="02010600030101010101" pitchFamily="2" charset="-122"/>
                <a:ea typeface="宋体" panose="02010600030101010101" pitchFamily="2" charset="-122"/>
              </a:rPr>
              <a:t>E→T</a:t>
            </a:r>
          </a:p>
          <a:p>
            <a:pPr>
              <a:lnSpc>
                <a:spcPct val="140000"/>
              </a:lnSpc>
            </a:pPr>
            <a:r>
              <a:rPr lang="en-US" altLang="zh-CN" sz="2000" b="1" dirty="0">
                <a:latin typeface="宋体" panose="02010600030101010101" pitchFamily="2" charset="-122"/>
                <a:ea typeface="宋体" panose="02010600030101010101" pitchFamily="2" charset="-122"/>
              </a:rPr>
              <a:t>T→T*F</a:t>
            </a:r>
          </a:p>
          <a:p>
            <a:pPr>
              <a:lnSpc>
                <a:spcPct val="140000"/>
              </a:lnSpc>
            </a:pPr>
            <a:r>
              <a:rPr lang="en-US" altLang="zh-CN" sz="2000" b="1" dirty="0">
                <a:latin typeface="宋体" panose="02010600030101010101" pitchFamily="2" charset="-122"/>
                <a:ea typeface="宋体" panose="02010600030101010101" pitchFamily="2" charset="-122"/>
              </a:rPr>
              <a:t>T→F</a:t>
            </a:r>
          </a:p>
          <a:p>
            <a:pPr>
              <a:lnSpc>
                <a:spcPct val="140000"/>
              </a:lnSpc>
            </a:pPr>
            <a:r>
              <a:rPr lang="en-US" altLang="zh-CN" sz="2000" b="1" dirty="0">
                <a:latin typeface="宋体" panose="02010600030101010101" pitchFamily="2" charset="-122"/>
                <a:ea typeface="宋体" panose="02010600030101010101" pitchFamily="2" charset="-122"/>
              </a:rPr>
              <a:t>F→(E)</a:t>
            </a:r>
          </a:p>
          <a:p>
            <a:pPr>
              <a:lnSpc>
                <a:spcPct val="140000"/>
              </a:lnSpc>
            </a:pPr>
            <a:r>
              <a:rPr lang="en-US" altLang="zh-CN" sz="2000" b="1" dirty="0" err="1">
                <a:latin typeface="宋体" panose="02010600030101010101" pitchFamily="2" charset="-122"/>
                <a:ea typeface="宋体" panose="02010600030101010101" pitchFamily="2" charset="-122"/>
              </a:rPr>
              <a:t>F→i</a:t>
            </a:r>
            <a:endParaRPr lang="en-US" altLang="zh-CN" sz="2000" b="1" dirty="0">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55B24895-60B5-529C-E3DF-B08A4C255C11}"/>
              </a:ext>
            </a:extLst>
          </p:cNvPr>
          <p:cNvSpPr txBox="1"/>
          <p:nvPr/>
        </p:nvSpPr>
        <p:spPr>
          <a:xfrm>
            <a:off x="4216432" y="632019"/>
            <a:ext cx="4629394" cy="540725"/>
          </a:xfrm>
          <a:prstGeom prst="rect">
            <a:avLst/>
          </a:prstGeom>
          <a:noFill/>
        </p:spPr>
        <p:txBody>
          <a:bodyPr wrap="square" rtlCol="0">
            <a:spAutoFit/>
          </a:bodyPr>
          <a:lstStyle/>
          <a:p>
            <a:pPr>
              <a:lnSpc>
                <a:spcPct val="120000"/>
              </a:lnSpc>
            </a:pPr>
            <a:r>
              <a:rPr lang="zh-CN" altLang="en-US" sz="2800" b="1" dirty="0">
                <a:latin typeface="宋体" panose="02010600030101010101" pitchFamily="2" charset="-122"/>
                <a:ea typeface="宋体" panose="02010600030101010101" pitchFamily="2" charset="-122"/>
              </a:rPr>
              <a:t>实验三：</a:t>
            </a:r>
            <a:r>
              <a:rPr lang="en-US" altLang="zh-CN" sz="2800" b="1" dirty="0">
                <a:latin typeface="宋体" panose="02010600030101010101" pitchFamily="2" charset="-122"/>
                <a:ea typeface="宋体" panose="02010600030101010101" pitchFamily="2" charset="-122"/>
              </a:rPr>
              <a:t>LR</a:t>
            </a:r>
            <a:r>
              <a:rPr lang="zh-CN" altLang="en-US" sz="2800" b="1" dirty="0">
                <a:latin typeface="宋体" panose="02010600030101010101" pitchFamily="2" charset="-122"/>
                <a:ea typeface="宋体" panose="02010600030101010101" pitchFamily="2" charset="-122"/>
              </a:rPr>
              <a:t>类语法分析</a:t>
            </a:r>
            <a:endParaRPr lang="en-US" altLang="zh-CN" sz="28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61986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8B357DE-CAF9-7D9B-85DB-4F6C617A2E73}"/>
              </a:ext>
            </a:extLst>
          </p:cNvPr>
          <p:cNvSpPr txBox="1"/>
          <p:nvPr/>
        </p:nvSpPr>
        <p:spPr>
          <a:xfrm>
            <a:off x="4216432" y="632019"/>
            <a:ext cx="4629394" cy="540725"/>
          </a:xfrm>
          <a:prstGeom prst="rect">
            <a:avLst/>
          </a:prstGeom>
          <a:noFill/>
        </p:spPr>
        <p:txBody>
          <a:bodyPr wrap="square" rtlCol="0">
            <a:spAutoFit/>
          </a:bodyPr>
          <a:lstStyle/>
          <a:p>
            <a:pPr>
              <a:lnSpc>
                <a:spcPct val="120000"/>
              </a:lnSpc>
            </a:pPr>
            <a:r>
              <a:rPr lang="zh-CN" altLang="en-US" sz="2800" b="1" dirty="0">
                <a:latin typeface="宋体" panose="02010600030101010101" pitchFamily="2" charset="-122"/>
                <a:ea typeface="宋体" panose="02010600030101010101" pitchFamily="2" charset="-122"/>
              </a:rPr>
              <a:t>实验四：语义分析</a:t>
            </a:r>
            <a:endParaRPr lang="en-US" altLang="zh-CN" sz="2800" b="1" dirty="0">
              <a:latin typeface="宋体" panose="02010600030101010101" pitchFamily="2" charset="-122"/>
              <a:ea typeface="宋体" panose="02010600030101010101" pitchFamily="2" charset="-122"/>
            </a:endParaRPr>
          </a:p>
        </p:txBody>
      </p:sp>
      <p:sp>
        <p:nvSpPr>
          <p:cNvPr id="7" name="文本框 6">
            <a:extLst>
              <a:ext uri="{FF2B5EF4-FFF2-40B4-BE49-F238E27FC236}">
                <a16:creationId xmlns:a16="http://schemas.microsoft.com/office/drawing/2014/main" id="{DE43F369-5C06-0CB9-E73B-909B37F59241}"/>
              </a:ext>
            </a:extLst>
          </p:cNvPr>
          <p:cNvSpPr txBox="1"/>
          <p:nvPr/>
        </p:nvSpPr>
        <p:spPr>
          <a:xfrm>
            <a:off x="1383918" y="1729997"/>
            <a:ext cx="9424164" cy="3474990"/>
          </a:xfrm>
          <a:prstGeom prst="rect">
            <a:avLst/>
          </a:prstGeom>
          <a:noFill/>
        </p:spPr>
        <p:txBody>
          <a:bodyPr wrap="square">
            <a:spAutoFit/>
          </a:bodyPr>
          <a:lstStyle/>
          <a:p>
            <a:pPr>
              <a:lnSpc>
                <a:spcPct val="140000"/>
              </a:lnSpc>
            </a:pPr>
            <a:r>
              <a:rPr lang="zh-CN" altLang="en-US" sz="2000" b="1" dirty="0">
                <a:latin typeface="宋体" panose="02010600030101010101" pitchFamily="2" charset="-122"/>
                <a:ea typeface="宋体" panose="02010600030101010101" pitchFamily="2" charset="-122"/>
              </a:rPr>
              <a:t>上机目的：</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通过上机实习，加深对语法制导翻译原理的理解，掌握将语法分析所识别的语法范畴变换为某种中间代码的语义翻译方法。</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kern="100" dirty="0">
                <a:latin typeface="宋体" panose="02010600030101010101" pitchFamily="2" charset="-122"/>
                <a:ea typeface="宋体" panose="02010600030101010101" pitchFamily="2" charset="-122"/>
                <a:cs typeface="Times New Roman" panose="02020603050405020304" pitchFamily="18" charset="0"/>
              </a:rPr>
              <a:t>内容：</a:t>
            </a:r>
            <a:endParaRPr lang="en-US" altLang="zh-CN" sz="2000" b="1" kern="100" dirty="0">
              <a:latin typeface="宋体" panose="02010600030101010101" pitchFamily="2" charset="-122"/>
              <a:ea typeface="宋体" panose="02010600030101010101" pitchFamily="2" charset="-122"/>
              <a:cs typeface="Times New Roman" panose="02020603050405020304" pitchFamily="18" charset="0"/>
            </a:endParaRPr>
          </a:p>
          <a:p>
            <a:pPr>
              <a:lnSpc>
                <a:spcPct val="140000"/>
              </a:lnSpc>
            </a:pP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）选用目前普遍采用的语义分析方法</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语法制导翻译技术；</a:t>
            </a:r>
          </a:p>
          <a:p>
            <a:pPr>
              <a:lnSpc>
                <a:spcPct val="140000"/>
              </a:lnSpc>
            </a:pP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）语义分析对象重点考虑经过语法分析后已是正确的语法范畴，实习重点是语义子程序；</a:t>
            </a:r>
          </a:p>
          <a:p>
            <a:pPr>
              <a:lnSpc>
                <a:spcPct val="140000"/>
              </a:lnSpc>
            </a:pP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3</a:t>
            </a:r>
            <a:r>
              <a:rPr lang="zh-CN" altLang="en-US" sz="2000" b="1" dirty="0">
                <a:latin typeface="宋体" panose="02010600030101010101" pitchFamily="2" charset="-122"/>
                <a:ea typeface="宋体" panose="02010600030101010101" pitchFamily="2" charset="-122"/>
              </a:rPr>
              <a:t>）中间代码选用比较常见的形式，例如四元式、逆波兰式。</a:t>
            </a:r>
          </a:p>
        </p:txBody>
      </p:sp>
    </p:spTree>
    <p:extLst>
      <p:ext uri="{BB962C8B-B14F-4D97-AF65-F5344CB8AC3E}">
        <p14:creationId xmlns:p14="http://schemas.microsoft.com/office/powerpoint/2010/main" val="595770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163090C-289E-9BF9-CAD5-D6876E419E48}"/>
              </a:ext>
            </a:extLst>
          </p:cNvPr>
          <p:cNvSpPr txBox="1"/>
          <p:nvPr/>
        </p:nvSpPr>
        <p:spPr>
          <a:xfrm>
            <a:off x="1416092" y="1578167"/>
            <a:ext cx="9359815" cy="3044103"/>
          </a:xfrm>
          <a:prstGeom prst="rect">
            <a:avLst/>
          </a:prstGeom>
          <a:noFill/>
        </p:spPr>
        <p:txBody>
          <a:bodyPr wrap="square">
            <a:spAutoFit/>
          </a:bodyPr>
          <a:lstStyle/>
          <a:p>
            <a:pPr>
              <a:lnSpc>
                <a:spcPct val="140000"/>
              </a:lnSpc>
            </a:pPr>
            <a:r>
              <a:rPr lang="zh-CN" altLang="en-US" sz="2000" b="1" dirty="0">
                <a:latin typeface="宋体" panose="02010600030101010101" pitchFamily="2" charset="-122"/>
                <a:ea typeface="宋体" panose="02010600030101010101" pitchFamily="2" charset="-122"/>
              </a:rPr>
              <a:t>基本原理：</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语法制导翻译的基本思想：为每个产生式配上一个语义子程序，该子程序描述了一个产生式所对应的翻译工作。这些工作包括：生成中间代码，查填有关的符号表，检查和报错，修改编译程序某些工作变量的值等。在语法分析过程中，每当一个产生或用于匹配式进行归约时，就调用该产生式所对应的语义子程序，以完成既定的翻译任务。</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主要的中间代码有：逆波兰、四元式、三元式、简介三元式、树</a:t>
            </a:r>
            <a:endParaRPr lang="en-US" altLang="zh-CN" sz="2000" b="1" dirty="0">
              <a:latin typeface="宋体" panose="02010600030101010101" pitchFamily="2" charset="-122"/>
              <a:ea typeface="宋体" panose="02010600030101010101" pitchFamily="2" charset="-122"/>
            </a:endParaRPr>
          </a:p>
        </p:txBody>
      </p:sp>
      <p:sp>
        <p:nvSpPr>
          <p:cNvPr id="4" name="文本框 3">
            <a:extLst>
              <a:ext uri="{FF2B5EF4-FFF2-40B4-BE49-F238E27FC236}">
                <a16:creationId xmlns:a16="http://schemas.microsoft.com/office/drawing/2014/main" id="{E2A28FE7-43E3-AF7E-B790-8424DE83CF2C}"/>
              </a:ext>
            </a:extLst>
          </p:cNvPr>
          <p:cNvSpPr txBox="1"/>
          <p:nvPr/>
        </p:nvSpPr>
        <p:spPr>
          <a:xfrm>
            <a:off x="4216432" y="632019"/>
            <a:ext cx="4629394" cy="540725"/>
          </a:xfrm>
          <a:prstGeom prst="rect">
            <a:avLst/>
          </a:prstGeom>
          <a:noFill/>
        </p:spPr>
        <p:txBody>
          <a:bodyPr wrap="square" rtlCol="0">
            <a:spAutoFit/>
          </a:bodyPr>
          <a:lstStyle/>
          <a:p>
            <a:pPr>
              <a:lnSpc>
                <a:spcPct val="120000"/>
              </a:lnSpc>
            </a:pPr>
            <a:r>
              <a:rPr lang="zh-CN" altLang="en-US" sz="2800" b="1" dirty="0">
                <a:latin typeface="宋体" panose="02010600030101010101" pitchFamily="2" charset="-122"/>
                <a:ea typeface="宋体" panose="02010600030101010101" pitchFamily="2" charset="-122"/>
              </a:rPr>
              <a:t>实验四：语义分析</a:t>
            </a:r>
            <a:endParaRPr lang="en-US" altLang="zh-CN" sz="28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499246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163090C-289E-9BF9-CAD5-D6876E419E48}"/>
              </a:ext>
            </a:extLst>
          </p:cNvPr>
          <p:cNvSpPr txBox="1"/>
          <p:nvPr/>
        </p:nvSpPr>
        <p:spPr>
          <a:xfrm>
            <a:off x="306948" y="637197"/>
            <a:ext cx="11578104" cy="6060313"/>
          </a:xfrm>
          <a:prstGeom prst="rect">
            <a:avLst/>
          </a:prstGeom>
          <a:noFill/>
        </p:spPr>
        <p:txBody>
          <a:bodyPr wrap="square">
            <a:spAutoFit/>
          </a:bodyPr>
          <a:lstStyle/>
          <a:p>
            <a:pPr>
              <a:lnSpc>
                <a:spcPct val="140000"/>
              </a:lnSpc>
            </a:pPr>
            <a:r>
              <a:rPr lang="zh-CN" altLang="en-US" sz="2000" b="1" dirty="0">
                <a:latin typeface="宋体" panose="02010600030101010101" pitchFamily="2" charset="-122"/>
                <a:ea typeface="宋体" panose="02010600030101010101" pitchFamily="2" charset="-122"/>
              </a:rPr>
              <a:t>中缀表达式转后缀表达式（逆波兰式）步骤：</a:t>
            </a:r>
            <a:endParaRPr lang="en-US" altLang="zh-CN" sz="2000" b="1" dirty="0">
              <a:latin typeface="宋体" panose="02010600030101010101" pitchFamily="2" charset="-122"/>
              <a:ea typeface="宋体" panose="02010600030101010101" pitchFamily="2" charset="-122"/>
            </a:endParaRP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初始化两个栈：一个用于运算符的栈</a:t>
            </a:r>
            <a:r>
              <a:rPr lang="en-US" altLang="zh-CN" sz="2000" b="1" dirty="0">
                <a:latin typeface="宋体" panose="02010600030101010101" pitchFamily="2" charset="-122"/>
                <a:ea typeface="宋体" panose="02010600030101010101" pitchFamily="2" charset="-122"/>
              </a:rPr>
              <a:t>(S1)</a:t>
            </a:r>
            <a:r>
              <a:rPr lang="zh-CN" altLang="en-US" sz="2000" b="1" dirty="0">
                <a:latin typeface="宋体" panose="02010600030101010101" pitchFamily="2" charset="-122"/>
                <a:ea typeface="宋体" panose="02010600030101010101" pitchFamily="2" charset="-122"/>
              </a:rPr>
              <a:t>和一个用于操作数</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如数字</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的栈</a:t>
            </a:r>
            <a:r>
              <a:rPr lang="en-US" altLang="zh-CN" sz="2000" b="1" dirty="0">
                <a:latin typeface="宋体" panose="02010600030101010101" pitchFamily="2" charset="-122"/>
                <a:ea typeface="宋体" panose="02010600030101010101" pitchFamily="2" charset="-122"/>
              </a:rPr>
              <a:t>(S2)</a:t>
            </a:r>
            <a:r>
              <a:rPr lang="zh-CN" altLang="en-US" sz="2000" b="1" dirty="0">
                <a:latin typeface="宋体" panose="02010600030101010101" pitchFamily="2" charset="-122"/>
                <a:ea typeface="宋体" panose="02010600030101010101" pitchFamily="2" charset="-122"/>
              </a:rPr>
              <a:t>。</a:t>
            </a: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从左到右扫描中缀表达式的每个字符。</a:t>
            </a: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遇到操作数（如数字）时，直接将其压入操作数栈</a:t>
            </a:r>
            <a:r>
              <a:rPr lang="en-US" altLang="zh-CN" sz="2000" b="1" dirty="0">
                <a:latin typeface="宋体" panose="02010600030101010101" pitchFamily="2" charset="-122"/>
                <a:ea typeface="宋体" panose="02010600030101010101" pitchFamily="2" charset="-122"/>
              </a:rPr>
              <a:t>(S2)</a:t>
            </a:r>
            <a:r>
              <a:rPr lang="zh-CN" altLang="en-US" sz="2000" b="1" dirty="0">
                <a:latin typeface="宋体" panose="02010600030101010101" pitchFamily="2" charset="-122"/>
                <a:ea typeface="宋体" panose="02010600030101010101" pitchFamily="2" charset="-122"/>
              </a:rPr>
              <a:t>。</a:t>
            </a: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遇到运算符时，比较其与运算符栈</a:t>
            </a:r>
            <a:r>
              <a:rPr lang="en-US" altLang="zh-CN" sz="2000" b="1" dirty="0">
                <a:latin typeface="宋体" panose="02010600030101010101" pitchFamily="2" charset="-122"/>
                <a:ea typeface="宋体" panose="02010600030101010101" pitchFamily="2" charset="-122"/>
              </a:rPr>
              <a:t>(S1)</a:t>
            </a:r>
            <a:r>
              <a:rPr lang="zh-CN" altLang="en-US" sz="2000" b="1" dirty="0">
                <a:latin typeface="宋体" panose="02010600030101010101" pitchFamily="2" charset="-122"/>
                <a:ea typeface="宋体" panose="02010600030101010101" pitchFamily="2" charset="-122"/>
              </a:rPr>
              <a:t>栈顶运算符的优先级：如果运算符栈</a:t>
            </a:r>
            <a:r>
              <a:rPr lang="en-US" altLang="zh-CN" sz="2000" b="1" dirty="0">
                <a:latin typeface="宋体" panose="02010600030101010101" pitchFamily="2" charset="-122"/>
                <a:ea typeface="宋体" panose="02010600030101010101" pitchFamily="2" charset="-122"/>
              </a:rPr>
              <a:t>(S1)</a:t>
            </a:r>
            <a:r>
              <a:rPr lang="zh-CN" altLang="en-US" sz="2000" b="1" dirty="0">
                <a:latin typeface="宋体" panose="02010600030101010101" pitchFamily="2" charset="-122"/>
                <a:ea typeface="宋体" panose="02010600030101010101" pitchFamily="2" charset="-122"/>
              </a:rPr>
              <a:t>为空，或栈顶运算符为左括号“</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，或者优先级比栈顶运算符的优先级较高，则直接将此运算符压入栈中。</a:t>
            </a: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否则，将运算符栈</a:t>
            </a:r>
            <a:r>
              <a:rPr lang="en-US" altLang="zh-CN" sz="2000" b="1" dirty="0">
                <a:latin typeface="宋体" panose="02010600030101010101" pitchFamily="2" charset="-122"/>
                <a:ea typeface="宋体" panose="02010600030101010101" pitchFamily="2" charset="-122"/>
              </a:rPr>
              <a:t>(S1)</a:t>
            </a:r>
            <a:r>
              <a:rPr lang="zh-CN" altLang="en-US" sz="2000" b="1" dirty="0">
                <a:latin typeface="宋体" panose="02010600030101010101" pitchFamily="2" charset="-122"/>
                <a:ea typeface="宋体" panose="02010600030101010101" pitchFamily="2" charset="-122"/>
              </a:rPr>
              <a:t>中栈顶的运算符弹入并压到操作数栈</a:t>
            </a:r>
            <a:r>
              <a:rPr lang="en-US" altLang="zh-CN" sz="2000" b="1" dirty="0">
                <a:latin typeface="宋体" panose="02010600030101010101" pitchFamily="2" charset="-122"/>
                <a:ea typeface="宋体" panose="02010600030101010101" pitchFamily="2" charset="-122"/>
              </a:rPr>
              <a:t>(S2)</a:t>
            </a:r>
            <a:r>
              <a:rPr lang="zh-CN" altLang="en-US" sz="2000" b="1" dirty="0">
                <a:latin typeface="宋体" panose="02010600030101010101" pitchFamily="2" charset="-122"/>
                <a:ea typeface="宋体" panose="02010600030101010101" pitchFamily="2" charset="-122"/>
              </a:rPr>
              <a:t>，再次进行与运算符栈</a:t>
            </a:r>
            <a:r>
              <a:rPr lang="en-US" altLang="zh-CN" sz="2000" b="1" dirty="0">
                <a:latin typeface="宋体" panose="02010600030101010101" pitchFamily="2" charset="-122"/>
                <a:ea typeface="宋体" panose="02010600030101010101" pitchFamily="2" charset="-122"/>
              </a:rPr>
              <a:t>(S1)</a:t>
            </a:r>
            <a:r>
              <a:rPr lang="zh-CN" altLang="en-US" sz="2000" b="1" dirty="0">
                <a:latin typeface="宋体" panose="02010600030101010101" pitchFamily="2" charset="-122"/>
                <a:ea typeface="宋体" panose="02010600030101010101" pitchFamily="2" charset="-122"/>
              </a:rPr>
              <a:t>栈顶运算符的优先级比较。</a:t>
            </a: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遇到括号时，如果遇到了左括号“</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，则直接压入运算符栈</a:t>
            </a:r>
            <a:r>
              <a:rPr lang="en-US" altLang="zh-CN" sz="2000" b="1" dirty="0">
                <a:latin typeface="宋体" panose="02010600030101010101" pitchFamily="2" charset="-122"/>
                <a:ea typeface="宋体" panose="02010600030101010101" pitchFamily="2" charset="-122"/>
              </a:rPr>
              <a:t>(S1)</a:t>
            </a:r>
            <a:r>
              <a:rPr lang="zh-CN" altLang="en-US" sz="2000" b="1" dirty="0">
                <a:latin typeface="宋体" panose="02010600030101010101" pitchFamily="2" charset="-122"/>
                <a:ea typeface="宋体" panose="02010600030101010101" pitchFamily="2" charset="-122"/>
              </a:rPr>
              <a:t>。如果遇到右括号“</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，则依次弹出运算符栈</a:t>
            </a:r>
            <a:r>
              <a:rPr lang="en-US" altLang="zh-CN" sz="2000" b="1" dirty="0">
                <a:latin typeface="宋体" panose="02010600030101010101" pitchFamily="2" charset="-122"/>
                <a:ea typeface="宋体" panose="02010600030101010101" pitchFamily="2" charset="-122"/>
              </a:rPr>
              <a:t>(S1)</a:t>
            </a:r>
            <a:r>
              <a:rPr lang="zh-CN" altLang="en-US" sz="2000" b="1" dirty="0">
                <a:latin typeface="宋体" panose="02010600030101010101" pitchFamily="2" charset="-122"/>
                <a:ea typeface="宋体" panose="02010600030101010101" pitchFamily="2" charset="-122"/>
              </a:rPr>
              <a:t>栈顶的运算符，并压入操作数栈</a:t>
            </a:r>
            <a:r>
              <a:rPr lang="en-US" altLang="zh-CN" sz="2000" b="1" dirty="0">
                <a:latin typeface="宋体" panose="02010600030101010101" pitchFamily="2" charset="-122"/>
                <a:ea typeface="宋体" panose="02010600030101010101" pitchFamily="2" charset="-122"/>
              </a:rPr>
              <a:t>(S2)</a:t>
            </a:r>
            <a:r>
              <a:rPr lang="zh-CN" altLang="en-US" sz="2000" b="1" dirty="0">
                <a:latin typeface="宋体" panose="02010600030101010101" pitchFamily="2" charset="-122"/>
                <a:ea typeface="宋体" panose="02010600030101010101" pitchFamily="2" charset="-122"/>
              </a:rPr>
              <a:t>，直到遇到左括号“</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为止，此时将这一对括号丢弃。</a:t>
            </a: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重复上述步骤直到表达式的最右边。</a:t>
            </a: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将运算符栈</a:t>
            </a:r>
            <a:r>
              <a:rPr lang="en-US" altLang="zh-CN" sz="2000" b="1" dirty="0">
                <a:latin typeface="宋体" panose="02010600030101010101" pitchFamily="2" charset="-122"/>
                <a:ea typeface="宋体" panose="02010600030101010101" pitchFamily="2" charset="-122"/>
              </a:rPr>
              <a:t>(S1)</a:t>
            </a:r>
            <a:r>
              <a:rPr lang="zh-CN" altLang="en-US" sz="2000" b="1" dirty="0">
                <a:latin typeface="宋体" panose="02010600030101010101" pitchFamily="2" charset="-122"/>
                <a:ea typeface="宋体" panose="02010600030101010101" pitchFamily="2" charset="-122"/>
              </a:rPr>
              <a:t>剩余的运算符依次弹出并压入操作数栈</a:t>
            </a:r>
            <a:r>
              <a:rPr lang="en-US" altLang="zh-CN" sz="2000" b="1" dirty="0">
                <a:latin typeface="宋体" panose="02010600030101010101" pitchFamily="2" charset="-122"/>
                <a:ea typeface="宋体" panose="02010600030101010101" pitchFamily="2" charset="-122"/>
              </a:rPr>
              <a:t>(S2)</a:t>
            </a:r>
            <a:r>
              <a:rPr lang="zh-CN" altLang="en-US" sz="2000" b="1" dirty="0">
                <a:latin typeface="宋体" panose="02010600030101010101" pitchFamily="2" charset="-122"/>
                <a:ea typeface="宋体" panose="02010600030101010101" pitchFamily="2" charset="-122"/>
              </a:rPr>
              <a:t>。</a:t>
            </a: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拼接操作数栈</a:t>
            </a:r>
            <a:r>
              <a:rPr lang="en-US" altLang="zh-CN" sz="2000" b="1" dirty="0">
                <a:latin typeface="宋体" panose="02010600030101010101" pitchFamily="2" charset="-122"/>
                <a:ea typeface="宋体" panose="02010600030101010101" pitchFamily="2" charset="-122"/>
              </a:rPr>
              <a:t>(S2)</a:t>
            </a:r>
            <a:r>
              <a:rPr lang="zh-CN" altLang="en-US" sz="2000" b="1" dirty="0">
                <a:latin typeface="宋体" panose="02010600030101010101" pitchFamily="2" charset="-122"/>
                <a:ea typeface="宋体" panose="02010600030101010101" pitchFamily="2" charset="-122"/>
              </a:rPr>
              <a:t>中的元素并输出，结果即为中缀表达式所对应的后缀表达式。</a:t>
            </a:r>
          </a:p>
        </p:txBody>
      </p:sp>
      <p:sp>
        <p:nvSpPr>
          <p:cNvPr id="4" name="文本框 3">
            <a:extLst>
              <a:ext uri="{FF2B5EF4-FFF2-40B4-BE49-F238E27FC236}">
                <a16:creationId xmlns:a16="http://schemas.microsoft.com/office/drawing/2014/main" id="{2922A5B7-4372-5423-E0A6-A93CFA13C443}"/>
              </a:ext>
            </a:extLst>
          </p:cNvPr>
          <p:cNvSpPr txBox="1"/>
          <p:nvPr/>
        </p:nvSpPr>
        <p:spPr>
          <a:xfrm>
            <a:off x="4236528" y="109505"/>
            <a:ext cx="4629394" cy="540725"/>
          </a:xfrm>
          <a:prstGeom prst="rect">
            <a:avLst/>
          </a:prstGeom>
          <a:noFill/>
        </p:spPr>
        <p:txBody>
          <a:bodyPr wrap="square" rtlCol="0">
            <a:spAutoFit/>
          </a:bodyPr>
          <a:lstStyle/>
          <a:p>
            <a:pPr>
              <a:lnSpc>
                <a:spcPct val="120000"/>
              </a:lnSpc>
            </a:pPr>
            <a:r>
              <a:rPr lang="zh-CN" altLang="en-US" sz="2800" b="1" dirty="0">
                <a:latin typeface="宋体" panose="02010600030101010101" pitchFamily="2" charset="-122"/>
                <a:ea typeface="宋体" panose="02010600030101010101" pitchFamily="2" charset="-122"/>
              </a:rPr>
              <a:t>实验四：语义分析</a:t>
            </a:r>
            <a:endParaRPr lang="en-US" altLang="zh-CN" sz="28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21558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163090C-289E-9BF9-CAD5-D6876E419E48}"/>
              </a:ext>
            </a:extLst>
          </p:cNvPr>
          <p:cNvSpPr txBox="1"/>
          <p:nvPr/>
        </p:nvSpPr>
        <p:spPr>
          <a:xfrm>
            <a:off x="171769" y="650230"/>
            <a:ext cx="11584802" cy="6060313"/>
          </a:xfrm>
          <a:prstGeom prst="rect">
            <a:avLst/>
          </a:prstGeom>
          <a:noFill/>
        </p:spPr>
        <p:txBody>
          <a:bodyPr wrap="square">
            <a:spAutoFit/>
          </a:bodyPr>
          <a:lstStyle/>
          <a:p>
            <a:pPr>
              <a:lnSpc>
                <a:spcPct val="140000"/>
              </a:lnSpc>
            </a:pPr>
            <a:r>
              <a:rPr lang="zh-CN" altLang="en-US" sz="2000" b="1" dirty="0">
                <a:latin typeface="宋体" panose="02010600030101010101" pitchFamily="2" charset="-122"/>
                <a:ea typeface="宋体" panose="02010600030101010101" pitchFamily="2" charset="-122"/>
              </a:rPr>
              <a:t>逆波兰式计算的步骤：</a:t>
            </a:r>
            <a:endParaRPr lang="en-US" altLang="zh-CN" sz="2000" b="1" dirty="0">
              <a:latin typeface="宋体" panose="02010600030101010101" pitchFamily="2" charset="-122"/>
              <a:ea typeface="宋体" panose="02010600030101010101" pitchFamily="2" charset="-122"/>
            </a:endParaRP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初始化两个栈：一个用于运算符的栈</a:t>
            </a:r>
            <a:r>
              <a:rPr lang="en-US" altLang="zh-CN" sz="2000" b="1" dirty="0">
                <a:latin typeface="宋体" panose="02010600030101010101" pitchFamily="2" charset="-122"/>
                <a:ea typeface="宋体" panose="02010600030101010101" pitchFamily="2" charset="-122"/>
              </a:rPr>
              <a:t>(S1)</a:t>
            </a:r>
            <a:r>
              <a:rPr lang="zh-CN" altLang="en-US" sz="2000" b="1" dirty="0">
                <a:latin typeface="宋体" panose="02010600030101010101" pitchFamily="2" charset="-122"/>
                <a:ea typeface="宋体" panose="02010600030101010101" pitchFamily="2" charset="-122"/>
              </a:rPr>
              <a:t>和一个用于操作数</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如数字</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的栈</a:t>
            </a:r>
            <a:r>
              <a:rPr lang="en-US" altLang="zh-CN" sz="2000" b="1" dirty="0">
                <a:latin typeface="宋体" panose="02010600030101010101" pitchFamily="2" charset="-122"/>
                <a:ea typeface="宋体" panose="02010600030101010101" pitchFamily="2" charset="-122"/>
              </a:rPr>
              <a:t>(S2)</a:t>
            </a:r>
            <a:r>
              <a:rPr lang="zh-CN" altLang="en-US" sz="2000" b="1" dirty="0">
                <a:latin typeface="宋体" panose="02010600030101010101" pitchFamily="2" charset="-122"/>
                <a:ea typeface="宋体" panose="02010600030101010101" pitchFamily="2" charset="-122"/>
              </a:rPr>
              <a:t>。</a:t>
            </a: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从左到右扫描中缀表达式的每个字符。</a:t>
            </a: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遇到操作数（如数字）时，直接将其压入操作数栈</a:t>
            </a:r>
            <a:r>
              <a:rPr lang="en-US" altLang="zh-CN" sz="2000" b="1" dirty="0">
                <a:latin typeface="宋体" panose="02010600030101010101" pitchFamily="2" charset="-122"/>
                <a:ea typeface="宋体" panose="02010600030101010101" pitchFamily="2" charset="-122"/>
              </a:rPr>
              <a:t>(S2)</a:t>
            </a:r>
            <a:r>
              <a:rPr lang="zh-CN" altLang="en-US" sz="2000" b="1" dirty="0">
                <a:latin typeface="宋体" panose="02010600030101010101" pitchFamily="2" charset="-122"/>
                <a:ea typeface="宋体" panose="02010600030101010101" pitchFamily="2" charset="-122"/>
              </a:rPr>
              <a:t>。</a:t>
            </a: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遇到运算符时，比较其与运算符栈</a:t>
            </a:r>
            <a:r>
              <a:rPr lang="en-US" altLang="zh-CN" sz="2000" b="1" dirty="0">
                <a:latin typeface="宋体" panose="02010600030101010101" pitchFamily="2" charset="-122"/>
                <a:ea typeface="宋体" panose="02010600030101010101" pitchFamily="2" charset="-122"/>
              </a:rPr>
              <a:t>(S1)</a:t>
            </a:r>
            <a:r>
              <a:rPr lang="zh-CN" altLang="en-US" sz="2000" b="1" dirty="0">
                <a:latin typeface="宋体" panose="02010600030101010101" pitchFamily="2" charset="-122"/>
                <a:ea typeface="宋体" panose="02010600030101010101" pitchFamily="2" charset="-122"/>
              </a:rPr>
              <a:t>栈顶运算符的优先级：如果运算符栈</a:t>
            </a:r>
            <a:r>
              <a:rPr lang="en-US" altLang="zh-CN" sz="2000" b="1" dirty="0">
                <a:latin typeface="宋体" panose="02010600030101010101" pitchFamily="2" charset="-122"/>
                <a:ea typeface="宋体" panose="02010600030101010101" pitchFamily="2" charset="-122"/>
              </a:rPr>
              <a:t>(S1)</a:t>
            </a:r>
            <a:r>
              <a:rPr lang="zh-CN" altLang="en-US" sz="2000" b="1" dirty="0">
                <a:latin typeface="宋体" panose="02010600030101010101" pitchFamily="2" charset="-122"/>
                <a:ea typeface="宋体" panose="02010600030101010101" pitchFamily="2" charset="-122"/>
              </a:rPr>
              <a:t>为空，或栈顶运算符为左括号“</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，或者优先级比栈顶运算符的优先级较高，则直接将此运算符压入栈中。</a:t>
            </a: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否则，将运算符栈</a:t>
            </a:r>
            <a:r>
              <a:rPr lang="en-US" altLang="zh-CN" sz="2000" b="1" dirty="0">
                <a:latin typeface="宋体" panose="02010600030101010101" pitchFamily="2" charset="-122"/>
                <a:ea typeface="宋体" panose="02010600030101010101" pitchFamily="2" charset="-122"/>
              </a:rPr>
              <a:t>(S1)</a:t>
            </a:r>
            <a:r>
              <a:rPr lang="zh-CN" altLang="en-US" sz="2000" b="1" dirty="0">
                <a:latin typeface="宋体" panose="02010600030101010101" pitchFamily="2" charset="-122"/>
                <a:ea typeface="宋体" panose="02010600030101010101" pitchFamily="2" charset="-122"/>
              </a:rPr>
              <a:t>中栈顶的运算符弹入并压到操作数栈</a:t>
            </a:r>
            <a:r>
              <a:rPr lang="en-US" altLang="zh-CN" sz="2000" b="1" dirty="0">
                <a:latin typeface="宋体" panose="02010600030101010101" pitchFamily="2" charset="-122"/>
                <a:ea typeface="宋体" panose="02010600030101010101" pitchFamily="2" charset="-122"/>
              </a:rPr>
              <a:t>(S2)</a:t>
            </a:r>
            <a:r>
              <a:rPr lang="zh-CN" altLang="en-US" sz="2000" b="1" dirty="0">
                <a:latin typeface="宋体" panose="02010600030101010101" pitchFamily="2" charset="-122"/>
                <a:ea typeface="宋体" panose="02010600030101010101" pitchFamily="2" charset="-122"/>
              </a:rPr>
              <a:t>，再次进行与运算符栈</a:t>
            </a:r>
            <a:r>
              <a:rPr lang="en-US" altLang="zh-CN" sz="2000" b="1" dirty="0">
                <a:latin typeface="宋体" panose="02010600030101010101" pitchFamily="2" charset="-122"/>
                <a:ea typeface="宋体" panose="02010600030101010101" pitchFamily="2" charset="-122"/>
              </a:rPr>
              <a:t>(S1)</a:t>
            </a:r>
            <a:r>
              <a:rPr lang="zh-CN" altLang="en-US" sz="2000" b="1" dirty="0">
                <a:latin typeface="宋体" panose="02010600030101010101" pitchFamily="2" charset="-122"/>
                <a:ea typeface="宋体" panose="02010600030101010101" pitchFamily="2" charset="-122"/>
              </a:rPr>
              <a:t>栈顶运算符的优先级比较。</a:t>
            </a: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遇到括号时，如果遇到了左括号“</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，则直接压入运算符栈</a:t>
            </a:r>
            <a:r>
              <a:rPr lang="en-US" altLang="zh-CN" sz="2000" b="1" dirty="0">
                <a:latin typeface="宋体" panose="02010600030101010101" pitchFamily="2" charset="-122"/>
                <a:ea typeface="宋体" panose="02010600030101010101" pitchFamily="2" charset="-122"/>
              </a:rPr>
              <a:t>(S1)</a:t>
            </a:r>
            <a:r>
              <a:rPr lang="zh-CN" altLang="en-US" sz="2000" b="1" dirty="0">
                <a:latin typeface="宋体" panose="02010600030101010101" pitchFamily="2" charset="-122"/>
                <a:ea typeface="宋体" panose="02010600030101010101" pitchFamily="2" charset="-122"/>
              </a:rPr>
              <a:t>。如果遇到右括号“</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，则依次弹出运算符栈</a:t>
            </a:r>
            <a:r>
              <a:rPr lang="en-US" altLang="zh-CN" sz="2000" b="1" dirty="0">
                <a:latin typeface="宋体" panose="02010600030101010101" pitchFamily="2" charset="-122"/>
                <a:ea typeface="宋体" panose="02010600030101010101" pitchFamily="2" charset="-122"/>
              </a:rPr>
              <a:t>(S1)</a:t>
            </a:r>
            <a:r>
              <a:rPr lang="zh-CN" altLang="en-US" sz="2000" b="1" dirty="0">
                <a:latin typeface="宋体" panose="02010600030101010101" pitchFamily="2" charset="-122"/>
                <a:ea typeface="宋体" panose="02010600030101010101" pitchFamily="2" charset="-122"/>
              </a:rPr>
              <a:t>栈顶的运算符，并压入操作数栈</a:t>
            </a:r>
            <a:r>
              <a:rPr lang="en-US" altLang="zh-CN" sz="2000" b="1" dirty="0">
                <a:latin typeface="宋体" panose="02010600030101010101" pitchFamily="2" charset="-122"/>
                <a:ea typeface="宋体" panose="02010600030101010101" pitchFamily="2" charset="-122"/>
              </a:rPr>
              <a:t>(S2)</a:t>
            </a:r>
            <a:r>
              <a:rPr lang="zh-CN" altLang="en-US" sz="2000" b="1" dirty="0">
                <a:latin typeface="宋体" panose="02010600030101010101" pitchFamily="2" charset="-122"/>
                <a:ea typeface="宋体" panose="02010600030101010101" pitchFamily="2" charset="-122"/>
              </a:rPr>
              <a:t>，直到遇到左括号“</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为止，此时将这一对括号丢弃。</a:t>
            </a: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重复上述步骤直到表达式的最右边。</a:t>
            </a: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将运算符栈</a:t>
            </a:r>
            <a:r>
              <a:rPr lang="en-US" altLang="zh-CN" sz="2000" b="1" dirty="0">
                <a:latin typeface="宋体" panose="02010600030101010101" pitchFamily="2" charset="-122"/>
                <a:ea typeface="宋体" panose="02010600030101010101" pitchFamily="2" charset="-122"/>
              </a:rPr>
              <a:t>(S1)</a:t>
            </a:r>
            <a:r>
              <a:rPr lang="zh-CN" altLang="en-US" sz="2000" b="1" dirty="0">
                <a:latin typeface="宋体" panose="02010600030101010101" pitchFamily="2" charset="-122"/>
                <a:ea typeface="宋体" panose="02010600030101010101" pitchFamily="2" charset="-122"/>
              </a:rPr>
              <a:t>剩余的运算符依次弹出并压入操作数栈</a:t>
            </a:r>
            <a:r>
              <a:rPr lang="en-US" altLang="zh-CN" sz="2000" b="1" dirty="0">
                <a:latin typeface="宋体" panose="02010600030101010101" pitchFamily="2" charset="-122"/>
                <a:ea typeface="宋体" panose="02010600030101010101" pitchFamily="2" charset="-122"/>
              </a:rPr>
              <a:t>(S2)</a:t>
            </a:r>
            <a:r>
              <a:rPr lang="zh-CN" altLang="en-US" sz="2000" b="1" dirty="0">
                <a:latin typeface="宋体" panose="02010600030101010101" pitchFamily="2" charset="-122"/>
                <a:ea typeface="宋体" panose="02010600030101010101" pitchFamily="2" charset="-122"/>
              </a:rPr>
              <a:t>。</a:t>
            </a:r>
          </a:p>
          <a:p>
            <a:pPr>
              <a:lnSpc>
                <a:spcPct val="140000"/>
              </a:lnSpc>
              <a:buFont typeface="+mj-lt"/>
              <a:buAutoNum type="arabicPeriod"/>
            </a:pPr>
            <a:r>
              <a:rPr lang="zh-CN" altLang="en-US" sz="2000" b="1" dirty="0">
                <a:latin typeface="宋体" panose="02010600030101010101" pitchFamily="2" charset="-122"/>
                <a:ea typeface="宋体" panose="02010600030101010101" pitchFamily="2" charset="-122"/>
              </a:rPr>
              <a:t>拼接操作数栈</a:t>
            </a:r>
            <a:r>
              <a:rPr lang="en-US" altLang="zh-CN" sz="2000" b="1" dirty="0">
                <a:latin typeface="宋体" panose="02010600030101010101" pitchFamily="2" charset="-122"/>
                <a:ea typeface="宋体" panose="02010600030101010101" pitchFamily="2" charset="-122"/>
              </a:rPr>
              <a:t>(S2)</a:t>
            </a:r>
            <a:r>
              <a:rPr lang="zh-CN" altLang="en-US" sz="2000" b="1" dirty="0">
                <a:latin typeface="宋体" panose="02010600030101010101" pitchFamily="2" charset="-122"/>
                <a:ea typeface="宋体" panose="02010600030101010101" pitchFamily="2" charset="-122"/>
              </a:rPr>
              <a:t>中的元素并输出，结果即为中缀表达式所对应的后缀表达式。</a:t>
            </a:r>
          </a:p>
        </p:txBody>
      </p:sp>
      <p:sp>
        <p:nvSpPr>
          <p:cNvPr id="5" name="文本框 4">
            <a:extLst>
              <a:ext uri="{FF2B5EF4-FFF2-40B4-BE49-F238E27FC236}">
                <a16:creationId xmlns:a16="http://schemas.microsoft.com/office/drawing/2014/main" id="{8507BB6C-113A-99C2-B2A9-F0B6102CAF49}"/>
              </a:ext>
            </a:extLst>
          </p:cNvPr>
          <p:cNvSpPr txBox="1"/>
          <p:nvPr/>
        </p:nvSpPr>
        <p:spPr>
          <a:xfrm>
            <a:off x="4236528" y="109505"/>
            <a:ext cx="4629394" cy="540725"/>
          </a:xfrm>
          <a:prstGeom prst="rect">
            <a:avLst/>
          </a:prstGeom>
          <a:noFill/>
        </p:spPr>
        <p:txBody>
          <a:bodyPr wrap="square" rtlCol="0">
            <a:spAutoFit/>
          </a:bodyPr>
          <a:lstStyle/>
          <a:p>
            <a:pPr>
              <a:lnSpc>
                <a:spcPct val="120000"/>
              </a:lnSpc>
            </a:pPr>
            <a:r>
              <a:rPr lang="zh-CN" altLang="en-US" sz="2800" b="1" dirty="0">
                <a:latin typeface="宋体" panose="02010600030101010101" pitchFamily="2" charset="-122"/>
                <a:ea typeface="宋体" panose="02010600030101010101" pitchFamily="2" charset="-122"/>
              </a:rPr>
              <a:t>实验四：语义分析</a:t>
            </a:r>
            <a:endParaRPr lang="en-US" altLang="zh-CN" sz="28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63371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163090C-289E-9BF9-CAD5-D6876E419E48}"/>
              </a:ext>
            </a:extLst>
          </p:cNvPr>
          <p:cNvSpPr txBox="1"/>
          <p:nvPr/>
        </p:nvSpPr>
        <p:spPr>
          <a:xfrm>
            <a:off x="1133061" y="1358275"/>
            <a:ext cx="8756841" cy="3044103"/>
          </a:xfrm>
          <a:prstGeom prst="rect">
            <a:avLst/>
          </a:prstGeom>
          <a:noFill/>
        </p:spPr>
        <p:txBody>
          <a:bodyPr wrap="square">
            <a:spAutoFit/>
          </a:bodyPr>
          <a:lstStyle/>
          <a:p>
            <a:pPr>
              <a:lnSpc>
                <a:spcPct val="140000"/>
              </a:lnSpc>
            </a:pPr>
            <a:r>
              <a:rPr lang="zh-CN" altLang="en-US" sz="2000" b="1" dirty="0">
                <a:latin typeface="宋体" panose="02010600030101010101" pitchFamily="2" charset="-122"/>
                <a:ea typeface="宋体" panose="02010600030101010101" pitchFamily="2" charset="-122"/>
              </a:rPr>
              <a:t>要求：</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输入中缀表达式，输出器后缀表达式及计算结果。</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能够任意输入一个中缀表达式</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能够输出其后缀表达式</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3.</a:t>
            </a:r>
            <a:r>
              <a:rPr lang="zh-CN" altLang="en-US" sz="2000" b="1" dirty="0">
                <a:latin typeface="宋体" panose="02010600030101010101" pitchFamily="2" charset="-122"/>
                <a:ea typeface="宋体" panose="02010600030101010101" pitchFamily="2" charset="-122"/>
              </a:rPr>
              <a:t>给出后缀表达式的计算结果</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4.</a:t>
            </a:r>
            <a:r>
              <a:rPr lang="zh-CN" altLang="en-US" sz="2000" b="1" dirty="0">
                <a:latin typeface="宋体" panose="02010600030101010101" pitchFamily="2" charset="-122"/>
                <a:ea typeface="宋体" panose="02010600030101010101" pitchFamily="2" charset="-122"/>
              </a:rPr>
              <a:t>程序代码及运行结果图</a:t>
            </a:r>
            <a:endParaRPr lang="en-US" altLang="zh-CN" sz="2000" b="1" dirty="0">
              <a:latin typeface="宋体" panose="02010600030101010101" pitchFamily="2" charset="-122"/>
              <a:ea typeface="宋体" panose="02010600030101010101" pitchFamily="2" charset="-122"/>
            </a:endParaRPr>
          </a:p>
          <a:p>
            <a:pPr>
              <a:lnSpc>
                <a:spcPct val="140000"/>
              </a:lnSpc>
            </a:pPr>
            <a:endParaRPr lang="en-US" altLang="zh-CN" sz="2000" b="1" dirty="0">
              <a:latin typeface="宋体" panose="02010600030101010101" pitchFamily="2" charset="-122"/>
              <a:ea typeface="宋体" panose="02010600030101010101" pitchFamily="2" charset="-122"/>
            </a:endParaRPr>
          </a:p>
        </p:txBody>
      </p:sp>
      <p:sp>
        <p:nvSpPr>
          <p:cNvPr id="4" name="文本框 3">
            <a:extLst>
              <a:ext uri="{FF2B5EF4-FFF2-40B4-BE49-F238E27FC236}">
                <a16:creationId xmlns:a16="http://schemas.microsoft.com/office/drawing/2014/main" id="{8D3C085E-0B2C-38FE-B0DE-6195F58E8E54}"/>
              </a:ext>
            </a:extLst>
          </p:cNvPr>
          <p:cNvSpPr txBox="1"/>
          <p:nvPr/>
        </p:nvSpPr>
        <p:spPr>
          <a:xfrm>
            <a:off x="4226480" y="441100"/>
            <a:ext cx="4629394" cy="540725"/>
          </a:xfrm>
          <a:prstGeom prst="rect">
            <a:avLst/>
          </a:prstGeom>
          <a:noFill/>
        </p:spPr>
        <p:txBody>
          <a:bodyPr wrap="square" rtlCol="0">
            <a:spAutoFit/>
          </a:bodyPr>
          <a:lstStyle/>
          <a:p>
            <a:pPr>
              <a:lnSpc>
                <a:spcPct val="120000"/>
              </a:lnSpc>
            </a:pPr>
            <a:r>
              <a:rPr lang="zh-CN" altLang="en-US" sz="2800" b="1" dirty="0">
                <a:latin typeface="宋体" panose="02010600030101010101" pitchFamily="2" charset="-122"/>
                <a:ea typeface="宋体" panose="02010600030101010101" pitchFamily="2" charset="-122"/>
              </a:rPr>
              <a:t>实验四：语义分析</a:t>
            </a:r>
            <a:endParaRPr lang="en-US" altLang="zh-CN" sz="2800" b="1" dirty="0">
              <a:latin typeface="宋体" panose="02010600030101010101" pitchFamily="2" charset="-122"/>
              <a:ea typeface="宋体" panose="02010600030101010101" pitchFamily="2" charset="-122"/>
            </a:endParaRPr>
          </a:p>
        </p:txBody>
      </p:sp>
      <p:pic>
        <p:nvPicPr>
          <p:cNvPr id="6" name="图片 5">
            <a:extLst>
              <a:ext uri="{FF2B5EF4-FFF2-40B4-BE49-F238E27FC236}">
                <a16:creationId xmlns:a16="http://schemas.microsoft.com/office/drawing/2014/main" id="{4BF71834-F6E5-998D-1359-08096AA3A576}"/>
              </a:ext>
            </a:extLst>
          </p:cNvPr>
          <p:cNvPicPr>
            <a:picLocks noChangeAspect="1"/>
          </p:cNvPicPr>
          <p:nvPr/>
        </p:nvPicPr>
        <p:blipFill rotWithShape="1">
          <a:blip r:embed="rId2">
            <a:extLst>
              <a:ext uri="{28A0092B-C50C-407E-A947-70E740481C1C}">
                <a14:useLocalDpi xmlns:a14="http://schemas.microsoft.com/office/drawing/2010/main" val="0"/>
              </a:ext>
            </a:extLst>
          </a:blip>
          <a:srcRect l="9756" t="31197" r="12881" b="23757"/>
          <a:stretch/>
        </p:blipFill>
        <p:spPr>
          <a:xfrm>
            <a:off x="5657221" y="3182742"/>
            <a:ext cx="5781219" cy="2524721"/>
          </a:xfrm>
          <a:prstGeom prst="rect">
            <a:avLst/>
          </a:prstGeom>
        </p:spPr>
      </p:pic>
    </p:spTree>
    <p:extLst>
      <p:ext uri="{BB962C8B-B14F-4D97-AF65-F5344CB8AC3E}">
        <p14:creationId xmlns:p14="http://schemas.microsoft.com/office/powerpoint/2010/main" val="2430047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163090C-289E-9BF9-CAD5-D6876E419E48}"/>
              </a:ext>
            </a:extLst>
          </p:cNvPr>
          <p:cNvSpPr txBox="1"/>
          <p:nvPr/>
        </p:nvSpPr>
        <p:spPr>
          <a:xfrm>
            <a:off x="950376" y="1649823"/>
            <a:ext cx="10291248" cy="2182329"/>
          </a:xfrm>
          <a:prstGeom prst="rect">
            <a:avLst/>
          </a:prstGeom>
          <a:noFill/>
        </p:spPr>
        <p:txBody>
          <a:bodyPr wrap="square">
            <a:spAutoFit/>
          </a:bodyPr>
          <a:lstStyle/>
          <a:p>
            <a:pPr>
              <a:lnSpc>
                <a:spcPct val="140000"/>
              </a:lnSpc>
            </a:pPr>
            <a:r>
              <a:rPr lang="zh-CN" altLang="en-US" sz="2000" b="1" dirty="0">
                <a:latin typeface="宋体" panose="02010600030101010101" pitchFamily="2" charset="-122"/>
                <a:ea typeface="宋体" panose="02010600030101010101" pitchFamily="2" charset="-122"/>
              </a:rPr>
              <a:t>输入：</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(28+68)*2#</a:t>
            </a:r>
          </a:p>
          <a:p>
            <a:pPr>
              <a:lnSpc>
                <a:spcPct val="140000"/>
              </a:lnSpc>
            </a:pPr>
            <a:r>
              <a:rPr lang="en-US" altLang="zh-CN" sz="2000" b="1" dirty="0">
                <a:latin typeface="宋体" panose="02010600030101010101" pitchFamily="2" charset="-122"/>
                <a:ea typeface="宋体" panose="02010600030101010101" pitchFamily="2" charset="-122"/>
              </a:rPr>
              <a:t> 23+35*6#</a:t>
            </a:r>
          </a:p>
          <a:p>
            <a:pPr>
              <a:lnSpc>
                <a:spcPct val="140000"/>
              </a:lnSpc>
            </a:pPr>
            <a:r>
              <a:rPr lang="zh-CN" altLang="en-US" sz="2000" b="1" dirty="0">
                <a:latin typeface="宋体" panose="02010600030101010101" pitchFamily="2" charset="-122"/>
                <a:ea typeface="宋体" panose="02010600030101010101" pitchFamily="2" charset="-122"/>
              </a:rPr>
              <a:t>输出逆波兰式及计算结果</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备注：在生成的逆波兰式中如果两个数相连则用空格分隔，如</a:t>
            </a:r>
            <a:r>
              <a:rPr lang="en-US" altLang="zh-CN" sz="2000" b="1" dirty="0">
                <a:latin typeface="宋体" panose="02010600030101010101" pitchFamily="2" charset="-122"/>
                <a:ea typeface="宋体" panose="02010600030101010101" pitchFamily="2" charset="-122"/>
              </a:rPr>
              <a:t>28 68</a:t>
            </a:r>
          </a:p>
        </p:txBody>
      </p:sp>
      <p:sp>
        <p:nvSpPr>
          <p:cNvPr id="4" name="文本框 3">
            <a:extLst>
              <a:ext uri="{FF2B5EF4-FFF2-40B4-BE49-F238E27FC236}">
                <a16:creationId xmlns:a16="http://schemas.microsoft.com/office/drawing/2014/main" id="{D2E13F33-392F-81C3-E42F-0FAEE2F80A3C}"/>
              </a:ext>
            </a:extLst>
          </p:cNvPr>
          <p:cNvSpPr txBox="1"/>
          <p:nvPr/>
        </p:nvSpPr>
        <p:spPr>
          <a:xfrm>
            <a:off x="4216432" y="632019"/>
            <a:ext cx="4629394" cy="540725"/>
          </a:xfrm>
          <a:prstGeom prst="rect">
            <a:avLst/>
          </a:prstGeom>
          <a:noFill/>
        </p:spPr>
        <p:txBody>
          <a:bodyPr wrap="square" rtlCol="0">
            <a:spAutoFit/>
          </a:bodyPr>
          <a:lstStyle/>
          <a:p>
            <a:pPr>
              <a:lnSpc>
                <a:spcPct val="120000"/>
              </a:lnSpc>
            </a:pPr>
            <a:r>
              <a:rPr lang="zh-CN" altLang="en-US" sz="2800" b="1" dirty="0">
                <a:latin typeface="宋体" panose="02010600030101010101" pitchFamily="2" charset="-122"/>
                <a:ea typeface="宋体" panose="02010600030101010101" pitchFamily="2" charset="-122"/>
              </a:rPr>
              <a:t>实验四：语义分析</a:t>
            </a:r>
            <a:endParaRPr lang="en-US" altLang="zh-CN" sz="28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237906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8B357DE-CAF9-7D9B-85DB-4F6C617A2E73}"/>
              </a:ext>
            </a:extLst>
          </p:cNvPr>
          <p:cNvSpPr txBox="1"/>
          <p:nvPr/>
        </p:nvSpPr>
        <p:spPr>
          <a:xfrm>
            <a:off x="4633876" y="618767"/>
            <a:ext cx="4008235" cy="540725"/>
          </a:xfrm>
          <a:prstGeom prst="rect">
            <a:avLst/>
          </a:prstGeom>
          <a:noFill/>
        </p:spPr>
        <p:txBody>
          <a:bodyPr wrap="square" rtlCol="0">
            <a:spAutoFit/>
          </a:bodyPr>
          <a:lstStyle/>
          <a:p>
            <a:pPr>
              <a:lnSpc>
                <a:spcPct val="120000"/>
              </a:lnSpc>
            </a:pPr>
            <a:r>
              <a:rPr lang="zh-CN" altLang="en-US" sz="2800" b="1" dirty="0">
                <a:latin typeface="宋体" panose="02010600030101010101" pitchFamily="2" charset="-122"/>
                <a:ea typeface="宋体" panose="02010600030101010101" pitchFamily="2" charset="-122"/>
              </a:rPr>
              <a:t>上机报告</a:t>
            </a:r>
            <a:endParaRPr lang="en-US" altLang="zh-CN" sz="2800" b="1" dirty="0">
              <a:latin typeface="宋体" panose="02010600030101010101" pitchFamily="2" charset="-122"/>
              <a:ea typeface="宋体" panose="02010600030101010101" pitchFamily="2" charset="-122"/>
            </a:endParaRPr>
          </a:p>
        </p:txBody>
      </p:sp>
      <p:sp>
        <p:nvSpPr>
          <p:cNvPr id="7" name="文本框 6">
            <a:extLst>
              <a:ext uri="{FF2B5EF4-FFF2-40B4-BE49-F238E27FC236}">
                <a16:creationId xmlns:a16="http://schemas.microsoft.com/office/drawing/2014/main" id="{DE43F369-5C06-0CB9-E73B-909B37F59241}"/>
              </a:ext>
            </a:extLst>
          </p:cNvPr>
          <p:cNvSpPr txBox="1"/>
          <p:nvPr/>
        </p:nvSpPr>
        <p:spPr>
          <a:xfrm>
            <a:off x="1021841" y="1637231"/>
            <a:ext cx="4756108" cy="2182329"/>
          </a:xfrm>
          <a:prstGeom prst="rect">
            <a:avLst/>
          </a:prstGeom>
          <a:noFill/>
        </p:spPr>
        <p:txBody>
          <a:bodyPr wrap="square">
            <a:spAutoFit/>
          </a:bodyPr>
          <a:lstStyle/>
          <a:p>
            <a:pPr marL="342900" lvl="0" indent="-342900" algn="just">
              <a:lnSpc>
                <a:spcPct val="140000"/>
              </a:lnSpc>
              <a:buFont typeface="+mj-ea"/>
              <a:buAutoNum type="ea1JpnKorPlain"/>
            </a:pPr>
            <a:r>
              <a:rPr lang="zh-CN" altLang="en-US" sz="2000" b="1"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2000" b="1" kern="100" dirty="0">
                <a:effectLst/>
                <a:latin typeface="宋体" panose="02010600030101010101" pitchFamily="2" charset="-122"/>
                <a:ea typeface="宋体" panose="02010600030101010101" pitchFamily="2" charset="-122"/>
                <a:cs typeface="Times New Roman" panose="02020603050405020304" pitchFamily="18" charset="0"/>
              </a:rPr>
              <a:t>上机目的</a:t>
            </a:r>
          </a:p>
          <a:p>
            <a:pPr marL="342900" lvl="0" indent="-342900" algn="just">
              <a:lnSpc>
                <a:spcPct val="140000"/>
              </a:lnSpc>
              <a:buFont typeface="+mj-ea"/>
              <a:buAutoNum type="ea1JpnKorPlain"/>
            </a:pPr>
            <a:r>
              <a:rPr lang="zh-CN" altLang="en-US" sz="2000" b="1"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2000" b="1" kern="100" dirty="0">
                <a:effectLst/>
                <a:latin typeface="宋体" panose="02010600030101010101" pitchFamily="2" charset="-122"/>
                <a:ea typeface="宋体" panose="02010600030101010101" pitchFamily="2" charset="-122"/>
                <a:cs typeface="Times New Roman" panose="02020603050405020304" pitchFamily="18" charset="0"/>
              </a:rPr>
              <a:t>基本原理和上机步骤</a:t>
            </a:r>
          </a:p>
          <a:p>
            <a:pPr marL="342900" lvl="0" indent="-342900" algn="just">
              <a:lnSpc>
                <a:spcPct val="140000"/>
              </a:lnSpc>
              <a:buFont typeface="+mj-ea"/>
              <a:buAutoNum type="ea1JpnKorPlain"/>
            </a:pPr>
            <a:r>
              <a:rPr lang="zh-CN" altLang="en-US" sz="2000" b="1"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2000" b="1" kern="100" dirty="0">
                <a:effectLst/>
                <a:latin typeface="宋体" panose="02010600030101010101" pitchFamily="2" charset="-122"/>
                <a:ea typeface="宋体" panose="02010600030101010101" pitchFamily="2" charset="-122"/>
                <a:cs typeface="Times New Roman" panose="02020603050405020304" pitchFamily="18" charset="0"/>
              </a:rPr>
              <a:t>上机结果</a:t>
            </a:r>
          </a:p>
          <a:p>
            <a:pPr marL="342900" lvl="0" indent="-342900" algn="just">
              <a:lnSpc>
                <a:spcPct val="140000"/>
              </a:lnSpc>
              <a:buFont typeface="+mj-ea"/>
              <a:buAutoNum type="ea1JpnKorPlain"/>
            </a:pPr>
            <a:r>
              <a:rPr lang="zh-CN" altLang="en-US" sz="2000" b="1"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2000" b="1" kern="100" dirty="0">
                <a:effectLst/>
                <a:latin typeface="宋体" panose="02010600030101010101" pitchFamily="2" charset="-122"/>
                <a:ea typeface="宋体" panose="02010600030101010101" pitchFamily="2" charset="-122"/>
                <a:cs typeface="Times New Roman" panose="02020603050405020304" pitchFamily="18" charset="0"/>
              </a:rPr>
              <a:t>讨论与分析</a:t>
            </a:r>
          </a:p>
          <a:p>
            <a:pPr marL="342900" lvl="0" indent="-342900" algn="just">
              <a:lnSpc>
                <a:spcPct val="140000"/>
              </a:lnSpc>
              <a:buFont typeface="+mj-ea"/>
              <a:buAutoNum type="ea1JpnKorPlain"/>
            </a:pPr>
            <a:r>
              <a:rPr lang="zh-CN" altLang="en-US" sz="2000" b="1"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2000" b="1" kern="100" dirty="0">
                <a:effectLst/>
                <a:latin typeface="宋体" panose="02010600030101010101" pitchFamily="2" charset="-122"/>
                <a:ea typeface="宋体" panose="02010600030101010101" pitchFamily="2" charset="-122"/>
                <a:cs typeface="Times New Roman" panose="02020603050405020304" pitchFamily="18" charset="0"/>
              </a:rPr>
              <a:t>源程序代码</a:t>
            </a:r>
          </a:p>
        </p:txBody>
      </p:sp>
    </p:spTree>
    <p:extLst>
      <p:ext uri="{BB962C8B-B14F-4D97-AF65-F5344CB8AC3E}">
        <p14:creationId xmlns:p14="http://schemas.microsoft.com/office/powerpoint/2010/main" val="183452013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355</TotalTime>
  <Words>1160</Words>
  <Application>Microsoft Office PowerPoint</Application>
  <PresentationFormat>宽屏</PresentationFormat>
  <Paragraphs>81</Paragraphs>
  <Slides>11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vt:i4>
      </vt:variant>
    </vt:vector>
  </HeadingPairs>
  <TitlesOfParts>
    <vt:vector size="16" baseType="lpstr">
      <vt:lpstr>等线</vt:lpstr>
      <vt:lpstr>等线 Light</vt:lpstr>
      <vt:lpstr>宋体</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xinlei wang</dc:creator>
  <cp:lastModifiedBy>xinlei wang</cp:lastModifiedBy>
  <cp:revision>11</cp:revision>
  <dcterms:created xsi:type="dcterms:W3CDTF">2024-04-10T02:48:11Z</dcterms:created>
  <dcterms:modified xsi:type="dcterms:W3CDTF">2024-05-15T03:46:32Z</dcterms:modified>
</cp:coreProperties>
</file>
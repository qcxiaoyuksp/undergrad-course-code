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3"/>
  </p:notesMasterIdLst>
  <p:handoutMasterIdLst>
    <p:handoutMasterId r:id="rId54"/>
  </p:handoutMasterIdLst>
  <p:sldIdLst>
    <p:sldId id="256" r:id="rId2"/>
    <p:sldId id="741" r:id="rId3"/>
    <p:sldId id="765" r:id="rId4"/>
    <p:sldId id="767" r:id="rId5"/>
    <p:sldId id="768" r:id="rId6"/>
    <p:sldId id="875" r:id="rId7"/>
    <p:sldId id="769" r:id="rId8"/>
    <p:sldId id="890" r:id="rId9"/>
    <p:sldId id="771" r:id="rId10"/>
    <p:sldId id="772" r:id="rId11"/>
    <p:sldId id="773" r:id="rId12"/>
    <p:sldId id="774" r:id="rId13"/>
    <p:sldId id="775" r:id="rId14"/>
    <p:sldId id="776" r:id="rId15"/>
    <p:sldId id="777" r:id="rId16"/>
    <p:sldId id="778" r:id="rId17"/>
    <p:sldId id="779" r:id="rId18"/>
    <p:sldId id="781" r:id="rId19"/>
    <p:sldId id="783" r:id="rId20"/>
    <p:sldId id="785" r:id="rId21"/>
    <p:sldId id="784" r:id="rId22"/>
    <p:sldId id="786" r:id="rId23"/>
    <p:sldId id="877" r:id="rId24"/>
    <p:sldId id="878" r:id="rId25"/>
    <p:sldId id="879" r:id="rId26"/>
    <p:sldId id="885" r:id="rId27"/>
    <p:sldId id="886" r:id="rId28"/>
    <p:sldId id="887" r:id="rId29"/>
    <p:sldId id="883" r:id="rId30"/>
    <p:sldId id="884" r:id="rId31"/>
    <p:sldId id="796" r:id="rId32"/>
    <p:sldId id="797" r:id="rId33"/>
    <p:sldId id="889" r:id="rId34"/>
    <p:sldId id="799" r:id="rId35"/>
    <p:sldId id="798" r:id="rId36"/>
    <p:sldId id="800" r:id="rId37"/>
    <p:sldId id="801" r:id="rId38"/>
    <p:sldId id="802" r:id="rId39"/>
    <p:sldId id="803" r:id="rId40"/>
    <p:sldId id="806" r:id="rId41"/>
    <p:sldId id="888" r:id="rId42"/>
    <p:sldId id="819" r:id="rId43"/>
    <p:sldId id="820" r:id="rId44"/>
    <p:sldId id="821" r:id="rId45"/>
    <p:sldId id="822" r:id="rId46"/>
    <p:sldId id="823" r:id="rId47"/>
    <p:sldId id="824" r:id="rId48"/>
    <p:sldId id="825" r:id="rId49"/>
    <p:sldId id="826" r:id="rId50"/>
    <p:sldId id="828" r:id="rId51"/>
    <p:sldId id="277" r:id="rId52"/>
  </p:sldIdLst>
  <p:sldSz cx="9144000" cy="6858000" type="screen4x3"/>
  <p:notesSz cx="6645275" cy="9779000"/>
  <p:defaultTextStyle>
    <a:defPPr>
      <a:defRPr lang="zh-CN"/>
    </a:defPPr>
    <a:lvl1pPr algn="l" rtl="0" fontAlgn="base">
      <a:spcBef>
        <a:spcPct val="0"/>
      </a:spcBef>
      <a:spcAft>
        <a:spcPct val="0"/>
      </a:spcAft>
      <a:buClr>
        <a:srgbClr val="800080"/>
      </a:buClr>
      <a:buFont typeface="Wingdings" pitchFamily="2" charset="2"/>
      <a:buChar char="²"/>
      <a:defRPr kumimoji="1" sz="2400" kern="1200">
        <a:solidFill>
          <a:srgbClr val="333399"/>
        </a:solidFill>
        <a:latin typeface="Arial" pitchFamily="34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Clr>
        <a:srgbClr val="800080"/>
      </a:buClr>
      <a:buFont typeface="Wingdings" pitchFamily="2" charset="2"/>
      <a:buChar char="²"/>
      <a:defRPr kumimoji="1" sz="2400" kern="1200">
        <a:solidFill>
          <a:srgbClr val="333399"/>
        </a:solidFill>
        <a:latin typeface="Arial" pitchFamily="34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Clr>
        <a:srgbClr val="800080"/>
      </a:buClr>
      <a:buFont typeface="Wingdings" pitchFamily="2" charset="2"/>
      <a:buChar char="²"/>
      <a:defRPr kumimoji="1" sz="2400" kern="1200">
        <a:solidFill>
          <a:srgbClr val="333399"/>
        </a:solidFill>
        <a:latin typeface="Arial" pitchFamily="34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Clr>
        <a:srgbClr val="800080"/>
      </a:buClr>
      <a:buFont typeface="Wingdings" pitchFamily="2" charset="2"/>
      <a:buChar char="²"/>
      <a:defRPr kumimoji="1" sz="2400" kern="1200">
        <a:solidFill>
          <a:srgbClr val="333399"/>
        </a:solidFill>
        <a:latin typeface="Arial" pitchFamily="34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Clr>
        <a:srgbClr val="800080"/>
      </a:buClr>
      <a:buFont typeface="Wingdings" pitchFamily="2" charset="2"/>
      <a:buChar char="²"/>
      <a:defRPr kumimoji="1" sz="2400" kern="1200">
        <a:solidFill>
          <a:srgbClr val="333399"/>
        </a:solidFill>
        <a:latin typeface="Arial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rgbClr val="333399"/>
        </a:solidFill>
        <a:latin typeface="Arial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rgbClr val="333399"/>
        </a:solidFill>
        <a:latin typeface="Arial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rgbClr val="333399"/>
        </a:solidFill>
        <a:latin typeface="Arial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rgbClr val="333399"/>
        </a:solidFill>
        <a:latin typeface="Arial" pitchFamily="34" charset="0"/>
        <a:ea typeface="楷体_GB2312" pitchFamily="49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990099"/>
    <a:srgbClr val="800080"/>
    <a:srgbClr val="333399"/>
    <a:srgbClr val="008000"/>
    <a:srgbClr val="5F5F5F"/>
    <a:srgbClr val="9900CC"/>
    <a:srgbClr val="FFCC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2672" autoAdjust="0"/>
    <p:restoredTop sz="98113" autoAdjust="0"/>
  </p:normalViewPr>
  <p:slideViewPr>
    <p:cSldViewPr>
      <p:cViewPr varScale="1">
        <p:scale>
          <a:sx n="117" d="100"/>
          <a:sy n="117" d="100"/>
        </p:scale>
        <p:origin x="-1602" y="-96"/>
      </p:cViewPr>
      <p:guideLst>
        <p:guide orient="horz" pos="2296"/>
        <p:guide pos="28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638" y="-84"/>
      </p:cViewPr>
      <p:guideLst>
        <p:guide orient="horz" pos="3080"/>
        <p:guide pos="2093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03" tIns="45702" rIns="91403" bIns="45702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defRPr sz="120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5550" y="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03" tIns="45702" rIns="91403" bIns="45702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defRPr sz="120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005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03" tIns="45702" rIns="91403" bIns="45702" numCol="1" anchor="b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defRPr sz="120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5550" y="929005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03" tIns="45702" rIns="91403" bIns="45702" numCol="1" anchor="b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defRPr sz="120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A1C35D90-0839-47E8-8EF7-872E0D028B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7888" y="733425"/>
            <a:ext cx="4889500" cy="3667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own00004\AppData\Roaming\Tencent\Users\1423813091\QQ\WinTemp\RichOle\E0LYC9`]3BH35I4~U9{J0G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34285" y="0"/>
            <a:ext cx="1609715" cy="449105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pic>
        <p:nvPicPr>
          <p:cNvPr id="5" name="Picture 1" descr="C:\Users\own00004\AppData\Roaming\Tencent\Users\1423813091\QQ\WinTemp\RichOle\E0LYC9`]3BH35I4~U9{J0G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34285" y="0"/>
            <a:ext cx="1609715" cy="449105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pic>
        <p:nvPicPr>
          <p:cNvPr id="5" name="Picture 1" descr="C:\Users\own00004\AppData\Roaming\Tencent\Users\1423813091\QQ\WinTemp\RichOle\E0LYC9`]3BH35I4~U9{J0G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34285" y="0"/>
            <a:ext cx="1609715" cy="449105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pic>
        <p:nvPicPr>
          <p:cNvPr id="4" name="Picture 1" descr="C:\Users\own00004\AppData\Roaming\Tencent\Users\1423813091\QQ\WinTemp\RichOle\E0LYC9`]3BH35I4~U9{J0G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34285" y="0"/>
            <a:ext cx="1609715" cy="449105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pic>
        <p:nvPicPr>
          <p:cNvPr id="4" name="Picture 1" descr="C:\Users\own00004\AppData\Roaming\Tencent\Users\1423813091\QQ\WinTemp\RichOle\E0LYC9`]3BH35I4~U9{J0G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34285" y="0"/>
            <a:ext cx="1609715" cy="449105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pic>
        <p:nvPicPr>
          <p:cNvPr id="3" name="Picture 1" descr="C:\Users\own00004\AppData\Roaming\Tencent\Users\1423813091\QQ\WinTemp\RichOle\E0LYC9`]3BH35I4~U9{J0G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34285" y="0"/>
            <a:ext cx="1609715" cy="449105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://www.tsinghua.edu.cn/chn/index.htm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026"/>
          <p:cNvGrpSpPr>
            <a:grpSpLocks/>
          </p:cNvGrpSpPr>
          <p:nvPr/>
        </p:nvGrpSpPr>
        <p:grpSpPr bwMode="auto">
          <a:xfrm>
            <a:off x="0" y="0"/>
            <a:ext cx="1476375" cy="6858000"/>
            <a:chOff x="0" y="0"/>
            <a:chExt cx="2016" cy="4320"/>
          </a:xfrm>
        </p:grpSpPr>
        <p:sp>
          <p:nvSpPr>
            <p:cNvPr id="1031" name="Rectangle 1027"/>
            <p:cNvSpPr>
              <a:spLocks noChangeArrowheads="1"/>
            </p:cNvSpPr>
            <p:nvPr/>
          </p:nvSpPr>
          <p:spPr bwMode="auto">
            <a:xfrm>
              <a:off x="0" y="0"/>
              <a:ext cx="480" cy="4320"/>
            </a:xfrm>
            <a:prstGeom prst="rect">
              <a:avLst/>
            </a:prstGeom>
            <a:gradFill rotWithShape="0">
              <a:gsLst>
                <a:gs pos="0">
                  <a:srgbClr val="800080"/>
                </a:gs>
                <a:gs pos="100000">
                  <a:srgbClr val="E6CCE6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2" name="Rectangle 1028"/>
            <p:cNvSpPr>
              <a:spLocks noChangeArrowheads="1"/>
            </p:cNvSpPr>
            <p:nvPr/>
          </p:nvSpPr>
          <p:spPr bwMode="auto">
            <a:xfrm>
              <a:off x="432" y="0"/>
              <a:ext cx="1584" cy="672"/>
            </a:xfrm>
            <a:prstGeom prst="rect">
              <a:avLst/>
            </a:prstGeom>
            <a:gradFill rotWithShape="0">
              <a:gsLst>
                <a:gs pos="0">
                  <a:srgbClr val="800080"/>
                </a:gs>
                <a:gs pos="100000">
                  <a:srgbClr val="E6CCE6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27" name="Line 1038"/>
          <p:cNvSpPr>
            <a:spLocks noChangeShapeType="1"/>
          </p:cNvSpPr>
          <p:nvPr userDrawn="1"/>
        </p:nvSpPr>
        <p:spPr bwMode="auto">
          <a:xfrm>
            <a:off x="1476375" y="981075"/>
            <a:ext cx="7515225" cy="9525"/>
          </a:xfrm>
          <a:prstGeom prst="line">
            <a:avLst/>
          </a:prstGeom>
          <a:noFill/>
          <a:ln w="57150" cmpd="thinThick">
            <a:solidFill>
              <a:srgbClr val="80008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028" name="Picture 1039" descr="清华大学">
            <a:hlinkClick r:id="rId14"/>
          </p:cNvPr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7380288" y="163513"/>
            <a:ext cx="1223962" cy="31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9" name="Text Box 1040"/>
          <p:cNvSpPr txBox="1">
            <a:spLocks noChangeArrowheads="1"/>
          </p:cNvSpPr>
          <p:nvPr userDrawn="1"/>
        </p:nvSpPr>
        <p:spPr bwMode="auto">
          <a:xfrm>
            <a:off x="7235825" y="476250"/>
            <a:ext cx="18002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ClrTx/>
              <a:buFontTx/>
              <a:buNone/>
            </a:pPr>
            <a:r>
              <a:rPr lang="en-US" altLang="zh-CN" sz="2000">
                <a:solidFill>
                  <a:srgbClr val="990099"/>
                </a:solidFill>
                <a:latin typeface="Comic Sans MS" pitchFamily="66" charset="0"/>
                <a:cs typeface="Times New Roman" pitchFamily="18" charset="0"/>
              </a:rPr>
              <a:t>《</a:t>
            </a:r>
            <a:r>
              <a:rPr lang="zh-CN" altLang="en-US" sz="2000">
                <a:solidFill>
                  <a:srgbClr val="990099"/>
                </a:solidFill>
                <a:latin typeface="Comic Sans MS" pitchFamily="66" charset="0"/>
                <a:cs typeface="Times New Roman" pitchFamily="18" charset="0"/>
              </a:rPr>
              <a:t>编译原理</a:t>
            </a:r>
            <a:r>
              <a:rPr lang="en-US" altLang="zh-CN" sz="2000">
                <a:solidFill>
                  <a:srgbClr val="990099"/>
                </a:solidFill>
                <a:latin typeface="Comic Sans MS" pitchFamily="66" charset="0"/>
                <a:cs typeface="Times New Roman" pitchFamily="18" charset="0"/>
              </a:rPr>
              <a:t>》</a:t>
            </a:r>
          </a:p>
        </p:txBody>
      </p:sp>
      <p:sp>
        <p:nvSpPr>
          <p:cNvPr id="1030" name="AutoShape 1041"/>
          <p:cNvSpPr>
            <a:spLocks noChangeArrowheads="1"/>
          </p:cNvSpPr>
          <p:nvPr userDrawn="1"/>
        </p:nvSpPr>
        <p:spPr bwMode="auto">
          <a:xfrm>
            <a:off x="1116013" y="188913"/>
            <a:ext cx="3311525" cy="6477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buClrTx/>
              <a:buFontTx/>
              <a:buNone/>
            </a:pPr>
            <a:endParaRPr lang="zh-CN" altLang="zh-CN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9" name="Picture 1" descr="C:\Users\own00004\AppData\Roaming\Tencent\Users\1423813091\QQ\WinTemp\RichOle\E0LYC9`]3BH35I4~U9{J0GE.png"/>
          <p:cNvPicPr>
            <a:picLocks noChangeAspect="1" noChangeArrowheads="1"/>
          </p:cNvPicPr>
          <p:nvPr userDrawn="1"/>
        </p:nvPicPr>
        <p:blipFill>
          <a:blip r:embed="rId16"/>
          <a:srcRect/>
          <a:stretch>
            <a:fillRect/>
          </a:stretch>
        </p:blipFill>
        <p:spPr bwMode="auto">
          <a:xfrm>
            <a:off x="7534285" y="0"/>
            <a:ext cx="1609715" cy="449105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ransition spd="med">
    <p:wipe dir="r"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kumimoji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slide" Target="slide40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4.xml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1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2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3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4" name="Text Box 14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998538" y="1484313"/>
            <a:ext cx="587851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6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3600" b="1">
                <a:solidFill>
                  <a:srgbClr val="800080"/>
                </a:solidFill>
                <a:latin typeface="楷体_GB2312" pitchFamily="49" charset="-122"/>
              </a:rPr>
              <a:t>运行时存储组织</a:t>
            </a:r>
          </a:p>
        </p:txBody>
      </p:sp>
      <p:sp>
        <p:nvSpPr>
          <p:cNvPr id="2055" name="Rectangle 18"/>
          <p:cNvSpPr>
            <a:spLocks noChangeArrowheads="1"/>
          </p:cNvSpPr>
          <p:nvPr/>
        </p:nvSpPr>
        <p:spPr bwMode="auto">
          <a:xfrm>
            <a:off x="1479550" y="188913"/>
            <a:ext cx="2228850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zh-CN" altLang="en-US" sz="4000" b="1" smtClean="0">
                <a:solidFill>
                  <a:srgbClr val="800080"/>
                </a:solidFill>
                <a:ea typeface="华文行楷" pitchFamily="2" charset="-122"/>
              </a:rPr>
              <a:t>第九章</a:t>
            </a:r>
            <a:endParaRPr lang="zh-CN" altLang="en-US" sz="4000" b="1" dirty="0">
              <a:solidFill>
                <a:srgbClr val="800080"/>
              </a:solidFill>
              <a:ea typeface="华文行楷" pitchFamily="2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ChangeArrowheads="1"/>
          </p:cNvSpPr>
          <p:nvPr/>
        </p:nvSpPr>
        <p:spPr bwMode="auto">
          <a:xfrm>
            <a:off x="15494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3075" name="Text Box 20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066800" y="1447800"/>
            <a:ext cx="69405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运行时存储组织</a:t>
            </a:r>
            <a:r>
              <a:rPr lang="zh-CN" altLang="en-US" sz="3200" b="1">
                <a:solidFill>
                  <a:srgbClr val="800080"/>
                </a:solidFill>
                <a:latin typeface="楷体_GB2312" pitchFamily="49" charset="-122"/>
              </a:rPr>
              <a:t>的作用与任务</a:t>
            </a:r>
          </a:p>
        </p:txBody>
      </p:sp>
      <p:sp>
        <p:nvSpPr>
          <p:cNvPr id="3076" name="AutoShape 21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7" name="AutoShape 2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8" name="AutoShape 2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9" name="AutoShape 2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80" name="Text Box 25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071563" y="2925763"/>
            <a:ext cx="503396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存储分配策略</a:t>
            </a:r>
          </a:p>
        </p:txBody>
      </p:sp>
      <p:sp>
        <p:nvSpPr>
          <p:cNvPr id="3081" name="Text Box 26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1071563" y="2209800"/>
            <a:ext cx="594836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程序运行时存储空间的布局</a:t>
            </a:r>
          </a:p>
        </p:txBody>
      </p:sp>
      <p:sp>
        <p:nvSpPr>
          <p:cNvPr id="3082" name="Text Box 27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1066800" y="3611563"/>
            <a:ext cx="50339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活动记录</a:t>
            </a:r>
          </a:p>
        </p:txBody>
      </p:sp>
      <p:sp>
        <p:nvSpPr>
          <p:cNvPr id="3083" name="Text Box 29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1066800" y="4297363"/>
            <a:ext cx="50339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过程调用与参数传递</a:t>
            </a:r>
          </a:p>
        </p:txBody>
      </p:sp>
      <p:sp>
        <p:nvSpPr>
          <p:cNvPr id="3084" name="Text Box 30">
            <a:hlinkClick r:id="rId7" action="ppaction://hlinksldjump"/>
          </p:cNvPr>
          <p:cNvSpPr txBox="1">
            <a:spLocks noChangeArrowheads="1"/>
          </p:cNvSpPr>
          <p:nvPr/>
        </p:nvSpPr>
        <p:spPr bwMode="auto">
          <a:xfrm>
            <a:off x="1042988" y="5013325"/>
            <a:ext cx="77057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面向对象程序运行时组织（选讲）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15494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685800" y="1447800"/>
            <a:ext cx="69405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运行时存储组织</a:t>
            </a:r>
            <a:r>
              <a:rPr lang="zh-CN" altLang="en-US" sz="3200" b="1">
                <a:solidFill>
                  <a:srgbClr val="800080"/>
                </a:solidFill>
                <a:latin typeface="楷体_GB2312" pitchFamily="49" charset="-122"/>
              </a:rPr>
              <a:t>的作用与任务</a:t>
            </a:r>
          </a:p>
        </p:txBody>
      </p:sp>
      <p:sp>
        <p:nvSpPr>
          <p:cNvPr id="4100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01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02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03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04" name="Rectangle 12"/>
          <p:cNvSpPr>
            <a:spLocks noChangeArrowheads="1"/>
          </p:cNvSpPr>
          <p:nvPr/>
        </p:nvSpPr>
        <p:spPr bwMode="auto">
          <a:xfrm>
            <a:off x="952500" y="2257425"/>
            <a:ext cx="8012113" cy="353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代码生成前如何安排目标机存储资源的使用</a:t>
            </a:r>
            <a:endParaRPr kumimoji="0" lang="zh-CN" altLang="en-US" sz="2800" b="1">
              <a:solidFill>
                <a:srgbClr val="800080"/>
              </a:solidFill>
              <a:latin typeface="Times New Roman" pitchFamily="18" charset="0"/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>
              <a:buClrTx/>
              <a:buFont typeface="Symbol" pitchFamily="18" charset="2"/>
              <a:buChar char="-"/>
            </a:pPr>
            <a:r>
              <a:rPr kumimoji="0" lang="zh-CN" altLang="en-US" sz="2800" b="1">
                <a:solidFill>
                  <a:srgbClr val="800080"/>
                </a:solidFill>
              </a:rPr>
              <a:t>  几个重要问题</a:t>
            </a: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>
                <a:solidFill>
                  <a:srgbClr val="800080"/>
                </a:solidFill>
              </a:rPr>
              <a:t>数据表示  </a:t>
            </a:r>
            <a:r>
              <a:rPr lang="zh-CN" altLang="en-US" b="1">
                <a:latin typeface="Times New Roman" pitchFamily="18" charset="0"/>
              </a:rPr>
              <a:t>目标机中</a:t>
            </a:r>
            <a:r>
              <a:rPr lang="zh-CN" altLang="en-US" b="1"/>
              <a:t>如何</a:t>
            </a:r>
            <a:r>
              <a:rPr lang="zh-CN" altLang="en-US" b="1">
                <a:latin typeface="Times New Roman" pitchFamily="18" charset="0"/>
              </a:rPr>
              <a:t>表示源语言中各类数据对象</a:t>
            </a:r>
            <a:endParaRPr kumimoji="0" lang="zh-CN" altLang="en-US" b="1">
              <a:latin typeface="Times New Roman" pitchFamily="18" charset="0"/>
            </a:endParaRPr>
          </a:p>
          <a:p>
            <a:pPr lvl="1">
              <a:buFontTx/>
              <a:buNone/>
            </a:pPr>
            <a:endParaRPr kumimoji="0" lang="zh-CN" altLang="en-US" sz="1000" b="1">
              <a:latin typeface="楷体_GB2312" pitchFamily="49" charset="-122"/>
            </a:endParaRPr>
          </a:p>
          <a:p>
            <a:pPr lvl="1">
              <a:buFontTx/>
              <a:buChar char="•"/>
            </a:pPr>
            <a:r>
              <a:rPr kumimoji="0" lang="zh-CN" altLang="en-US" b="1"/>
              <a:t>  </a:t>
            </a:r>
            <a:r>
              <a:rPr kumimoji="0" lang="zh-CN" altLang="en-US" b="1">
                <a:solidFill>
                  <a:srgbClr val="800080"/>
                </a:solidFill>
              </a:rPr>
              <a:t>表达式计算</a:t>
            </a:r>
            <a:r>
              <a:rPr kumimoji="0" lang="zh-CN" altLang="en-US" b="1"/>
              <a:t>   </a:t>
            </a:r>
            <a:r>
              <a:rPr lang="zh-CN" altLang="en-US" b="1">
                <a:latin typeface="Times New Roman" pitchFamily="18" charset="0"/>
              </a:rPr>
              <a:t>如何组织表达式的计算</a:t>
            </a:r>
            <a:endParaRPr kumimoji="0" lang="zh-CN" altLang="en-US" b="1"/>
          </a:p>
          <a:p>
            <a:pPr lvl="1">
              <a:buFontTx/>
              <a:buNone/>
            </a:pPr>
            <a:endParaRPr kumimoji="0" lang="zh-CN" altLang="en-US" sz="1000" b="1"/>
          </a:p>
          <a:p>
            <a:pPr lvl="1">
              <a:buFontTx/>
              <a:buChar char="•"/>
            </a:pPr>
            <a:r>
              <a:rPr lang="zh-CN" altLang="en-US" b="1">
                <a:latin typeface="楷体_GB2312" pitchFamily="49" charset="-122"/>
              </a:rPr>
              <a:t> </a:t>
            </a:r>
            <a:r>
              <a:rPr kumimoji="0" lang="zh-CN" altLang="en-US" b="1">
                <a:solidFill>
                  <a:srgbClr val="800080"/>
                </a:solidFill>
              </a:rPr>
              <a:t>存储分配策略  </a:t>
            </a:r>
            <a:r>
              <a:rPr lang="zh-CN" altLang="en-US" b="1">
                <a:latin typeface="Times New Roman" pitchFamily="18" charset="0"/>
              </a:rPr>
              <a:t>如何为不同作用域或</a:t>
            </a:r>
            <a:r>
              <a:rPr lang="zh-CN" altLang="en-US" b="1"/>
              <a:t>不同生命周期的</a:t>
            </a:r>
          </a:p>
          <a:p>
            <a:pPr lvl="1">
              <a:buFontTx/>
              <a:buNone/>
            </a:pPr>
            <a:r>
              <a:rPr lang="zh-CN" altLang="en-US" b="1">
                <a:latin typeface="Times New Roman" pitchFamily="18" charset="0"/>
              </a:rPr>
              <a:t>    数据对象</a:t>
            </a:r>
            <a:r>
              <a:rPr lang="zh-CN" altLang="en-US" b="1"/>
              <a:t>分配</a:t>
            </a:r>
            <a:r>
              <a:rPr lang="zh-CN" altLang="en-US" b="1">
                <a:latin typeface="Times New Roman" pitchFamily="18" charset="0"/>
              </a:rPr>
              <a:t>存储</a:t>
            </a:r>
          </a:p>
          <a:p>
            <a:pPr lvl="1">
              <a:buFontTx/>
              <a:buNone/>
            </a:pPr>
            <a:endParaRPr kumimoji="0" lang="zh-CN" altLang="en-US" sz="1000" b="1"/>
          </a:p>
          <a:p>
            <a:pPr lvl="1">
              <a:buFontTx/>
              <a:buChar char="•"/>
            </a:pPr>
            <a:r>
              <a:rPr lang="zh-CN" altLang="en-US" b="1">
                <a:latin typeface="楷体_GB2312" pitchFamily="49" charset="-122"/>
              </a:rPr>
              <a:t> </a:t>
            </a:r>
            <a:r>
              <a:rPr kumimoji="0" lang="zh-CN" altLang="en-US" b="1">
                <a:solidFill>
                  <a:srgbClr val="800080"/>
                </a:solidFill>
              </a:rPr>
              <a:t>过程实现  </a:t>
            </a:r>
            <a:r>
              <a:rPr lang="zh-CN" altLang="en-US" b="1">
                <a:latin typeface="楷体_GB2312" pitchFamily="49" charset="-122"/>
              </a:rPr>
              <a:t>如何实现过程</a:t>
            </a:r>
            <a:r>
              <a:rPr lang="en-US" altLang="zh-CN" b="1">
                <a:latin typeface="楷体_GB2312" pitchFamily="49" charset="-122"/>
              </a:rPr>
              <a:t>/</a:t>
            </a:r>
            <a:r>
              <a:rPr lang="zh-CN" altLang="en-US" b="1">
                <a:latin typeface="楷体_GB2312" pitchFamily="49" charset="-122"/>
              </a:rPr>
              <a:t>函数调用以及参数传递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15494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533400" y="1325563"/>
            <a:ext cx="6705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数据表示</a:t>
            </a:r>
          </a:p>
        </p:txBody>
      </p:sp>
      <p:sp>
        <p:nvSpPr>
          <p:cNvPr id="5124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5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6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7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876300" y="1922463"/>
            <a:ext cx="8191500" cy="398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源程序中数据对象在内存或寄存器中的表示形式</a:t>
            </a:r>
            <a:endParaRPr kumimoji="0" lang="zh-CN" altLang="en-US" sz="2800" b="1">
              <a:solidFill>
                <a:srgbClr val="800080"/>
              </a:solidFill>
              <a:latin typeface="Times New Roman" pitchFamily="18" charset="0"/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>
                <a:solidFill>
                  <a:srgbClr val="800080"/>
                </a:solidFill>
              </a:rPr>
              <a:t>源程序中</a:t>
            </a:r>
            <a:r>
              <a:rPr lang="zh-CN" altLang="en-US" b="1">
                <a:solidFill>
                  <a:srgbClr val="800080"/>
                </a:solidFill>
                <a:latin typeface="Times New Roman" pitchFamily="18" charset="0"/>
              </a:rPr>
              <a:t>数据对象的属性</a:t>
            </a:r>
            <a:endParaRPr kumimoji="0" lang="zh-CN" altLang="en-US" b="1">
              <a:solidFill>
                <a:srgbClr val="800080"/>
              </a:solidFill>
              <a:latin typeface="Times New Roman" pitchFamily="18" charset="0"/>
            </a:endParaRPr>
          </a:p>
          <a:p>
            <a:pPr lvl="1">
              <a:buFontTx/>
              <a:buNone/>
            </a:pPr>
            <a:endParaRPr kumimoji="0" lang="zh-CN" altLang="en-US" sz="1000" b="1">
              <a:latin typeface="楷体_GB2312" pitchFamily="49" charset="-122"/>
            </a:endParaRPr>
          </a:p>
          <a:p>
            <a:pPr lvl="1">
              <a:buFontTx/>
              <a:buNone/>
            </a:pPr>
            <a:r>
              <a:rPr kumimoji="0" lang="zh-CN" altLang="en-US" b="1">
                <a:solidFill>
                  <a:srgbClr val="800080"/>
                </a:solidFill>
              </a:rPr>
              <a:t>   </a:t>
            </a:r>
            <a:r>
              <a:rPr lang="zh-CN" altLang="en-US" b="1">
                <a:latin typeface="Times New Roman" pitchFamily="18" charset="0"/>
              </a:rPr>
              <a:t>名字（</a:t>
            </a:r>
            <a:r>
              <a:rPr lang="en-US" altLang="zh-CN" i="1"/>
              <a:t>name</a:t>
            </a:r>
            <a:r>
              <a:rPr lang="zh-CN" altLang="en-US" b="1">
                <a:latin typeface="Times New Roman" pitchFamily="18" charset="0"/>
              </a:rPr>
              <a:t>），类型（</a:t>
            </a:r>
            <a:r>
              <a:rPr lang="en-US" altLang="zh-CN" i="1"/>
              <a:t>type</a:t>
            </a:r>
            <a:r>
              <a:rPr lang="zh-CN" altLang="en-US" b="1">
                <a:latin typeface="Times New Roman" pitchFamily="18" charset="0"/>
              </a:rPr>
              <a:t>），值（</a:t>
            </a:r>
            <a:r>
              <a:rPr lang="en-US" altLang="zh-CN" i="1"/>
              <a:t>value</a:t>
            </a:r>
            <a:r>
              <a:rPr lang="zh-CN" altLang="en-US" b="1">
                <a:latin typeface="Times New Roman" pitchFamily="18" charset="0"/>
              </a:rPr>
              <a:t>）</a:t>
            </a:r>
            <a:r>
              <a:rPr lang="en-US" altLang="zh-CN" b="1">
                <a:latin typeface="Times New Roman" pitchFamily="18" charset="0"/>
              </a:rPr>
              <a:t>,</a:t>
            </a:r>
            <a:endParaRPr kumimoji="0" lang="en-US" altLang="zh-CN" b="1"/>
          </a:p>
          <a:p>
            <a:pPr lvl="1">
              <a:buFontTx/>
              <a:buNone/>
            </a:pPr>
            <a:r>
              <a:rPr lang="en-US" altLang="zh-CN" b="1">
                <a:latin typeface="Times New Roman" pitchFamily="18" charset="0"/>
              </a:rPr>
              <a:t>   </a:t>
            </a:r>
            <a:r>
              <a:rPr lang="zh-CN" altLang="en-US" b="1">
                <a:latin typeface="Times New Roman" pitchFamily="18" charset="0"/>
              </a:rPr>
              <a:t>复合数据对象（</a:t>
            </a:r>
            <a:r>
              <a:rPr lang="en-US" altLang="zh-CN" i="1"/>
              <a:t>component</a:t>
            </a:r>
            <a:r>
              <a:rPr lang="zh-CN" altLang="en-US" b="1">
                <a:latin typeface="Times New Roman" pitchFamily="18" charset="0"/>
              </a:rPr>
              <a:t>），</a:t>
            </a:r>
            <a:r>
              <a:rPr lang="en-US" altLang="zh-CN" b="1">
                <a:latin typeface="Times New Roman" pitchFamily="18" charset="0"/>
              </a:rPr>
              <a:t>……</a:t>
            </a:r>
          </a:p>
          <a:p>
            <a:pPr lvl="1">
              <a:buFontTx/>
              <a:buNone/>
            </a:pPr>
            <a:endParaRPr kumimoji="0" lang="en-US" altLang="zh-CN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en-US" altLang="zh-CN" b="1"/>
              <a:t>  </a:t>
            </a:r>
            <a:r>
              <a:rPr lang="zh-CN" altLang="en-US" b="1">
                <a:solidFill>
                  <a:srgbClr val="800080"/>
                </a:solidFill>
                <a:latin typeface="Times New Roman" pitchFamily="18" charset="0"/>
              </a:rPr>
              <a:t>数据对象在内存或寄存器中的表示形式</a:t>
            </a:r>
            <a:endParaRPr kumimoji="0" lang="zh-CN" altLang="en-US" b="1">
              <a:solidFill>
                <a:srgbClr val="800080"/>
              </a:solidFill>
              <a:latin typeface="Times New Roman" pitchFamily="18" charset="0"/>
            </a:endParaRPr>
          </a:p>
          <a:p>
            <a:pPr lvl="1">
              <a:buFontTx/>
              <a:buNone/>
            </a:pPr>
            <a:endParaRPr kumimoji="0" lang="zh-CN" altLang="en-US" sz="1000" b="1">
              <a:latin typeface="楷体_GB2312" pitchFamily="49" charset="-122"/>
            </a:endParaRPr>
          </a:p>
          <a:p>
            <a:pPr lvl="1">
              <a:buFontTx/>
              <a:buNone/>
            </a:pPr>
            <a:r>
              <a:rPr kumimoji="0" lang="zh-CN" altLang="en-US" b="1">
                <a:solidFill>
                  <a:srgbClr val="800080"/>
                </a:solidFill>
              </a:rPr>
              <a:t>   </a:t>
            </a:r>
            <a:r>
              <a:rPr kumimoji="0" lang="zh-CN" altLang="en-US" b="1"/>
              <a:t>位、字节、字、字节序列、</a:t>
            </a:r>
            <a:r>
              <a:rPr kumimoji="0" lang="en-US" altLang="zh-CN" b="1"/>
              <a:t>……</a:t>
            </a:r>
          </a:p>
          <a:p>
            <a:pPr lvl="1">
              <a:buFontTx/>
              <a:buNone/>
            </a:pPr>
            <a:endParaRPr kumimoji="0" lang="en-US" altLang="zh-CN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en-US" altLang="zh-CN" b="1"/>
              <a:t>  </a:t>
            </a:r>
            <a:r>
              <a:rPr lang="zh-CN" altLang="en-US" b="1">
                <a:solidFill>
                  <a:srgbClr val="800080"/>
                </a:solidFill>
                <a:latin typeface="Times New Roman" pitchFamily="18" charset="0"/>
              </a:rPr>
              <a:t>有些机器要求数据存放时要按某种方式对齐</a:t>
            </a:r>
            <a:r>
              <a:rPr lang="zh-CN" altLang="en-US" b="1">
                <a:latin typeface="Times New Roman" pitchFamily="18" charset="0"/>
              </a:rPr>
              <a:t>（</a:t>
            </a:r>
            <a:r>
              <a:rPr lang="en-US" altLang="zh-CN" i="1"/>
              <a:t>align</a:t>
            </a:r>
            <a:r>
              <a:rPr lang="zh-CN" altLang="en-US" b="1">
                <a:latin typeface="Times New Roman" pitchFamily="18" charset="0"/>
              </a:rPr>
              <a:t>）</a:t>
            </a:r>
            <a:endParaRPr kumimoji="0" lang="zh-CN" altLang="en-US" b="1">
              <a:solidFill>
                <a:srgbClr val="800080"/>
              </a:solidFill>
              <a:latin typeface="Times New Roman" pitchFamily="18" charset="0"/>
            </a:endParaRPr>
          </a:p>
          <a:p>
            <a:pPr lvl="1">
              <a:buFontTx/>
              <a:buNone/>
            </a:pPr>
            <a:endParaRPr kumimoji="0" lang="zh-CN" altLang="en-US" sz="1000" b="1">
              <a:latin typeface="楷体_GB2312" pitchFamily="49" charset="-122"/>
            </a:endParaRPr>
          </a:p>
          <a:p>
            <a:pPr lvl="1">
              <a:buFontTx/>
              <a:buNone/>
            </a:pPr>
            <a:r>
              <a:rPr kumimoji="0" lang="zh-CN" altLang="en-US" b="1">
                <a:solidFill>
                  <a:srgbClr val="800080"/>
                </a:solidFill>
              </a:rPr>
              <a:t>   </a:t>
            </a:r>
            <a:r>
              <a:rPr kumimoji="0" lang="zh-CN" altLang="en-US" b="1"/>
              <a:t>如：要求数据存放的起始地址为能够被</a:t>
            </a:r>
            <a:r>
              <a:rPr kumimoji="0" lang="en-US" altLang="zh-CN"/>
              <a:t>4</a:t>
            </a:r>
            <a:r>
              <a:rPr kumimoji="0" lang="zh-CN" altLang="en-US" b="1"/>
              <a:t>整除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15494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762000" y="1325563"/>
            <a:ext cx="6705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kumimoji="0" lang="zh-CN" altLang="en-US" sz="3200" b="1"/>
              <a:t>数据表示</a:t>
            </a:r>
            <a:r>
              <a:rPr kumimoji="0" lang="zh-CN" altLang="en-US" sz="3200" b="1">
                <a:solidFill>
                  <a:srgbClr val="800080"/>
                </a:solidFill>
              </a:rPr>
              <a:t>举例</a:t>
            </a:r>
          </a:p>
        </p:txBody>
      </p:sp>
      <p:sp>
        <p:nvSpPr>
          <p:cNvPr id="6148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9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0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1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876300" y="1998663"/>
            <a:ext cx="7886700" cy="441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kumimoji="0" lang="en-US" altLang="zh-CN" sz="2800" b="1">
                <a:solidFill>
                  <a:srgbClr val="800080"/>
                </a:solidFill>
                <a:latin typeface="Times New Roman" pitchFamily="18" charset="0"/>
              </a:rPr>
              <a:t>  </a:t>
            </a:r>
            <a:r>
              <a:rPr kumimoji="0" lang="zh-CN" altLang="en-US" b="1">
                <a:solidFill>
                  <a:srgbClr val="800080"/>
                </a:solidFill>
              </a:rPr>
              <a:t>基本类型数据  </a:t>
            </a:r>
            <a:r>
              <a:rPr lang="zh-CN" altLang="en-US" b="1">
                <a:latin typeface="Times New Roman" pitchFamily="18" charset="0"/>
              </a:rPr>
              <a:t>  </a:t>
            </a:r>
          </a:p>
          <a:p>
            <a:pPr>
              <a:buClrTx/>
              <a:buFont typeface="Symbol" pitchFamily="18" charset="2"/>
              <a:buNone/>
            </a:pPr>
            <a:r>
              <a:rPr lang="zh-CN" altLang="en-US" i="1"/>
              <a:t>         </a:t>
            </a:r>
            <a:r>
              <a:rPr lang="en-US" altLang="zh-CN" i="1"/>
              <a:t>char </a:t>
            </a:r>
            <a:r>
              <a:rPr lang="zh-CN" altLang="en-US" b="1">
                <a:latin typeface="Times New Roman" pitchFamily="18" charset="0"/>
              </a:rPr>
              <a:t>数据   </a:t>
            </a:r>
            <a:r>
              <a:rPr lang="en-US" altLang="zh-CN"/>
              <a:t>1 </a:t>
            </a:r>
            <a:r>
              <a:rPr lang="en-US" altLang="zh-CN" i="1"/>
              <a:t>byte      integer </a:t>
            </a:r>
            <a:r>
              <a:rPr lang="zh-CN" altLang="en-US" b="1">
                <a:latin typeface="Times New Roman" pitchFamily="18" charset="0"/>
              </a:rPr>
              <a:t>数据    </a:t>
            </a:r>
            <a:r>
              <a:rPr lang="en-US" altLang="zh-CN"/>
              <a:t>4 </a:t>
            </a:r>
            <a:r>
              <a:rPr lang="en-US" altLang="zh-CN" i="1"/>
              <a:t>bytes</a:t>
            </a:r>
            <a:endParaRPr kumimoji="0" lang="en-US" altLang="zh-CN" b="1"/>
          </a:p>
          <a:p>
            <a:pPr>
              <a:buClrTx/>
              <a:buFont typeface="Symbol" pitchFamily="18" charset="2"/>
              <a:buNone/>
            </a:pPr>
            <a:r>
              <a:rPr lang="en-US" altLang="zh-CN" i="1"/>
              <a:t>         float </a:t>
            </a:r>
            <a:r>
              <a:rPr lang="zh-CN" altLang="en-US" b="1">
                <a:latin typeface="Times New Roman" pitchFamily="18" charset="0"/>
              </a:rPr>
              <a:t>数据   </a:t>
            </a:r>
            <a:r>
              <a:rPr lang="en-US" altLang="zh-CN"/>
              <a:t>8 </a:t>
            </a:r>
            <a:r>
              <a:rPr lang="en-US" altLang="zh-CN" i="1"/>
              <a:t>bytes    boolean </a:t>
            </a:r>
            <a:r>
              <a:rPr lang="zh-CN" altLang="en-US" b="1">
                <a:latin typeface="Times New Roman" pitchFamily="18" charset="0"/>
              </a:rPr>
              <a:t>数据   </a:t>
            </a:r>
            <a:r>
              <a:rPr lang="en-US" altLang="zh-CN"/>
              <a:t>1 </a:t>
            </a:r>
            <a:r>
              <a:rPr lang="en-US" altLang="zh-CN" i="1"/>
              <a:t>byte</a:t>
            </a:r>
            <a:endParaRPr kumimoji="0" lang="en-US" altLang="zh-CN" b="1"/>
          </a:p>
          <a:p>
            <a:pPr lvl="1">
              <a:buFontTx/>
              <a:buNone/>
            </a:pPr>
            <a:endParaRPr kumimoji="0" lang="en-US" altLang="zh-CN" sz="1000" b="1">
              <a:solidFill>
                <a:srgbClr val="800080"/>
              </a:solidFill>
            </a:endParaRPr>
          </a:p>
          <a:p>
            <a:pPr eaLnBrk="0" hangingPunct="0">
              <a:buClrTx/>
              <a:buFontTx/>
              <a:buNone/>
            </a:pPr>
            <a:r>
              <a:rPr kumimoji="0" lang="en-US" altLang="zh-CN" b="1">
                <a:solidFill>
                  <a:srgbClr val="800080"/>
                </a:solidFill>
              </a:rPr>
              <a:t>     </a:t>
            </a:r>
            <a:r>
              <a:rPr kumimoji="0" lang="zh-CN" altLang="en-US" b="1">
                <a:solidFill>
                  <a:srgbClr val="800080"/>
                </a:solidFill>
              </a:rPr>
              <a:t>指针  </a:t>
            </a:r>
            <a:r>
              <a:rPr lang="en-US" altLang="zh-CN"/>
              <a:t>4 </a:t>
            </a:r>
            <a:r>
              <a:rPr lang="en-US" altLang="zh-CN" i="1"/>
              <a:t>bytes</a:t>
            </a:r>
          </a:p>
          <a:p>
            <a:pPr lvl="1">
              <a:buFontTx/>
              <a:buNone/>
            </a:pPr>
            <a:endParaRPr kumimoji="0" lang="en-US" altLang="zh-CN" sz="1000" b="1">
              <a:solidFill>
                <a:srgbClr val="800080"/>
              </a:solidFill>
            </a:endParaRPr>
          </a:p>
          <a:p>
            <a:pPr eaLnBrk="0" hangingPunct="0">
              <a:buClrTx/>
              <a:buFontTx/>
              <a:buNone/>
            </a:pPr>
            <a:r>
              <a:rPr kumimoji="0" lang="en-US" altLang="zh-CN" b="1">
                <a:solidFill>
                  <a:srgbClr val="800080"/>
                </a:solidFill>
              </a:rPr>
              <a:t>     </a:t>
            </a:r>
            <a:r>
              <a:rPr kumimoji="0" lang="zh-CN" altLang="en-US" b="1">
                <a:solidFill>
                  <a:srgbClr val="800080"/>
                </a:solidFill>
              </a:rPr>
              <a:t>数组  </a:t>
            </a:r>
            <a:r>
              <a:rPr lang="zh-CN" altLang="en-US" b="1">
                <a:latin typeface="Times New Roman" pitchFamily="18" charset="0"/>
              </a:rPr>
              <a:t>一块连续的存储区（按行</a:t>
            </a:r>
            <a:r>
              <a:rPr lang="en-US" altLang="zh-CN" b="1">
                <a:latin typeface="Times New Roman" pitchFamily="18" charset="0"/>
              </a:rPr>
              <a:t>/</a:t>
            </a:r>
            <a:r>
              <a:rPr lang="zh-CN" altLang="en-US" b="1">
                <a:latin typeface="Times New Roman" pitchFamily="18" charset="0"/>
              </a:rPr>
              <a:t>列存放）</a:t>
            </a:r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eaLnBrk="0" hangingPunct="0">
              <a:buClrTx/>
              <a:buFontTx/>
              <a:buNone/>
            </a:pPr>
            <a:r>
              <a:rPr kumimoji="0" lang="zh-CN" altLang="en-US" b="1">
                <a:solidFill>
                  <a:srgbClr val="800080"/>
                </a:solidFill>
              </a:rPr>
              <a:t>     结构</a:t>
            </a:r>
            <a:r>
              <a:rPr kumimoji="0" lang="en-US" altLang="zh-CN" b="1">
                <a:solidFill>
                  <a:srgbClr val="800080"/>
                </a:solidFill>
              </a:rPr>
              <a:t>/</a:t>
            </a:r>
            <a:r>
              <a:rPr kumimoji="0" lang="zh-CN" altLang="en-US" b="1">
                <a:solidFill>
                  <a:srgbClr val="800080"/>
                </a:solidFill>
              </a:rPr>
              <a:t>记录  </a:t>
            </a:r>
            <a:r>
              <a:rPr lang="zh-CN" altLang="en-US" b="1">
                <a:latin typeface="楷体_GB2312" pitchFamily="49" charset="-122"/>
              </a:rPr>
              <a:t>所有域（</a:t>
            </a:r>
            <a:r>
              <a:rPr lang="en-US" altLang="zh-CN" i="1"/>
              <a:t>field</a:t>
            </a:r>
            <a:r>
              <a:rPr lang="en-US" altLang="zh-CN" b="1">
                <a:latin typeface="楷体_GB2312" pitchFamily="49" charset="-122"/>
              </a:rPr>
              <a:t>)</a:t>
            </a:r>
            <a:r>
              <a:rPr lang="zh-CN" altLang="en-US" b="1">
                <a:latin typeface="楷体_GB2312" pitchFamily="49" charset="-122"/>
              </a:rPr>
              <a:t>存放在一块连续的存储区</a:t>
            </a:r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eaLnBrk="0" hangingPunct="0">
              <a:buClrTx/>
              <a:buFontTx/>
              <a:buNone/>
            </a:pPr>
            <a:r>
              <a:rPr kumimoji="0" lang="zh-CN" altLang="en-US" b="1">
                <a:solidFill>
                  <a:srgbClr val="800080"/>
                </a:solidFill>
              </a:rPr>
              <a:t>     对象  </a:t>
            </a:r>
            <a:r>
              <a:rPr lang="zh-CN" altLang="en-US" b="1">
                <a:latin typeface="Times New Roman" pitchFamily="18" charset="0"/>
              </a:rPr>
              <a:t>实例变量像结构的域一样存放在一块连续的存储</a:t>
            </a:r>
          </a:p>
          <a:p>
            <a:pPr eaLnBrk="0" hangingPunct="0">
              <a:buClrTx/>
              <a:buFontTx/>
              <a:buNone/>
            </a:pPr>
            <a:r>
              <a:rPr lang="zh-CN" altLang="en-US" b="1">
                <a:latin typeface="Times New Roman" pitchFamily="18" charset="0"/>
              </a:rPr>
              <a:t>                区，操作例程</a:t>
            </a:r>
            <a:r>
              <a:rPr lang="zh-CN" altLang="en-US" b="1"/>
              <a:t>（</a:t>
            </a:r>
            <a:r>
              <a:rPr lang="zh-CN" altLang="en-US" b="1">
                <a:latin typeface="Times New Roman" pitchFamily="18" charset="0"/>
              </a:rPr>
              <a:t>方法、成员函数）存放在其所属</a:t>
            </a:r>
          </a:p>
          <a:p>
            <a:pPr eaLnBrk="0" hangingPunct="0">
              <a:buClrTx/>
              <a:buFontTx/>
              <a:buNone/>
            </a:pPr>
            <a:r>
              <a:rPr lang="zh-CN" altLang="en-US" b="1">
                <a:latin typeface="Times New Roman" pitchFamily="18" charset="0"/>
              </a:rPr>
              <a:t>                类的代码区</a:t>
            </a:r>
          </a:p>
          <a:p>
            <a:pPr eaLnBrk="0" hangingPunct="0">
              <a:buClrTx/>
              <a:buFontTx/>
              <a:buNone/>
            </a:pPr>
            <a:endParaRPr lang="en-US" altLang="zh-CN" i="1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15494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533400" y="1409700"/>
            <a:ext cx="6705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表达式的计算</a:t>
            </a:r>
          </a:p>
        </p:txBody>
      </p:sp>
      <p:sp>
        <p:nvSpPr>
          <p:cNvPr id="7172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3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876300" y="2098675"/>
            <a:ext cx="8191500" cy="398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在何处进行计算</a:t>
            </a:r>
            <a:endParaRPr kumimoji="0" lang="zh-CN" altLang="en-US" sz="2800" b="1">
              <a:solidFill>
                <a:srgbClr val="800080"/>
              </a:solidFill>
              <a:latin typeface="Times New Roman" pitchFamily="18" charset="0"/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>
                <a:solidFill>
                  <a:srgbClr val="800080"/>
                </a:solidFill>
              </a:rPr>
              <a:t>在栈区计算</a:t>
            </a:r>
            <a:endParaRPr kumimoji="0" lang="zh-CN" altLang="en-US" b="1">
              <a:solidFill>
                <a:srgbClr val="800080"/>
              </a:solidFill>
              <a:latin typeface="Times New Roman" pitchFamily="18" charset="0"/>
            </a:endParaRPr>
          </a:p>
          <a:p>
            <a:pPr lvl="1">
              <a:buFontTx/>
              <a:buNone/>
            </a:pPr>
            <a:endParaRPr kumimoji="0" lang="zh-CN" altLang="en-US" sz="1000" b="1">
              <a:latin typeface="楷体_GB2312" pitchFamily="49" charset="-122"/>
            </a:endParaRPr>
          </a:p>
          <a:p>
            <a:pPr lvl="1">
              <a:buFontTx/>
              <a:buNone/>
            </a:pPr>
            <a:r>
              <a:rPr kumimoji="0" lang="zh-CN" altLang="en-US" b="1">
                <a:solidFill>
                  <a:srgbClr val="800080"/>
                </a:solidFill>
              </a:rPr>
              <a:t>   </a:t>
            </a:r>
            <a:r>
              <a:rPr lang="zh-CN" altLang="en-US" b="1">
                <a:latin typeface="Times New Roman" pitchFamily="18" charset="0"/>
              </a:rPr>
              <a:t>运算数</a:t>
            </a:r>
            <a:r>
              <a:rPr lang="en-US" altLang="zh-CN" b="1">
                <a:latin typeface="Times New Roman" pitchFamily="18" charset="0"/>
              </a:rPr>
              <a:t>/</a:t>
            </a:r>
            <a:r>
              <a:rPr lang="zh-CN" altLang="en-US" b="1">
                <a:latin typeface="Times New Roman" pitchFamily="18" charset="0"/>
              </a:rPr>
              <a:t>中间结果存放于当前活动记录或通用寄存器中</a:t>
            </a:r>
            <a:endParaRPr kumimoji="0" lang="zh-CN" altLang="en-US" b="1"/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lang="zh-CN" altLang="en-US" b="1">
                <a:solidFill>
                  <a:srgbClr val="800080"/>
                </a:solidFill>
                <a:latin typeface="Times New Roman" pitchFamily="18" charset="0"/>
              </a:rPr>
              <a:t>在运算数栈计算</a:t>
            </a:r>
            <a:endParaRPr kumimoji="0" lang="zh-CN" altLang="en-US" b="1">
              <a:solidFill>
                <a:srgbClr val="800080"/>
              </a:solidFill>
              <a:latin typeface="Times New Roman" pitchFamily="18" charset="0"/>
            </a:endParaRPr>
          </a:p>
          <a:p>
            <a:pPr lvl="1">
              <a:buFontTx/>
              <a:buNone/>
            </a:pPr>
            <a:endParaRPr kumimoji="0" lang="zh-CN" altLang="en-US" sz="1000" b="1">
              <a:latin typeface="楷体_GB2312" pitchFamily="49" charset="-122"/>
            </a:endParaRPr>
          </a:p>
          <a:p>
            <a:pPr lvl="1">
              <a:buFontTx/>
              <a:buNone/>
            </a:pPr>
            <a:r>
              <a:rPr kumimoji="0" lang="zh-CN" altLang="en-US" b="1">
                <a:solidFill>
                  <a:srgbClr val="800080"/>
                </a:solidFill>
              </a:rPr>
              <a:t>   </a:t>
            </a:r>
            <a:r>
              <a:rPr kumimoji="0" lang="zh-CN" altLang="en-US" b="1"/>
              <a:t>某些目标机采用专门的运算数栈用于表达式计算</a:t>
            </a:r>
          </a:p>
          <a:p>
            <a:pPr lvl="1">
              <a:buFontTx/>
              <a:buNone/>
            </a:pPr>
            <a:endParaRPr kumimoji="0" lang="zh-CN" altLang="en-US" sz="1000" b="1"/>
          </a:p>
          <a:p>
            <a:pPr lvl="1">
              <a:buFontTx/>
              <a:buNone/>
            </a:pPr>
            <a:r>
              <a:rPr kumimoji="0" lang="zh-CN" altLang="en-US" b="1"/>
              <a:t>   对于普通表达式（无函数调用），一般可以估算出能</a:t>
            </a:r>
          </a:p>
          <a:p>
            <a:pPr lvl="1">
              <a:buFontTx/>
              <a:buNone/>
            </a:pPr>
            <a:r>
              <a:rPr kumimoji="0" lang="zh-CN" altLang="en-US" b="1"/>
              <a:t>   否在运算数栈上进行</a:t>
            </a:r>
          </a:p>
          <a:p>
            <a:pPr lvl="1">
              <a:buFontTx/>
              <a:buNone/>
            </a:pPr>
            <a:endParaRPr kumimoji="0" lang="zh-CN" altLang="en-US" sz="1000" b="1"/>
          </a:p>
          <a:p>
            <a:pPr lvl="1">
              <a:buFontTx/>
              <a:buNone/>
            </a:pPr>
            <a:r>
              <a:rPr kumimoji="0" lang="zh-CN" altLang="en-US" b="1"/>
              <a:t>   使用了递归函数的表达式的计算通常在栈区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494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533400" y="1020763"/>
            <a:ext cx="76390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程序运行时存储空间的布局</a:t>
            </a:r>
            <a:r>
              <a:rPr lang="zh-CN" altLang="en-US" sz="2800" b="1">
                <a:latin typeface="Times New Roman" pitchFamily="18" charset="0"/>
              </a:rPr>
              <a:t>（</a:t>
            </a:r>
            <a:r>
              <a:rPr lang="en-US" altLang="zh-CN" sz="2800" i="1"/>
              <a:t>layout</a:t>
            </a:r>
            <a:r>
              <a:rPr lang="zh-CN" altLang="en-US" sz="2800" b="1">
                <a:latin typeface="Times New Roman" pitchFamily="18" charset="0"/>
              </a:rPr>
              <a:t>）</a:t>
            </a:r>
          </a:p>
        </p:txBody>
      </p:sp>
      <p:sp>
        <p:nvSpPr>
          <p:cNvPr id="8196" name="Rectangle 8"/>
          <p:cNvSpPr>
            <a:spLocks noChangeArrowheads="1"/>
          </p:cNvSpPr>
          <p:nvPr/>
        </p:nvSpPr>
        <p:spPr bwMode="auto">
          <a:xfrm>
            <a:off x="609600" y="1600200"/>
            <a:ext cx="5829300" cy="5176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典型的程序布局</a:t>
            </a:r>
            <a:endParaRPr kumimoji="0" lang="zh-CN" altLang="en-US" sz="2800" b="1">
              <a:solidFill>
                <a:srgbClr val="800080"/>
              </a:solidFill>
              <a:latin typeface="Times New Roman" pitchFamily="18" charset="0"/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>
                <a:solidFill>
                  <a:srgbClr val="800080"/>
                </a:solidFill>
              </a:rPr>
              <a:t>保留地址区</a:t>
            </a:r>
            <a:endParaRPr kumimoji="0" lang="zh-CN" altLang="en-US" b="1">
              <a:solidFill>
                <a:srgbClr val="800080"/>
              </a:solidFill>
              <a:latin typeface="Times New Roman" pitchFamily="18" charset="0"/>
            </a:endParaRPr>
          </a:p>
          <a:p>
            <a:pPr lvl="1">
              <a:buFontTx/>
              <a:buNone/>
            </a:pPr>
            <a:endParaRPr kumimoji="0" lang="zh-CN" altLang="en-US" sz="1000" b="1">
              <a:latin typeface="楷体_GB2312" pitchFamily="49" charset="-122"/>
            </a:endParaRPr>
          </a:p>
          <a:p>
            <a:pPr lvl="1">
              <a:buFontTx/>
              <a:buNone/>
            </a:pPr>
            <a:r>
              <a:rPr kumimoji="0" lang="zh-CN" altLang="en-US" b="1">
                <a:solidFill>
                  <a:srgbClr val="800080"/>
                </a:solidFill>
              </a:rPr>
              <a:t>   </a:t>
            </a:r>
            <a:r>
              <a:rPr lang="zh-CN" altLang="en-US" b="1">
                <a:latin typeface="Times New Roman" pitchFamily="18" charset="0"/>
              </a:rPr>
              <a:t>目标机体系结构和操作系统专用</a:t>
            </a:r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>
                <a:solidFill>
                  <a:srgbClr val="800080"/>
                </a:solidFill>
              </a:rPr>
              <a:t>代码区  </a:t>
            </a:r>
            <a:r>
              <a:rPr kumimoji="0" lang="zh-CN" altLang="en-US" b="1"/>
              <a:t>静态存放目标代码</a:t>
            </a:r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>
                <a:solidFill>
                  <a:srgbClr val="800080"/>
                </a:solidFill>
              </a:rPr>
              <a:t>静态数据区</a:t>
            </a:r>
            <a:endParaRPr kumimoji="0" lang="zh-CN" altLang="en-US" b="1">
              <a:solidFill>
                <a:srgbClr val="800080"/>
              </a:solidFill>
              <a:latin typeface="Times New Roman" pitchFamily="18" charset="0"/>
            </a:endParaRPr>
          </a:p>
          <a:p>
            <a:pPr lvl="1">
              <a:buFontTx/>
              <a:buNone/>
            </a:pPr>
            <a:endParaRPr kumimoji="0" lang="zh-CN" altLang="en-US" sz="1000" b="1">
              <a:latin typeface="楷体_GB2312" pitchFamily="49" charset="-122"/>
            </a:endParaRPr>
          </a:p>
          <a:p>
            <a:pPr lvl="1">
              <a:buFontTx/>
              <a:buNone/>
            </a:pPr>
            <a:r>
              <a:rPr kumimoji="0" lang="zh-CN" altLang="en-US" b="1"/>
              <a:t>   静态存放全局数据</a:t>
            </a:r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>
                <a:solidFill>
                  <a:srgbClr val="800080"/>
                </a:solidFill>
              </a:rPr>
              <a:t>共享库和分别编译模块区</a:t>
            </a:r>
            <a:endParaRPr kumimoji="0" lang="zh-CN" altLang="en-US" b="1">
              <a:solidFill>
                <a:srgbClr val="800080"/>
              </a:solidFill>
              <a:latin typeface="Times New Roman" pitchFamily="18" charset="0"/>
            </a:endParaRPr>
          </a:p>
          <a:p>
            <a:pPr lvl="1">
              <a:buFontTx/>
              <a:buNone/>
            </a:pPr>
            <a:endParaRPr kumimoji="0" lang="zh-CN" altLang="en-US" sz="1000" b="1">
              <a:latin typeface="楷体_GB2312" pitchFamily="49" charset="-122"/>
            </a:endParaRPr>
          </a:p>
          <a:p>
            <a:pPr lvl="1">
              <a:buFontTx/>
              <a:buNone/>
            </a:pPr>
            <a:r>
              <a:rPr kumimoji="0" lang="zh-CN" altLang="en-US" b="1">
                <a:solidFill>
                  <a:srgbClr val="800080"/>
                </a:solidFill>
              </a:rPr>
              <a:t>   </a:t>
            </a:r>
            <a:r>
              <a:rPr kumimoji="0" lang="zh-CN" altLang="en-US" b="1"/>
              <a:t>静态存放这些模块的代码和全局数据</a:t>
            </a:r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>
                <a:solidFill>
                  <a:srgbClr val="800080"/>
                </a:solidFill>
              </a:rPr>
              <a:t>动态数据区</a:t>
            </a:r>
            <a:endParaRPr kumimoji="0" lang="zh-CN" altLang="en-US" b="1">
              <a:solidFill>
                <a:srgbClr val="800080"/>
              </a:solidFill>
              <a:latin typeface="Times New Roman" pitchFamily="18" charset="0"/>
            </a:endParaRPr>
          </a:p>
          <a:p>
            <a:pPr lvl="1">
              <a:buFontTx/>
              <a:buNone/>
            </a:pPr>
            <a:endParaRPr kumimoji="0" lang="zh-CN" altLang="en-US" sz="1000" b="1">
              <a:latin typeface="楷体_GB2312" pitchFamily="49" charset="-122"/>
            </a:endParaRPr>
          </a:p>
          <a:p>
            <a:pPr lvl="1">
              <a:buFontTx/>
              <a:buNone/>
            </a:pPr>
            <a:r>
              <a:rPr kumimoji="0" lang="zh-CN" altLang="en-US" b="1">
                <a:solidFill>
                  <a:srgbClr val="800080"/>
                </a:solidFill>
              </a:rPr>
              <a:t>   </a:t>
            </a:r>
            <a:r>
              <a:rPr kumimoji="0" lang="zh-CN" altLang="en-US" b="1"/>
              <a:t>运行时动态变化的堆区和栈区</a:t>
            </a:r>
          </a:p>
        </p:txBody>
      </p:sp>
      <p:sp>
        <p:nvSpPr>
          <p:cNvPr id="8197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8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9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0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1" name="Line 9"/>
          <p:cNvSpPr>
            <a:spLocks noChangeShapeType="1"/>
          </p:cNvSpPr>
          <p:nvPr/>
        </p:nvSpPr>
        <p:spPr bwMode="auto">
          <a:xfrm>
            <a:off x="6851650" y="1736725"/>
            <a:ext cx="0" cy="45720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202" name="Line 10"/>
          <p:cNvSpPr>
            <a:spLocks noChangeShapeType="1"/>
          </p:cNvSpPr>
          <p:nvPr/>
        </p:nvSpPr>
        <p:spPr bwMode="auto">
          <a:xfrm>
            <a:off x="8604250" y="1736725"/>
            <a:ext cx="0" cy="45720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203" name="Line 11"/>
          <p:cNvSpPr>
            <a:spLocks noChangeShapeType="1"/>
          </p:cNvSpPr>
          <p:nvPr/>
        </p:nvSpPr>
        <p:spPr bwMode="auto">
          <a:xfrm>
            <a:off x="6851650" y="1736725"/>
            <a:ext cx="1752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204" name="Line 12"/>
          <p:cNvSpPr>
            <a:spLocks noChangeShapeType="1"/>
          </p:cNvSpPr>
          <p:nvPr/>
        </p:nvSpPr>
        <p:spPr bwMode="auto">
          <a:xfrm>
            <a:off x="6851650" y="2133600"/>
            <a:ext cx="1752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205" name="Line 13"/>
          <p:cNvSpPr>
            <a:spLocks noChangeShapeType="1"/>
          </p:cNvSpPr>
          <p:nvPr/>
        </p:nvSpPr>
        <p:spPr bwMode="auto">
          <a:xfrm>
            <a:off x="6851650" y="5876925"/>
            <a:ext cx="1752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206" name="Line 14"/>
          <p:cNvSpPr>
            <a:spLocks noChangeShapeType="1"/>
          </p:cNvSpPr>
          <p:nvPr/>
        </p:nvSpPr>
        <p:spPr bwMode="auto">
          <a:xfrm>
            <a:off x="6851650" y="5373688"/>
            <a:ext cx="1752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207" name="Line 15"/>
          <p:cNvSpPr>
            <a:spLocks noChangeShapeType="1"/>
          </p:cNvSpPr>
          <p:nvPr/>
        </p:nvSpPr>
        <p:spPr bwMode="auto">
          <a:xfrm>
            <a:off x="6851650" y="4797425"/>
            <a:ext cx="1752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208" name="Line 16"/>
          <p:cNvSpPr>
            <a:spLocks noChangeShapeType="1"/>
          </p:cNvSpPr>
          <p:nvPr/>
        </p:nvSpPr>
        <p:spPr bwMode="auto">
          <a:xfrm>
            <a:off x="6851650" y="6308725"/>
            <a:ext cx="1752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209" name="Rectangle 17"/>
          <p:cNvSpPr>
            <a:spLocks noChangeArrowheads="1"/>
          </p:cNvSpPr>
          <p:nvPr/>
        </p:nvSpPr>
        <p:spPr bwMode="auto">
          <a:xfrm>
            <a:off x="6932613" y="1720850"/>
            <a:ext cx="1600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</a:rPr>
              <a:t>Reserved </a:t>
            </a:r>
          </a:p>
        </p:txBody>
      </p:sp>
      <p:sp>
        <p:nvSpPr>
          <p:cNvPr id="8210" name="Rectangle 18"/>
          <p:cNvSpPr>
            <a:spLocks noChangeArrowheads="1"/>
          </p:cNvSpPr>
          <p:nvPr/>
        </p:nvSpPr>
        <p:spPr bwMode="auto">
          <a:xfrm>
            <a:off x="6927850" y="5445125"/>
            <a:ext cx="1600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</a:rPr>
              <a:t>Code</a:t>
            </a:r>
          </a:p>
        </p:txBody>
      </p:sp>
      <p:sp>
        <p:nvSpPr>
          <p:cNvPr id="8211" name="Rectangle 19"/>
          <p:cNvSpPr>
            <a:spLocks noChangeArrowheads="1"/>
          </p:cNvSpPr>
          <p:nvPr/>
        </p:nvSpPr>
        <p:spPr bwMode="auto">
          <a:xfrm>
            <a:off x="6927850" y="4903788"/>
            <a:ext cx="1600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</a:rPr>
              <a:t>Static Data</a:t>
            </a:r>
          </a:p>
        </p:txBody>
      </p:sp>
      <p:sp>
        <p:nvSpPr>
          <p:cNvPr id="8212" name="Rectangle 20"/>
          <p:cNvSpPr>
            <a:spLocks noChangeArrowheads="1"/>
          </p:cNvSpPr>
          <p:nvPr/>
        </p:nvSpPr>
        <p:spPr bwMode="auto">
          <a:xfrm>
            <a:off x="6927850" y="3717925"/>
            <a:ext cx="16002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</a:rPr>
              <a:t>Library and Separate Modules</a:t>
            </a:r>
          </a:p>
        </p:txBody>
      </p:sp>
      <p:sp>
        <p:nvSpPr>
          <p:cNvPr id="8213" name="Rectangle 21"/>
          <p:cNvSpPr>
            <a:spLocks noChangeArrowheads="1"/>
          </p:cNvSpPr>
          <p:nvPr/>
        </p:nvSpPr>
        <p:spPr bwMode="auto">
          <a:xfrm>
            <a:off x="6856413" y="2100263"/>
            <a:ext cx="167640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</a:rPr>
              <a:t>Stack Space</a:t>
            </a:r>
          </a:p>
          <a:p>
            <a:pPr algn="ctr">
              <a:buFont typeface="Wingdings" pitchFamily="2" charset="2"/>
              <a:buNone/>
            </a:pPr>
            <a:endParaRPr lang="en-US" altLang="zh-CN" sz="500" i="1">
              <a:solidFill>
                <a:srgbClr val="800080"/>
              </a:solidFill>
            </a:endParaRPr>
          </a:p>
          <a:p>
            <a:pPr algn="ctr">
              <a:buFont typeface="Wingdings" pitchFamily="2" charset="2"/>
              <a:buNone/>
            </a:pPr>
            <a:r>
              <a:rPr lang="en-US" altLang="zh-CN" sz="2000" b="1">
                <a:solidFill>
                  <a:srgbClr val="800080"/>
                </a:solidFill>
                <a:sym typeface="Symbol" pitchFamily="18" charset="2"/>
              </a:rPr>
              <a:t> </a:t>
            </a:r>
            <a:r>
              <a:rPr lang="en-US" altLang="zh-CN" sz="2000" b="1">
                <a:sym typeface="Symbol" pitchFamily="18" charset="2"/>
              </a:rPr>
              <a:t></a:t>
            </a:r>
          </a:p>
        </p:txBody>
      </p:sp>
      <p:sp>
        <p:nvSpPr>
          <p:cNvPr id="8214" name="Rectangle 22"/>
          <p:cNvSpPr>
            <a:spLocks noChangeArrowheads="1"/>
          </p:cNvSpPr>
          <p:nvPr/>
        </p:nvSpPr>
        <p:spPr bwMode="auto">
          <a:xfrm>
            <a:off x="6865938" y="3014663"/>
            <a:ext cx="16668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b="1">
                <a:sym typeface="Symbol" pitchFamily="18" charset="2"/>
              </a:rPr>
              <a:t> </a:t>
            </a:r>
            <a:endParaRPr lang="en-US" altLang="zh-CN" sz="2000" b="1"/>
          </a:p>
          <a:p>
            <a:pPr algn="ctr">
              <a:buFont typeface="Wingdings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</a:rPr>
              <a:t>Heap Space</a:t>
            </a:r>
          </a:p>
        </p:txBody>
      </p:sp>
      <p:sp>
        <p:nvSpPr>
          <p:cNvPr id="8215" name="Rectangle 28"/>
          <p:cNvSpPr>
            <a:spLocks noChangeArrowheads="1"/>
          </p:cNvSpPr>
          <p:nvPr/>
        </p:nvSpPr>
        <p:spPr bwMode="auto">
          <a:xfrm>
            <a:off x="6932613" y="5911850"/>
            <a:ext cx="1600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</a:rPr>
              <a:t>Reserved </a:t>
            </a:r>
          </a:p>
        </p:txBody>
      </p:sp>
      <p:sp>
        <p:nvSpPr>
          <p:cNvPr id="8216" name="Line 29"/>
          <p:cNvSpPr>
            <a:spLocks noChangeShapeType="1"/>
          </p:cNvSpPr>
          <p:nvPr/>
        </p:nvSpPr>
        <p:spPr bwMode="auto">
          <a:xfrm>
            <a:off x="6877050" y="3716338"/>
            <a:ext cx="1752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217" name="Rectangle 30"/>
          <p:cNvSpPr>
            <a:spLocks noChangeArrowheads="1"/>
          </p:cNvSpPr>
          <p:nvPr/>
        </p:nvSpPr>
        <p:spPr bwMode="auto">
          <a:xfrm>
            <a:off x="4391025" y="1557338"/>
            <a:ext cx="21256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</a:rPr>
              <a:t>Highest address</a:t>
            </a:r>
          </a:p>
        </p:txBody>
      </p:sp>
      <p:sp>
        <p:nvSpPr>
          <p:cNvPr id="8218" name="Rectangle 31"/>
          <p:cNvSpPr>
            <a:spLocks noChangeArrowheads="1"/>
          </p:cNvSpPr>
          <p:nvPr/>
        </p:nvSpPr>
        <p:spPr bwMode="auto">
          <a:xfrm>
            <a:off x="4572000" y="5876925"/>
            <a:ext cx="20161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</a:rPr>
              <a:t>Lowest address</a:t>
            </a:r>
          </a:p>
        </p:txBody>
      </p:sp>
      <p:sp>
        <p:nvSpPr>
          <p:cNvPr id="8219" name="Line 32"/>
          <p:cNvSpPr>
            <a:spLocks noChangeShapeType="1"/>
          </p:cNvSpPr>
          <p:nvPr/>
        </p:nvSpPr>
        <p:spPr bwMode="auto">
          <a:xfrm>
            <a:off x="6413500" y="1773238"/>
            <a:ext cx="3810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220" name="Line 33"/>
          <p:cNvSpPr>
            <a:spLocks noChangeShapeType="1"/>
          </p:cNvSpPr>
          <p:nvPr/>
        </p:nvSpPr>
        <p:spPr bwMode="auto">
          <a:xfrm>
            <a:off x="6413500" y="6237288"/>
            <a:ext cx="3810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15494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533400" y="1020763"/>
            <a:ext cx="76390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程序运行时存储空间的布局</a:t>
            </a:r>
            <a:r>
              <a:rPr lang="zh-CN" altLang="en-US" sz="2800" b="1">
                <a:latin typeface="Times New Roman" pitchFamily="18" charset="0"/>
              </a:rPr>
              <a:t>（</a:t>
            </a:r>
            <a:r>
              <a:rPr lang="en-US" altLang="zh-CN" sz="2800" i="1"/>
              <a:t>layout</a:t>
            </a:r>
            <a:r>
              <a:rPr lang="zh-CN" altLang="en-US" sz="2800" b="1">
                <a:latin typeface="Times New Roman" pitchFamily="18" charset="0"/>
              </a:rPr>
              <a:t>）</a:t>
            </a: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609600" y="1600200"/>
            <a:ext cx="66992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用户程序运行时虚地址空间布局举例</a:t>
            </a:r>
            <a:endParaRPr kumimoji="0" lang="zh-CN" altLang="en-US" sz="1000" b="1">
              <a:solidFill>
                <a:srgbClr val="800080"/>
              </a:solidFill>
            </a:endParaRPr>
          </a:p>
        </p:txBody>
      </p:sp>
      <p:sp>
        <p:nvSpPr>
          <p:cNvPr id="9221" name="AutoShape 5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2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3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4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5" name="Line 9"/>
          <p:cNvSpPr>
            <a:spLocks noChangeShapeType="1"/>
          </p:cNvSpPr>
          <p:nvPr/>
        </p:nvSpPr>
        <p:spPr bwMode="auto">
          <a:xfrm>
            <a:off x="7010400" y="2205038"/>
            <a:ext cx="0" cy="3960812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26" name="Line 10"/>
          <p:cNvSpPr>
            <a:spLocks noChangeShapeType="1"/>
          </p:cNvSpPr>
          <p:nvPr/>
        </p:nvSpPr>
        <p:spPr bwMode="auto">
          <a:xfrm>
            <a:off x="8763000" y="2205038"/>
            <a:ext cx="0" cy="3960812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27" name="Line 12"/>
          <p:cNvSpPr>
            <a:spLocks noChangeShapeType="1"/>
          </p:cNvSpPr>
          <p:nvPr/>
        </p:nvSpPr>
        <p:spPr bwMode="auto">
          <a:xfrm>
            <a:off x="7010400" y="2711450"/>
            <a:ext cx="1752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28" name="Line 13"/>
          <p:cNvSpPr>
            <a:spLocks noChangeShapeType="1"/>
          </p:cNvSpPr>
          <p:nvPr/>
        </p:nvSpPr>
        <p:spPr bwMode="auto">
          <a:xfrm>
            <a:off x="7010400" y="5662613"/>
            <a:ext cx="1752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29" name="Line 14"/>
          <p:cNvSpPr>
            <a:spLocks noChangeShapeType="1"/>
          </p:cNvSpPr>
          <p:nvPr/>
        </p:nvSpPr>
        <p:spPr bwMode="auto">
          <a:xfrm>
            <a:off x="7010400" y="5014913"/>
            <a:ext cx="1752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30" name="Line 15"/>
          <p:cNvSpPr>
            <a:spLocks noChangeShapeType="1"/>
          </p:cNvSpPr>
          <p:nvPr/>
        </p:nvSpPr>
        <p:spPr bwMode="auto">
          <a:xfrm>
            <a:off x="7010400" y="4365625"/>
            <a:ext cx="1752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31" name="Line 16"/>
          <p:cNvSpPr>
            <a:spLocks noChangeShapeType="1"/>
          </p:cNvSpPr>
          <p:nvPr/>
        </p:nvSpPr>
        <p:spPr bwMode="auto">
          <a:xfrm>
            <a:off x="7010400" y="6165850"/>
            <a:ext cx="1752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32" name="Rectangle 19"/>
          <p:cNvSpPr>
            <a:spLocks noChangeArrowheads="1"/>
          </p:cNvSpPr>
          <p:nvPr/>
        </p:nvSpPr>
        <p:spPr bwMode="auto">
          <a:xfrm>
            <a:off x="7086600" y="5121275"/>
            <a:ext cx="1600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</a:rPr>
              <a:t>Code</a:t>
            </a:r>
          </a:p>
        </p:txBody>
      </p:sp>
      <p:sp>
        <p:nvSpPr>
          <p:cNvPr id="9233" name="Rectangle 21"/>
          <p:cNvSpPr>
            <a:spLocks noChangeArrowheads="1"/>
          </p:cNvSpPr>
          <p:nvPr/>
        </p:nvSpPr>
        <p:spPr bwMode="auto">
          <a:xfrm>
            <a:off x="7019925" y="2749550"/>
            <a:ext cx="167640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</a:rPr>
              <a:t>Stack Space</a:t>
            </a:r>
          </a:p>
          <a:p>
            <a:pPr algn="ctr">
              <a:buFont typeface="Wingdings" pitchFamily="2" charset="2"/>
              <a:buNone/>
            </a:pPr>
            <a:endParaRPr lang="en-US" altLang="zh-CN" sz="500" i="1">
              <a:solidFill>
                <a:srgbClr val="800080"/>
              </a:solidFill>
            </a:endParaRPr>
          </a:p>
          <a:p>
            <a:pPr algn="ctr">
              <a:buFont typeface="Wingdings" pitchFamily="2" charset="2"/>
              <a:buNone/>
            </a:pPr>
            <a:r>
              <a:rPr lang="en-US" altLang="zh-CN" sz="2000" b="1">
                <a:solidFill>
                  <a:srgbClr val="800080"/>
                </a:solidFill>
                <a:sym typeface="Symbol" pitchFamily="18" charset="2"/>
              </a:rPr>
              <a:t> </a:t>
            </a:r>
            <a:r>
              <a:rPr lang="en-US" altLang="zh-CN" sz="2000" b="1">
                <a:sym typeface="Symbol" pitchFamily="18" charset="2"/>
              </a:rPr>
              <a:t></a:t>
            </a:r>
          </a:p>
        </p:txBody>
      </p:sp>
      <p:sp>
        <p:nvSpPr>
          <p:cNvPr id="9234" name="Rectangle 22"/>
          <p:cNvSpPr>
            <a:spLocks noChangeArrowheads="1"/>
          </p:cNvSpPr>
          <p:nvPr/>
        </p:nvSpPr>
        <p:spPr bwMode="auto">
          <a:xfrm>
            <a:off x="7029450" y="3592513"/>
            <a:ext cx="16668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b="1">
                <a:sym typeface="Symbol" pitchFamily="18" charset="2"/>
              </a:rPr>
              <a:t> </a:t>
            </a:r>
            <a:endParaRPr lang="en-US" altLang="zh-CN" sz="2000" b="1"/>
          </a:p>
          <a:p>
            <a:pPr algn="ctr">
              <a:buFont typeface="Wingdings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</a:rPr>
              <a:t>Heap Space</a:t>
            </a:r>
          </a:p>
        </p:txBody>
      </p:sp>
      <p:sp>
        <p:nvSpPr>
          <p:cNvPr id="9235" name="Rectangle 24"/>
          <p:cNvSpPr>
            <a:spLocks noChangeArrowheads="1"/>
          </p:cNvSpPr>
          <p:nvPr/>
        </p:nvSpPr>
        <p:spPr bwMode="auto">
          <a:xfrm>
            <a:off x="5219700" y="5410200"/>
            <a:ext cx="14859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/>
              <a:t>0x400000</a:t>
            </a:r>
          </a:p>
        </p:txBody>
      </p:sp>
      <p:sp>
        <p:nvSpPr>
          <p:cNvPr id="9236" name="Line 26"/>
          <p:cNvSpPr>
            <a:spLocks noChangeShapeType="1"/>
          </p:cNvSpPr>
          <p:nvPr/>
        </p:nvSpPr>
        <p:spPr bwMode="auto">
          <a:xfrm>
            <a:off x="6629400" y="5632450"/>
            <a:ext cx="3810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37" name="Rectangle 27"/>
          <p:cNvSpPr>
            <a:spLocks noChangeArrowheads="1"/>
          </p:cNvSpPr>
          <p:nvPr/>
        </p:nvSpPr>
        <p:spPr bwMode="auto">
          <a:xfrm>
            <a:off x="7075488" y="4510088"/>
            <a:ext cx="1600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</a:rPr>
              <a:t>Static Data</a:t>
            </a:r>
          </a:p>
        </p:txBody>
      </p:sp>
      <p:sp>
        <p:nvSpPr>
          <p:cNvPr id="9238" name="Rectangle 28"/>
          <p:cNvSpPr>
            <a:spLocks noChangeArrowheads="1"/>
          </p:cNvSpPr>
          <p:nvPr/>
        </p:nvSpPr>
        <p:spPr bwMode="auto">
          <a:xfrm>
            <a:off x="5076825" y="4760913"/>
            <a:ext cx="16287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/>
              <a:t>0x10000000</a:t>
            </a:r>
          </a:p>
        </p:txBody>
      </p:sp>
      <p:sp>
        <p:nvSpPr>
          <p:cNvPr id="9239" name="Line 29"/>
          <p:cNvSpPr>
            <a:spLocks noChangeShapeType="1"/>
          </p:cNvSpPr>
          <p:nvPr/>
        </p:nvSpPr>
        <p:spPr bwMode="auto">
          <a:xfrm>
            <a:off x="6629400" y="4983163"/>
            <a:ext cx="3810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40" name="Rectangle 30"/>
          <p:cNvSpPr>
            <a:spLocks noChangeArrowheads="1"/>
          </p:cNvSpPr>
          <p:nvPr/>
        </p:nvSpPr>
        <p:spPr bwMode="auto">
          <a:xfrm>
            <a:off x="4932363" y="2528888"/>
            <a:ext cx="17732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/>
              <a:t>0x7FFFFFFF</a:t>
            </a:r>
          </a:p>
        </p:txBody>
      </p:sp>
      <p:sp>
        <p:nvSpPr>
          <p:cNvPr id="9241" name="Line 31"/>
          <p:cNvSpPr>
            <a:spLocks noChangeShapeType="1"/>
          </p:cNvSpPr>
          <p:nvPr/>
        </p:nvSpPr>
        <p:spPr bwMode="auto">
          <a:xfrm>
            <a:off x="6629400" y="2751138"/>
            <a:ext cx="3810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42" name="Line 32"/>
          <p:cNvSpPr>
            <a:spLocks noChangeShapeType="1"/>
          </p:cNvSpPr>
          <p:nvPr/>
        </p:nvSpPr>
        <p:spPr bwMode="auto">
          <a:xfrm>
            <a:off x="2689225" y="2205038"/>
            <a:ext cx="0" cy="3960812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43" name="Line 33"/>
          <p:cNvSpPr>
            <a:spLocks noChangeShapeType="1"/>
          </p:cNvSpPr>
          <p:nvPr/>
        </p:nvSpPr>
        <p:spPr bwMode="auto">
          <a:xfrm>
            <a:off x="4441825" y="2205038"/>
            <a:ext cx="0" cy="3960812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44" name="Line 34"/>
          <p:cNvSpPr>
            <a:spLocks noChangeShapeType="1"/>
          </p:cNvSpPr>
          <p:nvPr/>
        </p:nvSpPr>
        <p:spPr bwMode="auto">
          <a:xfrm>
            <a:off x="2689225" y="2711450"/>
            <a:ext cx="1752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45" name="Line 35"/>
          <p:cNvSpPr>
            <a:spLocks noChangeShapeType="1"/>
          </p:cNvSpPr>
          <p:nvPr/>
        </p:nvSpPr>
        <p:spPr bwMode="auto">
          <a:xfrm>
            <a:off x="2689225" y="5662613"/>
            <a:ext cx="1752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46" name="Line 36"/>
          <p:cNvSpPr>
            <a:spLocks noChangeShapeType="1"/>
          </p:cNvSpPr>
          <p:nvPr/>
        </p:nvSpPr>
        <p:spPr bwMode="auto">
          <a:xfrm>
            <a:off x="2689225" y="5014913"/>
            <a:ext cx="1752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47" name="Line 37"/>
          <p:cNvSpPr>
            <a:spLocks noChangeShapeType="1"/>
          </p:cNvSpPr>
          <p:nvPr/>
        </p:nvSpPr>
        <p:spPr bwMode="auto">
          <a:xfrm>
            <a:off x="2689225" y="4365625"/>
            <a:ext cx="1752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48" name="Line 38"/>
          <p:cNvSpPr>
            <a:spLocks noChangeShapeType="1"/>
          </p:cNvSpPr>
          <p:nvPr/>
        </p:nvSpPr>
        <p:spPr bwMode="auto">
          <a:xfrm>
            <a:off x="2689225" y="6165850"/>
            <a:ext cx="1752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49" name="Rectangle 40"/>
          <p:cNvSpPr>
            <a:spLocks noChangeArrowheads="1"/>
          </p:cNvSpPr>
          <p:nvPr/>
        </p:nvSpPr>
        <p:spPr bwMode="auto">
          <a:xfrm>
            <a:off x="2765425" y="5121275"/>
            <a:ext cx="1600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</a:rPr>
              <a:t>Code</a:t>
            </a:r>
          </a:p>
        </p:txBody>
      </p:sp>
      <p:sp>
        <p:nvSpPr>
          <p:cNvPr id="9250" name="Rectangle 41"/>
          <p:cNvSpPr>
            <a:spLocks noChangeArrowheads="1"/>
          </p:cNvSpPr>
          <p:nvPr/>
        </p:nvSpPr>
        <p:spPr bwMode="auto">
          <a:xfrm>
            <a:off x="2698750" y="2749550"/>
            <a:ext cx="167640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</a:rPr>
              <a:t>Stack Space</a:t>
            </a:r>
          </a:p>
          <a:p>
            <a:pPr algn="ctr">
              <a:buFont typeface="Wingdings" pitchFamily="2" charset="2"/>
              <a:buNone/>
            </a:pPr>
            <a:endParaRPr lang="en-US" altLang="zh-CN" sz="500" i="1">
              <a:solidFill>
                <a:srgbClr val="800080"/>
              </a:solidFill>
            </a:endParaRPr>
          </a:p>
          <a:p>
            <a:pPr algn="ctr">
              <a:buFont typeface="Wingdings" pitchFamily="2" charset="2"/>
              <a:buNone/>
            </a:pPr>
            <a:r>
              <a:rPr lang="en-US" altLang="zh-CN" sz="2000" b="1">
                <a:solidFill>
                  <a:srgbClr val="800080"/>
                </a:solidFill>
                <a:sym typeface="Symbol" pitchFamily="18" charset="2"/>
              </a:rPr>
              <a:t> </a:t>
            </a:r>
            <a:r>
              <a:rPr lang="en-US" altLang="zh-CN" sz="2000" b="1">
                <a:sym typeface="Symbol" pitchFamily="18" charset="2"/>
              </a:rPr>
              <a:t></a:t>
            </a:r>
          </a:p>
        </p:txBody>
      </p:sp>
      <p:sp>
        <p:nvSpPr>
          <p:cNvPr id="9251" name="Rectangle 42"/>
          <p:cNvSpPr>
            <a:spLocks noChangeArrowheads="1"/>
          </p:cNvSpPr>
          <p:nvPr/>
        </p:nvSpPr>
        <p:spPr bwMode="auto">
          <a:xfrm>
            <a:off x="2708275" y="3592513"/>
            <a:ext cx="16668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b="1">
                <a:sym typeface="Symbol" pitchFamily="18" charset="2"/>
              </a:rPr>
              <a:t> </a:t>
            </a:r>
            <a:endParaRPr lang="en-US" altLang="zh-CN" sz="2000" b="1"/>
          </a:p>
          <a:p>
            <a:pPr algn="ctr">
              <a:buFont typeface="Wingdings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</a:rPr>
              <a:t>Heap Space</a:t>
            </a:r>
          </a:p>
        </p:txBody>
      </p:sp>
      <p:sp>
        <p:nvSpPr>
          <p:cNvPr id="9252" name="Rectangle 43"/>
          <p:cNvSpPr>
            <a:spLocks noChangeArrowheads="1"/>
          </p:cNvSpPr>
          <p:nvPr/>
        </p:nvSpPr>
        <p:spPr bwMode="auto">
          <a:xfrm>
            <a:off x="898525" y="5410200"/>
            <a:ext cx="14859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/>
              <a:t>0x8048000</a:t>
            </a:r>
          </a:p>
        </p:txBody>
      </p:sp>
      <p:sp>
        <p:nvSpPr>
          <p:cNvPr id="9253" name="Line 44"/>
          <p:cNvSpPr>
            <a:spLocks noChangeShapeType="1"/>
          </p:cNvSpPr>
          <p:nvPr/>
        </p:nvSpPr>
        <p:spPr bwMode="auto">
          <a:xfrm>
            <a:off x="2308225" y="5632450"/>
            <a:ext cx="3810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54" name="Rectangle 45"/>
          <p:cNvSpPr>
            <a:spLocks noChangeArrowheads="1"/>
          </p:cNvSpPr>
          <p:nvPr/>
        </p:nvSpPr>
        <p:spPr bwMode="auto">
          <a:xfrm>
            <a:off x="2754313" y="4510088"/>
            <a:ext cx="1600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</a:rPr>
              <a:t>Static Data</a:t>
            </a:r>
          </a:p>
        </p:txBody>
      </p:sp>
      <p:sp>
        <p:nvSpPr>
          <p:cNvPr id="9255" name="Rectangle 46"/>
          <p:cNvSpPr>
            <a:spLocks noChangeArrowheads="1"/>
          </p:cNvSpPr>
          <p:nvPr/>
        </p:nvSpPr>
        <p:spPr bwMode="auto">
          <a:xfrm>
            <a:off x="755650" y="4760913"/>
            <a:ext cx="16287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/>
              <a:t>0x10000000</a:t>
            </a:r>
          </a:p>
        </p:txBody>
      </p:sp>
      <p:sp>
        <p:nvSpPr>
          <p:cNvPr id="9256" name="Line 47"/>
          <p:cNvSpPr>
            <a:spLocks noChangeShapeType="1"/>
          </p:cNvSpPr>
          <p:nvPr/>
        </p:nvSpPr>
        <p:spPr bwMode="auto">
          <a:xfrm>
            <a:off x="2308225" y="4983163"/>
            <a:ext cx="3810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57" name="Rectangle 48"/>
          <p:cNvSpPr>
            <a:spLocks noChangeArrowheads="1"/>
          </p:cNvSpPr>
          <p:nvPr/>
        </p:nvSpPr>
        <p:spPr bwMode="auto">
          <a:xfrm>
            <a:off x="611188" y="2528888"/>
            <a:ext cx="17732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/>
              <a:t>0xBFFFFFFF</a:t>
            </a:r>
          </a:p>
        </p:txBody>
      </p:sp>
      <p:sp>
        <p:nvSpPr>
          <p:cNvPr id="9258" name="Line 49"/>
          <p:cNvSpPr>
            <a:spLocks noChangeShapeType="1"/>
          </p:cNvSpPr>
          <p:nvPr/>
        </p:nvSpPr>
        <p:spPr bwMode="auto">
          <a:xfrm>
            <a:off x="2308225" y="2751138"/>
            <a:ext cx="3810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59" name="Line 50"/>
          <p:cNvSpPr>
            <a:spLocks noChangeShapeType="1"/>
          </p:cNvSpPr>
          <p:nvPr/>
        </p:nvSpPr>
        <p:spPr bwMode="auto">
          <a:xfrm>
            <a:off x="2674938" y="2205038"/>
            <a:ext cx="1752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60" name="Line 51"/>
          <p:cNvSpPr>
            <a:spLocks noChangeShapeType="1"/>
          </p:cNvSpPr>
          <p:nvPr/>
        </p:nvSpPr>
        <p:spPr bwMode="auto">
          <a:xfrm>
            <a:off x="6996113" y="2205038"/>
            <a:ext cx="1752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61" name="Rectangle 52"/>
          <p:cNvSpPr>
            <a:spLocks noChangeArrowheads="1"/>
          </p:cNvSpPr>
          <p:nvPr/>
        </p:nvSpPr>
        <p:spPr bwMode="auto">
          <a:xfrm>
            <a:off x="684213" y="6272213"/>
            <a:ext cx="22050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b="1" i="1">
                <a:solidFill>
                  <a:srgbClr val="990099"/>
                </a:solidFill>
              </a:rPr>
              <a:t>Linux on IA-32</a:t>
            </a:r>
          </a:p>
        </p:txBody>
      </p:sp>
      <p:sp>
        <p:nvSpPr>
          <p:cNvPr id="9262" name="Rectangle 53"/>
          <p:cNvSpPr>
            <a:spLocks noChangeArrowheads="1"/>
          </p:cNvSpPr>
          <p:nvPr/>
        </p:nvSpPr>
        <p:spPr bwMode="auto">
          <a:xfrm>
            <a:off x="4716463" y="6308725"/>
            <a:ext cx="29511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b="1" i="1">
                <a:solidFill>
                  <a:srgbClr val="990099"/>
                </a:solidFill>
              </a:rPr>
              <a:t>System V on MIPS-32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15494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533400" y="1371600"/>
            <a:ext cx="6705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存储分配策略</a:t>
            </a:r>
          </a:p>
        </p:txBody>
      </p:sp>
      <p:sp>
        <p:nvSpPr>
          <p:cNvPr id="10244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5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6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7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876300" y="2057400"/>
            <a:ext cx="8039100" cy="368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静态分配</a:t>
            </a:r>
            <a:endParaRPr kumimoji="0" lang="zh-CN" altLang="en-US" sz="2800" b="1">
              <a:solidFill>
                <a:srgbClr val="800080"/>
              </a:solidFill>
              <a:latin typeface="Times New Roman" pitchFamily="18" charset="0"/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在</a:t>
            </a:r>
            <a:r>
              <a:rPr lang="zh-CN" altLang="en-US" b="1">
                <a:solidFill>
                  <a:srgbClr val="800080"/>
                </a:solidFill>
              </a:rPr>
              <a:t>编译期间</a:t>
            </a:r>
            <a:r>
              <a:rPr lang="zh-CN" altLang="en-US" b="1"/>
              <a:t>为</a:t>
            </a:r>
            <a:r>
              <a:rPr lang="zh-CN" altLang="en-US" b="1">
                <a:latin typeface="Times New Roman" pitchFamily="18" charset="0"/>
              </a:rPr>
              <a:t>数据对象分配存储</a:t>
            </a:r>
          </a:p>
          <a:p>
            <a:pPr lvl="1">
              <a:buFontTx/>
              <a:buNone/>
            </a:pPr>
            <a:endParaRPr lang="zh-CN" altLang="en-US" sz="1000" b="1">
              <a:latin typeface="Times New Roman" pitchFamily="18" charset="0"/>
            </a:endParaRPr>
          </a:p>
          <a:p>
            <a:pPr>
              <a:buClrTx/>
              <a:buFont typeface="Symbol" pitchFamily="18" charset="2"/>
              <a:buChar char="-"/>
            </a:pPr>
            <a:r>
              <a:rPr lang="zh-CN" altLang="en-US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动态分配</a:t>
            </a:r>
            <a:endParaRPr kumimoji="0" lang="zh-CN" altLang="en-US" b="1"/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lang="zh-CN" altLang="en-US" b="1">
                <a:solidFill>
                  <a:srgbClr val="800080"/>
                </a:solidFill>
              </a:rPr>
              <a:t>栈式分配</a:t>
            </a:r>
            <a:endParaRPr kumimoji="0" lang="zh-CN" altLang="en-US" b="1">
              <a:solidFill>
                <a:srgbClr val="800080"/>
              </a:solidFill>
            </a:endParaRPr>
          </a:p>
          <a:p>
            <a:pPr lvl="1">
              <a:buFontTx/>
              <a:buNone/>
            </a:pPr>
            <a:endParaRPr kumimoji="0" lang="zh-CN" altLang="en-US" sz="1000" b="1"/>
          </a:p>
          <a:p>
            <a:pPr lvl="1">
              <a:buFontTx/>
              <a:buNone/>
            </a:pPr>
            <a:r>
              <a:rPr kumimoji="0" lang="zh-CN" altLang="en-US" b="1"/>
              <a:t>   将数据对象的</a:t>
            </a:r>
            <a:r>
              <a:rPr kumimoji="0" lang="zh-CN" altLang="en-US" b="1">
                <a:solidFill>
                  <a:srgbClr val="800080"/>
                </a:solidFill>
              </a:rPr>
              <a:t>运行时</a:t>
            </a:r>
            <a:r>
              <a:rPr kumimoji="0" lang="zh-CN" altLang="en-US" b="1"/>
              <a:t>存储按照栈的方式来管理</a:t>
            </a:r>
          </a:p>
          <a:p>
            <a:pPr lvl="1">
              <a:buFontTx/>
              <a:buNone/>
            </a:pPr>
            <a:endParaRPr kumimoji="0" lang="zh-CN" altLang="en-US" sz="1000" b="1"/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lang="zh-CN" altLang="en-US" b="1">
                <a:solidFill>
                  <a:srgbClr val="800080"/>
                </a:solidFill>
              </a:rPr>
              <a:t>堆式分配</a:t>
            </a:r>
            <a:endParaRPr kumimoji="0" lang="zh-CN" altLang="en-US" b="1">
              <a:solidFill>
                <a:srgbClr val="800080"/>
              </a:solidFill>
            </a:endParaRPr>
          </a:p>
          <a:p>
            <a:pPr lvl="1">
              <a:buFontTx/>
              <a:buNone/>
            </a:pPr>
            <a:endParaRPr kumimoji="0" lang="zh-CN" altLang="en-US" sz="1000" b="1"/>
          </a:p>
          <a:p>
            <a:pPr lvl="1">
              <a:buFontTx/>
              <a:buNone/>
            </a:pPr>
            <a:r>
              <a:rPr kumimoji="0" lang="zh-CN" altLang="en-US" b="1"/>
              <a:t>   从数据段的堆空间分配和释放数据对象的</a:t>
            </a:r>
            <a:r>
              <a:rPr kumimoji="0" lang="zh-CN" altLang="en-US" b="1">
                <a:solidFill>
                  <a:srgbClr val="800080"/>
                </a:solidFill>
              </a:rPr>
              <a:t>运行时</a:t>
            </a:r>
            <a:r>
              <a:rPr kumimoji="0" lang="zh-CN" altLang="en-US" b="1"/>
              <a:t>存储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15494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609600" y="1193800"/>
            <a:ext cx="6705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静态存储分配</a:t>
            </a:r>
          </a:p>
        </p:txBody>
      </p:sp>
      <p:sp>
        <p:nvSpPr>
          <p:cNvPr id="11268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9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0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1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2" name="Rectangle 8"/>
          <p:cNvSpPr>
            <a:spLocks noChangeArrowheads="1"/>
          </p:cNvSpPr>
          <p:nvPr/>
        </p:nvSpPr>
        <p:spPr bwMode="auto">
          <a:xfrm>
            <a:off x="876300" y="1916113"/>
            <a:ext cx="8267700" cy="426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</a:rPr>
              <a:t>在编译期间就可确定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数据对象的大小</a:t>
            </a:r>
            <a:endParaRPr kumimoji="0" lang="zh-CN" altLang="en-US" sz="2800" b="1">
              <a:solidFill>
                <a:srgbClr val="800080"/>
              </a:solidFill>
              <a:latin typeface="Times New Roman" pitchFamily="18" charset="0"/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不宜处理递归过程或函数</a:t>
            </a:r>
            <a:endParaRPr lang="zh-CN" altLang="en-US" b="1">
              <a:latin typeface="Times New Roman" pitchFamily="18" charset="0"/>
            </a:endParaRPr>
          </a:p>
          <a:p>
            <a:pPr lvl="1">
              <a:buFontTx/>
              <a:buNone/>
            </a:pPr>
            <a:endParaRPr lang="zh-CN" altLang="en-US" sz="1000" b="1">
              <a:latin typeface="Times New Roman" pitchFamily="18" charset="0"/>
            </a:endParaRPr>
          </a:p>
          <a:p>
            <a:pPr>
              <a:buClrTx/>
              <a:buFont typeface="Symbol" pitchFamily="18" charset="2"/>
              <a:buChar char="-"/>
            </a:pPr>
            <a:r>
              <a:rPr lang="zh-CN" altLang="en-US" sz="2800" b="1">
                <a:solidFill>
                  <a:srgbClr val="800080"/>
                </a:solidFill>
                <a:latin typeface="楷体_GB2312" pitchFamily="49" charset="-122"/>
              </a:rPr>
              <a:t> 某些语言中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所有存储都是静态分配</a:t>
            </a:r>
            <a:endParaRPr kumimoji="0" lang="zh-CN" altLang="en-US" b="1"/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/>
              <a:t>如早期的</a:t>
            </a:r>
            <a:r>
              <a:rPr kumimoji="0" lang="en-US" altLang="zh-CN"/>
              <a:t>FORTRAN</a:t>
            </a:r>
            <a:r>
              <a:rPr kumimoji="0" lang="zh-CN" altLang="en-US" b="1"/>
              <a:t>语言，</a:t>
            </a:r>
            <a:r>
              <a:rPr kumimoji="0" lang="en-US" altLang="zh-CN"/>
              <a:t>COBOL</a:t>
            </a:r>
            <a:r>
              <a:rPr kumimoji="0" lang="zh-CN" altLang="en-US" b="1"/>
              <a:t>语言</a:t>
            </a:r>
          </a:p>
          <a:p>
            <a:pPr lvl="1">
              <a:buFontTx/>
              <a:buNone/>
            </a:pPr>
            <a:endParaRPr lang="zh-CN" altLang="en-US" sz="1000" b="1">
              <a:latin typeface="Times New Roman" pitchFamily="18" charset="0"/>
            </a:endParaRPr>
          </a:p>
          <a:p>
            <a:pPr>
              <a:buClrTx/>
              <a:buFont typeface="Symbol" pitchFamily="18" charset="2"/>
              <a:buChar char="-"/>
            </a:pPr>
            <a:r>
              <a:rPr lang="zh-CN" altLang="en-US" sz="2800" b="1">
                <a:solidFill>
                  <a:srgbClr val="800080"/>
                </a:solidFill>
                <a:latin typeface="楷体_GB2312" pitchFamily="49" charset="-122"/>
              </a:rPr>
              <a:t> 多数语言只有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部分存储进行静态分配</a:t>
            </a:r>
            <a:endParaRPr kumimoji="0" lang="zh-CN" altLang="en-US" b="1"/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kumimoji="0" lang="zh-CN" altLang="en-US" b="1"/>
              <a:t>  可静态分配的数据对象如大小固定且在程序执行期间</a:t>
            </a:r>
          </a:p>
          <a:p>
            <a:pPr lvl="1">
              <a:buFontTx/>
              <a:buNone/>
            </a:pPr>
            <a:r>
              <a:rPr kumimoji="0" lang="zh-CN" altLang="en-US" b="1"/>
              <a:t>   可全程访问的</a:t>
            </a:r>
            <a:r>
              <a:rPr kumimoji="0" lang="zh-CN" altLang="en-US" b="1">
                <a:solidFill>
                  <a:srgbClr val="800080"/>
                </a:solidFill>
              </a:rPr>
              <a:t>全局变量</a:t>
            </a:r>
            <a:r>
              <a:rPr kumimoji="0" lang="zh-CN" altLang="en-US" b="1"/>
              <a:t>，以及程序中的</a:t>
            </a:r>
            <a:r>
              <a:rPr kumimoji="0" lang="zh-CN" altLang="en-US" b="1">
                <a:solidFill>
                  <a:srgbClr val="800080"/>
                </a:solidFill>
              </a:rPr>
              <a:t>常量</a:t>
            </a:r>
            <a:r>
              <a:rPr kumimoji="0" lang="zh-CN" altLang="en-US" b="1"/>
              <a:t>（</a:t>
            </a:r>
            <a:r>
              <a:rPr kumimoji="0" lang="en-US" altLang="zh-CN" i="1"/>
              <a:t>literals</a:t>
            </a:r>
            <a:r>
              <a:rPr kumimoji="0" lang="zh-CN" altLang="en-US" b="1"/>
              <a:t>）</a:t>
            </a:r>
          </a:p>
          <a:p>
            <a:pPr lvl="1">
              <a:buFontTx/>
              <a:buNone/>
            </a:pPr>
            <a:endParaRPr kumimoji="0" lang="zh-CN" altLang="en-US" sz="1000" b="1"/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/>
              <a:t>如 </a:t>
            </a:r>
            <a:r>
              <a:rPr kumimoji="0" lang="en-US" altLang="zh-CN"/>
              <a:t>C++ </a:t>
            </a:r>
            <a:r>
              <a:rPr kumimoji="0" lang="zh-CN" altLang="en-US" b="1"/>
              <a:t>中的 </a:t>
            </a:r>
            <a:r>
              <a:rPr kumimoji="0" lang="en-US" altLang="zh-CN"/>
              <a:t>static</a:t>
            </a:r>
            <a:r>
              <a:rPr kumimoji="0" lang="en-US" altLang="zh-CN" b="1"/>
              <a:t> </a:t>
            </a:r>
            <a:r>
              <a:rPr kumimoji="0" lang="zh-CN" altLang="en-US" b="1"/>
              <a:t>变量</a:t>
            </a:r>
          </a:p>
          <a:p>
            <a:pPr lvl="1">
              <a:buFontTx/>
              <a:buNone/>
            </a:pPr>
            <a:endParaRPr kumimoji="0" lang="en-US" altLang="zh-CN" sz="1000" b="1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15494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609600" y="1287463"/>
            <a:ext cx="6705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栈式存储分配</a:t>
            </a:r>
          </a:p>
        </p:txBody>
      </p:sp>
      <p:sp>
        <p:nvSpPr>
          <p:cNvPr id="12292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3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4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5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762000" y="1990725"/>
            <a:ext cx="8267700" cy="338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用于有效实现可动态嵌套的程序结构</a:t>
            </a:r>
            <a:endParaRPr kumimoji="0" lang="zh-CN" altLang="en-US" sz="2800" b="1">
              <a:solidFill>
                <a:srgbClr val="800080"/>
              </a:solidFill>
              <a:latin typeface="Times New Roman" pitchFamily="18" charset="0"/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如实现</a:t>
            </a:r>
            <a:r>
              <a:rPr lang="zh-CN" altLang="en-US" b="1">
                <a:solidFill>
                  <a:srgbClr val="800080"/>
                </a:solidFill>
              </a:rPr>
              <a:t>过程</a:t>
            </a:r>
            <a:r>
              <a:rPr lang="en-US" altLang="zh-CN" b="1">
                <a:solidFill>
                  <a:srgbClr val="800080"/>
                </a:solidFill>
              </a:rPr>
              <a:t>/</a:t>
            </a:r>
            <a:r>
              <a:rPr lang="zh-CN" altLang="en-US" b="1">
                <a:solidFill>
                  <a:srgbClr val="800080"/>
                </a:solidFill>
              </a:rPr>
              <a:t>函数</a:t>
            </a:r>
            <a:r>
              <a:rPr lang="zh-CN" altLang="en-US" b="1"/>
              <a:t>，</a:t>
            </a:r>
            <a:r>
              <a:rPr lang="zh-CN" altLang="en-US" b="1">
                <a:solidFill>
                  <a:srgbClr val="800080"/>
                </a:solidFill>
              </a:rPr>
              <a:t>块层次结构</a:t>
            </a:r>
          </a:p>
          <a:p>
            <a:pPr lvl="1">
              <a:buFontTx/>
              <a:buNone/>
            </a:pPr>
            <a:endParaRPr lang="zh-CN" altLang="en-US" sz="1000" b="1">
              <a:latin typeface="Times New Roman" pitchFamily="18" charset="0"/>
            </a:endParaRPr>
          </a:p>
          <a:p>
            <a:pPr>
              <a:buClrTx/>
              <a:buFont typeface="Symbol" pitchFamily="18" charset="2"/>
              <a:buChar char="-"/>
            </a:pPr>
            <a:r>
              <a:rPr lang="zh-CN" altLang="en-US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可以实现递归过程</a:t>
            </a:r>
            <a:r>
              <a:rPr lang="en-US" altLang="zh-CN" sz="2800" b="1">
                <a:solidFill>
                  <a:srgbClr val="800080"/>
                </a:solidFill>
                <a:latin typeface="Times New Roman" pitchFamily="18" charset="0"/>
              </a:rPr>
              <a:t>/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函数</a:t>
            </a:r>
            <a:endParaRPr kumimoji="0" lang="zh-CN" altLang="en-US" b="1"/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/>
              <a:t>比较：静态分配</a:t>
            </a:r>
            <a:r>
              <a:rPr lang="zh-CN" altLang="en-US" b="1"/>
              <a:t>不宜实现递归过程</a:t>
            </a:r>
            <a:r>
              <a:rPr lang="en-US" altLang="zh-CN" b="1"/>
              <a:t>/</a:t>
            </a:r>
            <a:r>
              <a:rPr lang="zh-CN" altLang="en-US" b="1"/>
              <a:t>函数</a:t>
            </a:r>
            <a:endParaRPr kumimoji="0" lang="zh-CN" altLang="en-US" b="1"/>
          </a:p>
          <a:p>
            <a:pPr lvl="1">
              <a:buFontTx/>
              <a:buNone/>
            </a:pPr>
            <a:endParaRPr lang="zh-CN" altLang="en-US" sz="1000" b="1">
              <a:latin typeface="Times New Roman" pitchFamily="18" charset="0"/>
            </a:endParaRPr>
          </a:p>
          <a:p>
            <a:pPr>
              <a:buClrTx/>
              <a:buFont typeface="Symbol" pitchFamily="18" charset="2"/>
              <a:buChar char="-"/>
            </a:pPr>
            <a:r>
              <a:rPr lang="zh-CN" altLang="en-US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运行栈中的数据单元是活动记录</a:t>
            </a:r>
            <a:r>
              <a:rPr lang="zh-CN" altLang="en-US"/>
              <a:t>（</a:t>
            </a:r>
            <a:r>
              <a:rPr lang="en-US" altLang="zh-CN" i="1"/>
              <a:t>activation record</a:t>
            </a:r>
            <a:r>
              <a:rPr lang="en-US" altLang="zh-CN"/>
              <a:t>)</a:t>
            </a:r>
            <a:endParaRPr kumimoji="0" lang="en-US" altLang="zh-CN"/>
          </a:p>
          <a:p>
            <a:pPr lvl="1">
              <a:buFontTx/>
              <a:buNone/>
            </a:pPr>
            <a:endParaRPr kumimoji="0" lang="en-US" altLang="zh-CN" sz="1000" b="1"/>
          </a:p>
          <a:p>
            <a:pPr>
              <a:buFontTx/>
              <a:buNone/>
            </a:pPr>
            <a:r>
              <a:rPr kumimoji="0" lang="en-US" altLang="zh-CN" b="1"/>
              <a:t>    </a:t>
            </a:r>
            <a:r>
              <a:rPr kumimoji="0" lang="zh-CN" altLang="en-US" b="1"/>
              <a:t>（专门介绍）</a:t>
            </a:r>
          </a:p>
          <a:p>
            <a:pPr lvl="1">
              <a:buFontTx/>
              <a:buNone/>
            </a:pPr>
            <a:endParaRPr kumimoji="0" lang="en-US" altLang="zh-CN" sz="1000" b="1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15494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530225" y="1265238"/>
            <a:ext cx="6705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 </a:t>
            </a:r>
            <a:r>
              <a:rPr kumimoji="0" lang="zh-CN" altLang="en-US" sz="3200" b="1">
                <a:solidFill>
                  <a:srgbClr val="800080"/>
                </a:solidFill>
              </a:rPr>
              <a:t>堆式存储分配</a:t>
            </a:r>
          </a:p>
        </p:txBody>
      </p:sp>
      <p:sp>
        <p:nvSpPr>
          <p:cNvPr id="13316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7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8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9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0" name="Rectangle 8"/>
          <p:cNvSpPr>
            <a:spLocks noChangeArrowheads="1"/>
          </p:cNvSpPr>
          <p:nvPr/>
        </p:nvSpPr>
        <p:spPr bwMode="auto">
          <a:xfrm>
            <a:off x="754063" y="1916113"/>
            <a:ext cx="8281987" cy="3960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从堆空间为数据对象分配</a:t>
            </a:r>
            <a:r>
              <a:rPr lang="en-US" altLang="zh-CN" sz="2800" b="1">
                <a:solidFill>
                  <a:srgbClr val="800080"/>
                </a:solidFill>
                <a:latin typeface="Times New Roman" pitchFamily="18" charset="0"/>
              </a:rPr>
              <a:t>/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释放存储</a:t>
            </a:r>
            <a:endParaRPr kumimoji="0" lang="zh-CN" altLang="en-US" sz="2800" b="1">
              <a:solidFill>
                <a:srgbClr val="800080"/>
              </a:solidFill>
              <a:latin typeface="Times New Roman" pitchFamily="18" charset="0"/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lang="zh-CN" altLang="en-US" b="1">
                <a:solidFill>
                  <a:srgbClr val="800080"/>
                </a:solidFill>
              </a:rPr>
              <a:t>灵活  </a:t>
            </a:r>
            <a:r>
              <a:rPr kumimoji="0" lang="zh-CN" altLang="en-US" b="1"/>
              <a:t>数据对象的存储分配和释放不限时间和次序</a:t>
            </a:r>
            <a:endParaRPr lang="zh-CN" altLang="en-US" b="1">
              <a:solidFill>
                <a:srgbClr val="800080"/>
              </a:solidFill>
            </a:endParaRPr>
          </a:p>
          <a:p>
            <a:pPr lvl="1">
              <a:buFontTx/>
              <a:buNone/>
            </a:pPr>
            <a:endParaRPr lang="zh-CN" altLang="en-US" sz="1000" b="1">
              <a:latin typeface="Times New Roman" pitchFamily="18" charset="0"/>
            </a:endParaRPr>
          </a:p>
          <a:p>
            <a:pPr>
              <a:buClrTx/>
              <a:buFont typeface="Symbol" pitchFamily="18" charset="2"/>
              <a:buChar char="-"/>
            </a:pPr>
            <a:r>
              <a:rPr lang="zh-CN" altLang="en-US" sz="2800" b="1">
                <a:solidFill>
                  <a:srgbClr val="800080"/>
                </a:solidFill>
                <a:latin typeface="楷体_GB2312" pitchFamily="49" charset="-122"/>
              </a:rPr>
              <a:t> 显式的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分配或释放</a:t>
            </a:r>
            <a:r>
              <a:rPr lang="zh-CN" altLang="en-US"/>
              <a:t>（</a:t>
            </a:r>
            <a:r>
              <a:rPr lang="en-US" altLang="zh-CN" i="1"/>
              <a:t>explicit allocation / dealocation</a:t>
            </a:r>
            <a:r>
              <a:rPr lang="zh-CN" altLang="en-US"/>
              <a:t>）</a:t>
            </a:r>
            <a:endParaRPr kumimoji="0" lang="zh-CN" altLang="en-US" b="1"/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/>
              <a:t>程序员负责应用程序的（堆）存储空间管理（借助于</a:t>
            </a:r>
          </a:p>
          <a:p>
            <a:pPr lvl="1">
              <a:buFontTx/>
              <a:buNone/>
            </a:pPr>
            <a:r>
              <a:rPr kumimoji="0" lang="zh-CN" altLang="en-US" b="1"/>
              <a:t>   编译器与（或）运行时系统所提供的默认存储管理机制）</a:t>
            </a:r>
          </a:p>
          <a:p>
            <a:pPr lvl="1">
              <a:buFontTx/>
              <a:buNone/>
            </a:pPr>
            <a:endParaRPr lang="zh-CN" altLang="en-US" sz="1000" b="1">
              <a:latin typeface="Times New Roman" pitchFamily="18" charset="0"/>
            </a:endParaRPr>
          </a:p>
          <a:p>
            <a:pPr>
              <a:buClrTx/>
              <a:buFont typeface="Symbol" pitchFamily="18" charset="2"/>
              <a:buChar char="-"/>
            </a:pPr>
            <a:r>
              <a:rPr lang="zh-CN" altLang="en-US" sz="2800" b="1">
                <a:solidFill>
                  <a:srgbClr val="800080"/>
                </a:solidFill>
                <a:latin typeface="楷体_GB2312" pitchFamily="49" charset="-122"/>
              </a:rPr>
              <a:t> 隐式的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分配或释放</a:t>
            </a:r>
            <a:r>
              <a:rPr lang="zh-CN" altLang="en-US"/>
              <a:t>（</a:t>
            </a:r>
            <a:r>
              <a:rPr lang="en-US" altLang="zh-CN" i="1"/>
              <a:t>implicit allocation / dealocation</a:t>
            </a:r>
            <a:r>
              <a:rPr lang="zh-CN" altLang="en-US"/>
              <a:t>）</a:t>
            </a:r>
            <a:endParaRPr kumimoji="0" lang="zh-CN" altLang="en-US" b="1"/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/>
              <a:t>（堆）存储空间的分配或释放不需要程序员负责，由</a:t>
            </a:r>
          </a:p>
          <a:p>
            <a:pPr lvl="1">
              <a:buFontTx/>
              <a:buNone/>
            </a:pPr>
            <a:r>
              <a:rPr kumimoji="0" lang="zh-CN" altLang="en-US" b="1"/>
              <a:t>   编译器与（或）运行时系统自动完成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ChangeArrowheads="1"/>
          </p:cNvSpPr>
          <p:nvPr/>
        </p:nvSpPr>
        <p:spPr bwMode="auto">
          <a:xfrm>
            <a:off x="15494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14339" name="Text Box 4"/>
          <p:cNvSpPr txBox="1">
            <a:spLocks noChangeArrowheads="1"/>
          </p:cNvSpPr>
          <p:nvPr/>
        </p:nvSpPr>
        <p:spPr bwMode="auto">
          <a:xfrm>
            <a:off x="609600" y="1274763"/>
            <a:ext cx="6705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堆式存储分配</a:t>
            </a:r>
          </a:p>
        </p:txBody>
      </p:sp>
      <p:sp>
        <p:nvSpPr>
          <p:cNvPr id="14340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1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2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3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4" name="Rectangle 9"/>
          <p:cNvSpPr>
            <a:spLocks noChangeArrowheads="1"/>
          </p:cNvSpPr>
          <p:nvPr/>
        </p:nvSpPr>
        <p:spPr bwMode="auto">
          <a:xfrm>
            <a:off x="762000" y="1978025"/>
            <a:ext cx="8267700" cy="389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楷体_GB2312" pitchFamily="49" charset="-122"/>
              </a:rPr>
              <a:t>某些语言有显式的堆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空间分配和释放命令</a:t>
            </a:r>
            <a:endParaRPr kumimoji="0" lang="zh-CN" altLang="en-US" b="1"/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/>
              <a:t>如：</a:t>
            </a:r>
            <a:r>
              <a:rPr kumimoji="0" lang="en-US" altLang="zh-CN" b="1"/>
              <a:t>Pascal </a:t>
            </a:r>
            <a:r>
              <a:rPr kumimoji="0" lang="zh-CN" altLang="en-US" b="1"/>
              <a:t>中的 </a:t>
            </a:r>
            <a:r>
              <a:rPr kumimoji="0" lang="en-US" altLang="zh-CN" b="1" i="1">
                <a:solidFill>
                  <a:srgbClr val="800080"/>
                </a:solidFill>
              </a:rPr>
              <a:t>new</a:t>
            </a:r>
            <a:r>
              <a:rPr kumimoji="0" lang="en-US" altLang="zh-CN" b="1"/>
              <a:t> , </a:t>
            </a:r>
            <a:r>
              <a:rPr kumimoji="0" lang="en-US" altLang="zh-CN" b="1" i="1">
                <a:solidFill>
                  <a:srgbClr val="800080"/>
                </a:solidFill>
              </a:rPr>
              <a:t>deposit</a:t>
            </a:r>
          </a:p>
          <a:p>
            <a:pPr lvl="1">
              <a:buFontTx/>
              <a:buNone/>
            </a:pPr>
            <a:r>
              <a:rPr kumimoji="0" lang="en-US" altLang="zh-CN" b="1"/>
              <a:t>           C++ </a:t>
            </a:r>
            <a:r>
              <a:rPr kumimoji="0" lang="zh-CN" altLang="en-US" b="1"/>
              <a:t>中的 </a:t>
            </a:r>
            <a:r>
              <a:rPr kumimoji="0" lang="en-US" altLang="zh-CN" b="1" i="1">
                <a:solidFill>
                  <a:srgbClr val="800080"/>
                </a:solidFill>
              </a:rPr>
              <a:t>new</a:t>
            </a:r>
            <a:r>
              <a:rPr kumimoji="0" lang="en-US" altLang="zh-CN" b="1"/>
              <a:t> , </a:t>
            </a:r>
            <a:r>
              <a:rPr kumimoji="0" lang="en-US" altLang="zh-CN" b="1" i="1">
                <a:solidFill>
                  <a:srgbClr val="800080"/>
                </a:solidFill>
              </a:rPr>
              <a:t>delete</a:t>
            </a:r>
          </a:p>
          <a:p>
            <a:pPr lvl="1">
              <a:buFontTx/>
              <a:buNone/>
            </a:pPr>
            <a:endParaRPr kumimoji="0" lang="en-US" altLang="zh-CN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en-US" altLang="zh-CN" b="1"/>
              <a:t>  </a:t>
            </a:r>
            <a:r>
              <a:rPr kumimoji="0" lang="zh-CN" altLang="en-US" b="1"/>
              <a:t>比较：</a:t>
            </a:r>
            <a:r>
              <a:rPr kumimoji="0" lang="en-US" altLang="zh-CN" b="1"/>
              <a:t>C </a:t>
            </a:r>
            <a:r>
              <a:rPr kumimoji="0" lang="zh-CN" altLang="en-US" b="1"/>
              <a:t>语言没有堆空间管理机制，</a:t>
            </a:r>
            <a:r>
              <a:rPr kumimoji="0" lang="en-US" altLang="zh-CN" b="1" i="1">
                <a:solidFill>
                  <a:srgbClr val="800080"/>
                </a:solidFill>
              </a:rPr>
              <a:t>malloc()</a:t>
            </a:r>
            <a:r>
              <a:rPr kumimoji="0" lang="en-US" altLang="zh-CN" b="1"/>
              <a:t> </a:t>
            </a:r>
            <a:r>
              <a:rPr kumimoji="0" lang="zh-CN" altLang="en-US" b="1"/>
              <a:t>和 </a:t>
            </a:r>
            <a:r>
              <a:rPr kumimoji="0" lang="en-US" altLang="zh-CN" b="1" i="1">
                <a:solidFill>
                  <a:srgbClr val="800080"/>
                </a:solidFill>
              </a:rPr>
              <a:t>free()</a:t>
            </a:r>
            <a:r>
              <a:rPr kumimoji="0" lang="en-US" altLang="zh-CN" b="1"/>
              <a:t> </a:t>
            </a:r>
          </a:p>
          <a:p>
            <a:pPr lvl="1">
              <a:buFontTx/>
              <a:buNone/>
            </a:pPr>
            <a:r>
              <a:rPr kumimoji="0" lang="en-US" altLang="zh-CN" b="1"/>
              <a:t>   </a:t>
            </a:r>
            <a:r>
              <a:rPr kumimoji="0" lang="zh-CN" altLang="en-US" b="1"/>
              <a:t>是标准库中的函数，可以由 </a:t>
            </a:r>
            <a:r>
              <a:rPr kumimoji="0" lang="en-US" altLang="zh-CN" i="1"/>
              <a:t>library vendor</a:t>
            </a:r>
            <a:r>
              <a:rPr kumimoji="0" lang="en-US" altLang="zh-CN" b="1"/>
              <a:t> </a:t>
            </a:r>
            <a:r>
              <a:rPr kumimoji="0" lang="zh-CN" altLang="en-US" b="1"/>
              <a:t>提供              </a:t>
            </a:r>
          </a:p>
          <a:p>
            <a:pPr lvl="1">
              <a:buFontTx/>
              <a:buNone/>
            </a:pPr>
            <a:endParaRPr lang="zh-CN" altLang="en-US" sz="1000" b="1">
              <a:latin typeface="Times New Roman" pitchFamily="18" charset="0"/>
            </a:endParaRPr>
          </a:p>
          <a:p>
            <a:pPr>
              <a:buClrTx/>
              <a:buFont typeface="Symbol" pitchFamily="18" charset="2"/>
              <a:buChar char="-"/>
            </a:pPr>
            <a:r>
              <a:rPr lang="zh-CN" altLang="en-US" sz="2800" b="1">
                <a:solidFill>
                  <a:srgbClr val="800080"/>
                </a:solidFill>
                <a:latin typeface="楷体_GB2312" pitchFamily="49" charset="-122"/>
              </a:rPr>
              <a:t> 某些语言支持隐式的堆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空间释放</a:t>
            </a:r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/>
              <a:t>采用</a:t>
            </a:r>
            <a:r>
              <a:rPr kumimoji="0" lang="zh-CN" altLang="en-US" b="1">
                <a:solidFill>
                  <a:srgbClr val="800080"/>
                </a:solidFill>
              </a:rPr>
              <a:t>垃圾回收</a:t>
            </a:r>
            <a:r>
              <a:rPr lang="zh-CN" altLang="en-US"/>
              <a:t>（</a:t>
            </a:r>
            <a:r>
              <a:rPr lang="en-US" altLang="zh-CN" i="1"/>
              <a:t>garbage collection</a:t>
            </a:r>
            <a:r>
              <a:rPr lang="zh-CN" altLang="en-US"/>
              <a:t>）</a:t>
            </a:r>
            <a:r>
              <a:rPr kumimoji="0" lang="zh-CN" altLang="en-US" b="1"/>
              <a:t>机制</a:t>
            </a:r>
            <a:endParaRPr kumimoji="0" lang="zh-CN" altLang="en-US" b="1" i="1">
              <a:solidFill>
                <a:srgbClr val="800080"/>
              </a:solidFill>
            </a:endParaRPr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/>
              <a:t>如：</a:t>
            </a:r>
            <a:r>
              <a:rPr kumimoji="0" lang="en-US" altLang="zh-CN" b="1"/>
              <a:t>Java </a:t>
            </a:r>
            <a:r>
              <a:rPr kumimoji="0" lang="zh-CN" altLang="en-US" b="1"/>
              <a:t>程序员不需要考虑对象的析构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15494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609600" y="1225550"/>
            <a:ext cx="6705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堆式存储分配</a:t>
            </a:r>
          </a:p>
        </p:txBody>
      </p:sp>
      <p:sp>
        <p:nvSpPr>
          <p:cNvPr id="15364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5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6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7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762000" y="1928813"/>
            <a:ext cx="8267700" cy="2436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不释放堆空间的方法</a:t>
            </a:r>
            <a:endParaRPr kumimoji="0" lang="zh-CN" altLang="en-US" sz="2800" b="1">
              <a:solidFill>
                <a:srgbClr val="800080"/>
              </a:solidFill>
              <a:latin typeface="Times New Roman" pitchFamily="18" charset="0"/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只分配空间，不</a:t>
            </a:r>
            <a:r>
              <a:rPr kumimoji="0" lang="zh-CN" altLang="en-US" b="1"/>
              <a:t>释放空间，空间耗尽时停止</a:t>
            </a:r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/>
              <a:t>适合于堆数据对象多数为一旦分配，永久使用的情形</a:t>
            </a:r>
            <a:endParaRPr kumimoji="0" lang="zh-CN" altLang="en-US" b="1" i="1">
              <a:solidFill>
                <a:srgbClr val="800080"/>
              </a:solidFill>
            </a:endParaRPr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/>
              <a:t>在虚存很大及无用数据对象不致带来很大零乱的情形</a:t>
            </a:r>
          </a:p>
          <a:p>
            <a:pPr lvl="1">
              <a:buFontTx/>
              <a:buNone/>
            </a:pPr>
            <a:r>
              <a:rPr kumimoji="0" lang="zh-CN" altLang="en-US" b="1"/>
              <a:t>   也可采用</a:t>
            </a:r>
            <a:endParaRPr kumimoji="0" lang="zh-CN" altLang="en-US" sz="1000" b="1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15494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609600" y="1143000"/>
            <a:ext cx="6705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堆式存储分配</a:t>
            </a:r>
          </a:p>
        </p:txBody>
      </p:sp>
      <p:sp>
        <p:nvSpPr>
          <p:cNvPr id="16388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89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0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1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2" name="Rectangle 8"/>
          <p:cNvSpPr>
            <a:spLocks noChangeArrowheads="1"/>
          </p:cNvSpPr>
          <p:nvPr/>
        </p:nvSpPr>
        <p:spPr bwMode="auto">
          <a:xfrm>
            <a:off x="762000" y="1846263"/>
            <a:ext cx="8267700" cy="2589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显式释放堆空间的方法</a:t>
            </a:r>
            <a:endParaRPr kumimoji="0" lang="zh-CN" altLang="en-US" sz="2800" b="1">
              <a:solidFill>
                <a:srgbClr val="800080"/>
              </a:solidFill>
              <a:latin typeface="Times New Roman" pitchFamily="18" charset="0"/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/>
              <a:t>用户负责清空无用的数据空间（通过执行释放命令）</a:t>
            </a:r>
          </a:p>
          <a:p>
            <a:pPr lvl="1">
              <a:buFontTx/>
              <a:buNone/>
            </a:pPr>
            <a:endParaRPr kumimoji="0" lang="zh-CN" altLang="en-US" sz="1000" b="1"/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/>
              <a:t>堆管理程序只维护可供分配命令使用的空闲空间</a:t>
            </a:r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/>
              <a:t>问题：可能导致灾难性的 </a:t>
            </a:r>
            <a:r>
              <a:rPr kumimoji="0" lang="en-US" altLang="zh-CN" b="1" i="1">
                <a:solidFill>
                  <a:srgbClr val="800080"/>
                </a:solidFill>
              </a:rPr>
              <a:t>dangling pointer</a:t>
            </a:r>
            <a:r>
              <a:rPr kumimoji="0" lang="en-US" altLang="zh-CN" b="1"/>
              <a:t> </a:t>
            </a:r>
            <a:r>
              <a:rPr kumimoji="0" lang="zh-CN" altLang="en-US" b="1"/>
              <a:t>错误</a:t>
            </a:r>
            <a:endParaRPr kumimoji="0" lang="zh-CN" altLang="en-US" b="1" i="1">
              <a:solidFill>
                <a:srgbClr val="800080"/>
              </a:solidFill>
            </a:endParaRPr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None/>
            </a:pPr>
            <a:r>
              <a:rPr kumimoji="0" lang="zh-CN" altLang="en-US" b="1"/>
              <a:t>   例：</a:t>
            </a:r>
            <a:r>
              <a:rPr kumimoji="0" lang="en-US" altLang="zh-CN" b="1"/>
              <a:t>Pascal </a:t>
            </a:r>
            <a:r>
              <a:rPr kumimoji="0" lang="zh-CN" altLang="en-US" b="1"/>
              <a:t>代码片断          </a:t>
            </a:r>
            <a:r>
              <a:rPr kumimoji="0" lang="en-US" altLang="zh-CN" b="1"/>
              <a:t>C++ </a:t>
            </a:r>
            <a:r>
              <a:rPr kumimoji="0" lang="zh-CN" altLang="en-US" b="1"/>
              <a:t>代码片断</a:t>
            </a:r>
            <a:endParaRPr lang="zh-CN" altLang="en-US" sz="2800">
              <a:solidFill>
                <a:srgbClr val="800080"/>
              </a:solidFill>
              <a:latin typeface="Times New Roman" pitchFamily="18" charset="0"/>
            </a:endParaRPr>
          </a:p>
        </p:txBody>
      </p:sp>
      <p:sp>
        <p:nvSpPr>
          <p:cNvPr id="16393" name="Text Box 9"/>
          <p:cNvSpPr txBox="1">
            <a:spLocks noChangeArrowheads="1"/>
          </p:cNvSpPr>
          <p:nvPr/>
        </p:nvSpPr>
        <p:spPr bwMode="auto">
          <a:xfrm>
            <a:off x="2590800" y="4572000"/>
            <a:ext cx="1828800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kumimoji="0" lang="en-US" altLang="zh-CN" sz="2000"/>
              <a:t>var p,q: ^real; 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…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new(p);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q:=p;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dispose(p);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q^:=1.0;</a:t>
            </a:r>
          </a:p>
        </p:txBody>
      </p:sp>
      <p:sp>
        <p:nvSpPr>
          <p:cNvPr id="16394" name="Text Box 10"/>
          <p:cNvSpPr txBox="1">
            <a:spLocks noChangeArrowheads="1"/>
          </p:cNvSpPr>
          <p:nvPr/>
        </p:nvSpPr>
        <p:spPr bwMode="auto">
          <a:xfrm>
            <a:off x="5486400" y="4572000"/>
            <a:ext cx="1828800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kumimoji="0" lang="en-US" altLang="zh-CN" sz="2000"/>
              <a:t> float  * p,*q; 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…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 p=new  float;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q=p;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delete p;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*q:=1.0;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15494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609600" y="1243013"/>
            <a:ext cx="6705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堆式存储分配</a:t>
            </a:r>
          </a:p>
        </p:txBody>
      </p:sp>
      <p:sp>
        <p:nvSpPr>
          <p:cNvPr id="17412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3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4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5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6" name="Rectangle 8"/>
          <p:cNvSpPr>
            <a:spLocks noChangeArrowheads="1"/>
          </p:cNvSpPr>
          <p:nvPr/>
        </p:nvSpPr>
        <p:spPr bwMode="auto">
          <a:xfrm>
            <a:off x="762000" y="1946275"/>
            <a:ext cx="8267700" cy="155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隐式释放堆空间的方法</a:t>
            </a:r>
            <a:endParaRPr kumimoji="0" lang="zh-CN" altLang="en-US" sz="2800" b="1">
              <a:solidFill>
                <a:srgbClr val="800080"/>
              </a:solidFill>
              <a:latin typeface="Times New Roman" pitchFamily="18" charset="0"/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主要技术：</a:t>
            </a:r>
            <a:r>
              <a:rPr lang="zh-CN" altLang="en-US" b="1">
                <a:solidFill>
                  <a:srgbClr val="800080"/>
                </a:solidFill>
              </a:rPr>
              <a:t> </a:t>
            </a:r>
            <a:r>
              <a:rPr kumimoji="0" lang="zh-CN" altLang="en-US" b="1">
                <a:solidFill>
                  <a:srgbClr val="800080"/>
                </a:solidFill>
              </a:rPr>
              <a:t>垃圾回收</a:t>
            </a:r>
            <a:r>
              <a:rPr lang="zh-CN" altLang="en-US"/>
              <a:t>（</a:t>
            </a:r>
            <a:r>
              <a:rPr lang="en-US" altLang="zh-CN" i="1"/>
              <a:t>garbage collection</a:t>
            </a:r>
            <a:r>
              <a:rPr lang="zh-CN" altLang="en-US"/>
              <a:t>）</a:t>
            </a:r>
            <a:r>
              <a:rPr lang="zh-CN" altLang="en-US" b="1">
                <a:solidFill>
                  <a:srgbClr val="800080"/>
                </a:solidFill>
              </a:rPr>
              <a:t>机制</a:t>
            </a:r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>
              <a:buFontTx/>
              <a:buNone/>
            </a:pPr>
            <a:r>
              <a:rPr kumimoji="0" lang="zh-CN" altLang="en-US" b="1"/>
              <a:t>   （可以分专门的话题讨论，超出本课程范围）</a:t>
            </a:r>
            <a:endParaRPr lang="zh-CN" altLang="en-US" sz="2800" b="1">
              <a:solidFill>
                <a:srgbClr val="80008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15494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609600" y="1250950"/>
            <a:ext cx="6705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堆式存储分配</a:t>
            </a:r>
          </a:p>
        </p:txBody>
      </p:sp>
      <p:sp>
        <p:nvSpPr>
          <p:cNvPr id="18436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7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8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9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762000" y="1954213"/>
            <a:ext cx="8267700" cy="435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堆空间的管理</a:t>
            </a:r>
            <a:endParaRPr kumimoji="0" lang="zh-CN" altLang="en-US" sz="2800" b="1">
              <a:solidFill>
                <a:srgbClr val="800080"/>
              </a:solidFill>
              <a:latin typeface="Times New Roman" pitchFamily="18" charset="0"/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>
                <a:solidFill>
                  <a:srgbClr val="800080"/>
                </a:solidFill>
              </a:rPr>
              <a:t>分配</a:t>
            </a:r>
            <a:r>
              <a:rPr lang="zh-CN" altLang="en-US" b="1">
                <a:solidFill>
                  <a:srgbClr val="800080"/>
                </a:solidFill>
              </a:rPr>
              <a:t>算法   </a:t>
            </a:r>
            <a:r>
              <a:rPr kumimoji="0" lang="zh-CN" altLang="en-US" b="1"/>
              <a:t>面对多个可用的存储块，选择哪一个</a:t>
            </a:r>
            <a:endParaRPr lang="zh-CN" altLang="en-US" b="1">
              <a:solidFill>
                <a:srgbClr val="800080"/>
              </a:solidFill>
            </a:endParaRPr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None/>
            </a:pPr>
            <a:r>
              <a:rPr kumimoji="0" lang="zh-CN" altLang="en-US" b="1"/>
              <a:t>   如：</a:t>
            </a:r>
            <a:r>
              <a:rPr kumimoji="0" lang="zh-CN" altLang="en-US" b="1">
                <a:solidFill>
                  <a:srgbClr val="800080"/>
                </a:solidFill>
              </a:rPr>
              <a:t>最佳适应算法</a:t>
            </a:r>
            <a:r>
              <a:rPr kumimoji="0" lang="zh-CN" altLang="en-US" b="1"/>
              <a:t>（选择浪费最少的存储块）</a:t>
            </a:r>
          </a:p>
          <a:p>
            <a:pPr lvl="1">
              <a:buFontTx/>
              <a:buNone/>
            </a:pPr>
            <a:endParaRPr kumimoji="0" lang="zh-CN" altLang="en-US" sz="1000" b="1"/>
          </a:p>
          <a:p>
            <a:pPr lvl="1">
              <a:buFontTx/>
              <a:buNone/>
            </a:pPr>
            <a:r>
              <a:rPr kumimoji="0" lang="zh-CN" altLang="en-US" b="1">
                <a:solidFill>
                  <a:srgbClr val="800080"/>
                </a:solidFill>
              </a:rPr>
              <a:t>          最先适应算法</a:t>
            </a:r>
            <a:r>
              <a:rPr kumimoji="0" lang="zh-CN" altLang="en-US" b="1"/>
              <a:t>（选择最先找到的足够大的存储块）</a:t>
            </a:r>
          </a:p>
          <a:p>
            <a:pPr lvl="1">
              <a:buFontTx/>
              <a:buNone/>
            </a:pPr>
            <a:endParaRPr kumimoji="0" lang="zh-CN" altLang="en-US" sz="1000" b="1"/>
          </a:p>
          <a:p>
            <a:pPr lvl="1">
              <a:buFontTx/>
              <a:buNone/>
            </a:pPr>
            <a:r>
              <a:rPr kumimoji="0" lang="zh-CN" altLang="en-US" b="1">
                <a:solidFill>
                  <a:srgbClr val="800080"/>
                </a:solidFill>
              </a:rPr>
              <a:t>          循环最先适应算法</a:t>
            </a:r>
            <a:r>
              <a:rPr kumimoji="0" lang="zh-CN" altLang="en-US" b="1"/>
              <a:t>（起始点不同的最先适应算法）</a:t>
            </a: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>
                <a:solidFill>
                  <a:srgbClr val="800080"/>
                </a:solidFill>
              </a:rPr>
              <a:t>碎片整理算法</a:t>
            </a:r>
            <a:r>
              <a:rPr lang="zh-CN" altLang="en-US" b="1">
                <a:solidFill>
                  <a:srgbClr val="800080"/>
                </a:solidFill>
              </a:rPr>
              <a:t>   </a:t>
            </a:r>
            <a:r>
              <a:rPr kumimoji="0" lang="zh-CN" altLang="en-US" b="1"/>
              <a:t>压缩合并小的存储块，使其更可用</a:t>
            </a:r>
            <a:endParaRPr lang="zh-CN" altLang="en-US" b="1">
              <a:solidFill>
                <a:srgbClr val="800080"/>
              </a:solidFill>
            </a:endParaRPr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>
              <a:buFontTx/>
              <a:buNone/>
            </a:pPr>
            <a:r>
              <a:rPr kumimoji="0" lang="zh-CN" altLang="en-US" b="1"/>
              <a:t>（ 可以分专门的话题讨论，超出本课程范围）</a:t>
            </a:r>
          </a:p>
          <a:p>
            <a:pPr>
              <a:buFontTx/>
              <a:buNone/>
            </a:pPr>
            <a:r>
              <a:rPr kumimoji="0" lang="zh-CN" altLang="en-US" b="1"/>
              <a:t>（ 部分内容可参考数据结构和操作系统课程）</a:t>
            </a:r>
          </a:p>
          <a:p>
            <a:pPr lvl="1">
              <a:buFontTx/>
              <a:buNone/>
            </a:pPr>
            <a:endParaRPr kumimoji="0" lang="en-US" altLang="zh-CN" b="1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15494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609600" y="1219200"/>
            <a:ext cx="6705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活动记录</a:t>
            </a:r>
            <a:r>
              <a:rPr kumimoji="0" lang="zh-CN" altLang="en-US" sz="2800" b="1"/>
              <a:t>（</a:t>
            </a:r>
            <a:r>
              <a:rPr kumimoji="0" lang="en-US" altLang="zh-CN" sz="2800" i="1"/>
              <a:t>activation record</a:t>
            </a:r>
            <a:r>
              <a:rPr kumimoji="0" lang="zh-CN" altLang="en-US" sz="2800" b="1"/>
              <a:t>）</a:t>
            </a:r>
          </a:p>
        </p:txBody>
      </p:sp>
      <p:sp>
        <p:nvSpPr>
          <p:cNvPr id="19460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1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2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3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762000" y="1830388"/>
            <a:ext cx="8267700" cy="228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过程活动记录</a:t>
            </a:r>
            <a:endParaRPr kumimoji="0" lang="zh-CN" altLang="en-US" sz="2800" b="1">
              <a:solidFill>
                <a:srgbClr val="800080"/>
              </a:solidFill>
              <a:latin typeface="Times New Roman" pitchFamily="18" charset="0"/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函数</a:t>
            </a:r>
            <a:r>
              <a:rPr lang="en-US" altLang="zh-CN" b="1"/>
              <a:t>/</a:t>
            </a:r>
            <a:r>
              <a:rPr lang="zh-CN" altLang="en-US" b="1"/>
              <a:t>过程调用或返回时，在运行栈上创建或</a:t>
            </a:r>
            <a:r>
              <a:rPr kumimoji="0" lang="zh-CN" altLang="en-US" b="1"/>
              <a:t>从</a:t>
            </a:r>
            <a:r>
              <a:rPr lang="zh-CN" altLang="en-US" b="1"/>
              <a:t>运行栈</a:t>
            </a:r>
          </a:p>
          <a:p>
            <a:pPr lvl="1">
              <a:buFontTx/>
              <a:buNone/>
            </a:pPr>
            <a:r>
              <a:rPr lang="zh-CN" altLang="en-US" b="1"/>
              <a:t>   上消去的</a:t>
            </a:r>
            <a:r>
              <a:rPr lang="zh-CN" altLang="en-US" b="1">
                <a:solidFill>
                  <a:srgbClr val="800080"/>
                </a:solidFill>
              </a:rPr>
              <a:t>栈帧</a:t>
            </a:r>
            <a:r>
              <a:rPr kumimoji="0" lang="zh-CN" altLang="en-US" b="1"/>
              <a:t>（</a:t>
            </a:r>
            <a:r>
              <a:rPr kumimoji="0" lang="en-US" altLang="zh-CN" i="1"/>
              <a:t>frame</a:t>
            </a:r>
            <a:r>
              <a:rPr kumimoji="0" lang="zh-CN" altLang="en-US" b="1"/>
              <a:t>）</a:t>
            </a:r>
            <a:endParaRPr lang="zh-CN" altLang="en-US" b="1">
              <a:solidFill>
                <a:srgbClr val="800080"/>
              </a:solidFill>
            </a:endParaRPr>
          </a:p>
          <a:p>
            <a:pPr lvl="1">
              <a:buFontTx/>
              <a:buNone/>
            </a:pPr>
            <a:r>
              <a:rPr lang="zh-CN" altLang="en-US" sz="1000" b="1">
                <a:solidFill>
                  <a:srgbClr val="800080"/>
                </a:solidFill>
              </a:rPr>
              <a:t>   </a:t>
            </a:r>
          </a:p>
          <a:p>
            <a:pPr lvl="1">
              <a:buFontTx/>
              <a:buNone/>
            </a:pPr>
            <a:r>
              <a:rPr lang="zh-CN" altLang="en-US" b="1">
                <a:solidFill>
                  <a:srgbClr val="800080"/>
                </a:solidFill>
              </a:rPr>
              <a:t>   </a:t>
            </a:r>
            <a:r>
              <a:rPr lang="zh-CN" altLang="en-US" b="1"/>
              <a:t>包含</a:t>
            </a:r>
            <a:r>
              <a:rPr lang="zh-CN" altLang="en-US" b="1">
                <a:solidFill>
                  <a:srgbClr val="800080"/>
                </a:solidFill>
              </a:rPr>
              <a:t>局部变量</a:t>
            </a:r>
            <a:r>
              <a:rPr lang="zh-CN" altLang="en-US" b="1"/>
              <a:t>，</a:t>
            </a:r>
            <a:r>
              <a:rPr lang="zh-CN" altLang="en-US" b="1">
                <a:solidFill>
                  <a:srgbClr val="800080"/>
                </a:solidFill>
              </a:rPr>
              <a:t>函数实参</a:t>
            </a:r>
            <a:r>
              <a:rPr lang="zh-CN" altLang="en-US" b="1"/>
              <a:t>，</a:t>
            </a:r>
            <a:r>
              <a:rPr lang="zh-CN" altLang="en-US" b="1">
                <a:solidFill>
                  <a:srgbClr val="800080"/>
                </a:solidFill>
              </a:rPr>
              <a:t>临时值</a:t>
            </a:r>
            <a:r>
              <a:rPr lang="zh-CN" altLang="en-US" b="1"/>
              <a:t>（用于表达式计算的</a:t>
            </a:r>
          </a:p>
          <a:p>
            <a:pPr lvl="1">
              <a:buFontTx/>
              <a:buNone/>
            </a:pPr>
            <a:r>
              <a:rPr lang="zh-CN" altLang="en-US" b="1"/>
              <a:t>   中间单元）等数据信息以及必要的</a:t>
            </a:r>
            <a:r>
              <a:rPr lang="zh-CN" altLang="en-US" b="1">
                <a:solidFill>
                  <a:srgbClr val="800080"/>
                </a:solidFill>
              </a:rPr>
              <a:t>控制信息</a:t>
            </a:r>
          </a:p>
        </p:txBody>
      </p:sp>
      <p:sp>
        <p:nvSpPr>
          <p:cNvPr id="19465" name="Line 10"/>
          <p:cNvSpPr>
            <a:spLocks noChangeShapeType="1"/>
          </p:cNvSpPr>
          <p:nvPr/>
        </p:nvSpPr>
        <p:spPr bwMode="auto">
          <a:xfrm>
            <a:off x="5410200" y="4419600"/>
            <a:ext cx="0" cy="19812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466" name="Line 11"/>
          <p:cNvSpPr>
            <a:spLocks noChangeShapeType="1"/>
          </p:cNvSpPr>
          <p:nvPr/>
        </p:nvSpPr>
        <p:spPr bwMode="auto">
          <a:xfrm>
            <a:off x="7467600" y="4419600"/>
            <a:ext cx="0" cy="19812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467" name="Line 12"/>
          <p:cNvSpPr>
            <a:spLocks noChangeShapeType="1"/>
          </p:cNvSpPr>
          <p:nvPr/>
        </p:nvSpPr>
        <p:spPr bwMode="auto">
          <a:xfrm>
            <a:off x="5410200" y="6400800"/>
            <a:ext cx="20574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468" name="Line 13"/>
          <p:cNvSpPr>
            <a:spLocks noChangeShapeType="1"/>
          </p:cNvSpPr>
          <p:nvPr/>
        </p:nvSpPr>
        <p:spPr bwMode="auto">
          <a:xfrm>
            <a:off x="5410200" y="5638800"/>
            <a:ext cx="20574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469" name="Line 14"/>
          <p:cNvSpPr>
            <a:spLocks noChangeShapeType="1"/>
          </p:cNvSpPr>
          <p:nvPr/>
        </p:nvSpPr>
        <p:spPr bwMode="auto">
          <a:xfrm>
            <a:off x="5410200" y="4419600"/>
            <a:ext cx="20574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470" name="Rectangle 15"/>
          <p:cNvSpPr>
            <a:spLocks noChangeArrowheads="1"/>
          </p:cNvSpPr>
          <p:nvPr/>
        </p:nvSpPr>
        <p:spPr bwMode="auto">
          <a:xfrm>
            <a:off x="5759450" y="5791200"/>
            <a:ext cx="1409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b="1">
                <a:solidFill>
                  <a:srgbClr val="800080"/>
                </a:solidFill>
              </a:rPr>
              <a:t>控制信息</a:t>
            </a:r>
          </a:p>
        </p:txBody>
      </p:sp>
      <p:sp>
        <p:nvSpPr>
          <p:cNvPr id="19471" name="Rectangle 17"/>
          <p:cNvSpPr>
            <a:spLocks noChangeArrowheads="1"/>
          </p:cNvSpPr>
          <p:nvPr/>
        </p:nvSpPr>
        <p:spPr bwMode="auto">
          <a:xfrm>
            <a:off x="5759450" y="4800600"/>
            <a:ext cx="1409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b="1">
                <a:solidFill>
                  <a:srgbClr val="800080"/>
                </a:solidFill>
              </a:rPr>
              <a:t>数据信息</a:t>
            </a:r>
          </a:p>
        </p:txBody>
      </p:sp>
      <p:sp>
        <p:nvSpPr>
          <p:cNvPr id="19472" name="Line 18"/>
          <p:cNvSpPr>
            <a:spLocks noChangeShapeType="1"/>
          </p:cNvSpPr>
          <p:nvPr/>
        </p:nvSpPr>
        <p:spPr bwMode="auto">
          <a:xfrm flipH="1">
            <a:off x="4572000" y="6248400"/>
            <a:ext cx="8382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 type="triangle" w="med" len="med"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473" name="Rectangle 19"/>
          <p:cNvSpPr>
            <a:spLocks noChangeArrowheads="1"/>
          </p:cNvSpPr>
          <p:nvPr/>
        </p:nvSpPr>
        <p:spPr bwMode="auto">
          <a:xfrm>
            <a:off x="684213" y="5995988"/>
            <a:ext cx="4175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/>
              <a:t>     </a:t>
            </a:r>
            <a:r>
              <a:rPr lang="zh-CN" altLang="en-US" b="1"/>
              <a:t>活动记录起始地址</a:t>
            </a:r>
          </a:p>
        </p:txBody>
      </p:sp>
      <p:sp>
        <p:nvSpPr>
          <p:cNvPr id="19474" name="Line 20"/>
          <p:cNvSpPr>
            <a:spLocks noChangeShapeType="1"/>
          </p:cNvSpPr>
          <p:nvPr/>
        </p:nvSpPr>
        <p:spPr bwMode="auto">
          <a:xfrm flipH="1">
            <a:off x="4211638" y="4740275"/>
            <a:ext cx="1122362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 type="triangle" w="med" len="med"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475" name="Rectangle 21"/>
          <p:cNvSpPr>
            <a:spLocks noChangeArrowheads="1"/>
          </p:cNvSpPr>
          <p:nvPr/>
        </p:nvSpPr>
        <p:spPr bwMode="auto">
          <a:xfrm>
            <a:off x="981075" y="4267200"/>
            <a:ext cx="3519488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b="1"/>
              <a:t>某个数据对象的地址</a:t>
            </a:r>
            <a:r>
              <a:rPr lang="en-US" altLang="zh-CN"/>
              <a:t>=</a:t>
            </a:r>
            <a:r>
              <a:rPr lang="en-US" altLang="zh-CN" b="1"/>
              <a:t>     </a:t>
            </a:r>
          </a:p>
          <a:p>
            <a:pPr>
              <a:buFont typeface="Wingdings" pitchFamily="2" charset="2"/>
              <a:buNone/>
            </a:pPr>
            <a:r>
              <a:rPr lang="en-US" altLang="zh-CN" b="1"/>
              <a:t>    </a:t>
            </a:r>
            <a:r>
              <a:rPr lang="zh-CN" altLang="en-US" b="1"/>
              <a:t>活动记录起始地址</a:t>
            </a:r>
          </a:p>
          <a:p>
            <a:pPr>
              <a:buFont typeface="Wingdings" pitchFamily="2" charset="2"/>
              <a:buNone/>
            </a:pPr>
            <a:r>
              <a:rPr lang="zh-CN" altLang="en-US"/>
              <a:t>    </a:t>
            </a:r>
            <a:r>
              <a:rPr lang="en-US" altLang="zh-CN"/>
              <a:t>+  </a:t>
            </a:r>
            <a:r>
              <a:rPr lang="zh-CN" altLang="en-US" b="1"/>
              <a:t>偏移地址（</a:t>
            </a:r>
            <a:r>
              <a:rPr lang="en-US" altLang="zh-CN" i="1"/>
              <a:t>offset</a:t>
            </a:r>
            <a:r>
              <a:rPr lang="zh-CN" altLang="en-US" b="1"/>
              <a:t>）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15494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609600" y="1066800"/>
            <a:ext cx="6705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活动记录</a:t>
            </a:r>
          </a:p>
        </p:txBody>
      </p:sp>
      <p:sp>
        <p:nvSpPr>
          <p:cNvPr id="20484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5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6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7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8" name="Rectangle 8"/>
          <p:cNvSpPr>
            <a:spLocks noChangeArrowheads="1"/>
          </p:cNvSpPr>
          <p:nvPr/>
        </p:nvSpPr>
        <p:spPr bwMode="auto">
          <a:xfrm>
            <a:off x="990600" y="1677988"/>
            <a:ext cx="7010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过程活动记录的栈式分配举例</a:t>
            </a:r>
            <a:endParaRPr kumimoji="0" lang="zh-CN" altLang="en-US" sz="1000" b="1">
              <a:solidFill>
                <a:srgbClr val="800080"/>
              </a:solidFill>
            </a:endParaRPr>
          </a:p>
        </p:txBody>
      </p:sp>
      <p:sp>
        <p:nvSpPr>
          <p:cNvPr id="20489" name="Line 9"/>
          <p:cNvSpPr>
            <a:spLocks noChangeShapeType="1"/>
          </p:cNvSpPr>
          <p:nvPr/>
        </p:nvSpPr>
        <p:spPr bwMode="auto">
          <a:xfrm>
            <a:off x="4876800" y="3200400"/>
            <a:ext cx="0" cy="34290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490" name="Line 10"/>
          <p:cNvSpPr>
            <a:spLocks noChangeShapeType="1"/>
          </p:cNvSpPr>
          <p:nvPr/>
        </p:nvSpPr>
        <p:spPr bwMode="auto">
          <a:xfrm>
            <a:off x="7467600" y="3200400"/>
            <a:ext cx="0" cy="34290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491" name="Line 11"/>
          <p:cNvSpPr>
            <a:spLocks noChangeShapeType="1"/>
          </p:cNvSpPr>
          <p:nvPr/>
        </p:nvSpPr>
        <p:spPr bwMode="auto">
          <a:xfrm>
            <a:off x="4876800" y="662940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492" name="Line 12"/>
          <p:cNvSpPr>
            <a:spLocks noChangeShapeType="1"/>
          </p:cNvSpPr>
          <p:nvPr/>
        </p:nvSpPr>
        <p:spPr bwMode="auto">
          <a:xfrm>
            <a:off x="4876800" y="586740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493" name="Rectangle 14"/>
          <p:cNvSpPr>
            <a:spLocks noChangeArrowheads="1"/>
          </p:cNvSpPr>
          <p:nvPr/>
        </p:nvSpPr>
        <p:spPr bwMode="auto">
          <a:xfrm>
            <a:off x="4929188" y="6038850"/>
            <a:ext cx="24622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>
                <a:solidFill>
                  <a:srgbClr val="800080"/>
                </a:solidFill>
              </a:rPr>
              <a:t>main </a:t>
            </a:r>
            <a:r>
              <a:rPr lang="zh-CN" altLang="en-US" b="1">
                <a:solidFill>
                  <a:srgbClr val="800080"/>
                </a:solidFill>
              </a:rPr>
              <a:t>的活动记录</a:t>
            </a:r>
          </a:p>
        </p:txBody>
      </p:sp>
      <p:sp>
        <p:nvSpPr>
          <p:cNvPr id="20494" name="Text Box 20"/>
          <p:cNvSpPr txBox="1">
            <a:spLocks noChangeArrowheads="1"/>
          </p:cNvSpPr>
          <p:nvPr/>
        </p:nvSpPr>
        <p:spPr bwMode="auto">
          <a:xfrm>
            <a:off x="1676400" y="2438400"/>
            <a:ext cx="2057400" cy="405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kumimoji="0" lang="en-US" altLang="zh-CN" sz="2000"/>
              <a:t>void p( )  {  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   …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   q( );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} </a:t>
            </a:r>
          </a:p>
          <a:p>
            <a:pPr>
              <a:buFont typeface="Wingdings" pitchFamily="2" charset="2"/>
              <a:buNone/>
            </a:pPr>
            <a:endParaRPr kumimoji="0" lang="en-US" altLang="zh-CN" sz="2000"/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void q( )  { 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   …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   q( );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} </a:t>
            </a:r>
          </a:p>
          <a:p>
            <a:pPr>
              <a:buFont typeface="Wingdings" pitchFamily="2" charset="2"/>
              <a:buNone/>
            </a:pPr>
            <a:endParaRPr kumimoji="0" lang="en-US" altLang="zh-CN" sz="2000"/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int main  {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   p( );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}</a:t>
            </a:r>
          </a:p>
        </p:txBody>
      </p:sp>
      <p:sp>
        <p:nvSpPr>
          <p:cNvPr id="20495" name="Line 25"/>
          <p:cNvSpPr>
            <a:spLocks noChangeShapeType="1"/>
          </p:cNvSpPr>
          <p:nvPr/>
        </p:nvSpPr>
        <p:spPr bwMode="auto">
          <a:xfrm>
            <a:off x="4876800" y="510540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496" name="Rectangle 26"/>
          <p:cNvSpPr>
            <a:spLocks noChangeArrowheads="1"/>
          </p:cNvSpPr>
          <p:nvPr/>
        </p:nvSpPr>
        <p:spPr bwMode="auto">
          <a:xfrm>
            <a:off x="4929188" y="5276850"/>
            <a:ext cx="24622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>
                <a:solidFill>
                  <a:srgbClr val="800080"/>
                </a:solidFill>
              </a:rPr>
              <a:t>p </a:t>
            </a:r>
            <a:r>
              <a:rPr lang="zh-CN" altLang="en-US" b="1">
                <a:solidFill>
                  <a:srgbClr val="800080"/>
                </a:solidFill>
              </a:rPr>
              <a:t>的活动记录</a:t>
            </a:r>
          </a:p>
        </p:txBody>
      </p:sp>
      <p:sp>
        <p:nvSpPr>
          <p:cNvPr id="20497" name="Line 27"/>
          <p:cNvSpPr>
            <a:spLocks noChangeShapeType="1"/>
          </p:cNvSpPr>
          <p:nvPr/>
        </p:nvSpPr>
        <p:spPr bwMode="auto">
          <a:xfrm>
            <a:off x="4876800" y="434340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498" name="Rectangle 28"/>
          <p:cNvSpPr>
            <a:spLocks noChangeArrowheads="1"/>
          </p:cNvSpPr>
          <p:nvPr/>
        </p:nvSpPr>
        <p:spPr bwMode="auto">
          <a:xfrm>
            <a:off x="4876800" y="4514850"/>
            <a:ext cx="2514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>
                <a:solidFill>
                  <a:srgbClr val="800080"/>
                </a:solidFill>
              </a:rPr>
              <a:t>q </a:t>
            </a:r>
            <a:r>
              <a:rPr lang="zh-CN" altLang="en-US" b="1">
                <a:solidFill>
                  <a:srgbClr val="800080"/>
                </a:solidFill>
              </a:rPr>
              <a:t>的活动记录</a:t>
            </a:r>
          </a:p>
        </p:txBody>
      </p:sp>
      <p:sp>
        <p:nvSpPr>
          <p:cNvPr id="20499" name="Line 29"/>
          <p:cNvSpPr>
            <a:spLocks noChangeShapeType="1"/>
          </p:cNvSpPr>
          <p:nvPr/>
        </p:nvSpPr>
        <p:spPr bwMode="auto">
          <a:xfrm>
            <a:off x="4876800" y="358140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500" name="Rectangle 30"/>
          <p:cNvSpPr>
            <a:spLocks noChangeArrowheads="1"/>
          </p:cNvSpPr>
          <p:nvPr/>
        </p:nvSpPr>
        <p:spPr bwMode="auto">
          <a:xfrm>
            <a:off x="4929188" y="3752850"/>
            <a:ext cx="24622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>
                <a:solidFill>
                  <a:srgbClr val="800080"/>
                </a:solidFill>
              </a:rPr>
              <a:t>q </a:t>
            </a:r>
            <a:r>
              <a:rPr lang="zh-CN" altLang="en-US" b="1">
                <a:solidFill>
                  <a:srgbClr val="800080"/>
                </a:solidFill>
              </a:rPr>
              <a:t>的活动记录</a:t>
            </a:r>
          </a:p>
        </p:txBody>
      </p:sp>
      <p:sp>
        <p:nvSpPr>
          <p:cNvPr id="20501" name="Rectangle 31"/>
          <p:cNvSpPr>
            <a:spLocks noChangeArrowheads="1"/>
          </p:cNvSpPr>
          <p:nvPr/>
        </p:nvSpPr>
        <p:spPr bwMode="auto">
          <a:xfrm>
            <a:off x="4343400" y="2225675"/>
            <a:ext cx="357822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b="1">
                <a:latin typeface="Times New Roman" pitchFamily="18" charset="0"/>
              </a:rPr>
              <a:t>函数 </a:t>
            </a:r>
            <a:r>
              <a:rPr lang="en-US" altLang="zh-CN"/>
              <a:t>q </a:t>
            </a:r>
            <a:r>
              <a:rPr lang="zh-CN" altLang="en-US" b="1">
                <a:latin typeface="Times New Roman" pitchFamily="18" charset="0"/>
              </a:rPr>
              <a:t>被第二次激活时运</a:t>
            </a:r>
          </a:p>
          <a:p>
            <a:pPr>
              <a:buFont typeface="Wingdings" pitchFamily="2" charset="2"/>
              <a:buNone/>
            </a:pPr>
            <a:r>
              <a:rPr lang="zh-CN" altLang="en-US" b="1">
                <a:latin typeface="Times New Roman" pitchFamily="18" charset="0"/>
              </a:rPr>
              <a:t>行栈上活动记录分配情况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15494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838200" y="1371600"/>
            <a:ext cx="6705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活动记录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1219200" y="1995488"/>
            <a:ext cx="60579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楷体_GB2312" pitchFamily="49" charset="-122"/>
              </a:rPr>
              <a:t>典型的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过程活动记录结构</a:t>
            </a:r>
            <a:endParaRPr lang="zh-CN" altLang="en-US" b="1">
              <a:solidFill>
                <a:srgbClr val="800080"/>
              </a:solidFill>
            </a:endParaRPr>
          </a:p>
        </p:txBody>
      </p:sp>
      <p:sp>
        <p:nvSpPr>
          <p:cNvPr id="21509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0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1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2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3" name="Line 9"/>
          <p:cNvSpPr>
            <a:spLocks noChangeShapeType="1"/>
          </p:cNvSpPr>
          <p:nvPr/>
        </p:nvSpPr>
        <p:spPr bwMode="auto">
          <a:xfrm>
            <a:off x="1763713" y="2590800"/>
            <a:ext cx="0" cy="36576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1514" name="Line 10"/>
          <p:cNvSpPr>
            <a:spLocks noChangeShapeType="1"/>
          </p:cNvSpPr>
          <p:nvPr/>
        </p:nvSpPr>
        <p:spPr bwMode="auto">
          <a:xfrm>
            <a:off x="5040313" y="2590800"/>
            <a:ext cx="0" cy="36576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1515" name="Line 11"/>
          <p:cNvSpPr>
            <a:spLocks noChangeShapeType="1"/>
          </p:cNvSpPr>
          <p:nvPr/>
        </p:nvSpPr>
        <p:spPr bwMode="auto">
          <a:xfrm>
            <a:off x="1763713" y="6248400"/>
            <a:ext cx="3276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1516" name="Line 12"/>
          <p:cNvSpPr>
            <a:spLocks noChangeShapeType="1"/>
          </p:cNvSpPr>
          <p:nvPr/>
        </p:nvSpPr>
        <p:spPr bwMode="auto">
          <a:xfrm>
            <a:off x="1763713" y="5486400"/>
            <a:ext cx="3276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1517" name="Rectangle 13"/>
          <p:cNvSpPr>
            <a:spLocks noChangeArrowheads="1"/>
          </p:cNvSpPr>
          <p:nvPr/>
        </p:nvSpPr>
        <p:spPr bwMode="auto">
          <a:xfrm>
            <a:off x="1763713" y="56388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zh-CN" altLang="en-US" b="1">
                <a:solidFill>
                  <a:srgbClr val="800080"/>
                </a:solidFill>
              </a:rPr>
              <a:t>控制信息</a:t>
            </a:r>
          </a:p>
        </p:txBody>
      </p:sp>
      <p:sp>
        <p:nvSpPr>
          <p:cNvPr id="21518" name="Line 15"/>
          <p:cNvSpPr>
            <a:spLocks noChangeShapeType="1"/>
          </p:cNvSpPr>
          <p:nvPr/>
        </p:nvSpPr>
        <p:spPr bwMode="auto">
          <a:xfrm>
            <a:off x="1763713" y="4876800"/>
            <a:ext cx="3276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1519" name="Rectangle 16"/>
          <p:cNvSpPr>
            <a:spLocks noChangeArrowheads="1"/>
          </p:cNvSpPr>
          <p:nvPr/>
        </p:nvSpPr>
        <p:spPr bwMode="auto">
          <a:xfrm>
            <a:off x="1816100" y="4953000"/>
            <a:ext cx="3148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zh-CN" altLang="en-US" b="1">
                <a:solidFill>
                  <a:srgbClr val="800080"/>
                </a:solidFill>
              </a:rPr>
              <a:t>过程实际参数</a:t>
            </a:r>
          </a:p>
        </p:txBody>
      </p:sp>
      <p:sp>
        <p:nvSpPr>
          <p:cNvPr id="21520" name="Line 17"/>
          <p:cNvSpPr>
            <a:spLocks noChangeShapeType="1"/>
          </p:cNvSpPr>
          <p:nvPr/>
        </p:nvSpPr>
        <p:spPr bwMode="auto">
          <a:xfrm>
            <a:off x="1763713" y="4267200"/>
            <a:ext cx="3276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1521" name="Rectangle 18"/>
          <p:cNvSpPr>
            <a:spLocks noChangeArrowheads="1"/>
          </p:cNvSpPr>
          <p:nvPr/>
        </p:nvSpPr>
        <p:spPr bwMode="auto">
          <a:xfrm>
            <a:off x="1763713" y="4343400"/>
            <a:ext cx="3276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zh-CN" altLang="en-US" b="1">
                <a:solidFill>
                  <a:srgbClr val="800080"/>
                </a:solidFill>
              </a:rPr>
              <a:t>固定大小的局部数据区</a:t>
            </a:r>
          </a:p>
        </p:txBody>
      </p:sp>
      <p:sp>
        <p:nvSpPr>
          <p:cNvPr id="21522" name="Line 19"/>
          <p:cNvSpPr>
            <a:spLocks noChangeShapeType="1"/>
          </p:cNvSpPr>
          <p:nvPr/>
        </p:nvSpPr>
        <p:spPr bwMode="auto">
          <a:xfrm>
            <a:off x="1763713" y="3657600"/>
            <a:ext cx="3276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1523" name="Rectangle 20"/>
          <p:cNvSpPr>
            <a:spLocks noChangeArrowheads="1"/>
          </p:cNvSpPr>
          <p:nvPr/>
        </p:nvSpPr>
        <p:spPr bwMode="auto">
          <a:xfrm>
            <a:off x="1816100" y="3733800"/>
            <a:ext cx="3224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zh-CN" altLang="en-US" b="1">
                <a:solidFill>
                  <a:srgbClr val="800080"/>
                </a:solidFill>
              </a:rPr>
              <a:t>动态数组区</a:t>
            </a:r>
          </a:p>
        </p:txBody>
      </p:sp>
      <p:sp>
        <p:nvSpPr>
          <p:cNvPr id="21524" name="Rectangle 33"/>
          <p:cNvSpPr>
            <a:spLocks noChangeArrowheads="1"/>
          </p:cNvSpPr>
          <p:nvPr/>
        </p:nvSpPr>
        <p:spPr bwMode="auto">
          <a:xfrm>
            <a:off x="1816100" y="3124200"/>
            <a:ext cx="3148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zh-CN" altLang="en-US" b="1">
                <a:solidFill>
                  <a:srgbClr val="800080"/>
                </a:solidFill>
              </a:rPr>
              <a:t>临时工作单元</a:t>
            </a:r>
          </a:p>
        </p:txBody>
      </p:sp>
      <p:sp>
        <p:nvSpPr>
          <p:cNvPr id="21525" name="Rectangle 34"/>
          <p:cNvSpPr>
            <a:spLocks noChangeArrowheads="1"/>
          </p:cNvSpPr>
          <p:nvPr/>
        </p:nvSpPr>
        <p:spPr bwMode="auto">
          <a:xfrm>
            <a:off x="5413375" y="5927725"/>
            <a:ext cx="31321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/>
              <a:t>FP </a:t>
            </a:r>
            <a:r>
              <a:rPr lang="zh-CN" altLang="en-US" sz="2000" b="1"/>
              <a:t>（栈桢基址寄存器）</a:t>
            </a:r>
          </a:p>
        </p:txBody>
      </p:sp>
      <p:sp>
        <p:nvSpPr>
          <p:cNvPr id="21526" name="Line 35"/>
          <p:cNvSpPr>
            <a:spLocks noChangeShapeType="1"/>
          </p:cNvSpPr>
          <p:nvPr/>
        </p:nvSpPr>
        <p:spPr bwMode="auto">
          <a:xfrm flipH="1">
            <a:off x="5040313" y="6156325"/>
            <a:ext cx="609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1527" name="Rectangle 38"/>
          <p:cNvSpPr>
            <a:spLocks noChangeArrowheads="1"/>
          </p:cNvSpPr>
          <p:nvPr/>
        </p:nvSpPr>
        <p:spPr bwMode="auto">
          <a:xfrm>
            <a:off x="6172200" y="363288263"/>
            <a:ext cx="25765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/>
              <a:t>TOP</a:t>
            </a:r>
            <a:r>
              <a:rPr lang="zh-CN" altLang="en-US" sz="2000" b="1"/>
              <a:t>（栈顶寄存器）</a:t>
            </a:r>
          </a:p>
        </p:txBody>
      </p:sp>
      <p:sp>
        <p:nvSpPr>
          <p:cNvPr id="21528" name="Line 39"/>
          <p:cNvSpPr>
            <a:spLocks noChangeShapeType="1"/>
          </p:cNvSpPr>
          <p:nvPr/>
        </p:nvSpPr>
        <p:spPr bwMode="auto">
          <a:xfrm flipH="1">
            <a:off x="5040313" y="2895600"/>
            <a:ext cx="609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1529" name="Line 40"/>
          <p:cNvSpPr>
            <a:spLocks noChangeShapeType="1"/>
          </p:cNvSpPr>
          <p:nvPr/>
        </p:nvSpPr>
        <p:spPr bwMode="auto">
          <a:xfrm>
            <a:off x="1763713" y="2971800"/>
            <a:ext cx="3276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1530" name="Rectangle 41"/>
          <p:cNvSpPr>
            <a:spLocks noChangeArrowheads="1"/>
          </p:cNvSpPr>
          <p:nvPr/>
        </p:nvSpPr>
        <p:spPr bwMode="auto">
          <a:xfrm>
            <a:off x="5486400" y="2708275"/>
            <a:ext cx="30241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/>
              <a:t>TOP</a:t>
            </a:r>
            <a:r>
              <a:rPr lang="zh-CN" altLang="en-US" sz="2000" b="1"/>
              <a:t>（栈顶指针寄存器）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5494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609600" y="1143000"/>
            <a:ext cx="6705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活动记录</a:t>
            </a:r>
          </a:p>
        </p:txBody>
      </p:sp>
      <p:sp>
        <p:nvSpPr>
          <p:cNvPr id="22532" name="Rectangle 8"/>
          <p:cNvSpPr>
            <a:spLocks noChangeArrowheads="1"/>
          </p:cNvSpPr>
          <p:nvPr/>
        </p:nvSpPr>
        <p:spPr bwMode="auto">
          <a:xfrm>
            <a:off x="723900" y="1676400"/>
            <a:ext cx="60579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latin typeface="Times New Roman" pitchFamily="18" charset="0"/>
              </a:rPr>
              <a:t>过程活动记录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举例</a:t>
            </a:r>
            <a:endParaRPr lang="zh-CN" altLang="en-US" b="1">
              <a:solidFill>
                <a:srgbClr val="800080"/>
              </a:solidFill>
            </a:endParaRPr>
          </a:p>
        </p:txBody>
      </p:sp>
      <p:sp>
        <p:nvSpPr>
          <p:cNvPr id="22533" name="AutoShape 2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4" name="AutoShape 2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5" name="AutoShape 22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6" name="AutoShape 23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7" name="Line 24"/>
          <p:cNvSpPr>
            <a:spLocks noChangeShapeType="1"/>
          </p:cNvSpPr>
          <p:nvPr/>
        </p:nvSpPr>
        <p:spPr bwMode="auto">
          <a:xfrm>
            <a:off x="3886200" y="2971800"/>
            <a:ext cx="0" cy="29718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2538" name="Line 25"/>
          <p:cNvSpPr>
            <a:spLocks noChangeShapeType="1"/>
          </p:cNvSpPr>
          <p:nvPr/>
        </p:nvSpPr>
        <p:spPr bwMode="auto">
          <a:xfrm>
            <a:off x="6477000" y="2971800"/>
            <a:ext cx="0" cy="29718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2539" name="Line 26"/>
          <p:cNvSpPr>
            <a:spLocks noChangeShapeType="1"/>
          </p:cNvSpPr>
          <p:nvPr/>
        </p:nvSpPr>
        <p:spPr bwMode="auto">
          <a:xfrm>
            <a:off x="3886200" y="594360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2540" name="Line 27"/>
          <p:cNvSpPr>
            <a:spLocks noChangeShapeType="1"/>
          </p:cNvSpPr>
          <p:nvPr/>
        </p:nvSpPr>
        <p:spPr bwMode="auto">
          <a:xfrm>
            <a:off x="3886200" y="518160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2541" name="Rectangle 28"/>
          <p:cNvSpPr>
            <a:spLocks noChangeArrowheads="1"/>
          </p:cNvSpPr>
          <p:nvPr/>
        </p:nvSpPr>
        <p:spPr bwMode="auto">
          <a:xfrm>
            <a:off x="4468813" y="5334000"/>
            <a:ext cx="1409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zh-CN" altLang="en-US" b="1">
                <a:solidFill>
                  <a:srgbClr val="800080"/>
                </a:solidFill>
              </a:rPr>
              <a:t>控制信息</a:t>
            </a:r>
          </a:p>
        </p:txBody>
      </p:sp>
      <p:sp>
        <p:nvSpPr>
          <p:cNvPr id="22542" name="Text Box 29"/>
          <p:cNvSpPr txBox="1">
            <a:spLocks noChangeArrowheads="1"/>
          </p:cNvSpPr>
          <p:nvPr/>
        </p:nvSpPr>
        <p:spPr bwMode="auto">
          <a:xfrm>
            <a:off x="1447800" y="2422525"/>
            <a:ext cx="2286000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kumimoji="0" lang="en-US" altLang="zh-CN" sz="2000"/>
              <a:t>void p( int a)  {  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   float b;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   float c[10];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   b=c[a];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} </a:t>
            </a:r>
          </a:p>
        </p:txBody>
      </p:sp>
      <p:sp>
        <p:nvSpPr>
          <p:cNvPr id="22543" name="Line 30"/>
          <p:cNvSpPr>
            <a:spLocks noChangeShapeType="1"/>
          </p:cNvSpPr>
          <p:nvPr/>
        </p:nvSpPr>
        <p:spPr bwMode="auto">
          <a:xfrm>
            <a:off x="3886200" y="457200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2544" name="Rectangle 31"/>
          <p:cNvSpPr>
            <a:spLocks noChangeArrowheads="1"/>
          </p:cNvSpPr>
          <p:nvPr/>
        </p:nvSpPr>
        <p:spPr bwMode="auto">
          <a:xfrm>
            <a:off x="3938588" y="4648200"/>
            <a:ext cx="24622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>
                <a:solidFill>
                  <a:srgbClr val="800080"/>
                </a:solidFill>
              </a:rPr>
              <a:t>a</a:t>
            </a:r>
            <a:endParaRPr lang="en-US" altLang="zh-CN" b="1">
              <a:solidFill>
                <a:srgbClr val="800080"/>
              </a:solidFill>
            </a:endParaRPr>
          </a:p>
        </p:txBody>
      </p:sp>
      <p:sp>
        <p:nvSpPr>
          <p:cNvPr id="22545" name="Line 32"/>
          <p:cNvSpPr>
            <a:spLocks noChangeShapeType="1"/>
          </p:cNvSpPr>
          <p:nvPr/>
        </p:nvSpPr>
        <p:spPr bwMode="auto">
          <a:xfrm>
            <a:off x="3886200" y="396240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2546" name="Rectangle 33"/>
          <p:cNvSpPr>
            <a:spLocks noChangeArrowheads="1"/>
          </p:cNvSpPr>
          <p:nvPr/>
        </p:nvSpPr>
        <p:spPr bwMode="auto">
          <a:xfrm>
            <a:off x="3886200" y="4038600"/>
            <a:ext cx="2514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>
                <a:solidFill>
                  <a:srgbClr val="800080"/>
                </a:solidFill>
              </a:rPr>
              <a:t>b</a:t>
            </a:r>
            <a:endParaRPr lang="en-US" altLang="zh-CN" b="1">
              <a:solidFill>
                <a:srgbClr val="800080"/>
              </a:solidFill>
            </a:endParaRPr>
          </a:p>
        </p:txBody>
      </p:sp>
      <p:sp>
        <p:nvSpPr>
          <p:cNvPr id="22547" name="Line 34"/>
          <p:cNvSpPr>
            <a:spLocks noChangeShapeType="1"/>
          </p:cNvSpPr>
          <p:nvPr/>
        </p:nvSpPr>
        <p:spPr bwMode="auto">
          <a:xfrm>
            <a:off x="3886200" y="335280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2548" name="Rectangle 35"/>
          <p:cNvSpPr>
            <a:spLocks noChangeArrowheads="1"/>
          </p:cNvSpPr>
          <p:nvPr/>
        </p:nvSpPr>
        <p:spPr bwMode="auto">
          <a:xfrm>
            <a:off x="3938588" y="3429000"/>
            <a:ext cx="24622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>
                <a:solidFill>
                  <a:srgbClr val="800080"/>
                </a:solidFill>
              </a:rPr>
              <a:t>c</a:t>
            </a:r>
            <a:endParaRPr lang="en-US" altLang="zh-CN" b="1">
              <a:solidFill>
                <a:srgbClr val="800080"/>
              </a:solidFill>
            </a:endParaRPr>
          </a:p>
        </p:txBody>
      </p:sp>
      <p:sp>
        <p:nvSpPr>
          <p:cNvPr id="22549" name="Rectangle 36"/>
          <p:cNvSpPr>
            <a:spLocks noChangeArrowheads="1"/>
          </p:cNvSpPr>
          <p:nvPr/>
        </p:nvSpPr>
        <p:spPr bwMode="auto">
          <a:xfrm>
            <a:off x="3817938" y="2362200"/>
            <a:ext cx="26590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b="1">
                <a:latin typeface="Times New Roman" pitchFamily="18" charset="0"/>
              </a:rPr>
              <a:t>函数 </a:t>
            </a:r>
            <a:r>
              <a:rPr lang="en-US" altLang="zh-CN"/>
              <a:t>p </a:t>
            </a:r>
            <a:r>
              <a:rPr lang="zh-CN" altLang="en-US" b="1">
                <a:latin typeface="Times New Roman" pitchFamily="18" charset="0"/>
              </a:rPr>
              <a:t>的活动记录</a:t>
            </a:r>
          </a:p>
        </p:txBody>
      </p:sp>
      <p:sp>
        <p:nvSpPr>
          <p:cNvPr id="22550" name="Rectangle 37"/>
          <p:cNvSpPr>
            <a:spLocks noChangeArrowheads="1"/>
          </p:cNvSpPr>
          <p:nvPr/>
        </p:nvSpPr>
        <p:spPr bwMode="auto">
          <a:xfrm>
            <a:off x="7010400" y="5562600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/>
              <a:t>Offset = 0</a:t>
            </a:r>
          </a:p>
        </p:txBody>
      </p:sp>
      <p:sp>
        <p:nvSpPr>
          <p:cNvPr id="22551" name="Line 38"/>
          <p:cNvSpPr>
            <a:spLocks noChangeShapeType="1"/>
          </p:cNvSpPr>
          <p:nvPr/>
        </p:nvSpPr>
        <p:spPr bwMode="auto">
          <a:xfrm flipH="1">
            <a:off x="6477000" y="5791200"/>
            <a:ext cx="609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2552" name="Rectangle 39"/>
          <p:cNvSpPr>
            <a:spLocks noChangeArrowheads="1"/>
          </p:cNvSpPr>
          <p:nvPr/>
        </p:nvSpPr>
        <p:spPr bwMode="auto">
          <a:xfrm>
            <a:off x="7010400" y="4860925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/>
              <a:t>Offset = 3</a:t>
            </a:r>
          </a:p>
        </p:txBody>
      </p:sp>
      <p:sp>
        <p:nvSpPr>
          <p:cNvPr id="22553" name="Line 40"/>
          <p:cNvSpPr>
            <a:spLocks noChangeShapeType="1"/>
          </p:cNvSpPr>
          <p:nvPr/>
        </p:nvSpPr>
        <p:spPr bwMode="auto">
          <a:xfrm flipH="1">
            <a:off x="6477000" y="5089525"/>
            <a:ext cx="609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2554" name="Rectangle 41"/>
          <p:cNvSpPr>
            <a:spLocks noChangeArrowheads="1"/>
          </p:cNvSpPr>
          <p:nvPr/>
        </p:nvSpPr>
        <p:spPr bwMode="auto">
          <a:xfrm>
            <a:off x="7010400" y="4267200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/>
              <a:t>Offset = 4</a:t>
            </a:r>
          </a:p>
        </p:txBody>
      </p:sp>
      <p:sp>
        <p:nvSpPr>
          <p:cNvPr id="22555" name="Line 42"/>
          <p:cNvSpPr>
            <a:spLocks noChangeShapeType="1"/>
          </p:cNvSpPr>
          <p:nvPr/>
        </p:nvSpPr>
        <p:spPr bwMode="auto">
          <a:xfrm flipH="1">
            <a:off x="6477000" y="4495800"/>
            <a:ext cx="609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2556" name="Rectangle 43"/>
          <p:cNvSpPr>
            <a:spLocks noChangeArrowheads="1"/>
          </p:cNvSpPr>
          <p:nvPr/>
        </p:nvSpPr>
        <p:spPr bwMode="auto">
          <a:xfrm>
            <a:off x="7010400" y="3657600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/>
              <a:t>Offset = 6</a:t>
            </a:r>
          </a:p>
        </p:txBody>
      </p:sp>
      <p:sp>
        <p:nvSpPr>
          <p:cNvPr id="22557" name="Line 44"/>
          <p:cNvSpPr>
            <a:spLocks noChangeShapeType="1"/>
          </p:cNvSpPr>
          <p:nvPr/>
        </p:nvSpPr>
        <p:spPr bwMode="auto">
          <a:xfrm flipH="1">
            <a:off x="6477000" y="3886200"/>
            <a:ext cx="609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2558" name="Rectangle 45"/>
          <p:cNvSpPr>
            <a:spLocks noChangeArrowheads="1"/>
          </p:cNvSpPr>
          <p:nvPr/>
        </p:nvSpPr>
        <p:spPr bwMode="auto">
          <a:xfrm>
            <a:off x="7086600" y="3048000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/>
              <a:t>Offset = 26</a:t>
            </a:r>
          </a:p>
        </p:txBody>
      </p:sp>
      <p:sp>
        <p:nvSpPr>
          <p:cNvPr id="22559" name="Line 46"/>
          <p:cNvSpPr>
            <a:spLocks noChangeShapeType="1"/>
          </p:cNvSpPr>
          <p:nvPr/>
        </p:nvSpPr>
        <p:spPr bwMode="auto">
          <a:xfrm flipH="1">
            <a:off x="6477000" y="3276600"/>
            <a:ext cx="609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15494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609600" y="1066800"/>
            <a:ext cx="6705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活动记录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723900" y="1600200"/>
            <a:ext cx="38481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latin typeface="Times New Roman" pitchFamily="18" charset="0"/>
              </a:rPr>
              <a:t>过程活动记录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举例</a:t>
            </a:r>
            <a:endParaRPr lang="zh-CN" altLang="en-US" b="1">
              <a:solidFill>
                <a:srgbClr val="800080"/>
              </a:solidFill>
            </a:endParaRPr>
          </a:p>
        </p:txBody>
      </p:sp>
      <p:sp>
        <p:nvSpPr>
          <p:cNvPr id="23557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8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9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0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1" name="Line 9"/>
          <p:cNvSpPr>
            <a:spLocks noChangeShapeType="1"/>
          </p:cNvSpPr>
          <p:nvPr/>
        </p:nvSpPr>
        <p:spPr bwMode="auto">
          <a:xfrm>
            <a:off x="4267200" y="1752600"/>
            <a:ext cx="0" cy="4708525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62" name="Line 10"/>
          <p:cNvSpPr>
            <a:spLocks noChangeShapeType="1"/>
          </p:cNvSpPr>
          <p:nvPr/>
        </p:nvSpPr>
        <p:spPr bwMode="auto">
          <a:xfrm>
            <a:off x="6858000" y="1752600"/>
            <a:ext cx="0" cy="4708525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63" name="Line 11"/>
          <p:cNvSpPr>
            <a:spLocks noChangeShapeType="1"/>
          </p:cNvSpPr>
          <p:nvPr/>
        </p:nvSpPr>
        <p:spPr bwMode="auto">
          <a:xfrm>
            <a:off x="4267200" y="6461125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64" name="Line 12"/>
          <p:cNvSpPr>
            <a:spLocks noChangeShapeType="1"/>
          </p:cNvSpPr>
          <p:nvPr/>
        </p:nvSpPr>
        <p:spPr bwMode="auto">
          <a:xfrm>
            <a:off x="4267200" y="5699125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4849813" y="5851525"/>
            <a:ext cx="1409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zh-CN" altLang="en-US" b="1">
                <a:solidFill>
                  <a:srgbClr val="800080"/>
                </a:solidFill>
              </a:rPr>
              <a:t>控制信息</a:t>
            </a:r>
          </a:p>
        </p:txBody>
      </p:sp>
      <p:sp>
        <p:nvSpPr>
          <p:cNvPr id="23566" name="Text Box 14"/>
          <p:cNvSpPr txBox="1">
            <a:spLocks noChangeArrowheads="1"/>
          </p:cNvSpPr>
          <p:nvPr/>
        </p:nvSpPr>
        <p:spPr bwMode="auto">
          <a:xfrm>
            <a:off x="1447800" y="2422525"/>
            <a:ext cx="2286000" cy="314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kumimoji="0" lang="en-US" altLang="zh-CN" sz="2000"/>
              <a:t>static int N</a:t>
            </a:r>
            <a:r>
              <a:rPr kumimoji="0" lang="zh-CN" altLang="en-US" sz="2000"/>
              <a:t>；</a:t>
            </a:r>
          </a:p>
          <a:p>
            <a:pPr>
              <a:buFont typeface="Wingdings" pitchFamily="2" charset="2"/>
              <a:buNone/>
            </a:pPr>
            <a:endParaRPr kumimoji="0" lang="zh-CN" altLang="en-US" sz="2000"/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void p( int a)  {  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   float b;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   float c[10];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   float d[N];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   float e;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   …</a:t>
            </a:r>
          </a:p>
          <a:p>
            <a:pPr>
              <a:buFont typeface="Wingdings" pitchFamily="2" charset="2"/>
              <a:buNone/>
            </a:pPr>
            <a:endParaRPr kumimoji="0" lang="en-US" altLang="zh-CN" sz="2000"/>
          </a:p>
          <a:p>
            <a:pPr>
              <a:buFont typeface="Wingdings" pitchFamily="2" charset="2"/>
              <a:buNone/>
            </a:pPr>
            <a:r>
              <a:rPr kumimoji="0" lang="en-US" altLang="zh-CN" sz="2000"/>
              <a:t>} </a:t>
            </a:r>
          </a:p>
        </p:txBody>
      </p:sp>
      <p:sp>
        <p:nvSpPr>
          <p:cNvPr id="23567" name="Line 15"/>
          <p:cNvSpPr>
            <a:spLocks noChangeShapeType="1"/>
          </p:cNvSpPr>
          <p:nvPr/>
        </p:nvSpPr>
        <p:spPr bwMode="auto">
          <a:xfrm>
            <a:off x="4267200" y="518160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4319588" y="5181600"/>
            <a:ext cx="24622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>
                <a:solidFill>
                  <a:srgbClr val="800080"/>
                </a:solidFill>
              </a:rPr>
              <a:t>a</a:t>
            </a:r>
            <a:endParaRPr lang="en-US" altLang="zh-CN" b="1">
              <a:solidFill>
                <a:srgbClr val="800080"/>
              </a:solidFill>
            </a:endParaRPr>
          </a:p>
        </p:txBody>
      </p:sp>
      <p:sp>
        <p:nvSpPr>
          <p:cNvPr id="23569" name="Line 17"/>
          <p:cNvSpPr>
            <a:spLocks noChangeShapeType="1"/>
          </p:cNvSpPr>
          <p:nvPr/>
        </p:nvSpPr>
        <p:spPr bwMode="auto">
          <a:xfrm>
            <a:off x="4267200" y="464820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4343400" y="4648200"/>
            <a:ext cx="2514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>
                <a:solidFill>
                  <a:srgbClr val="800080"/>
                </a:solidFill>
              </a:rPr>
              <a:t>b</a:t>
            </a:r>
            <a:endParaRPr lang="en-US" altLang="zh-CN" b="1">
              <a:solidFill>
                <a:srgbClr val="800080"/>
              </a:solidFill>
            </a:endParaRPr>
          </a:p>
        </p:txBody>
      </p:sp>
      <p:sp>
        <p:nvSpPr>
          <p:cNvPr id="23571" name="Line 19"/>
          <p:cNvSpPr>
            <a:spLocks noChangeShapeType="1"/>
          </p:cNvSpPr>
          <p:nvPr/>
        </p:nvSpPr>
        <p:spPr bwMode="auto">
          <a:xfrm>
            <a:off x="4267200" y="411480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72" name="Rectangle 20"/>
          <p:cNvSpPr>
            <a:spLocks noChangeArrowheads="1"/>
          </p:cNvSpPr>
          <p:nvPr/>
        </p:nvSpPr>
        <p:spPr bwMode="auto">
          <a:xfrm>
            <a:off x="4319588" y="4114800"/>
            <a:ext cx="24622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>
                <a:solidFill>
                  <a:srgbClr val="800080"/>
                </a:solidFill>
              </a:rPr>
              <a:t>c</a:t>
            </a:r>
            <a:endParaRPr lang="en-US" altLang="zh-CN" b="1">
              <a:solidFill>
                <a:srgbClr val="800080"/>
              </a:solidFill>
            </a:endParaRPr>
          </a:p>
        </p:txBody>
      </p:sp>
      <p:sp>
        <p:nvSpPr>
          <p:cNvPr id="23573" name="Rectangle 21"/>
          <p:cNvSpPr>
            <a:spLocks noChangeArrowheads="1"/>
          </p:cNvSpPr>
          <p:nvPr/>
        </p:nvSpPr>
        <p:spPr bwMode="auto">
          <a:xfrm>
            <a:off x="4191000" y="1219200"/>
            <a:ext cx="26590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b="1">
                <a:latin typeface="Times New Roman" pitchFamily="18" charset="0"/>
              </a:rPr>
              <a:t>函数 </a:t>
            </a:r>
            <a:r>
              <a:rPr lang="en-US" altLang="zh-CN"/>
              <a:t>p </a:t>
            </a:r>
            <a:r>
              <a:rPr lang="zh-CN" altLang="en-US" b="1">
                <a:latin typeface="Times New Roman" pitchFamily="18" charset="0"/>
              </a:rPr>
              <a:t>的活动记录</a:t>
            </a:r>
          </a:p>
        </p:txBody>
      </p:sp>
      <p:sp>
        <p:nvSpPr>
          <p:cNvPr id="23574" name="Rectangle 22"/>
          <p:cNvSpPr>
            <a:spLocks noChangeArrowheads="1"/>
          </p:cNvSpPr>
          <p:nvPr/>
        </p:nvSpPr>
        <p:spPr bwMode="auto">
          <a:xfrm>
            <a:off x="7391400" y="6080125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/>
              <a:t>Offset = 0</a:t>
            </a:r>
          </a:p>
        </p:txBody>
      </p:sp>
      <p:sp>
        <p:nvSpPr>
          <p:cNvPr id="23575" name="Line 23"/>
          <p:cNvSpPr>
            <a:spLocks noChangeShapeType="1"/>
          </p:cNvSpPr>
          <p:nvPr/>
        </p:nvSpPr>
        <p:spPr bwMode="auto">
          <a:xfrm flipH="1">
            <a:off x="6858000" y="6308725"/>
            <a:ext cx="609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76" name="Rectangle 24"/>
          <p:cNvSpPr>
            <a:spLocks noChangeArrowheads="1"/>
          </p:cNvSpPr>
          <p:nvPr/>
        </p:nvSpPr>
        <p:spPr bwMode="auto">
          <a:xfrm>
            <a:off x="7391400" y="5378450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/>
              <a:t>Offset = 3</a:t>
            </a:r>
          </a:p>
        </p:txBody>
      </p:sp>
      <p:sp>
        <p:nvSpPr>
          <p:cNvPr id="23577" name="Line 25"/>
          <p:cNvSpPr>
            <a:spLocks noChangeShapeType="1"/>
          </p:cNvSpPr>
          <p:nvPr/>
        </p:nvSpPr>
        <p:spPr bwMode="auto">
          <a:xfrm flipH="1">
            <a:off x="6858000" y="5607050"/>
            <a:ext cx="609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78" name="Rectangle 26"/>
          <p:cNvSpPr>
            <a:spLocks noChangeArrowheads="1"/>
          </p:cNvSpPr>
          <p:nvPr/>
        </p:nvSpPr>
        <p:spPr bwMode="auto">
          <a:xfrm>
            <a:off x="7391400" y="4860925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/>
              <a:t>Offset = 4</a:t>
            </a:r>
          </a:p>
        </p:txBody>
      </p:sp>
      <p:sp>
        <p:nvSpPr>
          <p:cNvPr id="23579" name="Line 27"/>
          <p:cNvSpPr>
            <a:spLocks noChangeShapeType="1"/>
          </p:cNvSpPr>
          <p:nvPr/>
        </p:nvSpPr>
        <p:spPr bwMode="auto">
          <a:xfrm flipH="1">
            <a:off x="6858000" y="5089525"/>
            <a:ext cx="609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80" name="Rectangle 28"/>
          <p:cNvSpPr>
            <a:spLocks noChangeArrowheads="1"/>
          </p:cNvSpPr>
          <p:nvPr/>
        </p:nvSpPr>
        <p:spPr bwMode="auto">
          <a:xfrm>
            <a:off x="7391400" y="4327525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/>
              <a:t>Offset = 6</a:t>
            </a:r>
          </a:p>
        </p:txBody>
      </p:sp>
      <p:sp>
        <p:nvSpPr>
          <p:cNvPr id="23581" name="Line 29"/>
          <p:cNvSpPr>
            <a:spLocks noChangeShapeType="1"/>
          </p:cNvSpPr>
          <p:nvPr/>
        </p:nvSpPr>
        <p:spPr bwMode="auto">
          <a:xfrm flipH="1">
            <a:off x="6858000" y="4556125"/>
            <a:ext cx="609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82" name="Rectangle 30"/>
          <p:cNvSpPr>
            <a:spLocks noChangeArrowheads="1"/>
          </p:cNvSpPr>
          <p:nvPr/>
        </p:nvSpPr>
        <p:spPr bwMode="auto">
          <a:xfrm>
            <a:off x="7467600" y="3794125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/>
              <a:t>Offset = 26</a:t>
            </a:r>
          </a:p>
        </p:txBody>
      </p:sp>
      <p:sp>
        <p:nvSpPr>
          <p:cNvPr id="23583" name="Line 31"/>
          <p:cNvSpPr>
            <a:spLocks noChangeShapeType="1"/>
          </p:cNvSpPr>
          <p:nvPr/>
        </p:nvSpPr>
        <p:spPr bwMode="auto">
          <a:xfrm flipH="1">
            <a:off x="6858000" y="4022725"/>
            <a:ext cx="609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84" name="Rectangle 32"/>
          <p:cNvSpPr>
            <a:spLocks noChangeArrowheads="1"/>
          </p:cNvSpPr>
          <p:nvPr/>
        </p:nvSpPr>
        <p:spPr bwMode="auto">
          <a:xfrm>
            <a:off x="1219200" y="5715000"/>
            <a:ext cx="2292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800080"/>
                </a:solidFill>
              </a:rPr>
              <a:t>/*</a:t>
            </a:r>
            <a:r>
              <a:rPr lang="en-US" altLang="zh-CN">
                <a:solidFill>
                  <a:srgbClr val="800080"/>
                </a:solidFill>
              </a:rPr>
              <a:t>d</a:t>
            </a:r>
            <a:r>
              <a:rPr lang="zh-CN" altLang="en-US" b="1">
                <a:solidFill>
                  <a:srgbClr val="800080"/>
                </a:solidFill>
              </a:rPr>
              <a:t>为动态数组*</a:t>
            </a:r>
            <a:r>
              <a:rPr lang="en-US" altLang="zh-CN" b="1">
                <a:solidFill>
                  <a:srgbClr val="800080"/>
                </a:solidFill>
              </a:rPr>
              <a:t>/</a:t>
            </a:r>
          </a:p>
        </p:txBody>
      </p:sp>
      <p:sp>
        <p:nvSpPr>
          <p:cNvPr id="23585" name="Line 33"/>
          <p:cNvSpPr>
            <a:spLocks noChangeShapeType="1"/>
          </p:cNvSpPr>
          <p:nvPr/>
        </p:nvSpPr>
        <p:spPr bwMode="auto">
          <a:xfrm>
            <a:off x="4267200" y="358140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86" name="Line 34"/>
          <p:cNvSpPr>
            <a:spLocks noChangeShapeType="1"/>
          </p:cNvSpPr>
          <p:nvPr/>
        </p:nvSpPr>
        <p:spPr bwMode="auto">
          <a:xfrm>
            <a:off x="4267200" y="304800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87" name="Rectangle 35"/>
          <p:cNvSpPr>
            <a:spLocks noChangeArrowheads="1"/>
          </p:cNvSpPr>
          <p:nvPr/>
        </p:nvSpPr>
        <p:spPr bwMode="auto">
          <a:xfrm>
            <a:off x="4319588" y="3048000"/>
            <a:ext cx="24622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zh-CN" altLang="en-US" b="1">
                <a:solidFill>
                  <a:srgbClr val="800080"/>
                </a:solidFill>
              </a:rPr>
              <a:t>指向</a:t>
            </a:r>
            <a:r>
              <a:rPr lang="zh-CN" altLang="en-US">
                <a:solidFill>
                  <a:srgbClr val="800080"/>
                </a:solidFill>
              </a:rPr>
              <a:t> </a:t>
            </a:r>
            <a:r>
              <a:rPr lang="en-US" altLang="zh-CN">
                <a:solidFill>
                  <a:srgbClr val="800080"/>
                </a:solidFill>
              </a:rPr>
              <a:t>d </a:t>
            </a:r>
            <a:r>
              <a:rPr lang="zh-CN" altLang="en-US" b="1">
                <a:solidFill>
                  <a:srgbClr val="800080"/>
                </a:solidFill>
              </a:rPr>
              <a:t>的指针</a:t>
            </a:r>
          </a:p>
        </p:txBody>
      </p:sp>
      <p:sp>
        <p:nvSpPr>
          <p:cNvPr id="23588" name="Rectangle 36"/>
          <p:cNvSpPr>
            <a:spLocks noChangeArrowheads="1"/>
          </p:cNvSpPr>
          <p:nvPr/>
        </p:nvSpPr>
        <p:spPr bwMode="auto">
          <a:xfrm>
            <a:off x="4319588" y="3581400"/>
            <a:ext cx="24622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zh-CN" altLang="en-US" b="1">
                <a:solidFill>
                  <a:srgbClr val="800080"/>
                </a:solidFill>
              </a:rPr>
              <a:t>内情向量（</a:t>
            </a:r>
            <a:r>
              <a:rPr lang="en-US" altLang="zh-CN">
                <a:solidFill>
                  <a:srgbClr val="800080"/>
                </a:solidFill>
              </a:rPr>
              <a:t>N</a:t>
            </a:r>
            <a:r>
              <a:rPr lang="zh-CN" altLang="en-US" b="1">
                <a:solidFill>
                  <a:srgbClr val="800080"/>
                </a:solidFill>
              </a:rPr>
              <a:t>）</a:t>
            </a:r>
          </a:p>
        </p:txBody>
      </p:sp>
      <p:sp>
        <p:nvSpPr>
          <p:cNvPr id="23589" name="Line 37"/>
          <p:cNvSpPr>
            <a:spLocks noChangeShapeType="1"/>
          </p:cNvSpPr>
          <p:nvPr/>
        </p:nvSpPr>
        <p:spPr bwMode="auto">
          <a:xfrm>
            <a:off x="4267200" y="251460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90" name="Rectangle 38"/>
          <p:cNvSpPr>
            <a:spLocks noChangeArrowheads="1"/>
          </p:cNvSpPr>
          <p:nvPr/>
        </p:nvSpPr>
        <p:spPr bwMode="auto">
          <a:xfrm>
            <a:off x="4319588" y="2514600"/>
            <a:ext cx="24622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>
                <a:solidFill>
                  <a:srgbClr val="800080"/>
                </a:solidFill>
              </a:rPr>
              <a:t>e</a:t>
            </a:r>
            <a:endParaRPr lang="en-US" altLang="zh-CN" b="1">
              <a:solidFill>
                <a:srgbClr val="800080"/>
              </a:solidFill>
            </a:endParaRPr>
          </a:p>
        </p:txBody>
      </p:sp>
      <p:sp>
        <p:nvSpPr>
          <p:cNvPr id="23591" name="Line 39"/>
          <p:cNvSpPr>
            <a:spLocks noChangeShapeType="1"/>
          </p:cNvSpPr>
          <p:nvPr/>
        </p:nvSpPr>
        <p:spPr bwMode="auto">
          <a:xfrm>
            <a:off x="4267200" y="198120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92" name="Rectangle 40"/>
          <p:cNvSpPr>
            <a:spLocks noChangeArrowheads="1"/>
          </p:cNvSpPr>
          <p:nvPr/>
        </p:nvSpPr>
        <p:spPr bwMode="auto">
          <a:xfrm>
            <a:off x="4319588" y="1981200"/>
            <a:ext cx="24622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>
                <a:solidFill>
                  <a:srgbClr val="800080"/>
                </a:solidFill>
              </a:rPr>
              <a:t>d</a:t>
            </a:r>
            <a:endParaRPr lang="en-US" altLang="zh-CN" b="1">
              <a:solidFill>
                <a:srgbClr val="800080"/>
              </a:solidFill>
            </a:endParaRPr>
          </a:p>
        </p:txBody>
      </p:sp>
      <p:sp>
        <p:nvSpPr>
          <p:cNvPr id="23593" name="Rectangle 41"/>
          <p:cNvSpPr>
            <a:spLocks noChangeArrowheads="1"/>
          </p:cNvSpPr>
          <p:nvPr/>
        </p:nvSpPr>
        <p:spPr bwMode="auto">
          <a:xfrm>
            <a:off x="7467600" y="3276600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/>
              <a:t>Offset = 27</a:t>
            </a:r>
          </a:p>
        </p:txBody>
      </p:sp>
      <p:sp>
        <p:nvSpPr>
          <p:cNvPr id="23594" name="Line 42"/>
          <p:cNvSpPr>
            <a:spLocks noChangeShapeType="1"/>
          </p:cNvSpPr>
          <p:nvPr/>
        </p:nvSpPr>
        <p:spPr bwMode="auto">
          <a:xfrm flipH="1">
            <a:off x="6858000" y="3505200"/>
            <a:ext cx="609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95" name="Rectangle 43"/>
          <p:cNvSpPr>
            <a:spLocks noChangeArrowheads="1"/>
          </p:cNvSpPr>
          <p:nvPr/>
        </p:nvSpPr>
        <p:spPr bwMode="auto">
          <a:xfrm>
            <a:off x="7467600" y="2727325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/>
              <a:t>Offset = 28</a:t>
            </a:r>
          </a:p>
        </p:txBody>
      </p:sp>
      <p:sp>
        <p:nvSpPr>
          <p:cNvPr id="23596" name="Line 44"/>
          <p:cNvSpPr>
            <a:spLocks noChangeShapeType="1"/>
          </p:cNvSpPr>
          <p:nvPr/>
        </p:nvSpPr>
        <p:spPr bwMode="auto">
          <a:xfrm flipH="1">
            <a:off x="6858000" y="2955925"/>
            <a:ext cx="609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97" name="Rectangle 45"/>
          <p:cNvSpPr>
            <a:spLocks noChangeArrowheads="1"/>
          </p:cNvSpPr>
          <p:nvPr/>
        </p:nvSpPr>
        <p:spPr bwMode="auto">
          <a:xfrm>
            <a:off x="7467600" y="2209800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/>
              <a:t>Offset = 30</a:t>
            </a:r>
          </a:p>
        </p:txBody>
      </p:sp>
      <p:sp>
        <p:nvSpPr>
          <p:cNvPr id="23598" name="Line 46"/>
          <p:cNvSpPr>
            <a:spLocks noChangeShapeType="1"/>
          </p:cNvSpPr>
          <p:nvPr/>
        </p:nvSpPr>
        <p:spPr bwMode="auto">
          <a:xfrm flipH="1">
            <a:off x="6858000" y="2438400"/>
            <a:ext cx="609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99" name="Rectangle 47"/>
          <p:cNvSpPr>
            <a:spLocks noChangeArrowheads="1"/>
          </p:cNvSpPr>
          <p:nvPr/>
        </p:nvSpPr>
        <p:spPr bwMode="auto">
          <a:xfrm>
            <a:off x="7162800" y="1676400"/>
            <a:ext cx="1905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/>
              <a:t>Offset = 30+2N</a:t>
            </a:r>
          </a:p>
        </p:txBody>
      </p:sp>
      <p:sp>
        <p:nvSpPr>
          <p:cNvPr id="23600" name="Line 48"/>
          <p:cNvSpPr>
            <a:spLocks noChangeShapeType="1"/>
          </p:cNvSpPr>
          <p:nvPr/>
        </p:nvSpPr>
        <p:spPr bwMode="auto">
          <a:xfrm flipH="1">
            <a:off x="6858000" y="1905000"/>
            <a:ext cx="3810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15494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609600" y="1173163"/>
            <a:ext cx="6705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活动记录</a:t>
            </a:r>
          </a:p>
        </p:txBody>
      </p:sp>
      <p:sp>
        <p:nvSpPr>
          <p:cNvPr id="24580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1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2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3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4" name="Rectangle 8"/>
          <p:cNvSpPr>
            <a:spLocks noChangeArrowheads="1"/>
          </p:cNvSpPr>
          <p:nvPr/>
        </p:nvSpPr>
        <p:spPr bwMode="auto">
          <a:xfrm>
            <a:off x="990600" y="1817688"/>
            <a:ext cx="8267700" cy="310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楷体_GB2312" pitchFamily="49" charset="-122"/>
              </a:rPr>
              <a:t>含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嵌套过程说明语言的栈式分配</a:t>
            </a:r>
            <a:endParaRPr kumimoji="0" lang="zh-CN" altLang="en-US" sz="1000" b="1">
              <a:solidFill>
                <a:srgbClr val="800080"/>
              </a:solidFill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>
                <a:solidFill>
                  <a:srgbClr val="800080"/>
                </a:solidFill>
              </a:rPr>
              <a:t>主要问题</a:t>
            </a:r>
            <a:endParaRPr lang="zh-CN" altLang="en-US" b="1">
              <a:solidFill>
                <a:srgbClr val="800080"/>
              </a:solidFill>
            </a:endParaRPr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None/>
            </a:pPr>
            <a:r>
              <a:rPr kumimoji="0" lang="zh-CN" altLang="en-US" b="1"/>
              <a:t>   </a:t>
            </a:r>
            <a:r>
              <a:rPr lang="zh-CN" altLang="en-US" b="1">
                <a:latin typeface="Times New Roman" pitchFamily="18" charset="0"/>
              </a:rPr>
              <a:t>解决对非局部量的引用（存取）</a:t>
            </a:r>
            <a:endParaRPr kumimoji="0" lang="zh-CN" altLang="en-US" b="1">
              <a:latin typeface="Times New Roman" pitchFamily="18" charset="0"/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>
                <a:solidFill>
                  <a:srgbClr val="800080"/>
                </a:solidFill>
              </a:rPr>
              <a:t>解决方案</a:t>
            </a:r>
            <a:endParaRPr lang="zh-CN" altLang="en-US" b="1">
              <a:solidFill>
                <a:srgbClr val="800080"/>
              </a:solidFill>
            </a:endParaRPr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None/>
            </a:pPr>
            <a:r>
              <a:rPr kumimoji="0" lang="zh-CN" altLang="en-US" b="1"/>
              <a:t>   采用 </a:t>
            </a:r>
            <a:r>
              <a:rPr kumimoji="0" lang="en-US" altLang="zh-CN">
                <a:solidFill>
                  <a:srgbClr val="800080"/>
                </a:solidFill>
              </a:rPr>
              <a:t>Display </a:t>
            </a:r>
            <a:r>
              <a:rPr kumimoji="0" lang="zh-CN" altLang="en-US" b="1">
                <a:solidFill>
                  <a:srgbClr val="800080"/>
                </a:solidFill>
              </a:rPr>
              <a:t>表</a:t>
            </a:r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None/>
            </a:pPr>
            <a:r>
              <a:rPr kumimoji="0" lang="zh-CN" altLang="en-US" b="1"/>
              <a:t>   为活动记录增加</a:t>
            </a:r>
            <a:r>
              <a:rPr kumimoji="0" lang="zh-CN" altLang="en-US" b="1">
                <a:solidFill>
                  <a:srgbClr val="800080"/>
                </a:solidFill>
              </a:rPr>
              <a:t>静态链</a:t>
            </a:r>
            <a:r>
              <a:rPr kumimoji="0" lang="zh-CN" altLang="en-US" b="1"/>
              <a:t>域</a:t>
            </a:r>
          </a:p>
        </p:txBody>
      </p: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14351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458788" y="1173163"/>
            <a:ext cx="6705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活动记录</a:t>
            </a:r>
          </a:p>
        </p:txBody>
      </p:sp>
      <p:sp>
        <p:nvSpPr>
          <p:cNvPr id="25604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2677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5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629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6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6581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7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5725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8" name="Rectangle 8"/>
          <p:cNvSpPr>
            <a:spLocks noChangeArrowheads="1"/>
          </p:cNvSpPr>
          <p:nvPr/>
        </p:nvSpPr>
        <p:spPr bwMode="auto">
          <a:xfrm>
            <a:off x="684213" y="1817688"/>
            <a:ext cx="8307387" cy="456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嵌套过程语言的栈式分配</a:t>
            </a:r>
            <a:endParaRPr kumimoji="0" lang="zh-CN" altLang="en-US" sz="1000" b="1">
              <a:solidFill>
                <a:srgbClr val="800080"/>
              </a:solidFill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>
                <a:solidFill>
                  <a:srgbClr val="800080"/>
                </a:solidFill>
              </a:rPr>
              <a:t>采用</a:t>
            </a:r>
            <a:r>
              <a:rPr kumimoji="0" lang="zh-CN" altLang="en-US" b="1"/>
              <a:t> </a:t>
            </a:r>
            <a:r>
              <a:rPr kumimoji="0" lang="en-US" altLang="zh-CN">
                <a:solidFill>
                  <a:srgbClr val="800080"/>
                </a:solidFill>
              </a:rPr>
              <a:t>Display </a:t>
            </a:r>
            <a:r>
              <a:rPr kumimoji="0" lang="zh-CN" altLang="en-US" b="1">
                <a:solidFill>
                  <a:srgbClr val="800080"/>
                </a:solidFill>
              </a:rPr>
              <a:t>表 </a:t>
            </a:r>
            <a:r>
              <a:rPr kumimoji="0" lang="zh-CN" altLang="en-US" b="1"/>
              <a:t>（或称全局 </a:t>
            </a:r>
            <a:r>
              <a:rPr kumimoji="0" lang="en-US" altLang="zh-CN"/>
              <a:t>Display </a:t>
            </a:r>
            <a:r>
              <a:rPr kumimoji="0" lang="zh-CN" altLang="en-US" b="1"/>
              <a:t>表）</a:t>
            </a:r>
            <a:r>
              <a:rPr kumimoji="0" lang="zh-CN" altLang="en-US"/>
              <a:t> </a:t>
            </a:r>
            <a:endParaRPr lang="zh-CN" altLang="en-US" b="1">
              <a:solidFill>
                <a:srgbClr val="800080"/>
              </a:solidFill>
            </a:endParaRPr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None/>
            </a:pPr>
            <a:r>
              <a:rPr kumimoji="0" lang="zh-CN" altLang="en-US" b="1"/>
              <a:t>    </a:t>
            </a:r>
            <a:r>
              <a:rPr kumimoji="0" lang="en-US" altLang="zh-CN"/>
              <a:t>Display </a:t>
            </a:r>
            <a:r>
              <a:rPr kumimoji="0" lang="zh-CN" altLang="en-US" b="1"/>
              <a:t>表记录各嵌套层当前过程的活动记录在运行栈</a:t>
            </a:r>
          </a:p>
          <a:p>
            <a:pPr lvl="1">
              <a:buFontTx/>
              <a:buNone/>
            </a:pPr>
            <a:r>
              <a:rPr kumimoji="0" lang="zh-CN" altLang="en-US" b="1"/>
              <a:t>   上的起始位置（</a:t>
            </a:r>
            <a:r>
              <a:rPr lang="zh-CN" altLang="en-US" b="1"/>
              <a:t>基地址</a:t>
            </a:r>
            <a:r>
              <a:rPr kumimoji="0" lang="zh-CN" altLang="en-US" b="1"/>
              <a:t>）</a:t>
            </a:r>
          </a:p>
          <a:p>
            <a:pPr>
              <a:buClrTx/>
              <a:buFont typeface="Symbol" pitchFamily="18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None/>
            </a:pPr>
            <a:r>
              <a:rPr lang="zh-CN" altLang="en-US" b="1">
                <a:latin typeface="Times New Roman" pitchFamily="18" charset="0"/>
              </a:rPr>
              <a:t>   </a:t>
            </a:r>
            <a:r>
              <a:rPr lang="zh-CN" altLang="en-US" b="1"/>
              <a:t>当前激活过程的层次为</a:t>
            </a:r>
            <a:r>
              <a:rPr lang="en-US" altLang="zh-CN"/>
              <a:t>K</a:t>
            </a:r>
            <a:r>
              <a:rPr lang="zh-CN" altLang="en-US" b="1"/>
              <a:t>（主程序的层次设为</a:t>
            </a:r>
            <a:r>
              <a:rPr lang="en-US" altLang="zh-CN" i="1"/>
              <a:t>0</a:t>
            </a:r>
            <a:r>
              <a:rPr lang="zh-CN" altLang="en-US" b="1"/>
              <a:t>），</a:t>
            </a:r>
          </a:p>
          <a:p>
            <a:pPr lvl="1">
              <a:buFontTx/>
              <a:buNone/>
            </a:pPr>
            <a:r>
              <a:rPr lang="zh-CN" altLang="en-US" b="1"/>
              <a:t>   则对应的 </a:t>
            </a:r>
            <a:r>
              <a:rPr lang="en-US" altLang="zh-CN"/>
              <a:t>Display </a:t>
            </a:r>
            <a:r>
              <a:rPr lang="zh-CN" altLang="en-US" b="1"/>
              <a:t>表含有 </a:t>
            </a:r>
            <a:r>
              <a:rPr lang="en-US" altLang="zh-CN"/>
              <a:t>K+1 </a:t>
            </a:r>
            <a:r>
              <a:rPr lang="zh-CN" altLang="en-US" b="1"/>
              <a:t>个单元，依次存放着</a:t>
            </a:r>
          </a:p>
          <a:p>
            <a:pPr lvl="1">
              <a:buFontTx/>
              <a:buNone/>
            </a:pPr>
            <a:r>
              <a:rPr lang="zh-CN" altLang="en-US" b="1"/>
              <a:t>   现行层，直接外层</a:t>
            </a:r>
            <a:r>
              <a:rPr lang="en-US" altLang="zh-CN" b="1"/>
              <a:t>…</a:t>
            </a:r>
            <a:r>
              <a:rPr lang="zh-CN" altLang="en-US" b="1"/>
              <a:t>直至最外层的每一过程的最新活</a:t>
            </a:r>
          </a:p>
          <a:p>
            <a:pPr lvl="1">
              <a:buFontTx/>
              <a:buNone/>
            </a:pPr>
            <a:r>
              <a:rPr lang="zh-CN" altLang="en-US" b="1"/>
              <a:t>   动记录的基地址</a:t>
            </a:r>
          </a:p>
          <a:p>
            <a:pPr lvl="1">
              <a:buFontTx/>
              <a:buNone/>
            </a:pPr>
            <a:endParaRPr lang="zh-CN" altLang="en-US" sz="1000" b="1"/>
          </a:p>
          <a:p>
            <a:pPr lvl="1">
              <a:buFontTx/>
              <a:buNone/>
            </a:pPr>
            <a:r>
              <a:rPr lang="zh-CN" altLang="en-US" b="1"/>
              <a:t>   嵌套作用域规则确保每一时刻</a:t>
            </a:r>
            <a:r>
              <a:rPr kumimoji="0" lang="en-US" altLang="zh-CN"/>
              <a:t>Display </a:t>
            </a:r>
            <a:r>
              <a:rPr kumimoji="0" lang="zh-CN" altLang="en-US" b="1"/>
              <a:t>表</a:t>
            </a:r>
            <a:r>
              <a:rPr lang="zh-CN" altLang="en-US" b="1"/>
              <a:t>内容的唯一性</a:t>
            </a:r>
          </a:p>
          <a:p>
            <a:pPr lvl="1">
              <a:buFontTx/>
              <a:buNone/>
            </a:pPr>
            <a:endParaRPr lang="zh-CN" altLang="en-US" sz="1000" b="1"/>
          </a:p>
          <a:p>
            <a:pPr lvl="1">
              <a:buFontTx/>
              <a:buNone/>
            </a:pPr>
            <a:r>
              <a:rPr lang="zh-CN" altLang="en-US" b="1"/>
              <a:t>    </a:t>
            </a:r>
            <a:r>
              <a:rPr kumimoji="0" lang="en-US" altLang="zh-CN"/>
              <a:t>Display </a:t>
            </a:r>
            <a:r>
              <a:rPr kumimoji="0" lang="zh-CN" altLang="en-US" b="1"/>
              <a:t>表</a:t>
            </a:r>
            <a:r>
              <a:rPr lang="zh-CN" altLang="en-US" b="1"/>
              <a:t>的大小（即最多嵌套的层数）取决于实现</a:t>
            </a:r>
          </a:p>
        </p:txBody>
      </p: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14351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685800" y="1020763"/>
            <a:ext cx="6705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活动记录</a:t>
            </a:r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876300" y="1528763"/>
            <a:ext cx="4838700" cy="1036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嵌套过程语言的栈式分配</a:t>
            </a:r>
            <a:endParaRPr kumimoji="0" lang="zh-CN" altLang="en-US" sz="1000" b="1">
              <a:solidFill>
                <a:srgbClr val="800080"/>
              </a:solidFill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en-US" altLang="zh-CN"/>
              <a:t>Display </a:t>
            </a:r>
            <a:r>
              <a:rPr kumimoji="0" lang="zh-CN" altLang="en-US" b="1"/>
              <a:t>表方案</a:t>
            </a:r>
            <a:r>
              <a:rPr kumimoji="0" lang="zh-CN" altLang="en-US" b="1">
                <a:solidFill>
                  <a:srgbClr val="800080"/>
                </a:solidFill>
              </a:rPr>
              <a:t>举例</a:t>
            </a:r>
            <a:endParaRPr lang="zh-CN" altLang="en-US" b="1">
              <a:solidFill>
                <a:srgbClr val="800080"/>
              </a:solidFill>
            </a:endParaRPr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5867400" y="1044575"/>
            <a:ext cx="2514600" cy="558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kumimoji="0" lang="en-US" altLang="zh-CN" sz="1800" b="1"/>
              <a:t>program Main( I,O)</a:t>
            </a:r>
            <a:r>
              <a:rPr kumimoji="0" lang="zh-CN" altLang="en-US" sz="1800" b="1"/>
              <a:t>；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procedure P;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procedure Q;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procedure R;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   begin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      … R; …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   end;   /*R*/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begin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   … R; …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end;   /*Q*/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begin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… Q; …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end;   /*P*/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procedure S;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begin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… P; …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end;   /*S*/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begin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…  S; …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end.   /*main*/</a:t>
            </a:r>
          </a:p>
        </p:txBody>
      </p:sp>
      <p:sp>
        <p:nvSpPr>
          <p:cNvPr id="26630" name="Rectangle 17"/>
          <p:cNvSpPr>
            <a:spLocks noChangeArrowheads="1"/>
          </p:cNvSpPr>
          <p:nvPr/>
        </p:nvSpPr>
        <p:spPr bwMode="auto">
          <a:xfrm>
            <a:off x="1604963" y="2565400"/>
            <a:ext cx="3830637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zh-CN" altLang="en-US" sz="2000" b="1"/>
              <a:t>过程 </a:t>
            </a:r>
            <a:r>
              <a:rPr lang="en-US" altLang="zh-CN" sz="2000"/>
              <a:t>R </a:t>
            </a:r>
            <a:r>
              <a:rPr lang="zh-CN" altLang="en-US" sz="2000" b="1"/>
              <a:t>被第二次激活后运行栈和</a:t>
            </a:r>
          </a:p>
          <a:p>
            <a:pPr algn="ctr">
              <a:buFont typeface="Wingdings" pitchFamily="2" charset="2"/>
              <a:buNone/>
            </a:pPr>
            <a:r>
              <a:rPr lang="en-US" altLang="zh-CN" sz="2000"/>
              <a:t>Display </a:t>
            </a:r>
            <a:r>
              <a:rPr lang="zh-CN" altLang="en-US" sz="2000" b="1"/>
              <a:t>寄存器 </a:t>
            </a:r>
            <a:r>
              <a:rPr lang="en-US" altLang="zh-CN" sz="2000">
                <a:solidFill>
                  <a:srgbClr val="800080"/>
                </a:solidFill>
              </a:rPr>
              <a:t>D[i]</a:t>
            </a:r>
            <a:r>
              <a:rPr lang="en-US" altLang="zh-CN" sz="2000"/>
              <a:t> </a:t>
            </a:r>
            <a:r>
              <a:rPr lang="zh-CN" altLang="en-US" sz="2000" b="1"/>
              <a:t>的情况</a:t>
            </a:r>
          </a:p>
        </p:txBody>
      </p:sp>
      <p:sp>
        <p:nvSpPr>
          <p:cNvPr id="26631" name="AutoShape 1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2677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2" name="AutoShape 1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629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3" name="AutoShape 2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6581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4" name="AutoShape 2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5725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5" name="Line 34"/>
          <p:cNvSpPr>
            <a:spLocks noChangeShapeType="1"/>
          </p:cNvSpPr>
          <p:nvPr/>
        </p:nvSpPr>
        <p:spPr bwMode="auto">
          <a:xfrm>
            <a:off x="2773363" y="3397250"/>
            <a:ext cx="0" cy="33401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636" name="Line 35"/>
          <p:cNvSpPr>
            <a:spLocks noChangeShapeType="1"/>
          </p:cNvSpPr>
          <p:nvPr/>
        </p:nvSpPr>
        <p:spPr bwMode="auto">
          <a:xfrm>
            <a:off x="5364163" y="3397250"/>
            <a:ext cx="0" cy="33401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637" name="Line 36"/>
          <p:cNvSpPr>
            <a:spLocks noChangeShapeType="1"/>
          </p:cNvSpPr>
          <p:nvPr/>
        </p:nvSpPr>
        <p:spPr bwMode="auto">
          <a:xfrm>
            <a:off x="2773363" y="673735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638" name="Line 37"/>
          <p:cNvSpPr>
            <a:spLocks noChangeShapeType="1"/>
          </p:cNvSpPr>
          <p:nvPr/>
        </p:nvSpPr>
        <p:spPr bwMode="auto">
          <a:xfrm>
            <a:off x="2773363" y="620395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639" name="Rectangle 38"/>
          <p:cNvSpPr>
            <a:spLocks noChangeArrowheads="1"/>
          </p:cNvSpPr>
          <p:nvPr/>
        </p:nvSpPr>
        <p:spPr bwMode="auto">
          <a:xfrm>
            <a:off x="2825750" y="6264275"/>
            <a:ext cx="24622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main </a:t>
            </a:r>
            <a:r>
              <a:rPr lang="zh-CN" altLang="en-US" sz="2000" b="1">
                <a:solidFill>
                  <a:srgbClr val="800080"/>
                </a:solidFill>
              </a:rPr>
              <a:t>的活动记录</a:t>
            </a:r>
          </a:p>
        </p:txBody>
      </p:sp>
      <p:sp>
        <p:nvSpPr>
          <p:cNvPr id="26640" name="Line 39"/>
          <p:cNvSpPr>
            <a:spLocks noChangeShapeType="1"/>
          </p:cNvSpPr>
          <p:nvPr/>
        </p:nvSpPr>
        <p:spPr bwMode="auto">
          <a:xfrm>
            <a:off x="2773363" y="567055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641" name="Rectangle 40"/>
          <p:cNvSpPr>
            <a:spLocks noChangeArrowheads="1"/>
          </p:cNvSpPr>
          <p:nvPr/>
        </p:nvSpPr>
        <p:spPr bwMode="auto">
          <a:xfrm>
            <a:off x="2825750" y="5213350"/>
            <a:ext cx="24622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P </a:t>
            </a:r>
            <a:r>
              <a:rPr lang="zh-CN" altLang="en-US" sz="2000" b="1">
                <a:solidFill>
                  <a:srgbClr val="800080"/>
                </a:solidFill>
              </a:rPr>
              <a:t>的活动记录</a:t>
            </a:r>
          </a:p>
        </p:txBody>
      </p:sp>
      <p:sp>
        <p:nvSpPr>
          <p:cNvPr id="26642" name="Line 41"/>
          <p:cNvSpPr>
            <a:spLocks noChangeShapeType="1"/>
          </p:cNvSpPr>
          <p:nvPr/>
        </p:nvSpPr>
        <p:spPr bwMode="auto">
          <a:xfrm>
            <a:off x="2773363" y="513715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643" name="Rectangle 42"/>
          <p:cNvSpPr>
            <a:spLocks noChangeArrowheads="1"/>
          </p:cNvSpPr>
          <p:nvPr/>
        </p:nvSpPr>
        <p:spPr bwMode="auto">
          <a:xfrm>
            <a:off x="2773363" y="4679950"/>
            <a:ext cx="2514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Q </a:t>
            </a:r>
            <a:r>
              <a:rPr lang="zh-CN" altLang="en-US" sz="2000" b="1">
                <a:solidFill>
                  <a:srgbClr val="800080"/>
                </a:solidFill>
              </a:rPr>
              <a:t>的活动记录</a:t>
            </a:r>
          </a:p>
        </p:txBody>
      </p:sp>
      <p:sp>
        <p:nvSpPr>
          <p:cNvPr id="26644" name="Line 43"/>
          <p:cNvSpPr>
            <a:spLocks noChangeShapeType="1"/>
          </p:cNvSpPr>
          <p:nvPr/>
        </p:nvSpPr>
        <p:spPr bwMode="auto">
          <a:xfrm>
            <a:off x="2773363" y="460375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645" name="Rectangle 44"/>
          <p:cNvSpPr>
            <a:spLocks noChangeArrowheads="1"/>
          </p:cNvSpPr>
          <p:nvPr/>
        </p:nvSpPr>
        <p:spPr bwMode="auto">
          <a:xfrm>
            <a:off x="2825750" y="4146550"/>
            <a:ext cx="24622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R </a:t>
            </a:r>
            <a:r>
              <a:rPr lang="zh-CN" altLang="en-US" sz="2000" b="1">
                <a:solidFill>
                  <a:srgbClr val="800080"/>
                </a:solidFill>
              </a:rPr>
              <a:t>的活动记录</a:t>
            </a:r>
          </a:p>
        </p:txBody>
      </p:sp>
      <p:sp>
        <p:nvSpPr>
          <p:cNvPr id="26646" name="Rectangle 45"/>
          <p:cNvSpPr>
            <a:spLocks noChangeArrowheads="1"/>
          </p:cNvSpPr>
          <p:nvPr/>
        </p:nvSpPr>
        <p:spPr bwMode="auto">
          <a:xfrm>
            <a:off x="2825750" y="5746750"/>
            <a:ext cx="24622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S </a:t>
            </a:r>
            <a:r>
              <a:rPr lang="zh-CN" altLang="en-US" sz="2000" b="1">
                <a:solidFill>
                  <a:srgbClr val="800080"/>
                </a:solidFill>
              </a:rPr>
              <a:t>的活动记录</a:t>
            </a:r>
          </a:p>
        </p:txBody>
      </p:sp>
      <p:sp>
        <p:nvSpPr>
          <p:cNvPr id="26647" name="Line 46"/>
          <p:cNvSpPr>
            <a:spLocks noChangeShapeType="1"/>
          </p:cNvSpPr>
          <p:nvPr/>
        </p:nvSpPr>
        <p:spPr bwMode="auto">
          <a:xfrm>
            <a:off x="2773363" y="407035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648" name="Line 47"/>
          <p:cNvSpPr>
            <a:spLocks noChangeShapeType="1"/>
          </p:cNvSpPr>
          <p:nvPr/>
        </p:nvSpPr>
        <p:spPr bwMode="auto">
          <a:xfrm flipH="1">
            <a:off x="2239963" y="6661150"/>
            <a:ext cx="5334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 type="triangle" w="med" len="med"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649" name="Line 48"/>
          <p:cNvSpPr>
            <a:spLocks noChangeShapeType="1"/>
          </p:cNvSpPr>
          <p:nvPr/>
        </p:nvSpPr>
        <p:spPr bwMode="auto">
          <a:xfrm flipH="1">
            <a:off x="2239963" y="3487738"/>
            <a:ext cx="5334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 type="triangle" w="med" len="med"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650" name="Rectangle 49"/>
          <p:cNvSpPr>
            <a:spLocks noChangeArrowheads="1"/>
          </p:cNvSpPr>
          <p:nvPr/>
        </p:nvSpPr>
        <p:spPr bwMode="auto">
          <a:xfrm>
            <a:off x="1401763" y="3319463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/>
              <a:t>SP</a:t>
            </a:r>
            <a:endParaRPr lang="en-US" altLang="zh-CN" sz="2000" b="1"/>
          </a:p>
        </p:txBody>
      </p:sp>
      <p:sp>
        <p:nvSpPr>
          <p:cNvPr id="26651" name="Rectangle 50"/>
          <p:cNvSpPr>
            <a:spLocks noChangeArrowheads="1"/>
          </p:cNvSpPr>
          <p:nvPr/>
        </p:nvSpPr>
        <p:spPr bwMode="auto">
          <a:xfrm>
            <a:off x="1590675" y="6416675"/>
            <a:ext cx="649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D[0]</a:t>
            </a:r>
          </a:p>
        </p:txBody>
      </p:sp>
      <p:sp>
        <p:nvSpPr>
          <p:cNvPr id="26652" name="Line 51"/>
          <p:cNvSpPr>
            <a:spLocks noChangeShapeType="1"/>
          </p:cNvSpPr>
          <p:nvPr/>
        </p:nvSpPr>
        <p:spPr bwMode="auto">
          <a:xfrm flipH="1">
            <a:off x="2239963" y="5594350"/>
            <a:ext cx="5334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 type="triangle" w="med" len="med"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653" name="Rectangle 52"/>
          <p:cNvSpPr>
            <a:spLocks noChangeArrowheads="1"/>
          </p:cNvSpPr>
          <p:nvPr/>
        </p:nvSpPr>
        <p:spPr bwMode="auto">
          <a:xfrm>
            <a:off x="1590675" y="5349875"/>
            <a:ext cx="649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D[1]</a:t>
            </a:r>
          </a:p>
        </p:txBody>
      </p:sp>
      <p:sp>
        <p:nvSpPr>
          <p:cNvPr id="26654" name="Line 53"/>
          <p:cNvSpPr>
            <a:spLocks noChangeShapeType="1"/>
          </p:cNvSpPr>
          <p:nvPr/>
        </p:nvSpPr>
        <p:spPr bwMode="auto">
          <a:xfrm flipH="1">
            <a:off x="2239963" y="5060950"/>
            <a:ext cx="5334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 type="triangle" w="med" len="med"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655" name="Rectangle 54"/>
          <p:cNvSpPr>
            <a:spLocks noChangeArrowheads="1"/>
          </p:cNvSpPr>
          <p:nvPr/>
        </p:nvSpPr>
        <p:spPr bwMode="auto">
          <a:xfrm>
            <a:off x="1590675" y="4816475"/>
            <a:ext cx="649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D[2]</a:t>
            </a:r>
          </a:p>
        </p:txBody>
      </p:sp>
      <p:sp>
        <p:nvSpPr>
          <p:cNvPr id="26656" name="Line 55"/>
          <p:cNvSpPr>
            <a:spLocks noChangeShapeType="1"/>
          </p:cNvSpPr>
          <p:nvPr/>
        </p:nvSpPr>
        <p:spPr bwMode="auto">
          <a:xfrm flipH="1">
            <a:off x="2239963" y="4037013"/>
            <a:ext cx="5334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 type="triangle" w="med" len="med"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657" name="Rectangle 56"/>
          <p:cNvSpPr>
            <a:spLocks noChangeArrowheads="1"/>
          </p:cNvSpPr>
          <p:nvPr/>
        </p:nvSpPr>
        <p:spPr bwMode="auto">
          <a:xfrm>
            <a:off x="1590675" y="3792538"/>
            <a:ext cx="649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D[3]</a:t>
            </a:r>
          </a:p>
        </p:txBody>
      </p:sp>
      <p:sp>
        <p:nvSpPr>
          <p:cNvPr id="26658" name="Rectangle 57"/>
          <p:cNvSpPr>
            <a:spLocks noChangeArrowheads="1"/>
          </p:cNvSpPr>
          <p:nvPr/>
        </p:nvSpPr>
        <p:spPr bwMode="auto">
          <a:xfrm>
            <a:off x="2824163" y="3648075"/>
            <a:ext cx="24622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R </a:t>
            </a:r>
            <a:r>
              <a:rPr lang="zh-CN" altLang="en-US" sz="2000" b="1">
                <a:solidFill>
                  <a:srgbClr val="800080"/>
                </a:solidFill>
              </a:rPr>
              <a:t>的活动记录</a:t>
            </a:r>
          </a:p>
        </p:txBody>
      </p:sp>
      <p:sp>
        <p:nvSpPr>
          <p:cNvPr id="26659" name="Line 58"/>
          <p:cNvSpPr>
            <a:spLocks noChangeShapeType="1"/>
          </p:cNvSpPr>
          <p:nvPr/>
        </p:nvSpPr>
        <p:spPr bwMode="auto">
          <a:xfrm>
            <a:off x="2771775" y="3571875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14351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533400" y="1195388"/>
            <a:ext cx="6705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活动记录</a:t>
            </a: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685800" y="1843088"/>
            <a:ext cx="8458200" cy="1036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嵌套过程语言的栈式分配</a:t>
            </a:r>
            <a:endParaRPr kumimoji="0" lang="zh-CN" altLang="en-US" sz="1000" b="1">
              <a:solidFill>
                <a:srgbClr val="800080"/>
              </a:solidFill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en-US" altLang="zh-CN">
                <a:solidFill>
                  <a:srgbClr val="800080"/>
                </a:solidFill>
              </a:rPr>
              <a:t>Display </a:t>
            </a:r>
            <a:r>
              <a:rPr kumimoji="0" lang="zh-CN" altLang="en-US" b="1">
                <a:solidFill>
                  <a:srgbClr val="800080"/>
                </a:solidFill>
              </a:rPr>
              <a:t>表的维护</a:t>
            </a:r>
            <a:r>
              <a:rPr kumimoji="0" lang="zh-CN" altLang="en-US" b="1"/>
              <a:t>（过程被调用和返回时的保存和恢复）</a:t>
            </a:r>
            <a:r>
              <a:rPr kumimoji="0" lang="zh-CN" altLang="en-US" b="1">
                <a:solidFill>
                  <a:srgbClr val="800080"/>
                </a:solidFill>
              </a:rPr>
              <a:t> </a:t>
            </a: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1447800" y="3062288"/>
            <a:ext cx="7391400" cy="209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b="1"/>
              <a:t>方法一  极端的方法是把整个 </a:t>
            </a:r>
            <a:r>
              <a:rPr lang="en-US" altLang="zh-CN"/>
              <a:t>Display </a:t>
            </a:r>
            <a:r>
              <a:rPr lang="zh-CN" altLang="en-US" b="1"/>
              <a:t>表存入活动记录</a:t>
            </a:r>
          </a:p>
          <a:p>
            <a:pPr>
              <a:buFont typeface="Wingdings" pitchFamily="2" charset="2"/>
              <a:buNone/>
            </a:pPr>
            <a:r>
              <a:rPr lang="zh-CN" altLang="en-US" b="1"/>
              <a:t>             若过程为第 </a:t>
            </a:r>
            <a:r>
              <a:rPr lang="en-US" altLang="zh-CN" i="1"/>
              <a:t>n </a:t>
            </a:r>
            <a:r>
              <a:rPr lang="zh-CN" altLang="en-US" b="1"/>
              <a:t>层，则需要保存 </a:t>
            </a:r>
            <a:r>
              <a:rPr lang="en-US" altLang="zh-CN"/>
              <a:t>D[0] ~D[</a:t>
            </a:r>
            <a:r>
              <a:rPr lang="en-US" altLang="zh-CN" i="1"/>
              <a:t>n</a:t>
            </a:r>
            <a:r>
              <a:rPr lang="en-US" altLang="zh-CN"/>
              <a:t>] </a:t>
            </a:r>
            <a:r>
              <a:rPr lang="zh-CN" altLang="en-US" b="1"/>
              <a:t>）</a:t>
            </a:r>
          </a:p>
          <a:p>
            <a:pPr>
              <a:buFont typeface="Wingdings" pitchFamily="2" charset="2"/>
              <a:buNone/>
            </a:pPr>
            <a:endParaRPr lang="zh-CN" altLang="en-US" sz="1000" b="1"/>
          </a:p>
          <a:p>
            <a:pPr>
              <a:buFont typeface="Wingdings" pitchFamily="2" charset="2"/>
              <a:buNone/>
            </a:pPr>
            <a:r>
              <a:rPr lang="zh-CN" altLang="en-US" b="1"/>
              <a:t>              一个过程（处于第 </a:t>
            </a:r>
            <a:r>
              <a:rPr lang="en-US" altLang="zh-CN" i="1"/>
              <a:t>n </a:t>
            </a:r>
            <a:r>
              <a:rPr lang="zh-CN" altLang="en-US" b="1"/>
              <a:t>层）被调用时，从调用</a:t>
            </a:r>
          </a:p>
          <a:p>
            <a:pPr>
              <a:buFont typeface="Wingdings" pitchFamily="2" charset="2"/>
              <a:buNone/>
            </a:pPr>
            <a:r>
              <a:rPr lang="zh-CN" altLang="en-US" b="1"/>
              <a:t>              过程的 </a:t>
            </a:r>
            <a:r>
              <a:rPr lang="en-US" altLang="zh-CN"/>
              <a:t>Display </a:t>
            </a:r>
            <a:r>
              <a:rPr lang="zh-CN" altLang="en-US" b="1"/>
              <a:t>表中自下向上抄录 </a:t>
            </a:r>
            <a:r>
              <a:rPr lang="en-US" altLang="zh-CN" i="1"/>
              <a:t>n</a:t>
            </a:r>
            <a:r>
              <a:rPr lang="en-US" altLang="zh-CN"/>
              <a:t> </a:t>
            </a:r>
            <a:r>
              <a:rPr lang="zh-CN" altLang="en-US" b="1"/>
              <a:t>个 </a:t>
            </a:r>
            <a:r>
              <a:rPr lang="en-US" altLang="zh-CN"/>
              <a:t>TOP</a:t>
            </a:r>
          </a:p>
          <a:p>
            <a:pPr>
              <a:buFont typeface="Wingdings" pitchFamily="2" charset="2"/>
              <a:buNone/>
            </a:pPr>
            <a:r>
              <a:rPr lang="en-US" altLang="zh-CN"/>
              <a:t>              </a:t>
            </a:r>
            <a:r>
              <a:rPr lang="zh-CN" altLang="en-US" b="1"/>
              <a:t>值，再加上本层的 </a:t>
            </a:r>
            <a:r>
              <a:rPr lang="en-US" altLang="zh-CN"/>
              <a:t>TOP </a:t>
            </a:r>
            <a:r>
              <a:rPr lang="zh-CN" altLang="en-US" b="1"/>
              <a:t>值</a:t>
            </a:r>
          </a:p>
        </p:txBody>
      </p:sp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1447800" y="5348288"/>
            <a:ext cx="75438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b="1"/>
              <a:t>方法二  只在活动记录保存一个的 </a:t>
            </a:r>
            <a:r>
              <a:rPr lang="en-US" altLang="zh-CN"/>
              <a:t>Display </a:t>
            </a:r>
            <a:r>
              <a:rPr lang="zh-CN" altLang="en-US" b="1"/>
              <a:t>表项，在静</a:t>
            </a:r>
          </a:p>
          <a:p>
            <a:pPr>
              <a:buFont typeface="Wingdings" pitchFamily="2" charset="2"/>
              <a:buNone/>
            </a:pPr>
            <a:r>
              <a:rPr lang="zh-CN" altLang="en-US" b="1"/>
              <a:t>             态存储区或专用寄存器中维护全局 </a:t>
            </a:r>
            <a:r>
              <a:rPr lang="en-US" altLang="zh-CN"/>
              <a:t>Display </a:t>
            </a:r>
            <a:r>
              <a:rPr lang="zh-CN" altLang="en-US" b="1"/>
              <a:t>表</a:t>
            </a:r>
          </a:p>
        </p:txBody>
      </p:sp>
      <p:sp>
        <p:nvSpPr>
          <p:cNvPr id="27655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2677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6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629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7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6581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8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5725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14351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685800" y="1020763"/>
            <a:ext cx="6705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活动记录</a:t>
            </a: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876300" y="1600200"/>
            <a:ext cx="4838700" cy="1036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嵌套过程语言的栈式分配</a:t>
            </a:r>
            <a:endParaRPr kumimoji="0" lang="zh-CN" altLang="en-US" sz="1000" b="1">
              <a:solidFill>
                <a:srgbClr val="800080"/>
              </a:solidFill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en-US" altLang="zh-CN"/>
              <a:t>Display </a:t>
            </a:r>
            <a:r>
              <a:rPr kumimoji="0" lang="zh-CN" altLang="en-US" b="1"/>
              <a:t>表的维护</a:t>
            </a:r>
            <a:r>
              <a:rPr kumimoji="0" lang="zh-CN" altLang="en-US" b="1">
                <a:solidFill>
                  <a:srgbClr val="800080"/>
                </a:solidFill>
              </a:rPr>
              <a:t>举例</a:t>
            </a:r>
          </a:p>
        </p:txBody>
      </p:sp>
      <p:sp>
        <p:nvSpPr>
          <p:cNvPr id="28677" name="Line 6"/>
          <p:cNvSpPr>
            <a:spLocks noChangeShapeType="1"/>
          </p:cNvSpPr>
          <p:nvPr/>
        </p:nvSpPr>
        <p:spPr bwMode="auto">
          <a:xfrm>
            <a:off x="2743200" y="3352800"/>
            <a:ext cx="0" cy="34290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678" name="Line 7"/>
          <p:cNvSpPr>
            <a:spLocks noChangeShapeType="1"/>
          </p:cNvSpPr>
          <p:nvPr/>
        </p:nvSpPr>
        <p:spPr bwMode="auto">
          <a:xfrm>
            <a:off x="5334000" y="3352800"/>
            <a:ext cx="0" cy="34290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679" name="Line 8"/>
          <p:cNvSpPr>
            <a:spLocks noChangeShapeType="1"/>
          </p:cNvSpPr>
          <p:nvPr/>
        </p:nvSpPr>
        <p:spPr bwMode="auto">
          <a:xfrm>
            <a:off x="2743200" y="678180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680" name="Line 9"/>
          <p:cNvSpPr>
            <a:spLocks noChangeShapeType="1"/>
          </p:cNvSpPr>
          <p:nvPr/>
        </p:nvSpPr>
        <p:spPr bwMode="auto">
          <a:xfrm>
            <a:off x="2743200" y="624840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681" name="Rectangle 10"/>
          <p:cNvSpPr>
            <a:spLocks noChangeArrowheads="1"/>
          </p:cNvSpPr>
          <p:nvPr/>
        </p:nvSpPr>
        <p:spPr bwMode="auto">
          <a:xfrm>
            <a:off x="2795588" y="6308725"/>
            <a:ext cx="24622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main </a:t>
            </a:r>
            <a:r>
              <a:rPr lang="zh-CN" altLang="en-US" sz="2000" b="1">
                <a:solidFill>
                  <a:srgbClr val="800080"/>
                </a:solidFill>
              </a:rPr>
              <a:t>的活动记录</a:t>
            </a:r>
          </a:p>
        </p:txBody>
      </p:sp>
      <p:sp>
        <p:nvSpPr>
          <p:cNvPr id="28682" name="Line 11"/>
          <p:cNvSpPr>
            <a:spLocks noChangeShapeType="1"/>
          </p:cNvSpPr>
          <p:nvPr/>
        </p:nvSpPr>
        <p:spPr bwMode="auto">
          <a:xfrm>
            <a:off x="2743200" y="571500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683" name="Rectangle 12"/>
          <p:cNvSpPr>
            <a:spLocks noChangeArrowheads="1"/>
          </p:cNvSpPr>
          <p:nvPr/>
        </p:nvSpPr>
        <p:spPr bwMode="auto">
          <a:xfrm>
            <a:off x="2795588" y="5257800"/>
            <a:ext cx="24622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P </a:t>
            </a:r>
            <a:r>
              <a:rPr lang="zh-CN" altLang="en-US" sz="2000" b="1">
                <a:solidFill>
                  <a:srgbClr val="800080"/>
                </a:solidFill>
              </a:rPr>
              <a:t>的活动记录</a:t>
            </a:r>
          </a:p>
        </p:txBody>
      </p:sp>
      <p:sp>
        <p:nvSpPr>
          <p:cNvPr id="28684" name="Line 13"/>
          <p:cNvSpPr>
            <a:spLocks noChangeShapeType="1"/>
          </p:cNvSpPr>
          <p:nvPr/>
        </p:nvSpPr>
        <p:spPr bwMode="auto">
          <a:xfrm>
            <a:off x="2743200" y="518160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685" name="Rectangle 14"/>
          <p:cNvSpPr>
            <a:spLocks noChangeArrowheads="1"/>
          </p:cNvSpPr>
          <p:nvPr/>
        </p:nvSpPr>
        <p:spPr bwMode="auto">
          <a:xfrm>
            <a:off x="2743200" y="4724400"/>
            <a:ext cx="2514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Q </a:t>
            </a:r>
            <a:r>
              <a:rPr lang="zh-CN" altLang="en-US" sz="2000" b="1">
                <a:solidFill>
                  <a:srgbClr val="800080"/>
                </a:solidFill>
              </a:rPr>
              <a:t>的活动记录</a:t>
            </a:r>
          </a:p>
        </p:txBody>
      </p:sp>
      <p:sp>
        <p:nvSpPr>
          <p:cNvPr id="28686" name="Line 15"/>
          <p:cNvSpPr>
            <a:spLocks noChangeShapeType="1"/>
          </p:cNvSpPr>
          <p:nvPr/>
        </p:nvSpPr>
        <p:spPr bwMode="auto">
          <a:xfrm>
            <a:off x="2743200" y="464820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687" name="Rectangle 16"/>
          <p:cNvSpPr>
            <a:spLocks noChangeArrowheads="1"/>
          </p:cNvSpPr>
          <p:nvPr/>
        </p:nvSpPr>
        <p:spPr bwMode="auto">
          <a:xfrm>
            <a:off x="2795588" y="4114800"/>
            <a:ext cx="24622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/>
              <a:t>Display </a:t>
            </a:r>
            <a:r>
              <a:rPr lang="zh-CN" altLang="en-US" sz="2000" b="1"/>
              <a:t>表</a:t>
            </a:r>
          </a:p>
        </p:txBody>
      </p:sp>
      <p:sp>
        <p:nvSpPr>
          <p:cNvPr id="28688" name="Rectangle 17"/>
          <p:cNvSpPr>
            <a:spLocks noChangeArrowheads="1"/>
          </p:cNvSpPr>
          <p:nvPr/>
        </p:nvSpPr>
        <p:spPr bwMode="auto">
          <a:xfrm>
            <a:off x="1258888" y="2681288"/>
            <a:ext cx="46402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buClrTx/>
              <a:buFontTx/>
              <a:buNone/>
            </a:pPr>
            <a:r>
              <a:rPr lang="zh-CN" altLang="en-US" b="1"/>
              <a:t>活动记录中保存完整的</a:t>
            </a:r>
            <a:r>
              <a:rPr lang="en-US" altLang="zh-CN"/>
              <a:t>Display </a:t>
            </a:r>
            <a:r>
              <a:rPr lang="zh-CN" altLang="en-US" b="1"/>
              <a:t>表</a:t>
            </a:r>
          </a:p>
        </p:txBody>
      </p:sp>
      <p:sp>
        <p:nvSpPr>
          <p:cNvPr id="28689" name="Rectangle 22"/>
          <p:cNvSpPr>
            <a:spLocks noChangeArrowheads="1"/>
          </p:cNvSpPr>
          <p:nvPr/>
        </p:nvSpPr>
        <p:spPr bwMode="auto">
          <a:xfrm>
            <a:off x="2795588" y="5791200"/>
            <a:ext cx="24622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S </a:t>
            </a:r>
            <a:r>
              <a:rPr lang="zh-CN" altLang="en-US" sz="2000" b="1">
                <a:solidFill>
                  <a:srgbClr val="800080"/>
                </a:solidFill>
              </a:rPr>
              <a:t>的活动记录</a:t>
            </a:r>
          </a:p>
        </p:txBody>
      </p:sp>
      <p:sp>
        <p:nvSpPr>
          <p:cNvPr id="28690" name="Line 23"/>
          <p:cNvSpPr>
            <a:spLocks noChangeShapeType="1"/>
          </p:cNvSpPr>
          <p:nvPr/>
        </p:nvSpPr>
        <p:spPr bwMode="auto">
          <a:xfrm>
            <a:off x="2743200" y="3521075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691" name="Line 24"/>
          <p:cNvSpPr>
            <a:spLocks noChangeShapeType="1"/>
          </p:cNvSpPr>
          <p:nvPr/>
        </p:nvSpPr>
        <p:spPr bwMode="auto">
          <a:xfrm flipH="1" flipV="1">
            <a:off x="2209800" y="6172200"/>
            <a:ext cx="533400" cy="5334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 type="triangle" w="med" len="med"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692" name="Line 25"/>
          <p:cNvSpPr>
            <a:spLocks noChangeShapeType="1"/>
          </p:cNvSpPr>
          <p:nvPr/>
        </p:nvSpPr>
        <p:spPr bwMode="auto">
          <a:xfrm flipH="1">
            <a:off x="2209800" y="3444875"/>
            <a:ext cx="5334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 type="triangle" w="med" len="med"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693" name="Rectangle 26"/>
          <p:cNvSpPr>
            <a:spLocks noChangeArrowheads="1"/>
          </p:cNvSpPr>
          <p:nvPr/>
        </p:nvSpPr>
        <p:spPr bwMode="auto">
          <a:xfrm>
            <a:off x="1371600" y="3276600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/>
              <a:t>TOP</a:t>
            </a:r>
            <a:endParaRPr lang="en-US" altLang="zh-CN" sz="2000" b="1"/>
          </a:p>
        </p:txBody>
      </p:sp>
      <p:sp>
        <p:nvSpPr>
          <p:cNvPr id="28694" name="Rectangle 27"/>
          <p:cNvSpPr>
            <a:spLocks noChangeArrowheads="1"/>
          </p:cNvSpPr>
          <p:nvPr/>
        </p:nvSpPr>
        <p:spPr bwMode="auto">
          <a:xfrm>
            <a:off x="1027113" y="5927725"/>
            <a:ext cx="6492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D[0]</a:t>
            </a:r>
          </a:p>
        </p:txBody>
      </p:sp>
      <p:sp>
        <p:nvSpPr>
          <p:cNvPr id="28695" name="Line 28"/>
          <p:cNvSpPr>
            <a:spLocks noChangeShapeType="1"/>
          </p:cNvSpPr>
          <p:nvPr/>
        </p:nvSpPr>
        <p:spPr bwMode="auto">
          <a:xfrm flipH="1">
            <a:off x="2209800" y="5638800"/>
            <a:ext cx="5334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 type="triangle" w="med" len="med"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696" name="Rectangle 29"/>
          <p:cNvSpPr>
            <a:spLocks noChangeArrowheads="1"/>
          </p:cNvSpPr>
          <p:nvPr/>
        </p:nvSpPr>
        <p:spPr bwMode="auto">
          <a:xfrm>
            <a:off x="1027113" y="5394325"/>
            <a:ext cx="6492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D[1]</a:t>
            </a:r>
          </a:p>
        </p:txBody>
      </p:sp>
      <p:sp>
        <p:nvSpPr>
          <p:cNvPr id="28697" name="Line 30"/>
          <p:cNvSpPr>
            <a:spLocks noChangeShapeType="1"/>
          </p:cNvSpPr>
          <p:nvPr/>
        </p:nvSpPr>
        <p:spPr bwMode="auto">
          <a:xfrm flipH="1">
            <a:off x="2209800" y="5105400"/>
            <a:ext cx="5334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 type="triangle" w="med" len="med"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698" name="Rectangle 31"/>
          <p:cNvSpPr>
            <a:spLocks noChangeArrowheads="1"/>
          </p:cNvSpPr>
          <p:nvPr/>
        </p:nvSpPr>
        <p:spPr bwMode="auto">
          <a:xfrm>
            <a:off x="1027113" y="4860925"/>
            <a:ext cx="6492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D[2]</a:t>
            </a:r>
          </a:p>
        </p:txBody>
      </p:sp>
      <p:sp>
        <p:nvSpPr>
          <p:cNvPr id="28699" name="Line 32"/>
          <p:cNvSpPr>
            <a:spLocks noChangeShapeType="1"/>
          </p:cNvSpPr>
          <p:nvPr/>
        </p:nvSpPr>
        <p:spPr bwMode="auto">
          <a:xfrm flipH="1">
            <a:off x="2209800" y="4587875"/>
            <a:ext cx="5334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 type="triangle" w="med" len="med"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700" name="Rectangle 33"/>
          <p:cNvSpPr>
            <a:spLocks noChangeArrowheads="1"/>
          </p:cNvSpPr>
          <p:nvPr/>
        </p:nvSpPr>
        <p:spPr bwMode="auto">
          <a:xfrm>
            <a:off x="1027113" y="4343400"/>
            <a:ext cx="6492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D[3]</a:t>
            </a:r>
          </a:p>
        </p:txBody>
      </p:sp>
      <p:sp>
        <p:nvSpPr>
          <p:cNvPr id="28701" name="Rectangle 34"/>
          <p:cNvSpPr>
            <a:spLocks noChangeArrowheads="1"/>
          </p:cNvSpPr>
          <p:nvPr/>
        </p:nvSpPr>
        <p:spPr bwMode="auto">
          <a:xfrm>
            <a:off x="2819400" y="3657600"/>
            <a:ext cx="2514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R </a:t>
            </a:r>
            <a:r>
              <a:rPr lang="zh-CN" altLang="en-US" sz="2000" b="1">
                <a:solidFill>
                  <a:srgbClr val="800080"/>
                </a:solidFill>
              </a:rPr>
              <a:t>的活动记录</a:t>
            </a:r>
          </a:p>
        </p:txBody>
      </p:sp>
      <p:sp>
        <p:nvSpPr>
          <p:cNvPr id="28702" name="Line 35"/>
          <p:cNvSpPr>
            <a:spLocks noChangeShapeType="1"/>
          </p:cNvSpPr>
          <p:nvPr/>
        </p:nvSpPr>
        <p:spPr bwMode="auto">
          <a:xfrm>
            <a:off x="1676400" y="4038600"/>
            <a:ext cx="0" cy="23622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703" name="Line 36"/>
          <p:cNvSpPr>
            <a:spLocks noChangeShapeType="1"/>
          </p:cNvSpPr>
          <p:nvPr/>
        </p:nvSpPr>
        <p:spPr bwMode="auto">
          <a:xfrm>
            <a:off x="2362200" y="4038600"/>
            <a:ext cx="0" cy="23622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704" name="Line 37"/>
          <p:cNvSpPr>
            <a:spLocks noChangeShapeType="1"/>
          </p:cNvSpPr>
          <p:nvPr/>
        </p:nvSpPr>
        <p:spPr bwMode="auto">
          <a:xfrm>
            <a:off x="1676400" y="6400800"/>
            <a:ext cx="685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705" name="Line 38"/>
          <p:cNvSpPr>
            <a:spLocks noChangeShapeType="1"/>
          </p:cNvSpPr>
          <p:nvPr/>
        </p:nvSpPr>
        <p:spPr bwMode="auto">
          <a:xfrm>
            <a:off x="1676400" y="5867400"/>
            <a:ext cx="685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706" name="Line 39"/>
          <p:cNvSpPr>
            <a:spLocks noChangeShapeType="1"/>
          </p:cNvSpPr>
          <p:nvPr/>
        </p:nvSpPr>
        <p:spPr bwMode="auto">
          <a:xfrm>
            <a:off x="1676400" y="5334000"/>
            <a:ext cx="685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707" name="Line 40"/>
          <p:cNvSpPr>
            <a:spLocks noChangeShapeType="1"/>
          </p:cNvSpPr>
          <p:nvPr/>
        </p:nvSpPr>
        <p:spPr bwMode="auto">
          <a:xfrm>
            <a:off x="1676400" y="4800600"/>
            <a:ext cx="685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708" name="Line 41"/>
          <p:cNvSpPr>
            <a:spLocks noChangeShapeType="1"/>
          </p:cNvSpPr>
          <p:nvPr/>
        </p:nvSpPr>
        <p:spPr bwMode="auto">
          <a:xfrm>
            <a:off x="1676400" y="4267200"/>
            <a:ext cx="685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709" name="Arc 42"/>
          <p:cNvSpPr>
            <a:spLocks/>
          </p:cNvSpPr>
          <p:nvPr/>
        </p:nvSpPr>
        <p:spPr bwMode="auto">
          <a:xfrm>
            <a:off x="835025" y="3762375"/>
            <a:ext cx="2139950" cy="885825"/>
          </a:xfrm>
          <a:custGeom>
            <a:avLst/>
            <a:gdLst>
              <a:gd name="T0" fmla="*/ 115963 w 43200"/>
              <a:gd name="T1" fmla="*/ 885825 h 31381"/>
              <a:gd name="T2" fmla="*/ 2139950 w 43200"/>
              <a:gd name="T3" fmla="*/ 609726 h 31381"/>
              <a:gd name="T4" fmla="*/ 1069975 w 43200"/>
              <a:gd name="T5" fmla="*/ 609726 h 313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31381" fill="none" extrusionOk="0">
                <a:moveTo>
                  <a:pt x="2341" y="31380"/>
                </a:moveTo>
                <a:cubicBezTo>
                  <a:pt x="802" y="28350"/>
                  <a:pt x="0" y="2499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</a:path>
              <a:path w="43200" h="31381" stroke="0" extrusionOk="0">
                <a:moveTo>
                  <a:pt x="2341" y="31380"/>
                </a:moveTo>
                <a:cubicBezTo>
                  <a:pt x="802" y="28350"/>
                  <a:pt x="0" y="2499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  <a:lnTo>
                  <a:pt x="21600" y="21600"/>
                </a:lnTo>
                <a:lnTo>
                  <a:pt x="2341" y="31380"/>
                </a:lnTo>
                <a:close/>
              </a:path>
            </a:pathLst>
          </a:custGeom>
          <a:noFill/>
          <a:ln w="9525">
            <a:solidFill>
              <a:srgbClr val="333399"/>
            </a:solidFill>
            <a:round/>
            <a:headEnd type="triangle" w="med" len="med"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8710" name="Text Box 43"/>
          <p:cNvSpPr txBox="1">
            <a:spLocks noChangeArrowheads="1"/>
          </p:cNvSpPr>
          <p:nvPr/>
        </p:nvSpPr>
        <p:spPr bwMode="auto">
          <a:xfrm>
            <a:off x="5867400" y="1044575"/>
            <a:ext cx="2514600" cy="558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kumimoji="0" lang="en-US" altLang="zh-CN" sz="1800" b="1"/>
              <a:t>program Main( I,O)</a:t>
            </a:r>
            <a:r>
              <a:rPr kumimoji="0" lang="zh-CN" altLang="en-US" sz="1800" b="1"/>
              <a:t>；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procedure P;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procedure Q;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procedure R;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   begin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      … R; …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   end;   /*R*/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begin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   … R; …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end;   /*Q*/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begin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… Q; …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end;   /*P*/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procedure S;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begin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… P; …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end;   /*S*/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begin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…  S; …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end.   /*main*/</a:t>
            </a:r>
          </a:p>
        </p:txBody>
      </p:sp>
      <p:sp>
        <p:nvSpPr>
          <p:cNvPr id="28711" name="AutoShape 1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2677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12" name="AutoShape 1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629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13" name="AutoShape 2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6581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14" name="AutoShape 2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5725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14351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685800" y="1020763"/>
            <a:ext cx="6705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活动记录</a:t>
            </a: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876300" y="1600200"/>
            <a:ext cx="4838700" cy="1036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嵌套过程语言的栈式分配</a:t>
            </a:r>
            <a:endParaRPr kumimoji="0" lang="zh-CN" altLang="en-US" sz="1000" b="1">
              <a:solidFill>
                <a:srgbClr val="800080"/>
              </a:solidFill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en-US" altLang="zh-CN"/>
              <a:t>Display </a:t>
            </a:r>
            <a:r>
              <a:rPr kumimoji="0" lang="zh-CN" altLang="en-US" b="1"/>
              <a:t>表的维护</a:t>
            </a:r>
            <a:r>
              <a:rPr kumimoji="0" lang="zh-CN" altLang="en-US" b="1">
                <a:solidFill>
                  <a:srgbClr val="800080"/>
                </a:solidFill>
              </a:rPr>
              <a:t>举例</a:t>
            </a:r>
          </a:p>
        </p:txBody>
      </p:sp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5943600" y="1044575"/>
            <a:ext cx="2514600" cy="558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kumimoji="0" lang="en-US" altLang="zh-CN" sz="1800" b="1"/>
              <a:t>program Main( I,O)</a:t>
            </a:r>
            <a:r>
              <a:rPr kumimoji="0" lang="zh-CN" altLang="en-US" sz="1800" b="1"/>
              <a:t>；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procedure P;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procedure Q;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procedure R;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   begin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       … P; …</a:t>
            </a:r>
            <a:endParaRPr kumimoji="0" lang="en-US" altLang="zh-CN" sz="1800" b="1">
              <a:solidFill>
                <a:srgbClr val="800080"/>
              </a:solidFill>
            </a:endParaRP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   end;   /*R*/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begin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   … R; …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end;   /*Q*/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begin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… Q; …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end;   /*P*/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procedure S;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begin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… P; …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end;   /*S*/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begin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…  S; …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end.   /*main*/</a:t>
            </a:r>
          </a:p>
        </p:txBody>
      </p:sp>
      <p:sp>
        <p:nvSpPr>
          <p:cNvPr id="29702" name="Line 6"/>
          <p:cNvSpPr>
            <a:spLocks noChangeShapeType="1"/>
          </p:cNvSpPr>
          <p:nvPr/>
        </p:nvSpPr>
        <p:spPr bwMode="auto">
          <a:xfrm>
            <a:off x="1187450" y="3357563"/>
            <a:ext cx="31750" cy="3311525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9703" name="Line 7"/>
          <p:cNvSpPr>
            <a:spLocks noChangeShapeType="1"/>
          </p:cNvSpPr>
          <p:nvPr/>
        </p:nvSpPr>
        <p:spPr bwMode="auto">
          <a:xfrm>
            <a:off x="5715000" y="3357563"/>
            <a:ext cx="0" cy="3311525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9704" name="Line 8"/>
          <p:cNvSpPr>
            <a:spLocks noChangeShapeType="1"/>
          </p:cNvSpPr>
          <p:nvPr/>
        </p:nvSpPr>
        <p:spPr bwMode="auto">
          <a:xfrm>
            <a:off x="1219200" y="6669088"/>
            <a:ext cx="4495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9705" name="Line 9"/>
          <p:cNvSpPr>
            <a:spLocks noChangeShapeType="1"/>
          </p:cNvSpPr>
          <p:nvPr/>
        </p:nvSpPr>
        <p:spPr bwMode="auto">
          <a:xfrm>
            <a:off x="1219200" y="5983288"/>
            <a:ext cx="4495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9706" name="Rectangle 10"/>
          <p:cNvSpPr>
            <a:spLocks noChangeArrowheads="1"/>
          </p:cNvSpPr>
          <p:nvPr/>
        </p:nvSpPr>
        <p:spPr bwMode="auto">
          <a:xfrm>
            <a:off x="1219200" y="6119813"/>
            <a:ext cx="4495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saved             </a:t>
            </a:r>
            <a:r>
              <a:rPr lang="en-US" altLang="zh-CN" sz="2000">
                <a:solidFill>
                  <a:srgbClr val="800080"/>
                </a:solidFill>
                <a:ea typeface="宋体" pitchFamily="2" charset="-122"/>
                <a:cs typeface="Arial" pitchFamily="34" charset="0"/>
              </a:rPr>
              <a:t>S     _     _    </a:t>
            </a:r>
            <a:r>
              <a:rPr lang="en-US" altLang="zh-CN" sz="2000">
                <a:solidFill>
                  <a:srgbClr val="800080"/>
                </a:solidFill>
                <a:ea typeface="宋体" pitchFamily="2" charset="-122"/>
              </a:rPr>
              <a:t>P    Q    R</a:t>
            </a:r>
          </a:p>
        </p:txBody>
      </p:sp>
      <p:sp>
        <p:nvSpPr>
          <p:cNvPr id="29707" name="Rectangle 11"/>
          <p:cNvSpPr>
            <a:spLocks noChangeArrowheads="1"/>
          </p:cNvSpPr>
          <p:nvPr/>
        </p:nvSpPr>
        <p:spPr bwMode="auto">
          <a:xfrm>
            <a:off x="1219200" y="4576763"/>
            <a:ext cx="4495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D[2]                </a:t>
            </a:r>
            <a:r>
              <a:rPr lang="en-US" altLang="zh-CN" sz="2000">
                <a:solidFill>
                  <a:srgbClr val="800080"/>
                </a:solidFill>
                <a:ea typeface="宋体" pitchFamily="2" charset="-122"/>
                <a:cs typeface="Arial" pitchFamily="34" charset="0"/>
              </a:rPr>
              <a:t>_     </a:t>
            </a:r>
            <a:r>
              <a:rPr lang="en-US" altLang="zh-CN" sz="2000">
                <a:solidFill>
                  <a:srgbClr val="800080"/>
                </a:solidFill>
                <a:ea typeface="宋体" pitchFamily="2" charset="-122"/>
              </a:rPr>
              <a:t>Q    Q    Q    Q’    Q’</a:t>
            </a:r>
          </a:p>
        </p:txBody>
      </p:sp>
      <p:sp>
        <p:nvSpPr>
          <p:cNvPr id="29708" name="Rectangle 12"/>
          <p:cNvSpPr>
            <a:spLocks noChangeArrowheads="1"/>
          </p:cNvSpPr>
          <p:nvPr/>
        </p:nvSpPr>
        <p:spPr bwMode="auto">
          <a:xfrm>
            <a:off x="1219200" y="4103688"/>
            <a:ext cx="4419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D[3]                </a:t>
            </a:r>
            <a:r>
              <a:rPr lang="en-US" altLang="zh-CN" sz="2000">
                <a:solidFill>
                  <a:srgbClr val="800080"/>
                </a:solidFill>
                <a:ea typeface="宋体" pitchFamily="2" charset="-122"/>
                <a:cs typeface="Arial" pitchFamily="34" charset="0"/>
              </a:rPr>
              <a:t>_     _     </a:t>
            </a:r>
            <a:r>
              <a:rPr lang="en-US" altLang="zh-CN" sz="2000">
                <a:solidFill>
                  <a:srgbClr val="800080"/>
                </a:solidFill>
                <a:ea typeface="宋体" pitchFamily="2" charset="-122"/>
              </a:rPr>
              <a:t>R    R    R    R’</a:t>
            </a:r>
          </a:p>
        </p:txBody>
      </p:sp>
      <p:sp>
        <p:nvSpPr>
          <p:cNvPr id="29709" name="Line 13"/>
          <p:cNvSpPr>
            <a:spLocks noChangeShapeType="1"/>
          </p:cNvSpPr>
          <p:nvPr/>
        </p:nvSpPr>
        <p:spPr bwMode="auto">
          <a:xfrm>
            <a:off x="1219200" y="4043363"/>
            <a:ext cx="4495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9710" name="Rectangle 14"/>
          <p:cNvSpPr>
            <a:spLocks noChangeArrowheads="1"/>
          </p:cNvSpPr>
          <p:nvPr/>
        </p:nvSpPr>
        <p:spPr bwMode="auto">
          <a:xfrm>
            <a:off x="1600200" y="2819400"/>
            <a:ext cx="34147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buClrTx/>
              <a:buFontTx/>
              <a:buNone/>
            </a:pPr>
            <a:r>
              <a:rPr lang="zh-CN" altLang="en-US" b="1"/>
              <a:t>只保存一个</a:t>
            </a:r>
            <a:r>
              <a:rPr lang="en-US" altLang="zh-CN"/>
              <a:t>Display </a:t>
            </a:r>
            <a:r>
              <a:rPr lang="zh-CN" altLang="en-US" b="1"/>
              <a:t>表项</a:t>
            </a:r>
          </a:p>
        </p:txBody>
      </p:sp>
      <p:sp>
        <p:nvSpPr>
          <p:cNvPr id="29711" name="AutoShape 1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2677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12" name="AutoShape 1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629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13" name="AutoShape 1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6581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14" name="AutoShape 1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5725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15" name="Rectangle 19"/>
          <p:cNvSpPr>
            <a:spLocks noChangeArrowheads="1"/>
          </p:cNvSpPr>
          <p:nvPr/>
        </p:nvSpPr>
        <p:spPr bwMode="auto">
          <a:xfrm>
            <a:off x="1219200" y="5510213"/>
            <a:ext cx="4495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D[0]             </a:t>
            </a:r>
            <a:r>
              <a:rPr lang="en-US" altLang="zh-CN" sz="1600">
                <a:solidFill>
                  <a:srgbClr val="800080"/>
                </a:solidFill>
              </a:rPr>
              <a:t>Main Main Main Main</a:t>
            </a:r>
            <a:r>
              <a:rPr lang="en-US" altLang="zh-CN" sz="1600"/>
              <a:t> </a:t>
            </a:r>
            <a:r>
              <a:rPr lang="en-US" altLang="zh-CN" sz="1600">
                <a:solidFill>
                  <a:srgbClr val="800080"/>
                </a:solidFill>
              </a:rPr>
              <a:t>Main</a:t>
            </a:r>
            <a:r>
              <a:rPr lang="en-US" altLang="zh-CN" sz="1600"/>
              <a:t> </a:t>
            </a:r>
            <a:r>
              <a:rPr lang="en-US" altLang="zh-CN" sz="1600">
                <a:solidFill>
                  <a:srgbClr val="800080"/>
                </a:solidFill>
              </a:rPr>
              <a:t>Main</a:t>
            </a:r>
          </a:p>
        </p:txBody>
      </p:sp>
      <p:sp>
        <p:nvSpPr>
          <p:cNvPr id="29716" name="Line 20"/>
          <p:cNvSpPr>
            <a:spLocks noChangeShapeType="1"/>
          </p:cNvSpPr>
          <p:nvPr/>
        </p:nvSpPr>
        <p:spPr bwMode="auto">
          <a:xfrm>
            <a:off x="1219200" y="3357563"/>
            <a:ext cx="4495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9717" name="Rectangle 21"/>
          <p:cNvSpPr>
            <a:spLocks noChangeArrowheads="1"/>
          </p:cNvSpPr>
          <p:nvPr/>
        </p:nvSpPr>
        <p:spPr bwMode="auto">
          <a:xfrm>
            <a:off x="1295400" y="3509963"/>
            <a:ext cx="434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calls </a:t>
            </a:r>
            <a:r>
              <a:rPr lang="en-US" altLang="zh-CN" sz="2000" b="1">
                <a:solidFill>
                  <a:srgbClr val="800080"/>
                </a:solidFill>
              </a:rPr>
              <a:t>              </a:t>
            </a:r>
            <a:r>
              <a:rPr lang="en-US" altLang="zh-CN" sz="2000">
                <a:solidFill>
                  <a:srgbClr val="800080"/>
                </a:solidFill>
              </a:rPr>
              <a:t>P    Q    R    P’   Q’    R’</a:t>
            </a:r>
          </a:p>
        </p:txBody>
      </p:sp>
      <p:sp>
        <p:nvSpPr>
          <p:cNvPr id="29718" name="Rectangle 22"/>
          <p:cNvSpPr>
            <a:spLocks noChangeArrowheads="1"/>
          </p:cNvSpPr>
          <p:nvPr/>
        </p:nvSpPr>
        <p:spPr bwMode="auto">
          <a:xfrm>
            <a:off x="1228725" y="5048250"/>
            <a:ext cx="4495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D[1]                P     P    P    P’    P’    P’</a:t>
            </a:r>
          </a:p>
        </p:txBody>
      </p: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14351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495300" y="1066800"/>
            <a:ext cx="6705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活动记录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838200" y="1741488"/>
            <a:ext cx="8305800" cy="409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嵌套过程语言的栈式分配</a:t>
            </a:r>
            <a:endParaRPr kumimoji="0" lang="zh-CN" altLang="en-US" sz="1000" b="1">
              <a:solidFill>
                <a:srgbClr val="800080"/>
              </a:solidFill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kumimoji="0" lang="zh-CN" altLang="en-US" b="1">
                <a:solidFill>
                  <a:srgbClr val="800080"/>
                </a:solidFill>
              </a:rPr>
              <a:t>采用静态链</a:t>
            </a:r>
            <a:r>
              <a:rPr lang="zh-CN" altLang="en-US"/>
              <a:t>（</a:t>
            </a:r>
            <a:r>
              <a:rPr lang="en-US" altLang="zh-CN" i="1"/>
              <a:t>static link</a:t>
            </a:r>
            <a:r>
              <a:rPr lang="zh-CN" altLang="en-US"/>
              <a:t>）</a:t>
            </a:r>
            <a:endParaRPr lang="zh-CN" altLang="en-US" b="1">
              <a:solidFill>
                <a:srgbClr val="800080"/>
              </a:solidFill>
            </a:endParaRPr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None/>
            </a:pPr>
            <a:r>
              <a:rPr kumimoji="0" lang="zh-CN" altLang="en-US" b="1"/>
              <a:t>   </a:t>
            </a:r>
            <a:r>
              <a:rPr kumimoji="0" lang="en-US" altLang="zh-CN"/>
              <a:t>Display </a:t>
            </a:r>
            <a:r>
              <a:rPr kumimoji="0" lang="zh-CN" altLang="en-US" b="1"/>
              <a:t>表的方法要用到多个存储单元或多个寄存器，</a:t>
            </a:r>
          </a:p>
          <a:p>
            <a:pPr lvl="1">
              <a:buFontTx/>
              <a:buNone/>
            </a:pPr>
            <a:r>
              <a:rPr kumimoji="0" lang="zh-CN" altLang="en-US" b="1"/>
              <a:t>   有时并不情愿这样做，一种可选的方法是采用静态链</a:t>
            </a:r>
            <a:endParaRPr kumimoji="0" lang="zh-CN" altLang="en-US"/>
          </a:p>
          <a:p>
            <a:pPr lvl="1">
              <a:buFontTx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None/>
            </a:pPr>
            <a:r>
              <a:rPr lang="zh-CN" altLang="en-US" b="1">
                <a:latin typeface="Times New Roman" pitchFamily="18" charset="0"/>
              </a:rPr>
              <a:t>   </a:t>
            </a:r>
            <a:r>
              <a:rPr lang="zh-CN" altLang="en-US" b="1"/>
              <a:t>所有活动记录都增加一个静态链（如在</a:t>
            </a:r>
            <a:r>
              <a:rPr lang="en-US" altLang="zh-CN"/>
              <a:t>offset</a:t>
            </a:r>
            <a:r>
              <a:rPr lang="en-US" altLang="zh-CN" b="1"/>
              <a:t> </a:t>
            </a:r>
            <a:r>
              <a:rPr lang="zh-CN" altLang="en-US" b="1"/>
              <a:t>为 </a:t>
            </a:r>
            <a:r>
              <a:rPr lang="en-US" altLang="zh-CN"/>
              <a:t>0 </a:t>
            </a:r>
            <a:r>
              <a:rPr lang="zh-CN" altLang="en-US" b="1"/>
              <a:t>处）</a:t>
            </a:r>
          </a:p>
          <a:p>
            <a:pPr lvl="1">
              <a:buFontTx/>
              <a:buNone/>
            </a:pPr>
            <a:r>
              <a:rPr lang="zh-CN" altLang="en-US" b="1"/>
              <a:t>   的域，指向定义该过程的</a:t>
            </a:r>
            <a:r>
              <a:rPr lang="zh-CN" altLang="en-US" b="1">
                <a:solidFill>
                  <a:srgbClr val="800080"/>
                </a:solidFill>
              </a:rPr>
              <a:t>直接外过程</a:t>
            </a:r>
            <a:r>
              <a:rPr lang="zh-CN" altLang="en-US" b="1"/>
              <a:t>（或主程序）运</a:t>
            </a:r>
          </a:p>
          <a:p>
            <a:pPr lvl="1">
              <a:buFontTx/>
              <a:buNone/>
            </a:pPr>
            <a:r>
              <a:rPr lang="zh-CN" altLang="en-US" b="1"/>
              <a:t>   行时</a:t>
            </a:r>
            <a:r>
              <a:rPr lang="zh-CN" altLang="en-US" b="1">
                <a:solidFill>
                  <a:srgbClr val="800080"/>
                </a:solidFill>
              </a:rPr>
              <a:t>最新的</a:t>
            </a:r>
            <a:r>
              <a:rPr lang="zh-CN" altLang="en-US" b="1"/>
              <a:t>活动记录</a:t>
            </a:r>
          </a:p>
          <a:p>
            <a:pPr lvl="1">
              <a:buFontTx/>
              <a:buNone/>
            </a:pPr>
            <a:endParaRPr lang="zh-CN" altLang="en-US" sz="1000" b="1"/>
          </a:p>
          <a:p>
            <a:pPr lvl="1">
              <a:buFontTx/>
              <a:buNone/>
            </a:pPr>
            <a:r>
              <a:rPr lang="zh-CN" altLang="en-US" b="1"/>
              <a:t>   在过程返回时当前 </a:t>
            </a:r>
            <a:r>
              <a:rPr lang="en-US" altLang="zh-CN"/>
              <a:t>AR </a:t>
            </a:r>
            <a:r>
              <a:rPr lang="zh-CN" altLang="en-US" b="1"/>
              <a:t>要被撤销，为回卷（</a:t>
            </a:r>
            <a:r>
              <a:rPr lang="en-US" altLang="zh-CN" i="1"/>
              <a:t>unwind</a:t>
            </a:r>
            <a:r>
              <a:rPr lang="zh-CN" altLang="en-US" b="1"/>
              <a:t>）</a:t>
            </a:r>
          </a:p>
          <a:p>
            <a:pPr lvl="1">
              <a:buFontTx/>
              <a:buNone/>
            </a:pPr>
            <a:r>
              <a:rPr lang="zh-CN" altLang="en-US" b="1"/>
              <a:t>   到调用过程的</a:t>
            </a:r>
            <a:r>
              <a:rPr lang="en-US" altLang="zh-CN"/>
              <a:t>AR</a:t>
            </a:r>
            <a:r>
              <a:rPr lang="zh-CN" altLang="en-US" b="1"/>
              <a:t>（恢复</a:t>
            </a:r>
            <a:r>
              <a:rPr kumimoji="0" lang="en-US" altLang="zh-CN"/>
              <a:t>FP</a:t>
            </a:r>
            <a:r>
              <a:rPr kumimoji="0" lang="zh-CN" altLang="en-US"/>
              <a:t>）</a:t>
            </a:r>
            <a:r>
              <a:rPr lang="zh-CN" altLang="en-US" b="1"/>
              <a:t>需要用到</a:t>
            </a:r>
            <a:r>
              <a:rPr lang="zh-CN" altLang="en-US" b="1">
                <a:solidFill>
                  <a:srgbClr val="800080"/>
                </a:solidFill>
              </a:rPr>
              <a:t>动态链</a:t>
            </a:r>
            <a:r>
              <a:rPr lang="zh-CN" altLang="en-US" b="1"/>
              <a:t>域</a:t>
            </a:r>
          </a:p>
        </p:txBody>
      </p:sp>
      <p:sp>
        <p:nvSpPr>
          <p:cNvPr id="30725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2677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6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629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7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6581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8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5725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14351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685800" y="1143000"/>
            <a:ext cx="6705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活动记录</a:t>
            </a: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876300" y="1722438"/>
            <a:ext cx="4838700" cy="1036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嵌套过程语言的栈式分配</a:t>
            </a:r>
            <a:endParaRPr kumimoji="0" lang="zh-CN" altLang="en-US" sz="1000" b="1">
              <a:solidFill>
                <a:srgbClr val="800080"/>
              </a:solidFill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kumimoji="0" lang="zh-CN" altLang="en-US" b="1">
                <a:solidFill>
                  <a:srgbClr val="800080"/>
                </a:solidFill>
              </a:rPr>
              <a:t>  </a:t>
            </a:r>
            <a:r>
              <a:rPr kumimoji="0" lang="zh-CN" altLang="en-US" b="1"/>
              <a:t>采用静态链的方法</a:t>
            </a:r>
            <a:r>
              <a:rPr kumimoji="0" lang="zh-CN" altLang="en-US" b="1">
                <a:solidFill>
                  <a:srgbClr val="800080"/>
                </a:solidFill>
              </a:rPr>
              <a:t>举例</a:t>
            </a:r>
          </a:p>
        </p:txBody>
      </p:sp>
      <p:sp>
        <p:nvSpPr>
          <p:cNvPr id="31749" name="Line 6"/>
          <p:cNvSpPr>
            <a:spLocks noChangeShapeType="1"/>
          </p:cNvSpPr>
          <p:nvPr/>
        </p:nvSpPr>
        <p:spPr bwMode="auto">
          <a:xfrm>
            <a:off x="2133600" y="3505200"/>
            <a:ext cx="0" cy="29718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50" name="Line 7"/>
          <p:cNvSpPr>
            <a:spLocks noChangeShapeType="1"/>
          </p:cNvSpPr>
          <p:nvPr/>
        </p:nvSpPr>
        <p:spPr bwMode="auto">
          <a:xfrm>
            <a:off x="4724400" y="3505200"/>
            <a:ext cx="0" cy="29718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51" name="Line 8"/>
          <p:cNvSpPr>
            <a:spLocks noChangeShapeType="1"/>
          </p:cNvSpPr>
          <p:nvPr/>
        </p:nvSpPr>
        <p:spPr bwMode="auto">
          <a:xfrm>
            <a:off x="2133600" y="647700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52" name="Line 9"/>
          <p:cNvSpPr>
            <a:spLocks noChangeShapeType="1"/>
          </p:cNvSpPr>
          <p:nvPr/>
        </p:nvSpPr>
        <p:spPr bwMode="auto">
          <a:xfrm>
            <a:off x="2133600" y="594360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53" name="Rectangle 10"/>
          <p:cNvSpPr>
            <a:spLocks noChangeArrowheads="1"/>
          </p:cNvSpPr>
          <p:nvPr/>
        </p:nvSpPr>
        <p:spPr bwMode="auto">
          <a:xfrm>
            <a:off x="2185988" y="6003925"/>
            <a:ext cx="24622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main </a:t>
            </a:r>
            <a:r>
              <a:rPr lang="zh-CN" altLang="en-US" sz="2000" b="1">
                <a:solidFill>
                  <a:srgbClr val="800080"/>
                </a:solidFill>
              </a:rPr>
              <a:t>的活动记录</a:t>
            </a:r>
          </a:p>
        </p:txBody>
      </p:sp>
      <p:sp>
        <p:nvSpPr>
          <p:cNvPr id="31754" name="Line 11"/>
          <p:cNvSpPr>
            <a:spLocks noChangeShapeType="1"/>
          </p:cNvSpPr>
          <p:nvPr/>
        </p:nvSpPr>
        <p:spPr bwMode="auto">
          <a:xfrm>
            <a:off x="2133600" y="541020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55" name="Rectangle 12"/>
          <p:cNvSpPr>
            <a:spLocks noChangeArrowheads="1"/>
          </p:cNvSpPr>
          <p:nvPr/>
        </p:nvSpPr>
        <p:spPr bwMode="auto">
          <a:xfrm>
            <a:off x="2185988" y="4953000"/>
            <a:ext cx="24622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P </a:t>
            </a:r>
            <a:r>
              <a:rPr lang="zh-CN" altLang="en-US" sz="2000" b="1">
                <a:solidFill>
                  <a:srgbClr val="800080"/>
                </a:solidFill>
              </a:rPr>
              <a:t>的活动记录</a:t>
            </a:r>
          </a:p>
        </p:txBody>
      </p:sp>
      <p:sp>
        <p:nvSpPr>
          <p:cNvPr id="31756" name="Line 13"/>
          <p:cNvSpPr>
            <a:spLocks noChangeShapeType="1"/>
          </p:cNvSpPr>
          <p:nvPr/>
        </p:nvSpPr>
        <p:spPr bwMode="auto">
          <a:xfrm>
            <a:off x="2133600" y="487680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57" name="Rectangle 14"/>
          <p:cNvSpPr>
            <a:spLocks noChangeArrowheads="1"/>
          </p:cNvSpPr>
          <p:nvPr/>
        </p:nvSpPr>
        <p:spPr bwMode="auto">
          <a:xfrm>
            <a:off x="2133600" y="4419600"/>
            <a:ext cx="2514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Q </a:t>
            </a:r>
            <a:r>
              <a:rPr lang="zh-CN" altLang="en-US" sz="2000" b="1">
                <a:solidFill>
                  <a:srgbClr val="800080"/>
                </a:solidFill>
              </a:rPr>
              <a:t>的活动记录</a:t>
            </a:r>
          </a:p>
        </p:txBody>
      </p:sp>
      <p:sp>
        <p:nvSpPr>
          <p:cNvPr id="31758" name="Line 15"/>
          <p:cNvSpPr>
            <a:spLocks noChangeShapeType="1"/>
          </p:cNvSpPr>
          <p:nvPr/>
        </p:nvSpPr>
        <p:spPr bwMode="auto">
          <a:xfrm>
            <a:off x="2133600" y="434340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59" name="Rectangle 16"/>
          <p:cNvSpPr>
            <a:spLocks noChangeArrowheads="1"/>
          </p:cNvSpPr>
          <p:nvPr/>
        </p:nvSpPr>
        <p:spPr bwMode="auto">
          <a:xfrm>
            <a:off x="1379538" y="2803525"/>
            <a:ext cx="45608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buClrTx/>
              <a:buFontTx/>
              <a:buNone/>
            </a:pPr>
            <a:r>
              <a:rPr kumimoji="0" lang="zh-CN" altLang="en-US" sz="2000" b="1"/>
              <a:t>过程 </a:t>
            </a:r>
            <a:r>
              <a:rPr kumimoji="0" lang="en-US" altLang="zh-CN" sz="2000"/>
              <a:t>R</a:t>
            </a:r>
            <a:r>
              <a:rPr kumimoji="0" lang="en-US" altLang="zh-CN" sz="2000" b="1"/>
              <a:t> </a:t>
            </a:r>
            <a:r>
              <a:rPr kumimoji="0" lang="zh-CN" altLang="en-US" sz="2000" b="1"/>
              <a:t>被第一次激活后运行栈的情况</a:t>
            </a:r>
          </a:p>
        </p:txBody>
      </p:sp>
      <p:sp>
        <p:nvSpPr>
          <p:cNvPr id="31760" name="Rectangle 21"/>
          <p:cNvSpPr>
            <a:spLocks noChangeArrowheads="1"/>
          </p:cNvSpPr>
          <p:nvPr/>
        </p:nvSpPr>
        <p:spPr bwMode="auto">
          <a:xfrm>
            <a:off x="2185988" y="5486400"/>
            <a:ext cx="24622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S </a:t>
            </a:r>
            <a:r>
              <a:rPr lang="zh-CN" altLang="en-US" sz="2000" b="1">
                <a:solidFill>
                  <a:srgbClr val="800080"/>
                </a:solidFill>
              </a:rPr>
              <a:t>的活动记录</a:t>
            </a:r>
          </a:p>
        </p:txBody>
      </p:sp>
      <p:sp>
        <p:nvSpPr>
          <p:cNvPr id="31761" name="Line 22"/>
          <p:cNvSpPr>
            <a:spLocks noChangeShapeType="1"/>
          </p:cNvSpPr>
          <p:nvPr/>
        </p:nvSpPr>
        <p:spPr bwMode="auto">
          <a:xfrm>
            <a:off x="2133600" y="3810000"/>
            <a:ext cx="2590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62" name="Line 23"/>
          <p:cNvSpPr>
            <a:spLocks noChangeShapeType="1"/>
          </p:cNvSpPr>
          <p:nvPr/>
        </p:nvSpPr>
        <p:spPr bwMode="auto">
          <a:xfrm flipH="1">
            <a:off x="1600200" y="3733800"/>
            <a:ext cx="5334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 type="triangle" w="med" len="med"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63" name="Rectangle 24"/>
          <p:cNvSpPr>
            <a:spLocks noChangeArrowheads="1"/>
          </p:cNvSpPr>
          <p:nvPr/>
        </p:nvSpPr>
        <p:spPr bwMode="auto">
          <a:xfrm>
            <a:off x="762000" y="3565525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/>
              <a:t>TOP</a:t>
            </a:r>
            <a:endParaRPr lang="en-US" altLang="zh-CN" sz="2000" b="1"/>
          </a:p>
        </p:txBody>
      </p:sp>
      <p:sp>
        <p:nvSpPr>
          <p:cNvPr id="31764" name="Rectangle 25"/>
          <p:cNvSpPr>
            <a:spLocks noChangeArrowheads="1"/>
          </p:cNvSpPr>
          <p:nvPr/>
        </p:nvSpPr>
        <p:spPr bwMode="auto">
          <a:xfrm>
            <a:off x="2209800" y="3870325"/>
            <a:ext cx="2514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R </a:t>
            </a:r>
            <a:r>
              <a:rPr lang="zh-CN" altLang="en-US" sz="2000" b="1">
                <a:solidFill>
                  <a:srgbClr val="800080"/>
                </a:solidFill>
              </a:rPr>
              <a:t>的活动记录</a:t>
            </a:r>
          </a:p>
        </p:txBody>
      </p:sp>
      <p:sp>
        <p:nvSpPr>
          <p:cNvPr id="31765" name="Line 26"/>
          <p:cNvSpPr>
            <a:spLocks noChangeShapeType="1"/>
          </p:cNvSpPr>
          <p:nvPr/>
        </p:nvSpPr>
        <p:spPr bwMode="auto">
          <a:xfrm flipH="1">
            <a:off x="1828800" y="4267200"/>
            <a:ext cx="3810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66" name="Line 27"/>
          <p:cNvSpPr>
            <a:spLocks noChangeShapeType="1"/>
          </p:cNvSpPr>
          <p:nvPr/>
        </p:nvSpPr>
        <p:spPr bwMode="auto">
          <a:xfrm>
            <a:off x="1828800" y="4267200"/>
            <a:ext cx="0" cy="6096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67" name="Line 28"/>
          <p:cNvSpPr>
            <a:spLocks noChangeShapeType="1"/>
          </p:cNvSpPr>
          <p:nvPr/>
        </p:nvSpPr>
        <p:spPr bwMode="auto">
          <a:xfrm flipH="1">
            <a:off x="1828800" y="4876800"/>
            <a:ext cx="3048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 type="triangle" w="med" len="med"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68" name="Line 29"/>
          <p:cNvSpPr>
            <a:spLocks noChangeShapeType="1"/>
          </p:cNvSpPr>
          <p:nvPr/>
        </p:nvSpPr>
        <p:spPr bwMode="auto">
          <a:xfrm flipH="1">
            <a:off x="1828800" y="5867400"/>
            <a:ext cx="3810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69" name="Line 30"/>
          <p:cNvSpPr>
            <a:spLocks noChangeShapeType="1"/>
          </p:cNvSpPr>
          <p:nvPr/>
        </p:nvSpPr>
        <p:spPr bwMode="auto">
          <a:xfrm>
            <a:off x="1828800" y="5867400"/>
            <a:ext cx="0" cy="6096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70" name="Line 31"/>
          <p:cNvSpPr>
            <a:spLocks noChangeShapeType="1"/>
          </p:cNvSpPr>
          <p:nvPr/>
        </p:nvSpPr>
        <p:spPr bwMode="auto">
          <a:xfrm flipH="1">
            <a:off x="1600200" y="4800600"/>
            <a:ext cx="609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71" name="Line 32"/>
          <p:cNvSpPr>
            <a:spLocks noChangeShapeType="1"/>
          </p:cNvSpPr>
          <p:nvPr/>
        </p:nvSpPr>
        <p:spPr bwMode="auto">
          <a:xfrm>
            <a:off x="1600200" y="4800600"/>
            <a:ext cx="0" cy="6096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72" name="Line 33"/>
          <p:cNvSpPr>
            <a:spLocks noChangeShapeType="1"/>
          </p:cNvSpPr>
          <p:nvPr/>
        </p:nvSpPr>
        <p:spPr bwMode="auto">
          <a:xfrm flipH="1">
            <a:off x="1600200" y="5410200"/>
            <a:ext cx="5334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 type="triangle" w="med" len="med"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73" name="Line 34"/>
          <p:cNvSpPr>
            <a:spLocks noChangeShapeType="1"/>
          </p:cNvSpPr>
          <p:nvPr/>
        </p:nvSpPr>
        <p:spPr bwMode="auto">
          <a:xfrm flipH="1">
            <a:off x="1828800" y="5410200"/>
            <a:ext cx="3048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 type="triangle" w="med" len="med"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74" name="Line 35"/>
          <p:cNvSpPr>
            <a:spLocks noChangeShapeType="1"/>
          </p:cNvSpPr>
          <p:nvPr/>
        </p:nvSpPr>
        <p:spPr bwMode="auto">
          <a:xfrm flipH="1">
            <a:off x="1295400" y="5334000"/>
            <a:ext cx="9144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75" name="Line 36"/>
          <p:cNvSpPr>
            <a:spLocks noChangeShapeType="1"/>
          </p:cNvSpPr>
          <p:nvPr/>
        </p:nvSpPr>
        <p:spPr bwMode="auto">
          <a:xfrm>
            <a:off x="1295400" y="5334000"/>
            <a:ext cx="0" cy="11430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76" name="Line 37"/>
          <p:cNvSpPr>
            <a:spLocks noChangeShapeType="1"/>
          </p:cNvSpPr>
          <p:nvPr/>
        </p:nvSpPr>
        <p:spPr bwMode="auto">
          <a:xfrm flipH="1">
            <a:off x="1295400" y="6477000"/>
            <a:ext cx="8382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 type="triangle" w="med" len="med"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77" name="Rectangle 38"/>
          <p:cNvSpPr>
            <a:spLocks noChangeArrowheads="1"/>
          </p:cNvSpPr>
          <p:nvPr/>
        </p:nvSpPr>
        <p:spPr bwMode="auto">
          <a:xfrm>
            <a:off x="990600" y="4038600"/>
            <a:ext cx="6096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kumimoji="0" lang="zh-CN" altLang="en-US" b="1">
                <a:solidFill>
                  <a:srgbClr val="800080"/>
                </a:solidFill>
              </a:rPr>
              <a:t>静态链</a:t>
            </a:r>
          </a:p>
        </p:txBody>
      </p:sp>
      <p:sp>
        <p:nvSpPr>
          <p:cNvPr id="31778" name="Line 39"/>
          <p:cNvSpPr>
            <a:spLocks noChangeShapeType="1"/>
          </p:cNvSpPr>
          <p:nvPr/>
        </p:nvSpPr>
        <p:spPr bwMode="auto">
          <a:xfrm flipH="1">
            <a:off x="4648200" y="4267200"/>
            <a:ext cx="3810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79" name="Line 40"/>
          <p:cNvSpPr>
            <a:spLocks noChangeShapeType="1"/>
          </p:cNvSpPr>
          <p:nvPr/>
        </p:nvSpPr>
        <p:spPr bwMode="auto">
          <a:xfrm>
            <a:off x="5029200" y="4267200"/>
            <a:ext cx="0" cy="6096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80" name="Line 41"/>
          <p:cNvSpPr>
            <a:spLocks noChangeShapeType="1"/>
          </p:cNvSpPr>
          <p:nvPr/>
        </p:nvSpPr>
        <p:spPr bwMode="auto">
          <a:xfrm flipH="1">
            <a:off x="4724400" y="4876800"/>
            <a:ext cx="3048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81" name="Line 42"/>
          <p:cNvSpPr>
            <a:spLocks noChangeShapeType="1"/>
          </p:cNvSpPr>
          <p:nvPr/>
        </p:nvSpPr>
        <p:spPr bwMode="auto">
          <a:xfrm flipH="1">
            <a:off x="4648200" y="4800600"/>
            <a:ext cx="609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82" name="Line 43"/>
          <p:cNvSpPr>
            <a:spLocks noChangeShapeType="1"/>
          </p:cNvSpPr>
          <p:nvPr/>
        </p:nvSpPr>
        <p:spPr bwMode="auto">
          <a:xfrm>
            <a:off x="5257800" y="4800600"/>
            <a:ext cx="0" cy="6096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83" name="Line 44"/>
          <p:cNvSpPr>
            <a:spLocks noChangeShapeType="1"/>
          </p:cNvSpPr>
          <p:nvPr/>
        </p:nvSpPr>
        <p:spPr bwMode="auto">
          <a:xfrm flipH="1">
            <a:off x="4724400" y="5410200"/>
            <a:ext cx="5334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84" name="Line 45"/>
          <p:cNvSpPr>
            <a:spLocks noChangeShapeType="1"/>
          </p:cNvSpPr>
          <p:nvPr/>
        </p:nvSpPr>
        <p:spPr bwMode="auto">
          <a:xfrm flipH="1">
            <a:off x="4648200" y="5334000"/>
            <a:ext cx="3810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85" name="Line 46"/>
          <p:cNvSpPr>
            <a:spLocks noChangeShapeType="1"/>
          </p:cNvSpPr>
          <p:nvPr/>
        </p:nvSpPr>
        <p:spPr bwMode="auto">
          <a:xfrm>
            <a:off x="5029200" y="5334000"/>
            <a:ext cx="0" cy="6096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86" name="Line 47"/>
          <p:cNvSpPr>
            <a:spLocks noChangeShapeType="1"/>
          </p:cNvSpPr>
          <p:nvPr/>
        </p:nvSpPr>
        <p:spPr bwMode="auto">
          <a:xfrm flipH="1">
            <a:off x="4724400" y="5943600"/>
            <a:ext cx="3048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87" name="Line 48"/>
          <p:cNvSpPr>
            <a:spLocks noChangeShapeType="1"/>
          </p:cNvSpPr>
          <p:nvPr/>
        </p:nvSpPr>
        <p:spPr bwMode="auto">
          <a:xfrm flipH="1">
            <a:off x="4648200" y="5867400"/>
            <a:ext cx="609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88" name="Line 49"/>
          <p:cNvSpPr>
            <a:spLocks noChangeShapeType="1"/>
          </p:cNvSpPr>
          <p:nvPr/>
        </p:nvSpPr>
        <p:spPr bwMode="auto">
          <a:xfrm>
            <a:off x="5257800" y="5867400"/>
            <a:ext cx="0" cy="6096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89" name="Line 50"/>
          <p:cNvSpPr>
            <a:spLocks noChangeShapeType="1"/>
          </p:cNvSpPr>
          <p:nvPr/>
        </p:nvSpPr>
        <p:spPr bwMode="auto">
          <a:xfrm flipH="1">
            <a:off x="4724400" y="6477000"/>
            <a:ext cx="5334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90" name="Rectangle 51"/>
          <p:cNvSpPr>
            <a:spLocks noChangeArrowheads="1"/>
          </p:cNvSpPr>
          <p:nvPr/>
        </p:nvSpPr>
        <p:spPr bwMode="auto">
          <a:xfrm>
            <a:off x="5029200" y="3505200"/>
            <a:ext cx="6096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kumimoji="0" lang="zh-CN" altLang="en-US" b="1">
                <a:solidFill>
                  <a:srgbClr val="800080"/>
                </a:solidFill>
              </a:rPr>
              <a:t>动态链</a:t>
            </a:r>
          </a:p>
        </p:txBody>
      </p:sp>
      <p:sp>
        <p:nvSpPr>
          <p:cNvPr id="31791" name="Text Box 52"/>
          <p:cNvSpPr txBox="1">
            <a:spLocks noChangeArrowheads="1"/>
          </p:cNvSpPr>
          <p:nvPr/>
        </p:nvSpPr>
        <p:spPr bwMode="auto">
          <a:xfrm>
            <a:off x="5867400" y="1044575"/>
            <a:ext cx="2514600" cy="558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kumimoji="0" lang="en-US" altLang="zh-CN" sz="1800" b="1"/>
              <a:t>program Main( I,O)</a:t>
            </a:r>
            <a:r>
              <a:rPr kumimoji="0" lang="zh-CN" altLang="en-US" sz="1800" b="1"/>
              <a:t>；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procedure P;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procedure Q;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procedure R;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   begin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      … R; …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   end;   /*R*/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begin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   … R; …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end;   /*Q*/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begin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… Q; …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end;   /*P*/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procedure S;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begin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… P; …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end;   /*S*/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begin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…  S; …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end.   /*main*/</a:t>
            </a:r>
          </a:p>
        </p:txBody>
      </p:sp>
      <p:sp>
        <p:nvSpPr>
          <p:cNvPr id="31792" name="AutoShape 1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2677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93" name="AutoShape 1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629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94" name="AutoShape 1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6581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95" name="AutoShape 2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5725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15494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609600" y="1219200"/>
            <a:ext cx="6705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活动记录</a:t>
            </a:r>
          </a:p>
        </p:txBody>
      </p:sp>
      <p:sp>
        <p:nvSpPr>
          <p:cNvPr id="32772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3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4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5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6" name="Rectangle 8"/>
          <p:cNvSpPr>
            <a:spLocks noChangeArrowheads="1"/>
          </p:cNvSpPr>
          <p:nvPr/>
        </p:nvSpPr>
        <p:spPr bwMode="auto">
          <a:xfrm>
            <a:off x="762000" y="1830388"/>
            <a:ext cx="8267700" cy="441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嵌套程序块的非局部量访问</a:t>
            </a:r>
            <a:r>
              <a:rPr lang="zh-CN" altLang="en-US"/>
              <a:t> </a:t>
            </a:r>
            <a:endParaRPr kumimoji="0" lang="zh-CN" altLang="en-US" sz="2800" b="1">
              <a:solidFill>
                <a:srgbClr val="800080"/>
              </a:solidFill>
              <a:latin typeface="Times New Roman" pitchFamily="18" charset="0"/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一些语言（如 </a:t>
            </a:r>
            <a:r>
              <a:rPr lang="en-US" altLang="zh-CN"/>
              <a:t>C </a:t>
            </a:r>
            <a:r>
              <a:rPr lang="zh-CN" altLang="en-US" b="1"/>
              <a:t>语言）支持嵌套的块，在这些块的内</a:t>
            </a:r>
          </a:p>
          <a:p>
            <a:pPr lvl="1">
              <a:buFontTx/>
              <a:buNone/>
            </a:pPr>
            <a:r>
              <a:rPr lang="zh-CN" altLang="en-US" b="1"/>
              <a:t>   部也允许声明局部变量</a:t>
            </a:r>
            <a:r>
              <a:rPr kumimoji="0" lang="zh-CN" altLang="en-US" b="1"/>
              <a:t>，同样要解决依嵌套层次规则进</a:t>
            </a:r>
          </a:p>
          <a:p>
            <a:pPr lvl="1">
              <a:buFontTx/>
              <a:buNone/>
            </a:pPr>
            <a:r>
              <a:rPr kumimoji="0" lang="zh-CN" altLang="en-US" b="1"/>
              <a:t>   行非局部量使用（访问）的问题</a:t>
            </a:r>
            <a:endParaRPr lang="zh-CN" altLang="en-US" b="1">
              <a:solidFill>
                <a:srgbClr val="800080"/>
              </a:solidFill>
            </a:endParaRPr>
          </a:p>
          <a:p>
            <a:pPr lvl="1">
              <a:buFontTx/>
              <a:buNone/>
            </a:pPr>
            <a:r>
              <a:rPr lang="zh-CN" altLang="en-US" sz="1000" b="1">
                <a:solidFill>
                  <a:srgbClr val="800080"/>
                </a:solidFill>
              </a:rPr>
              <a:t>   </a:t>
            </a:r>
          </a:p>
          <a:p>
            <a:pPr lvl="1">
              <a:buFontTx/>
              <a:buNone/>
            </a:pPr>
            <a:r>
              <a:rPr lang="zh-CN" altLang="en-US" b="1">
                <a:solidFill>
                  <a:srgbClr val="800080"/>
                </a:solidFill>
              </a:rPr>
              <a:t>   方法一</a:t>
            </a:r>
            <a:r>
              <a:rPr lang="zh-CN" altLang="en-US" b="1"/>
              <a:t>   将每个块看作为内嵌的无参过程，为它创建一</a:t>
            </a:r>
          </a:p>
          <a:p>
            <a:pPr lvl="1">
              <a:buFontTx/>
              <a:buNone/>
            </a:pPr>
            <a:r>
              <a:rPr lang="zh-CN" altLang="en-US" b="1"/>
              <a:t>                 个新的活动记录，称为</a:t>
            </a:r>
            <a:r>
              <a:rPr lang="zh-CN" altLang="en-US" b="1">
                <a:solidFill>
                  <a:srgbClr val="800080"/>
                </a:solidFill>
              </a:rPr>
              <a:t>块级活动记录</a:t>
            </a:r>
          </a:p>
          <a:p>
            <a:pPr lvl="1">
              <a:buFontTx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None/>
            </a:pPr>
            <a:r>
              <a:rPr lang="zh-CN" altLang="en-US" b="1"/>
              <a:t>                 该方法代价很高</a:t>
            </a:r>
          </a:p>
          <a:p>
            <a:pPr lvl="1">
              <a:buFontTx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None/>
            </a:pPr>
            <a:r>
              <a:rPr lang="zh-CN" altLang="en-US" b="1">
                <a:solidFill>
                  <a:srgbClr val="800080"/>
                </a:solidFill>
              </a:rPr>
              <a:t>   方法二</a:t>
            </a:r>
            <a:r>
              <a:rPr lang="zh-CN" altLang="en-US" b="1"/>
              <a:t>   由于每个块中变量的相对位置在编译时就能确</a:t>
            </a:r>
          </a:p>
          <a:p>
            <a:pPr lvl="1">
              <a:buFontTx/>
              <a:buNone/>
            </a:pPr>
            <a:r>
              <a:rPr lang="zh-CN" altLang="en-US" b="1"/>
              <a:t>                 定下来，因此可以不创建块级活动记录，仅需</a:t>
            </a:r>
          </a:p>
          <a:p>
            <a:pPr lvl="1">
              <a:buFontTx/>
              <a:buNone/>
            </a:pPr>
            <a:r>
              <a:rPr lang="zh-CN" altLang="en-US" b="1"/>
              <a:t>                 要过程级的活动记录就可解决问题（见下例）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14351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685800" y="1143000"/>
            <a:ext cx="6705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活动记录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876300" y="1722438"/>
            <a:ext cx="5295900" cy="1036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嵌套程序块的非局部量访问</a:t>
            </a:r>
            <a:r>
              <a:rPr lang="zh-CN" altLang="en-US"/>
              <a:t> </a:t>
            </a:r>
            <a:endParaRPr kumimoji="0" lang="zh-CN" altLang="en-US" sz="1000" b="1">
              <a:solidFill>
                <a:srgbClr val="800080"/>
              </a:solidFill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kumimoji="0" lang="zh-CN" altLang="en-US" b="1">
                <a:solidFill>
                  <a:srgbClr val="800080"/>
                </a:solidFill>
              </a:rPr>
              <a:t>  </a:t>
            </a:r>
            <a:r>
              <a:rPr kumimoji="0" lang="zh-CN" altLang="en-US" b="1"/>
              <a:t>采用过程级活动记录的方法</a:t>
            </a:r>
            <a:r>
              <a:rPr kumimoji="0" lang="zh-CN" altLang="en-US" b="1">
                <a:solidFill>
                  <a:srgbClr val="800080"/>
                </a:solidFill>
              </a:rPr>
              <a:t>举例</a:t>
            </a:r>
          </a:p>
        </p:txBody>
      </p:sp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6324600" y="1524000"/>
            <a:ext cx="2590800" cy="4760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kumimoji="0" lang="en-US" altLang="zh-CN" sz="1800" b="1"/>
              <a:t>int p</a:t>
            </a:r>
            <a:r>
              <a:rPr kumimoji="0" lang="zh-CN" altLang="en-US" sz="1800" b="1"/>
              <a:t>（）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{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int A;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…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{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    int B,C; 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     … 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}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{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    int D,E,F;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     …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    {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         int G;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         …  </a:t>
            </a:r>
            <a:r>
              <a:rPr kumimoji="0" lang="en-US" altLang="zh-CN" sz="1800" b="1">
                <a:solidFill>
                  <a:srgbClr val="800080"/>
                </a:solidFill>
              </a:rPr>
              <a:t>/*here*/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     }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    }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1800" b="1"/>
              <a:t> }</a:t>
            </a:r>
          </a:p>
        </p:txBody>
      </p:sp>
      <p:sp>
        <p:nvSpPr>
          <p:cNvPr id="33798" name="Line 6"/>
          <p:cNvSpPr>
            <a:spLocks noChangeShapeType="1"/>
          </p:cNvSpPr>
          <p:nvPr/>
        </p:nvSpPr>
        <p:spPr bwMode="auto">
          <a:xfrm>
            <a:off x="2286000" y="3505200"/>
            <a:ext cx="0" cy="29718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3799" name="Line 7"/>
          <p:cNvSpPr>
            <a:spLocks noChangeShapeType="1"/>
          </p:cNvSpPr>
          <p:nvPr/>
        </p:nvSpPr>
        <p:spPr bwMode="auto">
          <a:xfrm>
            <a:off x="5943600" y="4876800"/>
            <a:ext cx="0" cy="1066800"/>
          </a:xfrm>
          <a:prstGeom prst="line">
            <a:avLst/>
          </a:prstGeom>
          <a:noFill/>
          <a:ln w="9525">
            <a:solidFill>
              <a:srgbClr val="800080"/>
            </a:solidFill>
            <a:prstDash val="sysDot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3800" name="Line 8"/>
          <p:cNvSpPr>
            <a:spLocks noChangeShapeType="1"/>
          </p:cNvSpPr>
          <p:nvPr/>
        </p:nvSpPr>
        <p:spPr bwMode="auto">
          <a:xfrm>
            <a:off x="2286000" y="6477000"/>
            <a:ext cx="3657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3801" name="Line 9"/>
          <p:cNvSpPr>
            <a:spLocks noChangeShapeType="1"/>
          </p:cNvSpPr>
          <p:nvPr/>
        </p:nvSpPr>
        <p:spPr bwMode="auto">
          <a:xfrm>
            <a:off x="2286000" y="5943600"/>
            <a:ext cx="3657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3802" name="Rectangle 10"/>
          <p:cNvSpPr>
            <a:spLocks noChangeArrowheads="1"/>
          </p:cNvSpPr>
          <p:nvPr/>
        </p:nvSpPr>
        <p:spPr bwMode="auto">
          <a:xfrm>
            <a:off x="2286000" y="6003925"/>
            <a:ext cx="3581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zh-CN" altLang="en-US" sz="2000" b="1">
                <a:solidFill>
                  <a:srgbClr val="800080"/>
                </a:solidFill>
              </a:rPr>
              <a:t>存放</a:t>
            </a:r>
            <a:r>
              <a:rPr lang="zh-CN" altLang="en-US" sz="2000">
                <a:solidFill>
                  <a:srgbClr val="800080"/>
                </a:solidFill>
              </a:rPr>
              <a:t> </a:t>
            </a:r>
            <a:r>
              <a:rPr lang="en-US" altLang="zh-CN" sz="2000">
                <a:solidFill>
                  <a:srgbClr val="800080"/>
                </a:solidFill>
              </a:rPr>
              <a:t>A </a:t>
            </a:r>
            <a:r>
              <a:rPr lang="zh-CN" altLang="en-US" sz="2000" b="1">
                <a:solidFill>
                  <a:srgbClr val="800080"/>
                </a:solidFill>
              </a:rPr>
              <a:t>的空间</a:t>
            </a:r>
          </a:p>
        </p:txBody>
      </p:sp>
      <p:sp>
        <p:nvSpPr>
          <p:cNvPr id="33803" name="Line 13"/>
          <p:cNvSpPr>
            <a:spLocks noChangeShapeType="1"/>
          </p:cNvSpPr>
          <p:nvPr/>
        </p:nvSpPr>
        <p:spPr bwMode="auto">
          <a:xfrm>
            <a:off x="4114800" y="4876800"/>
            <a:ext cx="1828800" cy="0"/>
          </a:xfrm>
          <a:prstGeom prst="line">
            <a:avLst/>
          </a:prstGeom>
          <a:noFill/>
          <a:ln w="9525">
            <a:solidFill>
              <a:srgbClr val="800080"/>
            </a:solidFill>
            <a:prstDash val="sysDot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3804" name="Rectangle 14"/>
          <p:cNvSpPr>
            <a:spLocks noChangeArrowheads="1"/>
          </p:cNvSpPr>
          <p:nvPr/>
        </p:nvSpPr>
        <p:spPr bwMode="auto">
          <a:xfrm>
            <a:off x="2362200" y="4632325"/>
            <a:ext cx="16002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zh-CN" altLang="en-US" sz="2000" b="1">
                <a:solidFill>
                  <a:srgbClr val="800080"/>
                </a:solidFill>
              </a:rPr>
              <a:t>存放</a:t>
            </a:r>
          </a:p>
          <a:p>
            <a:pPr algn="ctr">
              <a:buFont typeface="Wingdings" pitchFamily="2" charset="2"/>
              <a:buNone/>
            </a:pPr>
            <a:r>
              <a:rPr lang="zh-CN" altLang="en-US" sz="2000">
                <a:solidFill>
                  <a:srgbClr val="800080"/>
                </a:solidFill>
              </a:rPr>
              <a:t> </a:t>
            </a:r>
            <a:r>
              <a:rPr lang="en-US" altLang="zh-CN" sz="2000">
                <a:solidFill>
                  <a:srgbClr val="800080"/>
                </a:solidFill>
              </a:rPr>
              <a:t>D</a:t>
            </a:r>
            <a:r>
              <a:rPr lang="zh-CN" altLang="en-US" sz="2000">
                <a:solidFill>
                  <a:srgbClr val="800080"/>
                </a:solidFill>
              </a:rPr>
              <a:t>，</a:t>
            </a:r>
            <a:r>
              <a:rPr lang="en-US" altLang="zh-CN" sz="2000">
                <a:solidFill>
                  <a:srgbClr val="800080"/>
                </a:solidFill>
              </a:rPr>
              <a:t>E</a:t>
            </a:r>
            <a:r>
              <a:rPr lang="zh-CN" altLang="en-US" sz="2000">
                <a:solidFill>
                  <a:srgbClr val="800080"/>
                </a:solidFill>
              </a:rPr>
              <a:t>，</a:t>
            </a:r>
            <a:r>
              <a:rPr lang="en-US" altLang="zh-CN" sz="2000">
                <a:solidFill>
                  <a:srgbClr val="800080"/>
                </a:solidFill>
              </a:rPr>
              <a:t>F</a:t>
            </a:r>
          </a:p>
          <a:p>
            <a:pPr algn="ctr">
              <a:buFont typeface="Wingdings" pitchFamily="2" charset="2"/>
              <a:buNone/>
            </a:pPr>
            <a:r>
              <a:rPr lang="en-US" altLang="zh-CN" sz="2000">
                <a:solidFill>
                  <a:srgbClr val="800080"/>
                </a:solidFill>
              </a:rPr>
              <a:t> </a:t>
            </a:r>
            <a:r>
              <a:rPr lang="zh-CN" altLang="en-US" sz="2000" b="1">
                <a:solidFill>
                  <a:srgbClr val="800080"/>
                </a:solidFill>
              </a:rPr>
              <a:t>的空间</a:t>
            </a:r>
          </a:p>
        </p:txBody>
      </p:sp>
      <p:sp>
        <p:nvSpPr>
          <p:cNvPr id="33805" name="Line 15"/>
          <p:cNvSpPr>
            <a:spLocks noChangeShapeType="1"/>
          </p:cNvSpPr>
          <p:nvPr/>
        </p:nvSpPr>
        <p:spPr bwMode="auto">
          <a:xfrm>
            <a:off x="2286000" y="4343400"/>
            <a:ext cx="1828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3806" name="Rectangle 16"/>
          <p:cNvSpPr>
            <a:spLocks noChangeArrowheads="1"/>
          </p:cNvSpPr>
          <p:nvPr/>
        </p:nvSpPr>
        <p:spPr bwMode="auto">
          <a:xfrm>
            <a:off x="1143000" y="2803525"/>
            <a:ext cx="525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buClrTx/>
              <a:buFontTx/>
              <a:buNone/>
            </a:pPr>
            <a:r>
              <a:rPr lang="zh-CN" altLang="en-US" b="1"/>
              <a:t>运行至</a:t>
            </a:r>
            <a:r>
              <a:rPr lang="en-US" altLang="zh-CN" b="1"/>
              <a:t>/*</a:t>
            </a:r>
            <a:r>
              <a:rPr lang="en-US" altLang="zh-CN"/>
              <a:t>here</a:t>
            </a:r>
            <a:r>
              <a:rPr lang="en-US" altLang="zh-CN" b="1"/>
              <a:t>*/</a:t>
            </a:r>
            <a:r>
              <a:rPr lang="zh-CN" altLang="en-US" b="1"/>
              <a:t>时</a:t>
            </a:r>
            <a:r>
              <a:rPr lang="en-US" altLang="zh-CN"/>
              <a:t>p</a:t>
            </a:r>
            <a:r>
              <a:rPr lang="zh-CN" altLang="en-US" b="1"/>
              <a:t>的活动记录形如：</a:t>
            </a:r>
          </a:p>
        </p:txBody>
      </p:sp>
      <p:sp>
        <p:nvSpPr>
          <p:cNvPr id="33807" name="AutoShape 1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2677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8" name="AutoShape 1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629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9" name="AutoShape 1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6581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10" name="AutoShape 2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5725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11" name="Rectangle 21"/>
          <p:cNvSpPr>
            <a:spLocks noChangeArrowheads="1"/>
          </p:cNvSpPr>
          <p:nvPr/>
        </p:nvSpPr>
        <p:spPr bwMode="auto">
          <a:xfrm>
            <a:off x="4114800" y="5089525"/>
            <a:ext cx="17526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zh-CN" altLang="en-US" sz="2000" b="1">
                <a:solidFill>
                  <a:srgbClr val="800080"/>
                </a:solidFill>
              </a:rPr>
              <a:t>曾存放过</a:t>
            </a:r>
          </a:p>
          <a:p>
            <a:pPr algn="ctr">
              <a:buFont typeface="Wingdings" pitchFamily="2" charset="2"/>
              <a:buNone/>
            </a:pPr>
            <a:r>
              <a:rPr lang="zh-CN" altLang="en-US" sz="2000">
                <a:solidFill>
                  <a:srgbClr val="800080"/>
                </a:solidFill>
              </a:rPr>
              <a:t> </a:t>
            </a:r>
            <a:r>
              <a:rPr lang="en-US" altLang="zh-CN" sz="2000">
                <a:solidFill>
                  <a:srgbClr val="800080"/>
                </a:solidFill>
              </a:rPr>
              <a:t>B,C </a:t>
            </a:r>
            <a:r>
              <a:rPr lang="zh-CN" altLang="en-US" sz="2000" b="1">
                <a:solidFill>
                  <a:srgbClr val="800080"/>
                </a:solidFill>
              </a:rPr>
              <a:t>的空间</a:t>
            </a:r>
          </a:p>
        </p:txBody>
      </p:sp>
      <p:sp>
        <p:nvSpPr>
          <p:cNvPr id="33812" name="Line 22"/>
          <p:cNvSpPr>
            <a:spLocks noChangeShapeType="1"/>
          </p:cNvSpPr>
          <p:nvPr/>
        </p:nvSpPr>
        <p:spPr bwMode="auto">
          <a:xfrm>
            <a:off x="2286000" y="3810000"/>
            <a:ext cx="18288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3813" name="Line 23"/>
          <p:cNvSpPr>
            <a:spLocks noChangeShapeType="1"/>
          </p:cNvSpPr>
          <p:nvPr/>
        </p:nvSpPr>
        <p:spPr bwMode="auto">
          <a:xfrm flipH="1">
            <a:off x="1752600" y="3733800"/>
            <a:ext cx="5334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 type="triangle" w="med" len="med"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3814" name="Rectangle 24"/>
          <p:cNvSpPr>
            <a:spLocks noChangeArrowheads="1"/>
          </p:cNvSpPr>
          <p:nvPr/>
        </p:nvSpPr>
        <p:spPr bwMode="auto">
          <a:xfrm>
            <a:off x="838200" y="3565525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/>
              <a:t>TOP</a:t>
            </a:r>
            <a:endParaRPr lang="en-US" altLang="zh-CN" sz="2000" b="1"/>
          </a:p>
        </p:txBody>
      </p:sp>
      <p:sp>
        <p:nvSpPr>
          <p:cNvPr id="33815" name="Rectangle 25"/>
          <p:cNvSpPr>
            <a:spLocks noChangeArrowheads="1"/>
          </p:cNvSpPr>
          <p:nvPr/>
        </p:nvSpPr>
        <p:spPr bwMode="auto">
          <a:xfrm>
            <a:off x="2286000" y="3870325"/>
            <a:ext cx="1828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zh-CN" altLang="en-US" sz="2000" b="1">
                <a:solidFill>
                  <a:srgbClr val="800080"/>
                </a:solidFill>
              </a:rPr>
              <a:t>存放</a:t>
            </a:r>
            <a:r>
              <a:rPr lang="zh-CN" altLang="en-US" sz="2000">
                <a:solidFill>
                  <a:srgbClr val="800080"/>
                </a:solidFill>
              </a:rPr>
              <a:t> </a:t>
            </a:r>
            <a:r>
              <a:rPr lang="en-US" altLang="zh-CN" sz="2000">
                <a:solidFill>
                  <a:srgbClr val="800080"/>
                </a:solidFill>
              </a:rPr>
              <a:t>G </a:t>
            </a:r>
            <a:r>
              <a:rPr lang="zh-CN" altLang="en-US" sz="2000" b="1">
                <a:solidFill>
                  <a:srgbClr val="800080"/>
                </a:solidFill>
              </a:rPr>
              <a:t>的空间</a:t>
            </a:r>
          </a:p>
        </p:txBody>
      </p:sp>
      <p:sp>
        <p:nvSpPr>
          <p:cNvPr id="33816" name="Line 37"/>
          <p:cNvSpPr>
            <a:spLocks noChangeShapeType="1"/>
          </p:cNvSpPr>
          <p:nvPr/>
        </p:nvSpPr>
        <p:spPr bwMode="auto">
          <a:xfrm flipH="1">
            <a:off x="1600200" y="6477000"/>
            <a:ext cx="609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 type="triangle" w="med" len="med"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3817" name="Line 52"/>
          <p:cNvSpPr>
            <a:spLocks noChangeShapeType="1"/>
          </p:cNvSpPr>
          <p:nvPr/>
        </p:nvSpPr>
        <p:spPr bwMode="auto">
          <a:xfrm>
            <a:off x="4114800" y="3505200"/>
            <a:ext cx="0" cy="2438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3818" name="Line 53"/>
          <p:cNvSpPr>
            <a:spLocks noChangeShapeType="1"/>
          </p:cNvSpPr>
          <p:nvPr/>
        </p:nvSpPr>
        <p:spPr bwMode="auto">
          <a:xfrm>
            <a:off x="5943600" y="5943600"/>
            <a:ext cx="0" cy="533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3819" name="Rectangle 54"/>
          <p:cNvSpPr>
            <a:spLocks noChangeArrowheads="1"/>
          </p:cNvSpPr>
          <p:nvPr/>
        </p:nvSpPr>
        <p:spPr bwMode="auto">
          <a:xfrm>
            <a:off x="914400" y="6232525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CN" sz="2000" i="1"/>
              <a:t>SP</a:t>
            </a:r>
            <a:endParaRPr lang="en-US" altLang="zh-CN" sz="2000" b="1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14351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685800" y="1143000"/>
            <a:ext cx="6705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活动记录</a:t>
            </a:r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876300" y="1722438"/>
            <a:ext cx="75834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动态作用域规则 </a:t>
            </a:r>
            <a:r>
              <a:rPr lang="en-US" altLang="zh-CN" sz="2800" b="1">
                <a:solidFill>
                  <a:srgbClr val="800080"/>
                </a:solidFill>
                <a:latin typeface="Times New Roman" pitchFamily="18" charset="0"/>
              </a:rPr>
              <a:t>vs.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静态（词法）作用域规则</a:t>
            </a:r>
            <a:endParaRPr kumimoji="0" lang="zh-CN" altLang="en-US" sz="1000" b="1">
              <a:solidFill>
                <a:srgbClr val="800080"/>
              </a:solidFill>
            </a:endParaRPr>
          </a:p>
        </p:txBody>
      </p:sp>
      <p:sp>
        <p:nvSpPr>
          <p:cNvPr id="34821" name="AutoShape 5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2677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2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629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3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6581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4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5725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5" name="Rectangle 9"/>
          <p:cNvSpPr>
            <a:spLocks noChangeArrowheads="1"/>
          </p:cNvSpPr>
          <p:nvPr/>
        </p:nvSpPr>
        <p:spPr bwMode="auto">
          <a:xfrm>
            <a:off x="1258888" y="2708275"/>
            <a:ext cx="3935412" cy="3444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buFont typeface="Wingdings" pitchFamily="2" charset="2"/>
              <a:buNone/>
              <a:tabLst>
                <a:tab pos="885825" algn="l"/>
              </a:tabLst>
            </a:pPr>
            <a:r>
              <a:rPr lang="en-US" altLang="zh-CN" sz="2000" b="1"/>
              <a:t>var  r:real</a:t>
            </a:r>
            <a:endParaRPr lang="en-US" altLang="zh-CN" sz="2000"/>
          </a:p>
          <a:p>
            <a:pPr>
              <a:buFont typeface="Wingdings" pitchFamily="2" charset="2"/>
              <a:buNone/>
              <a:tabLst>
                <a:tab pos="885825" algn="l"/>
              </a:tabLst>
            </a:pPr>
            <a:r>
              <a:rPr lang="en-US" altLang="zh-CN" sz="2000" b="1"/>
              <a:t>procedure    show;</a:t>
            </a:r>
            <a:endParaRPr lang="en-US" altLang="zh-CN" sz="2000"/>
          </a:p>
          <a:p>
            <a:pPr>
              <a:buFont typeface="Wingdings" pitchFamily="2" charset="2"/>
              <a:buNone/>
              <a:tabLst>
                <a:tab pos="885825" algn="l"/>
              </a:tabLst>
            </a:pPr>
            <a:r>
              <a:rPr lang="en-US" altLang="zh-CN" sz="2000" b="1"/>
              <a:t>     begin   write(r:5:3)  end;</a:t>
            </a:r>
            <a:endParaRPr lang="en-US" altLang="zh-CN" sz="2000"/>
          </a:p>
          <a:p>
            <a:pPr>
              <a:buFont typeface="Wingdings" pitchFamily="2" charset="2"/>
              <a:buNone/>
              <a:tabLst>
                <a:tab pos="885825" algn="l"/>
              </a:tabLst>
            </a:pPr>
            <a:r>
              <a:rPr lang="en-US" altLang="zh-CN" sz="2000" b="1"/>
              <a:t>procedure small;</a:t>
            </a:r>
            <a:endParaRPr lang="en-US" altLang="zh-CN" sz="2000"/>
          </a:p>
          <a:p>
            <a:pPr>
              <a:buFont typeface="Wingdings" pitchFamily="2" charset="2"/>
              <a:buNone/>
              <a:tabLst>
                <a:tab pos="885825" algn="l"/>
              </a:tabLst>
            </a:pPr>
            <a:r>
              <a:rPr lang="en-US" altLang="zh-CN" sz="2000" b="1"/>
              <a:t>     var   r:real;</a:t>
            </a:r>
            <a:endParaRPr lang="en-US" altLang="zh-CN" sz="2000"/>
          </a:p>
          <a:p>
            <a:pPr>
              <a:buFont typeface="Wingdings" pitchFamily="2" charset="2"/>
              <a:buNone/>
              <a:tabLst>
                <a:tab pos="885825" algn="l"/>
              </a:tabLst>
            </a:pPr>
            <a:r>
              <a:rPr lang="en-US" altLang="zh-CN" sz="2000" b="1"/>
              <a:t>     begin   r:=0.125;  show  end;</a:t>
            </a:r>
            <a:endParaRPr lang="en-US" altLang="zh-CN" sz="2000"/>
          </a:p>
          <a:p>
            <a:pPr>
              <a:buFont typeface="Wingdings" pitchFamily="2" charset="2"/>
              <a:buNone/>
              <a:tabLst>
                <a:tab pos="885825" algn="l"/>
              </a:tabLst>
            </a:pPr>
            <a:r>
              <a:rPr lang="en-US" altLang="zh-CN" sz="2000" b="1"/>
              <a:t>begin  </a:t>
            </a:r>
            <a:endParaRPr lang="en-US" altLang="zh-CN" sz="2000"/>
          </a:p>
          <a:p>
            <a:pPr>
              <a:buFont typeface="Wingdings" pitchFamily="2" charset="2"/>
              <a:buNone/>
              <a:tabLst>
                <a:tab pos="885825" algn="l"/>
              </a:tabLst>
            </a:pPr>
            <a:r>
              <a:rPr lang="en-US" altLang="zh-CN" sz="2000" b="1"/>
              <a:t>      r:=0.25;</a:t>
            </a:r>
            <a:endParaRPr lang="en-US" altLang="zh-CN" sz="2000"/>
          </a:p>
          <a:p>
            <a:pPr>
              <a:buFont typeface="Wingdings" pitchFamily="2" charset="2"/>
              <a:buNone/>
              <a:tabLst>
                <a:tab pos="885825" algn="l"/>
              </a:tabLst>
            </a:pPr>
            <a:r>
              <a:rPr lang="en-US" altLang="zh-CN" sz="2000" b="1"/>
              <a:t>     show; small; writeln;</a:t>
            </a:r>
            <a:endParaRPr lang="en-US" altLang="zh-CN" sz="2000"/>
          </a:p>
          <a:p>
            <a:pPr>
              <a:buFont typeface="Wingdings" pitchFamily="2" charset="2"/>
              <a:buNone/>
              <a:tabLst>
                <a:tab pos="885825" algn="l"/>
              </a:tabLst>
            </a:pPr>
            <a:r>
              <a:rPr lang="en-US" altLang="zh-CN" sz="2000" b="1"/>
              <a:t>     show; small; writeln;</a:t>
            </a:r>
            <a:endParaRPr lang="en-US" altLang="zh-CN" sz="2000"/>
          </a:p>
          <a:p>
            <a:pPr>
              <a:buFont typeface="Wingdings" pitchFamily="2" charset="2"/>
              <a:buNone/>
              <a:tabLst>
                <a:tab pos="885825" algn="l"/>
              </a:tabLst>
            </a:pPr>
            <a:r>
              <a:rPr lang="en-US" altLang="zh-CN" sz="2000" b="1"/>
              <a:t>end.</a:t>
            </a:r>
          </a:p>
        </p:txBody>
      </p:sp>
      <p:sp>
        <p:nvSpPr>
          <p:cNvPr id="741386" name="Rectangle 10"/>
          <p:cNvSpPr>
            <a:spLocks noChangeArrowheads="1"/>
          </p:cNvSpPr>
          <p:nvPr/>
        </p:nvSpPr>
        <p:spPr bwMode="auto">
          <a:xfrm>
            <a:off x="5791200" y="2565400"/>
            <a:ext cx="2165350" cy="1066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buFont typeface="Wingdings" pitchFamily="2" charset="2"/>
              <a:buNone/>
              <a:tabLst>
                <a:tab pos="1295400" algn="l"/>
              </a:tabLst>
            </a:pPr>
            <a:r>
              <a:rPr lang="en-US" altLang="zh-CN" b="1">
                <a:solidFill>
                  <a:srgbClr val="800080"/>
                </a:solidFill>
              </a:rPr>
              <a:t>lexical  scope</a:t>
            </a:r>
          </a:p>
          <a:p>
            <a:pPr lvl="1">
              <a:buFont typeface="Wingdings" pitchFamily="2" charset="2"/>
              <a:buNone/>
              <a:tabLst>
                <a:tab pos="1295400" algn="l"/>
              </a:tabLst>
            </a:pPr>
            <a:r>
              <a:rPr lang="en-US" altLang="zh-CN" sz="2000" b="1"/>
              <a:t>    0.250   0.250</a:t>
            </a:r>
            <a:endParaRPr lang="en-US" altLang="zh-CN" sz="2000"/>
          </a:p>
          <a:p>
            <a:pPr lvl="1">
              <a:buFont typeface="Wingdings" pitchFamily="2" charset="2"/>
              <a:buNone/>
              <a:tabLst>
                <a:tab pos="1295400" algn="l"/>
              </a:tabLst>
            </a:pPr>
            <a:r>
              <a:rPr lang="en-US" altLang="zh-CN" sz="2000" b="1"/>
              <a:t>    0.250   0.250</a:t>
            </a:r>
          </a:p>
        </p:txBody>
      </p:sp>
      <p:sp>
        <p:nvSpPr>
          <p:cNvPr id="741387" name="Rectangle 11"/>
          <p:cNvSpPr>
            <a:spLocks noChangeArrowheads="1"/>
          </p:cNvSpPr>
          <p:nvPr/>
        </p:nvSpPr>
        <p:spPr bwMode="auto">
          <a:xfrm>
            <a:off x="5795963" y="3789363"/>
            <a:ext cx="2470150" cy="1066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buFont typeface="Wingdings" pitchFamily="2" charset="2"/>
              <a:buNone/>
              <a:tabLst>
                <a:tab pos="1295400" algn="l"/>
              </a:tabLst>
            </a:pPr>
            <a:r>
              <a:rPr lang="en-US" altLang="zh-CN" b="1">
                <a:solidFill>
                  <a:srgbClr val="800080"/>
                </a:solidFill>
              </a:rPr>
              <a:t>dynamic  scope</a:t>
            </a:r>
          </a:p>
          <a:p>
            <a:pPr lvl="1">
              <a:buFont typeface="Wingdings" pitchFamily="2" charset="2"/>
              <a:buNone/>
              <a:tabLst>
                <a:tab pos="1295400" algn="l"/>
              </a:tabLst>
            </a:pPr>
            <a:r>
              <a:rPr lang="en-US" altLang="zh-CN" sz="2000" b="1"/>
              <a:t>    0.250   0.125</a:t>
            </a:r>
            <a:endParaRPr lang="en-US" altLang="zh-CN" sz="2000"/>
          </a:p>
          <a:p>
            <a:pPr lvl="1">
              <a:buFont typeface="Wingdings" pitchFamily="2" charset="2"/>
              <a:buNone/>
              <a:tabLst>
                <a:tab pos="1295400" algn="l"/>
              </a:tabLst>
            </a:pPr>
            <a:r>
              <a:rPr lang="en-US" altLang="zh-CN" sz="2000" b="1"/>
              <a:t>    0.250   0.125</a:t>
            </a:r>
          </a:p>
        </p:txBody>
      </p:sp>
      <p:sp>
        <p:nvSpPr>
          <p:cNvPr id="741388" name="Rectangle 12"/>
          <p:cNvSpPr>
            <a:spLocks noChangeArrowheads="1"/>
          </p:cNvSpPr>
          <p:nvPr/>
        </p:nvSpPr>
        <p:spPr bwMode="auto">
          <a:xfrm>
            <a:off x="5773738" y="5121275"/>
            <a:ext cx="2111375" cy="11874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None/>
              <a:tabLst>
                <a:tab pos="1295400" algn="l"/>
              </a:tabLst>
            </a:pPr>
            <a:r>
              <a:rPr lang="zh-CN" altLang="en-US" b="1">
                <a:solidFill>
                  <a:srgbClr val="800080"/>
                </a:solidFill>
              </a:rPr>
              <a:t>思考：</a:t>
            </a:r>
          </a:p>
          <a:p>
            <a:pPr lvl="1">
              <a:buFont typeface="Wingdings" pitchFamily="2" charset="2"/>
              <a:buNone/>
              <a:tabLst>
                <a:tab pos="1295400" algn="l"/>
              </a:tabLst>
            </a:pPr>
            <a:r>
              <a:rPr lang="zh-CN" altLang="en-US" b="1"/>
              <a:t>如何实现动态作用域规则？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4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4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74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1386" grpId="0"/>
      <p:bldP spid="741387" grpId="0"/>
      <p:bldP spid="74138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14351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685800" y="1143000"/>
            <a:ext cx="6705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过程调用与参数传递</a:t>
            </a: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914400" y="1828800"/>
            <a:ext cx="7848600" cy="1036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Times New Roman" pitchFamily="18" charset="0"/>
              </a:rPr>
              <a:t> 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活动记录中与过程</a:t>
            </a:r>
            <a:r>
              <a:rPr lang="en-US" altLang="zh-CN" sz="2800" b="1">
                <a:solidFill>
                  <a:srgbClr val="800080"/>
                </a:solidFill>
                <a:latin typeface="Times New Roman" pitchFamily="18" charset="0"/>
              </a:rPr>
              <a:t>/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函数调用相关的信息</a:t>
            </a:r>
            <a:endParaRPr kumimoji="0" lang="zh-CN" altLang="en-US" sz="1000" b="1">
              <a:solidFill>
                <a:srgbClr val="800080"/>
              </a:solidFill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kumimoji="0" lang="zh-CN" altLang="en-US" b="1">
                <a:solidFill>
                  <a:srgbClr val="800080"/>
                </a:solidFill>
              </a:rPr>
              <a:t>  </a:t>
            </a:r>
            <a:r>
              <a:rPr kumimoji="0" lang="zh-CN" altLang="en-US" b="1"/>
              <a:t>典型的活动记录形式</a:t>
            </a:r>
            <a:r>
              <a:rPr kumimoji="0" lang="zh-CN" altLang="en-US" b="1">
                <a:solidFill>
                  <a:srgbClr val="800080"/>
                </a:solidFill>
              </a:rPr>
              <a:t>举例</a:t>
            </a:r>
          </a:p>
        </p:txBody>
      </p:sp>
      <p:sp>
        <p:nvSpPr>
          <p:cNvPr id="35845" name="Line 33"/>
          <p:cNvSpPr>
            <a:spLocks noChangeShapeType="1"/>
          </p:cNvSpPr>
          <p:nvPr/>
        </p:nvSpPr>
        <p:spPr bwMode="auto">
          <a:xfrm>
            <a:off x="1828800" y="2971800"/>
            <a:ext cx="0" cy="37338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846" name="Line 34"/>
          <p:cNvSpPr>
            <a:spLocks noChangeShapeType="1"/>
          </p:cNvSpPr>
          <p:nvPr/>
        </p:nvSpPr>
        <p:spPr bwMode="auto">
          <a:xfrm>
            <a:off x="5105400" y="2971800"/>
            <a:ext cx="0" cy="37338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847" name="Line 35"/>
          <p:cNvSpPr>
            <a:spLocks noChangeShapeType="1"/>
          </p:cNvSpPr>
          <p:nvPr/>
        </p:nvSpPr>
        <p:spPr bwMode="auto">
          <a:xfrm>
            <a:off x="1828800" y="5105400"/>
            <a:ext cx="3276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848" name="Line 36"/>
          <p:cNvSpPr>
            <a:spLocks noChangeShapeType="1"/>
          </p:cNvSpPr>
          <p:nvPr/>
        </p:nvSpPr>
        <p:spPr bwMode="auto">
          <a:xfrm>
            <a:off x="1828800" y="4572000"/>
            <a:ext cx="3276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849" name="Rectangle 37"/>
          <p:cNvSpPr>
            <a:spLocks noChangeArrowheads="1"/>
          </p:cNvSpPr>
          <p:nvPr/>
        </p:nvSpPr>
        <p:spPr bwMode="auto">
          <a:xfrm>
            <a:off x="1828800" y="4572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zh-CN" altLang="en-US" b="1">
                <a:solidFill>
                  <a:srgbClr val="800080"/>
                </a:solidFill>
              </a:rPr>
              <a:t>寄存器保存区</a:t>
            </a:r>
          </a:p>
        </p:txBody>
      </p:sp>
      <p:sp>
        <p:nvSpPr>
          <p:cNvPr id="35850" name="Line 38"/>
          <p:cNvSpPr>
            <a:spLocks noChangeShapeType="1"/>
          </p:cNvSpPr>
          <p:nvPr/>
        </p:nvSpPr>
        <p:spPr bwMode="auto">
          <a:xfrm>
            <a:off x="1828800" y="4038600"/>
            <a:ext cx="3276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851" name="Rectangle 39"/>
          <p:cNvSpPr>
            <a:spLocks noChangeArrowheads="1"/>
          </p:cNvSpPr>
          <p:nvPr/>
        </p:nvSpPr>
        <p:spPr bwMode="auto">
          <a:xfrm>
            <a:off x="1881188" y="4038600"/>
            <a:ext cx="3148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zh-CN" altLang="en-US" b="1">
                <a:solidFill>
                  <a:srgbClr val="800080"/>
                </a:solidFill>
              </a:rPr>
              <a:t>过程实际参数</a:t>
            </a:r>
          </a:p>
        </p:txBody>
      </p:sp>
      <p:sp>
        <p:nvSpPr>
          <p:cNvPr id="35852" name="Line 40"/>
          <p:cNvSpPr>
            <a:spLocks noChangeShapeType="1"/>
          </p:cNvSpPr>
          <p:nvPr/>
        </p:nvSpPr>
        <p:spPr bwMode="auto">
          <a:xfrm>
            <a:off x="1828800" y="3505200"/>
            <a:ext cx="3276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853" name="Rectangle 41"/>
          <p:cNvSpPr>
            <a:spLocks noChangeArrowheads="1"/>
          </p:cNvSpPr>
          <p:nvPr/>
        </p:nvSpPr>
        <p:spPr bwMode="auto">
          <a:xfrm>
            <a:off x="1828800" y="3505200"/>
            <a:ext cx="3276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zh-CN" altLang="en-US" b="1"/>
              <a:t>固定大小的局部数据区</a:t>
            </a:r>
          </a:p>
        </p:txBody>
      </p:sp>
      <p:sp>
        <p:nvSpPr>
          <p:cNvPr id="35854" name="Line 42"/>
          <p:cNvSpPr>
            <a:spLocks noChangeShapeType="1"/>
          </p:cNvSpPr>
          <p:nvPr/>
        </p:nvSpPr>
        <p:spPr bwMode="auto">
          <a:xfrm>
            <a:off x="1828800" y="2971800"/>
            <a:ext cx="3276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855" name="Rectangle 43"/>
          <p:cNvSpPr>
            <a:spLocks noChangeArrowheads="1"/>
          </p:cNvSpPr>
          <p:nvPr/>
        </p:nvSpPr>
        <p:spPr bwMode="auto">
          <a:xfrm>
            <a:off x="1881188" y="2971800"/>
            <a:ext cx="32242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zh-CN" altLang="en-US" b="1"/>
              <a:t>动态数组区</a:t>
            </a:r>
          </a:p>
        </p:txBody>
      </p:sp>
      <p:sp>
        <p:nvSpPr>
          <p:cNvPr id="35856" name="Rectangle 45"/>
          <p:cNvSpPr>
            <a:spLocks noChangeArrowheads="1"/>
          </p:cNvSpPr>
          <p:nvPr/>
        </p:nvSpPr>
        <p:spPr bwMode="auto">
          <a:xfrm>
            <a:off x="5638800" y="5927725"/>
            <a:ext cx="2173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zh-CN" altLang="en-US" sz="2000" b="1">
                <a:solidFill>
                  <a:srgbClr val="800080"/>
                </a:solidFill>
              </a:rPr>
              <a:t>活动记录起始点</a:t>
            </a:r>
          </a:p>
        </p:txBody>
      </p:sp>
      <p:sp>
        <p:nvSpPr>
          <p:cNvPr id="35857" name="Line 46"/>
          <p:cNvSpPr>
            <a:spLocks noChangeShapeType="1"/>
          </p:cNvSpPr>
          <p:nvPr/>
        </p:nvSpPr>
        <p:spPr bwMode="auto">
          <a:xfrm flipH="1">
            <a:off x="5105400" y="6156325"/>
            <a:ext cx="609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858" name="Rectangle 47"/>
          <p:cNvSpPr>
            <a:spLocks noChangeArrowheads="1"/>
          </p:cNvSpPr>
          <p:nvPr/>
        </p:nvSpPr>
        <p:spPr bwMode="auto">
          <a:xfrm>
            <a:off x="5715000" y="3352800"/>
            <a:ext cx="209708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zh-CN" altLang="en-US" sz="2000" b="1">
                <a:solidFill>
                  <a:srgbClr val="800080"/>
                </a:solidFill>
              </a:rPr>
              <a:t>活动记录的固定大小部分结束点</a:t>
            </a:r>
          </a:p>
        </p:txBody>
      </p:sp>
      <p:sp>
        <p:nvSpPr>
          <p:cNvPr id="35859" name="Line 48"/>
          <p:cNvSpPr>
            <a:spLocks noChangeShapeType="1"/>
          </p:cNvSpPr>
          <p:nvPr/>
        </p:nvSpPr>
        <p:spPr bwMode="auto">
          <a:xfrm flipH="1">
            <a:off x="5105400" y="3581400"/>
            <a:ext cx="609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860" name="Line 50"/>
          <p:cNvSpPr>
            <a:spLocks noChangeShapeType="1"/>
          </p:cNvSpPr>
          <p:nvPr/>
        </p:nvSpPr>
        <p:spPr bwMode="auto">
          <a:xfrm>
            <a:off x="1828800" y="5638800"/>
            <a:ext cx="3276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861" name="Rectangle 51"/>
          <p:cNvSpPr>
            <a:spLocks noChangeArrowheads="1"/>
          </p:cNvSpPr>
          <p:nvPr/>
        </p:nvSpPr>
        <p:spPr bwMode="auto">
          <a:xfrm>
            <a:off x="1828800" y="51054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zh-CN" altLang="en-US" b="1">
                <a:solidFill>
                  <a:srgbClr val="800080"/>
                </a:solidFill>
              </a:rPr>
              <a:t>调用程序返回地址</a:t>
            </a:r>
          </a:p>
        </p:txBody>
      </p:sp>
      <p:sp>
        <p:nvSpPr>
          <p:cNvPr id="35862" name="Line 52"/>
          <p:cNvSpPr>
            <a:spLocks noChangeShapeType="1"/>
          </p:cNvSpPr>
          <p:nvPr/>
        </p:nvSpPr>
        <p:spPr bwMode="auto">
          <a:xfrm>
            <a:off x="1828800" y="6172200"/>
            <a:ext cx="3276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863" name="Rectangle 53"/>
          <p:cNvSpPr>
            <a:spLocks noChangeArrowheads="1"/>
          </p:cNvSpPr>
          <p:nvPr/>
        </p:nvSpPr>
        <p:spPr bwMode="auto">
          <a:xfrm>
            <a:off x="1828800" y="56388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zh-CN" altLang="en-US" b="1">
                <a:solidFill>
                  <a:srgbClr val="800080"/>
                </a:solidFill>
              </a:rPr>
              <a:t>其它控制信息</a:t>
            </a:r>
          </a:p>
        </p:txBody>
      </p:sp>
      <p:sp>
        <p:nvSpPr>
          <p:cNvPr id="35864" name="Line 54"/>
          <p:cNvSpPr>
            <a:spLocks noChangeShapeType="1"/>
          </p:cNvSpPr>
          <p:nvPr/>
        </p:nvSpPr>
        <p:spPr bwMode="auto">
          <a:xfrm>
            <a:off x="1828800" y="6705600"/>
            <a:ext cx="32766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865" name="Rectangle 55"/>
          <p:cNvSpPr>
            <a:spLocks noChangeArrowheads="1"/>
          </p:cNvSpPr>
          <p:nvPr/>
        </p:nvSpPr>
        <p:spPr bwMode="auto">
          <a:xfrm>
            <a:off x="1828800" y="6172200"/>
            <a:ext cx="32480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zh-CN" altLang="en-US" b="1">
                <a:solidFill>
                  <a:srgbClr val="800080"/>
                </a:solidFill>
              </a:rPr>
              <a:t>返回值（仅适于函数）</a:t>
            </a:r>
          </a:p>
        </p:txBody>
      </p:sp>
      <p:sp>
        <p:nvSpPr>
          <p:cNvPr id="35866" name="AutoShape 5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2677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7" name="AutoShape 5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629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8" name="AutoShape 5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6581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9" name="AutoShape 5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5725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ChangeArrowheads="1"/>
          </p:cNvSpPr>
          <p:nvPr/>
        </p:nvSpPr>
        <p:spPr bwMode="auto">
          <a:xfrm>
            <a:off x="14351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685800" y="1143000"/>
            <a:ext cx="6705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过程调用与参数传递</a:t>
            </a:r>
          </a:p>
        </p:txBody>
      </p:sp>
      <p:sp>
        <p:nvSpPr>
          <p:cNvPr id="36868" name="Rectangle 5"/>
          <p:cNvSpPr>
            <a:spLocks noChangeArrowheads="1"/>
          </p:cNvSpPr>
          <p:nvPr/>
        </p:nvSpPr>
        <p:spPr bwMode="auto">
          <a:xfrm>
            <a:off x="914400" y="1993900"/>
            <a:ext cx="7848600" cy="3595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Times New Roman" pitchFamily="18" charset="0"/>
              </a:rPr>
              <a:t> 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最常见的参数传递方式</a:t>
            </a:r>
            <a:endParaRPr kumimoji="0" lang="zh-CN" altLang="en-US" sz="1000" b="1">
              <a:solidFill>
                <a:srgbClr val="800080"/>
              </a:solidFill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kumimoji="0" lang="zh-CN" altLang="en-US" b="1">
                <a:solidFill>
                  <a:srgbClr val="800080"/>
                </a:solidFill>
              </a:rPr>
              <a:t>  传值   </a:t>
            </a:r>
            <a:r>
              <a:rPr kumimoji="0" lang="en-US" altLang="zh-CN" b="1">
                <a:solidFill>
                  <a:srgbClr val="800080"/>
                </a:solidFill>
              </a:rPr>
              <a:t>call-by-value</a:t>
            </a:r>
          </a:p>
          <a:p>
            <a:pPr lvl="1">
              <a:buFontTx/>
              <a:buNone/>
            </a:pPr>
            <a:r>
              <a:rPr kumimoji="0" lang="en-US" altLang="zh-CN" sz="1000" b="1">
                <a:solidFill>
                  <a:srgbClr val="800080"/>
                </a:solidFill>
              </a:rPr>
              <a:t>   </a:t>
            </a:r>
          </a:p>
          <a:p>
            <a:pPr lvl="1">
              <a:buFontTx/>
              <a:buNone/>
            </a:pPr>
            <a:r>
              <a:rPr kumimoji="0" lang="en-US" altLang="zh-CN" b="1">
                <a:solidFill>
                  <a:srgbClr val="800080"/>
                </a:solidFill>
              </a:rPr>
              <a:t>   </a:t>
            </a:r>
            <a:r>
              <a:rPr kumimoji="0" lang="zh-CN" altLang="en-US" b="1"/>
              <a:t>传递的是实际参数的</a:t>
            </a:r>
            <a:r>
              <a:rPr kumimoji="0" lang="zh-CN" altLang="en-US" b="1">
                <a:solidFill>
                  <a:srgbClr val="800080"/>
                </a:solidFill>
              </a:rPr>
              <a:t>右值（</a:t>
            </a:r>
            <a:r>
              <a:rPr kumimoji="0" lang="en-US" altLang="zh-CN" i="1">
                <a:solidFill>
                  <a:srgbClr val="800080"/>
                </a:solidFill>
              </a:rPr>
              <a:t>r-value</a:t>
            </a:r>
            <a:r>
              <a:rPr kumimoji="0" lang="zh-CN" altLang="en-US" b="1">
                <a:solidFill>
                  <a:srgbClr val="800080"/>
                </a:solidFill>
              </a:rPr>
              <a:t>）</a:t>
            </a:r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kumimoji="0" lang="zh-CN" altLang="en-US" b="1">
                <a:solidFill>
                  <a:srgbClr val="800080"/>
                </a:solidFill>
              </a:rPr>
              <a:t>  传地址  </a:t>
            </a:r>
            <a:r>
              <a:rPr kumimoji="0" lang="en-US" altLang="zh-CN" b="1">
                <a:solidFill>
                  <a:srgbClr val="800080"/>
                </a:solidFill>
              </a:rPr>
              <a:t>call-by-reference</a:t>
            </a:r>
            <a:r>
              <a:rPr kumimoji="0" lang="zh-CN" altLang="en-US" b="1">
                <a:solidFill>
                  <a:srgbClr val="800080"/>
                </a:solidFill>
              </a:rPr>
              <a:t>（</a:t>
            </a:r>
            <a:r>
              <a:rPr kumimoji="0" lang="en-US" altLang="zh-CN" b="1">
                <a:solidFill>
                  <a:srgbClr val="800080"/>
                </a:solidFill>
              </a:rPr>
              <a:t>-address, -location</a:t>
            </a:r>
            <a:r>
              <a:rPr kumimoji="0" lang="zh-CN" altLang="en-US" b="1">
                <a:solidFill>
                  <a:srgbClr val="800080"/>
                </a:solidFill>
              </a:rPr>
              <a:t>）</a:t>
            </a:r>
          </a:p>
          <a:p>
            <a:pPr lvl="1">
              <a:buFontTx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None/>
            </a:pPr>
            <a:r>
              <a:rPr kumimoji="0" lang="zh-CN" altLang="en-US" b="1">
                <a:solidFill>
                  <a:srgbClr val="800080"/>
                </a:solidFill>
              </a:rPr>
              <a:t>   </a:t>
            </a:r>
            <a:r>
              <a:rPr kumimoji="0" lang="zh-CN" altLang="en-US" b="1"/>
              <a:t>传递的是实际参数的</a:t>
            </a:r>
            <a:r>
              <a:rPr kumimoji="0" lang="zh-CN" altLang="en-US" b="1">
                <a:solidFill>
                  <a:srgbClr val="800080"/>
                </a:solidFill>
              </a:rPr>
              <a:t>左值（</a:t>
            </a:r>
            <a:r>
              <a:rPr kumimoji="0" lang="en-US" altLang="zh-CN" i="1">
                <a:solidFill>
                  <a:srgbClr val="800080"/>
                </a:solidFill>
              </a:rPr>
              <a:t>l-value</a:t>
            </a:r>
            <a:r>
              <a:rPr kumimoji="0" lang="zh-CN" altLang="en-US" b="1">
                <a:solidFill>
                  <a:srgbClr val="800080"/>
                </a:solidFill>
              </a:rPr>
              <a:t>）</a:t>
            </a:r>
          </a:p>
          <a:p>
            <a:pPr lvl="1">
              <a:buFontTx/>
              <a:buNone/>
            </a:pPr>
            <a:endParaRPr kumimoji="0" lang="zh-CN" altLang="en-US" sz="1000" b="1"/>
          </a:p>
          <a:p>
            <a:pPr>
              <a:buClrTx/>
              <a:buFont typeface="Symbol" pitchFamily="18" charset="2"/>
              <a:buChar char="-"/>
            </a:pP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  注</a:t>
            </a:r>
            <a:r>
              <a:rPr lang="zh-CN" altLang="en-US" sz="2800" b="1">
                <a:latin typeface="Times New Roman" pitchFamily="18" charset="0"/>
              </a:rPr>
              <a:t>    </a:t>
            </a:r>
            <a:r>
              <a:rPr lang="zh-CN" altLang="en-US" b="1">
                <a:latin typeface="Times New Roman" pitchFamily="18" charset="0"/>
              </a:rPr>
              <a:t>表达式的</a:t>
            </a:r>
            <a:r>
              <a:rPr lang="zh-CN" altLang="en-US" b="1">
                <a:solidFill>
                  <a:srgbClr val="800080"/>
                </a:solidFill>
                <a:latin typeface="Times New Roman" pitchFamily="18" charset="0"/>
              </a:rPr>
              <a:t>左值</a:t>
            </a:r>
            <a:r>
              <a:rPr lang="zh-CN" altLang="en-US" b="1">
                <a:latin typeface="Times New Roman" pitchFamily="18" charset="0"/>
              </a:rPr>
              <a:t>代表存储该表达式值的地址</a:t>
            </a:r>
            <a:endParaRPr lang="zh-CN" altLang="en-US" b="1">
              <a:solidFill>
                <a:srgbClr val="800080"/>
              </a:solidFill>
              <a:latin typeface="Times New Roman" pitchFamily="18" charset="0"/>
            </a:endParaRPr>
          </a:p>
          <a:p>
            <a:pPr>
              <a:buClrTx/>
              <a:buFont typeface="Symbol" pitchFamily="18" charset="2"/>
              <a:buNone/>
            </a:pPr>
            <a:r>
              <a:rPr lang="zh-CN" altLang="en-US" sz="2800" b="1">
                <a:latin typeface="Times New Roman" pitchFamily="18" charset="0"/>
              </a:rPr>
              <a:t>            </a:t>
            </a:r>
            <a:r>
              <a:rPr lang="zh-CN" altLang="en-US" b="1">
                <a:latin typeface="Times New Roman" pitchFamily="18" charset="0"/>
              </a:rPr>
              <a:t>表达式的</a:t>
            </a:r>
            <a:r>
              <a:rPr lang="zh-CN" altLang="en-US" b="1">
                <a:solidFill>
                  <a:srgbClr val="800080"/>
                </a:solidFill>
                <a:latin typeface="Times New Roman" pitchFamily="18" charset="0"/>
              </a:rPr>
              <a:t>右值</a:t>
            </a:r>
            <a:r>
              <a:rPr lang="zh-CN" altLang="en-US" b="1">
                <a:latin typeface="Times New Roman" pitchFamily="18" charset="0"/>
              </a:rPr>
              <a:t>代表该表达式的值</a:t>
            </a:r>
            <a:endParaRPr kumimoji="0" lang="zh-CN" altLang="en-US" b="1">
              <a:solidFill>
                <a:srgbClr val="800080"/>
              </a:solidFill>
            </a:endParaRPr>
          </a:p>
        </p:txBody>
      </p:sp>
      <p:sp>
        <p:nvSpPr>
          <p:cNvPr id="36869" name="AutoShape 3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2677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0" name="AutoShape 3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629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1" name="AutoShape 3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6581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2" name="AutoShape 3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5725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14351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685800" y="1143000"/>
            <a:ext cx="6705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过程调用与参数传递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762000" y="1828800"/>
            <a:ext cx="4602163" cy="213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Times New Roman" pitchFamily="18" charset="0"/>
              </a:rPr>
              <a:t> 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参数传递方式</a:t>
            </a:r>
            <a:endParaRPr kumimoji="0" lang="zh-CN" altLang="en-US" sz="1000" b="1">
              <a:solidFill>
                <a:srgbClr val="800080"/>
              </a:solidFill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kumimoji="0" lang="zh-CN" altLang="en-US" b="1">
                <a:solidFill>
                  <a:srgbClr val="800080"/>
                </a:solidFill>
              </a:rPr>
              <a:t>  </a:t>
            </a:r>
            <a:r>
              <a:rPr kumimoji="0" lang="en-US" altLang="zh-CN" b="1">
                <a:solidFill>
                  <a:srgbClr val="800080"/>
                </a:solidFill>
              </a:rPr>
              <a:t>call-by-value  </a:t>
            </a:r>
            <a:r>
              <a:rPr kumimoji="0" lang="zh-CN" altLang="en-US" b="1">
                <a:solidFill>
                  <a:srgbClr val="800080"/>
                </a:solidFill>
              </a:rPr>
              <a:t>举例  </a:t>
            </a:r>
          </a:p>
          <a:p>
            <a:pPr lvl="1">
              <a:buFontTx/>
              <a:buNone/>
            </a:pPr>
            <a:r>
              <a:rPr lang="zh-CN" altLang="en-US" b="1"/>
              <a:t>   调用</a:t>
            </a:r>
            <a:r>
              <a:rPr lang="en-US" altLang="zh-CN"/>
              <a:t>swap(a,b)</a:t>
            </a:r>
            <a:r>
              <a:rPr lang="en-US" altLang="zh-CN" b="1"/>
              <a:t> </a:t>
            </a:r>
            <a:r>
              <a:rPr lang="zh-CN" altLang="en-US" b="1"/>
              <a:t>过程将不</a:t>
            </a:r>
          </a:p>
          <a:p>
            <a:pPr lvl="1">
              <a:buFontTx/>
              <a:buNone/>
            </a:pPr>
            <a:r>
              <a:rPr lang="zh-CN" altLang="en-US" b="1"/>
              <a:t>   会影响</a:t>
            </a:r>
            <a:r>
              <a:rPr lang="en-US" altLang="zh-CN"/>
              <a:t>a</a:t>
            </a:r>
            <a:r>
              <a:rPr lang="zh-CN" altLang="en-US" b="1"/>
              <a:t>和</a:t>
            </a:r>
            <a:r>
              <a:rPr lang="en-US" altLang="zh-CN"/>
              <a:t>b</a:t>
            </a:r>
            <a:r>
              <a:rPr lang="zh-CN" altLang="zh-CN" b="1"/>
              <a:t>的值，其结果</a:t>
            </a:r>
            <a:endParaRPr lang="zh-CN" altLang="en-US" b="1"/>
          </a:p>
          <a:p>
            <a:pPr lvl="1">
              <a:buFontTx/>
              <a:buNone/>
            </a:pPr>
            <a:r>
              <a:rPr lang="zh-CN" altLang="en-US" b="1"/>
              <a:t>   </a:t>
            </a:r>
            <a:r>
              <a:rPr lang="zh-CN" altLang="zh-CN" b="1"/>
              <a:t>等价于执行下列语句序列：</a:t>
            </a:r>
            <a:endParaRPr lang="zh-CN" altLang="en-US" b="1"/>
          </a:p>
        </p:txBody>
      </p:sp>
      <p:sp>
        <p:nvSpPr>
          <p:cNvPr id="37893" name="Rectangle 13"/>
          <p:cNvSpPr>
            <a:spLocks noChangeArrowheads="1"/>
          </p:cNvSpPr>
          <p:nvPr/>
        </p:nvSpPr>
        <p:spPr bwMode="auto">
          <a:xfrm>
            <a:off x="2514600" y="4267200"/>
            <a:ext cx="14478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000">
                <a:ea typeface="宋体" pitchFamily="2" charset="-122"/>
              </a:rPr>
              <a:t>x :=a</a:t>
            </a:r>
            <a:r>
              <a:rPr lang="zh-CN" altLang="en-US" sz="2000">
                <a:ea typeface="宋体" pitchFamily="2" charset="-122"/>
              </a:rPr>
              <a:t>；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000">
                <a:ea typeface="宋体" pitchFamily="2" charset="-122"/>
              </a:rPr>
              <a:t>y :=b</a:t>
            </a:r>
            <a:r>
              <a:rPr lang="zh-CN" altLang="en-US" sz="2000">
                <a:ea typeface="宋体" pitchFamily="2" charset="-122"/>
              </a:rPr>
              <a:t>；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000">
                <a:ea typeface="宋体" pitchFamily="2" charset="-122"/>
              </a:rPr>
              <a:t>temp :=x</a:t>
            </a:r>
            <a:r>
              <a:rPr lang="zh-CN" altLang="en-US" sz="2000">
                <a:ea typeface="宋体" pitchFamily="2" charset="-122"/>
              </a:rPr>
              <a:t>；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000">
                <a:ea typeface="宋体" pitchFamily="2" charset="-122"/>
              </a:rPr>
              <a:t>x :=y</a:t>
            </a:r>
            <a:r>
              <a:rPr lang="zh-CN" altLang="en-US" sz="2000">
                <a:ea typeface="宋体" pitchFamily="2" charset="-122"/>
              </a:rPr>
              <a:t>；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000">
                <a:ea typeface="宋体" pitchFamily="2" charset="-122"/>
              </a:rPr>
              <a:t>y :=temp</a:t>
            </a:r>
          </a:p>
        </p:txBody>
      </p:sp>
      <p:sp>
        <p:nvSpPr>
          <p:cNvPr id="37894" name="Rectangle 14"/>
          <p:cNvSpPr>
            <a:spLocks noChangeArrowheads="1"/>
          </p:cNvSpPr>
          <p:nvPr/>
        </p:nvSpPr>
        <p:spPr bwMode="auto">
          <a:xfrm>
            <a:off x="5334000" y="1905000"/>
            <a:ext cx="36576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000">
                <a:ea typeface="宋体" pitchFamily="2" charset="-122"/>
              </a:rPr>
              <a:t>procedure  swap(x,y:integer);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000">
                <a:ea typeface="宋体" pitchFamily="2" charset="-122"/>
              </a:rPr>
              <a:t>         var  temp:integer;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000">
                <a:ea typeface="宋体" pitchFamily="2" charset="-122"/>
              </a:rPr>
              <a:t>         begin    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000">
                <a:ea typeface="宋体" pitchFamily="2" charset="-122"/>
              </a:rPr>
              <a:t>                  temp:=x;    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000">
                <a:ea typeface="宋体" pitchFamily="2" charset="-122"/>
              </a:rPr>
              <a:t>                  x:=y</a:t>
            </a:r>
            <a:r>
              <a:rPr lang="zh-CN" altLang="en-US" sz="2000">
                <a:ea typeface="宋体" pitchFamily="2" charset="-122"/>
              </a:rPr>
              <a:t>；     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zh-CN" altLang="en-US" sz="2000">
                <a:ea typeface="宋体" pitchFamily="2" charset="-122"/>
              </a:rPr>
              <a:t>                  </a:t>
            </a:r>
            <a:r>
              <a:rPr lang="en-US" altLang="zh-CN" sz="2000">
                <a:ea typeface="宋体" pitchFamily="2" charset="-122"/>
              </a:rPr>
              <a:t>y:=temp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000">
                <a:ea typeface="宋体" pitchFamily="2" charset="-122"/>
              </a:rPr>
              <a:t>         end</a:t>
            </a:r>
            <a:r>
              <a:rPr lang="zh-CN" altLang="en-US" sz="2000">
                <a:ea typeface="宋体" pitchFamily="2" charset="-122"/>
              </a:rPr>
              <a:t>；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37895" name="AutoShape 1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2677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6" name="AutoShape 1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629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7" name="AutoShape 1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6581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8" name="AutoShape 1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5725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14351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685800" y="1143000"/>
            <a:ext cx="6705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过程调用与参数传递</a:t>
            </a: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914400" y="1828800"/>
            <a:ext cx="7848600" cy="368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Times New Roman" pitchFamily="18" charset="0"/>
              </a:rPr>
              <a:t> 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参数传递方式</a:t>
            </a:r>
            <a:endParaRPr kumimoji="0" lang="zh-CN" altLang="en-US" sz="1000" b="1">
              <a:solidFill>
                <a:srgbClr val="800080"/>
              </a:solidFill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kumimoji="0" lang="zh-CN" altLang="en-US" b="1">
                <a:solidFill>
                  <a:srgbClr val="800080"/>
                </a:solidFill>
              </a:rPr>
              <a:t>  实现 </a:t>
            </a:r>
            <a:r>
              <a:rPr kumimoji="0" lang="en-US" altLang="zh-CN" b="1">
                <a:solidFill>
                  <a:srgbClr val="800080"/>
                </a:solidFill>
              </a:rPr>
              <a:t>call-by-value</a:t>
            </a:r>
          </a:p>
          <a:p>
            <a:pPr lvl="1">
              <a:buFontTx/>
              <a:buNone/>
            </a:pPr>
            <a:r>
              <a:rPr kumimoji="0" lang="en-US" altLang="zh-CN" sz="1000" b="1">
                <a:solidFill>
                  <a:srgbClr val="800080"/>
                </a:solidFill>
              </a:rPr>
              <a:t>   </a:t>
            </a:r>
          </a:p>
          <a:p>
            <a:pPr lvl="1">
              <a:buFontTx/>
              <a:buNone/>
            </a:pPr>
            <a:r>
              <a:rPr kumimoji="0" lang="en-US" altLang="zh-CN" b="1">
                <a:solidFill>
                  <a:srgbClr val="800080"/>
                </a:solidFill>
              </a:rPr>
              <a:t>   </a:t>
            </a:r>
            <a:r>
              <a:rPr lang="zh-CN" altLang="en-US" b="1"/>
              <a:t>形式参数当作过程的局部变量处理，即在被调过程</a:t>
            </a:r>
          </a:p>
          <a:p>
            <a:pPr lvl="1">
              <a:buFontTx/>
              <a:buNone/>
            </a:pPr>
            <a:r>
              <a:rPr lang="zh-CN" altLang="en-US" b="1"/>
              <a:t>   的活动记录中开辟了形参的存储空间，这些存储位</a:t>
            </a:r>
          </a:p>
          <a:p>
            <a:pPr lvl="1">
              <a:buFontTx/>
              <a:buNone/>
            </a:pPr>
            <a:r>
              <a:rPr lang="zh-CN" altLang="en-US" b="1"/>
              <a:t>   置用以存放实参</a:t>
            </a:r>
          </a:p>
          <a:p>
            <a:pPr lvl="1">
              <a:buFontTx/>
              <a:buNone/>
            </a:pPr>
            <a:endParaRPr lang="zh-CN" altLang="en-US" sz="1000" b="1"/>
          </a:p>
          <a:p>
            <a:pPr lvl="1">
              <a:buFontTx/>
              <a:buNone/>
            </a:pPr>
            <a:r>
              <a:rPr lang="zh-CN" altLang="en-US" b="1"/>
              <a:t>   调用过程计算实参的值，将其放于对应的存储空间</a:t>
            </a:r>
          </a:p>
          <a:p>
            <a:pPr lvl="1">
              <a:buFontTx/>
              <a:buNone/>
            </a:pPr>
            <a:endParaRPr lang="zh-CN" altLang="en-US" sz="1000" b="1"/>
          </a:p>
          <a:p>
            <a:pPr lvl="1">
              <a:buFontTx/>
              <a:buNone/>
            </a:pPr>
            <a:r>
              <a:rPr lang="zh-CN" altLang="en-US" b="1"/>
              <a:t>   被调用过程执行时，就像使用局部变量一样使用这</a:t>
            </a:r>
          </a:p>
          <a:p>
            <a:pPr lvl="1">
              <a:buFontTx/>
              <a:buNone/>
            </a:pPr>
            <a:r>
              <a:rPr lang="zh-CN" altLang="en-US" b="1"/>
              <a:t>   些形式单元</a:t>
            </a:r>
          </a:p>
        </p:txBody>
      </p:sp>
      <p:sp>
        <p:nvSpPr>
          <p:cNvPr id="38917" name="AutoShape 1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2677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18" name="AutoShape 1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629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19" name="AutoShape 1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6581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0" name="AutoShape 1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5725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ChangeArrowheads="1"/>
          </p:cNvSpPr>
          <p:nvPr/>
        </p:nvSpPr>
        <p:spPr bwMode="auto">
          <a:xfrm>
            <a:off x="14351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685800" y="1143000"/>
            <a:ext cx="6705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过程调用与参数传递</a:t>
            </a:r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762000" y="1828800"/>
            <a:ext cx="4343400" cy="191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Times New Roman" pitchFamily="18" charset="0"/>
              </a:rPr>
              <a:t> 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参数传递方式</a:t>
            </a:r>
            <a:endParaRPr kumimoji="0" lang="zh-CN" altLang="en-US" sz="1000" b="1">
              <a:solidFill>
                <a:srgbClr val="800080"/>
              </a:solidFill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kumimoji="0" lang="zh-CN" altLang="en-US" b="1">
                <a:solidFill>
                  <a:srgbClr val="800080"/>
                </a:solidFill>
              </a:rPr>
              <a:t>  </a:t>
            </a:r>
            <a:r>
              <a:rPr kumimoji="0" lang="en-US" altLang="zh-CN" b="1">
                <a:solidFill>
                  <a:srgbClr val="800080"/>
                </a:solidFill>
              </a:rPr>
              <a:t>call-by-reference  </a:t>
            </a:r>
            <a:r>
              <a:rPr kumimoji="0" lang="zh-CN" altLang="en-US" b="1">
                <a:solidFill>
                  <a:srgbClr val="800080"/>
                </a:solidFill>
              </a:rPr>
              <a:t>举例  </a:t>
            </a:r>
          </a:p>
          <a:p>
            <a:pPr lvl="1">
              <a:buFontTx/>
              <a:buNone/>
            </a:pPr>
            <a:r>
              <a:rPr lang="zh-CN" altLang="en-US" sz="1000" b="1"/>
              <a:t>   </a:t>
            </a:r>
          </a:p>
          <a:p>
            <a:pPr lvl="1">
              <a:buFontTx/>
              <a:buNone/>
            </a:pPr>
            <a:r>
              <a:rPr lang="zh-CN" altLang="en-US" b="1"/>
              <a:t>   调用</a:t>
            </a:r>
            <a:r>
              <a:rPr lang="en-US" altLang="zh-CN"/>
              <a:t>swap(a,b)</a:t>
            </a:r>
            <a:r>
              <a:rPr lang="en-US" altLang="zh-CN" b="1"/>
              <a:t> </a:t>
            </a:r>
            <a:r>
              <a:rPr lang="zh-CN" altLang="en-US" b="1"/>
              <a:t>过程将交</a:t>
            </a:r>
          </a:p>
          <a:p>
            <a:pPr lvl="1">
              <a:buFontTx/>
              <a:buNone/>
            </a:pPr>
            <a:r>
              <a:rPr lang="zh-CN" altLang="en-US" b="1"/>
              <a:t>   换 </a:t>
            </a:r>
            <a:r>
              <a:rPr lang="en-US" altLang="zh-CN"/>
              <a:t>a </a:t>
            </a:r>
            <a:r>
              <a:rPr lang="zh-CN" altLang="en-US" b="1"/>
              <a:t>和 </a:t>
            </a:r>
            <a:r>
              <a:rPr lang="en-US" altLang="zh-CN"/>
              <a:t>b </a:t>
            </a:r>
            <a:r>
              <a:rPr lang="zh-CN" altLang="zh-CN" b="1"/>
              <a:t>的值</a:t>
            </a:r>
            <a:endParaRPr lang="zh-CN" altLang="en-US" b="1"/>
          </a:p>
        </p:txBody>
      </p:sp>
      <p:sp>
        <p:nvSpPr>
          <p:cNvPr id="39941" name="Rectangle 14"/>
          <p:cNvSpPr>
            <a:spLocks noChangeArrowheads="1"/>
          </p:cNvSpPr>
          <p:nvPr/>
        </p:nvSpPr>
        <p:spPr bwMode="auto">
          <a:xfrm>
            <a:off x="4648200" y="3733800"/>
            <a:ext cx="39624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000">
                <a:ea typeface="宋体" pitchFamily="2" charset="-122"/>
              </a:rPr>
              <a:t>procedure  swap(var  x,y:integer);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000">
                <a:ea typeface="宋体" pitchFamily="2" charset="-122"/>
              </a:rPr>
              <a:t>         var  temp:integer;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000">
                <a:ea typeface="宋体" pitchFamily="2" charset="-122"/>
              </a:rPr>
              <a:t>         begin    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000">
                <a:ea typeface="宋体" pitchFamily="2" charset="-122"/>
              </a:rPr>
              <a:t>                  temp:=x;    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000">
                <a:ea typeface="宋体" pitchFamily="2" charset="-122"/>
              </a:rPr>
              <a:t>                  x:=y</a:t>
            </a:r>
            <a:r>
              <a:rPr lang="zh-CN" altLang="en-US" sz="2000">
                <a:ea typeface="宋体" pitchFamily="2" charset="-122"/>
              </a:rPr>
              <a:t>；     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zh-CN" altLang="en-US" sz="2000">
                <a:ea typeface="宋体" pitchFamily="2" charset="-122"/>
              </a:rPr>
              <a:t>                  </a:t>
            </a:r>
            <a:r>
              <a:rPr lang="en-US" altLang="zh-CN" sz="2000">
                <a:ea typeface="宋体" pitchFamily="2" charset="-122"/>
              </a:rPr>
              <a:t>y:=temp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000">
                <a:ea typeface="宋体" pitchFamily="2" charset="-122"/>
              </a:rPr>
              <a:t>         end</a:t>
            </a:r>
            <a:r>
              <a:rPr lang="zh-CN" altLang="en-US" sz="2000">
                <a:ea typeface="宋体" pitchFamily="2" charset="-122"/>
              </a:rPr>
              <a:t>；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39942" name="AutoShape 1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2677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3" name="AutoShape 1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629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4" name="AutoShape 1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6581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5" name="AutoShape 1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5725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1435100" y="188913"/>
            <a:ext cx="3784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运行时存储组织</a:t>
            </a:r>
          </a:p>
        </p:txBody>
      </p:sp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685800" y="1143000"/>
            <a:ext cx="6705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过程调用与参数传递</a:t>
            </a:r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914400" y="1828800"/>
            <a:ext cx="7848600" cy="319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Times New Roman" pitchFamily="18" charset="0"/>
              </a:rPr>
              <a:t>  </a:t>
            </a: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参数传递方式</a:t>
            </a:r>
            <a:endParaRPr kumimoji="0" lang="zh-CN" altLang="en-US" sz="1000" b="1">
              <a:solidFill>
                <a:srgbClr val="800080"/>
              </a:solidFill>
            </a:endParaRP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kumimoji="0" lang="zh-CN" altLang="en-US" b="1">
                <a:solidFill>
                  <a:srgbClr val="800080"/>
                </a:solidFill>
              </a:rPr>
              <a:t>  实现 </a:t>
            </a:r>
            <a:r>
              <a:rPr kumimoji="0" lang="en-US" altLang="zh-CN" b="1">
                <a:solidFill>
                  <a:srgbClr val="800080"/>
                </a:solidFill>
              </a:rPr>
              <a:t>call-by-reference</a:t>
            </a:r>
          </a:p>
          <a:p>
            <a:pPr lvl="1">
              <a:buFontTx/>
              <a:buNone/>
            </a:pPr>
            <a:r>
              <a:rPr kumimoji="0" lang="en-US" altLang="zh-CN" sz="1000" b="1">
                <a:solidFill>
                  <a:srgbClr val="800080"/>
                </a:solidFill>
              </a:rPr>
              <a:t>   </a:t>
            </a:r>
          </a:p>
          <a:p>
            <a:pPr>
              <a:spcBef>
                <a:spcPct val="20000"/>
              </a:spcBef>
              <a:buClrTx/>
              <a:buFontTx/>
              <a:buNone/>
            </a:pPr>
            <a:r>
              <a:rPr lang="en-US" altLang="zh-CN" sz="2000" b="1">
                <a:latin typeface="Times New Roman" pitchFamily="18" charset="0"/>
              </a:rPr>
              <a:t>           </a:t>
            </a:r>
            <a:r>
              <a:rPr lang="zh-CN" altLang="en-US" sz="2000" b="1">
                <a:latin typeface="Times New Roman" pitchFamily="18" charset="0"/>
              </a:rPr>
              <a:t>把实在参数的地址传递给相应的形参，即调用过程把一个指向</a:t>
            </a:r>
          </a:p>
          <a:p>
            <a:pPr>
              <a:spcBef>
                <a:spcPct val="20000"/>
              </a:spcBef>
              <a:buClrTx/>
              <a:buFontTx/>
              <a:buNone/>
            </a:pPr>
            <a:r>
              <a:rPr lang="zh-CN" altLang="en-US" sz="2000" b="1">
                <a:latin typeface="Times New Roman" pitchFamily="18" charset="0"/>
              </a:rPr>
              <a:t>           实参的存储地址的指针传递给被调用过程相应的形参：</a:t>
            </a:r>
            <a:endParaRPr lang="zh-CN" altLang="en-US" sz="2000" b="1"/>
          </a:p>
          <a:p>
            <a:pPr lvl="1">
              <a:buFontTx/>
              <a:buNone/>
            </a:pPr>
            <a:endParaRPr lang="zh-CN" altLang="en-US" sz="1000" b="1"/>
          </a:p>
          <a:p>
            <a:pPr lvl="1">
              <a:buFontTx/>
              <a:buNone/>
            </a:pPr>
            <a:r>
              <a:rPr lang="zh-CN" altLang="en-US" b="1"/>
              <a:t>   </a:t>
            </a:r>
            <a:r>
              <a:rPr lang="zh-CN" altLang="en-US" sz="2000" b="1"/>
              <a:t>若实在参数是一个名字，或具有</a:t>
            </a:r>
            <a:r>
              <a:rPr lang="zh-CN" altLang="en-US" sz="2000" b="1">
                <a:solidFill>
                  <a:srgbClr val="800080"/>
                </a:solidFill>
              </a:rPr>
              <a:t>左值</a:t>
            </a:r>
            <a:r>
              <a:rPr lang="zh-CN" altLang="en-US" sz="2000" b="1"/>
              <a:t>的表达式，则传递左值</a:t>
            </a:r>
          </a:p>
          <a:p>
            <a:pPr lvl="1">
              <a:buFontTx/>
              <a:buNone/>
            </a:pPr>
            <a:endParaRPr lang="zh-CN" altLang="en-US" sz="1000" b="1"/>
          </a:p>
          <a:p>
            <a:pPr lvl="1">
              <a:buFontTx/>
              <a:buNone/>
            </a:pPr>
            <a:r>
              <a:rPr lang="zh-CN" altLang="en-US" sz="2000" b="1"/>
              <a:t>    若实在参数是无左值的表达式，则计算该表达式的值，放入一</a:t>
            </a:r>
          </a:p>
          <a:p>
            <a:pPr lvl="1">
              <a:buFontTx/>
              <a:buNone/>
            </a:pPr>
            <a:r>
              <a:rPr lang="zh-CN" altLang="en-US" sz="2000" b="1"/>
              <a:t>    存储单元，传此存储单元地址</a:t>
            </a:r>
          </a:p>
        </p:txBody>
      </p:sp>
      <p:sp>
        <p:nvSpPr>
          <p:cNvPr id="40965" name="AutoShape 13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2677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6" name="AutoShape 1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629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7" name="AutoShape 1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6581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8" name="AutoShape 1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5725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4"/>
          <p:cNvSpPr>
            <a:spLocks noChangeArrowheads="1"/>
          </p:cNvSpPr>
          <p:nvPr/>
        </p:nvSpPr>
        <p:spPr bwMode="auto">
          <a:xfrm>
            <a:off x="1403350" y="188913"/>
            <a:ext cx="580231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面向对象程序运行时组织</a:t>
            </a:r>
          </a:p>
        </p:txBody>
      </p:sp>
      <p:sp>
        <p:nvSpPr>
          <p:cNvPr id="41987" name="Text Box 5"/>
          <p:cNvSpPr txBox="1">
            <a:spLocks noChangeArrowheads="1"/>
          </p:cNvSpPr>
          <p:nvPr/>
        </p:nvSpPr>
        <p:spPr bwMode="auto">
          <a:xfrm>
            <a:off x="685800" y="1265238"/>
            <a:ext cx="74866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lang="en-US" altLang="zh-CN" sz="3200"/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理解“类”和“对象”的角色</a:t>
            </a:r>
          </a:p>
        </p:txBody>
      </p:sp>
      <p:sp>
        <p:nvSpPr>
          <p:cNvPr id="41988" name="Rectangle 6"/>
          <p:cNvSpPr>
            <a:spLocks noChangeArrowheads="1"/>
          </p:cNvSpPr>
          <p:nvPr/>
        </p:nvSpPr>
        <p:spPr bwMode="auto">
          <a:xfrm>
            <a:off x="1116013" y="1989138"/>
            <a:ext cx="7704137" cy="4202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Times New Roman" pitchFamily="18" charset="0"/>
              </a:rPr>
              <a:t>  </a:t>
            </a:r>
            <a:r>
              <a:rPr kumimoji="0" lang="zh-CN" altLang="en-US" b="1"/>
              <a:t>类扮演的角色是程序的静态定义</a:t>
            </a:r>
          </a:p>
          <a:p>
            <a:pPr lvl="1">
              <a:buFontTx/>
              <a:buNone/>
            </a:pPr>
            <a:endParaRPr kumimoji="0" lang="zh-CN" altLang="en-US" sz="1000" b="1"/>
          </a:p>
          <a:p>
            <a:pPr>
              <a:buFont typeface="Symbol" pitchFamily="18" charset="2"/>
              <a:buChar char="-"/>
            </a:pPr>
            <a:r>
              <a:rPr kumimoji="0" lang="zh-CN" altLang="en-US" b="1"/>
              <a:t>   对象扮演的角色是程序运行时的动态结构</a:t>
            </a:r>
          </a:p>
          <a:p>
            <a:pPr>
              <a:buFont typeface="Symbol" pitchFamily="18" charset="2"/>
              <a:buNone/>
            </a:pPr>
            <a:endParaRPr kumimoji="0" lang="zh-CN" altLang="en-US" sz="1000" b="1"/>
          </a:p>
          <a:p>
            <a:pPr>
              <a:buFont typeface="Symbol" pitchFamily="18" charset="2"/>
              <a:buChar char="-"/>
            </a:pPr>
            <a:r>
              <a:rPr kumimoji="0" lang="zh-CN" altLang="en-US" b="1"/>
              <a:t>  类是一组运行时对象的共同性质的静态描述</a:t>
            </a:r>
          </a:p>
          <a:p>
            <a:pPr>
              <a:buFont typeface="Symbol" pitchFamily="18" charset="2"/>
              <a:buNone/>
            </a:pPr>
            <a:endParaRPr kumimoji="0" lang="zh-CN" altLang="en-US" sz="1000" b="1"/>
          </a:p>
          <a:p>
            <a:pPr>
              <a:buFontTx/>
              <a:buNone/>
            </a:pPr>
            <a:r>
              <a:rPr kumimoji="0" lang="zh-CN" altLang="en-US" b="1"/>
              <a:t>    类的</a:t>
            </a:r>
            <a:r>
              <a:rPr kumimoji="0" lang="zh-CN" altLang="en-US" b="1">
                <a:solidFill>
                  <a:srgbClr val="800080"/>
                </a:solidFill>
              </a:rPr>
              <a:t>特征</a:t>
            </a:r>
            <a:r>
              <a:rPr lang="zh-CN" altLang="en-US"/>
              <a:t>（</a:t>
            </a:r>
            <a:r>
              <a:rPr lang="en-US" altLang="zh-CN" i="1"/>
              <a:t>feature</a:t>
            </a:r>
            <a:r>
              <a:rPr lang="zh-CN" altLang="en-US"/>
              <a:t>）</a:t>
            </a:r>
            <a:r>
              <a:rPr kumimoji="0" lang="zh-CN" altLang="en-US" b="1"/>
              <a:t>成员</a:t>
            </a:r>
            <a:r>
              <a:rPr kumimoji="0" lang="en-US" altLang="zh-CN" b="1"/>
              <a:t>:</a:t>
            </a:r>
          </a:p>
          <a:p>
            <a:pPr lvl="1">
              <a:buFontTx/>
              <a:buNone/>
            </a:pPr>
            <a:r>
              <a:rPr kumimoji="0" lang="en-US" altLang="zh-CN" b="1">
                <a:solidFill>
                  <a:schemeClr val="tx1"/>
                </a:solidFill>
              </a:rPr>
              <a:t>        </a:t>
            </a:r>
            <a:r>
              <a:rPr kumimoji="0" lang="zh-CN" altLang="en-US" b="1">
                <a:solidFill>
                  <a:srgbClr val="800080"/>
                </a:solidFill>
              </a:rPr>
              <a:t>属性</a:t>
            </a:r>
            <a:r>
              <a:rPr lang="zh-CN" altLang="en-US"/>
              <a:t>（</a:t>
            </a:r>
            <a:r>
              <a:rPr lang="en-US" altLang="zh-CN" i="1"/>
              <a:t>attribute</a:t>
            </a:r>
            <a:r>
              <a:rPr lang="zh-CN" altLang="en-US"/>
              <a:t>）</a:t>
            </a:r>
            <a:r>
              <a:rPr kumimoji="0" lang="zh-CN" altLang="en-US" b="1"/>
              <a:t>和 </a:t>
            </a:r>
            <a:r>
              <a:rPr kumimoji="0" lang="zh-CN" altLang="en-US" b="1">
                <a:solidFill>
                  <a:srgbClr val="800080"/>
                </a:solidFill>
              </a:rPr>
              <a:t>例程</a:t>
            </a:r>
            <a:r>
              <a:rPr lang="zh-CN" altLang="en-US"/>
              <a:t>（</a:t>
            </a:r>
            <a:r>
              <a:rPr lang="en-US" altLang="zh-CN" i="1"/>
              <a:t>routine</a:t>
            </a:r>
            <a:r>
              <a:rPr lang="zh-CN" altLang="en-US"/>
              <a:t>）</a:t>
            </a:r>
            <a:endParaRPr kumimoji="0" lang="zh-CN" altLang="en-US" b="1"/>
          </a:p>
          <a:p>
            <a:pPr lvl="1">
              <a:buFontTx/>
              <a:buNone/>
            </a:pPr>
            <a:endParaRPr kumimoji="0" lang="zh-CN" altLang="en-US" sz="1000" b="1"/>
          </a:p>
          <a:p>
            <a:pPr>
              <a:buFont typeface="Symbol" pitchFamily="18" charset="2"/>
              <a:buChar char="-"/>
            </a:pPr>
            <a:r>
              <a:rPr kumimoji="0" lang="zh-CN" altLang="en-US" b="1"/>
              <a:t>  每个对象都必定是某个类的一个</a:t>
            </a:r>
            <a:r>
              <a:rPr kumimoji="0" lang="zh-CN" altLang="en-US" b="1">
                <a:solidFill>
                  <a:srgbClr val="800080"/>
                </a:solidFill>
              </a:rPr>
              <a:t>实例</a:t>
            </a:r>
            <a:r>
              <a:rPr kumimoji="0" lang="zh-CN" altLang="en-US" b="1"/>
              <a:t>（</a:t>
            </a:r>
            <a:r>
              <a:rPr kumimoji="0" lang="en-US" altLang="zh-CN" i="1"/>
              <a:t>instance</a:t>
            </a:r>
            <a:r>
              <a:rPr kumimoji="0" lang="zh-CN" altLang="en-US" b="1"/>
              <a:t>），</a:t>
            </a:r>
          </a:p>
          <a:p>
            <a:pPr>
              <a:buFont typeface="Symbol" pitchFamily="18" charset="2"/>
              <a:buNone/>
            </a:pPr>
            <a:r>
              <a:rPr kumimoji="0" lang="zh-CN" altLang="en-US" b="1"/>
              <a:t>    而一个类可以创建有许多个对象</a:t>
            </a:r>
          </a:p>
          <a:p>
            <a:pPr lvl="1">
              <a:buFontTx/>
              <a:buNone/>
            </a:pPr>
            <a:endParaRPr kumimoji="0" lang="zh-CN" altLang="en-US" sz="1000" b="1"/>
          </a:p>
          <a:p>
            <a:pPr>
              <a:buFont typeface="Symbol" pitchFamily="18" charset="2"/>
              <a:buChar char="-"/>
            </a:pPr>
            <a:r>
              <a:rPr kumimoji="0" lang="zh-CN" altLang="en-US" b="1"/>
              <a:t>  实例对象是在程序运行时，根据该对象所属类的属性</a:t>
            </a:r>
          </a:p>
          <a:p>
            <a:pPr>
              <a:buFont typeface="Symbol" pitchFamily="18" charset="2"/>
              <a:buNone/>
            </a:pPr>
            <a:r>
              <a:rPr kumimoji="0" lang="zh-CN" altLang="en-US" b="1"/>
              <a:t>    动态地构造的</a:t>
            </a:r>
          </a:p>
        </p:txBody>
      </p:sp>
      <p:sp>
        <p:nvSpPr>
          <p:cNvPr id="41989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2677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0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629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1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6581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2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5725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974725" y="1336675"/>
            <a:ext cx="798988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lang="en-US" altLang="zh-CN" sz="3200"/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面向对象程序运行时的特征</a:t>
            </a:r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900113" y="1916113"/>
            <a:ext cx="7993062" cy="450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None/>
            </a:pPr>
            <a:endParaRPr kumimoji="0" lang="en-US" altLang="zh-CN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kumimoji="0" lang="en-US" altLang="zh-CN" b="1"/>
              <a:t>  </a:t>
            </a:r>
            <a:r>
              <a:rPr kumimoji="0" lang="zh-CN" altLang="en-US" b="1">
                <a:solidFill>
                  <a:srgbClr val="800080"/>
                </a:solidFill>
              </a:rPr>
              <a:t>对象是类的一个实例</a:t>
            </a:r>
            <a:r>
              <a:rPr kumimoji="0" lang="zh-CN" altLang="en-US" b="1"/>
              <a:t>，是系统动态运行时一个物理</a:t>
            </a:r>
          </a:p>
          <a:p>
            <a:pPr lvl="1">
              <a:buFontTx/>
              <a:buNone/>
            </a:pPr>
            <a:r>
              <a:rPr kumimoji="0" lang="zh-CN" altLang="en-US" b="1"/>
              <a:t>   结构的模块，是</a:t>
            </a:r>
            <a:r>
              <a:rPr kumimoji="0" lang="zh-CN" altLang="en-US" b="1">
                <a:solidFill>
                  <a:srgbClr val="800080"/>
                </a:solidFill>
              </a:rPr>
              <a:t>按需要创建</a:t>
            </a:r>
            <a:r>
              <a:rPr kumimoji="0" lang="zh-CN" altLang="en-US" b="1"/>
              <a:t>、而不是预先分配的</a:t>
            </a:r>
          </a:p>
          <a:p>
            <a:pPr lvl="1">
              <a:buFontTx/>
              <a:buNone/>
            </a:pPr>
            <a:endParaRPr kumimoji="0" lang="zh-CN" altLang="en-US" sz="1000" b="1">
              <a:solidFill>
                <a:schemeClr val="tx1"/>
              </a:solidFill>
            </a:endParaRPr>
          </a:p>
          <a:p>
            <a:pPr lvl="1">
              <a:buFontTx/>
              <a:buChar char="•"/>
            </a:pPr>
            <a:r>
              <a:rPr kumimoji="0" lang="zh-CN" altLang="en-US" b="1"/>
              <a:t>  </a:t>
            </a:r>
            <a:r>
              <a:rPr kumimoji="0" lang="zh-CN" altLang="en-US" b="1">
                <a:solidFill>
                  <a:srgbClr val="800080"/>
                </a:solidFill>
              </a:rPr>
              <a:t>对象</a:t>
            </a:r>
            <a:r>
              <a:rPr kumimoji="0" lang="zh-CN" altLang="en-US" b="1"/>
              <a:t>是在类实例化过程中，由类的属性定义所确定</a:t>
            </a:r>
          </a:p>
          <a:p>
            <a:pPr lvl="1">
              <a:buFontTx/>
              <a:buNone/>
            </a:pPr>
            <a:r>
              <a:rPr kumimoji="0" lang="zh-CN" altLang="en-US" b="1"/>
              <a:t>   的一组域动态地组成，</a:t>
            </a:r>
            <a:r>
              <a:rPr kumimoji="0" lang="zh-CN" altLang="en-US" b="1">
                <a:solidFill>
                  <a:srgbClr val="800080"/>
                </a:solidFill>
              </a:rPr>
              <a:t>每个域对应类中的一个属性</a:t>
            </a:r>
          </a:p>
          <a:p>
            <a:pPr lvl="1">
              <a:buFontTx/>
              <a:buNone/>
            </a:pPr>
            <a:endParaRPr kumimoji="0" lang="zh-CN" altLang="en-US" sz="1000" b="1"/>
          </a:p>
          <a:p>
            <a:pPr lvl="1">
              <a:buFontTx/>
              <a:buChar char="•"/>
            </a:pPr>
            <a:r>
              <a:rPr kumimoji="0" lang="zh-CN" altLang="en-US"/>
              <a:t>  </a:t>
            </a:r>
            <a:r>
              <a:rPr kumimoji="0" lang="zh-CN" altLang="en-US" b="1"/>
              <a:t>执行一个面向对象程序就是创建</a:t>
            </a:r>
            <a:r>
              <a:rPr kumimoji="0" lang="zh-CN" altLang="en-US" b="1">
                <a:solidFill>
                  <a:srgbClr val="800080"/>
                </a:solidFill>
              </a:rPr>
              <a:t>系统根类</a:t>
            </a:r>
            <a:r>
              <a:rPr kumimoji="0" lang="zh-CN" altLang="en-US" b="1"/>
              <a:t>的一个实</a:t>
            </a:r>
          </a:p>
          <a:p>
            <a:pPr lvl="1">
              <a:buFontTx/>
              <a:buNone/>
            </a:pPr>
            <a:r>
              <a:rPr kumimoji="0" lang="zh-CN" altLang="en-US" b="1"/>
              <a:t>   例，并调用该实例的创建过程</a:t>
            </a:r>
          </a:p>
          <a:p>
            <a:pPr lvl="1">
              <a:buFontTx/>
              <a:buNone/>
            </a:pPr>
            <a:endParaRPr kumimoji="0" lang="zh-CN" altLang="en-US" sz="1000" b="1"/>
          </a:p>
          <a:p>
            <a:pPr lvl="1">
              <a:buFontTx/>
              <a:buChar char="•"/>
            </a:pPr>
            <a:r>
              <a:rPr kumimoji="0" lang="zh-CN" altLang="en-US"/>
              <a:t>  </a:t>
            </a:r>
            <a:r>
              <a:rPr kumimoji="0" lang="zh-CN" altLang="en-US" b="1"/>
              <a:t>创建对象的过程即为实现该</a:t>
            </a:r>
            <a:r>
              <a:rPr kumimoji="0" lang="zh-CN" altLang="en-US" b="1">
                <a:solidFill>
                  <a:srgbClr val="800080"/>
                </a:solidFill>
              </a:rPr>
              <a:t>对象初始化</a:t>
            </a:r>
            <a:r>
              <a:rPr kumimoji="0" lang="zh-CN" altLang="en-US" b="1"/>
              <a:t>，对于根类而</a:t>
            </a:r>
          </a:p>
          <a:p>
            <a:pPr lvl="1">
              <a:buFontTx/>
              <a:buNone/>
            </a:pPr>
            <a:r>
              <a:rPr kumimoji="0" lang="zh-CN" altLang="en-US" b="1"/>
              <a:t>   言，创建其对象即执行该系统</a:t>
            </a:r>
          </a:p>
          <a:p>
            <a:pPr lvl="1">
              <a:buFontTx/>
              <a:buNone/>
            </a:pPr>
            <a:endParaRPr kumimoji="0" lang="zh-CN" altLang="en-US" sz="1000" b="1"/>
          </a:p>
          <a:p>
            <a:pPr lvl="1">
              <a:buFontTx/>
              <a:buChar char="•"/>
            </a:pPr>
            <a:r>
              <a:rPr kumimoji="0" lang="zh-CN" altLang="en-US"/>
              <a:t> </a:t>
            </a:r>
            <a:r>
              <a:rPr kumimoji="0" lang="zh-CN" altLang="en-US" b="1"/>
              <a:t> 创建根对象相当于通常软件启动 </a:t>
            </a:r>
            <a:r>
              <a:rPr kumimoji="0" lang="en-US" altLang="zh-CN" b="1"/>
              <a:t>main</a:t>
            </a:r>
            <a:r>
              <a:rPr kumimoji="0" lang="zh-CN" altLang="en-US" b="1"/>
              <a:t>，在非纯面向</a:t>
            </a:r>
          </a:p>
          <a:p>
            <a:pPr lvl="1">
              <a:buFontTx/>
              <a:buNone/>
            </a:pPr>
            <a:r>
              <a:rPr kumimoji="0" lang="zh-CN" altLang="en-US" b="1"/>
              <a:t>   对象方式下，通常也用启动 </a:t>
            </a:r>
            <a:r>
              <a:rPr kumimoji="0" lang="en-US" altLang="zh-CN" b="1"/>
              <a:t>main</a:t>
            </a:r>
            <a:r>
              <a:rPr kumimoji="0" lang="zh-CN" altLang="en-US" b="1"/>
              <a:t>的方式创建根对象</a:t>
            </a:r>
          </a:p>
        </p:txBody>
      </p:sp>
      <p:sp>
        <p:nvSpPr>
          <p:cNvPr id="43012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2677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13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629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14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6581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15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5725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16" name="Rectangle 8"/>
          <p:cNvSpPr>
            <a:spLocks noChangeArrowheads="1"/>
          </p:cNvSpPr>
          <p:nvPr/>
        </p:nvSpPr>
        <p:spPr bwMode="auto">
          <a:xfrm>
            <a:off x="1403350" y="188913"/>
            <a:ext cx="580231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面向对象程序运行时组织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6"/>
          <p:cNvSpPr>
            <a:spLocks noChangeArrowheads="1"/>
          </p:cNvSpPr>
          <p:nvPr/>
        </p:nvSpPr>
        <p:spPr bwMode="auto">
          <a:xfrm>
            <a:off x="1042988" y="1700213"/>
            <a:ext cx="64087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Times New Roman" pitchFamily="18" charset="0"/>
              </a:rPr>
              <a:t>  </a:t>
            </a:r>
            <a:r>
              <a:rPr kumimoji="0" lang="zh-CN" altLang="en-US" b="1">
                <a:solidFill>
                  <a:srgbClr val="800080"/>
                </a:solidFill>
              </a:rPr>
              <a:t>创建根对象时的存储结构</a:t>
            </a:r>
          </a:p>
        </p:txBody>
      </p:sp>
      <p:sp>
        <p:nvSpPr>
          <p:cNvPr id="44035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2677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6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629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7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6581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8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5725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9" name="Line 40"/>
          <p:cNvSpPr>
            <a:spLocks noChangeShapeType="1"/>
          </p:cNvSpPr>
          <p:nvPr/>
        </p:nvSpPr>
        <p:spPr bwMode="auto">
          <a:xfrm flipH="1">
            <a:off x="7307263" y="2276475"/>
            <a:ext cx="0" cy="3529013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44040" name="Line 41"/>
          <p:cNvSpPr>
            <a:spLocks noChangeShapeType="1"/>
          </p:cNvSpPr>
          <p:nvPr/>
        </p:nvSpPr>
        <p:spPr bwMode="auto">
          <a:xfrm flipH="1">
            <a:off x="9036050" y="2276475"/>
            <a:ext cx="0" cy="3602038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44041" name="Rectangle 42"/>
          <p:cNvSpPr>
            <a:spLocks noChangeArrowheads="1"/>
          </p:cNvSpPr>
          <p:nvPr/>
        </p:nvSpPr>
        <p:spPr bwMode="auto">
          <a:xfrm>
            <a:off x="7451725" y="5976938"/>
            <a:ext cx="1512888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zh-CN" altLang="en-US" sz="2000" b="1">
                <a:solidFill>
                  <a:srgbClr val="800080"/>
                </a:solidFill>
              </a:rPr>
              <a:t>堆式存储区</a:t>
            </a:r>
          </a:p>
        </p:txBody>
      </p:sp>
      <p:sp>
        <p:nvSpPr>
          <p:cNvPr id="44042" name="Rectangle 43"/>
          <p:cNvSpPr>
            <a:spLocks noChangeArrowheads="1"/>
          </p:cNvSpPr>
          <p:nvPr/>
        </p:nvSpPr>
        <p:spPr bwMode="auto">
          <a:xfrm>
            <a:off x="5362575" y="5949950"/>
            <a:ext cx="1657350" cy="40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zh-CN" altLang="en-US" sz="2000" b="1">
                <a:solidFill>
                  <a:srgbClr val="800080"/>
                </a:solidFill>
              </a:rPr>
              <a:t>栈式存储区</a:t>
            </a:r>
          </a:p>
        </p:txBody>
      </p:sp>
      <p:sp>
        <p:nvSpPr>
          <p:cNvPr id="44043" name="Rectangle 44"/>
          <p:cNvSpPr>
            <a:spLocks noChangeArrowheads="1"/>
          </p:cNvSpPr>
          <p:nvPr/>
        </p:nvSpPr>
        <p:spPr bwMode="auto">
          <a:xfrm>
            <a:off x="971550" y="2419350"/>
            <a:ext cx="2592388" cy="367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SzPct val="75000"/>
              <a:buFontTx/>
              <a:buChar char="•"/>
            </a:pPr>
            <a:r>
              <a:rPr lang="zh-CN" altLang="en-US" sz="2000" b="1">
                <a:latin typeface="楷体_GB2312" pitchFamily="49" charset="-122"/>
              </a:rPr>
              <a:t>根对象的函数工作区中主要是运行该程序的启动参数，它们大都是根对象的成员。因而，根对象的函数工作区中主要存放对根对象的引用。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SzPct val="75000"/>
              <a:buFontTx/>
              <a:buNone/>
            </a:pPr>
            <a:endParaRPr lang="zh-CN" altLang="en-US" sz="1000" b="1">
              <a:latin typeface="楷体_GB2312" pitchFamily="49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SzPct val="75000"/>
              <a:buFontTx/>
              <a:buChar char="•"/>
            </a:pPr>
            <a:r>
              <a:rPr lang="zh-CN" altLang="en-US" sz="2000" b="1">
                <a:latin typeface="楷体_GB2312" pitchFamily="49" charset="-122"/>
              </a:rPr>
              <a:t>创建的根对象存放在堆式存储区中。</a:t>
            </a:r>
          </a:p>
        </p:txBody>
      </p:sp>
      <p:grpSp>
        <p:nvGrpSpPr>
          <p:cNvPr id="44044" name="Group 55"/>
          <p:cNvGrpSpPr>
            <a:grpSpLocks/>
          </p:cNvGrpSpPr>
          <p:nvPr/>
        </p:nvGrpSpPr>
        <p:grpSpPr bwMode="auto">
          <a:xfrm>
            <a:off x="4138613" y="4365625"/>
            <a:ext cx="2665412" cy="1296988"/>
            <a:chOff x="2607" y="2750"/>
            <a:chExt cx="1679" cy="817"/>
          </a:xfrm>
        </p:grpSpPr>
        <p:sp>
          <p:nvSpPr>
            <p:cNvPr id="44052" name="Rectangle 46"/>
            <p:cNvSpPr>
              <a:spLocks noChangeArrowheads="1"/>
            </p:cNvSpPr>
            <p:nvPr/>
          </p:nvSpPr>
          <p:spPr bwMode="auto">
            <a:xfrm>
              <a:off x="3379" y="2839"/>
              <a:ext cx="907" cy="182"/>
            </a:xfrm>
            <a:prstGeom prst="rect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buClrTx/>
                <a:buFontTx/>
                <a:buNone/>
              </a:pPr>
              <a:r>
                <a:rPr lang="zh-CN" altLang="en-US" sz="1800" b="1">
                  <a:solidFill>
                    <a:srgbClr val="800080"/>
                  </a:solidFill>
                  <a:latin typeface="Times New Roman" pitchFamily="18" charset="0"/>
                </a:rPr>
                <a:t>引用根对象</a:t>
              </a:r>
            </a:p>
          </p:txBody>
        </p:sp>
        <p:sp>
          <p:nvSpPr>
            <p:cNvPr id="44053" name="AutoShape 47"/>
            <p:cNvSpPr>
              <a:spLocks/>
            </p:cNvSpPr>
            <p:nvPr/>
          </p:nvSpPr>
          <p:spPr bwMode="auto">
            <a:xfrm>
              <a:off x="3288" y="2839"/>
              <a:ext cx="46" cy="499"/>
            </a:xfrm>
            <a:prstGeom prst="leftBrace">
              <a:avLst>
                <a:gd name="adj1" fmla="val 90399"/>
                <a:gd name="adj2" fmla="val 50000"/>
              </a:avLst>
            </a:prstGeom>
            <a:noFill/>
            <a:ln w="28575">
              <a:solidFill>
                <a:srgbClr val="800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54" name="Rectangle 48"/>
            <p:cNvSpPr>
              <a:spLocks noChangeArrowheads="1"/>
            </p:cNvSpPr>
            <p:nvPr/>
          </p:nvSpPr>
          <p:spPr bwMode="auto">
            <a:xfrm>
              <a:off x="2607" y="2750"/>
              <a:ext cx="725" cy="8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None/>
              </a:pPr>
              <a:r>
                <a:rPr lang="zh-CN" altLang="en-US" sz="2000" b="1">
                  <a:solidFill>
                    <a:srgbClr val="800080"/>
                  </a:solidFill>
                </a:rPr>
                <a:t>根对象</a:t>
              </a: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None/>
              </a:pPr>
              <a:r>
                <a:rPr lang="zh-CN" altLang="en-US" sz="2000" b="1">
                  <a:solidFill>
                    <a:srgbClr val="800080"/>
                  </a:solidFill>
                </a:rPr>
                <a:t>构造例</a:t>
              </a: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None/>
              </a:pPr>
              <a:r>
                <a:rPr lang="zh-CN" altLang="en-US" sz="2000" b="1">
                  <a:solidFill>
                    <a:srgbClr val="800080"/>
                  </a:solidFill>
                </a:rPr>
                <a:t>程的工</a:t>
              </a: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None/>
              </a:pPr>
              <a:r>
                <a:rPr lang="zh-CN" altLang="en-US" sz="2000" b="1">
                  <a:solidFill>
                    <a:srgbClr val="800080"/>
                  </a:solidFill>
                </a:rPr>
                <a:t>作区</a:t>
              </a:r>
            </a:p>
          </p:txBody>
        </p:sp>
        <p:sp>
          <p:nvSpPr>
            <p:cNvPr id="44055" name="Rectangle 49"/>
            <p:cNvSpPr>
              <a:spLocks noChangeArrowheads="1"/>
            </p:cNvSpPr>
            <p:nvPr/>
          </p:nvSpPr>
          <p:spPr bwMode="auto">
            <a:xfrm>
              <a:off x="3378" y="3021"/>
              <a:ext cx="908" cy="317"/>
            </a:xfrm>
            <a:prstGeom prst="rect">
              <a:avLst/>
            </a:prstGeom>
            <a:noFill/>
            <a:ln w="9525" algn="ctr">
              <a:solidFill>
                <a:srgbClr val="800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045" name="Line 50"/>
          <p:cNvSpPr>
            <a:spLocks noChangeShapeType="1"/>
          </p:cNvSpPr>
          <p:nvPr/>
        </p:nvSpPr>
        <p:spPr bwMode="auto">
          <a:xfrm flipH="1">
            <a:off x="6804025" y="2276475"/>
            <a:ext cx="0" cy="3529013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44046" name="Line 51"/>
          <p:cNvSpPr>
            <a:spLocks noChangeShapeType="1"/>
          </p:cNvSpPr>
          <p:nvPr/>
        </p:nvSpPr>
        <p:spPr bwMode="auto">
          <a:xfrm>
            <a:off x="5292725" y="2276475"/>
            <a:ext cx="71438" cy="3600450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44047" name="Group 52"/>
          <p:cNvGrpSpPr>
            <a:grpSpLocks/>
          </p:cNvGrpSpPr>
          <p:nvPr/>
        </p:nvGrpSpPr>
        <p:grpSpPr bwMode="auto">
          <a:xfrm>
            <a:off x="6731000" y="3213100"/>
            <a:ext cx="2087563" cy="1439863"/>
            <a:chOff x="3923" y="2069"/>
            <a:chExt cx="1315" cy="907"/>
          </a:xfrm>
        </p:grpSpPr>
        <p:sp>
          <p:nvSpPr>
            <p:cNvPr id="44050" name="Rectangle 53"/>
            <p:cNvSpPr>
              <a:spLocks noChangeArrowheads="1"/>
            </p:cNvSpPr>
            <p:nvPr/>
          </p:nvSpPr>
          <p:spPr bwMode="auto">
            <a:xfrm>
              <a:off x="4513" y="2069"/>
              <a:ext cx="725" cy="907"/>
            </a:xfrm>
            <a:prstGeom prst="rect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buClrTx/>
                <a:buFontTx/>
                <a:buNone/>
              </a:pPr>
              <a:r>
                <a:rPr lang="zh-CN" altLang="en-US" sz="2000" b="1">
                  <a:solidFill>
                    <a:srgbClr val="800080"/>
                  </a:solidFill>
                  <a:latin typeface="楷体_GB2312" pitchFamily="49" charset="-122"/>
                </a:rPr>
                <a:t>根对象</a:t>
              </a:r>
            </a:p>
          </p:txBody>
        </p:sp>
        <p:sp>
          <p:nvSpPr>
            <p:cNvPr id="44051" name="Line 54"/>
            <p:cNvSpPr>
              <a:spLocks noChangeShapeType="1"/>
            </p:cNvSpPr>
            <p:nvPr/>
          </p:nvSpPr>
          <p:spPr bwMode="auto">
            <a:xfrm flipV="1">
              <a:off x="3923" y="2069"/>
              <a:ext cx="590" cy="862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44048" name="Rectangle 56"/>
          <p:cNvSpPr>
            <a:spLocks noChangeArrowheads="1"/>
          </p:cNvSpPr>
          <p:nvPr/>
        </p:nvSpPr>
        <p:spPr bwMode="auto">
          <a:xfrm>
            <a:off x="1403350" y="188913"/>
            <a:ext cx="580231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面向对象程序运行时组织</a:t>
            </a:r>
          </a:p>
        </p:txBody>
      </p:sp>
      <p:sp>
        <p:nvSpPr>
          <p:cNvPr id="44049" name="Text Box 57"/>
          <p:cNvSpPr txBox="1">
            <a:spLocks noChangeArrowheads="1"/>
          </p:cNvSpPr>
          <p:nvPr/>
        </p:nvSpPr>
        <p:spPr bwMode="auto">
          <a:xfrm>
            <a:off x="684213" y="1125538"/>
            <a:ext cx="640556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lang="en-US" altLang="zh-CN" sz="3200"/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面向对象程序运行时的特征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5"/>
          <p:cNvSpPr>
            <a:spLocks noChangeArrowheads="1"/>
          </p:cNvSpPr>
          <p:nvPr/>
        </p:nvSpPr>
        <p:spPr bwMode="auto">
          <a:xfrm>
            <a:off x="900113" y="1754188"/>
            <a:ext cx="8064500" cy="462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Times New Roman" pitchFamily="18" charset="0"/>
              </a:rPr>
              <a:t>  </a:t>
            </a:r>
            <a:r>
              <a:rPr kumimoji="0" lang="zh-CN" altLang="en-US" sz="2800" b="1">
                <a:solidFill>
                  <a:srgbClr val="800080"/>
                </a:solidFill>
              </a:rPr>
              <a:t>例程运行时的特征</a:t>
            </a: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kumimoji="0" lang="zh-CN" altLang="en-US" b="1"/>
              <a:t>  每个例程都必定是某个类的成员，且每个例程都只能</a:t>
            </a:r>
          </a:p>
          <a:p>
            <a:pPr lvl="1">
              <a:buFontTx/>
              <a:buNone/>
            </a:pPr>
            <a:r>
              <a:rPr kumimoji="0" lang="zh-CN" altLang="en-US" b="1"/>
              <a:t>   把它的计算施加在它所属类所创建的对象上。因而在</a:t>
            </a:r>
          </a:p>
          <a:p>
            <a:pPr lvl="1">
              <a:buFontTx/>
              <a:buNone/>
            </a:pPr>
            <a:r>
              <a:rPr kumimoji="0" lang="zh-CN" altLang="en-US" b="1"/>
              <a:t>   一个</a:t>
            </a:r>
            <a:r>
              <a:rPr kumimoji="0" lang="zh-CN" altLang="en-US" b="1">
                <a:solidFill>
                  <a:srgbClr val="800080"/>
                </a:solidFill>
              </a:rPr>
              <a:t>例程执行前</a:t>
            </a:r>
            <a:r>
              <a:rPr kumimoji="0" lang="zh-CN" altLang="en-US" b="1"/>
              <a:t>，首先要求</a:t>
            </a:r>
            <a:r>
              <a:rPr kumimoji="0" lang="zh-CN" altLang="en-US" b="1">
                <a:solidFill>
                  <a:srgbClr val="800080"/>
                </a:solidFill>
              </a:rPr>
              <a:t>它所施加计算的对象已经</a:t>
            </a:r>
          </a:p>
          <a:p>
            <a:pPr lvl="1">
              <a:buFontTx/>
              <a:buNone/>
            </a:pPr>
            <a:r>
              <a:rPr kumimoji="0" lang="zh-CN" altLang="en-US" b="1">
                <a:solidFill>
                  <a:srgbClr val="800080"/>
                </a:solidFill>
              </a:rPr>
              <a:t>   存在</a:t>
            </a:r>
            <a:r>
              <a:rPr kumimoji="0" lang="zh-CN" altLang="en-US" b="1"/>
              <a:t>，否则要求先创建该对象。</a:t>
            </a:r>
          </a:p>
          <a:p>
            <a:pPr lvl="1">
              <a:buFontTx/>
              <a:buNone/>
            </a:pPr>
            <a:r>
              <a:rPr kumimoji="0" lang="zh-CN" altLang="en-US" sz="1000" b="1"/>
              <a:t>   </a:t>
            </a:r>
            <a:endParaRPr kumimoji="0" lang="zh-CN" altLang="en-US" sz="1000" b="1">
              <a:solidFill>
                <a:schemeClr val="tx1"/>
              </a:solidFill>
            </a:endParaRPr>
          </a:p>
          <a:p>
            <a:pPr lvl="1">
              <a:buFontTx/>
              <a:buChar char="•"/>
            </a:pPr>
            <a:r>
              <a:rPr kumimoji="0" lang="zh-CN" altLang="en-US" b="1"/>
              <a:t>  一个例程执行时，其参数除实参外，还用到它所施加</a:t>
            </a:r>
          </a:p>
          <a:p>
            <a:pPr lvl="1">
              <a:buFontTx/>
              <a:buNone/>
            </a:pPr>
            <a:r>
              <a:rPr kumimoji="0" lang="zh-CN" altLang="en-US" b="1"/>
              <a:t>   计算的对象，它们与该例程的局部量及返回值一起组</a:t>
            </a:r>
          </a:p>
          <a:p>
            <a:pPr lvl="1">
              <a:buFontTx/>
              <a:buNone/>
            </a:pPr>
            <a:r>
              <a:rPr kumimoji="0" lang="zh-CN" altLang="en-US" b="1"/>
              <a:t>   成一个该例程的工作区（放在栈式存储区中）。</a:t>
            </a:r>
          </a:p>
          <a:p>
            <a:pPr lvl="1">
              <a:buFontTx/>
              <a:buNone/>
            </a:pPr>
            <a:endParaRPr kumimoji="0" lang="zh-CN" altLang="en-US" sz="1000" b="1"/>
          </a:p>
          <a:p>
            <a:pPr lvl="1">
              <a:buFontTx/>
              <a:buChar char="•"/>
            </a:pPr>
            <a:r>
              <a:rPr kumimoji="0" lang="zh-CN" altLang="en-US"/>
              <a:t>  </a:t>
            </a:r>
            <a:r>
              <a:rPr kumimoji="0" lang="zh-CN" altLang="en-US" b="1"/>
              <a:t>例程工作区中的局部量若是较为复杂数据结构，则</a:t>
            </a:r>
            <a:r>
              <a:rPr kumimoji="0" lang="zh-CN" altLang="en-US" b="1">
                <a:solidFill>
                  <a:srgbClr val="800080"/>
                </a:solidFill>
              </a:rPr>
              <a:t>在</a:t>
            </a:r>
          </a:p>
          <a:p>
            <a:pPr lvl="1">
              <a:buFontTx/>
              <a:buNone/>
            </a:pPr>
            <a:r>
              <a:rPr kumimoji="0" lang="zh-CN" altLang="en-US" b="1">
                <a:solidFill>
                  <a:srgbClr val="800080"/>
                </a:solidFill>
              </a:rPr>
              <a:t>   工作区中存放对</a:t>
            </a:r>
            <a:r>
              <a:rPr kumimoji="0" lang="zh-CN" altLang="en-US" b="1"/>
              <a:t>该</a:t>
            </a:r>
            <a:r>
              <a:rPr kumimoji="0" lang="zh-CN" altLang="en-US" b="1">
                <a:solidFill>
                  <a:srgbClr val="800080"/>
                </a:solidFill>
              </a:rPr>
              <a:t>复杂数据结构的一个引用</a:t>
            </a:r>
            <a:r>
              <a:rPr kumimoji="0" lang="zh-CN" altLang="en-US" b="1"/>
              <a:t>，并在堆</a:t>
            </a:r>
          </a:p>
          <a:p>
            <a:pPr lvl="1">
              <a:buFontTx/>
              <a:buNone/>
            </a:pPr>
            <a:r>
              <a:rPr kumimoji="0" lang="zh-CN" altLang="en-US" b="1"/>
              <a:t>   式存储区中创建一个该复杂数据结构的对象。</a:t>
            </a:r>
          </a:p>
        </p:txBody>
      </p:sp>
      <p:sp>
        <p:nvSpPr>
          <p:cNvPr id="45059" name="AutoShape 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2677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0" name="AutoShape 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629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1" name="AutoShape 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6581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2" name="AutoShape 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5725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3" name="Rectangle 11"/>
          <p:cNvSpPr>
            <a:spLocks noChangeArrowheads="1"/>
          </p:cNvSpPr>
          <p:nvPr/>
        </p:nvSpPr>
        <p:spPr bwMode="auto">
          <a:xfrm>
            <a:off x="1403350" y="188913"/>
            <a:ext cx="580231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面向对象程序运行时组织</a:t>
            </a:r>
          </a:p>
        </p:txBody>
      </p:sp>
      <p:sp>
        <p:nvSpPr>
          <p:cNvPr id="45064" name="Text Box 12"/>
          <p:cNvSpPr txBox="1">
            <a:spLocks noChangeArrowheads="1"/>
          </p:cNvSpPr>
          <p:nvPr/>
        </p:nvSpPr>
        <p:spPr bwMode="auto">
          <a:xfrm>
            <a:off x="685800" y="1120775"/>
            <a:ext cx="798988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lang="en-US" altLang="zh-CN" sz="3200"/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面向对象程序运行时的特征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4"/>
          <p:cNvSpPr txBox="1">
            <a:spLocks noChangeArrowheads="1"/>
          </p:cNvSpPr>
          <p:nvPr/>
        </p:nvSpPr>
        <p:spPr bwMode="auto">
          <a:xfrm>
            <a:off x="830263" y="1336675"/>
            <a:ext cx="78454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lang="en-US" altLang="zh-CN" sz="3200"/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对象的存储组织</a:t>
            </a:r>
          </a:p>
        </p:txBody>
      </p:sp>
      <p:sp>
        <p:nvSpPr>
          <p:cNvPr id="46083" name="Rectangle 5"/>
          <p:cNvSpPr>
            <a:spLocks noChangeArrowheads="1"/>
          </p:cNvSpPr>
          <p:nvPr/>
        </p:nvSpPr>
        <p:spPr bwMode="auto">
          <a:xfrm>
            <a:off x="1187450" y="1989138"/>
            <a:ext cx="7488238" cy="176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Times New Roman" pitchFamily="18" charset="0"/>
              </a:rPr>
              <a:t>  </a:t>
            </a:r>
            <a:r>
              <a:rPr lang="zh-CN" altLang="en-US" b="1"/>
              <a:t>一个</a:t>
            </a:r>
            <a:r>
              <a:rPr lang="zh-CN" altLang="en-US" b="1">
                <a:solidFill>
                  <a:srgbClr val="800080"/>
                </a:solidFill>
              </a:rPr>
              <a:t>简单机制</a:t>
            </a:r>
            <a:r>
              <a:rPr lang="zh-CN" altLang="en-US" b="1"/>
              <a:t>是，初始化代码将所有当前的继承特</a:t>
            </a:r>
          </a:p>
          <a:p>
            <a:pPr>
              <a:buClrTx/>
              <a:buFont typeface="Symbol" pitchFamily="18" charset="2"/>
              <a:buNone/>
            </a:pPr>
            <a:r>
              <a:rPr lang="zh-CN" altLang="en-US" b="1"/>
              <a:t>    征（属性和例程）直接地复制到对象存储区中（将</a:t>
            </a:r>
          </a:p>
          <a:p>
            <a:pPr>
              <a:buClrTx/>
              <a:buFont typeface="Symbol" pitchFamily="18" charset="2"/>
              <a:buNone/>
            </a:pPr>
            <a:r>
              <a:rPr lang="zh-CN" altLang="en-US" b="1"/>
              <a:t>    例程当作代码指针）。</a:t>
            </a:r>
          </a:p>
          <a:p>
            <a:pPr>
              <a:buClrTx/>
              <a:buFont typeface="Symbol" pitchFamily="18" charset="2"/>
              <a:buNone/>
            </a:pPr>
            <a:endParaRPr lang="zh-CN" altLang="en-US" sz="1000" b="1"/>
          </a:p>
          <a:p>
            <a:pPr>
              <a:buClrTx/>
              <a:buFont typeface="Symbol" pitchFamily="18" charset="2"/>
              <a:buNone/>
            </a:pPr>
            <a:r>
              <a:rPr lang="zh-CN" altLang="en-US" b="1"/>
              <a:t>    但这样做较浪费空间</a:t>
            </a:r>
            <a:r>
              <a:rPr kumimoji="0" lang="zh-CN" altLang="en-US" b="1"/>
              <a:t>。</a:t>
            </a:r>
          </a:p>
        </p:txBody>
      </p:sp>
      <p:sp>
        <p:nvSpPr>
          <p:cNvPr id="46084" name="AutoShape 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2677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5" name="AutoShape 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629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6" name="AutoShape 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6581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7" name="AutoShape 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5725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8" name="Rectangle 11"/>
          <p:cNvSpPr>
            <a:spLocks noChangeArrowheads="1"/>
          </p:cNvSpPr>
          <p:nvPr/>
        </p:nvSpPr>
        <p:spPr bwMode="auto">
          <a:xfrm>
            <a:off x="1403350" y="188913"/>
            <a:ext cx="580231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面向对象程序运行时组织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5"/>
          <p:cNvSpPr>
            <a:spLocks noChangeArrowheads="1"/>
          </p:cNvSpPr>
          <p:nvPr/>
        </p:nvSpPr>
        <p:spPr bwMode="auto">
          <a:xfrm>
            <a:off x="971550" y="1773238"/>
            <a:ext cx="8172450" cy="4687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</a:rPr>
              <a:t>  </a:t>
            </a:r>
            <a:r>
              <a:rPr lang="zh-CN" altLang="en-US" b="1">
                <a:solidFill>
                  <a:srgbClr val="800080"/>
                </a:solidFill>
              </a:rPr>
              <a:t>另一种方法</a:t>
            </a:r>
            <a:r>
              <a:rPr lang="zh-CN" altLang="en-US" b="1"/>
              <a:t>是在执行时将</a:t>
            </a:r>
            <a:r>
              <a:rPr lang="zh-CN" altLang="en-US" b="1">
                <a:solidFill>
                  <a:srgbClr val="800080"/>
                </a:solidFill>
              </a:rPr>
              <a:t>类结构的一个完整的描述</a:t>
            </a:r>
            <a:r>
              <a:rPr lang="zh-CN" altLang="en-US" b="1"/>
              <a:t>保</a:t>
            </a:r>
          </a:p>
          <a:p>
            <a:pPr>
              <a:buClrTx/>
              <a:buFont typeface="Symbol" pitchFamily="18" charset="2"/>
              <a:buNone/>
            </a:pPr>
            <a:r>
              <a:rPr lang="zh-CN" altLang="en-US" b="1"/>
              <a:t>     存在每个类的存储中，由超类指针维护继承性（形成</a:t>
            </a:r>
          </a:p>
          <a:p>
            <a:pPr>
              <a:buClrTx/>
              <a:buFont typeface="Symbol" pitchFamily="18" charset="2"/>
              <a:buNone/>
            </a:pPr>
            <a:r>
              <a:rPr lang="zh-CN" altLang="en-US" b="1"/>
              <a:t>     所谓的继承图）。</a:t>
            </a:r>
            <a:r>
              <a:rPr lang="zh-CN" altLang="en-US" b="1">
                <a:solidFill>
                  <a:srgbClr val="800080"/>
                </a:solidFill>
              </a:rPr>
              <a:t>每个对象保存一个指向其定义类的</a:t>
            </a:r>
          </a:p>
          <a:p>
            <a:pPr>
              <a:buClrTx/>
              <a:buFont typeface="Symbol" pitchFamily="18" charset="2"/>
              <a:buNone/>
            </a:pPr>
            <a:r>
              <a:rPr lang="zh-CN" altLang="en-US" b="1">
                <a:solidFill>
                  <a:srgbClr val="800080"/>
                </a:solidFill>
              </a:rPr>
              <a:t>     指针</a:t>
            </a:r>
            <a:r>
              <a:rPr lang="zh-CN" altLang="en-US" b="1"/>
              <a:t>，作为一个附加的域和它的属性变量放在一起，</a:t>
            </a:r>
          </a:p>
          <a:p>
            <a:pPr>
              <a:buClrTx/>
              <a:buFont typeface="Symbol" pitchFamily="18" charset="2"/>
              <a:buNone/>
            </a:pPr>
            <a:r>
              <a:rPr lang="zh-CN" altLang="en-US" b="1"/>
              <a:t>     通过这个类就可找到所有（局部和继承的）的例程。</a:t>
            </a:r>
          </a:p>
          <a:p>
            <a:pPr>
              <a:buClrTx/>
              <a:buFont typeface="Symbol" pitchFamily="18" charset="2"/>
              <a:buNone/>
            </a:pPr>
            <a:r>
              <a:rPr lang="zh-CN" altLang="en-US" b="1"/>
              <a:t>     此时，只记录一次例程指针（在类结构中），且对于</a:t>
            </a:r>
          </a:p>
          <a:p>
            <a:pPr>
              <a:buClrTx/>
              <a:buFont typeface="Symbol" pitchFamily="18" charset="2"/>
              <a:buNone/>
            </a:pPr>
            <a:r>
              <a:rPr lang="zh-CN" altLang="en-US" b="1"/>
              <a:t>     每个对象并不将其复制到存储器中。</a:t>
            </a:r>
          </a:p>
          <a:p>
            <a:pPr>
              <a:buClrTx/>
              <a:buFont typeface="Symbol" pitchFamily="18" charset="2"/>
              <a:buNone/>
            </a:pPr>
            <a:endParaRPr lang="zh-CN" altLang="en-US" sz="1000" b="1"/>
          </a:p>
          <a:p>
            <a:pPr>
              <a:buClrTx/>
              <a:buFont typeface="Symbol" pitchFamily="18" charset="2"/>
              <a:buNone/>
            </a:pPr>
            <a:r>
              <a:rPr lang="zh-CN" altLang="en-US" b="1"/>
              <a:t>     其缺点在于：虽然属性变量具有可预测的偏移量（如</a:t>
            </a:r>
          </a:p>
          <a:p>
            <a:pPr>
              <a:buClrTx/>
              <a:buFont typeface="Symbol" pitchFamily="18" charset="2"/>
              <a:buNone/>
            </a:pPr>
            <a:r>
              <a:rPr lang="zh-CN" altLang="en-US" b="1"/>
              <a:t>     在标准环境中的局部变量一样），但例程却没有， 它</a:t>
            </a:r>
          </a:p>
          <a:p>
            <a:pPr>
              <a:buClrTx/>
              <a:buFont typeface="Symbol" pitchFamily="18" charset="2"/>
              <a:buNone/>
            </a:pPr>
            <a:r>
              <a:rPr lang="zh-CN" altLang="en-US" b="1"/>
              <a:t>     们必须由带有查询功能的符号表结构中的名字来维护。</a:t>
            </a:r>
          </a:p>
          <a:p>
            <a:pPr>
              <a:buClrTx/>
              <a:buFont typeface="Symbol" pitchFamily="18" charset="2"/>
              <a:buNone/>
            </a:pPr>
            <a:r>
              <a:rPr lang="zh-CN" altLang="en-US" b="1"/>
              <a:t>     这是对于诸如 </a:t>
            </a:r>
            <a:r>
              <a:rPr lang="en-US" altLang="zh-CN" i="1"/>
              <a:t>Smalltalk </a:t>
            </a:r>
            <a:r>
              <a:rPr lang="zh-CN" altLang="en-US" b="1"/>
              <a:t>等强动态性语言的合理的结构，</a:t>
            </a:r>
          </a:p>
          <a:p>
            <a:pPr>
              <a:buClrTx/>
              <a:buFont typeface="Symbol" pitchFamily="18" charset="2"/>
              <a:buNone/>
            </a:pPr>
            <a:r>
              <a:rPr lang="zh-CN" altLang="en-US" b="1"/>
              <a:t>     因为类结构可以在执行中改变。</a:t>
            </a:r>
          </a:p>
        </p:txBody>
      </p:sp>
      <p:sp>
        <p:nvSpPr>
          <p:cNvPr id="47107" name="AutoShape 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2677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08" name="AutoShape 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629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09" name="AutoShape 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6581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0" name="AutoShape 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5725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1" name="Rectangle 11"/>
          <p:cNvSpPr>
            <a:spLocks noChangeArrowheads="1"/>
          </p:cNvSpPr>
          <p:nvPr/>
        </p:nvSpPr>
        <p:spPr bwMode="auto">
          <a:xfrm>
            <a:off x="1403350" y="188913"/>
            <a:ext cx="580231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面向对象程序运行时组织</a:t>
            </a:r>
          </a:p>
        </p:txBody>
      </p:sp>
      <p:sp>
        <p:nvSpPr>
          <p:cNvPr id="47112" name="Text Box 12"/>
          <p:cNvSpPr txBox="1">
            <a:spLocks noChangeArrowheads="1"/>
          </p:cNvSpPr>
          <p:nvPr/>
        </p:nvSpPr>
        <p:spPr bwMode="auto">
          <a:xfrm>
            <a:off x="755650" y="1196975"/>
            <a:ext cx="74866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lang="en-US" altLang="zh-CN" sz="3200"/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对象的存储组织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5"/>
          <p:cNvSpPr>
            <a:spLocks noChangeArrowheads="1"/>
          </p:cNvSpPr>
          <p:nvPr/>
        </p:nvSpPr>
        <p:spPr bwMode="auto">
          <a:xfrm>
            <a:off x="898525" y="2079625"/>
            <a:ext cx="8137525" cy="249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Times New Roman" pitchFamily="18" charset="0"/>
              </a:rPr>
              <a:t>  </a:t>
            </a:r>
            <a:r>
              <a:rPr lang="zh-CN" altLang="en-US" b="1"/>
              <a:t>一种</a:t>
            </a:r>
            <a:r>
              <a:rPr lang="zh-CN" altLang="en-US" b="1">
                <a:solidFill>
                  <a:srgbClr val="800080"/>
                </a:solidFill>
              </a:rPr>
              <a:t>折衷方案</a:t>
            </a:r>
            <a:r>
              <a:rPr lang="zh-CN" altLang="en-US" b="1"/>
              <a:t>：计算出每个类的可用例程的代码指针列</a:t>
            </a:r>
          </a:p>
          <a:p>
            <a:pPr>
              <a:buClrTx/>
              <a:buFont typeface="Symbol" pitchFamily="18" charset="2"/>
              <a:buNone/>
            </a:pPr>
            <a:r>
              <a:rPr lang="zh-CN" altLang="en-US" b="1"/>
              <a:t>    表（称为</a:t>
            </a:r>
            <a:r>
              <a:rPr lang="zh-CN" altLang="en-US" b="1">
                <a:solidFill>
                  <a:srgbClr val="800080"/>
                </a:solidFill>
              </a:rPr>
              <a:t>例程索引表</a:t>
            </a:r>
            <a:r>
              <a:rPr lang="zh-CN" altLang="en-US" b="1"/>
              <a:t>，如 </a:t>
            </a:r>
            <a:r>
              <a:rPr lang="en-US" altLang="zh-CN" i="1"/>
              <a:t>C++ </a:t>
            </a:r>
            <a:r>
              <a:rPr lang="zh-CN" altLang="en-US" b="1"/>
              <a:t>的 </a:t>
            </a:r>
            <a:r>
              <a:rPr lang="en-US" altLang="zh-CN" i="1"/>
              <a:t>Vtable</a:t>
            </a:r>
            <a:r>
              <a:rPr lang="zh-CN" altLang="en-US" b="1"/>
              <a:t>，简称虚表）。</a:t>
            </a:r>
          </a:p>
          <a:p>
            <a:pPr>
              <a:buClrTx/>
              <a:buFont typeface="Symbol" pitchFamily="18" charset="2"/>
              <a:buNone/>
            </a:pPr>
            <a:endParaRPr lang="zh-CN" altLang="en-US" sz="1000" b="1"/>
          </a:p>
          <a:p>
            <a:pPr>
              <a:buClrTx/>
              <a:buFont typeface="Symbol" pitchFamily="18" charset="2"/>
              <a:buNone/>
            </a:pPr>
            <a:r>
              <a:rPr lang="zh-CN" altLang="en-US" b="1"/>
              <a:t>    其优点在于：可做出安排以使每个例程都有一个可预测</a:t>
            </a:r>
          </a:p>
          <a:p>
            <a:pPr>
              <a:buClrTx/>
              <a:buFont typeface="Symbol" pitchFamily="18" charset="2"/>
              <a:buNone/>
            </a:pPr>
            <a:r>
              <a:rPr lang="zh-CN" altLang="en-US" b="1"/>
              <a:t>    的偏移量，而且也不再需要用一系列表查询遍历类的层</a:t>
            </a:r>
          </a:p>
          <a:p>
            <a:pPr>
              <a:buClrTx/>
              <a:buFont typeface="Symbol" pitchFamily="18" charset="2"/>
              <a:buNone/>
            </a:pPr>
            <a:r>
              <a:rPr lang="zh-CN" altLang="en-US" b="1"/>
              <a:t>    次结构。这样，每个对象不仅包括属性变量，还包括了</a:t>
            </a:r>
          </a:p>
          <a:p>
            <a:pPr>
              <a:buClrTx/>
              <a:buFont typeface="Symbol" pitchFamily="18" charset="2"/>
              <a:buNone/>
            </a:pPr>
            <a:r>
              <a:rPr lang="zh-CN" altLang="en-US" b="1"/>
              <a:t>    一个相应的例程索引表的指针（不是类结构的指针）。</a:t>
            </a:r>
          </a:p>
        </p:txBody>
      </p:sp>
      <p:sp>
        <p:nvSpPr>
          <p:cNvPr id="48131" name="AutoShape 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2677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2" name="AutoShape 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629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3" name="AutoShape 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6581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4" name="AutoShape 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5725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5" name="Rectangle 11"/>
          <p:cNvSpPr>
            <a:spLocks noChangeArrowheads="1"/>
          </p:cNvSpPr>
          <p:nvPr/>
        </p:nvSpPr>
        <p:spPr bwMode="auto">
          <a:xfrm>
            <a:off x="1403350" y="188913"/>
            <a:ext cx="580231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面向对象程序运行时组织</a:t>
            </a:r>
          </a:p>
        </p:txBody>
      </p:sp>
      <p:sp>
        <p:nvSpPr>
          <p:cNvPr id="48136" name="Text Box 12"/>
          <p:cNvSpPr txBox="1">
            <a:spLocks noChangeArrowheads="1"/>
          </p:cNvSpPr>
          <p:nvPr/>
        </p:nvSpPr>
        <p:spPr bwMode="auto">
          <a:xfrm>
            <a:off x="611188" y="1409700"/>
            <a:ext cx="74866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lang="en-US" altLang="zh-CN" sz="3200"/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对象的存储组织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4"/>
          <p:cNvSpPr txBox="1">
            <a:spLocks noChangeArrowheads="1"/>
          </p:cNvSpPr>
          <p:nvPr/>
        </p:nvSpPr>
        <p:spPr bwMode="auto">
          <a:xfrm>
            <a:off x="755650" y="1052513"/>
            <a:ext cx="76327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kumimoji="0" lang="en-US" altLang="zh-CN" sz="3200" b="1">
                <a:solidFill>
                  <a:srgbClr val="800080"/>
                </a:solidFill>
              </a:rPr>
              <a:t>  </a:t>
            </a:r>
            <a:r>
              <a:rPr kumimoji="0" lang="zh-CN" altLang="en-US" sz="3200" b="1">
                <a:solidFill>
                  <a:srgbClr val="800080"/>
                </a:solidFill>
              </a:rPr>
              <a:t>某个单继承</a:t>
            </a:r>
            <a:r>
              <a:rPr kumimoji="0" lang="en-US" altLang="zh-CN" sz="3200">
                <a:solidFill>
                  <a:srgbClr val="800080"/>
                </a:solidFill>
              </a:rPr>
              <a:t>O-O</a:t>
            </a:r>
            <a:r>
              <a:rPr kumimoji="0" lang="zh-CN" altLang="en-US" sz="3200" b="1">
                <a:solidFill>
                  <a:srgbClr val="800080"/>
                </a:solidFill>
              </a:rPr>
              <a:t>语</a:t>
            </a:r>
            <a:r>
              <a:rPr lang="zh-CN" altLang="en-US" sz="3200" b="1">
                <a:solidFill>
                  <a:srgbClr val="800080"/>
                </a:solidFill>
              </a:rPr>
              <a:t>言的对象存储示例</a:t>
            </a:r>
          </a:p>
        </p:txBody>
      </p:sp>
      <p:sp>
        <p:nvSpPr>
          <p:cNvPr id="49155" name="AutoShape 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2677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6" name="AutoShape 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629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7" name="AutoShape 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6581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8" name="AutoShape 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5725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9" name="Text Box 11"/>
          <p:cNvSpPr txBox="1">
            <a:spLocks noChangeArrowheads="1"/>
          </p:cNvSpPr>
          <p:nvPr/>
        </p:nvSpPr>
        <p:spPr bwMode="auto">
          <a:xfrm>
            <a:off x="1208088" y="1700213"/>
            <a:ext cx="6172200" cy="180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1600" b="1">
                <a:ea typeface="宋体" pitchFamily="2" charset="-122"/>
              </a:rPr>
              <a:t> class A { int x; void f (){…} }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1600" b="1">
                <a:ea typeface="宋体" pitchFamily="2" charset="-122"/>
              </a:rPr>
              <a:t> class B extends A {void g(){…} }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1600" b="1">
                <a:ea typeface="宋体" pitchFamily="2" charset="-122"/>
              </a:rPr>
              <a:t> class C entends B {void g(){…} }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1600" b="1">
                <a:ea typeface="宋体" pitchFamily="2" charset="-122"/>
              </a:rPr>
              <a:t> class D extends C{bool y; void f (){…}}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1600" b="1">
                <a:ea typeface="宋体" pitchFamily="2" charset="-122"/>
              </a:rPr>
              <a:t> class A a; class B b; class C c; class D d1,d2;</a:t>
            </a:r>
          </a:p>
        </p:txBody>
      </p:sp>
      <p:sp>
        <p:nvSpPr>
          <p:cNvPr id="49160" name="Text Box 12"/>
          <p:cNvSpPr txBox="1">
            <a:spLocks noChangeArrowheads="1"/>
          </p:cNvSpPr>
          <p:nvPr/>
        </p:nvSpPr>
        <p:spPr bwMode="auto">
          <a:xfrm>
            <a:off x="4587875" y="4392613"/>
            <a:ext cx="914400" cy="346075"/>
          </a:xfrm>
          <a:prstGeom prst="rect">
            <a:avLst/>
          </a:prstGeom>
          <a:noFill/>
          <a:ln w="9525" algn="ctr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sz="1600" b="1"/>
              <a:t>x</a:t>
            </a:r>
          </a:p>
        </p:txBody>
      </p:sp>
      <p:sp>
        <p:nvSpPr>
          <p:cNvPr id="49161" name="Text Box 13"/>
          <p:cNvSpPr txBox="1">
            <a:spLocks noChangeArrowheads="1"/>
          </p:cNvSpPr>
          <p:nvPr/>
        </p:nvSpPr>
        <p:spPr bwMode="auto">
          <a:xfrm>
            <a:off x="4587875" y="4046538"/>
            <a:ext cx="914400" cy="346075"/>
          </a:xfrm>
          <a:prstGeom prst="rect">
            <a:avLst/>
          </a:prstGeom>
          <a:noFill/>
          <a:ln w="9525" algn="ctr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zh-CN" altLang="zh-CN" sz="1600" b="1"/>
          </a:p>
        </p:txBody>
      </p:sp>
      <p:sp>
        <p:nvSpPr>
          <p:cNvPr id="49162" name="Text Box 14"/>
          <p:cNvSpPr txBox="1">
            <a:spLocks noChangeArrowheads="1"/>
          </p:cNvSpPr>
          <p:nvPr/>
        </p:nvSpPr>
        <p:spPr bwMode="auto">
          <a:xfrm>
            <a:off x="6035675" y="4392613"/>
            <a:ext cx="914400" cy="346075"/>
          </a:xfrm>
          <a:prstGeom prst="rect">
            <a:avLst/>
          </a:prstGeom>
          <a:noFill/>
          <a:ln w="9525" algn="ctr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sz="1600" b="1"/>
              <a:t>x</a:t>
            </a:r>
          </a:p>
        </p:txBody>
      </p:sp>
      <p:sp>
        <p:nvSpPr>
          <p:cNvPr id="49163" name="Text Box 15"/>
          <p:cNvSpPr txBox="1">
            <a:spLocks noChangeArrowheads="1"/>
          </p:cNvSpPr>
          <p:nvPr/>
        </p:nvSpPr>
        <p:spPr bwMode="auto">
          <a:xfrm>
            <a:off x="6035675" y="4046538"/>
            <a:ext cx="914400" cy="346075"/>
          </a:xfrm>
          <a:prstGeom prst="rect">
            <a:avLst/>
          </a:prstGeom>
          <a:noFill/>
          <a:ln w="9525" algn="ctr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zh-CN" altLang="zh-CN" sz="1600" b="1"/>
          </a:p>
        </p:txBody>
      </p:sp>
      <p:sp>
        <p:nvSpPr>
          <p:cNvPr id="49164" name="Text Box 16"/>
          <p:cNvSpPr txBox="1">
            <a:spLocks noChangeArrowheads="1"/>
          </p:cNvSpPr>
          <p:nvPr/>
        </p:nvSpPr>
        <p:spPr bwMode="auto">
          <a:xfrm>
            <a:off x="6035675" y="4748213"/>
            <a:ext cx="914400" cy="346075"/>
          </a:xfrm>
          <a:prstGeom prst="rect">
            <a:avLst/>
          </a:prstGeom>
          <a:noFill/>
          <a:ln w="9525" algn="ctr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sz="1600" b="1"/>
              <a:t>y</a:t>
            </a:r>
          </a:p>
        </p:txBody>
      </p:sp>
      <p:sp>
        <p:nvSpPr>
          <p:cNvPr id="49165" name="Text Box 17"/>
          <p:cNvSpPr txBox="1">
            <a:spLocks noChangeArrowheads="1"/>
          </p:cNvSpPr>
          <p:nvPr/>
        </p:nvSpPr>
        <p:spPr bwMode="auto">
          <a:xfrm>
            <a:off x="4587875" y="3748088"/>
            <a:ext cx="9144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zh-CN" altLang="en-US" sz="1600" b="1">
                <a:solidFill>
                  <a:srgbClr val="800080"/>
                </a:solidFill>
              </a:rPr>
              <a:t>对象</a:t>
            </a:r>
            <a:r>
              <a:rPr lang="en-US" altLang="zh-CN" sz="1600" b="1">
                <a:solidFill>
                  <a:srgbClr val="800080"/>
                </a:solidFill>
              </a:rPr>
              <a:t>c</a:t>
            </a:r>
          </a:p>
        </p:txBody>
      </p:sp>
      <p:sp>
        <p:nvSpPr>
          <p:cNvPr id="49166" name="Text Box 18"/>
          <p:cNvSpPr txBox="1">
            <a:spLocks noChangeArrowheads="1"/>
          </p:cNvSpPr>
          <p:nvPr/>
        </p:nvSpPr>
        <p:spPr bwMode="auto">
          <a:xfrm>
            <a:off x="6035675" y="3716338"/>
            <a:ext cx="9144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zh-CN" altLang="en-US" sz="1600" b="1">
                <a:solidFill>
                  <a:srgbClr val="800080"/>
                </a:solidFill>
              </a:rPr>
              <a:t>对象</a:t>
            </a:r>
            <a:r>
              <a:rPr lang="en-US" altLang="zh-CN" sz="1600" b="1">
                <a:solidFill>
                  <a:srgbClr val="800080"/>
                </a:solidFill>
              </a:rPr>
              <a:t>d1</a:t>
            </a:r>
          </a:p>
        </p:txBody>
      </p:sp>
      <p:sp>
        <p:nvSpPr>
          <p:cNvPr id="49167" name="Text Box 19"/>
          <p:cNvSpPr txBox="1">
            <a:spLocks noChangeArrowheads="1"/>
          </p:cNvSpPr>
          <p:nvPr/>
        </p:nvSpPr>
        <p:spPr bwMode="auto">
          <a:xfrm>
            <a:off x="7483475" y="3748088"/>
            <a:ext cx="9144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zh-CN" altLang="en-US" sz="1600" b="1">
                <a:solidFill>
                  <a:srgbClr val="800080"/>
                </a:solidFill>
              </a:rPr>
              <a:t>对象</a:t>
            </a:r>
            <a:r>
              <a:rPr lang="en-US" altLang="zh-CN" sz="1600" b="1">
                <a:solidFill>
                  <a:srgbClr val="800080"/>
                </a:solidFill>
              </a:rPr>
              <a:t>d2</a:t>
            </a:r>
          </a:p>
        </p:txBody>
      </p:sp>
      <p:sp>
        <p:nvSpPr>
          <p:cNvPr id="49168" name="Text Box 20"/>
          <p:cNvSpPr txBox="1">
            <a:spLocks noChangeArrowheads="1"/>
          </p:cNvSpPr>
          <p:nvPr/>
        </p:nvSpPr>
        <p:spPr bwMode="auto">
          <a:xfrm>
            <a:off x="7483475" y="4398963"/>
            <a:ext cx="914400" cy="346075"/>
          </a:xfrm>
          <a:prstGeom prst="rect">
            <a:avLst/>
          </a:prstGeom>
          <a:noFill/>
          <a:ln w="9525" algn="ctr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sz="1600" b="1"/>
              <a:t>x</a:t>
            </a:r>
          </a:p>
        </p:txBody>
      </p:sp>
      <p:sp>
        <p:nvSpPr>
          <p:cNvPr id="49169" name="Text Box 21"/>
          <p:cNvSpPr txBox="1">
            <a:spLocks noChangeArrowheads="1"/>
          </p:cNvSpPr>
          <p:nvPr/>
        </p:nvSpPr>
        <p:spPr bwMode="auto">
          <a:xfrm>
            <a:off x="7483475" y="4052888"/>
            <a:ext cx="914400" cy="346075"/>
          </a:xfrm>
          <a:prstGeom prst="rect">
            <a:avLst/>
          </a:prstGeom>
          <a:noFill/>
          <a:ln w="9525" algn="ctr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zh-CN" altLang="zh-CN" sz="1600" b="1"/>
          </a:p>
        </p:txBody>
      </p:sp>
      <p:sp>
        <p:nvSpPr>
          <p:cNvPr id="49170" name="Text Box 22"/>
          <p:cNvSpPr txBox="1">
            <a:spLocks noChangeArrowheads="1"/>
          </p:cNvSpPr>
          <p:nvPr/>
        </p:nvSpPr>
        <p:spPr bwMode="auto">
          <a:xfrm>
            <a:off x="7483475" y="4738688"/>
            <a:ext cx="914400" cy="346075"/>
          </a:xfrm>
          <a:prstGeom prst="rect">
            <a:avLst/>
          </a:prstGeom>
          <a:noFill/>
          <a:ln w="9525" algn="ctr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sz="1600" b="1"/>
              <a:t>y</a:t>
            </a:r>
          </a:p>
        </p:txBody>
      </p:sp>
      <p:sp>
        <p:nvSpPr>
          <p:cNvPr id="49171" name="Text Box 23"/>
          <p:cNvSpPr txBox="1">
            <a:spLocks noChangeArrowheads="1"/>
          </p:cNvSpPr>
          <p:nvPr/>
        </p:nvSpPr>
        <p:spPr bwMode="auto">
          <a:xfrm>
            <a:off x="3216275" y="4392613"/>
            <a:ext cx="914400" cy="346075"/>
          </a:xfrm>
          <a:prstGeom prst="rect">
            <a:avLst/>
          </a:prstGeom>
          <a:noFill/>
          <a:ln w="9525" algn="ctr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sz="1600" b="1"/>
              <a:t>x</a:t>
            </a:r>
          </a:p>
        </p:txBody>
      </p:sp>
      <p:sp>
        <p:nvSpPr>
          <p:cNvPr id="49172" name="Text Box 24"/>
          <p:cNvSpPr txBox="1">
            <a:spLocks noChangeArrowheads="1"/>
          </p:cNvSpPr>
          <p:nvPr/>
        </p:nvSpPr>
        <p:spPr bwMode="auto">
          <a:xfrm>
            <a:off x="3216275" y="4046538"/>
            <a:ext cx="914400" cy="346075"/>
          </a:xfrm>
          <a:prstGeom prst="rect">
            <a:avLst/>
          </a:prstGeom>
          <a:noFill/>
          <a:ln w="9525" algn="ctr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zh-CN" altLang="zh-CN" sz="1600" b="1"/>
          </a:p>
        </p:txBody>
      </p:sp>
      <p:sp>
        <p:nvSpPr>
          <p:cNvPr id="49173" name="Text Box 25"/>
          <p:cNvSpPr txBox="1">
            <a:spLocks noChangeArrowheads="1"/>
          </p:cNvSpPr>
          <p:nvPr/>
        </p:nvSpPr>
        <p:spPr bwMode="auto">
          <a:xfrm>
            <a:off x="3216275" y="3748088"/>
            <a:ext cx="9144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zh-CN" altLang="en-US" sz="1600" b="1">
                <a:solidFill>
                  <a:srgbClr val="800080"/>
                </a:solidFill>
              </a:rPr>
              <a:t>对象</a:t>
            </a:r>
            <a:r>
              <a:rPr lang="en-US" altLang="zh-CN" sz="1600" b="1">
                <a:solidFill>
                  <a:srgbClr val="800080"/>
                </a:solidFill>
              </a:rPr>
              <a:t>b</a:t>
            </a:r>
          </a:p>
        </p:txBody>
      </p:sp>
      <p:sp>
        <p:nvSpPr>
          <p:cNvPr id="49174" name="Text Box 26"/>
          <p:cNvSpPr txBox="1">
            <a:spLocks noChangeArrowheads="1"/>
          </p:cNvSpPr>
          <p:nvPr/>
        </p:nvSpPr>
        <p:spPr bwMode="auto">
          <a:xfrm>
            <a:off x="1844675" y="4392613"/>
            <a:ext cx="914400" cy="346075"/>
          </a:xfrm>
          <a:prstGeom prst="rect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sz="1600" b="1"/>
              <a:t>x</a:t>
            </a:r>
          </a:p>
        </p:txBody>
      </p:sp>
      <p:sp>
        <p:nvSpPr>
          <p:cNvPr id="49175" name="Text Box 27"/>
          <p:cNvSpPr txBox="1">
            <a:spLocks noChangeArrowheads="1"/>
          </p:cNvSpPr>
          <p:nvPr/>
        </p:nvSpPr>
        <p:spPr bwMode="auto">
          <a:xfrm>
            <a:off x="1844675" y="4046538"/>
            <a:ext cx="914400" cy="346075"/>
          </a:xfrm>
          <a:prstGeom prst="rect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zh-CN" altLang="zh-CN" sz="1600" b="1"/>
          </a:p>
        </p:txBody>
      </p:sp>
      <p:sp>
        <p:nvSpPr>
          <p:cNvPr id="49176" name="Text Box 28"/>
          <p:cNvSpPr txBox="1">
            <a:spLocks noChangeArrowheads="1"/>
          </p:cNvSpPr>
          <p:nvPr/>
        </p:nvSpPr>
        <p:spPr bwMode="auto">
          <a:xfrm>
            <a:off x="1844675" y="3748088"/>
            <a:ext cx="914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zh-CN" altLang="en-US" sz="1600" b="1">
                <a:solidFill>
                  <a:srgbClr val="800080"/>
                </a:solidFill>
              </a:rPr>
              <a:t>对象</a:t>
            </a:r>
            <a:r>
              <a:rPr lang="en-US" altLang="zh-CN" sz="1600" b="1">
                <a:solidFill>
                  <a:srgbClr val="800080"/>
                </a:solidFill>
              </a:rPr>
              <a:t>a</a:t>
            </a:r>
          </a:p>
        </p:txBody>
      </p:sp>
      <p:sp>
        <p:nvSpPr>
          <p:cNvPr id="49177" name="Text Box 29"/>
          <p:cNvSpPr txBox="1">
            <a:spLocks noChangeArrowheads="1"/>
          </p:cNvSpPr>
          <p:nvPr/>
        </p:nvSpPr>
        <p:spPr bwMode="auto">
          <a:xfrm>
            <a:off x="1844675" y="5497513"/>
            <a:ext cx="914400" cy="346075"/>
          </a:xfrm>
          <a:prstGeom prst="rect">
            <a:avLst/>
          </a:prstGeom>
          <a:noFill/>
          <a:ln w="9525" algn="ctr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sz="1600" b="1"/>
              <a:t>A_f</a:t>
            </a:r>
          </a:p>
        </p:txBody>
      </p:sp>
      <p:sp>
        <p:nvSpPr>
          <p:cNvPr id="49178" name="Text Box 30"/>
          <p:cNvSpPr txBox="1">
            <a:spLocks noChangeArrowheads="1"/>
          </p:cNvSpPr>
          <p:nvPr/>
        </p:nvSpPr>
        <p:spPr bwMode="auto">
          <a:xfrm>
            <a:off x="1844675" y="5199063"/>
            <a:ext cx="9144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zh-CN" altLang="en-US" sz="1600" b="1">
                <a:solidFill>
                  <a:srgbClr val="800080"/>
                </a:solidFill>
              </a:rPr>
              <a:t>类</a:t>
            </a:r>
            <a:r>
              <a:rPr lang="en-US" altLang="zh-CN" sz="1600" b="1">
                <a:solidFill>
                  <a:srgbClr val="800080"/>
                </a:solidFill>
              </a:rPr>
              <a:t>A</a:t>
            </a:r>
          </a:p>
        </p:txBody>
      </p:sp>
      <p:sp>
        <p:nvSpPr>
          <p:cNvPr id="49179" name="Text Box 31"/>
          <p:cNvSpPr txBox="1">
            <a:spLocks noChangeArrowheads="1"/>
          </p:cNvSpPr>
          <p:nvPr/>
        </p:nvSpPr>
        <p:spPr bwMode="auto">
          <a:xfrm>
            <a:off x="3216275" y="5843588"/>
            <a:ext cx="914400" cy="346075"/>
          </a:xfrm>
          <a:prstGeom prst="rect">
            <a:avLst/>
          </a:prstGeom>
          <a:noFill/>
          <a:ln w="9525" algn="ctr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sz="1600" b="1"/>
              <a:t>B_g</a:t>
            </a:r>
          </a:p>
        </p:txBody>
      </p:sp>
      <p:sp>
        <p:nvSpPr>
          <p:cNvPr id="49180" name="Text Box 32"/>
          <p:cNvSpPr txBox="1">
            <a:spLocks noChangeArrowheads="1"/>
          </p:cNvSpPr>
          <p:nvPr/>
        </p:nvSpPr>
        <p:spPr bwMode="auto">
          <a:xfrm>
            <a:off x="3216275" y="5497513"/>
            <a:ext cx="914400" cy="346075"/>
          </a:xfrm>
          <a:prstGeom prst="rect">
            <a:avLst/>
          </a:prstGeom>
          <a:noFill/>
          <a:ln w="9525" algn="ctr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sz="1600" b="1"/>
              <a:t>A_f</a:t>
            </a:r>
          </a:p>
        </p:txBody>
      </p:sp>
      <p:sp>
        <p:nvSpPr>
          <p:cNvPr id="49181" name="Text Box 33"/>
          <p:cNvSpPr txBox="1">
            <a:spLocks noChangeArrowheads="1"/>
          </p:cNvSpPr>
          <p:nvPr/>
        </p:nvSpPr>
        <p:spPr bwMode="auto">
          <a:xfrm>
            <a:off x="3216275" y="5199063"/>
            <a:ext cx="9144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zh-CN" altLang="en-US" sz="1600" b="1">
                <a:solidFill>
                  <a:srgbClr val="800080"/>
                </a:solidFill>
              </a:rPr>
              <a:t>类</a:t>
            </a:r>
            <a:r>
              <a:rPr lang="en-US" altLang="zh-CN" sz="1600" b="1">
                <a:solidFill>
                  <a:srgbClr val="800080"/>
                </a:solidFill>
              </a:rPr>
              <a:t>B</a:t>
            </a:r>
          </a:p>
        </p:txBody>
      </p:sp>
      <p:sp>
        <p:nvSpPr>
          <p:cNvPr id="49182" name="Text Box 34"/>
          <p:cNvSpPr txBox="1">
            <a:spLocks noChangeArrowheads="1"/>
          </p:cNvSpPr>
          <p:nvPr/>
        </p:nvSpPr>
        <p:spPr bwMode="auto">
          <a:xfrm>
            <a:off x="4587875" y="5843588"/>
            <a:ext cx="914400" cy="346075"/>
          </a:xfrm>
          <a:prstGeom prst="rect">
            <a:avLst/>
          </a:prstGeom>
          <a:noFill/>
          <a:ln w="9525" algn="ctr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sz="1600" b="1"/>
              <a:t>C_g</a:t>
            </a:r>
          </a:p>
        </p:txBody>
      </p:sp>
      <p:sp>
        <p:nvSpPr>
          <p:cNvPr id="49183" name="Text Box 35"/>
          <p:cNvSpPr txBox="1">
            <a:spLocks noChangeArrowheads="1"/>
          </p:cNvSpPr>
          <p:nvPr/>
        </p:nvSpPr>
        <p:spPr bwMode="auto">
          <a:xfrm>
            <a:off x="4587875" y="5497513"/>
            <a:ext cx="914400" cy="346075"/>
          </a:xfrm>
          <a:prstGeom prst="rect">
            <a:avLst/>
          </a:prstGeom>
          <a:noFill/>
          <a:ln w="9525" algn="ctr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sz="1600" b="1"/>
              <a:t>A_f</a:t>
            </a:r>
          </a:p>
        </p:txBody>
      </p:sp>
      <p:sp>
        <p:nvSpPr>
          <p:cNvPr id="49184" name="Text Box 36"/>
          <p:cNvSpPr txBox="1">
            <a:spLocks noChangeArrowheads="1"/>
          </p:cNvSpPr>
          <p:nvPr/>
        </p:nvSpPr>
        <p:spPr bwMode="auto">
          <a:xfrm>
            <a:off x="4587875" y="5199063"/>
            <a:ext cx="9144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zh-CN" altLang="en-US" sz="1600" b="1">
                <a:solidFill>
                  <a:srgbClr val="800080"/>
                </a:solidFill>
              </a:rPr>
              <a:t>类</a:t>
            </a:r>
            <a:r>
              <a:rPr lang="en-US" altLang="zh-CN" sz="1600" b="1">
                <a:solidFill>
                  <a:srgbClr val="800080"/>
                </a:solidFill>
              </a:rPr>
              <a:t>C</a:t>
            </a:r>
          </a:p>
        </p:txBody>
      </p:sp>
      <p:sp>
        <p:nvSpPr>
          <p:cNvPr id="49185" name="Text Box 37"/>
          <p:cNvSpPr txBox="1">
            <a:spLocks noChangeArrowheads="1"/>
          </p:cNvSpPr>
          <p:nvPr/>
        </p:nvSpPr>
        <p:spPr bwMode="auto">
          <a:xfrm>
            <a:off x="6721475" y="5843588"/>
            <a:ext cx="914400" cy="346075"/>
          </a:xfrm>
          <a:prstGeom prst="rect">
            <a:avLst/>
          </a:prstGeom>
          <a:noFill/>
          <a:ln w="9525" algn="ctr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sz="1600" b="1"/>
              <a:t>C_g</a:t>
            </a:r>
          </a:p>
        </p:txBody>
      </p:sp>
      <p:sp>
        <p:nvSpPr>
          <p:cNvPr id="49186" name="Text Box 38"/>
          <p:cNvSpPr txBox="1">
            <a:spLocks noChangeArrowheads="1"/>
          </p:cNvSpPr>
          <p:nvPr/>
        </p:nvSpPr>
        <p:spPr bwMode="auto">
          <a:xfrm>
            <a:off x="6721475" y="5497513"/>
            <a:ext cx="914400" cy="346075"/>
          </a:xfrm>
          <a:prstGeom prst="rect">
            <a:avLst/>
          </a:prstGeom>
          <a:noFill/>
          <a:ln w="9525" algn="ctr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sz="1600" b="1"/>
              <a:t>D_f</a:t>
            </a:r>
          </a:p>
        </p:txBody>
      </p:sp>
      <p:sp>
        <p:nvSpPr>
          <p:cNvPr id="49187" name="Text Box 39"/>
          <p:cNvSpPr txBox="1">
            <a:spLocks noChangeArrowheads="1"/>
          </p:cNvSpPr>
          <p:nvPr/>
        </p:nvSpPr>
        <p:spPr bwMode="auto">
          <a:xfrm>
            <a:off x="6721475" y="5199063"/>
            <a:ext cx="9144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zh-CN" altLang="en-US" sz="1600" b="1">
                <a:solidFill>
                  <a:srgbClr val="800080"/>
                </a:solidFill>
              </a:rPr>
              <a:t>类</a:t>
            </a:r>
            <a:r>
              <a:rPr lang="en-US" altLang="zh-CN" sz="1600" b="1">
                <a:solidFill>
                  <a:srgbClr val="800080"/>
                </a:solidFill>
              </a:rPr>
              <a:t>D</a:t>
            </a:r>
          </a:p>
        </p:txBody>
      </p:sp>
      <p:sp>
        <p:nvSpPr>
          <p:cNvPr id="49188" name="Line 40"/>
          <p:cNvSpPr>
            <a:spLocks noChangeShapeType="1"/>
          </p:cNvSpPr>
          <p:nvPr/>
        </p:nvSpPr>
        <p:spPr bwMode="auto">
          <a:xfrm flipH="1">
            <a:off x="1692275" y="4205288"/>
            <a:ext cx="1524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9189" name="Line 41"/>
          <p:cNvSpPr>
            <a:spLocks noChangeShapeType="1"/>
          </p:cNvSpPr>
          <p:nvPr/>
        </p:nvSpPr>
        <p:spPr bwMode="auto">
          <a:xfrm>
            <a:off x="1692275" y="4205288"/>
            <a:ext cx="0" cy="1354137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9190" name="Line 42"/>
          <p:cNvSpPr>
            <a:spLocks noChangeShapeType="1"/>
          </p:cNvSpPr>
          <p:nvPr/>
        </p:nvSpPr>
        <p:spPr bwMode="auto">
          <a:xfrm>
            <a:off x="1692275" y="5589588"/>
            <a:ext cx="1524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9191" name="Line 43"/>
          <p:cNvSpPr>
            <a:spLocks noChangeShapeType="1"/>
          </p:cNvSpPr>
          <p:nvPr/>
        </p:nvSpPr>
        <p:spPr bwMode="auto">
          <a:xfrm flipH="1">
            <a:off x="3063875" y="4281488"/>
            <a:ext cx="1524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9192" name="Line 44"/>
          <p:cNvSpPr>
            <a:spLocks noChangeShapeType="1"/>
          </p:cNvSpPr>
          <p:nvPr/>
        </p:nvSpPr>
        <p:spPr bwMode="auto">
          <a:xfrm>
            <a:off x="3063875" y="4281488"/>
            <a:ext cx="0" cy="1349375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9193" name="Line 45"/>
          <p:cNvSpPr>
            <a:spLocks noChangeShapeType="1"/>
          </p:cNvSpPr>
          <p:nvPr/>
        </p:nvSpPr>
        <p:spPr bwMode="auto">
          <a:xfrm>
            <a:off x="3063875" y="5630863"/>
            <a:ext cx="1524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9194" name="Line 46"/>
          <p:cNvSpPr>
            <a:spLocks noChangeShapeType="1"/>
          </p:cNvSpPr>
          <p:nvPr/>
        </p:nvSpPr>
        <p:spPr bwMode="auto">
          <a:xfrm flipH="1">
            <a:off x="4435475" y="4281488"/>
            <a:ext cx="1524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9195" name="Line 47"/>
          <p:cNvSpPr>
            <a:spLocks noChangeShapeType="1"/>
          </p:cNvSpPr>
          <p:nvPr/>
        </p:nvSpPr>
        <p:spPr bwMode="auto">
          <a:xfrm>
            <a:off x="4435475" y="4281488"/>
            <a:ext cx="0" cy="1349375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9196" name="Line 48"/>
          <p:cNvSpPr>
            <a:spLocks noChangeShapeType="1"/>
          </p:cNvSpPr>
          <p:nvPr/>
        </p:nvSpPr>
        <p:spPr bwMode="auto">
          <a:xfrm>
            <a:off x="4435475" y="5630863"/>
            <a:ext cx="1524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9197" name="Line 49"/>
          <p:cNvSpPr>
            <a:spLocks noChangeShapeType="1"/>
          </p:cNvSpPr>
          <p:nvPr/>
        </p:nvSpPr>
        <p:spPr bwMode="auto">
          <a:xfrm flipH="1">
            <a:off x="5883275" y="4281488"/>
            <a:ext cx="1524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9198" name="Line 50"/>
          <p:cNvSpPr>
            <a:spLocks noChangeShapeType="1"/>
          </p:cNvSpPr>
          <p:nvPr/>
        </p:nvSpPr>
        <p:spPr bwMode="auto">
          <a:xfrm>
            <a:off x="5883275" y="4281488"/>
            <a:ext cx="0" cy="1349375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9199" name="Line 51"/>
          <p:cNvSpPr>
            <a:spLocks noChangeShapeType="1"/>
          </p:cNvSpPr>
          <p:nvPr/>
        </p:nvSpPr>
        <p:spPr bwMode="auto">
          <a:xfrm>
            <a:off x="5883275" y="5630863"/>
            <a:ext cx="8382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9200" name="Line 52"/>
          <p:cNvSpPr>
            <a:spLocks noChangeShapeType="1"/>
          </p:cNvSpPr>
          <p:nvPr/>
        </p:nvSpPr>
        <p:spPr bwMode="auto">
          <a:xfrm flipH="1">
            <a:off x="8397875" y="4281488"/>
            <a:ext cx="1524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9201" name="Line 53"/>
          <p:cNvSpPr>
            <a:spLocks noChangeShapeType="1"/>
          </p:cNvSpPr>
          <p:nvPr/>
        </p:nvSpPr>
        <p:spPr bwMode="auto">
          <a:xfrm>
            <a:off x="8550275" y="4281488"/>
            <a:ext cx="0" cy="1379537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9202" name="Line 54"/>
          <p:cNvSpPr>
            <a:spLocks noChangeShapeType="1"/>
          </p:cNvSpPr>
          <p:nvPr/>
        </p:nvSpPr>
        <p:spPr bwMode="auto">
          <a:xfrm flipH="1">
            <a:off x="7635875" y="5661025"/>
            <a:ext cx="9144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67703" name="Rectangle 55"/>
          <p:cNvSpPr>
            <a:spLocks noChangeArrowheads="1"/>
          </p:cNvSpPr>
          <p:nvPr/>
        </p:nvSpPr>
        <p:spPr bwMode="auto">
          <a:xfrm>
            <a:off x="827088" y="4248150"/>
            <a:ext cx="649287" cy="1917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b="1"/>
              <a:t>例程索引表</a:t>
            </a:r>
          </a:p>
        </p:txBody>
      </p:sp>
      <p:sp>
        <p:nvSpPr>
          <p:cNvPr id="667704" name="Line 56"/>
          <p:cNvSpPr>
            <a:spLocks noChangeShapeType="1"/>
          </p:cNvSpPr>
          <p:nvPr/>
        </p:nvSpPr>
        <p:spPr bwMode="auto">
          <a:xfrm flipV="1">
            <a:off x="1187450" y="5661025"/>
            <a:ext cx="647700" cy="144463"/>
          </a:xfrm>
          <a:prstGeom prst="line">
            <a:avLst/>
          </a:prstGeom>
          <a:noFill/>
          <a:ln w="9525" cap="rnd">
            <a:solidFill>
              <a:srgbClr val="800080"/>
            </a:solidFill>
            <a:prstDash val="sysDot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67705" name="Line 57"/>
          <p:cNvSpPr>
            <a:spLocks noChangeShapeType="1"/>
          </p:cNvSpPr>
          <p:nvPr/>
        </p:nvSpPr>
        <p:spPr bwMode="auto">
          <a:xfrm flipV="1">
            <a:off x="1258888" y="5734050"/>
            <a:ext cx="1944687" cy="142875"/>
          </a:xfrm>
          <a:prstGeom prst="line">
            <a:avLst/>
          </a:prstGeom>
          <a:noFill/>
          <a:ln w="9525" cap="rnd">
            <a:solidFill>
              <a:srgbClr val="800080"/>
            </a:solidFill>
            <a:prstDash val="sysDot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67706" name="Line 58"/>
          <p:cNvSpPr>
            <a:spLocks noChangeShapeType="1"/>
          </p:cNvSpPr>
          <p:nvPr/>
        </p:nvSpPr>
        <p:spPr bwMode="auto">
          <a:xfrm flipV="1">
            <a:off x="1258888" y="5734050"/>
            <a:ext cx="3313112" cy="214313"/>
          </a:xfrm>
          <a:prstGeom prst="line">
            <a:avLst/>
          </a:prstGeom>
          <a:noFill/>
          <a:ln w="9525" cap="rnd">
            <a:solidFill>
              <a:srgbClr val="800080"/>
            </a:solidFill>
            <a:prstDash val="sysDot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67707" name="Line 59"/>
          <p:cNvSpPr>
            <a:spLocks noChangeShapeType="1"/>
          </p:cNvSpPr>
          <p:nvPr/>
        </p:nvSpPr>
        <p:spPr bwMode="auto">
          <a:xfrm flipV="1">
            <a:off x="1258888" y="5734050"/>
            <a:ext cx="5473700" cy="285750"/>
          </a:xfrm>
          <a:prstGeom prst="line">
            <a:avLst/>
          </a:prstGeom>
          <a:noFill/>
          <a:ln w="9525" cap="rnd">
            <a:solidFill>
              <a:srgbClr val="800080"/>
            </a:solidFill>
            <a:prstDash val="sysDot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208" name="Rectangle 60"/>
          <p:cNvSpPr>
            <a:spLocks noChangeArrowheads="1"/>
          </p:cNvSpPr>
          <p:nvPr/>
        </p:nvSpPr>
        <p:spPr bwMode="auto">
          <a:xfrm>
            <a:off x="679450" y="3692525"/>
            <a:ext cx="579438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kumimoji="0" lang="en-US" altLang="zh-CN" sz="2000"/>
              <a:t>this</a:t>
            </a:r>
            <a:endParaRPr lang="en-US" altLang="zh-CN" sz="2000"/>
          </a:p>
        </p:txBody>
      </p:sp>
      <p:sp>
        <p:nvSpPr>
          <p:cNvPr id="49209" name="Line 62"/>
          <p:cNvSpPr>
            <a:spLocks noChangeShapeType="1"/>
          </p:cNvSpPr>
          <p:nvPr/>
        </p:nvSpPr>
        <p:spPr bwMode="auto">
          <a:xfrm>
            <a:off x="1187450" y="3933825"/>
            <a:ext cx="647700" cy="215900"/>
          </a:xfrm>
          <a:prstGeom prst="line">
            <a:avLst/>
          </a:prstGeom>
          <a:noFill/>
          <a:ln w="19050" cap="rnd">
            <a:solidFill>
              <a:srgbClr val="800080"/>
            </a:solidFill>
            <a:prstDash val="sysDot"/>
            <a:round/>
            <a:headEnd/>
            <a:tailEnd type="stealth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210" name="Rectangle 63"/>
          <p:cNvSpPr>
            <a:spLocks noChangeArrowheads="1"/>
          </p:cNvSpPr>
          <p:nvPr/>
        </p:nvSpPr>
        <p:spPr bwMode="auto">
          <a:xfrm>
            <a:off x="1403350" y="188913"/>
            <a:ext cx="580231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面向对象程序运行时组织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67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67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67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67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67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7703" grpId="0"/>
      <p:bldP spid="667704" grpId="0" animBg="1"/>
      <p:bldP spid="667705" grpId="0" animBg="1"/>
      <p:bldP spid="667706" grpId="0" animBg="1"/>
      <p:bldP spid="66770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4"/>
          <p:cNvSpPr txBox="1">
            <a:spLocks noChangeArrowheads="1"/>
          </p:cNvSpPr>
          <p:nvPr/>
        </p:nvSpPr>
        <p:spPr bwMode="auto">
          <a:xfrm>
            <a:off x="755650" y="1120775"/>
            <a:ext cx="76327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kumimoji="0" lang="en-US" altLang="zh-CN" sz="3200" b="1">
                <a:solidFill>
                  <a:srgbClr val="800080"/>
                </a:solidFill>
              </a:rPr>
              <a:t>  </a:t>
            </a:r>
            <a:r>
              <a:rPr kumimoji="0" lang="zh-CN" altLang="en-US" sz="3200" b="1">
                <a:solidFill>
                  <a:srgbClr val="800080"/>
                </a:solidFill>
              </a:rPr>
              <a:t>某个单继承</a:t>
            </a:r>
            <a:r>
              <a:rPr kumimoji="0" lang="en-US" altLang="zh-CN" sz="3200">
                <a:solidFill>
                  <a:srgbClr val="800080"/>
                </a:solidFill>
              </a:rPr>
              <a:t>O-O</a:t>
            </a:r>
            <a:r>
              <a:rPr kumimoji="0" lang="zh-CN" altLang="en-US" sz="3200" b="1">
                <a:solidFill>
                  <a:srgbClr val="800080"/>
                </a:solidFill>
              </a:rPr>
              <a:t>语</a:t>
            </a:r>
            <a:r>
              <a:rPr lang="zh-CN" altLang="en-US" sz="3200" b="1">
                <a:solidFill>
                  <a:srgbClr val="800080"/>
                </a:solidFill>
              </a:rPr>
              <a:t>言的对象存储示例</a:t>
            </a:r>
          </a:p>
        </p:txBody>
      </p:sp>
      <p:sp>
        <p:nvSpPr>
          <p:cNvPr id="50179" name="AutoShape 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2677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0" name="AutoShape 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629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1" name="AutoShape 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6581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2" name="AutoShape 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5725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3" name="Rectangle 6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65263" y="1844675"/>
            <a:ext cx="4402137" cy="460851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b="1" smtClean="0">
                <a:solidFill>
                  <a:srgbClr val="333399"/>
                </a:solidFill>
              </a:rPr>
              <a:t>string day;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b="1" smtClean="0">
                <a:solidFill>
                  <a:srgbClr val="333399"/>
                </a:solidFill>
              </a:rPr>
              <a:t>class Fruit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b="1" smtClean="0">
                <a:solidFill>
                  <a:srgbClr val="333399"/>
                </a:solidFill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b="1" smtClean="0">
                <a:solidFill>
                  <a:srgbClr val="333399"/>
                </a:solidFill>
              </a:rPr>
              <a:t>   int price;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b="1" smtClean="0">
                <a:solidFill>
                  <a:srgbClr val="333399"/>
                </a:solidFill>
              </a:rPr>
              <a:t>   string name;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b="1" smtClean="0"/>
              <a:t>   </a:t>
            </a:r>
            <a:r>
              <a:rPr lang="en-US" altLang="zh-CN" sz="1600" b="1" smtClean="0">
                <a:solidFill>
                  <a:srgbClr val="FF0000"/>
                </a:solidFill>
              </a:rPr>
              <a:t>void init(int p,string s){price=p; name=s;}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b="1" smtClean="0"/>
              <a:t>   </a:t>
            </a:r>
            <a:r>
              <a:rPr lang="en-US" altLang="zh-CN" sz="1600" b="1" smtClean="0">
                <a:solidFill>
                  <a:srgbClr val="333399"/>
                </a:solidFill>
              </a:rPr>
              <a:t>void print(){ 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b="1" smtClean="0">
                <a:solidFill>
                  <a:srgbClr val="333399"/>
                </a:solidFill>
              </a:rPr>
              <a:t>   Print("On ",day,", the price of ",name,</a:t>
            </a:r>
            <a:br>
              <a:rPr lang="en-US" altLang="zh-CN" sz="1600" b="1" smtClean="0">
                <a:solidFill>
                  <a:srgbClr val="333399"/>
                </a:solidFill>
              </a:rPr>
            </a:br>
            <a:r>
              <a:rPr lang="en-US" altLang="zh-CN" sz="1600" b="1" smtClean="0">
                <a:solidFill>
                  <a:srgbClr val="333399"/>
                </a:solidFill>
              </a:rPr>
              <a:t>" is ",price,"\n");}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b="1" smtClean="0">
                <a:solidFill>
                  <a:srgbClr val="333399"/>
                </a:solidFill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b="1" smtClean="0">
                <a:solidFill>
                  <a:srgbClr val="333399"/>
                </a:solidFill>
              </a:rPr>
              <a:t>class Apple extends Fruit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b="1" smtClean="0">
                <a:solidFill>
                  <a:srgbClr val="333399"/>
                </a:solidFill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b="1" smtClean="0">
                <a:solidFill>
                  <a:srgbClr val="333399"/>
                </a:solidFill>
              </a:rPr>
              <a:t>   string color;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b="1" smtClean="0">
                <a:solidFill>
                  <a:srgbClr val="333399"/>
                </a:solidFill>
              </a:rPr>
              <a:t>   void setcolor(string c){color=c;}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b="1" smtClean="0">
                <a:solidFill>
                  <a:srgbClr val="333399"/>
                </a:solidFill>
              </a:rPr>
              <a:t>   void print(){ 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b="1" smtClean="0">
                <a:solidFill>
                  <a:srgbClr val="333399"/>
                </a:solidFill>
              </a:rPr>
              <a:t>      Print("On ",day,", the price of ",color,</a:t>
            </a:r>
            <a:br>
              <a:rPr lang="en-US" altLang="zh-CN" sz="1600" b="1" smtClean="0">
                <a:solidFill>
                  <a:srgbClr val="333399"/>
                </a:solidFill>
              </a:rPr>
            </a:br>
            <a:r>
              <a:rPr lang="en-US" altLang="zh-CN" sz="1600" b="1" smtClean="0">
                <a:solidFill>
                  <a:srgbClr val="333399"/>
                </a:solidFill>
              </a:rPr>
              <a:t>" ",name," is ", price,"\n");} 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b="1" smtClean="0">
                <a:solidFill>
                  <a:srgbClr val="333399"/>
                </a:solidFill>
              </a:rPr>
              <a:t>}</a:t>
            </a:r>
          </a:p>
        </p:txBody>
      </p:sp>
      <p:sp>
        <p:nvSpPr>
          <p:cNvPr id="50184" name="Rectangle 65"/>
          <p:cNvSpPr>
            <a:spLocks noChangeArrowheads="1"/>
          </p:cNvSpPr>
          <p:nvPr/>
        </p:nvSpPr>
        <p:spPr bwMode="auto">
          <a:xfrm>
            <a:off x="6230938" y="1857375"/>
            <a:ext cx="2733675" cy="229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kumimoji="0" lang="en-US" altLang="zh-CN" sz="1600" b="1">
                <a:ea typeface="宋体" pitchFamily="2" charset="-122"/>
              </a:rPr>
              <a:t>void foo()</a:t>
            </a:r>
          </a:p>
          <a:p>
            <a:pPr>
              <a:buClrTx/>
              <a:buFontTx/>
              <a:buNone/>
            </a:pPr>
            <a:r>
              <a:rPr kumimoji="0" lang="en-US" altLang="zh-CN" sz="1600" b="1">
                <a:ea typeface="宋体" pitchFamily="2" charset="-122"/>
              </a:rPr>
              <a:t>{</a:t>
            </a:r>
          </a:p>
          <a:p>
            <a:pPr>
              <a:buClrTx/>
              <a:buFontTx/>
              <a:buNone/>
            </a:pPr>
            <a:r>
              <a:rPr kumimoji="0" lang="en-US" altLang="zh-CN" sz="1600" b="1">
                <a:ea typeface="宋体" pitchFamily="2" charset="-122"/>
              </a:rPr>
              <a:t>   class Apple a;</a:t>
            </a:r>
          </a:p>
          <a:p>
            <a:pPr>
              <a:buClrTx/>
              <a:buFontTx/>
              <a:buNone/>
            </a:pPr>
            <a:r>
              <a:rPr kumimoji="0" lang="en-US" altLang="zh-CN" sz="1600" b="1">
                <a:ea typeface="宋体" pitchFamily="2" charset="-122"/>
              </a:rPr>
              <a:t>   a=New (Apple);</a:t>
            </a:r>
          </a:p>
          <a:p>
            <a:pPr>
              <a:buClrTx/>
              <a:buFontTx/>
              <a:buNone/>
            </a:pPr>
            <a:r>
              <a:rPr kumimoji="0" lang="en-US" altLang="zh-CN" sz="1600" b="1">
                <a:ea typeface="宋体" pitchFamily="2" charset="-122"/>
              </a:rPr>
              <a:t>   a.setcolor("red");</a:t>
            </a:r>
          </a:p>
          <a:p>
            <a:pPr>
              <a:buClrTx/>
              <a:buFontTx/>
              <a:buNone/>
            </a:pPr>
            <a:r>
              <a:rPr kumimoji="0" lang="en-US" altLang="zh-CN" sz="1600" b="1">
                <a:ea typeface="宋体" pitchFamily="2" charset="-122"/>
              </a:rPr>
              <a:t>   </a:t>
            </a:r>
            <a:r>
              <a:rPr lang="en-US" altLang="zh-CN" sz="1600" b="1">
                <a:solidFill>
                  <a:srgbClr val="FF0000"/>
                </a:solidFill>
                <a:ea typeface="宋体" pitchFamily="2" charset="-122"/>
              </a:rPr>
              <a:t>a.init(100,"apple");</a:t>
            </a:r>
          </a:p>
          <a:p>
            <a:pPr>
              <a:buClrTx/>
              <a:buFontTx/>
              <a:buNone/>
            </a:pPr>
            <a:r>
              <a:rPr kumimoji="0" lang="en-US" altLang="zh-CN" sz="1600" b="1">
                <a:ea typeface="宋体" pitchFamily="2" charset="-122"/>
              </a:rPr>
              <a:t>   day="Tuesday";</a:t>
            </a:r>
          </a:p>
          <a:p>
            <a:pPr>
              <a:buClrTx/>
              <a:buFontTx/>
              <a:buNone/>
            </a:pPr>
            <a:r>
              <a:rPr kumimoji="0" lang="en-US" altLang="zh-CN" sz="1600" b="1">
                <a:ea typeface="宋体" pitchFamily="2" charset="-122"/>
              </a:rPr>
              <a:t>   a.print();</a:t>
            </a:r>
          </a:p>
          <a:p>
            <a:pPr>
              <a:buClrTx/>
              <a:buFontTx/>
              <a:buNone/>
            </a:pPr>
            <a:r>
              <a:rPr kumimoji="0" lang="en-US" altLang="zh-CN" sz="1600" b="1">
                <a:ea typeface="宋体" pitchFamily="2" charset="-122"/>
              </a:rPr>
              <a:t>}</a:t>
            </a:r>
          </a:p>
        </p:txBody>
      </p:sp>
      <p:sp>
        <p:nvSpPr>
          <p:cNvPr id="50185" name="Rectangle 66"/>
          <p:cNvSpPr>
            <a:spLocks noChangeArrowheads="1"/>
          </p:cNvSpPr>
          <p:nvPr/>
        </p:nvSpPr>
        <p:spPr bwMode="auto">
          <a:xfrm>
            <a:off x="1403350" y="188913"/>
            <a:ext cx="580231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面向对象程序运行时组织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4"/>
          <p:cNvSpPr txBox="1">
            <a:spLocks noChangeArrowheads="1"/>
          </p:cNvSpPr>
          <p:nvPr/>
        </p:nvSpPr>
        <p:spPr bwMode="auto">
          <a:xfrm>
            <a:off x="755650" y="1196975"/>
            <a:ext cx="76327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kumimoji="0" lang="en-US" altLang="zh-CN" sz="3200" b="1">
                <a:solidFill>
                  <a:srgbClr val="800080"/>
                </a:solidFill>
              </a:rPr>
              <a:t>  </a:t>
            </a:r>
            <a:r>
              <a:rPr kumimoji="0" lang="zh-CN" altLang="en-US" sz="3200" b="1">
                <a:solidFill>
                  <a:srgbClr val="800080"/>
                </a:solidFill>
              </a:rPr>
              <a:t>某个单继承</a:t>
            </a:r>
            <a:r>
              <a:rPr kumimoji="0" lang="en-US" altLang="zh-CN" sz="3200">
                <a:solidFill>
                  <a:srgbClr val="800080"/>
                </a:solidFill>
              </a:rPr>
              <a:t>O-O</a:t>
            </a:r>
            <a:r>
              <a:rPr kumimoji="0" lang="zh-CN" altLang="en-US" sz="3200" b="1">
                <a:solidFill>
                  <a:srgbClr val="800080"/>
                </a:solidFill>
              </a:rPr>
              <a:t>语</a:t>
            </a:r>
            <a:r>
              <a:rPr lang="zh-CN" altLang="en-US" sz="3200" b="1">
                <a:solidFill>
                  <a:srgbClr val="800080"/>
                </a:solidFill>
              </a:rPr>
              <a:t>言的对象存储示例</a:t>
            </a:r>
          </a:p>
        </p:txBody>
      </p:sp>
      <p:sp>
        <p:nvSpPr>
          <p:cNvPr id="51203" name="AutoShape 13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4" name="AutoShape 13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5" name="AutoShape 13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6" name="AutoShape 13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7" name="Rectangle 138"/>
          <p:cNvSpPr>
            <a:spLocks noChangeArrowheads="1"/>
          </p:cNvSpPr>
          <p:nvPr/>
        </p:nvSpPr>
        <p:spPr bwMode="auto">
          <a:xfrm>
            <a:off x="1403350" y="188913"/>
            <a:ext cx="580231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面向对象程序运行时组织</a:t>
            </a:r>
          </a:p>
        </p:txBody>
      </p:sp>
      <p:graphicFrame>
        <p:nvGraphicFramePr>
          <p:cNvPr id="51208" name="Object 139"/>
          <p:cNvGraphicFramePr>
            <a:graphicFrameLocks noGrp="1" noChangeAspect="1"/>
          </p:cNvGraphicFramePr>
          <p:nvPr>
            <p:ph/>
          </p:nvPr>
        </p:nvGraphicFramePr>
        <p:xfrm>
          <a:off x="1116013" y="2070100"/>
          <a:ext cx="7705725" cy="4187825"/>
        </p:xfrm>
        <a:graphic>
          <a:graphicData uri="http://schemas.openxmlformats.org/presentationml/2006/ole">
            <p:oleObj spid="_x0000_s51208" name="Visio" r:id="rId3" imgW="7572451" imgH="4114800" progId="">
              <p:embed/>
            </p:oleObj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11"/>
          <p:cNvSpPr txBox="1">
            <a:spLocks noChangeArrowheads="1"/>
          </p:cNvSpPr>
          <p:nvPr/>
        </p:nvSpPr>
        <p:spPr bwMode="auto">
          <a:xfrm>
            <a:off x="971550" y="1196975"/>
            <a:ext cx="61182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Times New Roman" pitchFamily="18" charset="0"/>
              </a:rPr>
              <a:t> </a:t>
            </a:r>
            <a:r>
              <a:rPr lang="en-US" altLang="zh-CN" sz="3200"/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其他话题</a:t>
            </a:r>
          </a:p>
        </p:txBody>
      </p:sp>
      <p:sp>
        <p:nvSpPr>
          <p:cNvPr id="52227" name="Rectangle 12"/>
          <p:cNvSpPr>
            <a:spLocks noChangeArrowheads="1"/>
          </p:cNvSpPr>
          <p:nvPr/>
        </p:nvSpPr>
        <p:spPr bwMode="auto">
          <a:xfrm>
            <a:off x="1331913" y="1865313"/>
            <a:ext cx="67691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kumimoji="0" lang="en-US" altLang="zh-CN" sz="2800" b="1">
                <a:solidFill>
                  <a:srgbClr val="800080"/>
                </a:solidFill>
              </a:rPr>
              <a:t>  </a:t>
            </a:r>
            <a:r>
              <a:rPr kumimoji="0" lang="zh-CN" altLang="en-US" sz="2800" b="1">
                <a:solidFill>
                  <a:srgbClr val="800080"/>
                </a:solidFill>
              </a:rPr>
              <a:t>类成员测试</a:t>
            </a:r>
            <a:r>
              <a:rPr lang="zh-CN" altLang="en-US" b="1"/>
              <a:t>（</a:t>
            </a:r>
            <a:r>
              <a:rPr lang="en-US" altLang="zh-CN" i="1"/>
              <a:t>Testing Class Membership</a:t>
            </a:r>
            <a:r>
              <a:rPr lang="en-US" altLang="zh-CN"/>
              <a:t> </a:t>
            </a:r>
            <a:r>
              <a:rPr lang="zh-CN" altLang="en-US" b="1"/>
              <a:t>）</a:t>
            </a:r>
            <a:endParaRPr kumimoji="0" lang="zh-CN" altLang="en-US" sz="2800" b="1">
              <a:solidFill>
                <a:srgbClr val="800080"/>
              </a:solidFill>
            </a:endParaRPr>
          </a:p>
          <a:p>
            <a:pPr>
              <a:buClrTx/>
              <a:buFont typeface="Symbol" pitchFamily="18" charset="2"/>
              <a:buNone/>
            </a:pPr>
            <a:endParaRPr lang="zh-CN" altLang="en-US" sz="1000" b="1">
              <a:solidFill>
                <a:srgbClr val="800080"/>
              </a:solidFill>
              <a:latin typeface="Times New Roman" pitchFamily="18" charset="0"/>
            </a:endParaRPr>
          </a:p>
          <a:p>
            <a:pPr>
              <a:buClrTx/>
              <a:buFont typeface="Symbol" pitchFamily="18" charset="2"/>
              <a:buChar char="-"/>
            </a:pPr>
            <a:r>
              <a:rPr lang="zh-CN" altLang="en-US" sz="2800" b="1">
                <a:solidFill>
                  <a:srgbClr val="800080"/>
                </a:solidFill>
                <a:latin typeface="Times New Roman" pitchFamily="18" charset="0"/>
              </a:rPr>
              <a:t>  </a:t>
            </a:r>
            <a:r>
              <a:rPr kumimoji="0" lang="zh-CN" altLang="en-US" sz="2800" b="1">
                <a:solidFill>
                  <a:srgbClr val="800080"/>
                </a:solidFill>
              </a:rPr>
              <a:t>对象的创建和撤消</a:t>
            </a:r>
          </a:p>
          <a:p>
            <a:pPr>
              <a:buClrTx/>
              <a:buFont typeface="Symbol" pitchFamily="18" charset="2"/>
              <a:buNone/>
            </a:pPr>
            <a:r>
              <a:rPr kumimoji="0" lang="zh-CN" altLang="en-US" sz="1000" b="1"/>
              <a:t>   </a:t>
            </a:r>
            <a:endParaRPr kumimoji="0" lang="zh-CN" altLang="en-US" sz="1000" b="1">
              <a:solidFill>
                <a:schemeClr val="tx1"/>
              </a:solidFill>
            </a:endParaRPr>
          </a:p>
          <a:p>
            <a:pPr lvl="1">
              <a:buFontTx/>
              <a:buChar char="•"/>
            </a:pPr>
            <a:r>
              <a:rPr lang="zh-CN" altLang="en-US" b="1"/>
              <a:t>  </a:t>
            </a:r>
            <a:r>
              <a:rPr lang="zh-CN" altLang="en-US" b="1">
                <a:solidFill>
                  <a:srgbClr val="800080"/>
                </a:solidFill>
              </a:rPr>
              <a:t>构造函数和析构函数 </a:t>
            </a:r>
            <a:r>
              <a:rPr lang="zh-CN" altLang="en-US" b="1"/>
              <a:t>（执行次序）</a:t>
            </a:r>
          </a:p>
          <a:p>
            <a:pPr lvl="1">
              <a:buFontTx/>
              <a:buNone/>
            </a:pPr>
            <a:endParaRPr lang="zh-CN" altLang="en-US" sz="1000" b="1"/>
          </a:p>
          <a:p>
            <a:pPr lvl="1">
              <a:buFontTx/>
              <a:buChar char="•"/>
            </a:pPr>
            <a:r>
              <a:rPr lang="zh-CN" altLang="en-US"/>
              <a:t>  </a:t>
            </a:r>
            <a:r>
              <a:rPr lang="zh-CN" altLang="en-US" b="1">
                <a:solidFill>
                  <a:srgbClr val="800080"/>
                </a:solidFill>
              </a:rPr>
              <a:t>垃圾回收</a:t>
            </a:r>
          </a:p>
          <a:p>
            <a:pPr lvl="1">
              <a:buFontTx/>
              <a:buNone/>
            </a:pPr>
            <a:endParaRPr lang="zh-CN" altLang="en-US" sz="1000" b="1"/>
          </a:p>
          <a:p>
            <a:pPr>
              <a:buClrTx/>
              <a:buFont typeface="Symbol" pitchFamily="18" charset="2"/>
              <a:buChar char="-"/>
            </a:pPr>
            <a:r>
              <a:rPr lang="zh-CN" altLang="en-US" sz="2800">
                <a:solidFill>
                  <a:srgbClr val="990099"/>
                </a:solidFill>
              </a:rPr>
              <a:t>  </a:t>
            </a:r>
            <a:r>
              <a:rPr kumimoji="0" lang="zh-CN" altLang="en-US" sz="2800" b="1">
                <a:solidFill>
                  <a:srgbClr val="990099"/>
                </a:solidFill>
              </a:rPr>
              <a:t>对象的操作</a:t>
            </a:r>
          </a:p>
          <a:p>
            <a:pPr>
              <a:buFont typeface="Wingdings" pitchFamily="2" charset="2"/>
              <a:buNone/>
            </a:pPr>
            <a:endParaRPr kumimoji="0" lang="zh-CN" altLang="en-US" sz="1000" b="1">
              <a:solidFill>
                <a:schemeClr val="tx1"/>
              </a:solidFill>
            </a:endParaRPr>
          </a:p>
          <a:p>
            <a:pPr lvl="1">
              <a:buFontTx/>
              <a:buChar char="•"/>
            </a:pPr>
            <a:r>
              <a:rPr lang="zh-CN" altLang="en-US"/>
              <a:t>  </a:t>
            </a:r>
            <a:r>
              <a:rPr lang="zh-CN" altLang="en-US" b="1">
                <a:solidFill>
                  <a:srgbClr val="800080"/>
                </a:solidFill>
              </a:rPr>
              <a:t>对象的赋值、克隆、比较、持久存储 </a:t>
            </a:r>
            <a:endParaRPr lang="zh-CN" altLang="en-US" b="1"/>
          </a:p>
          <a:p>
            <a:pPr lvl="1">
              <a:buFontTx/>
              <a:buNone/>
            </a:pPr>
            <a:endParaRPr lang="zh-CN" altLang="en-US" sz="1000" b="1"/>
          </a:p>
          <a:p>
            <a:pPr>
              <a:buClrTx/>
              <a:buFont typeface="Symbol" pitchFamily="18" charset="2"/>
              <a:buChar char="-"/>
            </a:pPr>
            <a:r>
              <a:rPr lang="zh-CN" altLang="en-US" sz="2800">
                <a:solidFill>
                  <a:srgbClr val="800080"/>
                </a:solidFill>
              </a:rPr>
              <a:t>  </a:t>
            </a:r>
            <a:r>
              <a:rPr kumimoji="0" lang="zh-CN" altLang="en-US" sz="2800" b="1">
                <a:solidFill>
                  <a:srgbClr val="800080"/>
                </a:solidFill>
              </a:rPr>
              <a:t>多重继承</a:t>
            </a: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>
              <a:buClrTx/>
              <a:buFont typeface="Symbol" pitchFamily="18" charset="2"/>
              <a:buChar char="-"/>
            </a:pPr>
            <a:r>
              <a:rPr kumimoji="0" lang="zh-CN" altLang="en-US" sz="2800" b="1">
                <a:solidFill>
                  <a:srgbClr val="800080"/>
                </a:solidFill>
              </a:rPr>
              <a:t>  例外处理</a:t>
            </a:r>
            <a:r>
              <a:rPr lang="zh-CN" altLang="en-US" b="1"/>
              <a:t>（</a:t>
            </a:r>
            <a:r>
              <a:rPr lang="en-US" altLang="zh-CN" i="1"/>
              <a:t>Exception Handling</a:t>
            </a:r>
            <a:r>
              <a:rPr lang="zh-CN" altLang="en-US" b="1"/>
              <a:t>）</a:t>
            </a:r>
            <a:endParaRPr kumimoji="0" lang="zh-CN" altLang="en-US" sz="2800" b="1">
              <a:solidFill>
                <a:srgbClr val="800080"/>
              </a:solidFill>
            </a:endParaRPr>
          </a:p>
          <a:p>
            <a:pPr>
              <a:buFont typeface="Wingdings" pitchFamily="2" charset="2"/>
              <a:buNone/>
            </a:pPr>
            <a:endParaRPr lang="zh-CN" altLang="en-US" b="1"/>
          </a:p>
          <a:p>
            <a:pPr lvl="1">
              <a:buFontTx/>
              <a:buNone/>
            </a:pPr>
            <a:r>
              <a:rPr lang="zh-CN" altLang="en-US" sz="800" b="1">
                <a:solidFill>
                  <a:srgbClr val="800080"/>
                </a:solidFill>
              </a:rPr>
              <a:t>●●●●●●</a:t>
            </a:r>
          </a:p>
        </p:txBody>
      </p:sp>
      <p:sp>
        <p:nvSpPr>
          <p:cNvPr id="52228" name="Rectangle 18"/>
          <p:cNvSpPr>
            <a:spLocks noChangeArrowheads="1"/>
          </p:cNvSpPr>
          <p:nvPr/>
        </p:nvSpPr>
        <p:spPr bwMode="auto">
          <a:xfrm>
            <a:off x="1403350" y="188913"/>
            <a:ext cx="580231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面向对象程序运行时组织</a:t>
            </a:r>
          </a:p>
        </p:txBody>
      </p:sp>
      <p:sp>
        <p:nvSpPr>
          <p:cNvPr id="52229" name="AutoShape 13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2677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30" name="AutoShape 1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629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31" name="AutoShape 1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6581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32" name="AutoShape 1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5725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9"/>
          <p:cNvSpPr>
            <a:spLocks noChangeArrowheads="1"/>
          </p:cNvSpPr>
          <p:nvPr/>
        </p:nvSpPr>
        <p:spPr bwMode="auto">
          <a:xfrm>
            <a:off x="3352800" y="4479925"/>
            <a:ext cx="28194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4000" b="1" i="1">
                <a:solidFill>
                  <a:schemeClr val="hlink"/>
                </a:solidFill>
                <a:ea typeface="宋体" pitchFamily="2" charset="-122"/>
              </a:rPr>
              <a:t>Thank You</a:t>
            </a:r>
            <a:endParaRPr lang="en-US" altLang="zh-CN" sz="3200" b="1" i="1">
              <a:solidFill>
                <a:schemeClr val="hlink"/>
              </a:solidFill>
              <a:latin typeface="CMR10" charset="0"/>
              <a:ea typeface="宋体" pitchFamily="2" charset="-122"/>
            </a:endParaRPr>
          </a:p>
        </p:txBody>
      </p:sp>
      <p:sp>
        <p:nvSpPr>
          <p:cNvPr id="54276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77" name="AutoShape 1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78" name="AutoShape 1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79" name="AutoShape 1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981200" y="2209800"/>
            <a:ext cx="3886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3200" b="1" i="1" dirty="0">
                <a:solidFill>
                  <a:schemeClr val="hlink"/>
                </a:solidFill>
                <a:ea typeface="宋体" pitchFamily="2" charset="-122"/>
              </a:rPr>
              <a:t>That’s all for today.</a:t>
            </a:r>
            <a:r>
              <a:rPr lang="en-US" altLang="zh-CN" sz="3200" b="1" i="1" dirty="0">
                <a:solidFill>
                  <a:schemeClr val="hlink"/>
                </a:solidFill>
                <a:latin typeface="CMR10" charset="0"/>
                <a:ea typeface="宋体" pitchFamily="2" charset="-122"/>
              </a:rPr>
              <a:t> 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psules">
  <a:themeElements>
    <a:clrScheme name="Capsules 2">
      <a:dk1>
        <a:srgbClr val="003366"/>
      </a:dk1>
      <a:lt1>
        <a:srgbClr val="FFFFFF"/>
      </a:lt1>
      <a:dk2>
        <a:srgbClr val="006666"/>
      </a:dk2>
      <a:lt2>
        <a:srgbClr val="003366"/>
      </a:lt2>
      <a:accent1>
        <a:srgbClr val="99CC99"/>
      </a:accent1>
      <a:accent2>
        <a:srgbClr val="33CCCC"/>
      </a:accent2>
      <a:accent3>
        <a:srgbClr val="FFFFFF"/>
      </a:accent3>
      <a:accent4>
        <a:srgbClr val="002A56"/>
      </a:accent4>
      <a:accent5>
        <a:srgbClr val="CAE2CA"/>
      </a:accent5>
      <a:accent6>
        <a:srgbClr val="2DB9B9"/>
      </a:accent6>
      <a:hlink>
        <a:srgbClr val="666699"/>
      </a:hlink>
      <a:folHlink>
        <a:srgbClr val="CC99FF"/>
      </a:folHlink>
    </a:clrScheme>
    <a:fontScheme name="Capsules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xmlns="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800080"/>
          </a:buClr>
          <a:buSzTx/>
          <a:buFont typeface="Wingdings" pitchFamily="2" charset="2"/>
          <a:buChar char="²"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xmlns="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800080"/>
          </a:buClr>
          <a:buSzTx/>
          <a:buFont typeface="Wingdings" pitchFamily="2" charset="2"/>
          <a:buChar char="²"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Capsules 1">
        <a:dk1>
          <a:srgbClr val="000066"/>
        </a:dk1>
        <a:lt1>
          <a:srgbClr val="FFFFEB"/>
        </a:lt1>
        <a:dk2>
          <a:srgbClr val="336699"/>
        </a:dk2>
        <a:lt2>
          <a:srgbClr val="FFFFEB"/>
        </a:lt2>
        <a:accent1>
          <a:srgbClr val="666699"/>
        </a:accent1>
        <a:accent2>
          <a:srgbClr val="99CCFF"/>
        </a:accent2>
        <a:accent3>
          <a:srgbClr val="ADB8CA"/>
        </a:accent3>
        <a:accent4>
          <a:srgbClr val="DADAC9"/>
        </a:accent4>
        <a:accent5>
          <a:srgbClr val="B8B8CA"/>
        </a:accent5>
        <a:accent6>
          <a:srgbClr val="8AB9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2">
        <a:dk1>
          <a:srgbClr val="003366"/>
        </a:dk1>
        <a:lt1>
          <a:srgbClr val="FFFFFF"/>
        </a:lt1>
        <a:dk2>
          <a:srgbClr val="006666"/>
        </a:dk2>
        <a:lt2>
          <a:srgbClr val="003366"/>
        </a:lt2>
        <a:accent1>
          <a:srgbClr val="99CC99"/>
        </a:accent1>
        <a:accent2>
          <a:srgbClr val="33CCCC"/>
        </a:accent2>
        <a:accent3>
          <a:srgbClr val="FFFFFF"/>
        </a:accent3>
        <a:accent4>
          <a:srgbClr val="002A56"/>
        </a:accent4>
        <a:accent5>
          <a:srgbClr val="CAE2CA"/>
        </a:accent5>
        <a:accent6>
          <a:srgbClr val="2DB9B9"/>
        </a:accent6>
        <a:hlink>
          <a:srgbClr val="666699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33CC"/>
        </a:lt2>
        <a:accent1>
          <a:srgbClr val="FFCC66"/>
        </a:accent1>
        <a:accent2>
          <a:srgbClr val="33CC33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2DB92D"/>
        </a:accent6>
        <a:hlink>
          <a:srgbClr val="9900CC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Designs\Capsules.pot</Template>
  <TotalTime>39654</TotalTime>
  <Words>4682</Words>
  <Application>Microsoft Office PowerPoint</Application>
  <PresentationFormat>全屏显示(4:3)</PresentationFormat>
  <Paragraphs>891</Paragraphs>
  <Slides>51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53" baseType="lpstr">
      <vt:lpstr>Capsules</vt:lpstr>
      <vt:lpstr>Visio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  <vt:lpstr>幻灯片 39</vt:lpstr>
      <vt:lpstr>幻灯片 40</vt:lpstr>
      <vt:lpstr>幻灯片 41</vt:lpstr>
      <vt:lpstr>幻灯片 42</vt:lpstr>
      <vt:lpstr>幻灯片 43</vt:lpstr>
      <vt:lpstr>幻灯片 44</vt:lpstr>
      <vt:lpstr>幻灯片 45</vt:lpstr>
      <vt:lpstr>幻灯片 46</vt:lpstr>
      <vt:lpstr>幻灯片 47</vt:lpstr>
      <vt:lpstr>幻灯片 48</vt:lpstr>
      <vt:lpstr>幻灯片 49</vt:lpstr>
      <vt:lpstr>幻灯片 50</vt:lpstr>
      <vt:lpstr>幻灯片 51</vt:lpstr>
    </vt:vector>
  </TitlesOfParts>
  <Company>wyy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</dc:creator>
  <cp:lastModifiedBy>own00004</cp:lastModifiedBy>
  <cp:revision>1595</cp:revision>
  <dcterms:created xsi:type="dcterms:W3CDTF">2002-02-03T03:17:28Z</dcterms:created>
  <dcterms:modified xsi:type="dcterms:W3CDTF">2020-09-21T02:21:26Z</dcterms:modified>
</cp:coreProperties>
</file>
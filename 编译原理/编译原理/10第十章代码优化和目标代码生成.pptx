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Default Extension="doc" ContentType="application/msword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3"/>
  </p:notesMasterIdLst>
  <p:handoutMasterIdLst>
    <p:handoutMasterId r:id="rId114"/>
  </p:handoutMasterIdLst>
  <p:sldIdLst>
    <p:sldId id="256" r:id="rId2"/>
    <p:sldId id="562" r:id="rId3"/>
    <p:sldId id="732" r:id="rId4"/>
    <p:sldId id="527" r:id="rId5"/>
    <p:sldId id="805" r:id="rId6"/>
    <p:sldId id="806" r:id="rId7"/>
    <p:sldId id="807" r:id="rId8"/>
    <p:sldId id="808" r:id="rId9"/>
    <p:sldId id="809" r:id="rId10"/>
    <p:sldId id="810" r:id="rId11"/>
    <p:sldId id="811" r:id="rId12"/>
    <p:sldId id="812" r:id="rId13"/>
    <p:sldId id="813" r:id="rId14"/>
    <p:sldId id="814" r:id="rId15"/>
    <p:sldId id="815" r:id="rId16"/>
    <p:sldId id="816" r:id="rId17"/>
    <p:sldId id="818" r:id="rId18"/>
    <p:sldId id="819" r:id="rId19"/>
    <p:sldId id="820" r:id="rId20"/>
    <p:sldId id="890" r:id="rId21"/>
    <p:sldId id="893" r:id="rId22"/>
    <p:sldId id="894" r:id="rId23"/>
    <p:sldId id="895" r:id="rId24"/>
    <p:sldId id="896" r:id="rId25"/>
    <p:sldId id="897" r:id="rId26"/>
    <p:sldId id="900" r:id="rId27"/>
    <p:sldId id="898" r:id="rId28"/>
    <p:sldId id="899" r:id="rId29"/>
    <p:sldId id="892" r:id="rId30"/>
    <p:sldId id="817" r:id="rId31"/>
    <p:sldId id="821" r:id="rId32"/>
    <p:sldId id="906" r:id="rId33"/>
    <p:sldId id="822" r:id="rId34"/>
    <p:sldId id="823" r:id="rId35"/>
    <p:sldId id="907" r:id="rId36"/>
    <p:sldId id="908" r:id="rId37"/>
    <p:sldId id="909" r:id="rId38"/>
    <p:sldId id="824" r:id="rId39"/>
    <p:sldId id="831" r:id="rId40"/>
    <p:sldId id="833" r:id="rId41"/>
    <p:sldId id="832" r:id="rId42"/>
    <p:sldId id="834" r:id="rId43"/>
    <p:sldId id="901" r:id="rId44"/>
    <p:sldId id="902" r:id="rId45"/>
    <p:sldId id="903" r:id="rId46"/>
    <p:sldId id="904" r:id="rId47"/>
    <p:sldId id="905" r:id="rId48"/>
    <p:sldId id="846" r:id="rId49"/>
    <p:sldId id="847" r:id="rId50"/>
    <p:sldId id="848" r:id="rId51"/>
    <p:sldId id="849" r:id="rId52"/>
    <p:sldId id="866" r:id="rId53"/>
    <p:sldId id="852" r:id="rId54"/>
    <p:sldId id="851" r:id="rId55"/>
    <p:sldId id="854" r:id="rId56"/>
    <p:sldId id="856" r:id="rId57"/>
    <p:sldId id="857" r:id="rId58"/>
    <p:sldId id="858" r:id="rId59"/>
    <p:sldId id="859" r:id="rId60"/>
    <p:sldId id="860" r:id="rId61"/>
    <p:sldId id="861" r:id="rId62"/>
    <p:sldId id="862" r:id="rId63"/>
    <p:sldId id="863" r:id="rId64"/>
    <p:sldId id="864" r:id="rId65"/>
    <p:sldId id="855" r:id="rId66"/>
    <p:sldId id="865" r:id="rId67"/>
    <p:sldId id="404" r:id="rId68"/>
    <p:sldId id="826" r:id="rId69"/>
    <p:sldId id="827" r:id="rId70"/>
    <p:sldId id="828" r:id="rId71"/>
    <p:sldId id="829" r:id="rId72"/>
    <p:sldId id="830" r:id="rId73"/>
    <p:sldId id="760" r:id="rId74"/>
    <p:sldId id="839" r:id="rId75"/>
    <p:sldId id="840" r:id="rId76"/>
    <p:sldId id="842" r:id="rId77"/>
    <p:sldId id="923" r:id="rId78"/>
    <p:sldId id="841" r:id="rId79"/>
    <p:sldId id="845" r:id="rId80"/>
    <p:sldId id="843" r:id="rId81"/>
    <p:sldId id="867" r:id="rId82"/>
    <p:sldId id="868" r:id="rId83"/>
    <p:sldId id="870" r:id="rId84"/>
    <p:sldId id="869" r:id="rId85"/>
    <p:sldId id="922" r:id="rId86"/>
    <p:sldId id="925" r:id="rId87"/>
    <p:sldId id="844" r:id="rId88"/>
    <p:sldId id="871" r:id="rId89"/>
    <p:sldId id="926" r:id="rId90"/>
    <p:sldId id="872" r:id="rId91"/>
    <p:sldId id="761" r:id="rId92"/>
    <p:sldId id="873" r:id="rId93"/>
    <p:sldId id="874" r:id="rId94"/>
    <p:sldId id="734" r:id="rId95"/>
    <p:sldId id="876" r:id="rId96"/>
    <p:sldId id="875" r:id="rId97"/>
    <p:sldId id="877" r:id="rId98"/>
    <p:sldId id="878" r:id="rId99"/>
    <p:sldId id="879" r:id="rId100"/>
    <p:sldId id="884" r:id="rId101"/>
    <p:sldId id="880" r:id="rId102"/>
    <p:sldId id="881" r:id="rId103"/>
    <p:sldId id="649" r:id="rId104"/>
    <p:sldId id="882" r:id="rId105"/>
    <p:sldId id="883" r:id="rId106"/>
    <p:sldId id="885" r:id="rId107"/>
    <p:sldId id="886" r:id="rId108"/>
    <p:sldId id="887" r:id="rId109"/>
    <p:sldId id="888" r:id="rId110"/>
    <p:sldId id="759" r:id="rId111"/>
    <p:sldId id="277" r:id="rId112"/>
  </p:sldIdLst>
  <p:sldSz cx="9144000" cy="6858000" type="screen4x3"/>
  <p:notesSz cx="6645275" cy="9779000"/>
  <p:defaultTextStyle>
    <a:defPPr>
      <a:defRPr lang="zh-CN"/>
    </a:defPPr>
    <a:lvl1pPr algn="l" rtl="0" fontAlgn="base">
      <a:lnSpc>
        <a:spcPct val="80000"/>
      </a:lnSpc>
      <a:spcBef>
        <a:spcPct val="50000"/>
      </a:spcBef>
      <a:spcAft>
        <a:spcPct val="0"/>
      </a:spcAft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lnSpc>
        <a:spcPct val="80000"/>
      </a:lnSpc>
      <a:spcBef>
        <a:spcPct val="50000"/>
      </a:spcBef>
      <a:spcAft>
        <a:spcPct val="0"/>
      </a:spcAft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lnSpc>
        <a:spcPct val="80000"/>
      </a:lnSpc>
      <a:spcBef>
        <a:spcPct val="50000"/>
      </a:spcBef>
      <a:spcAft>
        <a:spcPct val="0"/>
      </a:spcAft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lnSpc>
        <a:spcPct val="80000"/>
      </a:lnSpc>
      <a:spcBef>
        <a:spcPct val="50000"/>
      </a:spcBef>
      <a:spcAft>
        <a:spcPct val="0"/>
      </a:spcAft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lnSpc>
        <a:spcPct val="80000"/>
      </a:lnSpc>
      <a:spcBef>
        <a:spcPct val="50000"/>
      </a:spcBef>
      <a:spcAft>
        <a:spcPct val="0"/>
      </a:spcAft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rgbClr val="333399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00FF00"/>
    <a:srgbClr val="990099"/>
    <a:srgbClr val="333399"/>
    <a:srgbClr val="008000"/>
    <a:srgbClr val="5F5F5F"/>
    <a:srgbClr val="9900CC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showOutlineIcons="0" horzBarState="maximized">
    <p:restoredLeft sz="11690" autoAdjust="0"/>
    <p:restoredTop sz="98358" autoAdjust="0"/>
  </p:normalViewPr>
  <p:slideViewPr>
    <p:cSldViewPr>
      <p:cViewPr varScale="1">
        <p:scale>
          <a:sx n="120" d="100"/>
          <a:sy n="120" d="100"/>
        </p:scale>
        <p:origin x="-1572" y="-102"/>
      </p:cViewPr>
      <p:guideLst>
        <p:guide orient="horz" pos="4272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638" y="-84"/>
      </p:cViewPr>
      <p:guideLst>
        <p:guide orient="horz" pos="3080"/>
        <p:guide pos="2093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notesMaster" Target="notesMasters/notesMaster1.xml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3" tIns="45702" rIns="91403" bIns="45702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23BE2FC9-F3C9-4459-8392-25DA9AA51E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65163" y="4645025"/>
            <a:ext cx="5314950" cy="440055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5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pic>
        <p:nvPicPr>
          <p:cNvPr id="5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4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pic>
        <p:nvPicPr>
          <p:cNvPr id="4" name="Picture 1" descr="C:\Users\own00004\AppData\Roaming\Tencent\Users\1423813091\QQ\WinTemp\RichOle\E0LYC9`]3BH35I4~U9{J0G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34285" y="0"/>
            <a:ext cx="1609715" cy="44910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tsinghua.edu.cn/chn/index.htm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1476375" cy="6858000"/>
            <a:chOff x="0" y="0"/>
            <a:chExt cx="2016" cy="4320"/>
          </a:xfrm>
        </p:grpSpPr>
        <p:sp>
          <p:nvSpPr>
            <p:cNvPr id="1031" name="Rectangle 1027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E6CCE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" name="Rectangle 1028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E6CCE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7" name="Line 1038"/>
          <p:cNvSpPr>
            <a:spLocks noChangeShapeType="1"/>
          </p:cNvSpPr>
          <p:nvPr/>
        </p:nvSpPr>
        <p:spPr bwMode="auto">
          <a:xfrm>
            <a:off x="1476375" y="981075"/>
            <a:ext cx="7515225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28" name="Picture 1039" descr="清华大学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80288" y="163513"/>
            <a:ext cx="1223962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Text Box 1040"/>
          <p:cNvSpPr txBox="1">
            <a:spLocks noChangeArrowheads="1"/>
          </p:cNvSpPr>
          <p:nvPr/>
        </p:nvSpPr>
        <p:spPr bwMode="auto">
          <a:xfrm>
            <a:off x="7235825" y="476250"/>
            <a:ext cx="1800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>
                <a:solidFill>
                  <a:srgbClr val="990099"/>
                </a:solidFill>
                <a:latin typeface="Comic Sans MS" pitchFamily="66" charset="0"/>
                <a:ea typeface="楷体_GB2312" pitchFamily="49" charset="-122"/>
                <a:cs typeface="Times New Roman" pitchFamily="18" charset="0"/>
              </a:rPr>
              <a:t>《</a:t>
            </a:r>
            <a:r>
              <a:rPr lang="zh-CN" altLang="en-US" sz="2000" b="0">
                <a:solidFill>
                  <a:srgbClr val="990099"/>
                </a:solidFill>
                <a:latin typeface="Comic Sans MS" pitchFamily="66" charset="0"/>
                <a:ea typeface="楷体_GB2312" pitchFamily="49" charset="-122"/>
                <a:cs typeface="Times New Roman" pitchFamily="18" charset="0"/>
              </a:rPr>
              <a:t>编译原理</a:t>
            </a:r>
            <a:r>
              <a:rPr lang="en-US" altLang="zh-CN" sz="2000" b="0">
                <a:solidFill>
                  <a:srgbClr val="990099"/>
                </a:solidFill>
                <a:latin typeface="Comic Sans MS" pitchFamily="66" charset="0"/>
                <a:ea typeface="楷体_GB2312" pitchFamily="49" charset="-122"/>
                <a:cs typeface="Times New Roman" pitchFamily="18" charset="0"/>
              </a:rPr>
              <a:t>》</a:t>
            </a:r>
          </a:p>
        </p:txBody>
      </p:sp>
      <p:sp>
        <p:nvSpPr>
          <p:cNvPr id="1030" name="AutoShape 1041"/>
          <p:cNvSpPr>
            <a:spLocks noChangeArrowheads="1"/>
          </p:cNvSpPr>
          <p:nvPr/>
        </p:nvSpPr>
        <p:spPr bwMode="auto">
          <a:xfrm>
            <a:off x="1116013" y="188913"/>
            <a:ext cx="3311525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lang="zh-CN" altLang="zh-CN" sz="2400" b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>
    <p:wipe dir="r"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1.xml"/><Relationship Id="rId5" Type="http://schemas.openxmlformats.org/officeDocument/2006/relationships/slide" Target="slide48.xml"/><Relationship Id="rId4" Type="http://schemas.openxmlformats.org/officeDocument/2006/relationships/slide" Target="slide6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9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13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1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15.bin"/><Relationship Id="rId4" Type="http://schemas.openxmlformats.org/officeDocument/2006/relationships/slide" Target="slide1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16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1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18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19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oleObject" Target="../embeddings/oleObject20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5" Type="http://schemas.openxmlformats.org/officeDocument/2006/relationships/slide" Target="slide2.xml"/><Relationship Id="rId4" Type="http://schemas.openxmlformats.org/officeDocument/2006/relationships/oleObject" Target="../embeddings/Microsoft_Office_Word_97_-_2003___1.doc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7.xml"/><Relationship Id="rId5" Type="http://schemas.openxmlformats.org/officeDocument/2006/relationships/slide" Target="slide80.xml"/><Relationship Id="rId4" Type="http://schemas.openxmlformats.org/officeDocument/2006/relationships/slide" Target="slide7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5" Type="http://schemas.openxmlformats.org/officeDocument/2006/relationships/slide" Target="slide67.xml"/><Relationship Id="rId4" Type="http://schemas.openxmlformats.org/officeDocument/2006/relationships/oleObject" Target="../embeddings/Microsoft_Office_Word_97_-_2003___2.doc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7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21.bin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3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4" name="Text Box 1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827088" y="1484313"/>
            <a:ext cx="68405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6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目标代码生成及代码优化基础 </a:t>
            </a:r>
          </a:p>
        </p:txBody>
      </p:sp>
      <p:sp>
        <p:nvSpPr>
          <p:cNvPr id="2055" name="Rectangle 18"/>
          <p:cNvSpPr>
            <a:spLocks noChangeArrowheads="1"/>
          </p:cNvSpPr>
          <p:nvPr/>
        </p:nvSpPr>
        <p:spPr bwMode="auto">
          <a:xfrm>
            <a:off x="1479550" y="188913"/>
            <a:ext cx="2300288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4000" dirty="0" smtClean="0">
                <a:solidFill>
                  <a:srgbClr val="800080"/>
                </a:solidFill>
                <a:ea typeface="华文行楷" pitchFamily="2" charset="-122"/>
              </a:rPr>
              <a:t>第十二讲</a:t>
            </a:r>
            <a:endParaRPr lang="zh-CN" altLang="en-US" sz="4000" dirty="0">
              <a:solidFill>
                <a:srgbClr val="800080"/>
              </a:solidFill>
              <a:ea typeface="华文行楷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00113" y="2133600"/>
            <a:ext cx="44434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基本块、流图和循环</a:t>
            </a:r>
          </a:p>
        </p:txBody>
      </p:sp>
      <p:sp>
        <p:nvSpPr>
          <p:cNvPr id="3075" name="Rectangle 11"/>
          <p:cNvSpPr>
            <a:spLocks noChangeArrowheads="1"/>
          </p:cNvSpPr>
          <p:nvPr/>
        </p:nvSpPr>
        <p:spPr bwMode="auto">
          <a:xfrm>
            <a:off x="1155700" y="250825"/>
            <a:ext cx="6153150" cy="5857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目标代码生成及代码优化基础</a:t>
            </a:r>
          </a:p>
        </p:txBody>
      </p:sp>
      <p:sp>
        <p:nvSpPr>
          <p:cNvPr id="3076" name="Text Box 1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900113" y="1447800"/>
            <a:ext cx="7543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二者</a:t>
            </a: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在编译程序中的逻辑位置</a:t>
            </a:r>
          </a:p>
        </p:txBody>
      </p:sp>
      <p:sp>
        <p:nvSpPr>
          <p:cNvPr id="3077" name="AutoShape 1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9" name="AutoShape 1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0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1" name="Text Box 2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923925" y="4184650"/>
            <a:ext cx="5176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目标代码生成技术</a:t>
            </a:r>
          </a:p>
        </p:txBody>
      </p:sp>
      <p:sp>
        <p:nvSpPr>
          <p:cNvPr id="3082" name="Text Box 25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923925" y="3459163"/>
            <a:ext cx="79009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基本块的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en-US" altLang="zh-CN" b="0" i="1" dirty="0">
                <a:solidFill>
                  <a:srgbClr val="800080"/>
                </a:solidFill>
                <a:ea typeface="楷体_GB2312" pitchFamily="49" charset="-122"/>
              </a:rPr>
              <a:t>DAG</a:t>
            </a:r>
            <a:r>
              <a:rPr lang="en-US" altLang="zh-CN" sz="3200" b="0" i="1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表示（局部优化技术）</a:t>
            </a:r>
          </a:p>
        </p:txBody>
      </p:sp>
      <p:sp>
        <p:nvSpPr>
          <p:cNvPr id="3083" name="Text Box 2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923925" y="4830763"/>
            <a:ext cx="5176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代码优化技术</a:t>
            </a:r>
          </a:p>
        </p:txBody>
      </p:sp>
      <p:sp>
        <p:nvSpPr>
          <p:cNvPr id="3084" name="Text Box 27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900113" y="2789238"/>
            <a:ext cx="51006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5"/>
          <p:cNvSpPr txBox="1">
            <a:spLocks noChangeArrowheads="1"/>
          </p:cNvSpPr>
          <p:nvPr/>
        </p:nvSpPr>
        <p:spPr bwMode="auto">
          <a:xfrm>
            <a:off x="762000" y="1096963"/>
            <a:ext cx="6940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二者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在编译程序中的逻辑位置</a:t>
            </a:r>
          </a:p>
        </p:txBody>
      </p:sp>
      <p:sp>
        <p:nvSpPr>
          <p:cNvPr id="4099" name="AutoShape 3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0" name="AutoShape 3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1" name="AutoShape 3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2" name="AutoShape 3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3" name="AutoShape 45"/>
          <p:cNvSpPr>
            <a:spLocks noChangeArrowheads="1"/>
          </p:cNvSpPr>
          <p:nvPr/>
        </p:nvSpPr>
        <p:spPr bwMode="auto">
          <a:xfrm>
            <a:off x="1331913" y="1916113"/>
            <a:ext cx="1152525" cy="360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词法分析</a:t>
            </a:r>
          </a:p>
        </p:txBody>
      </p:sp>
      <p:sp>
        <p:nvSpPr>
          <p:cNvPr id="4104" name="AutoShape 46"/>
          <p:cNvSpPr>
            <a:spLocks noChangeArrowheads="1"/>
          </p:cNvSpPr>
          <p:nvPr/>
        </p:nvSpPr>
        <p:spPr bwMode="auto">
          <a:xfrm>
            <a:off x="2266950" y="2565400"/>
            <a:ext cx="1152525" cy="3603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语法分析</a:t>
            </a:r>
          </a:p>
        </p:txBody>
      </p:sp>
      <p:sp>
        <p:nvSpPr>
          <p:cNvPr id="4105" name="AutoShape 47"/>
          <p:cNvSpPr>
            <a:spLocks noChangeArrowheads="1"/>
          </p:cNvSpPr>
          <p:nvPr/>
        </p:nvSpPr>
        <p:spPr bwMode="auto">
          <a:xfrm>
            <a:off x="3203575" y="3213100"/>
            <a:ext cx="3097213" cy="3603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语义分析和中间代码生成</a:t>
            </a:r>
          </a:p>
        </p:txBody>
      </p:sp>
      <p:sp>
        <p:nvSpPr>
          <p:cNvPr id="4106" name="AutoShape 48"/>
          <p:cNvSpPr>
            <a:spLocks noChangeArrowheads="1"/>
          </p:cNvSpPr>
          <p:nvPr/>
        </p:nvSpPr>
        <p:spPr bwMode="auto">
          <a:xfrm>
            <a:off x="4284663" y="3860800"/>
            <a:ext cx="2649537" cy="3603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机器无关的代码优化</a:t>
            </a:r>
          </a:p>
        </p:txBody>
      </p:sp>
      <p:sp>
        <p:nvSpPr>
          <p:cNvPr id="4107" name="AutoShape 49"/>
          <p:cNvSpPr>
            <a:spLocks noChangeArrowheads="1"/>
          </p:cNvSpPr>
          <p:nvPr/>
        </p:nvSpPr>
        <p:spPr bwMode="auto">
          <a:xfrm>
            <a:off x="6084888" y="5229225"/>
            <a:ext cx="2663825" cy="3603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针对机器的代码优化</a:t>
            </a:r>
          </a:p>
        </p:txBody>
      </p:sp>
      <p:sp>
        <p:nvSpPr>
          <p:cNvPr id="4108" name="AutoShape 50"/>
          <p:cNvSpPr>
            <a:spLocks noChangeArrowheads="1"/>
          </p:cNvSpPr>
          <p:nvPr/>
        </p:nvSpPr>
        <p:spPr bwMode="auto">
          <a:xfrm>
            <a:off x="5219700" y="4508500"/>
            <a:ext cx="2476500" cy="3603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目标代码生成</a:t>
            </a:r>
          </a:p>
        </p:txBody>
      </p:sp>
      <p:grpSp>
        <p:nvGrpSpPr>
          <p:cNvPr id="567347" name="Group 51"/>
          <p:cNvGrpSpPr>
            <a:grpSpLocks/>
          </p:cNvGrpSpPr>
          <p:nvPr/>
        </p:nvGrpSpPr>
        <p:grpSpPr bwMode="auto">
          <a:xfrm>
            <a:off x="468313" y="2276475"/>
            <a:ext cx="1871662" cy="1296988"/>
            <a:chOff x="295" y="1434"/>
            <a:chExt cx="1179" cy="817"/>
          </a:xfrm>
        </p:grpSpPr>
        <p:sp>
          <p:nvSpPr>
            <p:cNvPr id="4143" name="Text Box 52"/>
            <p:cNvSpPr txBox="1">
              <a:spLocks noChangeArrowheads="1"/>
            </p:cNvSpPr>
            <p:nvPr/>
          </p:nvSpPr>
          <p:spPr bwMode="auto">
            <a:xfrm>
              <a:off x="295" y="1616"/>
              <a:ext cx="599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字符流</a:t>
              </a:r>
            </a:p>
          </p:txBody>
        </p:sp>
        <p:sp>
          <p:nvSpPr>
            <p:cNvPr id="4144" name="Text Box 53"/>
            <p:cNvSpPr txBox="1">
              <a:spLocks noChangeArrowheads="1"/>
            </p:cNvSpPr>
            <p:nvPr/>
          </p:nvSpPr>
          <p:spPr bwMode="auto">
            <a:xfrm>
              <a:off x="875" y="2020"/>
              <a:ext cx="599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单词流</a:t>
              </a:r>
            </a:p>
          </p:txBody>
        </p:sp>
        <p:sp>
          <p:nvSpPr>
            <p:cNvPr id="4145" name="Line 54"/>
            <p:cNvSpPr>
              <a:spLocks noChangeShapeType="1"/>
            </p:cNvSpPr>
            <p:nvPr/>
          </p:nvSpPr>
          <p:spPr bwMode="auto">
            <a:xfrm flipV="1">
              <a:off x="612" y="1434"/>
              <a:ext cx="22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6" name="Line 55"/>
            <p:cNvSpPr>
              <a:spLocks noChangeShapeType="1"/>
            </p:cNvSpPr>
            <p:nvPr/>
          </p:nvSpPr>
          <p:spPr bwMode="auto">
            <a:xfrm>
              <a:off x="1066" y="1434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52" name="Group 56"/>
          <p:cNvGrpSpPr>
            <a:grpSpLocks/>
          </p:cNvGrpSpPr>
          <p:nvPr/>
        </p:nvGrpSpPr>
        <p:grpSpPr bwMode="auto">
          <a:xfrm>
            <a:off x="1763713" y="2924175"/>
            <a:ext cx="1584325" cy="1303338"/>
            <a:chOff x="1111" y="1842"/>
            <a:chExt cx="998" cy="821"/>
          </a:xfrm>
        </p:grpSpPr>
        <p:sp>
          <p:nvSpPr>
            <p:cNvPr id="4140" name="Text Box 57"/>
            <p:cNvSpPr txBox="1">
              <a:spLocks noChangeArrowheads="1"/>
            </p:cNvSpPr>
            <p:nvPr/>
          </p:nvSpPr>
          <p:spPr bwMode="auto">
            <a:xfrm>
              <a:off x="1111" y="2432"/>
              <a:ext cx="99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语法分析树</a:t>
              </a:r>
            </a:p>
          </p:txBody>
        </p:sp>
        <p:sp>
          <p:nvSpPr>
            <p:cNvPr id="4141" name="Line 58"/>
            <p:cNvSpPr>
              <a:spLocks noChangeShapeType="1"/>
            </p:cNvSpPr>
            <p:nvPr/>
          </p:nvSpPr>
          <p:spPr bwMode="auto">
            <a:xfrm flipV="1">
              <a:off x="1202" y="1842"/>
              <a:ext cx="22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2" name="Line 59"/>
            <p:cNvSpPr>
              <a:spLocks noChangeShapeType="1"/>
            </p:cNvSpPr>
            <p:nvPr/>
          </p:nvSpPr>
          <p:spPr bwMode="auto">
            <a:xfrm>
              <a:off x="1655" y="1842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56" name="Group 60"/>
          <p:cNvGrpSpPr>
            <a:grpSpLocks/>
          </p:cNvGrpSpPr>
          <p:nvPr/>
        </p:nvGrpSpPr>
        <p:grpSpPr bwMode="auto">
          <a:xfrm>
            <a:off x="2843213" y="3571875"/>
            <a:ext cx="1512887" cy="1304925"/>
            <a:chOff x="1791" y="2250"/>
            <a:chExt cx="953" cy="822"/>
          </a:xfrm>
        </p:grpSpPr>
        <p:sp>
          <p:nvSpPr>
            <p:cNvPr id="4137" name="Text Box 61"/>
            <p:cNvSpPr txBox="1">
              <a:spLocks noChangeArrowheads="1"/>
            </p:cNvSpPr>
            <p:nvPr/>
          </p:nvSpPr>
          <p:spPr bwMode="auto">
            <a:xfrm>
              <a:off x="1973" y="2841"/>
              <a:ext cx="771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中间表示</a:t>
              </a:r>
            </a:p>
          </p:txBody>
        </p:sp>
        <p:sp>
          <p:nvSpPr>
            <p:cNvPr id="4138" name="Line 62"/>
            <p:cNvSpPr>
              <a:spLocks noChangeShapeType="1"/>
            </p:cNvSpPr>
            <p:nvPr/>
          </p:nvSpPr>
          <p:spPr bwMode="auto">
            <a:xfrm flipV="1">
              <a:off x="1791" y="2250"/>
              <a:ext cx="22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9" name="Line 63"/>
            <p:cNvSpPr>
              <a:spLocks noChangeShapeType="1"/>
            </p:cNvSpPr>
            <p:nvPr/>
          </p:nvSpPr>
          <p:spPr bwMode="auto">
            <a:xfrm>
              <a:off x="2290" y="2251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60" name="Group 64"/>
          <p:cNvGrpSpPr>
            <a:grpSpLocks/>
          </p:cNvGrpSpPr>
          <p:nvPr/>
        </p:nvGrpSpPr>
        <p:grpSpPr bwMode="auto">
          <a:xfrm>
            <a:off x="3348038" y="4221163"/>
            <a:ext cx="2087562" cy="1303337"/>
            <a:chOff x="2109" y="2659"/>
            <a:chExt cx="1315" cy="821"/>
          </a:xfrm>
        </p:grpSpPr>
        <p:sp>
          <p:nvSpPr>
            <p:cNvPr id="4134" name="Text Box 65"/>
            <p:cNvSpPr txBox="1">
              <a:spLocks noChangeArrowheads="1"/>
            </p:cNvSpPr>
            <p:nvPr/>
          </p:nvSpPr>
          <p:spPr bwMode="auto">
            <a:xfrm>
              <a:off x="2109" y="3249"/>
              <a:ext cx="1315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优化的中间表示</a:t>
              </a:r>
            </a:p>
          </p:txBody>
        </p:sp>
        <p:sp>
          <p:nvSpPr>
            <p:cNvPr id="4135" name="Line 66"/>
            <p:cNvSpPr>
              <a:spLocks noChangeShapeType="1"/>
            </p:cNvSpPr>
            <p:nvPr/>
          </p:nvSpPr>
          <p:spPr bwMode="auto">
            <a:xfrm flipV="1">
              <a:off x="2472" y="2659"/>
              <a:ext cx="22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6" name="Line 67"/>
            <p:cNvSpPr>
              <a:spLocks noChangeShapeType="1"/>
            </p:cNvSpPr>
            <p:nvPr/>
          </p:nvSpPr>
          <p:spPr bwMode="auto">
            <a:xfrm>
              <a:off x="2880" y="2659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64" name="Group 68"/>
          <p:cNvGrpSpPr>
            <a:grpSpLocks/>
          </p:cNvGrpSpPr>
          <p:nvPr/>
        </p:nvGrpSpPr>
        <p:grpSpPr bwMode="auto">
          <a:xfrm>
            <a:off x="4787900" y="4868863"/>
            <a:ext cx="1223963" cy="1296987"/>
            <a:chOff x="3016" y="3067"/>
            <a:chExt cx="771" cy="817"/>
          </a:xfrm>
        </p:grpSpPr>
        <p:sp>
          <p:nvSpPr>
            <p:cNvPr id="4131" name="Text Box 69"/>
            <p:cNvSpPr txBox="1">
              <a:spLocks noChangeArrowheads="1"/>
            </p:cNvSpPr>
            <p:nvPr/>
          </p:nvSpPr>
          <p:spPr bwMode="auto">
            <a:xfrm>
              <a:off x="3016" y="3653"/>
              <a:ext cx="771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目标代码</a:t>
              </a:r>
            </a:p>
          </p:txBody>
        </p:sp>
        <p:sp>
          <p:nvSpPr>
            <p:cNvPr id="4132" name="Line 70"/>
            <p:cNvSpPr>
              <a:spLocks noChangeShapeType="1"/>
            </p:cNvSpPr>
            <p:nvPr/>
          </p:nvSpPr>
          <p:spPr bwMode="auto">
            <a:xfrm flipV="1">
              <a:off x="3061" y="3067"/>
              <a:ext cx="22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3" name="Line 71"/>
            <p:cNvSpPr>
              <a:spLocks noChangeShapeType="1"/>
            </p:cNvSpPr>
            <p:nvPr/>
          </p:nvSpPr>
          <p:spPr bwMode="auto">
            <a:xfrm>
              <a:off x="3470" y="3067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68" name="Group 72"/>
          <p:cNvGrpSpPr>
            <a:grpSpLocks/>
          </p:cNvGrpSpPr>
          <p:nvPr/>
        </p:nvGrpSpPr>
        <p:grpSpPr bwMode="auto">
          <a:xfrm>
            <a:off x="5724525" y="5516563"/>
            <a:ext cx="3311525" cy="936625"/>
            <a:chOff x="3606" y="3475"/>
            <a:chExt cx="2086" cy="590"/>
          </a:xfrm>
        </p:grpSpPr>
        <p:sp>
          <p:nvSpPr>
            <p:cNvPr id="4128" name="Text Box 73"/>
            <p:cNvSpPr txBox="1">
              <a:spLocks noChangeArrowheads="1"/>
            </p:cNvSpPr>
            <p:nvPr/>
          </p:nvSpPr>
          <p:spPr bwMode="auto">
            <a:xfrm>
              <a:off x="4377" y="3834"/>
              <a:ext cx="1315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优化的目标代码</a:t>
              </a:r>
            </a:p>
          </p:txBody>
        </p:sp>
        <p:sp>
          <p:nvSpPr>
            <p:cNvPr id="4129" name="Line 74"/>
            <p:cNvSpPr>
              <a:spLocks noChangeShapeType="1"/>
            </p:cNvSpPr>
            <p:nvPr/>
          </p:nvSpPr>
          <p:spPr bwMode="auto">
            <a:xfrm flipV="1">
              <a:off x="3606" y="3475"/>
              <a:ext cx="22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0" name="Line 75"/>
            <p:cNvSpPr>
              <a:spLocks noChangeShapeType="1"/>
            </p:cNvSpPr>
            <p:nvPr/>
          </p:nvSpPr>
          <p:spPr bwMode="auto">
            <a:xfrm>
              <a:off x="4876" y="3521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93" name="Group 97"/>
          <p:cNvGrpSpPr>
            <a:grpSpLocks/>
          </p:cNvGrpSpPr>
          <p:nvPr/>
        </p:nvGrpSpPr>
        <p:grpSpPr bwMode="auto">
          <a:xfrm>
            <a:off x="5421313" y="2057400"/>
            <a:ext cx="1589087" cy="1752600"/>
            <a:chOff x="3415" y="1296"/>
            <a:chExt cx="1001" cy="1104"/>
          </a:xfrm>
        </p:grpSpPr>
        <p:sp>
          <p:nvSpPr>
            <p:cNvPr id="4125" name="Text Box 88"/>
            <p:cNvSpPr txBox="1">
              <a:spLocks noChangeArrowheads="1"/>
            </p:cNvSpPr>
            <p:nvPr/>
          </p:nvSpPr>
          <p:spPr bwMode="auto">
            <a:xfrm>
              <a:off x="3456" y="1296"/>
              <a:ext cx="960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从中间表示获取的流图</a:t>
              </a:r>
            </a:p>
          </p:txBody>
        </p:sp>
        <p:sp>
          <p:nvSpPr>
            <p:cNvPr id="4126" name="Line 89"/>
            <p:cNvSpPr>
              <a:spLocks noChangeShapeType="1"/>
            </p:cNvSpPr>
            <p:nvPr/>
          </p:nvSpPr>
          <p:spPr bwMode="auto">
            <a:xfrm flipV="1">
              <a:off x="3415" y="1680"/>
              <a:ext cx="233" cy="33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7" name="Line 90"/>
            <p:cNvSpPr>
              <a:spLocks noChangeShapeType="1"/>
            </p:cNvSpPr>
            <p:nvPr/>
          </p:nvSpPr>
          <p:spPr bwMode="auto">
            <a:xfrm>
              <a:off x="4032" y="1728"/>
              <a:ext cx="0" cy="67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94" name="Group 98"/>
          <p:cNvGrpSpPr>
            <a:grpSpLocks/>
          </p:cNvGrpSpPr>
          <p:nvPr/>
        </p:nvGrpSpPr>
        <p:grpSpPr bwMode="auto">
          <a:xfrm>
            <a:off x="6553200" y="2819400"/>
            <a:ext cx="1524000" cy="1676400"/>
            <a:chOff x="4128" y="1776"/>
            <a:chExt cx="960" cy="1056"/>
          </a:xfrm>
        </p:grpSpPr>
        <p:sp>
          <p:nvSpPr>
            <p:cNvPr id="4122" name="Text Box 91"/>
            <p:cNvSpPr txBox="1">
              <a:spLocks noChangeArrowheads="1"/>
            </p:cNvSpPr>
            <p:nvPr/>
          </p:nvSpPr>
          <p:spPr bwMode="auto">
            <a:xfrm>
              <a:off x="4128" y="1776"/>
              <a:ext cx="9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改进的流图</a:t>
              </a:r>
            </a:p>
          </p:txBody>
        </p:sp>
        <p:sp>
          <p:nvSpPr>
            <p:cNvPr id="4123" name="Line 92"/>
            <p:cNvSpPr>
              <a:spLocks noChangeShapeType="1"/>
            </p:cNvSpPr>
            <p:nvPr/>
          </p:nvSpPr>
          <p:spPr bwMode="auto">
            <a:xfrm flipV="1">
              <a:off x="4224" y="2016"/>
              <a:ext cx="192" cy="43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4" name="Line 93"/>
            <p:cNvSpPr>
              <a:spLocks noChangeShapeType="1"/>
            </p:cNvSpPr>
            <p:nvPr/>
          </p:nvSpPr>
          <p:spPr bwMode="auto">
            <a:xfrm>
              <a:off x="4560" y="2016"/>
              <a:ext cx="0" cy="81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7395" name="Group 99"/>
          <p:cNvGrpSpPr>
            <a:grpSpLocks/>
          </p:cNvGrpSpPr>
          <p:nvPr/>
        </p:nvGrpSpPr>
        <p:grpSpPr bwMode="auto">
          <a:xfrm>
            <a:off x="7543800" y="3351213"/>
            <a:ext cx="1524000" cy="1830387"/>
            <a:chOff x="4752" y="2111"/>
            <a:chExt cx="960" cy="1153"/>
          </a:xfrm>
        </p:grpSpPr>
        <p:sp>
          <p:nvSpPr>
            <p:cNvPr id="4119" name="Text Box 94"/>
            <p:cNvSpPr txBox="1">
              <a:spLocks noChangeArrowheads="1"/>
            </p:cNvSpPr>
            <p:nvPr/>
          </p:nvSpPr>
          <p:spPr bwMode="auto">
            <a:xfrm>
              <a:off x="4752" y="2111"/>
              <a:ext cx="960" cy="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指令调度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寄存器分配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楷体_GB2312" pitchFamily="49" charset="-122"/>
                </a:rPr>
                <a:t>窥孔优化</a:t>
              </a:r>
            </a:p>
          </p:txBody>
        </p:sp>
        <p:sp>
          <p:nvSpPr>
            <p:cNvPr id="4120" name="Line 95"/>
            <p:cNvSpPr>
              <a:spLocks noChangeShapeType="1"/>
            </p:cNvSpPr>
            <p:nvPr/>
          </p:nvSpPr>
          <p:spPr bwMode="auto">
            <a:xfrm>
              <a:off x="5184" y="2736"/>
              <a:ext cx="0" cy="52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1" name="Line 96"/>
            <p:cNvSpPr>
              <a:spLocks noChangeShapeType="1"/>
            </p:cNvSpPr>
            <p:nvPr/>
          </p:nvSpPr>
          <p:spPr bwMode="auto">
            <a:xfrm flipH="1">
              <a:off x="4800" y="2688"/>
              <a:ext cx="144" cy="14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8" name="Rectangle 100"/>
          <p:cNvSpPr>
            <a:spLocks noChangeArrowheads="1"/>
          </p:cNvSpPr>
          <p:nvPr/>
        </p:nvSpPr>
        <p:spPr bwMode="auto">
          <a:xfrm>
            <a:off x="1155700" y="250825"/>
            <a:ext cx="6153150" cy="5857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目标代码生成及代码优化基础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6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6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6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6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2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5123" name="Text Box 4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196975"/>
            <a:ext cx="5176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basic block</a:t>
            </a:r>
            <a:r>
              <a:rPr lang="zh-CN" altLang="en-US" b="0">
                <a:ea typeface="楷体_GB2312" pitchFamily="49" charset="-122"/>
              </a:rPr>
              <a:t>）</a:t>
            </a:r>
          </a:p>
        </p:txBody>
      </p:sp>
      <p:sp>
        <p:nvSpPr>
          <p:cNvPr id="305202" name="Rectangle 50"/>
          <p:cNvSpPr>
            <a:spLocks noChangeArrowheads="1"/>
          </p:cNvSpPr>
          <p:nvPr/>
        </p:nvSpPr>
        <p:spPr bwMode="auto">
          <a:xfrm>
            <a:off x="685800" y="1844675"/>
            <a:ext cx="8458200" cy="472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概念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程序中一个顺序执行的语句序列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只有一个入口语句和一个出口语句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除入口语句外其他语句均不可以带标号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除出口语句外其他语句均不可能是转移或停语句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kumimoji="0" lang="zh-CN" altLang="en-US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入口语句</a:t>
            </a:r>
            <a:endParaRPr kumimoji="0" lang="zh-CN" altLang="en-US" dirty="0">
              <a:solidFill>
                <a:srgbClr val="80008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程序的第一个语句；或者</a:t>
            </a:r>
            <a:endParaRPr kumimoji="0"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条件转移语句或无条件转移语句的转移目标语句；或者</a:t>
            </a:r>
            <a:endParaRPr kumimoji="0"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kumimoji="0" lang="zh-CN" altLang="en-US" sz="1000" dirty="0"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紧跟在条件转移语句后面的语句</a:t>
            </a:r>
          </a:p>
        </p:txBody>
      </p:sp>
      <p:sp>
        <p:nvSpPr>
          <p:cNvPr id="5125" name="AutoShape 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6" name="AutoShape 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7" name="AutoShape 4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" name="AutoShape 4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9" name="AutoShape 4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" name="AutoShape 4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1" name="AutoShape 4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2" name="AutoShape 4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5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052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052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052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6151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5176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划分</a:t>
            </a:r>
            <a:r>
              <a:rPr lang="zh-CN" altLang="en-US" sz="32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基本块的算法</a:t>
            </a:r>
            <a:endParaRPr lang="zh-CN" altLang="en-US" b="0" dirty="0">
              <a:ea typeface="楷体_GB2312" pitchFamily="49" charset="-122"/>
            </a:endParaRPr>
          </a:p>
        </p:txBody>
      </p:sp>
      <p:sp>
        <p:nvSpPr>
          <p:cNvPr id="6152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7180" name="Rectangle 12"/>
          <p:cNvSpPr>
            <a:spLocks noChangeArrowheads="1"/>
          </p:cNvSpPr>
          <p:nvPr/>
        </p:nvSpPr>
        <p:spPr bwMode="auto">
          <a:xfrm>
            <a:off x="685800" y="1981200"/>
            <a:ext cx="8458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针对三地址码</a:t>
            </a:r>
            <a:r>
              <a:rPr lang="zh-CN" altLang="en-US" b="0" dirty="0">
                <a:ea typeface="楷体_GB2312" pitchFamily="49" charset="-122"/>
              </a:rPr>
              <a:t>（</a:t>
            </a:r>
            <a:r>
              <a:rPr lang="en-US" altLang="zh-CN" sz="2400" b="0" dirty="0">
                <a:ea typeface="楷体_GB2312" pitchFamily="49" charset="-122"/>
              </a:rPr>
              <a:t>TAC</a:t>
            </a:r>
            <a:r>
              <a:rPr lang="zh-CN" altLang="en-US" b="0" dirty="0">
                <a:ea typeface="楷体_GB2312" pitchFamily="49" charset="-122"/>
              </a:rPr>
              <a:t>）</a:t>
            </a:r>
            <a:endParaRPr kumimoji="0" lang="zh-CN" altLang="en-US" b="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kumimoji="0" lang="zh-CN" altLang="en-US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步骤</a:t>
            </a:r>
            <a:endParaRPr kumimoji="0" lang="zh-CN" altLang="en-US" dirty="0">
              <a:solidFill>
                <a:srgbClr val="80008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求出 </a:t>
            </a:r>
            <a:r>
              <a:rPr lang="en-US" altLang="zh-CN" sz="2000" b="0" dirty="0">
                <a:ea typeface="楷体_GB2312" pitchFamily="49" charset="-122"/>
              </a:rPr>
              <a:t>TAC </a:t>
            </a:r>
            <a:r>
              <a:rPr lang="zh-CN" altLang="en-US" sz="2400" dirty="0">
                <a:ea typeface="楷体_GB2312" pitchFamily="49" charset="-122"/>
              </a:rPr>
              <a:t>程序之中各个基本块的入口语句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endParaRPr kumimoji="0"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宋体" pitchFamily="2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对每一入口语句，构造其所属的基本块。它是由该语句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到下一入口语句（不包括下一入口语句），或到一转移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语句（包括该转移语句），或到一停语句（包括该停语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句）之间的语句序列组成的</a:t>
            </a:r>
            <a:endParaRPr kumimoji="0"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kumimoji="0" lang="zh-CN" altLang="en-US" sz="1000" dirty="0"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凡未被纳入某一基本块的语句，都是程序中控制流程无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法到达的语句，因而也是不会被执行到的语句，可以把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它们删除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47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47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647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647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647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47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6471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6471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6471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7175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5176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划分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基本块的算法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7176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685800" y="1981200"/>
            <a:ext cx="42672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针对三地址码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sz="2400" b="0">
                <a:ea typeface="楷体_GB2312" pitchFamily="49" charset="-122"/>
              </a:rPr>
              <a:t>TAC</a:t>
            </a:r>
            <a:r>
              <a:rPr lang="zh-CN" altLang="en-US" b="0">
                <a:ea typeface="楷体_GB2312" pitchFamily="49" charset="-122"/>
              </a:rPr>
              <a:t>）</a:t>
            </a:r>
            <a:endParaRPr kumimoji="0" lang="zh-CN" altLang="en-US" b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kumimoji="0" lang="zh-CN" altLang="en-US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  </a:t>
            </a:r>
            <a:r>
              <a:rPr lang="zh-CN" altLang="en-US" sz="2400">
                <a:ea typeface="楷体_GB2312" pitchFamily="49" charset="-122"/>
              </a:rPr>
              <a:t>右边 </a:t>
            </a:r>
            <a:r>
              <a:rPr lang="en-US" altLang="zh-CN" sz="2000" b="0">
                <a:ea typeface="楷体_GB2312" pitchFamily="49" charset="-122"/>
              </a:rPr>
              <a:t>TAC </a:t>
            </a:r>
            <a:r>
              <a:rPr lang="zh-CN" altLang="en-US" sz="2400">
                <a:ea typeface="楷体_GB2312" pitchFamily="49" charset="-122"/>
              </a:rPr>
              <a:t>程序可划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分成 </a:t>
            </a:r>
            <a:r>
              <a:rPr lang="en-US" altLang="zh-CN" sz="2400" b="0">
                <a:ea typeface="楷体_GB2312" pitchFamily="49" charset="-122"/>
              </a:rPr>
              <a:t>4 </a:t>
            </a:r>
            <a:r>
              <a:rPr lang="zh-CN" altLang="en-US" sz="2400">
                <a:ea typeface="楷体_GB2312" pitchFamily="49" charset="-122"/>
              </a:rPr>
              <a:t>个基本块</a:t>
            </a: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5486400" y="1981200"/>
            <a:ext cx="2895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*(1)  read  x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(2</a:t>
            </a:r>
            <a:r>
              <a:rPr lang="en-US" altLang="zh-CN" sz="2400" b="0"/>
              <a:t>)  </a:t>
            </a:r>
            <a:r>
              <a:rPr lang="en-US" altLang="zh-CN" sz="2400" b="0">
                <a:cs typeface="Times New Roman" pitchFamily="18" charset="0"/>
              </a:rPr>
              <a:t>read 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*(3)  r:=x mod 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(4)  if r=0 goto (8)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*(5)  x:=y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(6)  y:=r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(7)  goto(3)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*(8)  write 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(9)  halt</a:t>
            </a:r>
          </a:p>
        </p:txBody>
      </p:sp>
      <p:sp>
        <p:nvSpPr>
          <p:cNvPr id="7182" name="Rectangle 15"/>
          <p:cNvSpPr>
            <a:spLocks noChangeArrowheads="1"/>
          </p:cNvSpPr>
          <p:nvPr/>
        </p:nvSpPr>
        <p:spPr bwMode="auto">
          <a:xfrm>
            <a:off x="1295400" y="4114800"/>
            <a:ext cx="1219200" cy="7112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1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2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</p:txBody>
      </p:sp>
      <p:sp>
        <p:nvSpPr>
          <p:cNvPr id="7183" name="Rectangle 16"/>
          <p:cNvSpPr>
            <a:spLocks noChangeArrowheads="1"/>
          </p:cNvSpPr>
          <p:nvPr/>
        </p:nvSpPr>
        <p:spPr bwMode="auto">
          <a:xfrm>
            <a:off x="3352800" y="4105275"/>
            <a:ext cx="1219200" cy="7112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3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4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</p:txBody>
      </p:sp>
      <p:sp>
        <p:nvSpPr>
          <p:cNvPr id="7184" name="Rectangle 17"/>
          <p:cNvSpPr>
            <a:spLocks noChangeArrowheads="1"/>
          </p:cNvSpPr>
          <p:nvPr/>
        </p:nvSpPr>
        <p:spPr bwMode="auto">
          <a:xfrm>
            <a:off x="1295400" y="5486400"/>
            <a:ext cx="1219200" cy="10160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5</a:t>
            </a:r>
            <a:r>
              <a:rPr lang="zh-CN" altLang="en-US" sz="2000" b="0">
                <a:ea typeface="楷体_GB2312" pitchFamily="49" charset="-122"/>
              </a:rPr>
              <a:t>） （</a:t>
            </a:r>
            <a:r>
              <a:rPr lang="en-US" altLang="zh-CN" sz="2000" b="0">
                <a:ea typeface="楷体_GB2312" pitchFamily="49" charset="-122"/>
              </a:rPr>
              <a:t>6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7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</p:txBody>
      </p:sp>
      <p:sp>
        <p:nvSpPr>
          <p:cNvPr id="7185" name="Rectangle 18"/>
          <p:cNvSpPr>
            <a:spLocks noChangeArrowheads="1"/>
          </p:cNvSpPr>
          <p:nvPr/>
        </p:nvSpPr>
        <p:spPr bwMode="auto">
          <a:xfrm>
            <a:off x="3352800" y="5765800"/>
            <a:ext cx="1219200" cy="7112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8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000" b="0">
                <a:ea typeface="楷体_GB2312" pitchFamily="49" charset="-122"/>
              </a:rPr>
              <a:t>（</a:t>
            </a:r>
            <a:r>
              <a:rPr lang="en-US" altLang="zh-CN" sz="2000" b="0">
                <a:ea typeface="楷体_GB2312" pitchFamily="49" charset="-122"/>
              </a:rPr>
              <a:t>9</a:t>
            </a:r>
            <a:r>
              <a:rPr lang="zh-CN" altLang="en-US" sz="2000" b="0">
                <a:ea typeface="楷体_GB2312" pitchFamily="49" charset="-122"/>
              </a:rPr>
              <a:t>）</a:t>
            </a:r>
          </a:p>
        </p:txBody>
      </p:sp>
      <p:sp>
        <p:nvSpPr>
          <p:cNvPr id="7186" name="Rectangle 19"/>
          <p:cNvSpPr>
            <a:spLocks noChangeArrowheads="1"/>
          </p:cNvSpPr>
          <p:nvPr/>
        </p:nvSpPr>
        <p:spPr bwMode="auto">
          <a:xfrm>
            <a:off x="1333500" y="3749675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</a:rPr>
              <a:t>B1</a:t>
            </a:r>
          </a:p>
        </p:txBody>
      </p:sp>
      <p:sp>
        <p:nvSpPr>
          <p:cNvPr id="7187" name="Rectangle 20"/>
          <p:cNvSpPr>
            <a:spLocks noChangeArrowheads="1"/>
          </p:cNvSpPr>
          <p:nvPr/>
        </p:nvSpPr>
        <p:spPr bwMode="auto">
          <a:xfrm>
            <a:off x="3390900" y="3733800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</a:rPr>
              <a:t>B2</a:t>
            </a:r>
          </a:p>
        </p:txBody>
      </p:sp>
      <p:sp>
        <p:nvSpPr>
          <p:cNvPr id="7188" name="Rectangle 21"/>
          <p:cNvSpPr>
            <a:spLocks noChangeArrowheads="1"/>
          </p:cNvSpPr>
          <p:nvPr/>
        </p:nvSpPr>
        <p:spPr bwMode="auto">
          <a:xfrm>
            <a:off x="1333500" y="5105400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</a:rPr>
              <a:t>B3</a:t>
            </a:r>
          </a:p>
        </p:txBody>
      </p:sp>
      <p:sp>
        <p:nvSpPr>
          <p:cNvPr id="7189" name="Rectangle 22"/>
          <p:cNvSpPr>
            <a:spLocks noChangeArrowheads="1"/>
          </p:cNvSpPr>
          <p:nvPr/>
        </p:nvSpPr>
        <p:spPr bwMode="auto">
          <a:xfrm>
            <a:off x="3390900" y="5394325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</a:rPr>
              <a:t>B4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8199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325563"/>
            <a:ext cx="5176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流图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flow graph</a:t>
            </a:r>
            <a:r>
              <a:rPr lang="zh-CN" altLang="en-US" b="0">
                <a:ea typeface="楷体_GB2312" pitchFamily="49" charset="-122"/>
              </a:rPr>
              <a:t>）</a:t>
            </a:r>
          </a:p>
        </p:txBody>
      </p:sp>
      <p:sp>
        <p:nvSpPr>
          <p:cNvPr id="8200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685800" y="2057400"/>
            <a:ext cx="84582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概念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可以为构成程序的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基本块增加控制流信息，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方法是构造一个有向图，称之为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流图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或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控制流图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zh-CN" altLang="en-US" b="0" dirty="0"/>
              <a:t>（</a:t>
            </a:r>
            <a:r>
              <a:rPr lang="en-US" altLang="zh-CN" b="0" i="1" dirty="0"/>
              <a:t>CFG</a:t>
            </a:r>
            <a:r>
              <a:rPr lang="zh-CN" altLang="en-US" b="0" dirty="0"/>
              <a:t>，</a:t>
            </a:r>
            <a:r>
              <a:rPr lang="en-US" altLang="zh-CN" b="0" i="1" dirty="0"/>
              <a:t>Control-Flow Graph</a:t>
            </a:r>
            <a:r>
              <a:rPr lang="zh-CN" altLang="en-US" b="0" dirty="0"/>
              <a:t>）</a:t>
            </a:r>
            <a:endParaRPr lang="zh-CN" altLang="en-US" dirty="0">
              <a:solidFill>
                <a:srgbClr val="80008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流图以</a:t>
            </a:r>
            <a:r>
              <a:rPr lang="zh-CN" altLang="en-US" dirty="0">
                <a:solidFill>
                  <a:srgbClr val="990099"/>
                </a:solidFill>
                <a:latin typeface="Times New Roman" pitchFamily="18" charset="0"/>
                <a:ea typeface="楷体_GB2312" pitchFamily="49" charset="-122"/>
              </a:rPr>
              <a:t>基本块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集为</a:t>
            </a:r>
            <a:r>
              <a:rPr lang="zh-CN" altLang="en-US" dirty="0">
                <a:solidFill>
                  <a:srgbClr val="990099"/>
                </a:solidFill>
                <a:latin typeface="Times New Roman" pitchFamily="18" charset="0"/>
                <a:ea typeface="楷体_GB2312" pitchFamily="49" charset="-122"/>
              </a:rPr>
              <a:t>结点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集；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第一个结点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为含有程序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第一条语句的基本块；从基本块 </a:t>
            </a:r>
            <a:r>
              <a:rPr lang="en-US" altLang="zh-CN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i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到基本块 </a:t>
            </a:r>
            <a:r>
              <a:rPr lang="en-US" altLang="zh-CN" i="1" dirty="0">
                <a:latin typeface="Times New Roman" pitchFamily="18" charset="0"/>
                <a:ea typeface="楷体_GB2312" pitchFamily="49" charset="-122"/>
              </a:rPr>
              <a:t>j 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之间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存在有向边，当且仅当</a:t>
            </a:r>
            <a:endParaRPr kumimoji="0" lang="zh-CN" altLang="en-US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基本块 </a:t>
            </a:r>
            <a:r>
              <a:rPr lang="en-US" altLang="zh-CN" sz="2400" i="1" dirty="0">
                <a:latin typeface="Times New Roman" pitchFamily="18" charset="0"/>
                <a:ea typeface="楷体_GB2312" pitchFamily="49" charset="-122"/>
              </a:rPr>
              <a:t>j </a:t>
            </a:r>
            <a:r>
              <a:rPr lang="zh-CN" altLang="en-US" sz="2400" dirty="0">
                <a:ea typeface="楷体_GB2312" pitchFamily="49" charset="-122"/>
              </a:rPr>
              <a:t>在程序的位置紧跟在 </a:t>
            </a:r>
            <a:r>
              <a:rPr lang="en-US" altLang="zh-CN" sz="2400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后</a:t>
            </a:r>
            <a:r>
              <a:rPr lang="en-US" altLang="zh-CN" sz="2400" dirty="0">
                <a:ea typeface="楷体_GB2312" pitchFamily="49" charset="-122"/>
              </a:rPr>
              <a:t>,</a:t>
            </a:r>
            <a:r>
              <a:rPr lang="zh-CN" altLang="en-US" sz="2400" dirty="0">
                <a:ea typeface="楷体_GB2312" pitchFamily="49" charset="-122"/>
              </a:rPr>
              <a:t>且 </a:t>
            </a:r>
            <a:r>
              <a:rPr lang="en-US" altLang="zh-CN" sz="2400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i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的出口语句不是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</a:t>
            </a:r>
            <a:r>
              <a:rPr lang="zh-CN" altLang="en-US" sz="2400" dirty="0" smtClean="0">
                <a:ea typeface="楷体_GB2312" pitchFamily="49" charset="-122"/>
              </a:rPr>
              <a:t>转移 </a:t>
            </a:r>
            <a:r>
              <a:rPr lang="en-US" altLang="zh-CN" sz="2400" b="0" i="1" dirty="0" smtClean="0">
                <a:ea typeface="楷体_GB2312" pitchFamily="49" charset="-122"/>
              </a:rPr>
              <a:t>(</a:t>
            </a:r>
            <a:r>
              <a:rPr lang="zh-CN" altLang="en-US" sz="2400" dirty="0" smtClean="0">
                <a:ea typeface="楷体_GB2312" pitchFamily="49" charset="-122"/>
              </a:rPr>
              <a:t>可为条件转移</a:t>
            </a:r>
            <a:r>
              <a:rPr lang="en-US" altLang="zh-CN" sz="2400" b="0" i="1" dirty="0" smtClean="0">
                <a:ea typeface="楷体_GB2312" pitchFamily="49" charset="-122"/>
              </a:rPr>
              <a:t>)</a:t>
            </a:r>
            <a:r>
              <a:rPr lang="zh-CN" altLang="en-US" sz="2400" dirty="0" smtClean="0">
                <a:ea typeface="楷体_GB2312" pitchFamily="49" charset="-122"/>
              </a:rPr>
              <a:t>语句、停语句或者返回语句；</a:t>
            </a:r>
            <a:r>
              <a:rPr lang="zh-CN" altLang="en-US" sz="2400" dirty="0">
                <a:ea typeface="楷体_GB2312" pitchFamily="49" charset="-122"/>
              </a:rPr>
              <a:t>或者</a:t>
            </a:r>
            <a:endParaRPr kumimoji="0"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kumimoji="0" lang="zh-CN" altLang="en-US" sz="1000" dirty="0"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i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的出口是 </a:t>
            </a:r>
            <a:r>
              <a:rPr lang="en-US" altLang="zh-CN" sz="2400" b="0" i="1" dirty="0" err="1">
                <a:ea typeface="楷体_GB2312" pitchFamily="49" charset="-122"/>
              </a:rPr>
              <a:t>goto</a:t>
            </a:r>
            <a:r>
              <a:rPr lang="en-US" altLang="zh-CN" sz="2400" b="0" i="1" dirty="0">
                <a:ea typeface="楷体_GB2312" pitchFamily="49" charset="-122"/>
              </a:rPr>
              <a:t>(S)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b="0" i="1" dirty="0">
                <a:ea typeface="楷体_GB2312" pitchFamily="49" charset="-122"/>
              </a:rPr>
              <a:t>if </a:t>
            </a:r>
            <a:r>
              <a:rPr lang="en-US" altLang="zh-CN" sz="2400" b="0" i="1" dirty="0" err="1">
                <a:ea typeface="楷体_GB2312" pitchFamily="49" charset="-122"/>
              </a:rPr>
              <a:t>goto</a:t>
            </a:r>
            <a:r>
              <a:rPr lang="en-US" altLang="zh-CN" sz="2400" b="0" i="1" dirty="0">
                <a:ea typeface="楷体_GB2312" pitchFamily="49" charset="-122"/>
              </a:rPr>
              <a:t>(S)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zh-CN" altLang="en-US" sz="2400" dirty="0">
                <a:ea typeface="楷体_GB2312" pitchFamily="49" charset="-122"/>
              </a:rPr>
              <a:t>而 </a:t>
            </a:r>
            <a:r>
              <a:rPr lang="en-US" altLang="zh-CN" sz="2400" b="0" i="1" dirty="0">
                <a:ea typeface="楷体_GB2312" pitchFamily="49" charset="-122"/>
              </a:rPr>
              <a:t>(S)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i="1" dirty="0">
                <a:latin typeface="Times New Roman" pitchFamily="18" charset="0"/>
                <a:ea typeface="楷体_GB2312" pitchFamily="49" charset="-122"/>
              </a:rPr>
              <a:t>j </a:t>
            </a:r>
            <a:r>
              <a:rPr lang="zh-CN" altLang="en-US" sz="2400" dirty="0">
                <a:ea typeface="楷体_GB2312" pitchFamily="49" charset="-122"/>
              </a:rPr>
              <a:t>的入口语句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9223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842963" y="1325563"/>
            <a:ext cx="5176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流图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9224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1066800" y="1905000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举例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9229" name="Rectangle 22"/>
          <p:cNvSpPr>
            <a:spLocks noChangeArrowheads="1"/>
          </p:cNvSpPr>
          <p:nvPr/>
        </p:nvSpPr>
        <p:spPr bwMode="auto">
          <a:xfrm>
            <a:off x="5715000" y="1981200"/>
            <a:ext cx="3124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*(1)  read  x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(2</a:t>
            </a:r>
            <a:r>
              <a:rPr lang="en-US" altLang="zh-CN" sz="2400" b="0"/>
              <a:t>)  </a:t>
            </a:r>
            <a:r>
              <a:rPr lang="en-US" altLang="zh-CN" sz="2400" b="0">
                <a:cs typeface="Times New Roman" pitchFamily="18" charset="0"/>
              </a:rPr>
              <a:t>read 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*(3)  r:=x mod 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(4)  if r=0 goto (8)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*(5)  x:=y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(6)  y:=r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(7)  goto(3)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*(8)  write y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>
                <a:cs typeface="Times New Roman" pitchFamily="18" charset="0"/>
              </a:rPr>
              <a:t>  (9)  return</a:t>
            </a:r>
          </a:p>
        </p:txBody>
      </p:sp>
      <p:sp>
        <p:nvSpPr>
          <p:cNvPr id="9230" name="Rectangle 23"/>
          <p:cNvSpPr>
            <a:spLocks noChangeArrowheads="1"/>
          </p:cNvSpPr>
          <p:nvPr/>
        </p:nvSpPr>
        <p:spPr bwMode="auto">
          <a:xfrm>
            <a:off x="2438400" y="2717800"/>
            <a:ext cx="1447800" cy="71120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>
                <a:cs typeface="Times New Roman" pitchFamily="18" charset="0"/>
              </a:rPr>
              <a:t>(1)  read  x (2</a:t>
            </a:r>
            <a:r>
              <a:rPr lang="en-US" altLang="zh-CN" sz="2000" b="0"/>
              <a:t>)  </a:t>
            </a:r>
            <a:r>
              <a:rPr lang="en-US" altLang="zh-CN" sz="2000" b="0">
                <a:cs typeface="Times New Roman" pitchFamily="18" charset="0"/>
              </a:rPr>
              <a:t>read  y</a:t>
            </a:r>
          </a:p>
        </p:txBody>
      </p:sp>
      <p:sp>
        <p:nvSpPr>
          <p:cNvPr id="9231" name="Rectangle 24"/>
          <p:cNvSpPr>
            <a:spLocks noChangeArrowheads="1"/>
          </p:cNvSpPr>
          <p:nvPr/>
        </p:nvSpPr>
        <p:spPr bwMode="auto">
          <a:xfrm>
            <a:off x="2057400" y="3962400"/>
            <a:ext cx="2209800" cy="7715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>
                <a:cs typeface="Times New Roman" pitchFamily="18" charset="0"/>
              </a:rPr>
              <a:t>(3)  r:=x mod y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>
                <a:cs typeface="Times New Roman" pitchFamily="18" charset="0"/>
              </a:rPr>
              <a:t>(4)  if r=0 goto (8)</a:t>
            </a:r>
          </a:p>
        </p:txBody>
      </p:sp>
      <p:sp>
        <p:nvSpPr>
          <p:cNvPr id="9232" name="Rectangle 25"/>
          <p:cNvSpPr>
            <a:spLocks noChangeArrowheads="1"/>
          </p:cNvSpPr>
          <p:nvPr/>
        </p:nvSpPr>
        <p:spPr bwMode="auto">
          <a:xfrm>
            <a:off x="1219200" y="5340350"/>
            <a:ext cx="1676400" cy="1136650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 dirty="0">
                <a:cs typeface="Times New Roman" pitchFamily="18" charset="0"/>
              </a:rPr>
              <a:t>(5)  x:=y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 dirty="0">
                <a:cs typeface="Times New Roman" pitchFamily="18" charset="0"/>
              </a:rPr>
              <a:t>(6)  y:=r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 dirty="0">
                <a:cs typeface="Times New Roman" pitchFamily="18" charset="0"/>
              </a:rPr>
              <a:t>(7)  </a:t>
            </a:r>
            <a:r>
              <a:rPr lang="en-US" altLang="zh-CN" sz="2000" b="0" dirty="0" err="1">
                <a:cs typeface="Times New Roman" pitchFamily="18" charset="0"/>
              </a:rPr>
              <a:t>goto</a:t>
            </a:r>
            <a:r>
              <a:rPr lang="en-US" altLang="zh-CN" sz="2000" b="0" dirty="0">
                <a:cs typeface="Times New Roman" pitchFamily="18" charset="0"/>
              </a:rPr>
              <a:t>(3)</a:t>
            </a:r>
          </a:p>
        </p:txBody>
      </p:sp>
      <p:sp>
        <p:nvSpPr>
          <p:cNvPr id="9233" name="Rectangle 26"/>
          <p:cNvSpPr>
            <a:spLocks noChangeArrowheads="1"/>
          </p:cNvSpPr>
          <p:nvPr/>
        </p:nvSpPr>
        <p:spPr bwMode="auto">
          <a:xfrm>
            <a:off x="3352800" y="5705475"/>
            <a:ext cx="1524000" cy="771525"/>
          </a:xfrm>
          <a:prstGeom prst="rect">
            <a:avLst/>
          </a:prstGeom>
          <a:noFill/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>
                <a:cs typeface="Times New Roman" pitchFamily="18" charset="0"/>
              </a:rPr>
              <a:t>(8)  write y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000" b="0">
                <a:cs typeface="Times New Roman" pitchFamily="18" charset="0"/>
              </a:rPr>
              <a:t>(9)  return</a:t>
            </a:r>
          </a:p>
        </p:txBody>
      </p:sp>
      <p:sp>
        <p:nvSpPr>
          <p:cNvPr id="9234" name="Rectangle 27"/>
          <p:cNvSpPr>
            <a:spLocks noChangeArrowheads="1"/>
          </p:cNvSpPr>
          <p:nvPr/>
        </p:nvSpPr>
        <p:spPr bwMode="auto">
          <a:xfrm>
            <a:off x="1866900" y="2743200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</a:rPr>
              <a:t>B1</a:t>
            </a:r>
          </a:p>
        </p:txBody>
      </p:sp>
      <p:sp>
        <p:nvSpPr>
          <p:cNvPr id="9235" name="Rectangle 28"/>
          <p:cNvSpPr>
            <a:spLocks noChangeArrowheads="1"/>
          </p:cNvSpPr>
          <p:nvPr/>
        </p:nvSpPr>
        <p:spPr bwMode="auto">
          <a:xfrm>
            <a:off x="4457700" y="3794125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</a:rPr>
              <a:t>B2</a:t>
            </a:r>
          </a:p>
        </p:txBody>
      </p:sp>
      <p:sp>
        <p:nvSpPr>
          <p:cNvPr id="9236" name="Rectangle 29"/>
          <p:cNvSpPr>
            <a:spLocks noChangeArrowheads="1"/>
          </p:cNvSpPr>
          <p:nvPr/>
        </p:nvSpPr>
        <p:spPr bwMode="auto">
          <a:xfrm>
            <a:off x="683568" y="5105400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dirty="0">
                <a:solidFill>
                  <a:srgbClr val="800080"/>
                </a:solidFill>
              </a:rPr>
              <a:t>B3</a:t>
            </a:r>
          </a:p>
        </p:txBody>
      </p:sp>
      <p:sp>
        <p:nvSpPr>
          <p:cNvPr id="9237" name="Rectangle 30"/>
          <p:cNvSpPr>
            <a:spLocks noChangeArrowheads="1"/>
          </p:cNvSpPr>
          <p:nvPr/>
        </p:nvSpPr>
        <p:spPr bwMode="auto">
          <a:xfrm>
            <a:off x="4381500" y="5318125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</a:rPr>
              <a:t>B4</a:t>
            </a:r>
          </a:p>
        </p:txBody>
      </p:sp>
      <p:sp>
        <p:nvSpPr>
          <p:cNvPr id="9238" name="Line 31"/>
          <p:cNvSpPr>
            <a:spLocks noChangeShapeType="1"/>
          </p:cNvSpPr>
          <p:nvPr/>
        </p:nvSpPr>
        <p:spPr bwMode="auto">
          <a:xfrm>
            <a:off x="3124200" y="3429000"/>
            <a:ext cx="0" cy="5334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39" name="Line 32"/>
          <p:cNvSpPr>
            <a:spLocks noChangeShapeType="1"/>
          </p:cNvSpPr>
          <p:nvPr/>
        </p:nvSpPr>
        <p:spPr bwMode="auto">
          <a:xfrm>
            <a:off x="2514600" y="4724400"/>
            <a:ext cx="0" cy="609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0" name="Line 33"/>
          <p:cNvSpPr>
            <a:spLocks noChangeShapeType="1"/>
          </p:cNvSpPr>
          <p:nvPr/>
        </p:nvSpPr>
        <p:spPr bwMode="auto">
          <a:xfrm>
            <a:off x="3962400" y="4724400"/>
            <a:ext cx="0" cy="990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1" name="Line 34"/>
          <p:cNvSpPr>
            <a:spLocks noChangeShapeType="1"/>
          </p:cNvSpPr>
          <p:nvPr/>
        </p:nvSpPr>
        <p:spPr bwMode="auto">
          <a:xfrm flipV="1">
            <a:off x="1752600" y="4343400"/>
            <a:ext cx="0" cy="990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42" name="Line 35"/>
          <p:cNvSpPr>
            <a:spLocks noChangeShapeType="1"/>
          </p:cNvSpPr>
          <p:nvPr/>
        </p:nvSpPr>
        <p:spPr bwMode="auto">
          <a:xfrm>
            <a:off x="1752600" y="4343400"/>
            <a:ext cx="3048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10247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325563"/>
            <a:ext cx="5176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循环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</a:t>
            </a:r>
            <a:r>
              <a:rPr lang="zh-CN" altLang="en-US" b="0">
                <a:ea typeface="楷体_GB2312" pitchFamily="49" charset="-122"/>
              </a:rPr>
              <a:t>）</a:t>
            </a:r>
          </a:p>
        </p:txBody>
      </p:sp>
      <p:sp>
        <p:nvSpPr>
          <p:cNvPr id="10248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1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1276" name="Rectangle 12"/>
          <p:cNvSpPr>
            <a:spLocks noChangeArrowheads="1"/>
          </p:cNvSpPr>
          <p:nvPr/>
        </p:nvSpPr>
        <p:spPr bwMode="auto">
          <a:xfrm>
            <a:off x="685800" y="2057400"/>
            <a:ext cx="8458200" cy="271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  <a:defRPr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支配结点集</a:t>
            </a:r>
            <a:r>
              <a:rPr lang="zh-CN" altLang="en-US" b="0" dirty="0"/>
              <a:t>（</a:t>
            </a:r>
            <a:r>
              <a:rPr lang="en-US" altLang="zh-CN" b="0" i="1" dirty="0"/>
              <a:t>dominators</a:t>
            </a:r>
            <a:r>
              <a:rPr lang="zh-CN" altLang="en-US" b="0" dirty="0"/>
              <a:t>）</a:t>
            </a: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  <a:defRPr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  <a:defRPr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zh-CN" altLang="en-US" sz="2400" dirty="0">
                <a:ea typeface="楷体_GB2312" pitchFamily="49" charset="-122"/>
              </a:rPr>
              <a:t>如果从流图的首结点出发</a:t>
            </a:r>
            <a:r>
              <a:rPr lang="en-US" altLang="zh-CN" sz="2400" dirty="0">
                <a:ea typeface="楷体_GB2312" pitchFamily="49" charset="-122"/>
              </a:rPr>
              <a:t>,</a:t>
            </a:r>
            <a:r>
              <a:rPr lang="zh-CN" altLang="en-US" sz="2400" dirty="0">
                <a:ea typeface="楷体_GB2312" pitchFamily="49" charset="-122"/>
              </a:rPr>
              <a:t>到达 </a:t>
            </a:r>
            <a:r>
              <a:rPr lang="en-US" altLang="zh-CN" sz="2400" b="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的任意通路都要经过 </a:t>
            </a:r>
            <a:r>
              <a:rPr lang="en-US" altLang="zh-CN" sz="2400" b="0" i="1" dirty="0">
                <a:ea typeface="楷体_GB2312" pitchFamily="49" charset="-122"/>
              </a:rPr>
              <a:t>m</a:t>
            </a:r>
            <a:r>
              <a:rPr lang="zh-CN" altLang="en-US" sz="2400" dirty="0">
                <a:ea typeface="楷体_GB2312" pitchFamily="49" charset="-122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  <a:defRPr/>
            </a:pPr>
            <a:r>
              <a:rPr lang="zh-CN" altLang="en-US" sz="2400" dirty="0">
                <a:ea typeface="楷体_GB2312" pitchFamily="49" charset="-122"/>
              </a:rPr>
              <a:t>      则称 </a:t>
            </a:r>
            <a:r>
              <a:rPr lang="en-US" altLang="zh-CN" sz="2400" b="0" i="1" dirty="0">
                <a:ea typeface="楷体_GB2312" pitchFamily="49" charset="-122"/>
              </a:rPr>
              <a:t>m </a:t>
            </a:r>
            <a:r>
              <a:rPr lang="zh-CN" altLang="en-US" sz="2400" dirty="0">
                <a:ea typeface="楷体_GB2312" pitchFamily="49" charset="-122"/>
              </a:rPr>
              <a:t>支配 </a:t>
            </a:r>
            <a:r>
              <a:rPr lang="en-US" altLang="zh-CN" sz="2400" b="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b="0" i="1" dirty="0">
                <a:ea typeface="楷体_GB2312" pitchFamily="49" charset="-122"/>
              </a:rPr>
              <a:t>m </a:t>
            </a:r>
            <a:r>
              <a:rPr lang="zh-CN" altLang="en-US" sz="2400" dirty="0">
                <a:ea typeface="楷体_GB2312" pitchFamily="49" charset="-122"/>
              </a:rPr>
              <a:t>是 </a:t>
            </a:r>
            <a:r>
              <a:rPr lang="en-US" altLang="zh-CN" sz="2400" b="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支配结点</a:t>
            </a:r>
            <a:r>
              <a:rPr lang="zh-CN" altLang="en-US" sz="2400" dirty="0">
                <a:ea typeface="楷体_GB2312" pitchFamily="49" charset="-122"/>
              </a:rPr>
              <a:t>，记为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m  DOM n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  <a:defRPr/>
            </a:pPr>
            <a:r>
              <a:rPr lang="en-US" altLang="zh-CN" sz="2400" b="0" i="1" dirty="0">
                <a:ea typeface="楷体_GB2312" pitchFamily="49" charset="-122"/>
              </a:rPr>
              <a:t>    </a:t>
            </a:r>
            <a:r>
              <a:rPr lang="en-US" altLang="zh-CN" sz="2400" dirty="0">
                <a:ea typeface="楷体_GB2312" pitchFamily="49" charset="-122"/>
              </a:rPr>
              <a:t>  </a:t>
            </a:r>
            <a:r>
              <a:rPr lang="en-US" altLang="zh-CN" sz="2400" b="0" dirty="0">
                <a:ea typeface="楷体_GB2312" pitchFamily="49" charset="-122"/>
              </a:rPr>
              <a:t>(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</a:t>
            </a:r>
            <a:r>
              <a:rPr lang="en-US" altLang="zh-CN" sz="2400" b="0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. </a:t>
            </a:r>
            <a:r>
              <a:rPr lang="en-US" altLang="zh-CN" sz="2400" b="0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b="0" i="1" dirty="0">
                <a:ea typeface="楷体_GB2312" pitchFamily="49" charset="-122"/>
                <a:sym typeface="Symbol" pitchFamily="18" charset="2"/>
              </a:rPr>
              <a:t>DOM a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)</a:t>
            </a:r>
            <a:endParaRPr kumimoji="0" lang="en-US" altLang="zh-CN" sz="2400" b="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  <a:defRPr/>
            </a:pPr>
            <a:endParaRPr lang="en-US" altLang="zh-CN" sz="1000" dirty="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结点</a:t>
            </a:r>
            <a:r>
              <a:rPr lang="en-US" altLang="zh-CN" sz="2400" b="0" i="1" dirty="0">
                <a:ea typeface="楷体_GB2312" pitchFamily="49" charset="-122"/>
                <a:sym typeface="Symbol" pitchFamily="18" charset="2"/>
              </a:rPr>
              <a:t>n 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的所有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Symbol" pitchFamily="18" charset="2"/>
              </a:rPr>
              <a:t>支配结点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的集合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 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称为结点 </a:t>
            </a:r>
            <a:r>
              <a:rPr lang="en-US" altLang="zh-CN" sz="2400" b="0" i="1" dirty="0">
                <a:ea typeface="楷体_GB2312" pitchFamily="49" charset="-122"/>
                <a:sym typeface="Symbol" pitchFamily="18" charset="2"/>
              </a:rPr>
              <a:t>n 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的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支配结点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  <a:sym typeface="Symbol" pitchFamily="18" charset="2"/>
              </a:rPr>
              <a:t>集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,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      </a:t>
            </a:r>
            <a:r>
              <a:rPr lang="zh-CN" altLang="en-US" sz="2400" dirty="0">
                <a:ea typeface="楷体_GB2312" pitchFamily="49" charset="-122"/>
                <a:sym typeface="Symbol" pitchFamily="18" charset="2"/>
              </a:rPr>
              <a:t>记为</a:t>
            </a:r>
            <a:r>
              <a:rPr lang="en-US" altLang="zh-CN" sz="2400" b="0" i="1" dirty="0">
                <a:ea typeface="楷体_GB2312" pitchFamily="49" charset="-122"/>
                <a:sym typeface="Symbol" pitchFamily="18" charset="2"/>
              </a:rPr>
              <a:t>D(n)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11271" name="Text Box 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842963" y="1309688"/>
            <a:ext cx="5176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循环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</a:t>
            </a:r>
            <a:r>
              <a:rPr lang="zh-CN" altLang="en-US" b="0">
                <a:ea typeface="楷体_GB2312" pitchFamily="49" charset="-122"/>
              </a:rPr>
              <a:t>）</a:t>
            </a:r>
          </a:p>
        </p:txBody>
      </p:sp>
      <p:sp>
        <p:nvSpPr>
          <p:cNvPr id="11272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5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143000" y="1919288"/>
            <a:ext cx="419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支配结点集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举例</a:t>
            </a:r>
            <a:endParaRPr lang="zh-CN" altLang="en-US" sz="240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52302" name="Rectangle 14"/>
          <p:cNvSpPr>
            <a:spLocks noChangeArrowheads="1"/>
          </p:cNvSpPr>
          <p:nvPr/>
        </p:nvSpPr>
        <p:spPr bwMode="auto">
          <a:xfrm>
            <a:off x="1600200" y="2667000"/>
            <a:ext cx="1328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b="0"/>
              <a:t>D(1)={1}</a:t>
            </a:r>
          </a:p>
        </p:txBody>
      </p:sp>
      <p:sp>
        <p:nvSpPr>
          <p:cNvPr id="652304" name="Rectangle 16"/>
          <p:cNvSpPr>
            <a:spLocks noChangeArrowheads="1"/>
          </p:cNvSpPr>
          <p:nvPr/>
        </p:nvSpPr>
        <p:spPr bwMode="auto">
          <a:xfrm>
            <a:off x="1600200" y="3200400"/>
            <a:ext cx="1666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b="0"/>
              <a:t>D(2)={1, 2}</a:t>
            </a:r>
          </a:p>
        </p:txBody>
      </p:sp>
      <p:sp>
        <p:nvSpPr>
          <p:cNvPr id="652305" name="Rectangle 17"/>
          <p:cNvSpPr>
            <a:spLocks noChangeArrowheads="1"/>
          </p:cNvSpPr>
          <p:nvPr/>
        </p:nvSpPr>
        <p:spPr bwMode="auto">
          <a:xfrm>
            <a:off x="1609725" y="3733800"/>
            <a:ext cx="200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b="0"/>
              <a:t>D(3)={1, 2, 3}</a:t>
            </a:r>
          </a:p>
        </p:txBody>
      </p:sp>
      <p:sp>
        <p:nvSpPr>
          <p:cNvPr id="652306" name="Rectangle 18"/>
          <p:cNvSpPr>
            <a:spLocks noChangeArrowheads="1"/>
          </p:cNvSpPr>
          <p:nvPr/>
        </p:nvSpPr>
        <p:spPr bwMode="auto">
          <a:xfrm>
            <a:off x="1600200" y="4267200"/>
            <a:ext cx="200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b="0"/>
              <a:t>D(4)={1, 2, 4}</a:t>
            </a:r>
          </a:p>
        </p:txBody>
      </p:sp>
      <p:graphicFrame>
        <p:nvGraphicFramePr>
          <p:cNvPr id="11281" name="Object 19"/>
          <p:cNvGraphicFramePr>
            <a:graphicFrameLocks noChangeAspect="1"/>
          </p:cNvGraphicFramePr>
          <p:nvPr/>
        </p:nvGraphicFramePr>
        <p:xfrm>
          <a:off x="5562600" y="1828800"/>
          <a:ext cx="2819400" cy="4352925"/>
        </p:xfrm>
        <a:graphic>
          <a:graphicData uri="http://schemas.openxmlformats.org/presentationml/2006/ole">
            <p:oleObj spid="_x0000_s11281" name="Visio" r:id="rId4" imgW="2424903" imgH="3743079" progId="">
              <p:embed/>
            </p:oleObj>
          </a:graphicData>
        </a:graphic>
      </p:graphicFrame>
      <p:sp>
        <p:nvSpPr>
          <p:cNvPr id="652308" name="Rectangle 20"/>
          <p:cNvSpPr>
            <a:spLocks noChangeArrowheads="1"/>
          </p:cNvSpPr>
          <p:nvPr/>
        </p:nvSpPr>
        <p:spPr bwMode="auto">
          <a:xfrm>
            <a:off x="1600200" y="4800600"/>
            <a:ext cx="234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b="0"/>
              <a:t>D(5)={1, 2, 4, 5}</a:t>
            </a:r>
          </a:p>
        </p:txBody>
      </p:sp>
      <p:sp>
        <p:nvSpPr>
          <p:cNvPr id="652309" name="Rectangle 21"/>
          <p:cNvSpPr>
            <a:spLocks noChangeArrowheads="1"/>
          </p:cNvSpPr>
          <p:nvPr/>
        </p:nvSpPr>
        <p:spPr bwMode="auto">
          <a:xfrm>
            <a:off x="1600200" y="5334000"/>
            <a:ext cx="234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b="0"/>
              <a:t>D(6)={1, 2, 4, 6}</a:t>
            </a:r>
          </a:p>
        </p:txBody>
      </p:sp>
      <p:sp>
        <p:nvSpPr>
          <p:cNvPr id="652310" name="Rectangle 22"/>
          <p:cNvSpPr>
            <a:spLocks noChangeArrowheads="1"/>
          </p:cNvSpPr>
          <p:nvPr/>
        </p:nvSpPr>
        <p:spPr bwMode="auto">
          <a:xfrm>
            <a:off x="1600200" y="5867400"/>
            <a:ext cx="234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400" b="0"/>
              <a:t>D(7)={1, 2, 4, 7}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5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5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5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5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302" grpId="0" autoUpdateAnimBg="0"/>
      <p:bldP spid="652304" grpId="0" autoUpdateAnimBg="0"/>
      <p:bldP spid="652305" grpId="0" autoUpdateAnimBg="0"/>
      <p:bldP spid="652306" grpId="0" autoUpdateAnimBg="0"/>
      <p:bldP spid="652308" grpId="0" autoUpdateAnimBg="0"/>
      <p:bldP spid="652309" grpId="0" autoUpdateAnimBg="0"/>
      <p:bldP spid="65231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12295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842963" y="1292225"/>
            <a:ext cx="5176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循环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</a:t>
            </a:r>
            <a:r>
              <a:rPr lang="zh-CN" altLang="en-US" b="0">
                <a:ea typeface="楷体_GB2312" pitchFamily="49" charset="-122"/>
              </a:rPr>
              <a:t>）</a:t>
            </a:r>
          </a:p>
        </p:txBody>
      </p:sp>
      <p:sp>
        <p:nvSpPr>
          <p:cNvPr id="12296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9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3324" name="Rectangle 12"/>
          <p:cNvSpPr>
            <a:spLocks noChangeArrowheads="1"/>
          </p:cNvSpPr>
          <p:nvPr/>
        </p:nvSpPr>
        <p:spPr bwMode="auto">
          <a:xfrm>
            <a:off x="1143000" y="1901825"/>
            <a:ext cx="767715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自然循环</a:t>
            </a:r>
            <a:r>
              <a:rPr lang="zh-CN" altLang="en-US" b="0" dirty="0">
                <a:ea typeface="楷体_GB2312" pitchFamily="49" charset="-122"/>
              </a:rPr>
              <a:t>（</a:t>
            </a:r>
            <a:r>
              <a:rPr lang="en-US" altLang="zh-CN" b="0" i="1" dirty="0">
                <a:ea typeface="楷体_GB2312" pitchFamily="49" charset="-122"/>
              </a:rPr>
              <a:t>natural loop</a:t>
            </a:r>
            <a:r>
              <a:rPr lang="zh-CN" altLang="en-US" b="0" dirty="0">
                <a:ea typeface="楷体_GB2312" pitchFamily="49" charset="-122"/>
              </a:rPr>
              <a:t>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假设 </a:t>
            </a:r>
            <a:r>
              <a:rPr lang="en-US" altLang="zh-CN" sz="2300" b="0" i="1" dirty="0" err="1">
                <a:ea typeface="楷体_GB2312" pitchFamily="49" charset="-122"/>
              </a:rPr>
              <a:t>n</a:t>
            </a:r>
            <a:r>
              <a:rPr lang="en-US" altLang="zh-CN" sz="2300" b="0" dirty="0" err="1"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300" b="0" i="1" dirty="0" err="1">
                <a:ea typeface="楷体_GB2312" pitchFamily="49" charset="-122"/>
              </a:rPr>
              <a:t>d</a:t>
            </a:r>
            <a:r>
              <a:rPr lang="en-US" altLang="zh-CN" sz="2300" i="1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是流图中的一条有向边，如果 </a:t>
            </a:r>
            <a:r>
              <a:rPr lang="en-US" altLang="zh-CN" sz="2300" b="0" i="1" dirty="0">
                <a:ea typeface="楷体_GB2312" pitchFamily="49" charset="-122"/>
              </a:rPr>
              <a:t>d DOM n </a:t>
            </a:r>
            <a:r>
              <a:rPr lang="zh-CN" altLang="en-US" sz="2300" dirty="0">
                <a:ea typeface="楷体_GB2312" pitchFamily="49" charset="-122"/>
              </a:rPr>
              <a:t>则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称 </a:t>
            </a:r>
            <a:r>
              <a:rPr lang="en-US" altLang="zh-CN" sz="2300" b="0" i="1" dirty="0" err="1">
                <a:ea typeface="楷体_GB2312" pitchFamily="49" charset="-122"/>
              </a:rPr>
              <a:t>n</a:t>
            </a:r>
            <a:r>
              <a:rPr lang="en-US" altLang="zh-CN" sz="2300" b="0" dirty="0" err="1"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300" b="0" i="1" dirty="0" err="1">
                <a:ea typeface="楷体_GB2312" pitchFamily="49" charset="-122"/>
              </a:rPr>
              <a:t>d</a:t>
            </a:r>
            <a:r>
              <a:rPr lang="en-US" altLang="zh-CN" sz="2300" i="1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是流图中的一条</a:t>
            </a:r>
            <a:r>
              <a:rPr lang="zh-CN" altLang="en-US" sz="2300" dirty="0">
                <a:solidFill>
                  <a:srgbClr val="800080"/>
                </a:solidFill>
                <a:ea typeface="楷体_GB2312" pitchFamily="49" charset="-122"/>
              </a:rPr>
              <a:t>回边</a:t>
            </a:r>
            <a:r>
              <a:rPr lang="zh-CN" altLang="en-US" sz="2300" b="0" dirty="0">
                <a:ea typeface="楷体_GB2312" pitchFamily="49" charset="-122"/>
              </a:rPr>
              <a:t>（</a:t>
            </a:r>
            <a:r>
              <a:rPr lang="en-US" altLang="zh-CN" sz="2300" b="0" i="1" dirty="0">
                <a:ea typeface="楷体_GB2312" pitchFamily="49" charset="-122"/>
              </a:rPr>
              <a:t>back edge</a:t>
            </a:r>
            <a:r>
              <a:rPr lang="zh-CN" altLang="en-US" sz="2300" b="0" dirty="0">
                <a:ea typeface="楷体_GB2312" pitchFamily="49" charset="-122"/>
              </a:rPr>
              <a:t>）</a:t>
            </a:r>
            <a:endParaRPr lang="zh-CN" altLang="en-US" sz="2400" b="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有向边 </a:t>
            </a:r>
            <a:r>
              <a:rPr lang="en-US" altLang="zh-CN" sz="2300" b="0" i="1" dirty="0" err="1">
                <a:ea typeface="楷体_GB2312" pitchFamily="49" charset="-122"/>
              </a:rPr>
              <a:t>n</a:t>
            </a:r>
            <a:r>
              <a:rPr lang="en-US" altLang="zh-CN" sz="2300" b="0" dirty="0" err="1"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300" b="0" i="1" dirty="0" err="1">
                <a:ea typeface="楷体_GB2312" pitchFamily="49" charset="-122"/>
              </a:rPr>
              <a:t>d</a:t>
            </a:r>
            <a:r>
              <a:rPr lang="en-US" altLang="zh-CN" sz="2300" b="0" i="1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是回边，它对应的</a:t>
            </a:r>
            <a:r>
              <a:rPr lang="zh-CN" altLang="en-US" sz="2300" dirty="0">
                <a:solidFill>
                  <a:srgbClr val="800080"/>
                </a:solidFill>
                <a:ea typeface="楷体_GB2312" pitchFamily="49" charset="-122"/>
              </a:rPr>
              <a:t>自然循环</a:t>
            </a:r>
            <a:r>
              <a:rPr lang="zh-CN" altLang="en-US" sz="2300" dirty="0">
                <a:ea typeface="楷体_GB2312" pitchFamily="49" charset="-122"/>
              </a:rPr>
              <a:t>是由结点 </a:t>
            </a:r>
            <a:r>
              <a:rPr lang="en-US" altLang="zh-CN" sz="2300" b="0" i="1" dirty="0">
                <a:ea typeface="楷体_GB2312" pitchFamily="49" charset="-122"/>
              </a:rPr>
              <a:t>d</a:t>
            </a:r>
            <a:r>
              <a:rPr lang="en-US" altLang="zh-CN" sz="2300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结点 </a:t>
            </a:r>
            <a:r>
              <a:rPr lang="en-US" altLang="zh-CN" sz="2300" b="0" i="1" dirty="0">
                <a:ea typeface="楷体_GB2312" pitchFamily="49" charset="-122"/>
              </a:rPr>
              <a:t>n</a:t>
            </a:r>
            <a:r>
              <a:rPr lang="en-US" altLang="zh-CN" sz="2300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以及有通路到达 </a:t>
            </a:r>
            <a:r>
              <a:rPr lang="en-US" altLang="zh-CN" sz="2300" b="0" i="1" dirty="0">
                <a:ea typeface="楷体_GB2312" pitchFamily="49" charset="-122"/>
              </a:rPr>
              <a:t>n </a:t>
            </a:r>
            <a:r>
              <a:rPr lang="zh-CN" altLang="en-US" sz="2300" dirty="0">
                <a:ea typeface="楷体_GB2312" pitchFamily="49" charset="-122"/>
              </a:rPr>
              <a:t>而该通路不经过 </a:t>
            </a:r>
            <a:r>
              <a:rPr lang="en-US" altLang="zh-CN" sz="2300" b="0" i="1" dirty="0">
                <a:ea typeface="楷体_GB2312" pitchFamily="49" charset="-122"/>
              </a:rPr>
              <a:t>d</a:t>
            </a:r>
            <a:r>
              <a:rPr lang="en-US" altLang="zh-CN" sz="2300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的所有结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点组成，并且 </a:t>
            </a:r>
            <a:r>
              <a:rPr lang="en-US" altLang="zh-CN" sz="2300" b="0" i="1" dirty="0">
                <a:ea typeface="楷体_GB2312" pitchFamily="49" charset="-122"/>
              </a:rPr>
              <a:t>d</a:t>
            </a:r>
            <a:r>
              <a:rPr lang="en-US" altLang="zh-CN" sz="2300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是该循环的唯一入口结点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同时，因 </a:t>
            </a:r>
            <a:r>
              <a:rPr lang="en-US" altLang="zh-CN" sz="2300" b="0" i="1" dirty="0">
                <a:ea typeface="楷体_GB2312" pitchFamily="49" charset="-122"/>
              </a:rPr>
              <a:t>d</a:t>
            </a:r>
            <a:r>
              <a:rPr lang="en-US" altLang="zh-CN" sz="2300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是 </a:t>
            </a:r>
            <a:r>
              <a:rPr lang="en-US" altLang="zh-CN" sz="2300" b="0" i="1" dirty="0">
                <a:ea typeface="楷体_GB2312" pitchFamily="49" charset="-122"/>
              </a:rPr>
              <a:t>n </a:t>
            </a:r>
            <a:r>
              <a:rPr lang="zh-CN" altLang="en-US" sz="2300" dirty="0">
                <a:ea typeface="楷体_GB2312" pitchFamily="49" charset="-122"/>
              </a:rPr>
              <a:t>的支配结点，所以 </a:t>
            </a:r>
            <a:r>
              <a:rPr lang="en-US" altLang="zh-CN" sz="2300" b="0" i="1" dirty="0">
                <a:ea typeface="楷体_GB2312" pitchFamily="49" charset="-122"/>
              </a:rPr>
              <a:t>d</a:t>
            </a:r>
            <a:r>
              <a:rPr lang="en-US" altLang="zh-CN" sz="2300" dirty="0">
                <a:ea typeface="楷体_GB2312" pitchFamily="49" charset="-122"/>
              </a:rPr>
              <a:t> </a:t>
            </a:r>
            <a:r>
              <a:rPr lang="zh-CN" altLang="en-US" sz="2300" dirty="0">
                <a:ea typeface="楷体_GB2312" pitchFamily="49" charset="-122"/>
              </a:rPr>
              <a:t>必可达该循环中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任意结点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23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300" dirty="0">
                <a:ea typeface="楷体_GB2312" pitchFamily="49" charset="-122"/>
              </a:rPr>
              <a:t>     注</a:t>
            </a:r>
            <a:r>
              <a:rPr lang="zh-CN" altLang="en-US" sz="2300" dirty="0" smtClean="0">
                <a:ea typeface="楷体_GB2312" pitchFamily="49" charset="-122"/>
              </a:rPr>
              <a:t>：流</a:t>
            </a:r>
            <a:r>
              <a:rPr lang="zh-CN" altLang="en-US" sz="2300" dirty="0">
                <a:ea typeface="楷体_GB2312" pitchFamily="49" charset="-122"/>
              </a:rPr>
              <a:t>图中的任何结点都是从首结点可达的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33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524000" y="188913"/>
            <a:ext cx="49530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基本块、流图和循环</a:t>
            </a:r>
          </a:p>
        </p:txBody>
      </p:sp>
      <p:sp>
        <p:nvSpPr>
          <p:cNvPr id="13319" name="Text Box 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842963" y="1309688"/>
            <a:ext cx="5176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循环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</a:t>
            </a:r>
            <a:r>
              <a:rPr lang="zh-CN" altLang="en-US" b="0">
                <a:ea typeface="楷体_GB2312" pitchFamily="49" charset="-122"/>
              </a:rPr>
              <a:t>）</a:t>
            </a:r>
          </a:p>
        </p:txBody>
      </p:sp>
      <p:sp>
        <p:nvSpPr>
          <p:cNvPr id="13320" name="AutoShape 8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1143000" y="1919288"/>
            <a:ext cx="419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ea typeface="楷体_GB2312" pitchFamily="49" charset="-122"/>
              </a:rPr>
              <a:t>自然循环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举例</a:t>
            </a:r>
          </a:p>
        </p:txBody>
      </p:sp>
      <p:sp>
        <p:nvSpPr>
          <p:cNvPr id="654349" name="Rectangle 13"/>
          <p:cNvSpPr>
            <a:spLocks noChangeArrowheads="1"/>
          </p:cNvSpPr>
          <p:nvPr/>
        </p:nvSpPr>
        <p:spPr bwMode="auto">
          <a:xfrm>
            <a:off x="1600200" y="2667000"/>
            <a:ext cx="35052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对应回边 </a:t>
            </a:r>
            <a:r>
              <a:rPr lang="en-US" altLang="zh-CN" sz="2400" b="0" i="1">
                <a:ea typeface="楷体_GB2312" pitchFamily="49" charset="-122"/>
              </a:rPr>
              <a:t>6</a:t>
            </a:r>
            <a:r>
              <a:rPr lang="en-US" altLang="zh-CN" sz="2400" b="0"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400" b="0" i="1">
                <a:ea typeface="楷体_GB2312" pitchFamily="49" charset="-122"/>
              </a:rPr>
              <a:t>6</a:t>
            </a:r>
            <a:r>
              <a:rPr lang="en-US" altLang="zh-CN" sz="2300" i="1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：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1000">
                <a:ea typeface="楷体_GB2312" pitchFamily="49" charset="-122"/>
              </a:rPr>
              <a:t>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       </a:t>
            </a:r>
            <a:r>
              <a:rPr lang="en-US" altLang="zh-CN" sz="2400" b="0">
                <a:ea typeface="楷体_GB2312" pitchFamily="49" charset="-122"/>
              </a:rPr>
              <a:t>{ </a:t>
            </a:r>
            <a:r>
              <a:rPr lang="en-US" altLang="zh-CN" sz="2400" b="0" i="1">
                <a:ea typeface="楷体_GB2312" pitchFamily="49" charset="-122"/>
              </a:rPr>
              <a:t>6 </a:t>
            </a:r>
            <a:r>
              <a:rPr lang="en-US" altLang="zh-CN" sz="2400" b="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13326" name="Object 17"/>
          <p:cNvGraphicFramePr>
            <a:graphicFrameLocks noChangeAspect="1"/>
          </p:cNvGraphicFramePr>
          <p:nvPr/>
        </p:nvGraphicFramePr>
        <p:xfrm>
          <a:off x="5562600" y="1828800"/>
          <a:ext cx="2819400" cy="4352925"/>
        </p:xfrm>
        <a:graphic>
          <a:graphicData uri="http://schemas.openxmlformats.org/presentationml/2006/ole">
            <p:oleObj spid="_x0000_s13326" name="Visio" r:id="rId5" imgW="2424903" imgH="3743079" progId="">
              <p:embed/>
            </p:oleObj>
          </a:graphicData>
        </a:graphic>
      </p:graphicFrame>
      <p:sp>
        <p:nvSpPr>
          <p:cNvPr id="654357" name="Rectangle 21"/>
          <p:cNvSpPr>
            <a:spLocks noChangeArrowheads="1"/>
          </p:cNvSpPr>
          <p:nvPr/>
        </p:nvSpPr>
        <p:spPr bwMode="auto">
          <a:xfrm>
            <a:off x="1600200" y="3825875"/>
            <a:ext cx="35052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对应回边 </a:t>
            </a:r>
            <a:r>
              <a:rPr lang="en-US" altLang="zh-CN" sz="2400" b="0" i="1">
                <a:ea typeface="楷体_GB2312" pitchFamily="49" charset="-122"/>
              </a:rPr>
              <a:t>7</a:t>
            </a:r>
            <a:r>
              <a:rPr lang="en-US" altLang="zh-CN" sz="2400" b="0"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400" b="0" i="1">
                <a:ea typeface="楷体_GB2312" pitchFamily="49" charset="-122"/>
              </a:rPr>
              <a:t>4</a:t>
            </a:r>
            <a:r>
              <a:rPr lang="en-US" altLang="zh-CN" sz="2300" i="1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：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1000">
                <a:ea typeface="楷体_GB2312" pitchFamily="49" charset="-122"/>
              </a:rPr>
              <a:t>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       </a:t>
            </a:r>
            <a:r>
              <a:rPr lang="en-US" altLang="zh-CN" sz="2400" b="0">
                <a:ea typeface="楷体_GB2312" pitchFamily="49" charset="-122"/>
              </a:rPr>
              <a:t>{ </a:t>
            </a:r>
            <a:r>
              <a:rPr lang="en-US" altLang="zh-CN" sz="2400" b="0" i="1">
                <a:ea typeface="楷体_GB2312" pitchFamily="49" charset="-122"/>
              </a:rPr>
              <a:t>4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5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6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7 </a:t>
            </a:r>
            <a:r>
              <a:rPr lang="en-US" altLang="zh-CN" sz="2400" b="0">
                <a:ea typeface="楷体_GB2312" pitchFamily="49" charset="-122"/>
              </a:rPr>
              <a:t>}</a:t>
            </a:r>
          </a:p>
        </p:txBody>
      </p:sp>
      <p:sp>
        <p:nvSpPr>
          <p:cNvPr id="654358" name="Rectangle 22"/>
          <p:cNvSpPr>
            <a:spLocks noChangeArrowheads="1"/>
          </p:cNvSpPr>
          <p:nvPr/>
        </p:nvSpPr>
        <p:spPr bwMode="auto">
          <a:xfrm>
            <a:off x="1600200" y="5029200"/>
            <a:ext cx="38100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对应回边 </a:t>
            </a:r>
            <a:r>
              <a:rPr lang="en-US" altLang="zh-CN" sz="2400" b="0" i="1">
                <a:ea typeface="楷体_GB2312" pitchFamily="49" charset="-122"/>
              </a:rPr>
              <a:t>4</a:t>
            </a:r>
            <a:r>
              <a:rPr lang="en-US" altLang="zh-CN" sz="2400" b="0"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400" b="0" i="1">
                <a:ea typeface="楷体_GB2312" pitchFamily="49" charset="-122"/>
              </a:rPr>
              <a:t>2</a:t>
            </a:r>
            <a:r>
              <a:rPr lang="en-US" altLang="zh-CN" sz="2300" i="1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：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1000">
                <a:ea typeface="楷体_GB2312" pitchFamily="49" charset="-122"/>
              </a:rPr>
              <a:t>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       </a:t>
            </a:r>
            <a:r>
              <a:rPr lang="en-US" altLang="zh-CN" sz="2400" b="0">
                <a:ea typeface="楷体_GB2312" pitchFamily="49" charset="-122"/>
              </a:rPr>
              <a:t>{ </a:t>
            </a:r>
            <a:r>
              <a:rPr lang="en-US" altLang="zh-CN" sz="2400" b="0" i="1">
                <a:ea typeface="楷体_GB2312" pitchFamily="49" charset="-122"/>
              </a:rPr>
              <a:t>2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3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5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6 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7</a:t>
            </a:r>
            <a:r>
              <a:rPr lang="zh-CN" altLang="en-US" sz="2400" b="0" i="1">
                <a:ea typeface="楷体_GB2312" pitchFamily="49" charset="-122"/>
              </a:rPr>
              <a:t>，</a:t>
            </a:r>
            <a:r>
              <a:rPr lang="en-US" altLang="zh-CN" sz="2400" b="0" i="1">
                <a:ea typeface="楷体_GB2312" pitchFamily="49" charset="-122"/>
              </a:rPr>
              <a:t>4 </a:t>
            </a:r>
            <a:r>
              <a:rPr lang="en-US" altLang="zh-CN" sz="2400" b="0"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5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5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9" grpId="0" autoUpdateAnimBg="0"/>
      <p:bldP spid="654357" grpId="0" autoUpdateAnimBg="0"/>
      <p:bldP spid="65435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325563"/>
            <a:ext cx="8224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zh-CN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  <a:r>
              <a:rPr lang="zh-CN" altLang="en-US" b="0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data-flow analysis</a:t>
            </a:r>
            <a:r>
              <a:rPr lang="zh-CN" altLang="en-US" b="0">
                <a:ea typeface="楷体_GB2312" pitchFamily="49" charset="-122"/>
              </a:rPr>
              <a:t>）</a:t>
            </a:r>
          </a:p>
        </p:txBody>
      </p:sp>
      <p:sp>
        <p:nvSpPr>
          <p:cNvPr id="14343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5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7" name="Rectangle 12"/>
          <p:cNvSpPr>
            <a:spLocks noChangeArrowheads="1"/>
          </p:cNvSpPr>
          <p:nvPr/>
        </p:nvSpPr>
        <p:spPr bwMode="auto">
          <a:xfrm>
            <a:off x="685800" y="2057400"/>
            <a:ext cx="80010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作用与目的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为做好代码生成和代码优化工作，通常需要收集整个程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序的一些特定信息，并把这些信息分配到流图中的语句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单元（如基本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块</a:t>
            </a:r>
            <a:r>
              <a:rPr lang="zh-CN" altLang="zh-CN" sz="2400" dirty="0" smtClean="0">
                <a:latin typeface="Times New Roman" pitchFamily="18" charset="0"/>
                <a:ea typeface="楷体_GB2312" pitchFamily="49" charset="-122"/>
              </a:rPr>
              <a:t>、循环、或单条语句等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）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中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称这些信息为</a:t>
            </a: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数据流信息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，上述过程为</a:t>
            </a: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  <a:endParaRPr kumimoji="0" lang="zh-CN" altLang="en-US" sz="2400" dirty="0">
              <a:solidFill>
                <a:srgbClr val="80008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kumimoji="0" lang="zh-CN" altLang="en-US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数据流信息收集的一种途径</a:t>
            </a:r>
            <a:endParaRPr kumimoji="0" lang="zh-CN" altLang="en-US" dirty="0">
              <a:solidFill>
                <a:srgbClr val="80008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建立和求解</a:t>
            </a: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数据流方程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data-flow equation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</a:t>
            </a:r>
            <a:endParaRPr kumimoji="0" lang="zh-CN" altLang="en-US" sz="24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348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6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325563"/>
            <a:ext cx="8224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数据流方程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1536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6395" name="Rectangle 11"/>
          <p:cNvSpPr>
            <a:spLocks noChangeArrowheads="1"/>
          </p:cNvSpPr>
          <p:nvPr/>
        </p:nvSpPr>
        <p:spPr bwMode="auto">
          <a:xfrm>
            <a:off x="900113" y="2060575"/>
            <a:ext cx="8066087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典型的数据流方程举例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zh-CN" altLang="en-US" sz="2400" dirty="0" smtClean="0">
                <a:latin typeface="楷体_GB2312" pitchFamily="49" charset="-122"/>
                <a:ea typeface="楷体_GB2312" pitchFamily="49" charset="-122"/>
              </a:rPr>
              <a:t>以面向基本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块的某种正向数据流为例）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 dirty="0">
                <a:latin typeface="Times New Roman" pitchFamily="18" charset="0"/>
                <a:ea typeface="楷体_GB2312" pitchFamily="49" charset="-122"/>
              </a:rPr>
              <a:t>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          </a:t>
            </a:r>
            <a:r>
              <a:rPr lang="en-US" altLang="zh-CN" sz="2400" b="0" i="1" dirty="0">
                <a:ea typeface="楷体_GB2312" pitchFamily="49" charset="-122"/>
              </a:rPr>
              <a:t>out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 = </a:t>
            </a:r>
            <a:r>
              <a:rPr lang="en-US" altLang="zh-CN" sz="2400" b="0" i="1" dirty="0">
                <a:ea typeface="楷体_GB2312" pitchFamily="49" charset="-122"/>
              </a:rPr>
              <a:t>gen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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in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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en-US" altLang="zh-CN" sz="2400" b="0" i="1" dirty="0">
                <a:ea typeface="楷体_GB2312" pitchFamily="49" charset="-122"/>
              </a:rPr>
              <a:t>kill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其含义为：基本块</a:t>
            </a:r>
            <a:r>
              <a:rPr lang="zh-CN" altLang="en-US" dirty="0"/>
              <a:t> </a:t>
            </a:r>
            <a:r>
              <a:rPr lang="en-US" altLang="zh-CN" sz="2400" b="0" i="1" dirty="0">
                <a:ea typeface="楷体_GB2312" pitchFamily="49" charset="-122"/>
              </a:rPr>
              <a:t>S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出口处的数据流信息（</a:t>
            </a:r>
            <a:r>
              <a:rPr lang="en-US" altLang="zh-CN" sz="2400" b="0" i="1" dirty="0">
                <a:ea typeface="楷体_GB2312" pitchFamily="49" charset="-122"/>
              </a:rPr>
              <a:t>out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或者是 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b="0" i="1" dirty="0"/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内部产生的信息（</a:t>
            </a:r>
            <a:r>
              <a:rPr lang="en-US" altLang="zh-CN" sz="2400" b="0" i="1" dirty="0">
                <a:ea typeface="楷体_GB2312" pitchFamily="49" charset="-122"/>
              </a:rPr>
              <a:t>gen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），或者是从 </a:t>
            </a:r>
            <a:r>
              <a:rPr lang="en-US" altLang="zh-CN" sz="2400" b="0" i="1" dirty="0">
                <a:ea typeface="楷体_GB2312" pitchFamily="49" charset="-122"/>
              </a:rPr>
              <a:t>S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 i="1" dirty="0">
                <a:ea typeface="楷体_GB2312" pitchFamily="49" charset="-122"/>
              </a:rPr>
              <a:t>   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开始处进入（</a:t>
            </a:r>
            <a:r>
              <a:rPr lang="en-US" altLang="zh-CN" sz="2400" b="0" i="1" dirty="0">
                <a:ea typeface="楷体_GB2312" pitchFamily="49" charset="-122"/>
              </a:rPr>
              <a:t>in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）但在穿过 </a:t>
            </a:r>
            <a:r>
              <a:rPr lang="en-US" altLang="zh-CN" sz="2400" b="0" i="1" dirty="0">
                <a:ea typeface="楷体_GB2312" pitchFamily="49" charset="-122"/>
              </a:rPr>
              <a:t>S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的控制流时未被杀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死（</a:t>
            </a:r>
            <a:r>
              <a:rPr lang="en-US" altLang="zh-CN" sz="2400" b="0" i="1" dirty="0">
                <a:ea typeface="楷体_GB2312" pitchFamily="49" charset="-122"/>
              </a:rPr>
              <a:t>killed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）的信息（不在 </a:t>
            </a:r>
            <a:r>
              <a:rPr lang="en-US" altLang="zh-CN" sz="2400" b="0" i="1" dirty="0">
                <a:ea typeface="楷体_GB2312" pitchFamily="49" charset="-122"/>
              </a:rPr>
              <a:t>kill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zh-CN" altLang="en-US" sz="2400" dirty="0">
                <a:ea typeface="楷体_GB2312" pitchFamily="49" charset="-122"/>
              </a:rPr>
              <a:t>中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b="0" dirty="0"/>
              <a:t>    </a:t>
            </a:r>
            <a:r>
              <a:rPr lang="en-US" altLang="zh-CN" sz="2400" b="0" i="1" dirty="0"/>
              <a:t>S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还可以是：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        其他语句块、编译区域</a:t>
            </a:r>
            <a:r>
              <a:rPr lang="zh-CN" altLang="en-US" sz="2400" dirty="0"/>
              <a:t>（</a:t>
            </a:r>
            <a:r>
              <a:rPr lang="en-US" altLang="zh-CN" sz="2400" b="0" i="1" dirty="0"/>
              <a:t>region</a:t>
            </a:r>
            <a:r>
              <a:rPr lang="zh-CN" altLang="en-US" sz="2400" dirty="0"/>
              <a:t>）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、单条语句等</a:t>
            </a: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6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56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0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3716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数据流分析举例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1639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1066800" y="2209800"/>
            <a:ext cx="77724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reaching definitions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数据流分析 </a:t>
            </a:r>
            <a:endParaRPr kumimoji="0" lang="zh-CN" altLang="en-US" sz="2400">
              <a:solidFill>
                <a:srgbClr val="80008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活跃变量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live variables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数据流分析 </a:t>
            </a: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4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1741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43" name="Rectangle 11"/>
          <p:cNvSpPr>
            <a:spLocks noChangeArrowheads="1"/>
          </p:cNvSpPr>
          <p:nvPr/>
        </p:nvSpPr>
        <p:spPr bwMode="auto">
          <a:xfrm>
            <a:off x="685800" y="1905000"/>
            <a:ext cx="8458200" cy="439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ea typeface="楷体_GB2312" pitchFamily="49" charset="-122"/>
              </a:rPr>
              <a:t>变量 </a:t>
            </a:r>
            <a:r>
              <a:rPr lang="en-US" altLang="zh-CN" b="0" i="1" dirty="0">
                <a:ea typeface="楷体_GB2312" pitchFamily="49" charset="-122"/>
              </a:rPr>
              <a:t>A</a:t>
            </a:r>
            <a:r>
              <a:rPr lang="en-US" altLang="zh-CN" dirty="0">
                <a:ea typeface="楷体_GB2312" pitchFamily="49" charset="-122"/>
              </a:rPr>
              <a:t> </a:t>
            </a:r>
            <a:r>
              <a:rPr lang="zh-CN" altLang="en-US" dirty="0">
                <a:ea typeface="楷体_GB2312" pitchFamily="49" charset="-122"/>
              </a:rPr>
              <a:t>的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定值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definition</a:t>
            </a:r>
            <a:r>
              <a:rPr lang="zh-CN" altLang="en-US" sz="2400" dirty="0">
                <a:ea typeface="楷体_GB2312" pitchFamily="49" charset="-122"/>
              </a:rPr>
              <a:t>）</a:t>
            </a:r>
            <a:r>
              <a:rPr lang="zh-CN" altLang="en-US" dirty="0">
                <a:ea typeface="楷体_GB2312" pitchFamily="49" charset="-122"/>
              </a:rPr>
              <a:t>是一个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zh-CN" altLang="en-US" sz="2400" dirty="0">
                <a:ea typeface="楷体_GB2312" pitchFamily="49" charset="-122"/>
              </a:rPr>
              <a:t>）</a:t>
            </a:r>
            <a:r>
              <a:rPr lang="zh-CN" altLang="en-US" dirty="0">
                <a:ea typeface="楷体_GB2312" pitchFamily="49" charset="-122"/>
              </a:rPr>
              <a:t>语句，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ea typeface="楷体_GB2312" pitchFamily="49" charset="-122"/>
              </a:rPr>
              <a:t>    它赋值或可能赋值给 </a:t>
            </a:r>
            <a:r>
              <a:rPr lang="en-US" altLang="zh-CN" b="0" i="1" dirty="0">
                <a:ea typeface="楷体_GB2312" pitchFamily="49" charset="-122"/>
              </a:rPr>
              <a:t>A</a:t>
            </a:r>
            <a:endParaRPr lang="en-US" altLang="zh-CN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dirty="0">
                <a:ea typeface="楷体_GB2312" pitchFamily="49" charset="-122"/>
              </a:rPr>
              <a:t>    </a:t>
            </a:r>
            <a:r>
              <a:rPr lang="zh-CN" altLang="en-US" dirty="0">
                <a:ea typeface="楷体_GB2312" pitchFamily="49" charset="-122"/>
              </a:rPr>
              <a:t>最普通的定值是对 </a:t>
            </a:r>
            <a:r>
              <a:rPr lang="en-US" altLang="zh-CN" b="0" i="1" dirty="0">
                <a:ea typeface="楷体_GB2312" pitchFamily="49" charset="-122"/>
              </a:rPr>
              <a:t>A </a:t>
            </a:r>
            <a:r>
              <a:rPr lang="zh-CN" altLang="en-US" dirty="0">
                <a:ea typeface="楷体_GB2312" pitchFamily="49" charset="-122"/>
              </a:rPr>
              <a:t>的赋值或读值到 </a:t>
            </a:r>
            <a:r>
              <a:rPr lang="en-US" altLang="zh-CN" b="0" i="1" dirty="0">
                <a:ea typeface="楷体_GB2312" pitchFamily="49" charset="-122"/>
              </a:rPr>
              <a:t>A </a:t>
            </a:r>
            <a:r>
              <a:rPr lang="zh-CN" altLang="en-US" dirty="0">
                <a:ea typeface="楷体_GB2312" pitchFamily="49" charset="-122"/>
              </a:rPr>
              <a:t>的语句，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ea typeface="楷体_GB2312" pitchFamily="49" charset="-122"/>
              </a:rPr>
              <a:t>    该语句的位置 称作 </a:t>
            </a:r>
            <a:r>
              <a:rPr lang="en-US" altLang="zh-CN" b="0" i="1" dirty="0">
                <a:ea typeface="楷体_GB2312" pitchFamily="49" charset="-122"/>
              </a:rPr>
              <a:t>A </a:t>
            </a:r>
            <a:r>
              <a:rPr lang="zh-CN" altLang="en-US" dirty="0">
                <a:ea typeface="楷体_GB2312" pitchFamily="49" charset="-122"/>
              </a:rPr>
              <a:t>的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定值点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ea typeface="楷体_GB2312" pitchFamily="49" charset="-122"/>
              </a:rPr>
              <a:t>变量 </a:t>
            </a:r>
            <a:r>
              <a:rPr lang="en-US" altLang="zh-CN" b="0" i="1" dirty="0">
                <a:ea typeface="楷体_GB2312" pitchFamily="49" charset="-122"/>
              </a:rPr>
              <a:t>A </a:t>
            </a:r>
            <a:r>
              <a:rPr lang="zh-CN" altLang="en-US" dirty="0">
                <a:ea typeface="楷体_GB2312" pitchFamily="49" charset="-122"/>
              </a:rPr>
              <a:t>的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定值点</a:t>
            </a:r>
            <a:r>
              <a:rPr lang="zh-CN" altLang="en-US" dirty="0">
                <a:ea typeface="楷体_GB2312" pitchFamily="49" charset="-122"/>
              </a:rPr>
              <a:t> </a:t>
            </a:r>
            <a:r>
              <a:rPr lang="en-US" altLang="zh-CN" b="0" i="1" dirty="0">
                <a:ea typeface="楷体_GB2312" pitchFamily="49" charset="-122"/>
              </a:rPr>
              <a:t>d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到达</a:t>
            </a:r>
            <a:r>
              <a:rPr lang="zh-CN" altLang="en-US" dirty="0">
                <a:ea typeface="楷体_GB2312" pitchFamily="49" charset="-122"/>
              </a:rPr>
              <a:t>某点</a:t>
            </a:r>
            <a:r>
              <a:rPr lang="zh-CN" altLang="en-US" b="0" i="1" dirty="0">
                <a:ea typeface="楷体_GB2312" pitchFamily="49" charset="-122"/>
              </a:rPr>
              <a:t> </a:t>
            </a:r>
            <a:r>
              <a:rPr lang="en-US" altLang="zh-CN" b="0" i="1" dirty="0">
                <a:ea typeface="楷体_GB2312" pitchFamily="49" charset="-122"/>
              </a:rPr>
              <a:t>p</a:t>
            </a:r>
            <a:r>
              <a:rPr lang="zh-CN" altLang="en-US" dirty="0">
                <a:ea typeface="楷体_GB2312" pitchFamily="49" charset="-122"/>
              </a:rPr>
              <a:t>，是指如果有路径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ea typeface="楷体_GB2312" pitchFamily="49" charset="-122"/>
              </a:rPr>
              <a:t>    从紧跟 </a:t>
            </a:r>
            <a:r>
              <a:rPr lang="en-US" altLang="zh-CN" b="0" i="1" dirty="0">
                <a:ea typeface="楷体_GB2312" pitchFamily="49" charset="-122"/>
              </a:rPr>
              <a:t>d </a:t>
            </a:r>
            <a:r>
              <a:rPr lang="zh-CN" altLang="en-US" dirty="0">
                <a:ea typeface="楷体_GB2312" pitchFamily="49" charset="-122"/>
              </a:rPr>
              <a:t>的点到达 </a:t>
            </a:r>
            <a:r>
              <a:rPr lang="en-US" altLang="zh-CN" b="0" i="1" dirty="0">
                <a:ea typeface="楷体_GB2312" pitchFamily="49" charset="-122"/>
              </a:rPr>
              <a:t>p</a:t>
            </a:r>
            <a:r>
              <a:rPr lang="zh-CN" altLang="en-US" dirty="0">
                <a:ea typeface="楷体_GB2312" pitchFamily="49" charset="-122"/>
              </a:rPr>
              <a:t>，并且在这条路径上 </a:t>
            </a:r>
            <a:r>
              <a:rPr lang="en-US" altLang="zh-CN" b="0" i="1" dirty="0">
                <a:ea typeface="楷体_GB2312" pitchFamily="49" charset="-122"/>
              </a:rPr>
              <a:t>d 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未被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 “杀死”</a:t>
            </a:r>
            <a:r>
              <a:rPr lang="zh-CN" altLang="en-US" dirty="0">
                <a:ea typeface="楷体_GB2312" pitchFamily="49" charset="-122"/>
              </a:rPr>
              <a:t>（指该变量重新被定值）</a:t>
            </a:r>
            <a:r>
              <a:rPr lang="en-US" altLang="zh-CN" dirty="0">
                <a:ea typeface="楷体_GB2312" pitchFamily="49" charset="-122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dirty="0">
                <a:ea typeface="楷体_GB2312" pitchFamily="49" charset="-122"/>
              </a:rPr>
              <a:t>    </a:t>
            </a:r>
            <a:r>
              <a:rPr lang="zh-CN" altLang="en-US" dirty="0">
                <a:ea typeface="楷体_GB2312" pitchFamily="49" charset="-122"/>
              </a:rPr>
              <a:t>直观地说，是指流图中从 </a:t>
            </a:r>
            <a:r>
              <a:rPr lang="en-US" altLang="zh-CN" b="0" i="1" dirty="0">
                <a:ea typeface="楷体_GB2312" pitchFamily="49" charset="-122"/>
              </a:rPr>
              <a:t>d </a:t>
            </a:r>
            <a:r>
              <a:rPr lang="zh-CN" altLang="en-US" dirty="0">
                <a:ea typeface="楷体_GB2312" pitchFamily="49" charset="-122"/>
              </a:rPr>
              <a:t>有一条路径到达 </a:t>
            </a:r>
            <a:r>
              <a:rPr lang="en-US" altLang="zh-CN" b="0" i="1" dirty="0">
                <a:ea typeface="楷体_GB2312" pitchFamily="49" charset="-122"/>
              </a:rPr>
              <a:t>p </a:t>
            </a:r>
            <a:r>
              <a:rPr lang="zh-CN" altLang="en-US" dirty="0">
                <a:ea typeface="楷体_GB2312" pitchFamily="49" charset="-122"/>
              </a:rPr>
              <a:t>且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ea typeface="楷体_GB2312" pitchFamily="49" charset="-122"/>
              </a:rPr>
              <a:t>    该通路上没有 </a:t>
            </a:r>
            <a:r>
              <a:rPr lang="en-US" altLang="zh-CN" b="0" i="1" dirty="0">
                <a:ea typeface="楷体_GB2312" pitchFamily="49" charset="-122"/>
              </a:rPr>
              <a:t>A </a:t>
            </a:r>
            <a:r>
              <a:rPr lang="zh-CN" altLang="en-US" dirty="0">
                <a:ea typeface="楷体_GB2312" pitchFamily="49" charset="-122"/>
              </a:rPr>
              <a:t>的其它定值</a:t>
            </a:r>
          </a:p>
        </p:txBody>
      </p:sp>
      <p:sp>
        <p:nvSpPr>
          <p:cNvPr id="17420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58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658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58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658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658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658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658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58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18439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1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443" name="Group 14"/>
          <p:cNvGrpSpPr>
            <a:grpSpLocks/>
          </p:cNvGrpSpPr>
          <p:nvPr/>
        </p:nvGrpSpPr>
        <p:grpSpPr bwMode="auto">
          <a:xfrm>
            <a:off x="685800" y="1905000"/>
            <a:ext cx="8229600" cy="4462463"/>
            <a:chOff x="432" y="1200"/>
            <a:chExt cx="5184" cy="2811"/>
          </a:xfrm>
        </p:grpSpPr>
        <p:sp>
          <p:nvSpPr>
            <p:cNvPr id="18445" name="Rectangle 11"/>
            <p:cNvSpPr>
              <a:spLocks noChangeArrowheads="1"/>
            </p:cNvSpPr>
            <p:nvPr/>
          </p:nvSpPr>
          <p:spPr bwMode="auto">
            <a:xfrm>
              <a:off x="432" y="1200"/>
              <a:ext cx="5184" cy="28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Char char="-"/>
              </a:pPr>
              <a:r>
                <a:rPr lang="en-US" altLang="zh-CN" dirty="0">
                  <a:solidFill>
                    <a:srgbClr val="80008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dirty="0">
                  <a:solidFill>
                    <a:srgbClr val="800080"/>
                  </a:solidFill>
                  <a:ea typeface="楷体_GB2312" pitchFamily="49" charset="-122"/>
                </a:rPr>
                <a:t>数据流方程</a:t>
              </a:r>
              <a:endParaRPr lang="zh-CN" altLang="en-US" dirty="0"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endParaRPr lang="zh-CN" altLang="en-US" sz="1000" dirty="0">
                <a:latin typeface="Times New Roman" pitchFamily="18" charset="0"/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r>
                <a:rPr lang="zh-CN" altLang="en-US" sz="2400" dirty="0">
                  <a:latin typeface="Times New Roman" pitchFamily="18" charset="0"/>
                  <a:ea typeface="楷体_GB2312" pitchFamily="49" charset="-122"/>
                </a:rPr>
                <a:t>               </a:t>
              </a:r>
              <a:r>
                <a:rPr lang="en-US" altLang="zh-CN" sz="2400" b="0" i="1" dirty="0">
                  <a:ea typeface="楷体_GB2312" pitchFamily="49" charset="-122"/>
                </a:rPr>
                <a:t>OUT </a:t>
              </a:r>
              <a:r>
                <a:rPr lang="en-US" altLang="zh-CN" sz="2400" b="0" dirty="0">
                  <a:ea typeface="楷体_GB2312" pitchFamily="49" charset="-122"/>
                </a:rPr>
                <a:t>[</a:t>
              </a:r>
              <a:r>
                <a:rPr lang="en-US" altLang="zh-CN" sz="2400" b="0" i="1" dirty="0">
                  <a:ea typeface="楷体_GB2312" pitchFamily="49" charset="-122"/>
                </a:rPr>
                <a:t>B</a:t>
              </a:r>
              <a:r>
                <a:rPr lang="en-US" altLang="zh-CN" sz="2400" b="0" dirty="0">
                  <a:ea typeface="楷体_GB2312" pitchFamily="49" charset="-122"/>
                </a:rPr>
                <a:t>] = </a:t>
              </a:r>
              <a:r>
                <a:rPr lang="en-US" altLang="zh-CN" sz="2400" b="0" i="1" dirty="0">
                  <a:ea typeface="楷体_GB2312" pitchFamily="49" charset="-122"/>
                </a:rPr>
                <a:t>GEN</a:t>
              </a:r>
              <a:r>
                <a:rPr lang="en-US" altLang="zh-CN" sz="2400" b="0" dirty="0">
                  <a:ea typeface="楷体_GB2312" pitchFamily="49" charset="-122"/>
                </a:rPr>
                <a:t> [</a:t>
              </a:r>
              <a:r>
                <a:rPr lang="en-US" altLang="zh-CN" sz="2400" b="0" i="1" dirty="0">
                  <a:ea typeface="楷体_GB2312" pitchFamily="49" charset="-122"/>
                </a:rPr>
                <a:t>B</a:t>
              </a:r>
              <a:r>
                <a:rPr lang="en-US" altLang="zh-CN" sz="2400" b="0" dirty="0">
                  <a:ea typeface="楷体_GB2312" pitchFamily="49" charset="-122"/>
                </a:rPr>
                <a:t>] </a:t>
              </a:r>
              <a:r>
                <a:rPr lang="en-US" altLang="zh-CN" sz="2400" b="0" dirty="0">
                  <a:ea typeface="楷体_GB2312" pitchFamily="49" charset="-122"/>
                  <a:sym typeface="Symbol" pitchFamily="18" charset="2"/>
                </a:rPr>
                <a:t></a:t>
              </a:r>
              <a:r>
                <a:rPr lang="zh-CN" altLang="en-US" sz="2400" dirty="0">
                  <a:latin typeface="Times New Roman" pitchFamily="18" charset="0"/>
                  <a:ea typeface="楷体_GB2312" pitchFamily="49" charset="-122"/>
                </a:rPr>
                <a:t>（</a:t>
              </a:r>
              <a:r>
                <a:rPr lang="en-US" altLang="zh-CN" sz="2400" b="0" i="1" dirty="0">
                  <a:ea typeface="楷体_GB2312" pitchFamily="49" charset="-122"/>
                </a:rPr>
                <a:t>IN </a:t>
              </a:r>
              <a:r>
                <a:rPr lang="en-US" altLang="zh-CN" sz="2400" b="0" dirty="0">
                  <a:ea typeface="楷体_GB2312" pitchFamily="49" charset="-122"/>
                </a:rPr>
                <a:t>[</a:t>
              </a:r>
              <a:r>
                <a:rPr lang="en-US" altLang="zh-CN" sz="2400" b="0" i="1" dirty="0">
                  <a:ea typeface="楷体_GB2312" pitchFamily="49" charset="-122"/>
                </a:rPr>
                <a:t>B</a:t>
              </a:r>
              <a:r>
                <a:rPr lang="en-US" altLang="zh-CN" sz="2400" b="0" dirty="0">
                  <a:ea typeface="楷体_GB2312" pitchFamily="49" charset="-122"/>
                </a:rPr>
                <a:t>] </a:t>
              </a:r>
              <a:r>
                <a:rPr lang="en-US" altLang="zh-CN" sz="2400" b="0" dirty="0">
                  <a:ea typeface="楷体_GB2312" pitchFamily="49" charset="-122"/>
                  <a:sym typeface="Symbol" pitchFamily="18" charset="2"/>
                </a:rPr>
                <a:t></a:t>
              </a:r>
              <a:r>
                <a:rPr lang="en-US" altLang="zh-CN" sz="2400" b="0" dirty="0">
                  <a:ea typeface="楷体_GB2312" pitchFamily="49" charset="-122"/>
                </a:rPr>
                <a:t> </a:t>
              </a:r>
              <a:r>
                <a:rPr lang="en-US" altLang="zh-CN" sz="2400" b="0" i="1" dirty="0">
                  <a:ea typeface="楷体_GB2312" pitchFamily="49" charset="-122"/>
                </a:rPr>
                <a:t>KILL</a:t>
              </a:r>
              <a:r>
                <a:rPr lang="en-US" altLang="zh-CN" sz="2400" b="0" dirty="0">
                  <a:ea typeface="楷体_GB2312" pitchFamily="49" charset="-122"/>
                </a:rPr>
                <a:t> [</a:t>
              </a:r>
              <a:r>
                <a:rPr lang="en-US" altLang="zh-CN" sz="2400" b="0" i="1" dirty="0">
                  <a:ea typeface="楷体_GB2312" pitchFamily="49" charset="-122"/>
                </a:rPr>
                <a:t>B</a:t>
              </a:r>
              <a:r>
                <a:rPr lang="en-US" altLang="zh-CN" sz="2400" b="0" dirty="0">
                  <a:ea typeface="楷体_GB2312" pitchFamily="49" charset="-122"/>
                </a:rPr>
                <a:t>]</a:t>
              </a:r>
              <a:r>
                <a:rPr lang="zh-CN" altLang="en-US" sz="2400" dirty="0">
                  <a:latin typeface="Times New Roman" pitchFamily="18" charset="0"/>
                  <a:ea typeface="楷体_GB2312" pitchFamily="49" charset="-122"/>
                </a:rPr>
                <a:t>）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endParaRPr lang="zh-CN" altLang="en-US" sz="1000" dirty="0">
                <a:latin typeface="Times New Roman" pitchFamily="18" charset="0"/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r>
                <a:rPr lang="zh-CN" altLang="en-US" sz="2400" dirty="0">
                  <a:latin typeface="Times New Roman" pitchFamily="18" charset="0"/>
                  <a:ea typeface="楷体_GB2312" pitchFamily="49" charset="-122"/>
                </a:rPr>
                <a:t>               </a:t>
              </a:r>
              <a:r>
                <a:rPr lang="en-US" altLang="zh-CN" sz="2400" b="0" i="1" dirty="0">
                  <a:ea typeface="楷体_GB2312" pitchFamily="49" charset="-122"/>
                </a:rPr>
                <a:t>IN </a:t>
              </a:r>
              <a:r>
                <a:rPr lang="en-US" altLang="zh-CN" sz="2400" b="0" dirty="0">
                  <a:ea typeface="楷体_GB2312" pitchFamily="49" charset="-122"/>
                </a:rPr>
                <a:t>[</a:t>
              </a:r>
              <a:r>
                <a:rPr lang="en-US" altLang="zh-CN" sz="2400" b="0" i="1" dirty="0">
                  <a:ea typeface="楷体_GB2312" pitchFamily="49" charset="-122"/>
                </a:rPr>
                <a:t>B</a:t>
              </a:r>
              <a:r>
                <a:rPr lang="en-US" altLang="zh-CN" sz="2400" b="0" dirty="0">
                  <a:ea typeface="楷体_GB2312" pitchFamily="49" charset="-122"/>
                </a:rPr>
                <a:t>] </a:t>
              </a:r>
              <a:r>
                <a:rPr lang="en-US" altLang="zh-CN" sz="2400" dirty="0">
                  <a:latin typeface="Times New Roman" pitchFamily="18" charset="0"/>
                  <a:ea typeface="楷体_GB2312" pitchFamily="49" charset="-122"/>
                </a:rPr>
                <a:t>= </a:t>
              </a:r>
              <a:r>
                <a:rPr lang="en-US" altLang="zh-CN" sz="2400" dirty="0">
                  <a:latin typeface="Times New Roman" pitchFamily="18" charset="0"/>
                  <a:ea typeface="楷体_GB2312" pitchFamily="49" charset="-122"/>
                  <a:sym typeface="Symbol" pitchFamily="18" charset="2"/>
                </a:rPr>
                <a:t></a:t>
              </a:r>
              <a:r>
                <a:rPr lang="en-US" altLang="zh-CN" sz="2400" dirty="0">
                  <a:latin typeface="Times New Roman" pitchFamily="18" charset="0"/>
                  <a:ea typeface="楷体_GB2312" pitchFamily="49" charset="-122"/>
                </a:rPr>
                <a:t>  </a:t>
              </a:r>
              <a:r>
                <a:rPr lang="en-US" altLang="zh-CN" sz="2400" b="0" i="1" dirty="0">
                  <a:ea typeface="楷体_GB2312" pitchFamily="49" charset="-122"/>
                </a:rPr>
                <a:t>OUT </a:t>
              </a:r>
              <a:r>
                <a:rPr lang="en-US" altLang="zh-CN" sz="2400" b="0" dirty="0" smtClean="0">
                  <a:ea typeface="楷体_GB2312" pitchFamily="49" charset="-122"/>
                </a:rPr>
                <a:t>[</a:t>
              </a:r>
              <a:r>
                <a:rPr lang="en-US" altLang="zh-CN" sz="2400" b="0" i="1" dirty="0" smtClean="0">
                  <a:ea typeface="楷体_GB2312" pitchFamily="49" charset="-122"/>
                </a:rPr>
                <a:t>b</a:t>
              </a:r>
              <a:r>
                <a:rPr lang="en-US" altLang="zh-CN" sz="2400" b="0" dirty="0" smtClean="0">
                  <a:ea typeface="楷体_GB2312" pitchFamily="49" charset="-122"/>
                </a:rPr>
                <a:t>]</a:t>
              </a:r>
              <a:endParaRPr lang="en-US" altLang="zh-CN" sz="2400" dirty="0">
                <a:latin typeface="Times New Roman" pitchFamily="18" charset="0"/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endParaRPr lang="en-US" altLang="zh-CN" sz="1000" dirty="0">
                <a:latin typeface="Times New Roman" pitchFamily="18" charset="0"/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000" dirty="0">
                  <a:ea typeface="楷体_GB2312" pitchFamily="49" charset="-122"/>
                </a:rPr>
                <a:t>     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    </a:t>
              </a:r>
              <a:r>
                <a:rPr lang="zh-CN" altLang="en-US" sz="2000" dirty="0">
                  <a:ea typeface="楷体_GB2312" pitchFamily="49" charset="-122"/>
                </a:rPr>
                <a:t>其中，</a:t>
              </a:r>
              <a:r>
                <a:rPr lang="en-US" altLang="zh-CN" sz="2000" b="0" i="1" dirty="0">
                  <a:ea typeface="楷体_GB2312" pitchFamily="49" charset="-122"/>
                </a:rPr>
                <a:t>P</a:t>
              </a:r>
              <a:r>
                <a:rPr lang="en-US" altLang="zh-CN" sz="2000" b="0" dirty="0">
                  <a:ea typeface="楷体_GB2312" pitchFamily="49" charset="-122"/>
                </a:rPr>
                <a:t>[</a:t>
              </a:r>
              <a:r>
                <a:rPr lang="en-US" altLang="zh-CN" sz="2000" b="0" i="1" dirty="0">
                  <a:ea typeface="楷体_GB2312" pitchFamily="49" charset="-122"/>
                </a:rPr>
                <a:t>B</a:t>
              </a:r>
              <a:r>
                <a:rPr lang="en-US" altLang="zh-CN" sz="2000" b="0" dirty="0">
                  <a:ea typeface="楷体_GB2312" pitchFamily="49" charset="-122"/>
                </a:rPr>
                <a:t>] </a:t>
              </a:r>
              <a:r>
                <a:rPr lang="zh-CN" altLang="en-US" sz="2000" dirty="0">
                  <a:ea typeface="楷体_GB2312" pitchFamily="49" charset="-122"/>
                </a:rPr>
                <a:t>为 </a:t>
              </a:r>
              <a:r>
                <a:rPr lang="en-US" altLang="zh-CN" sz="2000" b="0" i="1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的所有前驱基本块；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                 </a:t>
              </a:r>
              <a:r>
                <a:rPr lang="en-US" altLang="zh-CN" sz="2000" b="0" i="1" dirty="0">
                  <a:ea typeface="楷体_GB2312" pitchFamily="49" charset="-122"/>
                </a:rPr>
                <a:t>GEN</a:t>
              </a:r>
              <a:r>
                <a:rPr lang="en-US" altLang="zh-CN" sz="2000" b="0" dirty="0">
                  <a:ea typeface="楷体_GB2312" pitchFamily="49" charset="-122"/>
                </a:rPr>
                <a:t> [</a:t>
              </a:r>
              <a:r>
                <a:rPr lang="en-US" altLang="zh-CN" sz="2000" b="0" i="1" dirty="0">
                  <a:ea typeface="楷体_GB2312" pitchFamily="49" charset="-122"/>
                </a:rPr>
                <a:t>B</a:t>
              </a:r>
              <a:r>
                <a:rPr lang="en-US" altLang="zh-CN" sz="2000" b="0" dirty="0">
                  <a:ea typeface="楷体_GB2312" pitchFamily="49" charset="-122"/>
                </a:rPr>
                <a:t>] </a:t>
              </a:r>
              <a:r>
                <a:rPr lang="zh-CN" altLang="en-US" sz="2000" dirty="0">
                  <a:ea typeface="楷体_GB2312" pitchFamily="49" charset="-122"/>
                </a:rPr>
                <a:t>为 </a:t>
              </a:r>
              <a:r>
                <a:rPr lang="en-US" altLang="zh-CN" sz="2000" b="0" i="1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中定值并可到达 </a:t>
              </a:r>
              <a:r>
                <a:rPr lang="en-US" altLang="zh-CN" sz="2000" b="0" i="1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出口处的所有定值点集合；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                 </a:t>
              </a:r>
              <a:r>
                <a:rPr lang="en-US" altLang="zh-CN" sz="2000" b="0" i="1" dirty="0">
                  <a:ea typeface="楷体_GB2312" pitchFamily="49" charset="-122"/>
                </a:rPr>
                <a:t>KILL</a:t>
              </a:r>
              <a:r>
                <a:rPr lang="en-US" altLang="zh-CN" sz="2000" b="0" dirty="0">
                  <a:ea typeface="楷体_GB2312" pitchFamily="49" charset="-122"/>
                </a:rPr>
                <a:t> [</a:t>
              </a:r>
              <a:r>
                <a:rPr lang="en-US" altLang="zh-CN" sz="2000" b="0" i="1" dirty="0">
                  <a:ea typeface="楷体_GB2312" pitchFamily="49" charset="-122"/>
                </a:rPr>
                <a:t>B</a:t>
              </a:r>
              <a:r>
                <a:rPr lang="en-US" altLang="zh-CN" sz="2000" b="0" dirty="0">
                  <a:ea typeface="楷体_GB2312" pitchFamily="49" charset="-122"/>
                </a:rPr>
                <a:t>] </a:t>
              </a:r>
              <a:r>
                <a:rPr lang="zh-CN" altLang="en-US" sz="2000" dirty="0">
                  <a:ea typeface="楷体_GB2312" pitchFamily="49" charset="-122"/>
                </a:rPr>
                <a:t>为 </a:t>
              </a:r>
              <a:r>
                <a:rPr lang="en-US" altLang="zh-CN" sz="2000" b="0" i="1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之外</a:t>
              </a:r>
              <a:r>
                <a:rPr lang="zh-CN" altLang="en-US" sz="2000" dirty="0" smtClean="0">
                  <a:ea typeface="楷体_GB2312" pitchFamily="49" charset="-122"/>
                </a:rPr>
                <a:t>的能够到达</a:t>
              </a:r>
              <a:r>
                <a:rPr lang="en-US" altLang="zh-CN" sz="2000" b="0" i="1" dirty="0" smtClean="0">
                  <a:ea typeface="楷体_GB2312" pitchFamily="49" charset="-122"/>
                </a:rPr>
                <a:t>B </a:t>
              </a:r>
              <a:r>
                <a:rPr lang="zh-CN" altLang="en-US" sz="2000" dirty="0" smtClean="0">
                  <a:ea typeface="楷体_GB2312" pitchFamily="49" charset="-122"/>
                </a:rPr>
                <a:t>的入口处、且其</a:t>
              </a:r>
              <a:r>
                <a:rPr lang="zh-CN" altLang="en-US" sz="2000" dirty="0">
                  <a:ea typeface="楷体_GB2312" pitchFamily="49" charset="-122"/>
                </a:rPr>
                <a:t>定值</a:t>
              </a:r>
              <a:r>
                <a:rPr lang="zh-CN" altLang="en-US" sz="2000" dirty="0" smtClean="0">
                  <a:ea typeface="楷体_GB2312" pitchFamily="49" charset="-122"/>
                </a:rPr>
                <a:t>的变量</a:t>
              </a:r>
              <a:endParaRPr lang="en-US" altLang="zh-CN" sz="2000" dirty="0" smtClean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 smtClean="0">
                  <a:ea typeface="楷体_GB2312" pitchFamily="49" charset="-122"/>
                </a:rPr>
                <a:t>                               </a:t>
              </a:r>
              <a:r>
                <a:rPr lang="zh-CN" altLang="en-US" sz="2000" dirty="0" smtClean="0">
                  <a:ea typeface="楷体_GB2312" pitchFamily="49" charset="-122"/>
                </a:rPr>
                <a:t>在 </a:t>
              </a:r>
              <a:r>
                <a:rPr lang="en-US" altLang="zh-CN" sz="2000" b="0" i="1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中</a:t>
              </a:r>
              <a:r>
                <a:rPr lang="zh-CN" altLang="en-US" sz="2000" dirty="0" smtClean="0">
                  <a:ea typeface="楷体_GB2312" pitchFamily="49" charset="-122"/>
                </a:rPr>
                <a:t>又重新</a:t>
              </a:r>
              <a:r>
                <a:rPr lang="zh-CN" altLang="en-US" sz="2000" dirty="0">
                  <a:ea typeface="楷体_GB2312" pitchFamily="49" charset="-122"/>
                </a:rPr>
                <a:t>定</a:t>
              </a:r>
              <a:r>
                <a:rPr lang="zh-CN" altLang="en-US" sz="2000" dirty="0" smtClean="0">
                  <a:ea typeface="楷体_GB2312" pitchFamily="49" charset="-122"/>
                </a:rPr>
                <a:t>值的那些定值</a:t>
              </a:r>
              <a:r>
                <a:rPr lang="zh-CN" altLang="en-US" sz="2000" smtClean="0">
                  <a:ea typeface="楷体_GB2312" pitchFamily="49" charset="-122"/>
                </a:rPr>
                <a:t>点的集合</a:t>
              </a:r>
              <a:r>
                <a:rPr lang="en-US" altLang="zh-CN" sz="2000" smtClean="0">
                  <a:ea typeface="楷体_GB2312" pitchFamily="49" charset="-122"/>
                </a:rPr>
                <a:t>; </a:t>
              </a:r>
              <a:endParaRPr lang="en-US" altLang="zh-CN" sz="2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en-US" altLang="zh-CN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ea typeface="楷体_GB2312" pitchFamily="49" charset="-122"/>
                </a:rPr>
                <a:t>                 </a:t>
              </a:r>
              <a:r>
                <a:rPr lang="en-US" altLang="zh-CN" sz="2000" b="0" i="1" dirty="0">
                  <a:ea typeface="楷体_GB2312" pitchFamily="49" charset="-122"/>
                </a:rPr>
                <a:t>IN </a:t>
              </a:r>
              <a:r>
                <a:rPr lang="en-US" altLang="zh-CN" sz="2000" b="0" dirty="0">
                  <a:ea typeface="楷体_GB2312" pitchFamily="49" charset="-122"/>
                </a:rPr>
                <a:t>[</a:t>
              </a:r>
              <a:r>
                <a:rPr lang="en-US" altLang="zh-CN" sz="2000" b="0" i="1" dirty="0">
                  <a:ea typeface="楷体_GB2312" pitchFamily="49" charset="-122"/>
                </a:rPr>
                <a:t>B</a:t>
              </a:r>
              <a:r>
                <a:rPr lang="en-US" altLang="zh-CN" sz="2000" b="0" dirty="0">
                  <a:ea typeface="楷体_GB2312" pitchFamily="49" charset="-122"/>
                </a:rPr>
                <a:t>]</a:t>
              </a:r>
              <a:r>
                <a:rPr lang="zh-CN" altLang="en-US" sz="2000" dirty="0">
                  <a:ea typeface="楷体_GB2312" pitchFamily="49" charset="-122"/>
                </a:rPr>
                <a:t>为到 </a:t>
              </a:r>
              <a:r>
                <a:rPr lang="en-US" altLang="zh-CN" sz="2000" b="0" i="1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入口处各变量的所有可到达的定值点的集合</a:t>
              </a:r>
              <a:r>
                <a:rPr lang="en-US" altLang="zh-CN" sz="2000" dirty="0">
                  <a:ea typeface="楷体_GB2312" pitchFamily="49" charset="-122"/>
                </a:rPr>
                <a:t>;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en-US" altLang="zh-CN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0" i="1" dirty="0">
                  <a:ea typeface="楷体_GB2312" pitchFamily="49" charset="-122"/>
                </a:rPr>
                <a:t>                 OUT </a:t>
              </a:r>
              <a:r>
                <a:rPr lang="en-US" altLang="zh-CN" sz="2000" b="0" dirty="0">
                  <a:ea typeface="楷体_GB2312" pitchFamily="49" charset="-122"/>
                </a:rPr>
                <a:t>[</a:t>
              </a:r>
              <a:r>
                <a:rPr lang="en-US" altLang="zh-CN" sz="2000" b="0" i="1" dirty="0">
                  <a:ea typeface="楷体_GB2312" pitchFamily="49" charset="-122"/>
                </a:rPr>
                <a:t>B</a:t>
              </a:r>
              <a:r>
                <a:rPr lang="en-US" altLang="zh-CN" sz="2000" b="0" dirty="0">
                  <a:ea typeface="楷体_GB2312" pitchFamily="49" charset="-122"/>
                </a:rPr>
                <a:t>]</a:t>
              </a:r>
              <a:r>
                <a:rPr lang="zh-CN" altLang="en-US" sz="2000" dirty="0">
                  <a:ea typeface="楷体_GB2312" pitchFamily="49" charset="-122"/>
                </a:rPr>
                <a:t>为到达 </a:t>
              </a:r>
              <a:r>
                <a:rPr lang="en-US" altLang="zh-CN" sz="2000" b="0" i="1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出口处各变量的所有可到达的定值点的集合</a:t>
              </a:r>
            </a:p>
          </p:txBody>
        </p:sp>
        <p:sp>
          <p:nvSpPr>
            <p:cNvPr id="18446" name="Text Box 13"/>
            <p:cNvSpPr txBox="1">
              <a:spLocks noChangeArrowheads="1"/>
            </p:cNvSpPr>
            <p:nvPr/>
          </p:nvSpPr>
          <p:spPr bwMode="auto">
            <a:xfrm>
              <a:off x="1708" y="2092"/>
              <a:ext cx="5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>
                  <a:srgbClr val="800080"/>
                </a:buClr>
                <a:buFont typeface="Wingdings" pitchFamily="2" charset="2"/>
                <a:buNone/>
              </a:pPr>
              <a:r>
                <a:rPr lang="en-US" altLang="zh-CN" sz="1600" i="1" dirty="0" err="1" smtClean="0">
                  <a:ea typeface="楷体_GB2312" pitchFamily="49" charset="-122"/>
                </a:rPr>
                <a:t>b</a:t>
              </a:r>
              <a:r>
                <a:rPr lang="en-US" altLang="zh-CN" sz="1600" dirty="0" err="1" smtClean="0">
                  <a:ea typeface="楷体_GB2312" pitchFamily="49" charset="-122"/>
                  <a:sym typeface="Symbol" pitchFamily="18" charset="2"/>
                </a:rPr>
                <a:t></a:t>
              </a:r>
              <a:r>
                <a:rPr lang="en-US" altLang="zh-CN" sz="1600" i="1" dirty="0" err="1">
                  <a:ea typeface="楷体_GB2312" pitchFamily="49" charset="-122"/>
                </a:rPr>
                <a:t>P</a:t>
              </a:r>
              <a:r>
                <a:rPr lang="en-US" altLang="zh-CN" sz="1600" dirty="0">
                  <a:ea typeface="楷体_GB2312" pitchFamily="49" charset="-122"/>
                </a:rPr>
                <a:t>[</a:t>
              </a:r>
              <a:r>
                <a:rPr lang="en-US" altLang="zh-CN" sz="1600" i="1" dirty="0">
                  <a:ea typeface="楷体_GB2312" pitchFamily="49" charset="-122"/>
                </a:rPr>
                <a:t>B</a:t>
              </a:r>
              <a:r>
                <a:rPr lang="en-US" altLang="zh-CN" sz="1600" dirty="0">
                  <a:ea typeface="楷体_GB2312" pitchFamily="49" charset="-122"/>
                </a:rPr>
                <a:t>]</a:t>
              </a:r>
            </a:p>
          </p:txBody>
        </p:sp>
      </p:grpSp>
      <p:sp>
        <p:nvSpPr>
          <p:cNvPr id="18444" name="Rectangle 15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Text Box 6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049338"/>
            <a:ext cx="8224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1946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4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5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6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685800" y="1590675"/>
            <a:ext cx="5541963" cy="176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对于右边的流图（略去了基本块中的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一些跳转语句），如下是上页数据流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方程的一个解：</a:t>
            </a:r>
          </a:p>
        </p:txBody>
      </p:sp>
      <p:sp>
        <p:nvSpPr>
          <p:cNvPr id="19468" name="Text Box 15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19469" name="Text Box 16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19470" name="Text Box 17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19471" name="Text Box 18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19472" name="Text Box 20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19473" name="Rectangle 21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19474" name="Rectangle 22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19475" name="Rectangle 23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19476" name="Rectangle 24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19477" name="Rectangle 25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78" name="Line 26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79" name="Line 27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480" name="Rectangle 28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81" name="Rectangle 29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82" name="Rectangle 30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83" name="Rectangle 31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19484" name="Rectangle 34"/>
          <p:cNvSpPr>
            <a:spLocks noChangeArrowheads="1"/>
          </p:cNvSpPr>
          <p:nvPr/>
        </p:nvSpPr>
        <p:spPr bwMode="auto">
          <a:xfrm>
            <a:off x="1905000" y="3962400"/>
            <a:ext cx="111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85" name="Rectangle 35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86" name="Rectangle 36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87" name="Rectangle 38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88" name="Rectangle 39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19489" name="Rectangle 41"/>
          <p:cNvSpPr>
            <a:spLocks noChangeArrowheads="1"/>
          </p:cNvSpPr>
          <p:nvPr/>
        </p:nvSpPr>
        <p:spPr bwMode="auto">
          <a:xfrm>
            <a:off x="3048000" y="3962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0" name="Rectangle 42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1" name="Rectangle 43"/>
          <p:cNvSpPr>
            <a:spLocks noChangeArrowheads="1"/>
          </p:cNvSpPr>
          <p:nvPr/>
        </p:nvSpPr>
        <p:spPr bwMode="auto">
          <a:xfrm>
            <a:off x="2743200" y="4586288"/>
            <a:ext cx="1828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2" name="Rectangle 44"/>
          <p:cNvSpPr>
            <a:spLocks noChangeArrowheads="1"/>
          </p:cNvSpPr>
          <p:nvPr/>
        </p:nvSpPr>
        <p:spPr bwMode="auto">
          <a:xfrm>
            <a:off x="3048000" y="51816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3" name="Rectangle 45"/>
          <p:cNvSpPr>
            <a:spLocks noChangeArrowheads="1"/>
          </p:cNvSpPr>
          <p:nvPr/>
        </p:nvSpPr>
        <p:spPr bwMode="auto">
          <a:xfrm>
            <a:off x="3048000" y="5799138"/>
            <a:ext cx="990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4" name="Rectangle 46"/>
          <p:cNvSpPr>
            <a:spLocks noChangeArrowheads="1"/>
          </p:cNvSpPr>
          <p:nvPr/>
        </p:nvSpPr>
        <p:spPr bwMode="auto">
          <a:xfrm>
            <a:off x="3048000" y="64150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5" name="Rectangle 47"/>
          <p:cNvSpPr>
            <a:spLocks noChangeArrowheads="1"/>
          </p:cNvSpPr>
          <p:nvPr/>
        </p:nvSpPr>
        <p:spPr bwMode="auto">
          <a:xfrm>
            <a:off x="4572000" y="45862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6" name="Rectangle 48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7" name="Rectangle 49"/>
          <p:cNvSpPr>
            <a:spLocks noChangeArrowheads="1"/>
          </p:cNvSpPr>
          <p:nvPr/>
        </p:nvSpPr>
        <p:spPr bwMode="auto">
          <a:xfrm>
            <a:off x="4724400" y="6400800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8" name="Rectangle 50"/>
          <p:cNvSpPr>
            <a:spLocks noChangeArrowheads="1"/>
          </p:cNvSpPr>
          <p:nvPr/>
        </p:nvSpPr>
        <p:spPr bwMode="auto">
          <a:xfrm>
            <a:off x="4724400" y="579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19499" name="Rectangle 51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graphicFrame>
        <p:nvGraphicFramePr>
          <p:cNvPr id="19500" name="Object 52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19500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0668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0483" name="Rectangle 11"/>
          <p:cNvSpPr>
            <a:spLocks noChangeArrowheads="1"/>
          </p:cNvSpPr>
          <p:nvPr/>
        </p:nvSpPr>
        <p:spPr bwMode="auto">
          <a:xfrm>
            <a:off x="685800" y="1766888"/>
            <a:ext cx="7772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数据流方程求解算法</a:t>
            </a:r>
            <a:r>
              <a:rPr lang="zh-CN" altLang="en-US">
                <a:ea typeface="楷体_GB2312" pitchFamily="49" charset="-122"/>
              </a:rPr>
              <a:t>（对</a:t>
            </a:r>
            <a:r>
              <a:rPr lang="en-US" altLang="zh-CN" b="0" i="1">
                <a:ea typeface="楷体_GB2312" pitchFamily="49" charset="-122"/>
              </a:rPr>
              <a:t>n</a:t>
            </a:r>
            <a:r>
              <a:rPr lang="zh-CN" altLang="en-US">
                <a:ea typeface="楷体_GB2312" pitchFamily="49" charset="-122"/>
              </a:rPr>
              <a:t>个结点的流图）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20484" name="Rectangle 45"/>
          <p:cNvSpPr>
            <a:spLocks noChangeArrowheads="1"/>
          </p:cNvSpPr>
          <p:nvPr/>
        </p:nvSpPr>
        <p:spPr bwMode="auto">
          <a:xfrm>
            <a:off x="1143000" y="2481263"/>
            <a:ext cx="7239000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800" b="0"/>
              <a:t>for  </a:t>
            </a:r>
            <a:r>
              <a:rPr lang="en-US" altLang="zh-CN" sz="1800" b="0" i="1"/>
              <a:t>i</a:t>
            </a:r>
            <a:r>
              <a:rPr lang="en-US" altLang="zh-CN" sz="1800" b="0"/>
              <a:t>:= 1 to </a:t>
            </a:r>
            <a:r>
              <a:rPr lang="en-US" altLang="zh-CN" sz="1800" b="0" i="1"/>
              <a:t>n</a:t>
            </a:r>
            <a:r>
              <a:rPr lang="en-US" altLang="zh-CN" sz="1800" b="0"/>
              <a:t> {   IN[ 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 :=</a:t>
            </a:r>
            <a:r>
              <a:rPr lang="en-US" altLang="zh-CN" sz="1800" b="0">
                <a:sym typeface="Symbol" pitchFamily="18" charset="2"/>
              </a:rPr>
              <a:t></a:t>
            </a:r>
            <a:r>
              <a:rPr lang="en-US" altLang="zh-CN" sz="1800" b="0"/>
              <a:t>;  OUT[B</a:t>
            </a:r>
            <a:r>
              <a:rPr lang="en-US" altLang="zh-CN" sz="1800" b="0" baseline="-25000"/>
              <a:t>i</a:t>
            </a:r>
            <a:r>
              <a:rPr lang="en-US" altLang="zh-CN" sz="1800" b="0"/>
              <a:t> ] := GEN[B</a:t>
            </a:r>
            <a:r>
              <a:rPr lang="en-US" altLang="zh-CN" sz="1800" b="0" baseline="-25000"/>
              <a:t>i</a:t>
            </a:r>
            <a:r>
              <a:rPr lang="en-US" altLang="zh-CN" sz="1800" b="0"/>
              <a:t>];  }</a:t>
            </a:r>
          </a:p>
          <a:p>
            <a:r>
              <a:rPr lang="en-US" altLang="zh-CN" sz="1800" b="0"/>
              <a:t>change := true;</a:t>
            </a:r>
          </a:p>
          <a:p>
            <a:r>
              <a:rPr lang="en-US" altLang="zh-CN" sz="1800" b="0"/>
              <a:t>while change  {</a:t>
            </a:r>
          </a:p>
          <a:p>
            <a:r>
              <a:rPr lang="en-US" altLang="zh-CN" sz="1800" b="0"/>
              <a:t>       change := false;</a:t>
            </a:r>
          </a:p>
          <a:p>
            <a:r>
              <a:rPr lang="en-US" altLang="zh-CN" sz="1800" b="0"/>
              <a:t>       for i := 1 to n  {</a:t>
            </a:r>
          </a:p>
          <a:p>
            <a:r>
              <a:rPr lang="en-US" altLang="zh-CN" sz="1800" b="0"/>
              <a:t>	newin := </a:t>
            </a:r>
            <a:r>
              <a:rPr lang="en-US" altLang="zh-CN" sz="1800" b="0">
                <a:sym typeface="Symbol" pitchFamily="18" charset="2"/>
              </a:rPr>
              <a:t></a:t>
            </a:r>
            <a:r>
              <a:rPr lang="en-US" altLang="zh-CN" sz="1800" b="0"/>
              <a:t> OUT[p];                 //p</a:t>
            </a:r>
            <a:r>
              <a:rPr lang="en-US" altLang="zh-CN" sz="1800" b="0">
                <a:sym typeface="Symbol" pitchFamily="18" charset="2"/>
              </a:rPr>
              <a:t></a:t>
            </a:r>
            <a:r>
              <a:rPr lang="en-US" altLang="zh-CN" sz="1800" b="0"/>
              <a:t>P[B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</a:t>
            </a:r>
          </a:p>
          <a:p>
            <a:r>
              <a:rPr lang="en-US" altLang="zh-CN" sz="1800" b="0"/>
              <a:t>                    if newin </a:t>
            </a:r>
            <a:r>
              <a:rPr lang="en-US" altLang="zh-CN" sz="1800" b="0">
                <a:sym typeface="Symbol" pitchFamily="18" charset="2"/>
              </a:rPr>
              <a:t></a:t>
            </a:r>
            <a:r>
              <a:rPr lang="en-US" altLang="zh-CN" sz="1800" b="0"/>
              <a:t> IN[B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  {</a:t>
            </a:r>
          </a:p>
          <a:p>
            <a:r>
              <a:rPr lang="en-US" altLang="zh-CN" sz="1800" b="0"/>
              <a:t>                          change := ture;     IN[B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 := newin;</a:t>
            </a:r>
          </a:p>
          <a:p>
            <a:r>
              <a:rPr lang="en-US" altLang="zh-CN" sz="1800" b="0"/>
              <a:t>                         OUT[B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 : = (IN[B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 – KILL[B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]) </a:t>
            </a:r>
            <a:r>
              <a:rPr lang="en-US" altLang="zh-CN" sz="1800" b="0">
                <a:sym typeface="Symbol" pitchFamily="18" charset="2"/>
              </a:rPr>
              <a:t></a:t>
            </a:r>
            <a:r>
              <a:rPr lang="en-US" altLang="zh-CN" sz="1800" b="0"/>
              <a:t> GEN[B</a:t>
            </a:r>
            <a:r>
              <a:rPr lang="en-US" altLang="zh-CN" sz="1800" b="0" i="1" baseline="-25000"/>
              <a:t>i</a:t>
            </a:r>
            <a:r>
              <a:rPr lang="en-US" altLang="zh-CN" sz="1800" b="0"/>
              <a:t>]</a:t>
            </a:r>
          </a:p>
          <a:p>
            <a:r>
              <a:rPr lang="en-US" altLang="zh-CN" sz="1800" b="0"/>
              <a:t>                   }</a:t>
            </a:r>
          </a:p>
          <a:p>
            <a:r>
              <a:rPr lang="en-US" altLang="zh-CN" sz="1800" b="0"/>
              <a:t>       }</a:t>
            </a:r>
          </a:p>
          <a:p>
            <a:r>
              <a:rPr lang="en-US" altLang="zh-CN" sz="1800" b="0"/>
              <a:t>}</a:t>
            </a:r>
          </a:p>
        </p:txBody>
      </p:sp>
      <p:sp>
        <p:nvSpPr>
          <p:cNvPr id="20485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9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" name="Rectangle 4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1511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4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1516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1517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1518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1519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1520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1521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1522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1523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1524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1525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26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27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28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29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30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31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1532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33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34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35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36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1537" name="Rectangle 37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38" name="Rectangle 46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1539" name="Rectangle 51"/>
          <p:cNvSpPr>
            <a:spLocks noChangeArrowheads="1"/>
          </p:cNvSpPr>
          <p:nvPr/>
        </p:nvSpPr>
        <p:spPr bwMode="auto">
          <a:xfrm>
            <a:off x="4859338" y="4581525"/>
            <a:ext cx="5857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40" name="Rectangle 52"/>
          <p:cNvSpPr>
            <a:spLocks noChangeArrowheads="1"/>
          </p:cNvSpPr>
          <p:nvPr/>
        </p:nvSpPr>
        <p:spPr bwMode="auto">
          <a:xfrm>
            <a:off x="4849813" y="5222875"/>
            <a:ext cx="5857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41" name="Rectangle 53"/>
          <p:cNvSpPr>
            <a:spLocks noChangeArrowheads="1"/>
          </p:cNvSpPr>
          <p:nvPr/>
        </p:nvSpPr>
        <p:spPr bwMode="auto">
          <a:xfrm>
            <a:off x="4849813" y="5805488"/>
            <a:ext cx="5857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1542" name="Rectangle 54"/>
          <p:cNvSpPr>
            <a:spLocks noChangeArrowheads="1"/>
          </p:cNvSpPr>
          <p:nvPr/>
        </p:nvSpPr>
        <p:spPr bwMode="auto">
          <a:xfrm>
            <a:off x="3635375" y="64468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1543" name="Rectangle 55"/>
          <p:cNvSpPr>
            <a:spLocks noChangeArrowheads="1"/>
          </p:cNvSpPr>
          <p:nvPr/>
        </p:nvSpPr>
        <p:spPr bwMode="auto">
          <a:xfrm>
            <a:off x="3651250" y="57991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1544" name="Rectangle 56"/>
          <p:cNvSpPr>
            <a:spLocks noChangeArrowheads="1"/>
          </p:cNvSpPr>
          <p:nvPr/>
        </p:nvSpPr>
        <p:spPr bwMode="auto">
          <a:xfrm>
            <a:off x="3635375" y="51577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1545" name="Rectangle 57"/>
          <p:cNvSpPr>
            <a:spLocks noChangeArrowheads="1"/>
          </p:cNvSpPr>
          <p:nvPr/>
        </p:nvSpPr>
        <p:spPr bwMode="auto">
          <a:xfrm>
            <a:off x="3635375" y="457517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1546" name="Rectangle 58"/>
          <p:cNvSpPr>
            <a:spLocks noChangeArrowheads="1"/>
          </p:cNvSpPr>
          <p:nvPr/>
        </p:nvSpPr>
        <p:spPr bwMode="auto">
          <a:xfrm>
            <a:off x="3635375" y="3998913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1547" name="Rectangle 59"/>
          <p:cNvSpPr>
            <a:spLocks noChangeArrowheads="1"/>
          </p:cNvSpPr>
          <p:nvPr/>
        </p:nvSpPr>
        <p:spPr bwMode="auto">
          <a:xfrm>
            <a:off x="4859338" y="64531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graphicFrame>
        <p:nvGraphicFramePr>
          <p:cNvPr id="21548" name="Object 60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1548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4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253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2540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2541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2542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2543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2544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2545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2546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2547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2548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2549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50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51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552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53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54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55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2556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57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58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59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60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740388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62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2563" name="Rectangle 38"/>
          <p:cNvSpPr>
            <a:spLocks noChangeArrowheads="1"/>
          </p:cNvSpPr>
          <p:nvPr/>
        </p:nvSpPr>
        <p:spPr bwMode="auto">
          <a:xfrm>
            <a:off x="4859338" y="4581525"/>
            <a:ext cx="5857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64" name="Rectangle 39"/>
          <p:cNvSpPr>
            <a:spLocks noChangeArrowheads="1"/>
          </p:cNvSpPr>
          <p:nvPr/>
        </p:nvSpPr>
        <p:spPr bwMode="auto">
          <a:xfrm>
            <a:off x="4849813" y="5222875"/>
            <a:ext cx="5857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65" name="Rectangle 40"/>
          <p:cNvSpPr>
            <a:spLocks noChangeArrowheads="1"/>
          </p:cNvSpPr>
          <p:nvPr/>
        </p:nvSpPr>
        <p:spPr bwMode="auto">
          <a:xfrm>
            <a:off x="4849813" y="5805488"/>
            <a:ext cx="5857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2566" name="Rectangle 41"/>
          <p:cNvSpPr>
            <a:spLocks noChangeArrowheads="1"/>
          </p:cNvSpPr>
          <p:nvPr/>
        </p:nvSpPr>
        <p:spPr bwMode="auto">
          <a:xfrm>
            <a:off x="3635375" y="64468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2567" name="Rectangle 42"/>
          <p:cNvSpPr>
            <a:spLocks noChangeArrowheads="1"/>
          </p:cNvSpPr>
          <p:nvPr/>
        </p:nvSpPr>
        <p:spPr bwMode="auto">
          <a:xfrm>
            <a:off x="3651250" y="57991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2568" name="Rectangle 43"/>
          <p:cNvSpPr>
            <a:spLocks noChangeArrowheads="1"/>
          </p:cNvSpPr>
          <p:nvPr/>
        </p:nvSpPr>
        <p:spPr bwMode="auto">
          <a:xfrm>
            <a:off x="3635375" y="51577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2569" name="Rectangle 44"/>
          <p:cNvSpPr>
            <a:spLocks noChangeArrowheads="1"/>
          </p:cNvSpPr>
          <p:nvPr/>
        </p:nvSpPr>
        <p:spPr bwMode="auto">
          <a:xfrm>
            <a:off x="3635375" y="457517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2570" name="Rectangle 46"/>
          <p:cNvSpPr>
            <a:spLocks noChangeArrowheads="1"/>
          </p:cNvSpPr>
          <p:nvPr/>
        </p:nvSpPr>
        <p:spPr bwMode="auto">
          <a:xfrm>
            <a:off x="4859338" y="64531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2571" name="Rectangle 47"/>
          <p:cNvSpPr>
            <a:spLocks noChangeArrowheads="1"/>
          </p:cNvSpPr>
          <p:nvPr/>
        </p:nvSpPr>
        <p:spPr bwMode="auto">
          <a:xfrm>
            <a:off x="3048000" y="3962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2572" name="Object 48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2572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3559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3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3564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3565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3566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3567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3568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3569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3570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3571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3572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3573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74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5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6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77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78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79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3580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81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82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83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84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3585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86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3587" name="Rectangle 39"/>
          <p:cNvSpPr>
            <a:spLocks noChangeArrowheads="1"/>
          </p:cNvSpPr>
          <p:nvPr/>
        </p:nvSpPr>
        <p:spPr bwMode="auto">
          <a:xfrm>
            <a:off x="4849813" y="5222875"/>
            <a:ext cx="5857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88" name="Rectangle 40"/>
          <p:cNvSpPr>
            <a:spLocks noChangeArrowheads="1"/>
          </p:cNvSpPr>
          <p:nvPr/>
        </p:nvSpPr>
        <p:spPr bwMode="auto">
          <a:xfrm>
            <a:off x="4849813" y="5805488"/>
            <a:ext cx="5857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89" name="Rectangle 41"/>
          <p:cNvSpPr>
            <a:spLocks noChangeArrowheads="1"/>
          </p:cNvSpPr>
          <p:nvPr/>
        </p:nvSpPr>
        <p:spPr bwMode="auto">
          <a:xfrm>
            <a:off x="3635375" y="64468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3590" name="Rectangle 42"/>
          <p:cNvSpPr>
            <a:spLocks noChangeArrowheads="1"/>
          </p:cNvSpPr>
          <p:nvPr/>
        </p:nvSpPr>
        <p:spPr bwMode="auto">
          <a:xfrm>
            <a:off x="3651250" y="57991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3591" name="Rectangle 43"/>
          <p:cNvSpPr>
            <a:spLocks noChangeArrowheads="1"/>
          </p:cNvSpPr>
          <p:nvPr/>
        </p:nvSpPr>
        <p:spPr bwMode="auto">
          <a:xfrm>
            <a:off x="3635375" y="51577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3592" name="Rectangle 45"/>
          <p:cNvSpPr>
            <a:spLocks noChangeArrowheads="1"/>
          </p:cNvSpPr>
          <p:nvPr/>
        </p:nvSpPr>
        <p:spPr bwMode="auto">
          <a:xfrm>
            <a:off x="4859338" y="64531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3593" name="Rectangle 46"/>
          <p:cNvSpPr>
            <a:spLocks noChangeArrowheads="1"/>
          </p:cNvSpPr>
          <p:nvPr/>
        </p:nvSpPr>
        <p:spPr bwMode="auto">
          <a:xfrm>
            <a:off x="3048000" y="3962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3594" name="Rectangle 48"/>
          <p:cNvSpPr>
            <a:spLocks noChangeArrowheads="1"/>
          </p:cNvSpPr>
          <p:nvPr/>
        </p:nvSpPr>
        <p:spPr bwMode="auto">
          <a:xfrm>
            <a:off x="3348038" y="458152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741425" name="Rectangle 49"/>
          <p:cNvSpPr>
            <a:spLocks noChangeArrowheads="1"/>
          </p:cNvSpPr>
          <p:nvPr/>
        </p:nvSpPr>
        <p:spPr bwMode="auto">
          <a:xfrm>
            <a:off x="4427538" y="45862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3596" name="Object 50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3596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4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2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4583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4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5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6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4588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4589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4590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4591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4592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4593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4594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4595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4596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4597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598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599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600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01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02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03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4604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05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06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07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08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4609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10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4611" name="Rectangle 39"/>
          <p:cNvSpPr>
            <a:spLocks noChangeArrowheads="1"/>
          </p:cNvSpPr>
          <p:nvPr/>
        </p:nvSpPr>
        <p:spPr bwMode="auto">
          <a:xfrm>
            <a:off x="4849813" y="5805488"/>
            <a:ext cx="5857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12" name="Rectangle 40"/>
          <p:cNvSpPr>
            <a:spLocks noChangeArrowheads="1"/>
          </p:cNvSpPr>
          <p:nvPr/>
        </p:nvSpPr>
        <p:spPr bwMode="auto">
          <a:xfrm>
            <a:off x="3635375" y="64468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4613" name="Rectangle 41"/>
          <p:cNvSpPr>
            <a:spLocks noChangeArrowheads="1"/>
          </p:cNvSpPr>
          <p:nvPr/>
        </p:nvSpPr>
        <p:spPr bwMode="auto">
          <a:xfrm>
            <a:off x="3651250" y="57991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4614" name="Rectangle 43"/>
          <p:cNvSpPr>
            <a:spLocks noChangeArrowheads="1"/>
          </p:cNvSpPr>
          <p:nvPr/>
        </p:nvSpPr>
        <p:spPr bwMode="auto">
          <a:xfrm>
            <a:off x="4859338" y="64531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4615" name="Rectangle 44"/>
          <p:cNvSpPr>
            <a:spLocks noChangeArrowheads="1"/>
          </p:cNvSpPr>
          <p:nvPr/>
        </p:nvSpPr>
        <p:spPr bwMode="auto">
          <a:xfrm>
            <a:off x="3048000" y="3962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16" name="Rectangle 45"/>
          <p:cNvSpPr>
            <a:spLocks noChangeArrowheads="1"/>
          </p:cNvSpPr>
          <p:nvPr/>
        </p:nvSpPr>
        <p:spPr bwMode="auto">
          <a:xfrm>
            <a:off x="3348038" y="458152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17" name="Rectangle 46"/>
          <p:cNvSpPr>
            <a:spLocks noChangeArrowheads="1"/>
          </p:cNvSpPr>
          <p:nvPr/>
        </p:nvSpPr>
        <p:spPr bwMode="auto">
          <a:xfrm>
            <a:off x="4427538" y="45862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4618" name="Rectangle 47"/>
          <p:cNvSpPr>
            <a:spLocks noChangeArrowheads="1"/>
          </p:cNvSpPr>
          <p:nvPr/>
        </p:nvSpPr>
        <p:spPr bwMode="auto">
          <a:xfrm>
            <a:off x="3059113" y="51577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742448" name="Rectangle 48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4620" name="Object 49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4620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6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560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8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9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0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1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5612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5613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5614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5615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5616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5617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5618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5619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5620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5621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22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23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24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25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26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27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5628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29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30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31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32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5633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34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5635" name="Rectangle 39"/>
          <p:cNvSpPr>
            <a:spLocks noChangeArrowheads="1"/>
          </p:cNvSpPr>
          <p:nvPr/>
        </p:nvSpPr>
        <p:spPr bwMode="auto">
          <a:xfrm>
            <a:off x="3635375" y="644683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5636" name="Rectangle 41"/>
          <p:cNvSpPr>
            <a:spLocks noChangeArrowheads="1"/>
          </p:cNvSpPr>
          <p:nvPr/>
        </p:nvSpPr>
        <p:spPr bwMode="auto">
          <a:xfrm>
            <a:off x="4859338" y="6453188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5637" name="Rectangle 42"/>
          <p:cNvSpPr>
            <a:spLocks noChangeArrowheads="1"/>
          </p:cNvSpPr>
          <p:nvPr/>
        </p:nvSpPr>
        <p:spPr bwMode="auto">
          <a:xfrm>
            <a:off x="3048000" y="3962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38" name="Rectangle 43"/>
          <p:cNvSpPr>
            <a:spLocks noChangeArrowheads="1"/>
          </p:cNvSpPr>
          <p:nvPr/>
        </p:nvSpPr>
        <p:spPr bwMode="auto">
          <a:xfrm>
            <a:off x="3348038" y="458152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39" name="Rectangle 44"/>
          <p:cNvSpPr>
            <a:spLocks noChangeArrowheads="1"/>
          </p:cNvSpPr>
          <p:nvPr/>
        </p:nvSpPr>
        <p:spPr bwMode="auto">
          <a:xfrm>
            <a:off x="4427538" y="45862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40" name="Rectangle 45"/>
          <p:cNvSpPr>
            <a:spLocks noChangeArrowheads="1"/>
          </p:cNvSpPr>
          <p:nvPr/>
        </p:nvSpPr>
        <p:spPr bwMode="auto">
          <a:xfrm>
            <a:off x="3059113" y="51577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41" name="Rectangle 46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5642" name="Rectangle 47"/>
          <p:cNvSpPr>
            <a:spLocks noChangeArrowheads="1"/>
          </p:cNvSpPr>
          <p:nvPr/>
        </p:nvSpPr>
        <p:spPr bwMode="auto">
          <a:xfrm>
            <a:off x="3348038" y="5799138"/>
            <a:ext cx="990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743472" name="Rectangle 48"/>
          <p:cNvSpPr>
            <a:spLocks noChangeArrowheads="1"/>
          </p:cNvSpPr>
          <p:nvPr/>
        </p:nvSpPr>
        <p:spPr bwMode="auto">
          <a:xfrm>
            <a:off x="4724400" y="579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5644" name="Object 49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5644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7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0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6631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3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4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5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6636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6637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6638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6639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6640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6641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6642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6643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6644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6645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46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7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8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49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50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51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6652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53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54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55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56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6657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58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6659" name="Rectangle 40"/>
          <p:cNvSpPr>
            <a:spLocks noChangeArrowheads="1"/>
          </p:cNvSpPr>
          <p:nvPr/>
        </p:nvSpPr>
        <p:spPr bwMode="auto">
          <a:xfrm>
            <a:off x="3048000" y="3962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60" name="Rectangle 41"/>
          <p:cNvSpPr>
            <a:spLocks noChangeArrowheads="1"/>
          </p:cNvSpPr>
          <p:nvPr/>
        </p:nvSpPr>
        <p:spPr bwMode="auto">
          <a:xfrm>
            <a:off x="3348038" y="458152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61" name="Rectangle 42"/>
          <p:cNvSpPr>
            <a:spLocks noChangeArrowheads="1"/>
          </p:cNvSpPr>
          <p:nvPr/>
        </p:nvSpPr>
        <p:spPr bwMode="auto">
          <a:xfrm>
            <a:off x="4427538" y="45862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62" name="Rectangle 43"/>
          <p:cNvSpPr>
            <a:spLocks noChangeArrowheads="1"/>
          </p:cNvSpPr>
          <p:nvPr/>
        </p:nvSpPr>
        <p:spPr bwMode="auto">
          <a:xfrm>
            <a:off x="3059113" y="51577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63" name="Rectangle 44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64" name="Rectangle 45"/>
          <p:cNvSpPr>
            <a:spLocks noChangeArrowheads="1"/>
          </p:cNvSpPr>
          <p:nvPr/>
        </p:nvSpPr>
        <p:spPr bwMode="auto">
          <a:xfrm>
            <a:off x="3348038" y="5799138"/>
            <a:ext cx="990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65" name="Rectangle 46"/>
          <p:cNvSpPr>
            <a:spLocks noChangeArrowheads="1"/>
          </p:cNvSpPr>
          <p:nvPr/>
        </p:nvSpPr>
        <p:spPr bwMode="auto">
          <a:xfrm>
            <a:off x="4724400" y="579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6666" name="Rectangle 47"/>
          <p:cNvSpPr>
            <a:spLocks noChangeArrowheads="1"/>
          </p:cNvSpPr>
          <p:nvPr/>
        </p:nvSpPr>
        <p:spPr bwMode="auto">
          <a:xfrm>
            <a:off x="3208338" y="64150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744496" name="Rectangle 48"/>
          <p:cNvSpPr>
            <a:spLocks noChangeArrowheads="1"/>
          </p:cNvSpPr>
          <p:nvPr/>
        </p:nvSpPr>
        <p:spPr bwMode="auto">
          <a:xfrm>
            <a:off x="4648200" y="644683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6668" name="Object 49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6668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49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4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765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6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8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9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7660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7661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7662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7663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7664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7665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7666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7667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7668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7669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70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671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672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73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74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75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7676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77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78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79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0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748580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2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7683" name="Rectangle 39"/>
          <p:cNvSpPr>
            <a:spLocks noChangeArrowheads="1"/>
          </p:cNvSpPr>
          <p:nvPr/>
        </p:nvSpPr>
        <p:spPr bwMode="auto">
          <a:xfrm>
            <a:off x="3348038" y="4581525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4" name="Rectangle 40"/>
          <p:cNvSpPr>
            <a:spLocks noChangeArrowheads="1"/>
          </p:cNvSpPr>
          <p:nvPr/>
        </p:nvSpPr>
        <p:spPr bwMode="auto">
          <a:xfrm>
            <a:off x="4427538" y="45862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5" name="Rectangle 41"/>
          <p:cNvSpPr>
            <a:spLocks noChangeArrowheads="1"/>
          </p:cNvSpPr>
          <p:nvPr/>
        </p:nvSpPr>
        <p:spPr bwMode="auto">
          <a:xfrm>
            <a:off x="3059113" y="51577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6" name="Rectangle 42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7" name="Rectangle 43"/>
          <p:cNvSpPr>
            <a:spLocks noChangeArrowheads="1"/>
          </p:cNvSpPr>
          <p:nvPr/>
        </p:nvSpPr>
        <p:spPr bwMode="auto">
          <a:xfrm>
            <a:off x="3348038" y="5799138"/>
            <a:ext cx="990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8" name="Rectangle 44"/>
          <p:cNvSpPr>
            <a:spLocks noChangeArrowheads="1"/>
          </p:cNvSpPr>
          <p:nvPr/>
        </p:nvSpPr>
        <p:spPr bwMode="auto">
          <a:xfrm>
            <a:off x="4724400" y="579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89" name="Rectangle 45"/>
          <p:cNvSpPr>
            <a:spLocks noChangeArrowheads="1"/>
          </p:cNvSpPr>
          <p:nvPr/>
        </p:nvSpPr>
        <p:spPr bwMode="auto">
          <a:xfrm>
            <a:off x="3208338" y="64150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90" name="Rectangle 46"/>
          <p:cNvSpPr>
            <a:spLocks noChangeArrowheads="1"/>
          </p:cNvSpPr>
          <p:nvPr/>
        </p:nvSpPr>
        <p:spPr bwMode="auto">
          <a:xfrm>
            <a:off x="4648200" y="644683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7691" name="Rectangle 47"/>
          <p:cNvSpPr>
            <a:spLocks noChangeArrowheads="1"/>
          </p:cNvSpPr>
          <p:nvPr/>
        </p:nvSpPr>
        <p:spPr bwMode="auto">
          <a:xfrm>
            <a:off x="3048000" y="3998913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7692" name="Object 48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7692" name="Visio" r:id="rId4" imgW="2299716" imgH="3774034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8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8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8679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0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1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2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3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8684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8685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8686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8687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8688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8689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8690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8691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8692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8693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694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95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96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697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698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699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8700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01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02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03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04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8705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06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28707" name="Rectangle 41"/>
          <p:cNvSpPr>
            <a:spLocks noChangeArrowheads="1"/>
          </p:cNvSpPr>
          <p:nvPr/>
        </p:nvSpPr>
        <p:spPr bwMode="auto">
          <a:xfrm>
            <a:off x="3059113" y="5157788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08" name="Rectangle 42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09" name="Rectangle 43"/>
          <p:cNvSpPr>
            <a:spLocks noChangeArrowheads="1"/>
          </p:cNvSpPr>
          <p:nvPr/>
        </p:nvSpPr>
        <p:spPr bwMode="auto">
          <a:xfrm>
            <a:off x="3348038" y="5799138"/>
            <a:ext cx="990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10" name="Rectangle 44"/>
          <p:cNvSpPr>
            <a:spLocks noChangeArrowheads="1"/>
          </p:cNvSpPr>
          <p:nvPr/>
        </p:nvSpPr>
        <p:spPr bwMode="auto">
          <a:xfrm>
            <a:off x="4724400" y="579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11" name="Rectangle 45"/>
          <p:cNvSpPr>
            <a:spLocks noChangeArrowheads="1"/>
          </p:cNvSpPr>
          <p:nvPr/>
        </p:nvSpPr>
        <p:spPr bwMode="auto">
          <a:xfrm>
            <a:off x="3208338" y="64150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12" name="Rectangle 46"/>
          <p:cNvSpPr>
            <a:spLocks noChangeArrowheads="1"/>
          </p:cNvSpPr>
          <p:nvPr/>
        </p:nvSpPr>
        <p:spPr bwMode="auto">
          <a:xfrm>
            <a:off x="4648200" y="644683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8713" name="Rectangle 47"/>
          <p:cNvSpPr>
            <a:spLocks noChangeArrowheads="1"/>
          </p:cNvSpPr>
          <p:nvPr/>
        </p:nvSpPr>
        <p:spPr bwMode="auto">
          <a:xfrm>
            <a:off x="2743200" y="4586288"/>
            <a:ext cx="1828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745520" name="Rectangle 48"/>
          <p:cNvSpPr>
            <a:spLocks noChangeArrowheads="1"/>
          </p:cNvSpPr>
          <p:nvPr/>
        </p:nvSpPr>
        <p:spPr bwMode="auto">
          <a:xfrm>
            <a:off x="4616450" y="4575175"/>
            <a:ext cx="1539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8715" name="Object 49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8715" name="Visio" r:id="rId4" imgW="2299716" imgH="3774034" progId="">
              <p:embed/>
            </p:oleObj>
          </a:graphicData>
        </a:graphic>
      </p:graphicFrame>
      <p:sp>
        <p:nvSpPr>
          <p:cNvPr id="28716" name="Rectangle 50"/>
          <p:cNvSpPr>
            <a:spLocks noChangeArrowheads="1"/>
          </p:cNvSpPr>
          <p:nvPr/>
        </p:nvSpPr>
        <p:spPr bwMode="auto">
          <a:xfrm>
            <a:off x="3048000" y="3998913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5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2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29703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4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5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6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7" name="Rectangle 13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29708" name="Text Box 14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29709" name="Text Box 15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29710" name="Text Box 16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29711" name="Text Box 17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29712" name="Text Box 18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29713" name="Rectangle 19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29714" name="Rectangle 20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29715" name="Rectangle 21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29716" name="Rectangle 22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29717" name="Rectangle 23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18" name="Line 24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19" name="Line 25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20" name="Rectangle 26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21" name="Rectangle 27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22" name="Rectangle 28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23" name="Rectangle 29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9724" name="Rectangle 31"/>
          <p:cNvSpPr>
            <a:spLocks noChangeArrowheads="1"/>
          </p:cNvSpPr>
          <p:nvPr/>
        </p:nvSpPr>
        <p:spPr bwMode="auto">
          <a:xfrm>
            <a:off x="1905000" y="3962400"/>
            <a:ext cx="1227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25" name="Rectangle 32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26" name="Rectangle 33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27" name="Rectangle 34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28" name="Rectangle 35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29729" name="Rectangle 36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0" name="Rectangle 3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746536" name="Rectangle 40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2" name="Rectangle 41"/>
          <p:cNvSpPr>
            <a:spLocks noChangeArrowheads="1"/>
          </p:cNvSpPr>
          <p:nvPr/>
        </p:nvSpPr>
        <p:spPr bwMode="auto">
          <a:xfrm>
            <a:off x="3348038" y="5799138"/>
            <a:ext cx="990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3" name="Rectangle 42"/>
          <p:cNvSpPr>
            <a:spLocks noChangeArrowheads="1"/>
          </p:cNvSpPr>
          <p:nvPr/>
        </p:nvSpPr>
        <p:spPr bwMode="auto">
          <a:xfrm>
            <a:off x="4724400" y="579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4" name="Rectangle 43"/>
          <p:cNvSpPr>
            <a:spLocks noChangeArrowheads="1"/>
          </p:cNvSpPr>
          <p:nvPr/>
        </p:nvSpPr>
        <p:spPr bwMode="auto">
          <a:xfrm>
            <a:off x="3208338" y="64150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5" name="Rectangle 44"/>
          <p:cNvSpPr>
            <a:spLocks noChangeArrowheads="1"/>
          </p:cNvSpPr>
          <p:nvPr/>
        </p:nvSpPr>
        <p:spPr bwMode="auto">
          <a:xfrm>
            <a:off x="4648200" y="644683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6" name="Rectangle 45"/>
          <p:cNvSpPr>
            <a:spLocks noChangeArrowheads="1"/>
          </p:cNvSpPr>
          <p:nvPr/>
        </p:nvSpPr>
        <p:spPr bwMode="auto">
          <a:xfrm>
            <a:off x="2743200" y="4586288"/>
            <a:ext cx="1828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7" name="Rectangle 46"/>
          <p:cNvSpPr>
            <a:spLocks noChangeArrowheads="1"/>
          </p:cNvSpPr>
          <p:nvPr/>
        </p:nvSpPr>
        <p:spPr bwMode="auto">
          <a:xfrm>
            <a:off x="4616450" y="4575175"/>
            <a:ext cx="1539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29738" name="Rectangle 47"/>
          <p:cNvSpPr>
            <a:spLocks noChangeArrowheads="1"/>
          </p:cNvSpPr>
          <p:nvPr/>
        </p:nvSpPr>
        <p:spPr bwMode="auto">
          <a:xfrm>
            <a:off x="2987675" y="5157788"/>
            <a:ext cx="15398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graphicFrame>
        <p:nvGraphicFramePr>
          <p:cNvPr id="29739" name="Object 48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29739" name="Visio" r:id="rId4" imgW="2299716" imgH="3774034" progId="">
              <p:embed/>
            </p:oleObj>
          </a:graphicData>
        </a:graphic>
      </p:graphicFrame>
      <p:sp>
        <p:nvSpPr>
          <p:cNvPr id="29740" name="Rectangle 49"/>
          <p:cNvSpPr>
            <a:spLocks noChangeArrowheads="1"/>
          </p:cNvSpPr>
          <p:nvPr/>
        </p:nvSpPr>
        <p:spPr bwMode="auto">
          <a:xfrm>
            <a:off x="3048000" y="3998913"/>
            <a:ext cx="152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4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3" name="AutoShape 4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4" name="AutoShape 4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5" name="AutoShape 4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6" name="Text Box 4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2192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到达</a:t>
            </a: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定值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0727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8" name="AutoShape 5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" name="AutoShape 5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0" name="AutoShape 5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1" name="Rectangle 54"/>
          <p:cNvSpPr>
            <a:spLocks noChangeArrowheads="1"/>
          </p:cNvSpPr>
          <p:nvPr/>
        </p:nvSpPr>
        <p:spPr bwMode="auto">
          <a:xfrm>
            <a:off x="685800" y="1905000"/>
            <a:ext cx="4876800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数据流方程求解过程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对于右边的流图，如下是上页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数据流方程的一个求解过程：</a:t>
            </a:r>
          </a:p>
        </p:txBody>
      </p:sp>
      <p:sp>
        <p:nvSpPr>
          <p:cNvPr id="30732" name="Text Box 55"/>
          <p:cNvSpPr txBox="1">
            <a:spLocks noChangeArrowheads="1"/>
          </p:cNvSpPr>
          <p:nvPr/>
        </p:nvSpPr>
        <p:spPr bwMode="auto">
          <a:xfrm>
            <a:off x="685800" y="396240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30733" name="Text Box 56"/>
          <p:cNvSpPr txBox="1">
            <a:spLocks noChangeArrowheads="1"/>
          </p:cNvSpPr>
          <p:nvPr/>
        </p:nvSpPr>
        <p:spPr bwMode="auto">
          <a:xfrm>
            <a:off x="685800" y="45561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30734" name="Text Box 57"/>
          <p:cNvSpPr txBox="1">
            <a:spLocks noChangeArrowheads="1"/>
          </p:cNvSpPr>
          <p:nvPr/>
        </p:nvSpPr>
        <p:spPr bwMode="auto">
          <a:xfrm>
            <a:off x="696913" y="51657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30735" name="Text Box 58"/>
          <p:cNvSpPr txBox="1">
            <a:spLocks noChangeArrowheads="1"/>
          </p:cNvSpPr>
          <p:nvPr/>
        </p:nvSpPr>
        <p:spPr bwMode="auto">
          <a:xfrm>
            <a:off x="696913" y="57753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30736" name="Text Box 59"/>
          <p:cNvSpPr txBox="1">
            <a:spLocks noChangeArrowheads="1"/>
          </p:cNvSpPr>
          <p:nvPr/>
        </p:nvSpPr>
        <p:spPr bwMode="auto">
          <a:xfrm>
            <a:off x="685800" y="63849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30737" name="Rectangle 60"/>
          <p:cNvSpPr>
            <a:spLocks noChangeArrowheads="1"/>
          </p:cNvSpPr>
          <p:nvPr/>
        </p:nvSpPr>
        <p:spPr bwMode="auto">
          <a:xfrm>
            <a:off x="1219200" y="3429000"/>
            <a:ext cx="735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GEN</a:t>
            </a:r>
          </a:p>
        </p:txBody>
      </p:sp>
      <p:sp>
        <p:nvSpPr>
          <p:cNvPr id="30738" name="Rectangle 61"/>
          <p:cNvSpPr>
            <a:spLocks noChangeArrowheads="1"/>
          </p:cNvSpPr>
          <p:nvPr/>
        </p:nvSpPr>
        <p:spPr bwMode="auto">
          <a:xfrm>
            <a:off x="2133600" y="3429000"/>
            <a:ext cx="70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KILL</a:t>
            </a:r>
          </a:p>
        </p:txBody>
      </p:sp>
      <p:sp>
        <p:nvSpPr>
          <p:cNvPr id="30739" name="Rectangle 62"/>
          <p:cNvSpPr>
            <a:spLocks noChangeArrowheads="1"/>
          </p:cNvSpPr>
          <p:nvPr/>
        </p:nvSpPr>
        <p:spPr bwMode="auto">
          <a:xfrm>
            <a:off x="3505200" y="34290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IN</a:t>
            </a:r>
          </a:p>
        </p:txBody>
      </p:sp>
      <p:sp>
        <p:nvSpPr>
          <p:cNvPr id="30740" name="Rectangle 63"/>
          <p:cNvSpPr>
            <a:spLocks noChangeArrowheads="1"/>
          </p:cNvSpPr>
          <p:nvPr/>
        </p:nvSpPr>
        <p:spPr bwMode="auto">
          <a:xfrm>
            <a:off x="4841875" y="3429000"/>
            <a:ext cx="72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i="1">
                <a:solidFill>
                  <a:srgbClr val="800080"/>
                </a:solidFill>
                <a:ea typeface="楷体_GB2312" pitchFamily="49" charset="-122"/>
              </a:rPr>
              <a:t>OUT</a:t>
            </a:r>
          </a:p>
        </p:txBody>
      </p:sp>
      <p:sp>
        <p:nvSpPr>
          <p:cNvPr id="30741" name="Rectangle 64"/>
          <p:cNvSpPr>
            <a:spLocks noChangeArrowheads="1"/>
          </p:cNvSpPr>
          <p:nvPr/>
        </p:nvSpPr>
        <p:spPr bwMode="auto">
          <a:xfrm>
            <a:off x="1168400" y="3962400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42" name="Line 65"/>
          <p:cNvSpPr>
            <a:spLocks noChangeShapeType="1"/>
          </p:cNvSpPr>
          <p:nvPr/>
        </p:nvSpPr>
        <p:spPr bwMode="auto">
          <a:xfrm>
            <a:off x="609600" y="3886200"/>
            <a:ext cx="5562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43" name="Line 66"/>
          <p:cNvSpPr>
            <a:spLocks noChangeShapeType="1"/>
          </p:cNvSpPr>
          <p:nvPr/>
        </p:nvSpPr>
        <p:spPr bwMode="auto">
          <a:xfrm>
            <a:off x="1143000" y="3429000"/>
            <a:ext cx="0" cy="3352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44" name="Rectangle 67"/>
          <p:cNvSpPr>
            <a:spLocks noChangeArrowheads="1"/>
          </p:cNvSpPr>
          <p:nvPr/>
        </p:nvSpPr>
        <p:spPr bwMode="auto">
          <a:xfrm>
            <a:off x="1219200" y="45815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45" name="Rectangle 68"/>
          <p:cNvSpPr>
            <a:spLocks noChangeArrowheads="1"/>
          </p:cNvSpPr>
          <p:nvPr/>
        </p:nvSpPr>
        <p:spPr bwMode="auto">
          <a:xfrm>
            <a:off x="1219200" y="51911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46" name="Rectangle 69"/>
          <p:cNvSpPr>
            <a:spLocks noChangeArrowheads="1"/>
          </p:cNvSpPr>
          <p:nvPr/>
        </p:nvSpPr>
        <p:spPr bwMode="auto">
          <a:xfrm>
            <a:off x="1219200" y="5800725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47" name="Rectangle 70"/>
          <p:cNvSpPr>
            <a:spLocks noChangeArrowheads="1"/>
          </p:cNvSpPr>
          <p:nvPr/>
        </p:nvSpPr>
        <p:spPr bwMode="auto">
          <a:xfrm>
            <a:off x="1219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30748" name="Rectangle 72"/>
          <p:cNvSpPr>
            <a:spLocks noChangeArrowheads="1"/>
          </p:cNvSpPr>
          <p:nvPr/>
        </p:nvSpPr>
        <p:spPr bwMode="auto">
          <a:xfrm>
            <a:off x="1905000" y="3962400"/>
            <a:ext cx="111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49" name="Rectangle 73"/>
          <p:cNvSpPr>
            <a:spLocks noChangeArrowheads="1"/>
          </p:cNvSpPr>
          <p:nvPr/>
        </p:nvSpPr>
        <p:spPr bwMode="auto">
          <a:xfrm>
            <a:off x="1981200" y="457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50" name="Rectangle 74"/>
          <p:cNvSpPr>
            <a:spLocks noChangeArrowheads="1"/>
          </p:cNvSpPr>
          <p:nvPr/>
        </p:nvSpPr>
        <p:spPr bwMode="auto">
          <a:xfrm>
            <a:off x="1981200" y="5165725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51" name="Rectangle 75"/>
          <p:cNvSpPr>
            <a:spLocks noChangeArrowheads="1"/>
          </p:cNvSpPr>
          <p:nvPr/>
        </p:nvSpPr>
        <p:spPr bwMode="auto">
          <a:xfrm>
            <a:off x="1981200" y="5775325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52" name="Rectangle 76"/>
          <p:cNvSpPr>
            <a:spLocks noChangeArrowheads="1"/>
          </p:cNvSpPr>
          <p:nvPr/>
        </p:nvSpPr>
        <p:spPr bwMode="auto">
          <a:xfrm>
            <a:off x="1981200" y="6410325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  }</a:t>
            </a:r>
          </a:p>
        </p:txBody>
      </p:sp>
      <p:sp>
        <p:nvSpPr>
          <p:cNvPr id="30753" name="Rectangle 77"/>
          <p:cNvSpPr>
            <a:spLocks noChangeArrowheads="1"/>
          </p:cNvSpPr>
          <p:nvPr/>
        </p:nvSpPr>
        <p:spPr bwMode="auto">
          <a:xfrm>
            <a:off x="3048000" y="3962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54" name="Rectangle 78"/>
          <p:cNvSpPr>
            <a:spLocks noChangeArrowheads="1"/>
          </p:cNvSpPr>
          <p:nvPr/>
        </p:nvSpPr>
        <p:spPr bwMode="auto">
          <a:xfrm>
            <a:off x="4724400" y="3962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55" name="Rectangle 8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graphicFrame>
        <p:nvGraphicFramePr>
          <p:cNvPr id="30756" name="Object 88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30756" name="Visio" r:id="rId4" imgW="2299716" imgH="3774034" progId="">
              <p:embed/>
            </p:oleObj>
          </a:graphicData>
        </a:graphic>
      </p:graphicFrame>
      <p:sp>
        <p:nvSpPr>
          <p:cNvPr id="30757" name="Rectangle 89"/>
          <p:cNvSpPr>
            <a:spLocks noChangeArrowheads="1"/>
          </p:cNvSpPr>
          <p:nvPr/>
        </p:nvSpPr>
        <p:spPr bwMode="auto">
          <a:xfrm>
            <a:off x="4724400" y="5181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58" name="Rectangle 90"/>
          <p:cNvSpPr>
            <a:spLocks noChangeArrowheads="1"/>
          </p:cNvSpPr>
          <p:nvPr/>
        </p:nvSpPr>
        <p:spPr bwMode="auto">
          <a:xfrm>
            <a:off x="3348038" y="5799138"/>
            <a:ext cx="990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59" name="Rectangle 91"/>
          <p:cNvSpPr>
            <a:spLocks noChangeArrowheads="1"/>
          </p:cNvSpPr>
          <p:nvPr/>
        </p:nvSpPr>
        <p:spPr bwMode="auto">
          <a:xfrm>
            <a:off x="4724400" y="57912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60" name="Rectangle 92"/>
          <p:cNvSpPr>
            <a:spLocks noChangeArrowheads="1"/>
          </p:cNvSpPr>
          <p:nvPr/>
        </p:nvSpPr>
        <p:spPr bwMode="auto">
          <a:xfrm>
            <a:off x="3208338" y="641508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61" name="Rectangle 93"/>
          <p:cNvSpPr>
            <a:spLocks noChangeArrowheads="1"/>
          </p:cNvSpPr>
          <p:nvPr/>
        </p:nvSpPr>
        <p:spPr bwMode="auto">
          <a:xfrm>
            <a:off x="4648200" y="644683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62" name="Rectangle 94"/>
          <p:cNvSpPr>
            <a:spLocks noChangeArrowheads="1"/>
          </p:cNvSpPr>
          <p:nvPr/>
        </p:nvSpPr>
        <p:spPr bwMode="auto">
          <a:xfrm>
            <a:off x="2743200" y="4586288"/>
            <a:ext cx="1828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1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63" name="Rectangle 95"/>
          <p:cNvSpPr>
            <a:spLocks noChangeArrowheads="1"/>
          </p:cNvSpPr>
          <p:nvPr/>
        </p:nvSpPr>
        <p:spPr bwMode="auto">
          <a:xfrm>
            <a:off x="4616450" y="4575175"/>
            <a:ext cx="1539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0764" name="Rectangle 96"/>
          <p:cNvSpPr>
            <a:spLocks noChangeArrowheads="1"/>
          </p:cNvSpPr>
          <p:nvPr/>
        </p:nvSpPr>
        <p:spPr bwMode="auto">
          <a:xfrm>
            <a:off x="2987675" y="5157788"/>
            <a:ext cx="15398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2</a:t>
            </a:r>
            <a:r>
              <a:rPr lang="en-US" altLang="zh-CN" sz="1800" i="1">
                <a:ea typeface="楷体_GB2312" pitchFamily="49" charset="-122"/>
              </a:rPr>
              <a:t>,</a:t>
            </a:r>
            <a:r>
              <a:rPr lang="en-US" altLang="zh-CN" sz="1800">
                <a:ea typeface="楷体_GB2312" pitchFamily="49" charset="-122"/>
              </a:rPr>
              <a:t> </a:t>
            </a:r>
            <a:r>
              <a:rPr lang="en-US" altLang="zh-CN" sz="1800" i="1">
                <a:ea typeface="楷体_GB2312" pitchFamily="49" charset="-122"/>
              </a:rPr>
              <a:t>d</a:t>
            </a:r>
            <a:r>
              <a:rPr lang="en-US" altLang="zh-CN" sz="1800" baseline="-25000">
                <a:ea typeface="楷体_GB2312" pitchFamily="49" charset="-122"/>
              </a:rPr>
              <a:t>3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4 </a:t>
            </a:r>
            <a:r>
              <a:rPr lang="en-US" altLang="zh-CN" sz="1800" i="1">
                <a:ea typeface="楷体_GB2312" pitchFamily="49" charset="-122"/>
              </a:rPr>
              <a:t>,d</a:t>
            </a:r>
            <a:r>
              <a:rPr lang="en-US" altLang="zh-CN" sz="1800" baseline="-25000">
                <a:ea typeface="楷体_GB2312" pitchFamily="49" charset="-122"/>
              </a:rPr>
              <a:t>5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0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325563"/>
            <a:ext cx="8224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175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9467" name="Rectangle 11"/>
          <p:cNvSpPr>
            <a:spLocks noChangeArrowheads="1"/>
          </p:cNvSpPr>
          <p:nvPr/>
        </p:nvSpPr>
        <p:spPr bwMode="auto">
          <a:xfrm>
            <a:off x="762000" y="1981200"/>
            <a:ext cx="8382000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对程序中的某变量 </a:t>
            </a:r>
            <a:r>
              <a:rPr lang="en-US" altLang="zh-CN" sz="2400" b="0" i="1" dirty="0"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和某点 </a:t>
            </a:r>
            <a:r>
              <a:rPr lang="en-US" altLang="zh-CN" sz="2400" b="0" i="1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而言，如果存在一条从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</a:t>
            </a:r>
            <a:r>
              <a:rPr lang="en-US" altLang="zh-CN" sz="2400" b="0" i="1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开始的通路，其中引用了 </a:t>
            </a:r>
            <a:r>
              <a:rPr lang="en-US" altLang="zh-CN" sz="2400" b="0" i="1" dirty="0"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在点 </a:t>
            </a:r>
            <a:r>
              <a:rPr lang="en-US" altLang="zh-CN" sz="2400" b="0" i="1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的值，则称 </a:t>
            </a:r>
            <a:r>
              <a:rPr lang="en-US" altLang="zh-CN" sz="2400" b="0" i="1" dirty="0"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在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点 </a:t>
            </a:r>
            <a:r>
              <a:rPr lang="en-US" altLang="zh-CN" sz="2400" b="0" i="1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是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活跃的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直观地，对于全局范围的分析来说，一个变量是活跃的，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如果存在一条路径使得该变量被重新定值之前它的当前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值还要被引用</a:t>
            </a:r>
          </a:p>
        </p:txBody>
      </p:sp>
      <p:sp>
        <p:nvSpPr>
          <p:cNvPr id="31756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9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59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659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95313" y="1336675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grpSp>
        <p:nvGrpSpPr>
          <p:cNvPr id="32771" name="Group 16"/>
          <p:cNvGrpSpPr>
            <a:grpSpLocks/>
          </p:cNvGrpSpPr>
          <p:nvPr/>
        </p:nvGrpSpPr>
        <p:grpSpPr bwMode="auto">
          <a:xfrm>
            <a:off x="827088" y="2051050"/>
            <a:ext cx="8229600" cy="4154488"/>
            <a:chOff x="399" y="1200"/>
            <a:chExt cx="5184" cy="2617"/>
          </a:xfrm>
        </p:grpSpPr>
        <p:sp>
          <p:nvSpPr>
            <p:cNvPr id="32781" name="Rectangle 14"/>
            <p:cNvSpPr>
              <a:spLocks noChangeArrowheads="1"/>
            </p:cNvSpPr>
            <p:nvPr/>
          </p:nvSpPr>
          <p:spPr bwMode="auto">
            <a:xfrm>
              <a:off x="399" y="1200"/>
              <a:ext cx="5184" cy="2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Char char="-"/>
              </a:pPr>
              <a:r>
                <a:rPr lang="en-US" altLang="zh-CN" dirty="0">
                  <a:solidFill>
                    <a:srgbClr val="80008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dirty="0">
                  <a:solidFill>
                    <a:srgbClr val="800080"/>
                  </a:solidFill>
                  <a:latin typeface="楷体_GB2312" pitchFamily="49" charset="-122"/>
                  <a:ea typeface="楷体_GB2312" pitchFamily="49" charset="-122"/>
                </a:rPr>
                <a:t>活跃变量的</a:t>
              </a:r>
              <a:r>
                <a:rPr lang="zh-CN" altLang="en-US" dirty="0">
                  <a:solidFill>
                    <a:srgbClr val="800080"/>
                  </a:solidFill>
                  <a:ea typeface="楷体_GB2312" pitchFamily="49" charset="-122"/>
                </a:rPr>
                <a:t>数据流方程</a:t>
              </a:r>
              <a:endParaRPr lang="zh-CN" altLang="en-US" dirty="0"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endParaRPr lang="zh-CN" altLang="en-US" sz="1000" dirty="0">
                <a:latin typeface="Times New Roman" pitchFamily="18" charset="0"/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r>
                <a:rPr lang="zh-CN" altLang="en-US" sz="2400" dirty="0">
                  <a:latin typeface="Times New Roman" pitchFamily="18" charset="0"/>
                  <a:ea typeface="楷体_GB2312" pitchFamily="49" charset="-122"/>
                </a:rPr>
                <a:t>               </a:t>
              </a:r>
              <a:r>
                <a:rPr lang="en-US" altLang="zh-CN" sz="2400" b="0" dirty="0" err="1">
                  <a:ea typeface="楷体_GB2312" pitchFamily="49" charset="-122"/>
                </a:rPr>
                <a:t>LiveIn</a:t>
              </a:r>
              <a:r>
                <a:rPr lang="en-US" altLang="zh-CN" sz="2400" b="0" dirty="0">
                  <a:ea typeface="楷体_GB2312" pitchFamily="49" charset="-122"/>
                </a:rPr>
                <a:t>(B)= </a:t>
              </a:r>
              <a:r>
                <a:rPr lang="en-US" altLang="zh-CN" sz="2400" b="0" dirty="0" err="1">
                  <a:ea typeface="楷体_GB2312" pitchFamily="49" charset="-122"/>
                </a:rPr>
                <a:t>LiveUse</a:t>
              </a:r>
              <a:r>
                <a:rPr lang="en-US" altLang="zh-CN" sz="2400" b="0" dirty="0">
                  <a:ea typeface="楷体_GB2312" pitchFamily="49" charset="-122"/>
                </a:rPr>
                <a:t>(B)∪(</a:t>
              </a:r>
              <a:r>
                <a:rPr lang="en-US" altLang="zh-CN" sz="2400" b="0" dirty="0" err="1">
                  <a:ea typeface="楷体_GB2312" pitchFamily="49" charset="-122"/>
                </a:rPr>
                <a:t>LiveOut</a:t>
              </a:r>
              <a:r>
                <a:rPr lang="en-US" altLang="zh-CN" sz="2400" b="0" dirty="0">
                  <a:ea typeface="楷体_GB2312" pitchFamily="49" charset="-122"/>
                </a:rPr>
                <a:t>(B)- Def(B))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endParaRPr lang="en-US" altLang="zh-CN" sz="1000" b="0" dirty="0"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r>
                <a:rPr lang="en-US" altLang="zh-CN" sz="2400" b="0" dirty="0">
                  <a:ea typeface="楷体_GB2312" pitchFamily="49" charset="-122"/>
                </a:rPr>
                <a:t>              </a:t>
              </a:r>
              <a:r>
                <a:rPr lang="en-US" altLang="zh-CN" sz="2400" b="0" dirty="0" err="1">
                  <a:ea typeface="楷体_GB2312" pitchFamily="49" charset="-122"/>
                </a:rPr>
                <a:t>LiveOut</a:t>
              </a:r>
              <a:r>
                <a:rPr lang="en-US" altLang="zh-CN" sz="2400" b="0" dirty="0">
                  <a:ea typeface="楷体_GB2312" pitchFamily="49" charset="-122"/>
                </a:rPr>
                <a:t>(B) = </a:t>
              </a:r>
              <a:r>
                <a:rPr lang="en-US" altLang="zh-CN" sz="2400" b="0" dirty="0">
                  <a:ea typeface="楷体_GB2312" pitchFamily="49" charset="-122"/>
                  <a:sym typeface="Symbol" pitchFamily="18" charset="2"/>
                </a:rPr>
                <a:t></a:t>
              </a:r>
              <a:r>
                <a:rPr lang="en-US" altLang="zh-CN" sz="2400" b="0" dirty="0">
                  <a:ea typeface="楷体_GB2312" pitchFamily="49" charset="-122"/>
                </a:rPr>
                <a:t>   </a:t>
              </a:r>
              <a:r>
                <a:rPr lang="en-US" altLang="zh-CN" sz="2400" b="0" dirty="0" err="1">
                  <a:ea typeface="楷体_GB2312" pitchFamily="49" charset="-122"/>
                </a:rPr>
                <a:t>LiveIn</a:t>
              </a:r>
              <a:r>
                <a:rPr lang="en-US" altLang="zh-CN" sz="2400" b="0" dirty="0">
                  <a:ea typeface="楷体_GB2312" pitchFamily="49" charset="-122"/>
                </a:rPr>
                <a:t>(s)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 typeface="Symbol" pitchFamily="18" charset="2"/>
                <a:buNone/>
              </a:pPr>
              <a:endParaRPr lang="en-US" altLang="zh-CN" sz="1000" b="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000" dirty="0">
                  <a:ea typeface="楷体_GB2312" pitchFamily="49" charset="-122"/>
                </a:rPr>
                <a:t>     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dirty="0">
                  <a:ea typeface="楷体_GB2312" pitchFamily="49" charset="-122"/>
                </a:rPr>
                <a:t>    </a:t>
              </a:r>
              <a:r>
                <a:rPr lang="zh-CN" altLang="en-US" sz="2000" dirty="0">
                  <a:ea typeface="楷体_GB2312" pitchFamily="49" charset="-122"/>
                </a:rPr>
                <a:t>其中，</a:t>
              </a:r>
              <a:r>
                <a:rPr lang="en-US" altLang="zh-CN" sz="2000" b="0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为一个基本块，</a:t>
              </a:r>
              <a:r>
                <a:rPr lang="en-US" altLang="zh-CN" sz="2000" b="0" dirty="0">
                  <a:ea typeface="楷体_GB2312" pitchFamily="49" charset="-122"/>
                </a:rPr>
                <a:t>S[B]</a:t>
              </a:r>
              <a:r>
                <a:rPr lang="en-US" altLang="zh-CN" sz="2000" dirty="0">
                  <a:ea typeface="楷体_GB2312" pitchFamily="49" charset="-122"/>
                </a:rPr>
                <a:t> </a:t>
              </a:r>
              <a:r>
                <a:rPr lang="zh-CN" altLang="en-US" sz="2000" dirty="0">
                  <a:ea typeface="楷体_GB2312" pitchFamily="49" charset="-122"/>
                </a:rPr>
                <a:t>为 </a:t>
              </a:r>
              <a:r>
                <a:rPr lang="en-US" altLang="zh-CN" sz="2000" b="0" dirty="0">
                  <a:ea typeface="楷体_GB2312" pitchFamily="49" charset="-122"/>
                </a:rPr>
                <a:t>B</a:t>
              </a:r>
              <a:r>
                <a:rPr lang="en-US" altLang="zh-CN" sz="2000" dirty="0">
                  <a:ea typeface="楷体_GB2312" pitchFamily="49" charset="-122"/>
                </a:rPr>
                <a:t> </a:t>
              </a:r>
              <a:r>
                <a:rPr lang="zh-CN" altLang="en-US" sz="2000" dirty="0">
                  <a:ea typeface="楷体_GB2312" pitchFamily="49" charset="-122"/>
                </a:rPr>
                <a:t>的所有后继基本块；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                 </a:t>
              </a:r>
              <a:r>
                <a:rPr lang="en-US" altLang="zh-CN" sz="2000" b="0" dirty="0" err="1">
                  <a:ea typeface="楷体_GB2312" pitchFamily="49" charset="-122"/>
                </a:rPr>
                <a:t>LiveUse</a:t>
              </a:r>
              <a:r>
                <a:rPr lang="en-US" altLang="zh-CN" sz="2000" b="0" dirty="0">
                  <a:ea typeface="楷体_GB2312" pitchFamily="49" charset="-122"/>
                </a:rPr>
                <a:t>(B) </a:t>
              </a:r>
              <a:r>
                <a:rPr lang="zh-CN" altLang="en-US" sz="2000" dirty="0">
                  <a:ea typeface="楷体_GB2312" pitchFamily="49" charset="-122"/>
                </a:rPr>
                <a:t>为 </a:t>
              </a:r>
              <a:r>
                <a:rPr lang="en-US" altLang="zh-CN" sz="2000" b="0" dirty="0">
                  <a:ea typeface="楷体_GB2312" pitchFamily="49" charset="-122"/>
                </a:rPr>
                <a:t>B </a:t>
              </a:r>
              <a:r>
                <a:rPr lang="zh-CN" altLang="en-US" sz="2000" dirty="0">
                  <a:ea typeface="楷体_GB2312" pitchFamily="49" charset="-122"/>
                </a:rPr>
                <a:t>中被定值之前要引用变量的集合；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zh-CN" altLang="en-US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dirty="0">
                  <a:ea typeface="楷体_GB2312" pitchFamily="49" charset="-122"/>
                </a:rPr>
                <a:t>                 </a:t>
              </a:r>
              <a:r>
                <a:rPr lang="en-US" altLang="zh-CN" sz="2000" b="0" dirty="0">
                  <a:ea typeface="楷体_GB2312" pitchFamily="49" charset="-122"/>
                </a:rPr>
                <a:t>Def(B)</a:t>
              </a:r>
              <a:r>
                <a:rPr lang="zh-CN" altLang="en-US" sz="2000" dirty="0">
                  <a:ea typeface="楷体_GB2312" pitchFamily="49" charset="-122"/>
                </a:rPr>
                <a:t>为</a:t>
              </a:r>
              <a:r>
                <a:rPr lang="zh-CN" altLang="en-US" sz="2000" dirty="0" smtClean="0">
                  <a:ea typeface="楷体_GB2312" pitchFamily="49" charset="-122"/>
                </a:rPr>
                <a:t>在</a:t>
              </a:r>
              <a:r>
                <a:rPr lang="en-US" altLang="zh-CN" sz="2000" b="0" dirty="0" smtClean="0">
                  <a:ea typeface="楷体_GB2312" pitchFamily="49" charset="-122"/>
                </a:rPr>
                <a:t>B</a:t>
              </a:r>
              <a:r>
                <a:rPr lang="zh-CN" altLang="zh-CN" sz="2000" dirty="0" smtClean="0">
                  <a:ea typeface="楷体_GB2312" pitchFamily="49" charset="-122"/>
                </a:rPr>
                <a:t>中定值的且定值前未曾在</a:t>
              </a:r>
              <a:r>
                <a:rPr lang="en-US" altLang="zh-CN" sz="2000" b="0" dirty="0" smtClean="0">
                  <a:ea typeface="楷体_GB2312" pitchFamily="49" charset="-122"/>
                </a:rPr>
                <a:t>B</a:t>
              </a:r>
              <a:r>
                <a:rPr lang="zh-CN" altLang="zh-CN" sz="2000" dirty="0" smtClean="0">
                  <a:ea typeface="楷体_GB2312" pitchFamily="49" charset="-122"/>
                </a:rPr>
                <a:t>中引用过的变量集合</a:t>
              </a:r>
              <a:r>
                <a:rPr lang="en-US" altLang="zh-CN" sz="2000" dirty="0" smtClean="0">
                  <a:ea typeface="楷体_GB2312" pitchFamily="49" charset="-122"/>
                </a:rPr>
                <a:t>; </a:t>
              </a:r>
              <a:endParaRPr lang="en-US" altLang="zh-CN" sz="2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en-US" altLang="zh-CN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ea typeface="楷体_GB2312" pitchFamily="49" charset="-122"/>
                </a:rPr>
                <a:t>                 </a:t>
              </a:r>
              <a:r>
                <a:rPr lang="en-US" altLang="zh-CN" sz="2000" b="0" dirty="0" err="1">
                  <a:ea typeface="楷体_GB2312" pitchFamily="49" charset="-122"/>
                </a:rPr>
                <a:t>LiveIn</a:t>
              </a:r>
              <a:r>
                <a:rPr lang="en-US" altLang="zh-CN" sz="2000" b="0" dirty="0">
                  <a:ea typeface="楷体_GB2312" pitchFamily="49" charset="-122"/>
                </a:rPr>
                <a:t>(B) </a:t>
              </a:r>
              <a:r>
                <a:rPr lang="zh-CN" altLang="en-US" sz="2000" dirty="0">
                  <a:ea typeface="楷体_GB2312" pitchFamily="49" charset="-122"/>
                </a:rPr>
                <a:t>为 </a:t>
              </a:r>
              <a:r>
                <a:rPr lang="en-US" altLang="zh-CN" sz="2000" b="0" dirty="0">
                  <a:ea typeface="楷体_GB2312" pitchFamily="49" charset="-122"/>
                </a:rPr>
                <a:t>B</a:t>
              </a:r>
              <a:r>
                <a:rPr lang="en-US" altLang="zh-CN" sz="2000" dirty="0">
                  <a:ea typeface="楷体_GB2312" pitchFamily="49" charset="-122"/>
                </a:rPr>
                <a:t> </a:t>
              </a:r>
              <a:r>
                <a:rPr lang="zh-CN" altLang="en-US" sz="2000" dirty="0">
                  <a:ea typeface="楷体_GB2312" pitchFamily="49" charset="-122"/>
                </a:rPr>
                <a:t>入口处为活跃的变量的集合</a:t>
              </a:r>
              <a:r>
                <a:rPr lang="en-US" altLang="zh-CN" sz="2000" dirty="0">
                  <a:ea typeface="楷体_GB2312" pitchFamily="49" charset="-122"/>
                </a:rPr>
                <a:t>;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endParaRPr lang="en-US" altLang="zh-CN" sz="1000" dirty="0">
                <a:ea typeface="楷体_GB2312" pitchFamily="49" charset="-122"/>
              </a:endParaRP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ea typeface="楷体_GB2312" pitchFamily="49" charset="-122"/>
                </a:rPr>
                <a:t>                 </a:t>
              </a:r>
              <a:r>
                <a:rPr lang="en-US" altLang="zh-CN" sz="2000" b="0" dirty="0" err="1">
                  <a:ea typeface="楷体_GB2312" pitchFamily="49" charset="-122"/>
                </a:rPr>
                <a:t>LiveOut</a:t>
              </a:r>
              <a:r>
                <a:rPr lang="en-US" altLang="zh-CN" sz="2000" b="0" dirty="0">
                  <a:ea typeface="楷体_GB2312" pitchFamily="49" charset="-122"/>
                </a:rPr>
                <a:t>(B)</a:t>
              </a:r>
              <a:r>
                <a:rPr lang="en-US" altLang="zh-CN" sz="2000" dirty="0">
                  <a:ea typeface="楷体_GB2312" pitchFamily="49" charset="-122"/>
                </a:rPr>
                <a:t> </a:t>
              </a:r>
              <a:r>
                <a:rPr lang="zh-CN" altLang="en-US" sz="2000" dirty="0">
                  <a:ea typeface="楷体_GB2312" pitchFamily="49" charset="-122"/>
                </a:rPr>
                <a:t>为 </a:t>
              </a:r>
              <a:r>
                <a:rPr lang="en-US" altLang="zh-CN" sz="2000" b="0" dirty="0">
                  <a:ea typeface="楷体_GB2312" pitchFamily="49" charset="-122"/>
                </a:rPr>
                <a:t>B</a:t>
              </a:r>
              <a:r>
                <a:rPr lang="en-US" altLang="zh-CN" sz="2000" dirty="0">
                  <a:ea typeface="楷体_GB2312" pitchFamily="49" charset="-122"/>
                </a:rPr>
                <a:t> </a:t>
              </a:r>
              <a:r>
                <a:rPr lang="zh-CN" altLang="en-US" sz="2000" dirty="0">
                  <a:ea typeface="楷体_GB2312" pitchFamily="49" charset="-122"/>
                </a:rPr>
                <a:t>的出口处的活跃变量的集合</a:t>
              </a:r>
              <a:endParaRPr lang="zh-CN" altLang="en-US" sz="2400" dirty="0">
                <a:ea typeface="楷体_GB2312" pitchFamily="49" charset="-122"/>
              </a:endParaRPr>
            </a:p>
          </p:txBody>
        </p:sp>
        <p:sp>
          <p:nvSpPr>
            <p:cNvPr id="32782" name="Text Box 15"/>
            <p:cNvSpPr txBox="1">
              <a:spLocks noChangeArrowheads="1"/>
            </p:cNvSpPr>
            <p:nvPr/>
          </p:nvSpPr>
          <p:spPr bwMode="auto">
            <a:xfrm>
              <a:off x="2195" y="2092"/>
              <a:ext cx="54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>
                  <a:srgbClr val="800080"/>
                </a:buClr>
                <a:buFont typeface="Wingdings" pitchFamily="2" charset="2"/>
                <a:buNone/>
              </a:pPr>
              <a:r>
                <a:rPr lang="en-US" altLang="zh-CN" sz="1600" i="1">
                  <a:ea typeface="楷体_GB2312" pitchFamily="49" charset="-122"/>
                </a:rPr>
                <a:t>s</a:t>
              </a:r>
              <a:r>
                <a:rPr lang="en-US" altLang="zh-CN" sz="1600">
                  <a:ea typeface="楷体_GB2312" pitchFamily="49" charset="-122"/>
                  <a:sym typeface="Symbol" pitchFamily="18" charset="2"/>
                </a:rPr>
                <a:t></a:t>
              </a:r>
              <a:r>
                <a:rPr lang="en-US" altLang="zh-CN" sz="1600" i="1">
                  <a:ea typeface="楷体_GB2312" pitchFamily="49" charset="-122"/>
                </a:rPr>
                <a:t>S</a:t>
              </a:r>
              <a:r>
                <a:rPr lang="en-US" altLang="zh-CN" sz="1600">
                  <a:ea typeface="楷体_GB2312" pitchFamily="49" charset="-122"/>
                </a:rPr>
                <a:t>[</a:t>
              </a:r>
              <a:r>
                <a:rPr lang="en-US" altLang="zh-CN" sz="1600" i="1">
                  <a:ea typeface="楷体_GB2312" pitchFamily="49" charset="-122"/>
                </a:rPr>
                <a:t>B</a:t>
              </a:r>
              <a:r>
                <a:rPr lang="en-US" altLang="zh-CN" sz="1600">
                  <a:ea typeface="楷体_GB2312" pitchFamily="49" charset="-122"/>
                </a:rPr>
                <a:t>]</a:t>
              </a:r>
            </a:p>
          </p:txBody>
        </p:sp>
      </p:grpSp>
      <p:sp>
        <p:nvSpPr>
          <p:cNvPr id="3277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6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7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8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9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0" name="Rectangle 18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685800" y="1844675"/>
            <a:ext cx="777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数据流方程求解算法</a:t>
            </a:r>
            <a:r>
              <a:rPr lang="zh-CN" altLang="en-US">
                <a:ea typeface="楷体_GB2312" pitchFamily="49" charset="-122"/>
              </a:rPr>
              <a:t>（对</a:t>
            </a:r>
            <a:r>
              <a:rPr lang="en-US" altLang="zh-CN" b="0" i="1">
                <a:ea typeface="楷体_GB2312" pitchFamily="49" charset="-122"/>
              </a:rPr>
              <a:t>n</a:t>
            </a:r>
            <a:r>
              <a:rPr lang="zh-CN" altLang="en-US">
                <a:ea typeface="楷体_GB2312" pitchFamily="49" charset="-122"/>
              </a:rPr>
              <a:t>个结点的流图）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1143000" y="2593975"/>
            <a:ext cx="7239000" cy="414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800" b="0" dirty="0"/>
              <a:t>for  </a:t>
            </a:r>
            <a:r>
              <a:rPr lang="en-US" altLang="zh-CN" sz="1800" b="0" i="1" dirty="0" err="1"/>
              <a:t>i</a:t>
            </a:r>
            <a:r>
              <a:rPr lang="en-US" altLang="zh-CN" sz="1800" b="0" dirty="0"/>
              <a:t>:= 1 to </a:t>
            </a:r>
            <a:r>
              <a:rPr lang="en-US" altLang="zh-CN" sz="1800" b="0" i="1" dirty="0"/>
              <a:t>n</a:t>
            </a:r>
            <a:r>
              <a:rPr lang="en-US" altLang="zh-CN" sz="1800" b="0" dirty="0"/>
              <a:t> {   </a:t>
            </a:r>
            <a:r>
              <a:rPr lang="en-US" altLang="zh-CN" sz="1800" b="0" dirty="0" err="1"/>
              <a:t>LiveIn</a:t>
            </a:r>
            <a:r>
              <a:rPr lang="en-US" altLang="zh-CN" sz="1800" b="0" dirty="0"/>
              <a:t>[ B</a:t>
            </a:r>
            <a:r>
              <a:rPr lang="en-US" altLang="zh-CN" sz="1800" b="0" i="1" baseline="-25000" dirty="0"/>
              <a:t>i </a:t>
            </a:r>
            <a:r>
              <a:rPr lang="en-US" altLang="zh-CN" sz="1800" b="0" dirty="0"/>
              <a:t>] := </a:t>
            </a:r>
            <a:r>
              <a:rPr lang="en-US" altLang="zh-CN" sz="1800" b="0" dirty="0" err="1"/>
              <a:t>LiveUse</a:t>
            </a:r>
            <a:r>
              <a:rPr lang="en-US" altLang="zh-CN" sz="1800" b="0" dirty="0"/>
              <a:t>[ 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 ];  </a:t>
            </a:r>
            <a:r>
              <a:rPr lang="en-US" altLang="zh-CN" sz="1800" b="0" dirty="0" err="1"/>
              <a:t>LiveOut</a:t>
            </a:r>
            <a:r>
              <a:rPr lang="en-US" altLang="zh-CN" sz="1800" b="0" dirty="0"/>
              <a:t>[B</a:t>
            </a:r>
            <a:r>
              <a:rPr lang="en-US" altLang="zh-CN" sz="1800" b="0" baseline="-25000" dirty="0"/>
              <a:t>i</a:t>
            </a:r>
            <a:r>
              <a:rPr lang="en-US" altLang="zh-CN" sz="1800" b="0" dirty="0"/>
              <a:t> ] := </a:t>
            </a:r>
            <a:r>
              <a:rPr lang="en-US" altLang="zh-CN" sz="1800" b="0" dirty="0">
                <a:sym typeface="Symbol" pitchFamily="18" charset="2"/>
              </a:rPr>
              <a:t></a:t>
            </a:r>
            <a:r>
              <a:rPr lang="en-US" altLang="zh-CN" sz="1800" b="0" dirty="0"/>
              <a:t>;  }</a:t>
            </a:r>
          </a:p>
          <a:p>
            <a:r>
              <a:rPr lang="en-US" altLang="zh-CN" sz="1800" b="0" dirty="0"/>
              <a:t>change := true;</a:t>
            </a:r>
          </a:p>
          <a:p>
            <a:r>
              <a:rPr lang="en-US" altLang="zh-CN" sz="1800" b="0" dirty="0"/>
              <a:t>while change  {</a:t>
            </a:r>
          </a:p>
          <a:p>
            <a:r>
              <a:rPr lang="en-US" altLang="zh-CN" sz="1800" b="0" dirty="0"/>
              <a:t>       change := false;</a:t>
            </a:r>
          </a:p>
          <a:p>
            <a:r>
              <a:rPr lang="en-US" altLang="zh-CN" sz="1800" b="0" dirty="0"/>
              <a:t>       for </a:t>
            </a:r>
            <a:r>
              <a:rPr lang="en-US" altLang="zh-CN" sz="1800" b="0" dirty="0" err="1"/>
              <a:t>i</a:t>
            </a:r>
            <a:r>
              <a:rPr lang="en-US" altLang="zh-CN" sz="1800" b="0" dirty="0"/>
              <a:t> := 1 to </a:t>
            </a:r>
            <a:r>
              <a:rPr lang="en-US" altLang="zh-CN" sz="1800" b="0" i="1" dirty="0"/>
              <a:t>n</a:t>
            </a:r>
            <a:r>
              <a:rPr lang="en-US" altLang="zh-CN" sz="1800" b="0" dirty="0"/>
              <a:t>  {</a:t>
            </a:r>
          </a:p>
          <a:p>
            <a:r>
              <a:rPr lang="en-US" altLang="zh-CN" sz="1800" b="0" dirty="0"/>
              <a:t>	</a:t>
            </a:r>
            <a:r>
              <a:rPr lang="en-US" altLang="zh-CN" sz="1800" b="0" dirty="0" err="1"/>
              <a:t>newout</a:t>
            </a:r>
            <a:r>
              <a:rPr lang="en-US" altLang="zh-CN" sz="1800" b="0" dirty="0"/>
              <a:t> := </a:t>
            </a:r>
            <a:r>
              <a:rPr lang="en-US" altLang="zh-CN" sz="1800" b="0" dirty="0">
                <a:sym typeface="Symbol" pitchFamily="18" charset="2"/>
              </a:rPr>
              <a:t></a:t>
            </a:r>
            <a:r>
              <a:rPr lang="en-US" altLang="zh-CN" sz="1800" b="0" dirty="0"/>
              <a:t> </a:t>
            </a:r>
            <a:r>
              <a:rPr lang="en-US" altLang="zh-CN" sz="1800" b="0" dirty="0" err="1"/>
              <a:t>LiveIn</a:t>
            </a:r>
            <a:r>
              <a:rPr lang="en-US" altLang="zh-CN" sz="1800" b="0" dirty="0"/>
              <a:t>[p];                 //</a:t>
            </a:r>
            <a:r>
              <a:rPr lang="en-US" altLang="zh-CN" sz="1800" b="0" dirty="0" err="1"/>
              <a:t>p</a:t>
            </a:r>
            <a:r>
              <a:rPr lang="en-US" altLang="zh-CN" sz="1800" b="0" dirty="0" err="1">
                <a:sym typeface="Symbol" pitchFamily="18" charset="2"/>
              </a:rPr>
              <a:t></a:t>
            </a:r>
            <a:r>
              <a:rPr lang="en-US" altLang="zh-CN" sz="1800" b="0" dirty="0" err="1"/>
              <a:t>S</a:t>
            </a:r>
            <a:r>
              <a:rPr lang="en-US" altLang="zh-CN" sz="1800" b="0" dirty="0"/>
              <a:t>[B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]</a:t>
            </a:r>
          </a:p>
          <a:p>
            <a:r>
              <a:rPr lang="en-US" altLang="zh-CN" sz="1800" b="0" dirty="0"/>
              <a:t>                    if </a:t>
            </a:r>
            <a:r>
              <a:rPr lang="en-US" altLang="zh-CN" sz="1800" b="0" dirty="0" err="1"/>
              <a:t>newout</a:t>
            </a:r>
            <a:r>
              <a:rPr lang="en-US" altLang="zh-CN" sz="1800" b="0" dirty="0"/>
              <a:t> </a:t>
            </a:r>
            <a:r>
              <a:rPr lang="en-US" altLang="zh-CN" sz="1800" b="0" dirty="0">
                <a:sym typeface="Symbol" pitchFamily="18" charset="2"/>
              </a:rPr>
              <a:t></a:t>
            </a:r>
            <a:r>
              <a:rPr lang="en-US" altLang="zh-CN" sz="1800" b="0" dirty="0"/>
              <a:t> </a:t>
            </a:r>
            <a:r>
              <a:rPr lang="en-US" altLang="zh-CN" sz="1800" b="0" dirty="0" err="1"/>
              <a:t>LiveOut</a:t>
            </a:r>
            <a:r>
              <a:rPr lang="en-US" altLang="zh-CN" sz="1800" b="0" dirty="0"/>
              <a:t>[B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]  {</a:t>
            </a:r>
          </a:p>
          <a:p>
            <a:r>
              <a:rPr lang="en-US" altLang="zh-CN" sz="1800" b="0" dirty="0"/>
              <a:t>                          change := </a:t>
            </a:r>
            <a:r>
              <a:rPr lang="en-US" altLang="zh-CN" sz="1800" b="0" dirty="0" err="1"/>
              <a:t>ture</a:t>
            </a:r>
            <a:r>
              <a:rPr lang="en-US" altLang="zh-CN" sz="1800" b="0" dirty="0"/>
              <a:t>;     </a:t>
            </a:r>
            <a:r>
              <a:rPr lang="en-US" altLang="zh-CN" sz="1800" b="0" dirty="0" err="1"/>
              <a:t>LiveOut</a:t>
            </a:r>
            <a:r>
              <a:rPr lang="en-US" altLang="zh-CN" sz="1800" b="0" dirty="0"/>
              <a:t>[B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] := </a:t>
            </a:r>
            <a:r>
              <a:rPr lang="en-US" altLang="zh-CN" sz="1800" b="0" dirty="0" err="1"/>
              <a:t>newout</a:t>
            </a:r>
            <a:r>
              <a:rPr lang="en-US" altLang="zh-CN" sz="1800" b="0" dirty="0"/>
              <a:t>;</a:t>
            </a:r>
          </a:p>
          <a:p>
            <a:r>
              <a:rPr lang="en-US" altLang="zh-CN" sz="1800" b="0" dirty="0"/>
              <a:t>                          </a:t>
            </a:r>
            <a:r>
              <a:rPr lang="en-US" altLang="zh-CN" sz="1800" b="0" dirty="0" err="1"/>
              <a:t>LiveIn</a:t>
            </a:r>
            <a:r>
              <a:rPr lang="en-US" altLang="zh-CN" sz="1800" b="0" dirty="0"/>
              <a:t>[B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] : = (</a:t>
            </a:r>
            <a:r>
              <a:rPr lang="en-US" altLang="zh-CN" sz="1800" b="0" dirty="0" err="1"/>
              <a:t>LiveOut</a:t>
            </a:r>
            <a:r>
              <a:rPr lang="en-US" altLang="zh-CN" sz="1800" b="0" dirty="0"/>
              <a:t>[B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] – Def[B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]) </a:t>
            </a:r>
            <a:r>
              <a:rPr lang="en-US" altLang="zh-CN" sz="1800" b="0" dirty="0">
                <a:sym typeface="Symbol" pitchFamily="18" charset="2"/>
              </a:rPr>
              <a:t></a:t>
            </a:r>
            <a:r>
              <a:rPr lang="en-US" altLang="zh-CN" sz="1800" b="0" dirty="0"/>
              <a:t> </a:t>
            </a:r>
            <a:r>
              <a:rPr lang="en-US" altLang="zh-CN" sz="1800" b="0" dirty="0" err="1"/>
              <a:t>LiveUse</a:t>
            </a:r>
            <a:r>
              <a:rPr lang="en-US" altLang="zh-CN" sz="1800" b="0" dirty="0"/>
              <a:t>[B</a:t>
            </a:r>
            <a:r>
              <a:rPr lang="en-US" altLang="zh-CN" sz="1800" b="0" i="1" baseline="-25000" dirty="0"/>
              <a:t>i</a:t>
            </a:r>
            <a:r>
              <a:rPr lang="en-US" altLang="zh-CN" sz="1800" b="0" dirty="0"/>
              <a:t>]</a:t>
            </a:r>
          </a:p>
          <a:p>
            <a:r>
              <a:rPr lang="en-US" altLang="zh-CN" sz="1800" b="0" dirty="0"/>
              <a:t>                   }</a:t>
            </a:r>
          </a:p>
          <a:p>
            <a:r>
              <a:rPr lang="en-US" altLang="zh-CN" sz="1800" b="0" dirty="0"/>
              <a:t>       }</a:t>
            </a:r>
          </a:p>
          <a:p>
            <a:r>
              <a:rPr lang="en-US" altLang="zh-CN" sz="1800" b="0" dirty="0"/>
              <a:t>}</a:t>
            </a:r>
          </a:p>
        </p:txBody>
      </p:sp>
      <p:sp>
        <p:nvSpPr>
          <p:cNvPr id="33796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33797" name="Text Box 1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95313" y="1196975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3798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9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0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1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2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3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4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5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0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1" name="AutoShape 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2" name="Text Box 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125538"/>
            <a:ext cx="8224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4823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4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Rectangle 15"/>
          <p:cNvSpPr>
            <a:spLocks noChangeArrowheads="1"/>
          </p:cNvSpPr>
          <p:nvPr/>
        </p:nvSpPr>
        <p:spPr bwMode="auto">
          <a:xfrm>
            <a:off x="685800" y="1700213"/>
            <a:ext cx="5470525" cy="17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dirty="0">
                <a:ea typeface="楷体_GB2312" pitchFamily="49" charset="-122"/>
              </a:rPr>
              <a:t>数据流方程求解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 dirty="0">
                <a:ea typeface="楷体_GB2312" pitchFamily="49" charset="-122"/>
              </a:rPr>
              <a:t>   </a:t>
            </a: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对于右边的流图，提取</a:t>
            </a:r>
            <a:r>
              <a:rPr lang="en-US" altLang="zh-CN" sz="2400" b="0" dirty="0">
                <a:ea typeface="楷体_GB2312" pitchFamily="49" charset="-122"/>
              </a:rPr>
              <a:t>Def </a:t>
            </a:r>
            <a:r>
              <a:rPr lang="zh-CN" altLang="en-US" sz="2400" dirty="0">
                <a:ea typeface="楷体_GB2312" pitchFamily="49" charset="-122"/>
              </a:rPr>
              <a:t>（在</a:t>
            </a:r>
            <a:r>
              <a:rPr lang="en-US" altLang="zh-CN" sz="2400" b="0" dirty="0">
                <a:ea typeface="楷体_GB2312" pitchFamily="49" charset="-122"/>
              </a:rPr>
              <a:t>B</a:t>
            </a:r>
            <a:r>
              <a:rPr lang="zh-CN" altLang="en-US" sz="2400" dirty="0">
                <a:ea typeface="楷体_GB2312" pitchFamily="49" charset="-122"/>
              </a:rPr>
              <a:t>中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定值的变量集合）和 </a:t>
            </a:r>
            <a:r>
              <a:rPr lang="en-US" altLang="zh-CN" sz="2400" b="0" dirty="0" err="1">
                <a:ea typeface="楷体_GB2312" pitchFamily="49" charset="-122"/>
              </a:rPr>
              <a:t>LiveUse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dirty="0">
                <a:ea typeface="楷体_GB2312" pitchFamily="49" charset="-122"/>
              </a:rPr>
              <a:t>B</a:t>
            </a:r>
            <a:r>
              <a:rPr lang="zh-CN" altLang="en-US" sz="2400" dirty="0">
                <a:ea typeface="楷体_GB2312" pitchFamily="49" charset="-122"/>
              </a:rPr>
              <a:t>中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被定值前要引用变量的集合）集合：</a:t>
            </a:r>
          </a:p>
        </p:txBody>
      </p:sp>
      <p:sp>
        <p:nvSpPr>
          <p:cNvPr id="34828" name="Text Box 17"/>
          <p:cNvSpPr txBox="1">
            <a:spLocks noChangeArrowheads="1"/>
          </p:cNvSpPr>
          <p:nvPr/>
        </p:nvSpPr>
        <p:spPr bwMode="auto">
          <a:xfrm>
            <a:off x="1524000" y="4106863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34829" name="Text Box 18"/>
          <p:cNvSpPr txBox="1">
            <a:spLocks noChangeArrowheads="1"/>
          </p:cNvSpPr>
          <p:nvPr/>
        </p:nvSpPr>
        <p:spPr bwMode="auto">
          <a:xfrm>
            <a:off x="1524000" y="4616450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34830" name="Text Box 19"/>
          <p:cNvSpPr txBox="1">
            <a:spLocks noChangeArrowheads="1"/>
          </p:cNvSpPr>
          <p:nvPr/>
        </p:nvSpPr>
        <p:spPr bwMode="auto">
          <a:xfrm>
            <a:off x="1535113" y="5157788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34831" name="Text Box 20"/>
          <p:cNvSpPr txBox="1">
            <a:spLocks noChangeArrowheads="1"/>
          </p:cNvSpPr>
          <p:nvPr/>
        </p:nvSpPr>
        <p:spPr bwMode="auto">
          <a:xfrm>
            <a:off x="1535113" y="566102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34832" name="Rectangle 22"/>
          <p:cNvSpPr>
            <a:spLocks noChangeArrowheads="1"/>
          </p:cNvSpPr>
          <p:nvPr/>
        </p:nvSpPr>
        <p:spPr bwMode="auto">
          <a:xfrm>
            <a:off x="2365375" y="3573463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Def</a:t>
            </a:r>
          </a:p>
        </p:txBody>
      </p:sp>
      <p:sp>
        <p:nvSpPr>
          <p:cNvPr id="34833" name="Rectangle 24"/>
          <p:cNvSpPr>
            <a:spLocks noChangeArrowheads="1"/>
          </p:cNvSpPr>
          <p:nvPr/>
        </p:nvSpPr>
        <p:spPr bwMode="auto">
          <a:xfrm>
            <a:off x="3581400" y="3573463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LiveUse</a:t>
            </a:r>
          </a:p>
        </p:txBody>
      </p:sp>
      <p:sp>
        <p:nvSpPr>
          <p:cNvPr id="34834" name="Rectangle 26"/>
          <p:cNvSpPr>
            <a:spLocks noChangeArrowheads="1"/>
          </p:cNvSpPr>
          <p:nvPr/>
        </p:nvSpPr>
        <p:spPr bwMode="auto">
          <a:xfrm>
            <a:off x="2365375" y="4106863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4835" name="Line 27"/>
          <p:cNvSpPr>
            <a:spLocks noChangeShapeType="1"/>
          </p:cNvSpPr>
          <p:nvPr/>
        </p:nvSpPr>
        <p:spPr bwMode="auto">
          <a:xfrm>
            <a:off x="1447800" y="4030663"/>
            <a:ext cx="35052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36" name="Line 28"/>
          <p:cNvSpPr>
            <a:spLocks noChangeShapeType="1"/>
          </p:cNvSpPr>
          <p:nvPr/>
        </p:nvSpPr>
        <p:spPr bwMode="auto">
          <a:xfrm>
            <a:off x="2051050" y="3573463"/>
            <a:ext cx="0" cy="3095625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37" name="Rectangle 29"/>
          <p:cNvSpPr>
            <a:spLocks noChangeArrowheads="1"/>
          </p:cNvSpPr>
          <p:nvPr/>
        </p:nvSpPr>
        <p:spPr bwMode="auto">
          <a:xfrm>
            <a:off x="2418358" y="4646463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 dirty="0">
                <a:ea typeface="楷体_GB2312" pitchFamily="49" charset="-122"/>
              </a:rPr>
              <a:t>{</a:t>
            </a:r>
            <a:r>
              <a:rPr lang="en-US" altLang="zh-CN" sz="1800" b="0" dirty="0">
                <a:ea typeface="楷体_GB2312" pitchFamily="49" charset="-122"/>
              </a:rPr>
              <a:t>I</a:t>
            </a:r>
            <a:r>
              <a:rPr lang="en-US" altLang="zh-CN" sz="1800" dirty="0">
                <a:ea typeface="楷体_GB2312" pitchFamily="49" charset="-122"/>
              </a:rPr>
              <a:t>}</a:t>
            </a:r>
          </a:p>
        </p:txBody>
      </p:sp>
      <p:sp>
        <p:nvSpPr>
          <p:cNvPr id="34840" name="Rectangle 38"/>
          <p:cNvSpPr>
            <a:spLocks noChangeArrowheads="1"/>
          </p:cNvSpPr>
          <p:nvPr/>
        </p:nvSpPr>
        <p:spPr bwMode="auto">
          <a:xfrm>
            <a:off x="3852863" y="5149850"/>
            <a:ext cx="503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 dirty="0">
                <a:ea typeface="楷体_GB2312" pitchFamily="49" charset="-122"/>
              </a:rPr>
              <a:t>{</a:t>
            </a:r>
            <a:r>
              <a:rPr lang="en-US" altLang="zh-CN" sz="1800" b="0" dirty="0">
                <a:ea typeface="楷体_GB2312" pitchFamily="49" charset="-122"/>
              </a:rPr>
              <a:t>J</a:t>
            </a:r>
            <a:r>
              <a:rPr lang="en-US" altLang="zh-CN" sz="1800" dirty="0">
                <a:ea typeface="楷体_GB2312" pitchFamily="49" charset="-122"/>
              </a:rPr>
              <a:t>}</a:t>
            </a:r>
          </a:p>
        </p:txBody>
      </p:sp>
      <p:sp>
        <p:nvSpPr>
          <p:cNvPr id="34841" name="Rectangle 50"/>
          <p:cNvSpPr>
            <a:spLocks noChangeArrowheads="1"/>
          </p:cNvSpPr>
          <p:nvPr/>
        </p:nvSpPr>
        <p:spPr bwMode="auto">
          <a:xfrm>
            <a:off x="3905250" y="4217988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34842" name="Rectangle 51"/>
          <p:cNvSpPr>
            <a:spLocks noChangeArrowheads="1"/>
          </p:cNvSpPr>
          <p:nvPr/>
        </p:nvSpPr>
        <p:spPr bwMode="auto">
          <a:xfrm>
            <a:off x="3905250" y="4724400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34843" name="Rectangle 52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graphicFrame>
        <p:nvGraphicFramePr>
          <p:cNvPr id="34844" name="Object 53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34844" name="Visio" r:id="rId4" imgW="2299716" imgH="3774034" progId="">
              <p:embed/>
            </p:oleObj>
          </a:graphicData>
        </a:graphic>
      </p:graphicFrame>
      <p:sp>
        <p:nvSpPr>
          <p:cNvPr id="34845" name="Text Box 54"/>
          <p:cNvSpPr txBox="1">
            <a:spLocks noChangeArrowheads="1"/>
          </p:cNvSpPr>
          <p:nvPr/>
        </p:nvSpPr>
        <p:spPr bwMode="auto">
          <a:xfrm>
            <a:off x="1547813" y="6200775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34846" name="Rectangle 57"/>
          <p:cNvSpPr>
            <a:spLocks noChangeArrowheads="1"/>
          </p:cNvSpPr>
          <p:nvPr/>
        </p:nvSpPr>
        <p:spPr bwMode="auto">
          <a:xfrm>
            <a:off x="3851275" y="5726113"/>
            <a:ext cx="5032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4847" name="Rectangle 58"/>
          <p:cNvSpPr>
            <a:spLocks noChangeArrowheads="1"/>
          </p:cNvSpPr>
          <p:nvPr/>
        </p:nvSpPr>
        <p:spPr bwMode="auto">
          <a:xfrm>
            <a:off x="3779838" y="6230938"/>
            <a:ext cx="7667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4848" name="Rectangle 59"/>
          <p:cNvSpPr>
            <a:spLocks noChangeArrowheads="1"/>
          </p:cNvSpPr>
          <p:nvPr/>
        </p:nvSpPr>
        <p:spPr bwMode="auto">
          <a:xfrm>
            <a:off x="2411413" y="6308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4" name="Rectangle 50"/>
          <p:cNvSpPr>
            <a:spLocks noChangeArrowheads="1"/>
          </p:cNvSpPr>
          <p:nvPr/>
        </p:nvSpPr>
        <p:spPr bwMode="auto">
          <a:xfrm>
            <a:off x="2409850" y="5301208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35" name="Rectangle 50"/>
          <p:cNvSpPr>
            <a:spLocks noChangeArrowheads="1"/>
          </p:cNvSpPr>
          <p:nvPr/>
        </p:nvSpPr>
        <p:spPr bwMode="auto">
          <a:xfrm>
            <a:off x="2409850" y="58022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6" name="Text Box 6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0668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584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1" name="Text Box 13"/>
          <p:cNvSpPr txBox="1">
            <a:spLocks noChangeArrowheads="1"/>
          </p:cNvSpPr>
          <p:nvPr/>
        </p:nvSpPr>
        <p:spPr bwMode="auto">
          <a:xfrm>
            <a:off x="1143000" y="40338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35852" name="Text Box 14"/>
          <p:cNvSpPr txBox="1">
            <a:spLocks noChangeArrowheads="1"/>
          </p:cNvSpPr>
          <p:nvPr/>
        </p:nvSpPr>
        <p:spPr bwMode="auto">
          <a:xfrm>
            <a:off x="1143000" y="45815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35853" name="Text Box 15"/>
          <p:cNvSpPr txBox="1">
            <a:spLocks noChangeArrowheads="1"/>
          </p:cNvSpPr>
          <p:nvPr/>
        </p:nvSpPr>
        <p:spPr bwMode="auto">
          <a:xfrm>
            <a:off x="1154113" y="5157788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35854" name="Text Box 16"/>
          <p:cNvSpPr txBox="1">
            <a:spLocks noChangeArrowheads="1"/>
          </p:cNvSpPr>
          <p:nvPr/>
        </p:nvSpPr>
        <p:spPr bwMode="auto">
          <a:xfrm>
            <a:off x="1154113" y="5734050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35855" name="Rectangle 17"/>
          <p:cNvSpPr>
            <a:spLocks noChangeArrowheads="1"/>
          </p:cNvSpPr>
          <p:nvPr/>
        </p:nvSpPr>
        <p:spPr bwMode="auto">
          <a:xfrm>
            <a:off x="1676400" y="3500438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Def</a:t>
            </a:r>
          </a:p>
        </p:txBody>
      </p:sp>
      <p:sp>
        <p:nvSpPr>
          <p:cNvPr id="35856" name="Rectangle 18"/>
          <p:cNvSpPr>
            <a:spLocks noChangeArrowheads="1"/>
          </p:cNvSpPr>
          <p:nvPr/>
        </p:nvSpPr>
        <p:spPr bwMode="auto">
          <a:xfrm>
            <a:off x="22098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LiveUse</a:t>
            </a:r>
          </a:p>
        </p:txBody>
      </p:sp>
      <p:sp>
        <p:nvSpPr>
          <p:cNvPr id="35857" name="Line 20"/>
          <p:cNvSpPr>
            <a:spLocks noChangeShapeType="1"/>
          </p:cNvSpPr>
          <p:nvPr/>
        </p:nvSpPr>
        <p:spPr bwMode="auto">
          <a:xfrm>
            <a:off x="1143000" y="3957638"/>
            <a:ext cx="4038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8" name="Line 21"/>
          <p:cNvSpPr>
            <a:spLocks noChangeShapeType="1"/>
          </p:cNvSpPr>
          <p:nvPr/>
        </p:nvSpPr>
        <p:spPr bwMode="auto">
          <a:xfrm>
            <a:off x="1600200" y="3500438"/>
            <a:ext cx="19050" cy="3357562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59" name="Rectangle 30"/>
          <p:cNvSpPr>
            <a:spLocks noChangeArrowheads="1"/>
          </p:cNvSpPr>
          <p:nvPr/>
        </p:nvSpPr>
        <p:spPr bwMode="auto">
          <a:xfrm>
            <a:off x="32004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LiveOut</a:t>
            </a:r>
          </a:p>
        </p:txBody>
      </p:sp>
      <p:sp>
        <p:nvSpPr>
          <p:cNvPr id="35860" name="Rectangle 35"/>
          <p:cNvSpPr>
            <a:spLocks noChangeArrowheads="1"/>
          </p:cNvSpPr>
          <p:nvPr/>
        </p:nvSpPr>
        <p:spPr bwMode="auto">
          <a:xfrm>
            <a:off x="4191000" y="3500438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LiveIn</a:t>
            </a:r>
          </a:p>
        </p:txBody>
      </p:sp>
      <p:sp>
        <p:nvSpPr>
          <p:cNvPr id="35861" name="Rectangle 12"/>
          <p:cNvSpPr>
            <a:spLocks noChangeArrowheads="1"/>
          </p:cNvSpPr>
          <p:nvPr/>
        </p:nvSpPr>
        <p:spPr bwMode="auto">
          <a:xfrm>
            <a:off x="685800" y="1600200"/>
            <a:ext cx="575786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>
                <a:ea typeface="楷体_GB2312" pitchFamily="49" charset="-122"/>
              </a:rPr>
              <a:t>数据流方程求解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b="0">
                <a:solidFill>
                  <a:schemeClr val="tx2"/>
                </a:solidFill>
                <a:latin typeface="Times New Roman" pitchFamily="18" charset="0"/>
              </a:rPr>
              <a:t>     </a:t>
            </a:r>
            <a:r>
              <a:rPr lang="en-US" altLang="zh-CN" sz="2000" b="0">
                <a:ea typeface="楷体_GB2312" pitchFamily="49" charset="-122"/>
              </a:rPr>
              <a:t>LiveIn(B)= LiveUse(B)∪(LiveOut(B)- Def(B))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b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>
                <a:ea typeface="楷体_GB2312" pitchFamily="49" charset="-122"/>
              </a:rPr>
              <a:t>              </a:t>
            </a:r>
            <a:r>
              <a:rPr lang="en-US" altLang="zh-CN" sz="2000" b="0">
                <a:ea typeface="楷体_GB2312" pitchFamily="49" charset="-122"/>
              </a:rPr>
              <a:t>LiveOut(B) = </a:t>
            </a:r>
            <a:r>
              <a:rPr lang="en-US" altLang="zh-CN" sz="2000" b="0">
                <a:ea typeface="楷体_GB2312" pitchFamily="49" charset="-122"/>
                <a:sym typeface="Symbol" pitchFamily="18" charset="2"/>
              </a:rPr>
              <a:t></a:t>
            </a:r>
            <a:r>
              <a:rPr lang="en-US" altLang="zh-CN" sz="2000" b="0">
                <a:ea typeface="楷体_GB2312" pitchFamily="49" charset="-122"/>
              </a:rPr>
              <a:t>   LiveIn(s)</a:t>
            </a:r>
            <a:r>
              <a:rPr lang="en-US" altLang="zh-CN" sz="2400" b="0">
                <a:ea typeface="楷体_GB2312" pitchFamily="49" charset="-122"/>
              </a:rPr>
              <a:t> </a:t>
            </a:r>
            <a:endParaRPr lang="en-US" altLang="zh-CN" sz="2400">
              <a:ea typeface="楷体_GB2312" pitchFamily="49" charset="-122"/>
            </a:endParaRPr>
          </a:p>
        </p:txBody>
      </p:sp>
      <p:sp>
        <p:nvSpPr>
          <p:cNvPr id="35862" name="Text Box 40"/>
          <p:cNvSpPr txBox="1">
            <a:spLocks noChangeArrowheads="1"/>
          </p:cNvSpPr>
          <p:nvPr/>
        </p:nvSpPr>
        <p:spPr bwMode="auto">
          <a:xfrm>
            <a:off x="3132138" y="3068638"/>
            <a:ext cx="8588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</a:rPr>
              <a:t>[</a:t>
            </a:r>
            <a:r>
              <a:rPr lang="en-US" altLang="zh-CN" sz="1600" i="1">
                <a:ea typeface="楷体_GB2312" pitchFamily="49" charset="-122"/>
              </a:rPr>
              <a:t>B</a:t>
            </a:r>
            <a:r>
              <a:rPr lang="en-US" altLang="zh-CN" sz="1600">
                <a:ea typeface="楷体_GB2312" pitchFamily="49" charset="-122"/>
              </a:rPr>
              <a:t>]</a:t>
            </a:r>
          </a:p>
        </p:txBody>
      </p:sp>
      <p:sp>
        <p:nvSpPr>
          <p:cNvPr id="35863" name="Rectangle 48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graphicFrame>
        <p:nvGraphicFramePr>
          <p:cNvPr id="35864" name="Object 49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35864" name="Visio" r:id="rId5" imgW="2299716" imgH="3774034" progId="">
              <p:embed/>
            </p:oleObj>
          </a:graphicData>
        </a:graphic>
      </p:graphicFrame>
      <p:sp>
        <p:nvSpPr>
          <p:cNvPr id="35865" name="Text Box 50"/>
          <p:cNvSpPr txBox="1">
            <a:spLocks noChangeArrowheads="1"/>
          </p:cNvSpPr>
          <p:nvPr/>
        </p:nvSpPr>
        <p:spPr bwMode="auto">
          <a:xfrm>
            <a:off x="1184275" y="62690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665654" name="Rectangle 54"/>
          <p:cNvSpPr>
            <a:spLocks noChangeArrowheads="1"/>
          </p:cNvSpPr>
          <p:nvPr/>
        </p:nvSpPr>
        <p:spPr bwMode="auto">
          <a:xfrm>
            <a:off x="3554413" y="64373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>
                <a:solidFill>
                  <a:srgbClr val="800080"/>
                </a:solidFill>
                <a:cs typeface="Times New Roman" pitchFamily="18" charset="0"/>
              </a:rPr>
              <a:t>Ø</a:t>
            </a:r>
          </a:p>
        </p:txBody>
      </p:sp>
      <p:sp>
        <p:nvSpPr>
          <p:cNvPr id="35867" name="Rectangle 55"/>
          <p:cNvSpPr>
            <a:spLocks noChangeArrowheads="1"/>
          </p:cNvSpPr>
          <p:nvPr/>
        </p:nvSpPr>
        <p:spPr bwMode="auto">
          <a:xfrm>
            <a:off x="1644650" y="4070350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5868" name="Rectangle 56"/>
          <p:cNvSpPr>
            <a:spLocks noChangeArrowheads="1"/>
          </p:cNvSpPr>
          <p:nvPr/>
        </p:nvSpPr>
        <p:spPr bwMode="auto">
          <a:xfrm>
            <a:off x="2365375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5869" name="Rectangle 57"/>
          <p:cNvSpPr>
            <a:spLocks noChangeArrowheads="1"/>
          </p:cNvSpPr>
          <p:nvPr/>
        </p:nvSpPr>
        <p:spPr bwMode="auto">
          <a:xfrm>
            <a:off x="1698625" y="4581525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 dirty="0">
                <a:ea typeface="楷体_GB2312" pitchFamily="49" charset="-122"/>
              </a:rPr>
              <a:t>{</a:t>
            </a:r>
            <a:r>
              <a:rPr lang="en-US" altLang="zh-CN" sz="1800" b="0" dirty="0">
                <a:ea typeface="楷体_GB2312" pitchFamily="49" charset="-122"/>
              </a:rPr>
              <a:t>I</a:t>
            </a:r>
            <a:r>
              <a:rPr lang="en-US" altLang="zh-CN" sz="1800" dirty="0">
                <a:ea typeface="楷体_GB2312" pitchFamily="49" charset="-122"/>
              </a:rPr>
              <a:t>}</a:t>
            </a:r>
          </a:p>
        </p:txBody>
      </p:sp>
      <p:sp>
        <p:nvSpPr>
          <p:cNvPr id="35870" name="Rectangle 58"/>
          <p:cNvSpPr>
            <a:spLocks noChangeArrowheads="1"/>
          </p:cNvSpPr>
          <p:nvPr/>
        </p:nvSpPr>
        <p:spPr bwMode="auto">
          <a:xfrm>
            <a:off x="2484438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5871" name="Rectangle 59"/>
          <p:cNvSpPr>
            <a:spLocks noChangeArrowheads="1"/>
          </p:cNvSpPr>
          <p:nvPr/>
        </p:nvSpPr>
        <p:spPr bwMode="auto">
          <a:xfrm>
            <a:off x="2484438" y="47228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5874" name="Rectangle 62"/>
          <p:cNvSpPr>
            <a:spLocks noChangeArrowheads="1"/>
          </p:cNvSpPr>
          <p:nvPr/>
        </p:nvSpPr>
        <p:spPr bwMode="auto">
          <a:xfrm>
            <a:off x="2439988" y="5149850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5875" name="Rectangle 63"/>
          <p:cNvSpPr>
            <a:spLocks noChangeArrowheads="1"/>
          </p:cNvSpPr>
          <p:nvPr/>
        </p:nvSpPr>
        <p:spPr bwMode="auto">
          <a:xfrm>
            <a:off x="2439988" y="5726113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665665" name="Rectangle 65"/>
          <p:cNvSpPr>
            <a:spLocks noChangeArrowheads="1"/>
          </p:cNvSpPr>
          <p:nvPr/>
        </p:nvSpPr>
        <p:spPr bwMode="auto">
          <a:xfrm>
            <a:off x="3562350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665666" name="Rectangle 66"/>
          <p:cNvSpPr>
            <a:spLocks noChangeArrowheads="1"/>
          </p:cNvSpPr>
          <p:nvPr/>
        </p:nvSpPr>
        <p:spPr bwMode="auto">
          <a:xfrm>
            <a:off x="3562350" y="47228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665667" name="Rectangle 67"/>
          <p:cNvSpPr>
            <a:spLocks noChangeArrowheads="1"/>
          </p:cNvSpPr>
          <p:nvPr/>
        </p:nvSpPr>
        <p:spPr bwMode="auto">
          <a:xfrm>
            <a:off x="3563938" y="5297488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665668" name="Rectangle 68"/>
          <p:cNvSpPr>
            <a:spLocks noChangeArrowheads="1"/>
          </p:cNvSpPr>
          <p:nvPr/>
        </p:nvSpPr>
        <p:spPr bwMode="auto">
          <a:xfrm>
            <a:off x="3562350" y="5873750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665669" name="Rectangle 69"/>
          <p:cNvSpPr>
            <a:spLocks noChangeArrowheads="1"/>
          </p:cNvSpPr>
          <p:nvPr/>
        </p:nvSpPr>
        <p:spPr bwMode="auto">
          <a:xfrm>
            <a:off x="4356100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665670" name="Rectangle 70"/>
          <p:cNvSpPr>
            <a:spLocks noChangeArrowheads="1"/>
          </p:cNvSpPr>
          <p:nvPr/>
        </p:nvSpPr>
        <p:spPr bwMode="auto">
          <a:xfrm>
            <a:off x="4475163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665671" name="Rectangle 71"/>
          <p:cNvSpPr>
            <a:spLocks noChangeArrowheads="1"/>
          </p:cNvSpPr>
          <p:nvPr/>
        </p:nvSpPr>
        <p:spPr bwMode="auto">
          <a:xfrm>
            <a:off x="4475163" y="47228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665672" name="Rectangle 72"/>
          <p:cNvSpPr>
            <a:spLocks noChangeArrowheads="1"/>
          </p:cNvSpPr>
          <p:nvPr/>
        </p:nvSpPr>
        <p:spPr bwMode="auto">
          <a:xfrm>
            <a:off x="4430713" y="5149850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665673" name="Rectangle 73"/>
          <p:cNvSpPr>
            <a:spLocks noChangeArrowheads="1"/>
          </p:cNvSpPr>
          <p:nvPr/>
        </p:nvSpPr>
        <p:spPr bwMode="auto">
          <a:xfrm>
            <a:off x="4430713" y="5726113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51" name="Rectangle 59"/>
          <p:cNvSpPr>
            <a:spLocks noChangeArrowheads="1"/>
          </p:cNvSpPr>
          <p:nvPr/>
        </p:nvSpPr>
        <p:spPr bwMode="auto">
          <a:xfrm>
            <a:off x="1689770" y="6308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1688207" y="5301208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1688207" y="58022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6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6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6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6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6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6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6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6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4" grpId="0"/>
      <p:bldP spid="665665" grpId="0"/>
      <p:bldP spid="665666" grpId="0"/>
      <p:bldP spid="665667" grpId="0"/>
      <p:bldP spid="665668" grpId="0"/>
      <p:bldP spid="665669" grpId="0"/>
      <p:bldP spid="665670" grpId="0"/>
      <p:bldP spid="665671" grpId="0"/>
      <p:bldP spid="665672" grpId="0"/>
      <p:bldP spid="6656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0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0668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6871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Text Box 13"/>
          <p:cNvSpPr txBox="1">
            <a:spLocks noChangeArrowheads="1"/>
          </p:cNvSpPr>
          <p:nvPr/>
        </p:nvSpPr>
        <p:spPr bwMode="auto">
          <a:xfrm>
            <a:off x="1143000" y="40338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36876" name="Text Box 14"/>
          <p:cNvSpPr txBox="1">
            <a:spLocks noChangeArrowheads="1"/>
          </p:cNvSpPr>
          <p:nvPr/>
        </p:nvSpPr>
        <p:spPr bwMode="auto">
          <a:xfrm>
            <a:off x="1143000" y="45815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36877" name="Text Box 15"/>
          <p:cNvSpPr txBox="1">
            <a:spLocks noChangeArrowheads="1"/>
          </p:cNvSpPr>
          <p:nvPr/>
        </p:nvSpPr>
        <p:spPr bwMode="auto">
          <a:xfrm>
            <a:off x="1154113" y="5157788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36878" name="Text Box 16"/>
          <p:cNvSpPr txBox="1">
            <a:spLocks noChangeArrowheads="1"/>
          </p:cNvSpPr>
          <p:nvPr/>
        </p:nvSpPr>
        <p:spPr bwMode="auto">
          <a:xfrm>
            <a:off x="1154113" y="5734050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36879" name="Rectangle 17"/>
          <p:cNvSpPr>
            <a:spLocks noChangeArrowheads="1"/>
          </p:cNvSpPr>
          <p:nvPr/>
        </p:nvSpPr>
        <p:spPr bwMode="auto">
          <a:xfrm>
            <a:off x="1676400" y="3500438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Def</a:t>
            </a:r>
          </a:p>
        </p:txBody>
      </p:sp>
      <p:sp>
        <p:nvSpPr>
          <p:cNvPr id="36880" name="Rectangle 18"/>
          <p:cNvSpPr>
            <a:spLocks noChangeArrowheads="1"/>
          </p:cNvSpPr>
          <p:nvPr/>
        </p:nvSpPr>
        <p:spPr bwMode="auto">
          <a:xfrm>
            <a:off x="22098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LiveUse</a:t>
            </a:r>
          </a:p>
        </p:txBody>
      </p:sp>
      <p:sp>
        <p:nvSpPr>
          <p:cNvPr id="36881" name="Line 19"/>
          <p:cNvSpPr>
            <a:spLocks noChangeShapeType="1"/>
          </p:cNvSpPr>
          <p:nvPr/>
        </p:nvSpPr>
        <p:spPr bwMode="auto">
          <a:xfrm>
            <a:off x="1143000" y="3957638"/>
            <a:ext cx="4038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882" name="Line 20"/>
          <p:cNvSpPr>
            <a:spLocks noChangeShapeType="1"/>
          </p:cNvSpPr>
          <p:nvPr/>
        </p:nvSpPr>
        <p:spPr bwMode="auto">
          <a:xfrm>
            <a:off x="1600200" y="3500438"/>
            <a:ext cx="19050" cy="3357562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883" name="Rectangle 21"/>
          <p:cNvSpPr>
            <a:spLocks noChangeArrowheads="1"/>
          </p:cNvSpPr>
          <p:nvPr/>
        </p:nvSpPr>
        <p:spPr bwMode="auto">
          <a:xfrm>
            <a:off x="32004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LiveOut</a:t>
            </a:r>
          </a:p>
        </p:txBody>
      </p:sp>
      <p:sp>
        <p:nvSpPr>
          <p:cNvPr id="36884" name="Rectangle 22"/>
          <p:cNvSpPr>
            <a:spLocks noChangeArrowheads="1"/>
          </p:cNvSpPr>
          <p:nvPr/>
        </p:nvSpPr>
        <p:spPr bwMode="auto">
          <a:xfrm>
            <a:off x="4191000" y="3500438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LiveIn</a:t>
            </a:r>
          </a:p>
        </p:txBody>
      </p:sp>
      <p:sp>
        <p:nvSpPr>
          <p:cNvPr id="36885" name="Rectangle 23"/>
          <p:cNvSpPr>
            <a:spLocks noChangeArrowheads="1"/>
          </p:cNvSpPr>
          <p:nvPr/>
        </p:nvSpPr>
        <p:spPr bwMode="auto">
          <a:xfrm>
            <a:off x="685800" y="1600200"/>
            <a:ext cx="575786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>
                <a:ea typeface="楷体_GB2312" pitchFamily="49" charset="-122"/>
              </a:rPr>
              <a:t>数据流方程求解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b="0">
                <a:solidFill>
                  <a:schemeClr val="tx2"/>
                </a:solidFill>
                <a:latin typeface="Times New Roman" pitchFamily="18" charset="0"/>
              </a:rPr>
              <a:t>     </a:t>
            </a:r>
            <a:r>
              <a:rPr lang="en-US" altLang="zh-CN" sz="2000" b="0">
                <a:ea typeface="楷体_GB2312" pitchFamily="49" charset="-122"/>
              </a:rPr>
              <a:t>LiveIn(B)= LiveUse(B)∪(LiveOut(B)- Def(B))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b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>
                <a:ea typeface="楷体_GB2312" pitchFamily="49" charset="-122"/>
              </a:rPr>
              <a:t>              </a:t>
            </a:r>
            <a:r>
              <a:rPr lang="en-US" altLang="zh-CN" sz="2000" b="0">
                <a:ea typeface="楷体_GB2312" pitchFamily="49" charset="-122"/>
              </a:rPr>
              <a:t>LiveOut(B) = </a:t>
            </a:r>
            <a:r>
              <a:rPr lang="en-US" altLang="zh-CN" sz="2000" b="0">
                <a:ea typeface="楷体_GB2312" pitchFamily="49" charset="-122"/>
                <a:sym typeface="Symbol" pitchFamily="18" charset="2"/>
              </a:rPr>
              <a:t></a:t>
            </a:r>
            <a:r>
              <a:rPr lang="en-US" altLang="zh-CN" sz="2000" b="0">
                <a:ea typeface="楷体_GB2312" pitchFamily="49" charset="-122"/>
              </a:rPr>
              <a:t>   LiveIn(s)</a:t>
            </a:r>
            <a:r>
              <a:rPr lang="en-US" altLang="zh-CN" sz="2400" b="0">
                <a:ea typeface="楷体_GB2312" pitchFamily="49" charset="-122"/>
              </a:rPr>
              <a:t> </a:t>
            </a:r>
            <a:endParaRPr lang="en-US" altLang="zh-CN" sz="2400">
              <a:ea typeface="楷体_GB2312" pitchFamily="49" charset="-122"/>
            </a:endParaRPr>
          </a:p>
        </p:txBody>
      </p:sp>
      <p:sp>
        <p:nvSpPr>
          <p:cNvPr id="36886" name="Text Box 24"/>
          <p:cNvSpPr txBox="1">
            <a:spLocks noChangeArrowheads="1"/>
          </p:cNvSpPr>
          <p:nvPr/>
        </p:nvSpPr>
        <p:spPr bwMode="auto">
          <a:xfrm>
            <a:off x="3132138" y="3068638"/>
            <a:ext cx="8588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</a:rPr>
              <a:t>[</a:t>
            </a:r>
            <a:r>
              <a:rPr lang="en-US" altLang="zh-CN" sz="1600" i="1">
                <a:ea typeface="楷体_GB2312" pitchFamily="49" charset="-122"/>
              </a:rPr>
              <a:t>B</a:t>
            </a:r>
            <a:r>
              <a:rPr lang="en-US" altLang="zh-CN" sz="1600">
                <a:ea typeface="楷体_GB2312" pitchFamily="49" charset="-122"/>
              </a:rPr>
              <a:t>]</a:t>
            </a:r>
          </a:p>
        </p:txBody>
      </p:sp>
      <p:sp>
        <p:nvSpPr>
          <p:cNvPr id="36887" name="Rectangle 25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graphicFrame>
        <p:nvGraphicFramePr>
          <p:cNvPr id="36888" name="Object 26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36888" name="Visio" r:id="rId4" imgW="2299716" imgH="3774034" progId="">
              <p:embed/>
            </p:oleObj>
          </a:graphicData>
        </a:graphic>
      </p:graphicFrame>
      <p:sp>
        <p:nvSpPr>
          <p:cNvPr id="36889" name="Text Box 27"/>
          <p:cNvSpPr txBox="1">
            <a:spLocks noChangeArrowheads="1"/>
          </p:cNvSpPr>
          <p:nvPr/>
        </p:nvSpPr>
        <p:spPr bwMode="auto">
          <a:xfrm>
            <a:off x="1184275" y="62690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36890" name="Rectangle 29"/>
          <p:cNvSpPr>
            <a:spLocks noChangeArrowheads="1"/>
          </p:cNvSpPr>
          <p:nvPr/>
        </p:nvSpPr>
        <p:spPr bwMode="auto">
          <a:xfrm>
            <a:off x="1644650" y="4070350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891" name="Rectangle 30"/>
          <p:cNvSpPr>
            <a:spLocks noChangeArrowheads="1"/>
          </p:cNvSpPr>
          <p:nvPr/>
        </p:nvSpPr>
        <p:spPr bwMode="auto">
          <a:xfrm>
            <a:off x="2365375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892" name="Rectangle 31"/>
          <p:cNvSpPr>
            <a:spLocks noChangeArrowheads="1"/>
          </p:cNvSpPr>
          <p:nvPr/>
        </p:nvSpPr>
        <p:spPr bwMode="auto">
          <a:xfrm>
            <a:off x="1698625" y="4581525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893" name="Rectangle 32"/>
          <p:cNvSpPr>
            <a:spLocks noChangeArrowheads="1"/>
          </p:cNvSpPr>
          <p:nvPr/>
        </p:nvSpPr>
        <p:spPr bwMode="auto">
          <a:xfrm>
            <a:off x="2484438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6894" name="Rectangle 33"/>
          <p:cNvSpPr>
            <a:spLocks noChangeArrowheads="1"/>
          </p:cNvSpPr>
          <p:nvPr/>
        </p:nvSpPr>
        <p:spPr bwMode="auto">
          <a:xfrm>
            <a:off x="2484438" y="47228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6897" name="Rectangle 36"/>
          <p:cNvSpPr>
            <a:spLocks noChangeArrowheads="1"/>
          </p:cNvSpPr>
          <p:nvPr/>
        </p:nvSpPr>
        <p:spPr bwMode="auto">
          <a:xfrm>
            <a:off x="2439988" y="5149850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898" name="Rectangle 37"/>
          <p:cNvSpPr>
            <a:spLocks noChangeArrowheads="1"/>
          </p:cNvSpPr>
          <p:nvPr/>
        </p:nvSpPr>
        <p:spPr bwMode="auto">
          <a:xfrm>
            <a:off x="2439988" y="5726113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900" name="Rectangle 39"/>
          <p:cNvSpPr>
            <a:spLocks noChangeArrowheads="1"/>
          </p:cNvSpPr>
          <p:nvPr/>
        </p:nvSpPr>
        <p:spPr bwMode="auto">
          <a:xfrm>
            <a:off x="3562350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6901" name="Rectangle 43"/>
          <p:cNvSpPr>
            <a:spLocks noChangeArrowheads="1"/>
          </p:cNvSpPr>
          <p:nvPr/>
        </p:nvSpPr>
        <p:spPr bwMode="auto">
          <a:xfrm>
            <a:off x="4356100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902" name="Rectangle 44"/>
          <p:cNvSpPr>
            <a:spLocks noChangeArrowheads="1"/>
          </p:cNvSpPr>
          <p:nvPr/>
        </p:nvSpPr>
        <p:spPr bwMode="auto">
          <a:xfrm>
            <a:off x="4475163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6903" name="Rectangle 45"/>
          <p:cNvSpPr>
            <a:spLocks noChangeArrowheads="1"/>
          </p:cNvSpPr>
          <p:nvPr/>
        </p:nvSpPr>
        <p:spPr bwMode="auto">
          <a:xfrm>
            <a:off x="4475163" y="47228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6904" name="Rectangle 46"/>
          <p:cNvSpPr>
            <a:spLocks noChangeArrowheads="1"/>
          </p:cNvSpPr>
          <p:nvPr/>
        </p:nvSpPr>
        <p:spPr bwMode="auto">
          <a:xfrm>
            <a:off x="4430713" y="5149850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905" name="Rectangle 47"/>
          <p:cNvSpPr>
            <a:spLocks noChangeArrowheads="1"/>
          </p:cNvSpPr>
          <p:nvPr/>
        </p:nvSpPr>
        <p:spPr bwMode="auto">
          <a:xfrm>
            <a:off x="4430713" y="5726113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906" name="Rectangle 48"/>
          <p:cNvSpPr>
            <a:spLocks noChangeArrowheads="1"/>
          </p:cNvSpPr>
          <p:nvPr/>
        </p:nvSpPr>
        <p:spPr bwMode="auto">
          <a:xfrm>
            <a:off x="3563938" y="6381750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6907" name="Rectangle 49"/>
          <p:cNvSpPr>
            <a:spLocks noChangeArrowheads="1"/>
          </p:cNvSpPr>
          <p:nvPr/>
        </p:nvSpPr>
        <p:spPr bwMode="auto">
          <a:xfrm>
            <a:off x="3444875" y="5726113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908" name="Rectangle 50"/>
          <p:cNvSpPr>
            <a:spLocks noChangeArrowheads="1"/>
          </p:cNvSpPr>
          <p:nvPr/>
        </p:nvSpPr>
        <p:spPr bwMode="auto">
          <a:xfrm>
            <a:off x="3444875" y="5157788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6909" name="Rectangle 51"/>
          <p:cNvSpPr>
            <a:spLocks noChangeArrowheads="1"/>
          </p:cNvSpPr>
          <p:nvPr/>
        </p:nvSpPr>
        <p:spPr bwMode="auto">
          <a:xfrm>
            <a:off x="3492500" y="4581525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46" name="Rectangle 29"/>
          <p:cNvSpPr>
            <a:spLocks noChangeArrowheads="1"/>
          </p:cNvSpPr>
          <p:nvPr/>
        </p:nvSpPr>
        <p:spPr bwMode="auto">
          <a:xfrm>
            <a:off x="1698278" y="63114503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 dirty="0">
                <a:ea typeface="楷体_GB2312" pitchFamily="49" charset="-122"/>
              </a:rPr>
              <a:t>{</a:t>
            </a:r>
            <a:r>
              <a:rPr lang="en-US" altLang="zh-CN" sz="1800" b="0" dirty="0">
                <a:ea typeface="楷体_GB2312" pitchFamily="49" charset="-122"/>
              </a:rPr>
              <a:t>I</a:t>
            </a:r>
            <a:r>
              <a:rPr lang="en-US" altLang="zh-CN" sz="1800" dirty="0">
                <a:ea typeface="楷体_GB2312" pitchFamily="49" charset="-122"/>
              </a:rPr>
              <a:t>}</a:t>
            </a:r>
          </a:p>
        </p:txBody>
      </p:sp>
      <p:sp>
        <p:nvSpPr>
          <p:cNvPr id="47" name="Rectangle 59"/>
          <p:cNvSpPr>
            <a:spLocks noChangeArrowheads="1"/>
          </p:cNvSpPr>
          <p:nvPr/>
        </p:nvSpPr>
        <p:spPr bwMode="auto">
          <a:xfrm>
            <a:off x="1691333" y="6477676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48" name="Rectangle 50"/>
          <p:cNvSpPr>
            <a:spLocks noChangeArrowheads="1"/>
          </p:cNvSpPr>
          <p:nvPr/>
        </p:nvSpPr>
        <p:spPr bwMode="auto">
          <a:xfrm>
            <a:off x="1689770" y="63769248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49" name="Rectangle 50"/>
          <p:cNvSpPr>
            <a:spLocks noChangeArrowheads="1"/>
          </p:cNvSpPr>
          <p:nvPr/>
        </p:nvSpPr>
        <p:spPr bwMode="auto">
          <a:xfrm>
            <a:off x="1689770" y="6427025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51" name="Rectangle 59"/>
          <p:cNvSpPr>
            <a:spLocks noChangeArrowheads="1"/>
          </p:cNvSpPr>
          <p:nvPr/>
        </p:nvSpPr>
        <p:spPr bwMode="auto">
          <a:xfrm>
            <a:off x="1693243" y="6308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1691680" y="5301208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1691680" y="58022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4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0668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789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6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7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8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9" name="Text Box 13"/>
          <p:cNvSpPr txBox="1">
            <a:spLocks noChangeArrowheads="1"/>
          </p:cNvSpPr>
          <p:nvPr/>
        </p:nvSpPr>
        <p:spPr bwMode="auto">
          <a:xfrm>
            <a:off x="1143000" y="40338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37900" name="Text Box 14"/>
          <p:cNvSpPr txBox="1">
            <a:spLocks noChangeArrowheads="1"/>
          </p:cNvSpPr>
          <p:nvPr/>
        </p:nvSpPr>
        <p:spPr bwMode="auto">
          <a:xfrm>
            <a:off x="1143000" y="45815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37901" name="Text Box 15"/>
          <p:cNvSpPr txBox="1">
            <a:spLocks noChangeArrowheads="1"/>
          </p:cNvSpPr>
          <p:nvPr/>
        </p:nvSpPr>
        <p:spPr bwMode="auto">
          <a:xfrm>
            <a:off x="1154113" y="5157788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37902" name="Text Box 16"/>
          <p:cNvSpPr txBox="1">
            <a:spLocks noChangeArrowheads="1"/>
          </p:cNvSpPr>
          <p:nvPr/>
        </p:nvSpPr>
        <p:spPr bwMode="auto">
          <a:xfrm>
            <a:off x="1154113" y="5734050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37903" name="Rectangle 17"/>
          <p:cNvSpPr>
            <a:spLocks noChangeArrowheads="1"/>
          </p:cNvSpPr>
          <p:nvPr/>
        </p:nvSpPr>
        <p:spPr bwMode="auto">
          <a:xfrm>
            <a:off x="1676400" y="3500438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Def</a:t>
            </a:r>
          </a:p>
        </p:txBody>
      </p:sp>
      <p:sp>
        <p:nvSpPr>
          <p:cNvPr id="37904" name="Rectangle 18"/>
          <p:cNvSpPr>
            <a:spLocks noChangeArrowheads="1"/>
          </p:cNvSpPr>
          <p:nvPr/>
        </p:nvSpPr>
        <p:spPr bwMode="auto">
          <a:xfrm>
            <a:off x="22098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LiveUse</a:t>
            </a:r>
          </a:p>
        </p:txBody>
      </p:sp>
      <p:sp>
        <p:nvSpPr>
          <p:cNvPr id="37905" name="Line 19"/>
          <p:cNvSpPr>
            <a:spLocks noChangeShapeType="1"/>
          </p:cNvSpPr>
          <p:nvPr/>
        </p:nvSpPr>
        <p:spPr bwMode="auto">
          <a:xfrm>
            <a:off x="1143000" y="3957638"/>
            <a:ext cx="4038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906" name="Line 20"/>
          <p:cNvSpPr>
            <a:spLocks noChangeShapeType="1"/>
          </p:cNvSpPr>
          <p:nvPr/>
        </p:nvSpPr>
        <p:spPr bwMode="auto">
          <a:xfrm>
            <a:off x="1600200" y="3500438"/>
            <a:ext cx="19050" cy="3357562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907" name="Rectangle 21"/>
          <p:cNvSpPr>
            <a:spLocks noChangeArrowheads="1"/>
          </p:cNvSpPr>
          <p:nvPr/>
        </p:nvSpPr>
        <p:spPr bwMode="auto">
          <a:xfrm>
            <a:off x="32004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LiveOut</a:t>
            </a:r>
          </a:p>
        </p:txBody>
      </p:sp>
      <p:sp>
        <p:nvSpPr>
          <p:cNvPr id="37908" name="Rectangle 22"/>
          <p:cNvSpPr>
            <a:spLocks noChangeArrowheads="1"/>
          </p:cNvSpPr>
          <p:nvPr/>
        </p:nvSpPr>
        <p:spPr bwMode="auto">
          <a:xfrm>
            <a:off x="4191000" y="3500438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LiveIn</a:t>
            </a:r>
          </a:p>
        </p:txBody>
      </p:sp>
      <p:sp>
        <p:nvSpPr>
          <p:cNvPr id="37909" name="Rectangle 23"/>
          <p:cNvSpPr>
            <a:spLocks noChangeArrowheads="1"/>
          </p:cNvSpPr>
          <p:nvPr/>
        </p:nvSpPr>
        <p:spPr bwMode="auto">
          <a:xfrm>
            <a:off x="685800" y="1600200"/>
            <a:ext cx="575786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>
                <a:ea typeface="楷体_GB2312" pitchFamily="49" charset="-122"/>
              </a:rPr>
              <a:t>数据流方程求解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b="0">
                <a:solidFill>
                  <a:schemeClr val="tx2"/>
                </a:solidFill>
                <a:latin typeface="Times New Roman" pitchFamily="18" charset="0"/>
              </a:rPr>
              <a:t>     </a:t>
            </a:r>
            <a:r>
              <a:rPr lang="en-US" altLang="zh-CN" sz="2000" b="0">
                <a:ea typeface="楷体_GB2312" pitchFamily="49" charset="-122"/>
              </a:rPr>
              <a:t>LiveIn(B)= LiveUse(B)∪(LiveOut(B)- Def(B))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b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>
                <a:ea typeface="楷体_GB2312" pitchFamily="49" charset="-122"/>
              </a:rPr>
              <a:t>              </a:t>
            </a:r>
            <a:r>
              <a:rPr lang="en-US" altLang="zh-CN" sz="2000" b="0">
                <a:ea typeface="楷体_GB2312" pitchFamily="49" charset="-122"/>
              </a:rPr>
              <a:t>LiveOut(B) = </a:t>
            </a:r>
            <a:r>
              <a:rPr lang="en-US" altLang="zh-CN" sz="2000" b="0">
                <a:ea typeface="楷体_GB2312" pitchFamily="49" charset="-122"/>
                <a:sym typeface="Symbol" pitchFamily="18" charset="2"/>
              </a:rPr>
              <a:t></a:t>
            </a:r>
            <a:r>
              <a:rPr lang="en-US" altLang="zh-CN" sz="2000" b="0">
                <a:ea typeface="楷体_GB2312" pitchFamily="49" charset="-122"/>
              </a:rPr>
              <a:t>   LiveIn(s)</a:t>
            </a:r>
            <a:r>
              <a:rPr lang="en-US" altLang="zh-CN" sz="2400" b="0">
                <a:ea typeface="楷体_GB2312" pitchFamily="49" charset="-122"/>
              </a:rPr>
              <a:t> </a:t>
            </a:r>
            <a:endParaRPr lang="en-US" altLang="zh-CN" sz="2400">
              <a:ea typeface="楷体_GB2312" pitchFamily="49" charset="-122"/>
            </a:endParaRPr>
          </a:p>
        </p:txBody>
      </p:sp>
      <p:sp>
        <p:nvSpPr>
          <p:cNvPr id="37910" name="Text Box 24"/>
          <p:cNvSpPr txBox="1">
            <a:spLocks noChangeArrowheads="1"/>
          </p:cNvSpPr>
          <p:nvPr/>
        </p:nvSpPr>
        <p:spPr bwMode="auto">
          <a:xfrm>
            <a:off x="3132138" y="3068638"/>
            <a:ext cx="8588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</a:rPr>
              <a:t>[</a:t>
            </a:r>
            <a:r>
              <a:rPr lang="en-US" altLang="zh-CN" sz="1600" i="1">
                <a:ea typeface="楷体_GB2312" pitchFamily="49" charset="-122"/>
              </a:rPr>
              <a:t>B</a:t>
            </a:r>
            <a:r>
              <a:rPr lang="en-US" altLang="zh-CN" sz="1600">
                <a:ea typeface="楷体_GB2312" pitchFamily="49" charset="-122"/>
              </a:rPr>
              <a:t>]</a:t>
            </a:r>
          </a:p>
        </p:txBody>
      </p:sp>
      <p:sp>
        <p:nvSpPr>
          <p:cNvPr id="37911" name="Rectangle 25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graphicFrame>
        <p:nvGraphicFramePr>
          <p:cNvPr id="37912" name="Object 26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37912" name="Visio" r:id="rId4" imgW="2299716" imgH="3774034" progId="">
              <p:embed/>
            </p:oleObj>
          </a:graphicData>
        </a:graphic>
      </p:graphicFrame>
      <p:sp>
        <p:nvSpPr>
          <p:cNvPr id="37913" name="Text Box 27"/>
          <p:cNvSpPr txBox="1">
            <a:spLocks noChangeArrowheads="1"/>
          </p:cNvSpPr>
          <p:nvPr/>
        </p:nvSpPr>
        <p:spPr bwMode="auto">
          <a:xfrm>
            <a:off x="1184275" y="62690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37914" name="Rectangle 28"/>
          <p:cNvSpPr>
            <a:spLocks noChangeArrowheads="1"/>
          </p:cNvSpPr>
          <p:nvPr/>
        </p:nvSpPr>
        <p:spPr bwMode="auto">
          <a:xfrm>
            <a:off x="1644650" y="4070350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15" name="Rectangle 29"/>
          <p:cNvSpPr>
            <a:spLocks noChangeArrowheads="1"/>
          </p:cNvSpPr>
          <p:nvPr/>
        </p:nvSpPr>
        <p:spPr bwMode="auto">
          <a:xfrm>
            <a:off x="2365375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16" name="Rectangle 30"/>
          <p:cNvSpPr>
            <a:spLocks noChangeArrowheads="1"/>
          </p:cNvSpPr>
          <p:nvPr/>
        </p:nvSpPr>
        <p:spPr bwMode="auto">
          <a:xfrm>
            <a:off x="1698625" y="4581525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17" name="Rectangle 31"/>
          <p:cNvSpPr>
            <a:spLocks noChangeArrowheads="1"/>
          </p:cNvSpPr>
          <p:nvPr/>
        </p:nvSpPr>
        <p:spPr bwMode="auto">
          <a:xfrm>
            <a:off x="2484438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7918" name="Rectangle 32"/>
          <p:cNvSpPr>
            <a:spLocks noChangeArrowheads="1"/>
          </p:cNvSpPr>
          <p:nvPr/>
        </p:nvSpPr>
        <p:spPr bwMode="auto">
          <a:xfrm>
            <a:off x="2484438" y="47228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7919" name="Rectangle 33"/>
          <p:cNvSpPr>
            <a:spLocks noChangeArrowheads="1"/>
          </p:cNvSpPr>
          <p:nvPr/>
        </p:nvSpPr>
        <p:spPr bwMode="auto">
          <a:xfrm>
            <a:off x="1762125" y="6381750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7921" name="Rectangle 35"/>
          <p:cNvSpPr>
            <a:spLocks noChangeArrowheads="1"/>
          </p:cNvSpPr>
          <p:nvPr/>
        </p:nvSpPr>
        <p:spPr bwMode="auto">
          <a:xfrm>
            <a:off x="2439988" y="5149850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22" name="Rectangle 36"/>
          <p:cNvSpPr>
            <a:spLocks noChangeArrowheads="1"/>
          </p:cNvSpPr>
          <p:nvPr/>
        </p:nvSpPr>
        <p:spPr bwMode="auto">
          <a:xfrm>
            <a:off x="2439988" y="5726113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24" name="Rectangle 38"/>
          <p:cNvSpPr>
            <a:spLocks noChangeArrowheads="1"/>
          </p:cNvSpPr>
          <p:nvPr/>
        </p:nvSpPr>
        <p:spPr bwMode="auto">
          <a:xfrm>
            <a:off x="3562350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7925" name="Rectangle 39"/>
          <p:cNvSpPr>
            <a:spLocks noChangeArrowheads="1"/>
          </p:cNvSpPr>
          <p:nvPr/>
        </p:nvSpPr>
        <p:spPr bwMode="auto">
          <a:xfrm>
            <a:off x="4356100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26" name="Rectangle 40"/>
          <p:cNvSpPr>
            <a:spLocks noChangeArrowheads="1"/>
          </p:cNvSpPr>
          <p:nvPr/>
        </p:nvSpPr>
        <p:spPr bwMode="auto">
          <a:xfrm>
            <a:off x="4475163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7927" name="Rectangle 44"/>
          <p:cNvSpPr>
            <a:spLocks noChangeArrowheads="1"/>
          </p:cNvSpPr>
          <p:nvPr/>
        </p:nvSpPr>
        <p:spPr bwMode="auto">
          <a:xfrm>
            <a:off x="3563938" y="6381750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7928" name="Rectangle 45"/>
          <p:cNvSpPr>
            <a:spLocks noChangeArrowheads="1"/>
          </p:cNvSpPr>
          <p:nvPr/>
        </p:nvSpPr>
        <p:spPr bwMode="auto">
          <a:xfrm>
            <a:off x="3444875" y="5726113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29" name="Rectangle 46"/>
          <p:cNvSpPr>
            <a:spLocks noChangeArrowheads="1"/>
          </p:cNvSpPr>
          <p:nvPr/>
        </p:nvSpPr>
        <p:spPr bwMode="auto">
          <a:xfrm>
            <a:off x="3444875" y="5157788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30" name="Rectangle 47"/>
          <p:cNvSpPr>
            <a:spLocks noChangeArrowheads="1"/>
          </p:cNvSpPr>
          <p:nvPr/>
        </p:nvSpPr>
        <p:spPr bwMode="auto">
          <a:xfrm>
            <a:off x="3492500" y="4581525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31" name="Rectangle 48"/>
          <p:cNvSpPr>
            <a:spLocks noChangeArrowheads="1"/>
          </p:cNvSpPr>
          <p:nvPr/>
        </p:nvSpPr>
        <p:spPr bwMode="auto">
          <a:xfrm>
            <a:off x="4356100" y="5726113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32" name="Rectangle 49"/>
          <p:cNvSpPr>
            <a:spLocks noChangeArrowheads="1"/>
          </p:cNvSpPr>
          <p:nvPr/>
        </p:nvSpPr>
        <p:spPr bwMode="auto">
          <a:xfrm>
            <a:off x="4356100" y="5157788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7933" name="Rectangle 50"/>
          <p:cNvSpPr>
            <a:spLocks noChangeArrowheads="1"/>
          </p:cNvSpPr>
          <p:nvPr/>
        </p:nvSpPr>
        <p:spPr bwMode="auto">
          <a:xfrm>
            <a:off x="4427538" y="4581525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46" name="Rectangle 50"/>
          <p:cNvSpPr>
            <a:spLocks noChangeArrowheads="1"/>
          </p:cNvSpPr>
          <p:nvPr/>
        </p:nvSpPr>
        <p:spPr bwMode="auto">
          <a:xfrm>
            <a:off x="1691680" y="5298157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47" name="Rectangle 50"/>
          <p:cNvSpPr>
            <a:spLocks noChangeArrowheads="1"/>
          </p:cNvSpPr>
          <p:nvPr/>
        </p:nvSpPr>
        <p:spPr bwMode="auto">
          <a:xfrm>
            <a:off x="1691680" y="5874221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8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10668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数据流分析</a:t>
            </a:r>
          </a:p>
        </p:txBody>
      </p:sp>
      <p:sp>
        <p:nvSpPr>
          <p:cNvPr id="38919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0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1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3" name="Text Box 13"/>
          <p:cNvSpPr txBox="1">
            <a:spLocks noChangeArrowheads="1"/>
          </p:cNvSpPr>
          <p:nvPr/>
        </p:nvSpPr>
        <p:spPr bwMode="auto">
          <a:xfrm>
            <a:off x="1143000" y="40338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38924" name="Text Box 14"/>
          <p:cNvSpPr txBox="1">
            <a:spLocks noChangeArrowheads="1"/>
          </p:cNvSpPr>
          <p:nvPr/>
        </p:nvSpPr>
        <p:spPr bwMode="auto">
          <a:xfrm>
            <a:off x="1143000" y="4581525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38925" name="Text Box 15"/>
          <p:cNvSpPr txBox="1">
            <a:spLocks noChangeArrowheads="1"/>
          </p:cNvSpPr>
          <p:nvPr/>
        </p:nvSpPr>
        <p:spPr bwMode="auto">
          <a:xfrm>
            <a:off x="1154113" y="5157788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3</a:t>
            </a:r>
          </a:p>
        </p:txBody>
      </p:sp>
      <p:sp>
        <p:nvSpPr>
          <p:cNvPr id="38926" name="Text Box 16"/>
          <p:cNvSpPr txBox="1">
            <a:spLocks noChangeArrowheads="1"/>
          </p:cNvSpPr>
          <p:nvPr/>
        </p:nvSpPr>
        <p:spPr bwMode="auto">
          <a:xfrm>
            <a:off x="1154113" y="5734050"/>
            <a:ext cx="44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4</a:t>
            </a:r>
          </a:p>
        </p:txBody>
      </p:sp>
      <p:sp>
        <p:nvSpPr>
          <p:cNvPr id="38927" name="Rectangle 17"/>
          <p:cNvSpPr>
            <a:spLocks noChangeArrowheads="1"/>
          </p:cNvSpPr>
          <p:nvPr/>
        </p:nvSpPr>
        <p:spPr bwMode="auto">
          <a:xfrm>
            <a:off x="1676400" y="3500438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Def</a:t>
            </a:r>
          </a:p>
        </p:txBody>
      </p:sp>
      <p:sp>
        <p:nvSpPr>
          <p:cNvPr id="38928" name="Rectangle 18"/>
          <p:cNvSpPr>
            <a:spLocks noChangeArrowheads="1"/>
          </p:cNvSpPr>
          <p:nvPr/>
        </p:nvSpPr>
        <p:spPr bwMode="auto">
          <a:xfrm>
            <a:off x="22098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LiveUse</a:t>
            </a:r>
          </a:p>
        </p:txBody>
      </p:sp>
      <p:sp>
        <p:nvSpPr>
          <p:cNvPr id="38929" name="Line 19"/>
          <p:cNvSpPr>
            <a:spLocks noChangeShapeType="1"/>
          </p:cNvSpPr>
          <p:nvPr/>
        </p:nvSpPr>
        <p:spPr bwMode="auto">
          <a:xfrm>
            <a:off x="1143000" y="3957638"/>
            <a:ext cx="4038600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8930" name="Line 20"/>
          <p:cNvSpPr>
            <a:spLocks noChangeShapeType="1"/>
          </p:cNvSpPr>
          <p:nvPr/>
        </p:nvSpPr>
        <p:spPr bwMode="auto">
          <a:xfrm>
            <a:off x="1600200" y="3500438"/>
            <a:ext cx="19050" cy="3357562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8931" name="Rectangle 21"/>
          <p:cNvSpPr>
            <a:spLocks noChangeArrowheads="1"/>
          </p:cNvSpPr>
          <p:nvPr/>
        </p:nvSpPr>
        <p:spPr bwMode="auto">
          <a:xfrm>
            <a:off x="3200400" y="3500438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 dirty="0" err="1">
                <a:solidFill>
                  <a:srgbClr val="800080"/>
                </a:solidFill>
                <a:ea typeface="楷体_GB2312" pitchFamily="49" charset="-122"/>
              </a:rPr>
              <a:t>LiveOut</a:t>
            </a:r>
            <a:endParaRPr lang="en-US" altLang="zh-CN" sz="2000" b="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38932" name="Rectangle 22"/>
          <p:cNvSpPr>
            <a:spLocks noChangeArrowheads="1"/>
          </p:cNvSpPr>
          <p:nvPr/>
        </p:nvSpPr>
        <p:spPr bwMode="auto">
          <a:xfrm>
            <a:off x="4191000" y="3500438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LiveIn</a:t>
            </a:r>
          </a:p>
        </p:txBody>
      </p:sp>
      <p:sp>
        <p:nvSpPr>
          <p:cNvPr id="38933" name="Rectangle 23"/>
          <p:cNvSpPr>
            <a:spLocks noChangeArrowheads="1"/>
          </p:cNvSpPr>
          <p:nvPr/>
        </p:nvSpPr>
        <p:spPr bwMode="auto">
          <a:xfrm>
            <a:off x="685800" y="1600200"/>
            <a:ext cx="575786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活跃变量</a:t>
            </a:r>
            <a:r>
              <a:rPr lang="zh-CN" altLang="en-US">
                <a:ea typeface="楷体_GB2312" pitchFamily="49" charset="-122"/>
              </a:rPr>
              <a:t>数据流方程求解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>
                <a:ea typeface="楷体_GB2312" pitchFamily="49" charset="-122"/>
              </a:rPr>
              <a:t>   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b="0">
                <a:solidFill>
                  <a:schemeClr val="tx2"/>
                </a:solidFill>
                <a:latin typeface="Times New Roman" pitchFamily="18" charset="0"/>
              </a:rPr>
              <a:t>     </a:t>
            </a:r>
            <a:r>
              <a:rPr lang="en-US" altLang="zh-CN" sz="2000" b="0">
                <a:ea typeface="楷体_GB2312" pitchFamily="49" charset="-122"/>
              </a:rPr>
              <a:t>LiveIn(B)= LiveUse(B)∪(LiveOut(B)- Def(B))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b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>
                <a:ea typeface="楷体_GB2312" pitchFamily="49" charset="-122"/>
              </a:rPr>
              <a:t>              </a:t>
            </a:r>
            <a:r>
              <a:rPr lang="en-US" altLang="zh-CN" sz="2000" b="0">
                <a:ea typeface="楷体_GB2312" pitchFamily="49" charset="-122"/>
              </a:rPr>
              <a:t>LiveOut(B) = </a:t>
            </a:r>
            <a:r>
              <a:rPr lang="en-US" altLang="zh-CN" sz="2000" b="0">
                <a:ea typeface="楷体_GB2312" pitchFamily="49" charset="-122"/>
                <a:sym typeface="Symbol" pitchFamily="18" charset="2"/>
              </a:rPr>
              <a:t></a:t>
            </a:r>
            <a:r>
              <a:rPr lang="en-US" altLang="zh-CN" sz="2000" b="0">
                <a:ea typeface="楷体_GB2312" pitchFamily="49" charset="-122"/>
              </a:rPr>
              <a:t>   LiveIn(s)</a:t>
            </a:r>
            <a:r>
              <a:rPr lang="en-US" altLang="zh-CN" sz="2400" b="0">
                <a:ea typeface="楷体_GB2312" pitchFamily="49" charset="-122"/>
              </a:rPr>
              <a:t> </a:t>
            </a:r>
            <a:endParaRPr lang="en-US" altLang="zh-CN" sz="2400">
              <a:ea typeface="楷体_GB2312" pitchFamily="49" charset="-122"/>
            </a:endParaRPr>
          </a:p>
        </p:txBody>
      </p:sp>
      <p:sp>
        <p:nvSpPr>
          <p:cNvPr id="38934" name="Text Box 24"/>
          <p:cNvSpPr txBox="1">
            <a:spLocks noChangeArrowheads="1"/>
          </p:cNvSpPr>
          <p:nvPr/>
        </p:nvSpPr>
        <p:spPr bwMode="auto">
          <a:xfrm>
            <a:off x="3132138" y="3068638"/>
            <a:ext cx="8588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  <a:sym typeface="Symbol" pitchFamily="18" charset="2"/>
              </a:rPr>
              <a:t></a:t>
            </a:r>
            <a:r>
              <a:rPr lang="en-US" altLang="zh-CN" sz="1600" i="1">
                <a:ea typeface="楷体_GB2312" pitchFamily="49" charset="-122"/>
              </a:rPr>
              <a:t>S</a:t>
            </a:r>
            <a:r>
              <a:rPr lang="en-US" altLang="zh-CN" sz="1600">
                <a:ea typeface="楷体_GB2312" pitchFamily="49" charset="-122"/>
              </a:rPr>
              <a:t>[</a:t>
            </a:r>
            <a:r>
              <a:rPr lang="en-US" altLang="zh-CN" sz="1600" i="1">
                <a:ea typeface="楷体_GB2312" pitchFamily="49" charset="-122"/>
              </a:rPr>
              <a:t>B</a:t>
            </a:r>
            <a:r>
              <a:rPr lang="en-US" altLang="zh-CN" sz="1600">
                <a:ea typeface="楷体_GB2312" pitchFamily="49" charset="-122"/>
              </a:rPr>
              <a:t>]</a:t>
            </a:r>
          </a:p>
        </p:txBody>
      </p:sp>
      <p:sp>
        <p:nvSpPr>
          <p:cNvPr id="38935" name="Rectangle 25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graphicFrame>
        <p:nvGraphicFramePr>
          <p:cNvPr id="38936" name="Object 26"/>
          <p:cNvGraphicFramePr>
            <a:graphicFrameLocks noChangeAspect="1"/>
          </p:cNvGraphicFramePr>
          <p:nvPr/>
        </p:nvGraphicFramePr>
        <p:xfrm>
          <a:off x="6300788" y="1773238"/>
          <a:ext cx="2695575" cy="4422775"/>
        </p:xfrm>
        <a:graphic>
          <a:graphicData uri="http://schemas.openxmlformats.org/presentationml/2006/ole">
            <p:oleObj spid="_x0000_s38936" name="Visio" r:id="rId4" imgW="2299716" imgH="3774034" progId="">
              <p:embed/>
            </p:oleObj>
          </a:graphicData>
        </a:graphic>
      </p:graphicFrame>
      <p:sp>
        <p:nvSpPr>
          <p:cNvPr id="38937" name="Text Box 27"/>
          <p:cNvSpPr txBox="1">
            <a:spLocks noChangeArrowheads="1"/>
          </p:cNvSpPr>
          <p:nvPr/>
        </p:nvSpPr>
        <p:spPr bwMode="auto">
          <a:xfrm>
            <a:off x="1184275" y="6269038"/>
            <a:ext cx="446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2000" b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000" b="0" baseline="-25000">
                <a:solidFill>
                  <a:srgbClr val="800080"/>
                </a:solidFill>
                <a:ea typeface="楷体_GB2312" pitchFamily="49" charset="-122"/>
              </a:rPr>
              <a:t>5</a:t>
            </a:r>
          </a:p>
        </p:txBody>
      </p:sp>
      <p:sp>
        <p:nvSpPr>
          <p:cNvPr id="38938" name="Rectangle 28"/>
          <p:cNvSpPr>
            <a:spLocks noChangeArrowheads="1"/>
          </p:cNvSpPr>
          <p:nvPr/>
        </p:nvSpPr>
        <p:spPr bwMode="auto">
          <a:xfrm>
            <a:off x="1644650" y="4070350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39" name="Rectangle 29"/>
          <p:cNvSpPr>
            <a:spLocks noChangeArrowheads="1"/>
          </p:cNvSpPr>
          <p:nvPr/>
        </p:nvSpPr>
        <p:spPr bwMode="auto">
          <a:xfrm>
            <a:off x="2365375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40" name="Rectangle 30"/>
          <p:cNvSpPr>
            <a:spLocks noChangeArrowheads="1"/>
          </p:cNvSpPr>
          <p:nvPr/>
        </p:nvSpPr>
        <p:spPr bwMode="auto">
          <a:xfrm>
            <a:off x="1698625" y="4581525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41" name="Rectangle 31"/>
          <p:cNvSpPr>
            <a:spLocks noChangeArrowheads="1"/>
          </p:cNvSpPr>
          <p:nvPr/>
        </p:nvSpPr>
        <p:spPr bwMode="auto">
          <a:xfrm>
            <a:off x="2484438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8942" name="Rectangle 32"/>
          <p:cNvSpPr>
            <a:spLocks noChangeArrowheads="1"/>
          </p:cNvSpPr>
          <p:nvPr/>
        </p:nvSpPr>
        <p:spPr bwMode="auto">
          <a:xfrm>
            <a:off x="2484438" y="4722813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8943" name="Rectangle 33"/>
          <p:cNvSpPr>
            <a:spLocks noChangeArrowheads="1"/>
          </p:cNvSpPr>
          <p:nvPr/>
        </p:nvSpPr>
        <p:spPr bwMode="auto">
          <a:xfrm>
            <a:off x="1762125" y="6381750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8945" name="Rectangle 35"/>
          <p:cNvSpPr>
            <a:spLocks noChangeArrowheads="1"/>
          </p:cNvSpPr>
          <p:nvPr/>
        </p:nvSpPr>
        <p:spPr bwMode="auto">
          <a:xfrm>
            <a:off x="2439988" y="5149850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46" name="Rectangle 36"/>
          <p:cNvSpPr>
            <a:spLocks noChangeArrowheads="1"/>
          </p:cNvSpPr>
          <p:nvPr/>
        </p:nvSpPr>
        <p:spPr bwMode="auto">
          <a:xfrm>
            <a:off x="2439988" y="5726113"/>
            <a:ext cx="47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48" name="Rectangle 39"/>
          <p:cNvSpPr>
            <a:spLocks noChangeArrowheads="1"/>
          </p:cNvSpPr>
          <p:nvPr/>
        </p:nvSpPr>
        <p:spPr bwMode="auto">
          <a:xfrm>
            <a:off x="4356100" y="630237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49" name="Rectangle 40"/>
          <p:cNvSpPr>
            <a:spLocks noChangeArrowheads="1"/>
          </p:cNvSpPr>
          <p:nvPr/>
        </p:nvSpPr>
        <p:spPr bwMode="auto">
          <a:xfrm>
            <a:off x="4475163" y="4149725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>
                <a:cs typeface="Times New Roman" pitchFamily="18" charset="0"/>
              </a:rPr>
              <a:t>Ø</a:t>
            </a:r>
          </a:p>
        </p:txBody>
      </p:sp>
      <p:sp>
        <p:nvSpPr>
          <p:cNvPr id="38950" name="Rectangle 42"/>
          <p:cNvSpPr>
            <a:spLocks noChangeArrowheads="1"/>
          </p:cNvSpPr>
          <p:nvPr/>
        </p:nvSpPr>
        <p:spPr bwMode="auto">
          <a:xfrm>
            <a:off x="3444875" y="5726113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51" name="Rectangle 43"/>
          <p:cNvSpPr>
            <a:spLocks noChangeArrowheads="1"/>
          </p:cNvSpPr>
          <p:nvPr/>
        </p:nvSpPr>
        <p:spPr bwMode="auto">
          <a:xfrm>
            <a:off x="3444875" y="5157788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52" name="Rectangle 45"/>
          <p:cNvSpPr>
            <a:spLocks noChangeArrowheads="1"/>
          </p:cNvSpPr>
          <p:nvPr/>
        </p:nvSpPr>
        <p:spPr bwMode="auto">
          <a:xfrm>
            <a:off x="4356100" y="5726113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53" name="Rectangle 46"/>
          <p:cNvSpPr>
            <a:spLocks noChangeArrowheads="1"/>
          </p:cNvSpPr>
          <p:nvPr/>
        </p:nvSpPr>
        <p:spPr bwMode="auto">
          <a:xfrm>
            <a:off x="4356100" y="5157788"/>
            <a:ext cx="766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54" name="Rectangle 47"/>
          <p:cNvSpPr>
            <a:spLocks noChangeArrowheads="1"/>
          </p:cNvSpPr>
          <p:nvPr/>
        </p:nvSpPr>
        <p:spPr bwMode="auto">
          <a:xfrm>
            <a:off x="4427538" y="4581525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55" name="Rectangle 48"/>
          <p:cNvSpPr>
            <a:spLocks noChangeArrowheads="1"/>
          </p:cNvSpPr>
          <p:nvPr/>
        </p:nvSpPr>
        <p:spPr bwMode="auto">
          <a:xfrm>
            <a:off x="3492500" y="6302375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56" name="Rectangle 49"/>
          <p:cNvSpPr>
            <a:spLocks noChangeArrowheads="1"/>
          </p:cNvSpPr>
          <p:nvPr/>
        </p:nvSpPr>
        <p:spPr bwMode="auto">
          <a:xfrm>
            <a:off x="3444875" y="4581525"/>
            <a:ext cx="766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I,J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38957" name="Rectangle 50"/>
          <p:cNvSpPr>
            <a:spLocks noChangeArrowheads="1"/>
          </p:cNvSpPr>
          <p:nvPr/>
        </p:nvSpPr>
        <p:spPr bwMode="auto">
          <a:xfrm>
            <a:off x="3492500" y="4070350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en-US" altLang="zh-CN" sz="1800">
                <a:ea typeface="楷体_GB2312" pitchFamily="49" charset="-122"/>
              </a:rPr>
              <a:t>{</a:t>
            </a:r>
            <a:r>
              <a:rPr lang="en-US" altLang="zh-CN" sz="1800" b="0">
                <a:ea typeface="楷体_GB2312" pitchFamily="49" charset="-122"/>
              </a:rPr>
              <a:t>J</a:t>
            </a:r>
            <a:r>
              <a:rPr lang="en-US" altLang="zh-CN" sz="1800">
                <a:ea typeface="楷体_GB2312" pitchFamily="49" charset="-122"/>
              </a:rPr>
              <a:t>}</a:t>
            </a:r>
          </a:p>
        </p:txBody>
      </p:sp>
      <p:sp>
        <p:nvSpPr>
          <p:cNvPr id="46" name="Rectangle 50"/>
          <p:cNvSpPr>
            <a:spLocks noChangeArrowheads="1"/>
          </p:cNvSpPr>
          <p:nvPr/>
        </p:nvSpPr>
        <p:spPr bwMode="auto">
          <a:xfrm>
            <a:off x="1761778" y="5298157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  <p:sp>
        <p:nvSpPr>
          <p:cNvPr id="47" name="Rectangle 50"/>
          <p:cNvSpPr>
            <a:spLocks noChangeArrowheads="1"/>
          </p:cNvSpPr>
          <p:nvPr/>
        </p:nvSpPr>
        <p:spPr bwMode="auto">
          <a:xfrm>
            <a:off x="1761778" y="5874221"/>
            <a:ext cx="3619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1800" b="0" dirty="0">
                <a:cs typeface="Times New Roman" pitchFamily="18" charset="0"/>
              </a:rPr>
              <a:t>Ø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3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2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向前流和向后流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3994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4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5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6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685800" y="2057400"/>
            <a:ext cx="8458200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向前流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信息流的方向与控制流是一致的（如：到达</a:t>
            </a:r>
            <a:r>
              <a:rPr lang="en-US" altLang="zh-CN" sz="2400" b="0" dirty="0">
                <a:ea typeface="楷体_GB2312" pitchFamily="49" charset="-122"/>
              </a:rPr>
              <a:t>-</a:t>
            </a:r>
            <a:r>
              <a:rPr lang="zh-CN" altLang="en-US" sz="2400" dirty="0">
                <a:ea typeface="楷体_GB2312" pitchFamily="49" charset="-122"/>
              </a:rPr>
              <a:t>定值数据流）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en-US" altLang="zh-CN" sz="2400" b="0" dirty="0">
                <a:ea typeface="楷体_GB2312" pitchFamily="49" charset="-122"/>
              </a:rPr>
              <a:t>In </a:t>
            </a:r>
            <a:r>
              <a:rPr lang="zh-CN" altLang="en-US" sz="2400" dirty="0">
                <a:ea typeface="楷体_GB2312" pitchFamily="49" charset="-122"/>
              </a:rPr>
              <a:t>集合和 </a:t>
            </a:r>
            <a:r>
              <a:rPr lang="en-US" altLang="zh-CN" sz="2400" b="0" dirty="0">
                <a:ea typeface="楷体_GB2312" pitchFamily="49" charset="-122"/>
              </a:rPr>
              <a:t>Out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集合的关系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      </a:t>
            </a:r>
            <a:r>
              <a:rPr lang="en-US" altLang="zh-CN" sz="2400" b="0" i="1" dirty="0">
                <a:ea typeface="楷体_GB2312" pitchFamily="49" charset="-122"/>
              </a:rPr>
              <a:t>OUT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 = </a:t>
            </a:r>
            <a:r>
              <a:rPr lang="en-US" altLang="zh-CN" sz="2400" b="0" i="1" dirty="0">
                <a:ea typeface="楷体_GB2312" pitchFamily="49" charset="-122"/>
              </a:rPr>
              <a:t>Used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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IN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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en-US" altLang="zh-CN" sz="2400" b="0" i="1" dirty="0">
                <a:ea typeface="楷体_GB2312" pitchFamily="49" charset="-122"/>
              </a:rPr>
              <a:t>KILLED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向后流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信息流的方向与控制流反向（如：活跃变量数据流）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en-US" altLang="zh-CN" sz="2400" b="0" dirty="0">
                <a:ea typeface="楷体_GB2312" pitchFamily="49" charset="-122"/>
              </a:rPr>
              <a:t>In </a:t>
            </a:r>
            <a:r>
              <a:rPr lang="zh-CN" altLang="en-US" sz="2400" dirty="0">
                <a:ea typeface="楷体_GB2312" pitchFamily="49" charset="-122"/>
              </a:rPr>
              <a:t>集合和 </a:t>
            </a:r>
            <a:r>
              <a:rPr lang="en-US" altLang="zh-CN" sz="2400" b="0" dirty="0">
                <a:ea typeface="楷体_GB2312" pitchFamily="49" charset="-122"/>
              </a:rPr>
              <a:t>Out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集合的关系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       </a:t>
            </a:r>
            <a:r>
              <a:rPr lang="en-US" altLang="zh-CN" sz="2400" b="0" i="1" dirty="0">
                <a:ea typeface="楷体_GB2312" pitchFamily="49" charset="-122"/>
              </a:rPr>
              <a:t>IN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 = </a:t>
            </a:r>
            <a:r>
              <a:rPr lang="en-US" altLang="zh-CN" sz="2400" b="0" i="1" dirty="0">
                <a:ea typeface="楷体_GB2312" pitchFamily="49" charset="-122"/>
              </a:rPr>
              <a:t>Used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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OUT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en-US" altLang="zh-CN" sz="2400" b="0" dirty="0">
                <a:ea typeface="楷体_GB2312" pitchFamily="49" charset="-122"/>
                <a:sym typeface="Symbol" pitchFamily="18" charset="2"/>
              </a:rPr>
              <a:t>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en-US" altLang="zh-CN" sz="2400" b="0" i="1" dirty="0">
                <a:ea typeface="楷体_GB2312" pitchFamily="49" charset="-122"/>
              </a:rPr>
              <a:t>KILLED</a:t>
            </a:r>
            <a:r>
              <a:rPr lang="en-US" altLang="zh-CN" sz="2400" b="0" dirty="0">
                <a:ea typeface="楷体_GB2312" pitchFamily="49" charset="-122"/>
              </a:rPr>
              <a:t> 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39948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4096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685800" y="2057400"/>
            <a:ext cx="845820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0" dirty="0">
                <a:solidFill>
                  <a:srgbClr val="800080"/>
                </a:solidFill>
                <a:ea typeface="楷体_GB2312" pitchFamily="49" charset="-122"/>
              </a:rPr>
              <a:t>UD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链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假设在程序中某点 </a:t>
            </a:r>
            <a:r>
              <a:rPr lang="en-US" altLang="zh-CN" sz="2400" b="0" dirty="0">
                <a:ea typeface="楷体_GB2312" pitchFamily="49" charset="-122"/>
              </a:rPr>
              <a:t>u </a:t>
            </a:r>
            <a:r>
              <a:rPr lang="zh-CN" altLang="en-US" sz="2400" dirty="0">
                <a:ea typeface="楷体_GB2312" pitchFamily="49" charset="-122"/>
              </a:rPr>
              <a:t>引用了变量 </a:t>
            </a:r>
            <a:r>
              <a:rPr lang="en-US" altLang="zh-CN" sz="2400" b="0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的值，则把能到达 </a:t>
            </a:r>
            <a:r>
              <a:rPr lang="en-US" altLang="zh-CN" sz="2400" b="0" dirty="0">
                <a:ea typeface="楷体_GB2312" pitchFamily="49" charset="-122"/>
              </a:rPr>
              <a:t>u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 dirty="0">
                <a:ea typeface="楷体_GB2312" pitchFamily="49" charset="-122"/>
              </a:rPr>
              <a:t>     </a:t>
            </a:r>
            <a:r>
              <a:rPr lang="zh-CN" altLang="en-US" sz="2400" dirty="0">
                <a:ea typeface="楷体_GB2312" pitchFamily="49" charset="-122"/>
              </a:rPr>
              <a:t>的 </a:t>
            </a:r>
            <a:r>
              <a:rPr lang="en-US" altLang="zh-CN" sz="2400" b="0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的所有定值点的全体，称为 </a:t>
            </a:r>
            <a:r>
              <a:rPr lang="en-US" altLang="zh-CN" sz="2400" b="0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在引用点 </a:t>
            </a:r>
            <a:r>
              <a:rPr lang="en-US" altLang="zh-CN" sz="2400" b="0" dirty="0">
                <a:ea typeface="楷体_GB2312" pitchFamily="49" charset="-122"/>
              </a:rPr>
              <a:t>u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引用－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   定值链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Use-Definition Chaining</a:t>
            </a:r>
            <a:r>
              <a:rPr lang="zh-CN" altLang="en-US" sz="2400" dirty="0">
                <a:ea typeface="楷体_GB2312" pitchFamily="49" charset="-122"/>
              </a:rPr>
              <a:t>），简称 </a:t>
            </a:r>
            <a:r>
              <a:rPr lang="en-US" altLang="zh-CN" sz="2400" b="0" dirty="0">
                <a:ea typeface="楷体_GB2312" pitchFamily="49" charset="-122"/>
              </a:rPr>
              <a:t>UD </a:t>
            </a:r>
            <a:r>
              <a:rPr lang="zh-CN" altLang="en-US" sz="2400" dirty="0">
                <a:ea typeface="楷体_GB2312" pitchFamily="49" charset="-122"/>
              </a:rPr>
              <a:t>链。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b="0" dirty="0">
                <a:solidFill>
                  <a:srgbClr val="800080"/>
                </a:solidFill>
                <a:ea typeface="楷体_GB2312" pitchFamily="49" charset="-122"/>
              </a:rPr>
              <a:t>    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UD </a:t>
            </a:r>
            <a:r>
              <a:rPr lang="zh-CN" altLang="en-US" sz="24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链的计算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（借助于到达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定值数据流信息 </a:t>
            </a:r>
            <a:r>
              <a:rPr lang="en-US" altLang="zh-CN" sz="2400" b="0" i="1" dirty="0">
                <a:ea typeface="楷体_GB2312" pitchFamily="49" charset="-122"/>
              </a:rPr>
              <a:t>IN </a:t>
            </a:r>
            <a:r>
              <a:rPr lang="en-US" altLang="zh-CN" sz="2400" b="0" dirty="0">
                <a:ea typeface="楷体_GB2312" pitchFamily="49" charset="-122"/>
              </a:rPr>
              <a:t>[</a:t>
            </a:r>
            <a:r>
              <a:rPr lang="en-US" altLang="zh-CN" sz="2400" b="0" i="1" dirty="0">
                <a:ea typeface="楷体_GB2312" pitchFamily="49" charset="-122"/>
              </a:rPr>
              <a:t>B</a:t>
            </a:r>
            <a:r>
              <a:rPr lang="en-US" altLang="zh-CN" sz="2400" b="0" dirty="0">
                <a:ea typeface="楷体_GB2312" pitchFamily="49" charset="-122"/>
              </a:rPr>
              <a:t>]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000" dirty="0">
                <a:ea typeface="楷体_GB2312" pitchFamily="49" charset="-122"/>
              </a:rPr>
              <a:t>  如果在基本块 </a:t>
            </a:r>
            <a:r>
              <a:rPr lang="en-US" altLang="zh-CN" sz="2000" b="0" dirty="0">
                <a:ea typeface="楷体_GB2312" pitchFamily="49" charset="-122"/>
              </a:rPr>
              <a:t>B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中，变量Ａ的引用点 </a:t>
            </a:r>
            <a:r>
              <a:rPr lang="en-US" altLang="zh-CN" sz="2000" b="0" dirty="0">
                <a:ea typeface="楷体_GB2312" pitchFamily="49" charset="-122"/>
              </a:rPr>
              <a:t>u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之前有 </a:t>
            </a:r>
            <a:r>
              <a:rPr lang="en-US" altLang="zh-CN" sz="2000" b="0" dirty="0">
                <a:ea typeface="楷体_GB2312" pitchFamily="49" charset="-122"/>
              </a:rPr>
              <a:t>A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的定值点 </a:t>
            </a:r>
            <a:r>
              <a:rPr lang="en-US" altLang="zh-CN" sz="2000" b="0" dirty="0">
                <a:ea typeface="楷体_GB2312" pitchFamily="49" charset="-122"/>
              </a:rPr>
              <a:t>d</a:t>
            </a:r>
            <a:r>
              <a:rPr lang="zh-CN" altLang="en-US" sz="2000" dirty="0">
                <a:ea typeface="楷体_GB2312" pitchFamily="49" charset="-122"/>
              </a:rPr>
              <a:t>，并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ea typeface="楷体_GB2312" pitchFamily="49" charset="-122"/>
              </a:rPr>
              <a:t>   且 </a:t>
            </a:r>
            <a:r>
              <a:rPr lang="en-US" altLang="zh-CN" sz="2000" b="0" dirty="0">
                <a:ea typeface="楷体_GB2312" pitchFamily="49" charset="-122"/>
              </a:rPr>
              <a:t>A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在点 </a:t>
            </a:r>
            <a:r>
              <a:rPr lang="en-US" altLang="zh-CN" sz="2000" b="0" dirty="0">
                <a:ea typeface="楷体_GB2312" pitchFamily="49" charset="-122"/>
              </a:rPr>
              <a:t>d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的定值到达 </a:t>
            </a:r>
            <a:r>
              <a:rPr lang="en-US" altLang="zh-CN" sz="2000" b="0" dirty="0">
                <a:ea typeface="楷体_GB2312" pitchFamily="49" charset="-122"/>
              </a:rPr>
              <a:t>u</a:t>
            </a:r>
            <a:r>
              <a:rPr lang="zh-CN" altLang="en-US" sz="2000" dirty="0">
                <a:ea typeface="楷体_GB2312" pitchFamily="49" charset="-122"/>
              </a:rPr>
              <a:t>，那么 </a:t>
            </a:r>
            <a:r>
              <a:rPr lang="en-US" altLang="zh-CN" sz="2000" b="0" dirty="0">
                <a:ea typeface="楷体_GB2312" pitchFamily="49" charset="-122"/>
              </a:rPr>
              <a:t>A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在点 </a:t>
            </a:r>
            <a:r>
              <a:rPr lang="en-US" altLang="zh-CN" sz="2000" b="0" dirty="0">
                <a:ea typeface="楷体_GB2312" pitchFamily="49" charset="-122"/>
              </a:rPr>
              <a:t>u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的 </a:t>
            </a:r>
            <a:r>
              <a:rPr lang="en-US" altLang="zh-CN" sz="2000" b="0" dirty="0">
                <a:ea typeface="楷体_GB2312" pitchFamily="49" charset="-122"/>
              </a:rPr>
              <a:t>UD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链就是｛</a:t>
            </a:r>
            <a:r>
              <a:rPr lang="en-US" altLang="zh-CN" sz="2000" b="0" dirty="0">
                <a:ea typeface="楷体_GB2312" pitchFamily="49" charset="-122"/>
              </a:rPr>
              <a:t>d</a:t>
            </a:r>
            <a:r>
              <a:rPr lang="zh-CN" altLang="en-US" sz="2000" dirty="0">
                <a:ea typeface="楷体_GB2312" pitchFamily="49" charset="-122"/>
              </a:rPr>
              <a:t>｝</a:t>
            </a:r>
            <a:endParaRPr kumimoji="0" lang="zh-CN" altLang="en-US" sz="2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kumimoji="0" lang="zh-CN" altLang="en-US" sz="1000" dirty="0"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如果在基本块中，变量 </a:t>
            </a:r>
            <a:r>
              <a:rPr lang="en-US" altLang="zh-CN" sz="2000" b="0" dirty="0">
                <a:ea typeface="楷体_GB2312" pitchFamily="49" charset="-122"/>
              </a:rPr>
              <a:t>A </a:t>
            </a:r>
            <a:r>
              <a:rPr lang="zh-CN" altLang="en-US" sz="2000" dirty="0">
                <a:ea typeface="楷体_GB2312" pitchFamily="49" charset="-122"/>
              </a:rPr>
              <a:t>的引用点 </a:t>
            </a:r>
            <a:r>
              <a:rPr lang="en-US" altLang="zh-CN" sz="2000" b="0" dirty="0">
                <a:ea typeface="楷体_GB2312" pitchFamily="49" charset="-122"/>
              </a:rPr>
              <a:t>u </a:t>
            </a:r>
            <a:r>
              <a:rPr lang="zh-CN" altLang="en-US" sz="2000" dirty="0">
                <a:ea typeface="楷体_GB2312" pitchFamily="49" charset="-122"/>
              </a:rPr>
              <a:t>之前没有 </a:t>
            </a:r>
            <a:r>
              <a:rPr lang="en-US" altLang="zh-CN" sz="2000" b="0" dirty="0">
                <a:ea typeface="楷体_GB2312" pitchFamily="49" charset="-122"/>
              </a:rPr>
              <a:t>A </a:t>
            </a:r>
            <a:r>
              <a:rPr lang="zh-CN" altLang="en-US" sz="2000" dirty="0">
                <a:ea typeface="楷体_GB2312" pitchFamily="49" charset="-122"/>
              </a:rPr>
              <a:t>的定值点，那么，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ea typeface="楷体_GB2312" pitchFamily="49" charset="-122"/>
              </a:rPr>
              <a:t>    </a:t>
            </a:r>
            <a:r>
              <a:rPr lang="en-US" altLang="zh-CN" sz="2000" b="0" i="1" dirty="0">
                <a:ea typeface="楷体_GB2312" pitchFamily="49" charset="-122"/>
              </a:rPr>
              <a:t>IN </a:t>
            </a:r>
            <a:r>
              <a:rPr lang="en-US" altLang="zh-CN" sz="2000" b="0" dirty="0">
                <a:ea typeface="楷体_GB2312" pitchFamily="49" charset="-122"/>
              </a:rPr>
              <a:t>[</a:t>
            </a:r>
            <a:r>
              <a:rPr lang="en-US" altLang="zh-CN" sz="2000" b="0" i="1" dirty="0">
                <a:ea typeface="楷体_GB2312" pitchFamily="49" charset="-122"/>
              </a:rPr>
              <a:t>B</a:t>
            </a:r>
            <a:r>
              <a:rPr lang="en-US" altLang="zh-CN" sz="2000" b="0" dirty="0">
                <a:ea typeface="楷体_GB2312" pitchFamily="49" charset="-122"/>
              </a:rPr>
              <a:t>]</a:t>
            </a:r>
            <a:r>
              <a:rPr lang="zh-CN" altLang="en-US" sz="2000" dirty="0">
                <a:ea typeface="楷体_GB2312" pitchFamily="49" charset="-122"/>
              </a:rPr>
              <a:t>中 </a:t>
            </a:r>
            <a:r>
              <a:rPr lang="en-US" altLang="zh-CN" sz="2000" b="0" dirty="0">
                <a:ea typeface="楷体_GB2312" pitchFamily="49" charset="-122"/>
              </a:rPr>
              <a:t>A </a:t>
            </a:r>
            <a:r>
              <a:rPr lang="zh-CN" altLang="en-US" sz="2000" dirty="0">
                <a:ea typeface="楷体_GB2312" pitchFamily="49" charset="-122"/>
              </a:rPr>
              <a:t>的所有定值点均到达 </a:t>
            </a:r>
            <a:r>
              <a:rPr lang="en-US" altLang="zh-CN" sz="2000" b="0" dirty="0">
                <a:ea typeface="楷体_GB2312" pitchFamily="49" charset="-122"/>
              </a:rPr>
              <a:t>u</a:t>
            </a:r>
            <a:r>
              <a:rPr lang="zh-CN" altLang="en-US" sz="2000" dirty="0">
                <a:ea typeface="楷体_GB2312" pitchFamily="49" charset="-122"/>
              </a:rPr>
              <a:t>，它们就是 </a:t>
            </a:r>
            <a:r>
              <a:rPr lang="en-US" altLang="zh-CN" sz="2000" b="0" dirty="0">
                <a:ea typeface="楷体_GB2312" pitchFamily="49" charset="-122"/>
              </a:rPr>
              <a:t>A </a:t>
            </a:r>
            <a:r>
              <a:rPr lang="zh-CN" altLang="en-US" sz="2000" dirty="0">
                <a:ea typeface="楷体_GB2312" pitchFamily="49" charset="-122"/>
              </a:rPr>
              <a:t>在点 </a:t>
            </a:r>
            <a:r>
              <a:rPr lang="en-US" altLang="zh-CN" sz="2000" b="0" dirty="0">
                <a:ea typeface="楷体_GB2312" pitchFamily="49" charset="-122"/>
              </a:rPr>
              <a:t>u </a:t>
            </a:r>
            <a:r>
              <a:rPr lang="zh-CN" altLang="en-US" sz="2000" dirty="0">
                <a:ea typeface="楷体_GB2312" pitchFamily="49" charset="-122"/>
              </a:rPr>
              <a:t>的</a:t>
            </a:r>
            <a:r>
              <a:rPr lang="en-US" altLang="zh-CN" sz="2400" b="0" dirty="0">
                <a:ea typeface="楷体_GB2312" pitchFamily="49" charset="-122"/>
              </a:rPr>
              <a:t>UD</a:t>
            </a:r>
            <a:r>
              <a:rPr lang="zh-CN" altLang="en-US" sz="2000" dirty="0">
                <a:ea typeface="楷体_GB2312" pitchFamily="49" charset="-122"/>
              </a:rPr>
              <a:t>链</a:t>
            </a:r>
          </a:p>
        </p:txBody>
      </p:sp>
      <p:sp>
        <p:nvSpPr>
          <p:cNvPr id="40972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0" name="Text Box 6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4199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990600" y="2057400"/>
            <a:ext cx="4876800" cy="36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0">
                <a:ea typeface="楷体_GB2312" pitchFamily="49" charset="-122"/>
              </a:rPr>
              <a:t>UD </a:t>
            </a:r>
            <a:r>
              <a:rPr lang="zh-CN" altLang="en-US">
                <a:ea typeface="楷体_GB2312" pitchFamily="49" charset="-122"/>
              </a:rPr>
              <a:t>链的计算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对于右边的流图，</a:t>
            </a:r>
          </a:p>
          <a:p>
            <a:pPr>
              <a:spcBef>
                <a:spcPct val="20000"/>
              </a:spcBef>
            </a:pPr>
            <a:endParaRPr lang="zh-CN" altLang="en-US" sz="1000"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I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在引用点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2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>
                <a:ea typeface="楷体_GB2312" pitchFamily="49" charset="-122"/>
              </a:rPr>
              <a:t>UD</a:t>
            </a:r>
            <a:r>
              <a:rPr lang="en-US" altLang="zh-CN" sz="240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en-US" altLang="zh-CN" sz="2400" b="0">
                <a:ea typeface="楷体_GB2312" pitchFamily="49" charset="-122"/>
              </a:rPr>
              <a:t>J</a:t>
            </a:r>
            <a:r>
              <a:rPr lang="en-US" altLang="zh-CN" sz="240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在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4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>
                <a:ea typeface="楷体_GB2312" pitchFamily="49" charset="-122"/>
              </a:rPr>
              <a:t>UD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sz="240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0">
                <a:ea typeface="楷体_GB2312" pitchFamily="49" charset="-122"/>
              </a:rPr>
              <a:t>    </a:t>
            </a:r>
            <a:r>
              <a:rPr lang="en-US" altLang="zh-CN" sz="2400" b="0">
                <a:ea typeface="楷体_GB2312" pitchFamily="49" charset="-122"/>
              </a:rPr>
              <a:t>J</a:t>
            </a:r>
            <a:r>
              <a:rPr lang="en-US" altLang="zh-CN" sz="240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在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5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>
                <a:ea typeface="楷体_GB2312" pitchFamily="49" charset="-122"/>
              </a:rPr>
              <a:t>UD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I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在引用点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6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>
                <a:ea typeface="楷体_GB2312" pitchFamily="49" charset="-122"/>
              </a:rPr>
              <a:t>UD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0">
                <a:ea typeface="楷体_GB2312" pitchFamily="49" charset="-122"/>
              </a:rPr>
              <a:t>    </a:t>
            </a:r>
            <a:r>
              <a:rPr lang="en-US" altLang="zh-CN" sz="2400" b="0">
                <a:ea typeface="楷体_GB2312" pitchFamily="49" charset="-122"/>
              </a:rPr>
              <a:t>J</a:t>
            </a:r>
            <a:r>
              <a:rPr lang="en-US" altLang="zh-CN" sz="240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在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7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>
                <a:ea typeface="楷体_GB2312" pitchFamily="49" charset="-122"/>
              </a:rPr>
              <a:t>UD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sz="240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｝</a:t>
            </a:r>
          </a:p>
        </p:txBody>
      </p:sp>
      <p:graphicFrame>
        <p:nvGraphicFramePr>
          <p:cNvPr id="41996" name="Object 13"/>
          <p:cNvGraphicFramePr>
            <a:graphicFrameLocks noChangeAspect="1"/>
          </p:cNvGraphicFramePr>
          <p:nvPr/>
        </p:nvGraphicFramePr>
        <p:xfrm>
          <a:off x="6019800" y="1714500"/>
          <a:ext cx="2716213" cy="4457700"/>
        </p:xfrm>
        <a:graphic>
          <a:graphicData uri="http://schemas.openxmlformats.org/presentationml/2006/ole">
            <p:oleObj spid="_x0000_s41996" name="Visio" r:id="rId4" imgW="2716207" imgH="4457278" progId="">
              <p:embed/>
            </p:oleObj>
          </a:graphicData>
        </a:graphic>
      </p:graphicFrame>
      <p:sp>
        <p:nvSpPr>
          <p:cNvPr id="41997" name="Rectangle 14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4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4301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685800" y="2057400"/>
            <a:ext cx="8229600" cy="359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0" dirty="0">
                <a:solidFill>
                  <a:srgbClr val="800080"/>
                </a:solidFill>
                <a:ea typeface="楷体_GB2312" pitchFamily="49" charset="-122"/>
              </a:rPr>
              <a:t>DU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链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假设在程序中某点 </a:t>
            </a:r>
            <a:r>
              <a:rPr lang="en-US" altLang="zh-CN" sz="2400" b="0" dirty="0">
                <a:ea typeface="楷体_GB2312" pitchFamily="49" charset="-122"/>
              </a:rPr>
              <a:t>u </a:t>
            </a:r>
            <a:r>
              <a:rPr lang="zh-CN" altLang="en-US" sz="2400" dirty="0">
                <a:ea typeface="楷体_GB2312" pitchFamily="49" charset="-122"/>
              </a:rPr>
              <a:t>定义了变量 </a:t>
            </a:r>
            <a:r>
              <a:rPr lang="en-US" altLang="zh-CN" sz="2400" b="0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的值，从 </a:t>
            </a:r>
            <a:r>
              <a:rPr lang="en-US" altLang="zh-CN" sz="2400" b="0" dirty="0">
                <a:ea typeface="楷体_GB2312" pitchFamily="49" charset="-122"/>
              </a:rPr>
              <a:t>u </a:t>
            </a:r>
            <a:r>
              <a:rPr lang="zh-CN" altLang="en-US" sz="2400" dirty="0">
                <a:ea typeface="楷体_GB2312" pitchFamily="49" charset="-122"/>
              </a:rPr>
              <a:t>存在一条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到达 </a:t>
            </a:r>
            <a:r>
              <a:rPr lang="en-US" altLang="zh-CN" sz="2400" b="0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的某个引用点 </a:t>
            </a:r>
            <a:r>
              <a:rPr lang="en-US" altLang="zh-CN" sz="2400" b="0" i="1" dirty="0">
                <a:ea typeface="楷体_GB2312" pitchFamily="49" charset="-122"/>
              </a:rPr>
              <a:t>s </a:t>
            </a:r>
            <a:r>
              <a:rPr lang="zh-CN" altLang="en-US" sz="2400" dirty="0">
                <a:ea typeface="楷体_GB2312" pitchFamily="49" charset="-122"/>
              </a:rPr>
              <a:t>的路径，且该路径上不存在 </a:t>
            </a:r>
            <a:r>
              <a:rPr lang="en-US" altLang="zh-CN" sz="2400" b="0" dirty="0"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的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其他定值点，则把所有此类引用点 </a:t>
            </a:r>
            <a:r>
              <a:rPr lang="en-US" altLang="zh-CN" sz="2400" b="0" i="1" dirty="0">
                <a:ea typeface="楷体_GB2312" pitchFamily="49" charset="-122"/>
              </a:rPr>
              <a:t>s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的全体称为 </a:t>
            </a:r>
            <a:r>
              <a:rPr lang="en-US" altLang="zh-CN" sz="2400" b="0" dirty="0">
                <a:ea typeface="楷体_GB2312" pitchFamily="49" charset="-122"/>
              </a:rPr>
              <a:t>A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在定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值点 </a:t>
            </a:r>
            <a:r>
              <a:rPr lang="en-US" altLang="zh-CN" sz="2400" b="0" dirty="0">
                <a:ea typeface="楷体_GB2312" pitchFamily="49" charset="-122"/>
              </a:rPr>
              <a:t>u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定值－引用链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Definition-Use Chaining</a:t>
            </a:r>
            <a:r>
              <a:rPr lang="zh-CN" altLang="en-US" sz="2400" dirty="0">
                <a:ea typeface="楷体_GB2312" pitchFamily="49" charset="-122"/>
              </a:rPr>
              <a:t>），简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称 </a:t>
            </a:r>
            <a:r>
              <a:rPr lang="en-US" altLang="zh-CN" sz="2400" b="0" dirty="0">
                <a:ea typeface="楷体_GB2312" pitchFamily="49" charset="-122"/>
              </a:rPr>
              <a:t>DU </a:t>
            </a:r>
            <a:r>
              <a:rPr lang="zh-CN" altLang="en-US" sz="2400" dirty="0">
                <a:ea typeface="楷体_GB2312" pitchFamily="49" charset="-122"/>
              </a:rPr>
              <a:t>链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b="0" dirty="0">
                <a:solidFill>
                  <a:srgbClr val="800080"/>
                </a:solidFill>
                <a:ea typeface="楷体_GB2312" pitchFamily="49" charset="-122"/>
              </a:rPr>
              <a:t>     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DU </a:t>
            </a:r>
            <a:r>
              <a:rPr lang="zh-CN" altLang="en-US" sz="24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链的计算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可采用类似</a:t>
            </a:r>
            <a:r>
              <a:rPr lang="zh-CN" altLang="en-US" sz="2400" dirty="0">
                <a:ea typeface="楷体_GB2312" pitchFamily="49" charset="-122"/>
              </a:rPr>
              <a:t>活跃变量数据流的向后流方法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（方法细节略，可参考下页的实例）</a:t>
            </a:r>
          </a:p>
        </p:txBody>
      </p:sp>
      <p:sp>
        <p:nvSpPr>
          <p:cNvPr id="43020" name="Rectangle 13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Text Box 6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44039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1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2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838200" y="2057400"/>
            <a:ext cx="480060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0" dirty="0">
                <a:ea typeface="楷体_GB2312" pitchFamily="49" charset="-122"/>
              </a:rPr>
              <a:t>DU </a:t>
            </a:r>
            <a:r>
              <a:rPr lang="zh-CN" altLang="en-US" dirty="0">
                <a:ea typeface="楷体_GB2312" pitchFamily="49" charset="-122"/>
              </a:rPr>
              <a:t>链的计算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对于右边的流图，</a:t>
            </a:r>
          </a:p>
          <a:p>
            <a:pPr>
              <a:spcBef>
                <a:spcPct val="2000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0" dirty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I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在定值点 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1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 dirty="0">
                <a:ea typeface="楷体_GB2312" pitchFamily="49" charset="-122"/>
              </a:rPr>
              <a:t>DU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en-US" altLang="zh-CN" sz="2400" b="0" dirty="0">
                <a:ea typeface="楷体_GB2312" pitchFamily="49" charset="-122"/>
              </a:rPr>
              <a:t>J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在定值点</a:t>
            </a:r>
            <a:r>
              <a:rPr lang="en-US" altLang="zh-CN" sz="2400" b="0" dirty="0" smtClean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 smtClean="0">
                <a:latin typeface="Times New Roman" pitchFamily="18" charset="0"/>
                <a:ea typeface="楷体_GB2312" pitchFamily="49" charset="-122"/>
              </a:rPr>
              <a:t>2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 dirty="0">
                <a:ea typeface="楷体_GB2312" pitchFamily="49" charset="-122"/>
              </a:rPr>
              <a:t>DU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0" dirty="0">
                <a:ea typeface="楷体_GB2312" pitchFamily="49" charset="-122"/>
              </a:rPr>
              <a:t>    </a:t>
            </a:r>
            <a:r>
              <a:rPr lang="en-US" altLang="zh-CN" sz="2400" b="0" dirty="0" smtClean="0">
                <a:latin typeface="Times New Roman" pitchFamily="18" charset="0"/>
                <a:ea typeface="楷体_GB2312" pitchFamily="49" charset="-122"/>
              </a:rPr>
              <a:t>I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在定值点 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 dirty="0">
                <a:ea typeface="楷体_GB2312" pitchFamily="49" charset="-122"/>
              </a:rPr>
              <a:t>DU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en-US" altLang="zh-CN" sz="2400" b="0" dirty="0">
                <a:ea typeface="楷体_GB2312" pitchFamily="49" charset="-122"/>
              </a:rPr>
              <a:t>J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在 </a:t>
            </a:r>
            <a:r>
              <a:rPr lang="en-US" altLang="zh-CN" sz="2400" b="0" dirty="0" smtClean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 smtClean="0">
                <a:latin typeface="Times New Roman" pitchFamily="18" charset="0"/>
                <a:ea typeface="楷体_GB2312" pitchFamily="49" charset="-122"/>
              </a:rPr>
              <a:t>4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 dirty="0">
                <a:ea typeface="楷体_GB2312" pitchFamily="49" charset="-122"/>
              </a:rPr>
              <a:t>DU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｝</a:t>
            </a:r>
          </a:p>
          <a:p>
            <a:pPr>
              <a:spcBef>
                <a:spcPct val="20000"/>
              </a:spcBef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400" b="0" dirty="0">
                <a:ea typeface="楷体_GB2312" pitchFamily="49" charset="-122"/>
              </a:rPr>
              <a:t>    </a:t>
            </a:r>
            <a:r>
              <a:rPr lang="en-US" altLang="zh-CN" sz="2400" b="0" dirty="0">
                <a:ea typeface="楷体_GB2312" pitchFamily="49" charset="-122"/>
              </a:rPr>
              <a:t>J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在 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5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0" dirty="0">
                <a:ea typeface="楷体_GB2312" pitchFamily="49" charset="-122"/>
              </a:rPr>
              <a:t>DU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链为｛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0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400" b="0" baseline="-25000" dirty="0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｝</a:t>
            </a:r>
          </a:p>
        </p:txBody>
      </p:sp>
      <p:graphicFrame>
        <p:nvGraphicFramePr>
          <p:cNvPr id="44044" name="Object 13"/>
          <p:cNvGraphicFramePr>
            <a:graphicFrameLocks noChangeAspect="1"/>
          </p:cNvGraphicFramePr>
          <p:nvPr/>
        </p:nvGraphicFramePr>
        <p:xfrm>
          <a:off x="6199188" y="1714500"/>
          <a:ext cx="2716212" cy="4457700"/>
        </p:xfrm>
        <a:graphic>
          <a:graphicData uri="http://schemas.openxmlformats.org/presentationml/2006/ole">
            <p:oleObj spid="_x0000_s44044" name="Visio" r:id="rId4" imgW="2804465" imgH="3936492" progId="">
              <p:embed/>
            </p:oleObj>
          </a:graphicData>
        </a:graphic>
      </p:graphicFrame>
      <p:sp>
        <p:nvSpPr>
          <p:cNvPr id="44045" name="Rectangle 14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3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4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5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6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7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8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9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0" name="Rectangle 15"/>
          <p:cNvSpPr>
            <a:spLocks noChangeArrowheads="1"/>
          </p:cNvSpPr>
          <p:nvPr/>
        </p:nvSpPr>
        <p:spPr bwMode="auto">
          <a:xfrm>
            <a:off x="1104900" y="2043113"/>
            <a:ext cx="7715250" cy="341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基本块内变量的待用信息和活跃信息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待用信息</a:t>
            </a:r>
          </a:p>
          <a:p>
            <a:pPr lvl="1"/>
            <a:r>
              <a:rPr lang="zh-CN" altLang="en-US" sz="2300" dirty="0">
                <a:ea typeface="楷体_GB2312" pitchFamily="49" charset="-122"/>
              </a:rPr>
              <a:t>   基本块中某变量定值点的待用信息</a:t>
            </a:r>
            <a:r>
              <a:rPr lang="en-US" altLang="zh-CN" sz="230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300" b="0" dirty="0">
                <a:ea typeface="楷体_GB2312" pitchFamily="49" charset="-122"/>
              </a:rPr>
              <a:t>next use</a:t>
            </a:r>
            <a:r>
              <a:rPr lang="en-US" altLang="zh-CN" sz="2300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300" dirty="0">
                <a:ea typeface="楷体_GB2312" pitchFamily="49" charset="-122"/>
              </a:rPr>
              <a:t>链即</a:t>
            </a:r>
          </a:p>
          <a:p>
            <a:pPr lvl="1"/>
            <a:r>
              <a:rPr lang="zh-CN" altLang="en-US" sz="2300" dirty="0">
                <a:ea typeface="楷体_GB2312" pitchFamily="49" charset="-122"/>
              </a:rPr>
              <a:t>   为该点在基本块范围内的 </a:t>
            </a:r>
            <a:r>
              <a:rPr lang="en-US" altLang="zh-CN" sz="2000" b="0" dirty="0">
                <a:ea typeface="楷体_GB2312" pitchFamily="49" charset="-122"/>
              </a:rPr>
              <a:t>DU </a:t>
            </a:r>
            <a:r>
              <a:rPr lang="zh-CN" altLang="en-US" sz="2300" dirty="0">
                <a:ea typeface="楷体_GB2312" pitchFamily="49" charset="-122"/>
              </a:rPr>
              <a:t>链中最近的引用点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活跃信息</a:t>
            </a:r>
            <a:r>
              <a:rPr lang="zh-CN" altLang="en-US" dirty="0">
                <a:solidFill>
                  <a:srgbClr val="800080"/>
                </a:solidFill>
              </a:rPr>
              <a:t> </a:t>
            </a: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300" dirty="0">
                <a:ea typeface="楷体_GB2312" pitchFamily="49" charset="-122"/>
              </a:rPr>
              <a:t>    基本块中的活跃信息链体现了以语句为单位的活跃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300" dirty="0">
                <a:ea typeface="楷体_GB2312" pitchFamily="49" charset="-122"/>
              </a:rPr>
              <a:t>    变量信息</a:t>
            </a:r>
          </a:p>
        </p:txBody>
      </p:sp>
      <p:sp>
        <p:nvSpPr>
          <p:cNvPr id="45071" name="Rectangle 1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45072" name="Text Box 1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6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7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9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0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1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2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3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684213" y="2041525"/>
            <a:ext cx="8332787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计算基本块内变量的待用信息和活跃信息</a:t>
            </a:r>
            <a:endParaRPr kumimoji="0" lang="zh-CN" altLang="en-US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为每个变量建立“待用信息”栏和“活跃信息”栏</a:t>
            </a:r>
            <a:endParaRPr kumimoji="0"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为“待用信息”栏和“活跃信息”栏置初值：即把“待用信息”栏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置“非待用”，对“活跃信息”栏按在基本块出口处是否为活跃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而置成“活跃”或“非活跃”（比如：假定临时变量都是非活跃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的，其他变量是活跃的）</a:t>
            </a:r>
          </a:p>
        </p:txBody>
      </p:sp>
      <p:sp>
        <p:nvSpPr>
          <p:cNvPr id="46095" name="Rectangle 1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46096" name="Text Box 1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23875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ChangeArrowheads="1"/>
          </p:cNvSpPr>
          <p:nvPr/>
        </p:nvSpPr>
        <p:spPr bwMode="auto">
          <a:xfrm>
            <a:off x="323850" y="1844675"/>
            <a:ext cx="8856663" cy="454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计算基本块内变量的待用信息和活跃信息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zh-CN" altLang="en-US" sz="2400" dirty="0" smtClean="0">
                <a:ea typeface="楷体_GB2312" pitchFamily="49" charset="-122"/>
              </a:rPr>
              <a:t>从基本块出口到入口对每个</a:t>
            </a:r>
            <a:r>
              <a:rPr lang="en-US" altLang="zh-CN" sz="2400" b="0" i="1" dirty="0" smtClean="0">
                <a:ea typeface="楷体_GB2312" pitchFamily="49" charset="-122"/>
              </a:rPr>
              <a:t>TAC</a:t>
            </a:r>
            <a:r>
              <a:rPr lang="en-US" altLang="zh-CN" sz="2400" dirty="0" smtClean="0">
                <a:ea typeface="楷体_GB2312" pitchFamily="49" charset="-122"/>
              </a:rPr>
              <a:t> </a:t>
            </a:r>
            <a:r>
              <a:rPr lang="zh-CN" altLang="en-US" sz="2400" dirty="0" smtClean="0">
                <a:ea typeface="楷体_GB2312" pitchFamily="49" charset="-122"/>
              </a:rPr>
              <a:t>语句</a:t>
            </a:r>
            <a:r>
              <a:rPr lang="zh-CN" altLang="en-US" sz="2400" b="0" dirty="0" smtClean="0">
                <a:ea typeface="楷体_GB2312" pitchFamily="49" charset="-122"/>
              </a:rPr>
              <a:t> </a:t>
            </a:r>
            <a:r>
              <a:rPr lang="en-US" altLang="zh-CN" sz="2400" b="0" dirty="0" err="1" smtClean="0">
                <a:ea typeface="楷体_GB2312" pitchFamily="49" charset="-122"/>
              </a:rPr>
              <a:t>i</a:t>
            </a:r>
            <a:r>
              <a:rPr lang="en-US" altLang="zh-CN" sz="2400" b="0" dirty="0" smtClean="0">
                <a:ea typeface="楷体_GB2312" pitchFamily="49" charset="-122"/>
              </a:rPr>
              <a:t>: A:=B op C</a:t>
            </a:r>
            <a:r>
              <a:rPr lang="en-US" altLang="zh-CN" sz="2400" dirty="0" smtClean="0">
                <a:ea typeface="楷体_GB2312" pitchFamily="49" charset="-122"/>
              </a:rPr>
              <a:t> </a:t>
            </a:r>
            <a:r>
              <a:rPr lang="zh-CN" altLang="en-US" sz="2400" dirty="0" smtClean="0">
                <a:ea typeface="楷体_GB2312" pitchFamily="49" charset="-122"/>
              </a:rPr>
              <a:t>依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 smtClean="0">
                <a:ea typeface="楷体_GB2312" pitchFamily="49" charset="-122"/>
              </a:rPr>
              <a:t>   次执行下述步骤：</a:t>
            </a:r>
            <a:endParaRPr kumimoji="0" lang="zh-CN" altLang="en-US" sz="24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300" dirty="0" smtClean="0">
                <a:solidFill>
                  <a:srgbClr val="000000"/>
                </a:solidFill>
                <a:latin typeface="宋体" pitchFamily="2" charset="-122"/>
              </a:rPr>
              <a:t>     </a:t>
            </a:r>
            <a:r>
              <a:rPr lang="en-US" altLang="zh-CN" sz="2000" b="0" dirty="0" smtClean="0">
                <a:ea typeface="楷体_GB2312" pitchFamily="49" charset="-122"/>
              </a:rPr>
              <a:t>a)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把变量</a:t>
            </a:r>
            <a:r>
              <a:rPr lang="en-US" altLang="zh-CN" sz="2000" b="0" dirty="0" smtClean="0">
                <a:ea typeface="楷体_GB2312" pitchFamily="49" charset="-122"/>
              </a:rPr>
              <a:t>A</a:t>
            </a:r>
            <a:r>
              <a:rPr lang="zh-CN" altLang="en-US" sz="2000" dirty="0" smtClean="0">
                <a:ea typeface="楷体_GB2312" pitchFamily="49" charset="-122"/>
              </a:rPr>
              <a:t>的待用信息和活跃信息附加到 </a:t>
            </a:r>
            <a:r>
              <a:rPr lang="en-US" altLang="zh-CN" sz="2000" b="0" i="1" dirty="0" smtClean="0">
                <a:ea typeface="楷体_GB2312" pitchFamily="49" charset="-122"/>
              </a:rPr>
              <a:t>TAC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语句 </a:t>
            </a:r>
            <a:r>
              <a:rPr lang="en-US" altLang="zh-CN" sz="2000" b="0" dirty="0" err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000" b="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上；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sz="1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 smtClean="0">
                <a:ea typeface="楷体_GB2312" pitchFamily="49" charset="-122"/>
              </a:rPr>
              <a:t>           </a:t>
            </a:r>
            <a:r>
              <a:rPr lang="en-US" altLang="zh-CN" sz="2000" b="0" dirty="0" smtClean="0">
                <a:ea typeface="楷体_GB2312" pitchFamily="49" charset="-122"/>
              </a:rPr>
              <a:t>b)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把变量</a:t>
            </a:r>
            <a:r>
              <a:rPr lang="en-US" altLang="zh-CN" sz="2000" b="0" dirty="0" smtClean="0">
                <a:ea typeface="楷体_GB2312" pitchFamily="49" charset="-122"/>
              </a:rPr>
              <a:t>A</a:t>
            </a:r>
            <a:r>
              <a:rPr lang="zh-CN" altLang="en-US" sz="2000" dirty="0" smtClean="0">
                <a:ea typeface="楷体_GB2312" pitchFamily="49" charset="-122"/>
              </a:rPr>
              <a:t>的待用信息栏和活跃信息栏分别置为</a:t>
            </a:r>
            <a:r>
              <a:rPr lang="zh-CN" altLang="en-US" sz="2000" b="0" dirty="0" smtClean="0">
                <a:ea typeface="楷体_GB2312" pitchFamily="49" charset="-122"/>
              </a:rPr>
              <a:t>“</a:t>
            </a:r>
            <a:r>
              <a:rPr lang="zh-CN" altLang="en-US" sz="2000" dirty="0" smtClean="0">
                <a:ea typeface="楷体_GB2312" pitchFamily="49" charset="-122"/>
              </a:rPr>
              <a:t>非待用</a:t>
            </a:r>
            <a:r>
              <a:rPr lang="zh-CN" altLang="en-US" sz="2000" b="0" dirty="0" smtClean="0">
                <a:ea typeface="楷体_GB2312" pitchFamily="49" charset="-122"/>
              </a:rPr>
              <a:t>”</a:t>
            </a:r>
            <a:r>
              <a:rPr lang="zh-CN" altLang="en-US" sz="2000" dirty="0" smtClean="0">
                <a:ea typeface="楷体_GB2312" pitchFamily="49" charset="-122"/>
              </a:rPr>
              <a:t>和</a:t>
            </a:r>
            <a:r>
              <a:rPr lang="zh-CN" altLang="en-US" sz="2000" b="0" dirty="0" smtClean="0">
                <a:ea typeface="楷体_GB2312" pitchFamily="49" charset="-122"/>
              </a:rPr>
              <a:t>“</a:t>
            </a:r>
            <a:r>
              <a:rPr lang="zh-CN" altLang="en-US" sz="2000" dirty="0" smtClean="0">
                <a:ea typeface="楷体_GB2312" pitchFamily="49" charset="-122"/>
              </a:rPr>
              <a:t>非活跃</a:t>
            </a:r>
            <a:r>
              <a:rPr lang="zh-CN" altLang="en-US" sz="2000" b="0" dirty="0" smtClean="0">
                <a:ea typeface="楷体_GB2312" pitchFamily="49" charset="-122"/>
              </a:rPr>
              <a:t>”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 smtClean="0">
                <a:ea typeface="楷体_GB2312" pitchFamily="49" charset="-122"/>
              </a:rPr>
              <a:t>              </a:t>
            </a:r>
            <a:r>
              <a:rPr lang="zh-CN" altLang="en-US" sz="2000" dirty="0" smtClean="0">
                <a:ea typeface="楷体_GB2312" pitchFamily="49" charset="-122"/>
              </a:rPr>
              <a:t>（由于在 </a:t>
            </a:r>
            <a:r>
              <a:rPr lang="en-US" altLang="zh-CN" sz="2000" b="0" dirty="0" err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000" b="0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中对 </a:t>
            </a:r>
            <a:r>
              <a:rPr lang="en-US" altLang="zh-CN" sz="2000" b="0" dirty="0" smtClean="0">
                <a:ea typeface="楷体_GB2312" pitchFamily="49" charset="-122"/>
              </a:rPr>
              <a:t>A </a:t>
            </a:r>
            <a:r>
              <a:rPr lang="zh-CN" altLang="en-US" sz="2000" dirty="0" smtClean="0">
                <a:ea typeface="楷体_GB2312" pitchFamily="49" charset="-122"/>
              </a:rPr>
              <a:t>的定值只能在 </a:t>
            </a:r>
            <a:r>
              <a:rPr lang="en-US" altLang="zh-CN" sz="2000" b="0" dirty="0" err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000" b="0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以后的</a:t>
            </a:r>
            <a:r>
              <a:rPr lang="en-US" altLang="zh-CN" sz="2000" b="0" i="1" dirty="0" smtClean="0">
                <a:ea typeface="楷体_GB2312" pitchFamily="49" charset="-122"/>
              </a:rPr>
              <a:t>TAC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语句才能引用，因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 smtClean="0">
                <a:ea typeface="楷体_GB2312" pitchFamily="49" charset="-122"/>
              </a:rPr>
              <a:t>                  而对</a:t>
            </a:r>
            <a:r>
              <a:rPr lang="en-US" altLang="zh-CN" sz="2000" b="0" dirty="0" err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000" b="0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以前的</a:t>
            </a:r>
            <a:r>
              <a:rPr lang="en-US" altLang="zh-CN" sz="2000" b="0" i="1" dirty="0" smtClean="0">
                <a:ea typeface="楷体_GB2312" pitchFamily="49" charset="-122"/>
              </a:rPr>
              <a:t>TAC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语句来说 </a:t>
            </a:r>
            <a:r>
              <a:rPr lang="en-US" altLang="zh-CN" sz="2000" b="0" dirty="0" smtClean="0">
                <a:ea typeface="楷体_GB2312" pitchFamily="49" charset="-122"/>
              </a:rPr>
              <a:t>A </a:t>
            </a:r>
            <a:r>
              <a:rPr lang="zh-CN" altLang="en-US" sz="2000" dirty="0" smtClean="0">
                <a:ea typeface="楷体_GB2312" pitchFamily="49" charset="-122"/>
              </a:rPr>
              <a:t>是不活跃也不可能是待用的）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sz="1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 smtClean="0">
                <a:ea typeface="楷体_GB2312" pitchFamily="49" charset="-122"/>
              </a:rPr>
              <a:t>           </a:t>
            </a:r>
            <a:r>
              <a:rPr lang="en-US" altLang="zh-CN" sz="2000" b="0" dirty="0" smtClean="0">
                <a:ea typeface="楷体_GB2312" pitchFamily="49" charset="-122"/>
              </a:rPr>
              <a:t>c)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把变量 </a:t>
            </a:r>
            <a:r>
              <a:rPr lang="en-US" altLang="zh-CN" sz="2000" b="0" dirty="0" smtClean="0">
                <a:ea typeface="楷体_GB2312" pitchFamily="49" charset="-122"/>
              </a:rPr>
              <a:t>B </a:t>
            </a:r>
            <a:r>
              <a:rPr lang="zh-CN" altLang="en-US" sz="2000" dirty="0" smtClean="0">
                <a:ea typeface="楷体_GB2312" pitchFamily="49" charset="-122"/>
              </a:rPr>
              <a:t>和 </a:t>
            </a:r>
            <a:r>
              <a:rPr lang="en-US" altLang="zh-CN" sz="2000" b="0" dirty="0" smtClean="0">
                <a:ea typeface="楷体_GB2312" pitchFamily="49" charset="-122"/>
              </a:rPr>
              <a:t>C </a:t>
            </a:r>
            <a:r>
              <a:rPr lang="zh-CN" altLang="en-US" sz="2000" dirty="0" smtClean="0">
                <a:ea typeface="楷体_GB2312" pitchFamily="49" charset="-122"/>
              </a:rPr>
              <a:t>的待用信息和活跃信息附加到 </a:t>
            </a:r>
            <a:r>
              <a:rPr lang="en-US" altLang="zh-CN" sz="2000" b="0" dirty="0" smtClean="0">
                <a:ea typeface="楷体_GB2312" pitchFamily="49" charset="-122"/>
              </a:rPr>
              <a:t>TAC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语句 </a:t>
            </a:r>
            <a:r>
              <a:rPr lang="en-US" altLang="zh-CN" sz="2000" b="0" dirty="0" err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000" b="0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上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sz="1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 smtClean="0">
                <a:ea typeface="楷体_GB2312" pitchFamily="49" charset="-122"/>
              </a:rPr>
              <a:t>           </a:t>
            </a:r>
            <a:r>
              <a:rPr lang="en-US" altLang="zh-CN" sz="2000" b="0" dirty="0">
                <a:ea typeface="楷体_GB2312" pitchFamily="49" charset="-122"/>
              </a:rPr>
              <a:t>d)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把变量 </a:t>
            </a:r>
            <a:r>
              <a:rPr lang="en-US" altLang="zh-CN" sz="2000" b="0" dirty="0">
                <a:ea typeface="楷体_GB2312" pitchFamily="49" charset="-122"/>
              </a:rPr>
              <a:t>B </a:t>
            </a:r>
            <a:r>
              <a:rPr lang="zh-CN" altLang="en-US" sz="2000" dirty="0">
                <a:ea typeface="楷体_GB2312" pitchFamily="49" charset="-122"/>
              </a:rPr>
              <a:t>和 </a:t>
            </a:r>
            <a:r>
              <a:rPr lang="en-US" altLang="zh-CN" sz="2000" b="0" dirty="0">
                <a:ea typeface="楷体_GB2312" pitchFamily="49" charset="-122"/>
              </a:rPr>
              <a:t>C </a:t>
            </a:r>
            <a:r>
              <a:rPr lang="zh-CN" altLang="en-US" sz="2000" dirty="0">
                <a:ea typeface="楷体_GB2312" pitchFamily="49" charset="-122"/>
              </a:rPr>
              <a:t>的待用信息栏置为“</a:t>
            </a:r>
            <a:r>
              <a:rPr lang="en-US" altLang="zh-CN" sz="2000" b="0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000" dirty="0">
                <a:ea typeface="楷体_GB2312" pitchFamily="49" charset="-122"/>
              </a:rPr>
              <a:t>” </a:t>
            </a:r>
            <a:r>
              <a:rPr lang="zh-CN" altLang="en-US" sz="2000" dirty="0">
                <a:ea typeface="楷体_GB2312" pitchFamily="49" charset="-122"/>
              </a:rPr>
              <a:t>，活跃信息栏置为 </a:t>
            </a:r>
            <a:r>
              <a:rPr lang="zh-CN" altLang="en-US" sz="2000" b="0" dirty="0">
                <a:ea typeface="楷体_GB2312" pitchFamily="49" charset="-122"/>
              </a:rPr>
              <a:t>“</a:t>
            </a:r>
            <a:r>
              <a:rPr lang="zh-CN" altLang="en-US" sz="2000" dirty="0">
                <a:ea typeface="楷体_GB2312" pitchFamily="49" charset="-122"/>
              </a:rPr>
              <a:t>活跃</a:t>
            </a:r>
            <a:r>
              <a:rPr lang="zh-CN" altLang="en-US" sz="2000" b="0" dirty="0">
                <a:ea typeface="楷体_GB2312" pitchFamily="49" charset="-122"/>
              </a:rPr>
              <a:t>”</a:t>
            </a:r>
            <a:r>
              <a:rPr lang="zh-CN" altLang="en-US" sz="2000" dirty="0">
                <a:ea typeface="楷体_GB2312" pitchFamily="49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注：以上</a:t>
            </a:r>
            <a:r>
              <a:rPr lang="en-US" altLang="zh-CN" sz="2000" b="0" dirty="0">
                <a:ea typeface="楷体_GB2312" pitchFamily="49" charset="-122"/>
              </a:rPr>
              <a:t>a), b), c), d</a:t>
            </a:r>
            <a:r>
              <a:rPr lang="zh-CN" altLang="en-US" sz="2000" b="0" dirty="0">
                <a:ea typeface="楷体_GB2312" pitchFamily="49" charset="-122"/>
              </a:rPr>
              <a:t>）</a:t>
            </a:r>
            <a:r>
              <a:rPr lang="zh-CN" altLang="en-US" sz="2000" dirty="0">
                <a:ea typeface="楷体_GB2312" pitchFamily="49" charset="-122"/>
              </a:rPr>
              <a:t>的次序不能颠倒。</a:t>
            </a:r>
          </a:p>
        </p:txBody>
      </p:sp>
      <p:sp>
        <p:nvSpPr>
          <p:cNvPr id="47107" name="Rectangle 1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4710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2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3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4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5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6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7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8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9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20" name="Text Box 1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50850" y="1125538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ChangeArrowheads="1"/>
          </p:cNvSpPr>
          <p:nvPr/>
        </p:nvSpPr>
        <p:spPr bwMode="auto">
          <a:xfrm>
            <a:off x="762000" y="1873250"/>
            <a:ext cx="8382000" cy="399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计算基本块内变量的待用信息和活跃信息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2000" dirty="0">
                <a:ea typeface="楷体_GB2312" pitchFamily="49" charset="-122"/>
              </a:rPr>
              <a:t>若用 </a:t>
            </a:r>
            <a:r>
              <a:rPr lang="en-US" altLang="zh-CN" sz="2000" b="0" dirty="0">
                <a:ea typeface="楷体_GB2312" pitchFamily="49" charset="-122"/>
              </a:rPr>
              <a:t>A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B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C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D </a:t>
            </a:r>
            <a:r>
              <a:rPr lang="zh-CN" altLang="en-US" sz="2000" dirty="0">
                <a:ea typeface="楷体_GB2312" pitchFamily="49" charset="-122"/>
              </a:rPr>
              <a:t>表示变量，用 </a:t>
            </a:r>
            <a:r>
              <a:rPr lang="en-US" altLang="zh-CN" sz="2000" b="0" dirty="0">
                <a:ea typeface="楷体_GB2312" pitchFamily="49" charset="-122"/>
              </a:rPr>
              <a:t>T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U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V </a:t>
            </a:r>
            <a:r>
              <a:rPr lang="zh-CN" altLang="en-US" sz="2000" dirty="0">
                <a:ea typeface="楷体_GB2312" pitchFamily="49" charset="-122"/>
              </a:rPr>
              <a:t>表示中间变量，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ea typeface="楷体_GB2312" pitchFamily="49" charset="-122"/>
              </a:rPr>
              <a:t>    设有</a:t>
            </a:r>
            <a:r>
              <a:rPr lang="en-US" altLang="zh-CN" sz="2000" b="0" i="1" dirty="0">
                <a:ea typeface="楷体_GB2312" pitchFamily="49" charset="-122"/>
              </a:rPr>
              <a:t>TAC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语句构成的如下基本块：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ea typeface="楷体_GB2312" pitchFamily="49" charset="-122"/>
              </a:rPr>
              <a:t>                            </a:t>
            </a:r>
            <a:r>
              <a:rPr lang="en-US" altLang="zh-CN" sz="2000" b="0" dirty="0">
                <a:ea typeface="楷体_GB2312" pitchFamily="49" charset="-122"/>
              </a:rPr>
              <a:t>T:=A-B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>
                <a:ea typeface="楷体_GB2312" pitchFamily="49" charset="-122"/>
              </a:rPr>
              <a:t>                            U</a:t>
            </a:r>
            <a:r>
              <a:rPr lang="en-US" altLang="zh-CN" sz="2000" b="0" dirty="0" smtClean="0">
                <a:ea typeface="楷体_GB2312" pitchFamily="49" charset="-122"/>
              </a:rPr>
              <a:t>:=D-C</a:t>
            </a:r>
            <a:endParaRPr lang="en-US" altLang="zh-CN" sz="2000" b="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>
                <a:ea typeface="楷体_GB2312" pitchFamily="49" charset="-122"/>
              </a:rPr>
              <a:t>                            V:=T+U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>
                <a:ea typeface="楷体_GB2312" pitchFamily="49" charset="-122"/>
              </a:rPr>
              <a:t>                            D:=V+U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b="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dirty="0">
                <a:ea typeface="楷体_GB2312" pitchFamily="49" charset="-122"/>
              </a:rPr>
              <a:t>          </a:t>
            </a:r>
            <a:r>
              <a:rPr lang="zh-CN" altLang="en-US" sz="2000" dirty="0">
                <a:ea typeface="楷体_GB2312" pitchFamily="49" charset="-122"/>
              </a:rPr>
              <a:t>其名字表中的待用信息和活跃信息见下页的表中，用</a:t>
            </a:r>
            <a:r>
              <a:rPr lang="zh-CN" altLang="en-US" sz="2000" b="0" dirty="0">
                <a:ea typeface="楷体_GB2312" pitchFamily="49" charset="-122"/>
              </a:rPr>
              <a:t>“</a:t>
            </a:r>
            <a:r>
              <a:rPr lang="en-US" altLang="zh-CN" sz="2000" b="0" dirty="0">
                <a:ea typeface="楷体_GB2312" pitchFamily="49" charset="-122"/>
              </a:rPr>
              <a:t>F”</a:t>
            </a:r>
            <a:r>
              <a:rPr lang="zh-CN" altLang="en-US" sz="2000" dirty="0">
                <a:ea typeface="楷体_GB2312" pitchFamily="49" charset="-122"/>
              </a:rPr>
              <a:t>表示</a:t>
            </a:r>
            <a:r>
              <a:rPr lang="zh-CN" altLang="en-US" sz="2000" b="0" dirty="0">
                <a:ea typeface="楷体_GB2312" pitchFamily="49" charset="-122"/>
              </a:rPr>
              <a:t>“</a:t>
            </a:r>
            <a:r>
              <a:rPr lang="zh-CN" altLang="en-US" sz="2000" dirty="0">
                <a:ea typeface="楷体_GB2312" pitchFamily="49" charset="-122"/>
              </a:rPr>
              <a:t>非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待用</a:t>
            </a:r>
            <a:r>
              <a:rPr lang="zh-CN" altLang="en-US" sz="2000" b="0" dirty="0">
                <a:ea typeface="楷体_GB2312" pitchFamily="49" charset="-122"/>
              </a:rPr>
              <a:t>” </a:t>
            </a:r>
            <a:r>
              <a:rPr lang="zh-CN" altLang="en-US" sz="2000" dirty="0">
                <a:ea typeface="楷体_GB2312" pitchFamily="49" charset="-122"/>
              </a:rPr>
              <a:t>以及 </a:t>
            </a:r>
            <a:r>
              <a:rPr lang="zh-CN" altLang="en-US" sz="2000" b="0" dirty="0">
                <a:ea typeface="楷体_GB2312" pitchFamily="49" charset="-122"/>
              </a:rPr>
              <a:t>“</a:t>
            </a:r>
            <a:r>
              <a:rPr lang="zh-CN" altLang="en-US" sz="2000" dirty="0">
                <a:ea typeface="楷体_GB2312" pitchFamily="49" charset="-122"/>
              </a:rPr>
              <a:t>非活跃</a:t>
            </a:r>
            <a:r>
              <a:rPr lang="zh-CN" altLang="en-US" sz="2000" b="0" dirty="0">
                <a:ea typeface="楷体_GB2312" pitchFamily="49" charset="-122"/>
              </a:rPr>
              <a:t>”</a:t>
            </a:r>
            <a:r>
              <a:rPr lang="zh-CN" altLang="en-US" sz="2000" dirty="0">
                <a:ea typeface="楷体_GB2312" pitchFamily="49" charset="-122"/>
              </a:rPr>
              <a:t>，用 </a:t>
            </a:r>
            <a:r>
              <a:rPr lang="zh-CN" altLang="en-US" sz="2000" b="0" dirty="0">
                <a:ea typeface="楷体_GB2312" pitchFamily="49" charset="-122"/>
              </a:rPr>
              <a:t>“</a:t>
            </a:r>
            <a:r>
              <a:rPr lang="en-US" altLang="zh-CN" sz="2000" b="0" dirty="0">
                <a:ea typeface="楷体_GB2312" pitchFamily="49" charset="-122"/>
              </a:rPr>
              <a:t>L”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表示活跃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ea typeface="楷体_GB2312" pitchFamily="49" charset="-122"/>
              </a:rPr>
              <a:t>          </a:t>
            </a:r>
            <a:r>
              <a:rPr lang="en-US" altLang="zh-CN" sz="2000" b="0" dirty="0">
                <a:ea typeface="楷体_GB2312" pitchFamily="49" charset="-122"/>
              </a:rPr>
              <a:t>(1)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(2)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(3)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(4)</a:t>
            </a:r>
            <a:r>
              <a:rPr lang="zh-CN" altLang="en-US" sz="2000" dirty="0">
                <a:ea typeface="楷体_GB2312" pitchFamily="49" charset="-122"/>
              </a:rPr>
              <a:t>表示</a:t>
            </a:r>
            <a:r>
              <a:rPr lang="en-US" altLang="zh-CN" sz="2000" b="0" i="1" dirty="0">
                <a:ea typeface="楷体_GB2312" pitchFamily="49" charset="-122"/>
              </a:rPr>
              <a:t>TAC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语句序号</a:t>
            </a:r>
          </a:p>
        </p:txBody>
      </p:sp>
      <p:sp>
        <p:nvSpPr>
          <p:cNvPr id="48131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2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4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5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6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7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8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9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0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1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2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3" name="Rectangle 1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48144" name="Text Box 1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125538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其他有用的数据流信息</a:t>
            </a:r>
            <a:endParaRPr lang="zh-CN" altLang="en-US" b="0"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914400" y="10668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（接上页）</a:t>
            </a:r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1987550" y="1493838"/>
          <a:ext cx="5392738" cy="4878387"/>
        </p:xfrm>
        <a:graphic>
          <a:graphicData uri="http://schemas.openxmlformats.org/presentationml/2006/ole">
            <p:oleObj spid="_x0000_s49155" name="Document" r:id="rId4" imgW="6568428" imgH="5507345" progId="Word.Document.8">
              <p:embed/>
            </p:oleObj>
          </a:graphicData>
        </a:graphic>
      </p:graphicFrame>
      <p:sp>
        <p:nvSpPr>
          <p:cNvPr id="4915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0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1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2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3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4" name="AutoShape 1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5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6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7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8" name="Rectangle 17"/>
          <p:cNvSpPr>
            <a:spLocks noChangeArrowheads="1"/>
          </p:cNvSpPr>
          <p:nvPr/>
        </p:nvSpPr>
        <p:spPr bwMode="auto">
          <a:xfrm>
            <a:off x="1524000" y="188913"/>
            <a:ext cx="3840163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数据流分析基础</a:t>
            </a:r>
          </a:p>
        </p:txBody>
      </p:sp>
      <p:sp>
        <p:nvSpPr>
          <p:cNvPr id="753721" name="Rectangle 57"/>
          <p:cNvSpPr>
            <a:spLocks noChangeArrowheads="1"/>
          </p:cNvSpPr>
          <p:nvPr/>
        </p:nvSpPr>
        <p:spPr bwMode="auto">
          <a:xfrm>
            <a:off x="2795588" y="6137275"/>
            <a:ext cx="1069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D</a:t>
            </a:r>
            <a:r>
              <a:rPr lang="en-US" altLang="zh-CN" sz="1600" baseline="30000"/>
              <a:t> </a:t>
            </a:r>
            <a:r>
              <a:rPr lang="en-US" altLang="zh-CN" sz="1600"/>
              <a:t>:=V + U</a:t>
            </a:r>
          </a:p>
        </p:txBody>
      </p:sp>
      <p:sp>
        <p:nvSpPr>
          <p:cNvPr id="753773" name="Text Box 109"/>
          <p:cNvSpPr txBox="1">
            <a:spLocks noChangeArrowheads="1"/>
          </p:cNvSpPr>
          <p:nvPr/>
        </p:nvSpPr>
        <p:spPr bwMode="auto">
          <a:xfrm>
            <a:off x="4624388" y="2946400"/>
            <a:ext cx="379412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 dirty="0"/>
              <a:t>(1)</a:t>
            </a:r>
          </a:p>
        </p:txBody>
      </p:sp>
      <p:sp>
        <p:nvSpPr>
          <p:cNvPr id="753774" name="Text Box 110"/>
          <p:cNvSpPr txBox="1">
            <a:spLocks noChangeArrowheads="1"/>
          </p:cNvSpPr>
          <p:nvPr/>
        </p:nvSpPr>
        <p:spPr bwMode="auto">
          <a:xfrm>
            <a:off x="3132138" y="3449638"/>
            <a:ext cx="30797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F</a:t>
            </a:r>
          </a:p>
        </p:txBody>
      </p:sp>
      <p:sp>
        <p:nvSpPr>
          <p:cNvPr id="753775" name="Text Box 111"/>
          <p:cNvSpPr txBox="1">
            <a:spLocks noChangeArrowheads="1"/>
          </p:cNvSpPr>
          <p:nvPr/>
        </p:nvSpPr>
        <p:spPr bwMode="auto">
          <a:xfrm>
            <a:off x="3059113" y="3933825"/>
            <a:ext cx="452437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(4)</a:t>
            </a:r>
          </a:p>
        </p:txBody>
      </p:sp>
      <p:sp>
        <p:nvSpPr>
          <p:cNvPr id="753776" name="Text Box 112"/>
          <p:cNvSpPr txBox="1">
            <a:spLocks noChangeArrowheads="1"/>
          </p:cNvSpPr>
          <p:nvPr/>
        </p:nvSpPr>
        <p:spPr bwMode="auto">
          <a:xfrm>
            <a:off x="3059113" y="4149725"/>
            <a:ext cx="452437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(4)</a:t>
            </a:r>
          </a:p>
        </p:txBody>
      </p:sp>
      <p:sp>
        <p:nvSpPr>
          <p:cNvPr id="753777" name="Text Box 113"/>
          <p:cNvSpPr txBox="1">
            <a:spLocks noChangeArrowheads="1"/>
          </p:cNvSpPr>
          <p:nvPr/>
        </p:nvSpPr>
        <p:spPr bwMode="auto">
          <a:xfrm>
            <a:off x="5651500" y="3449638"/>
            <a:ext cx="30797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F</a:t>
            </a:r>
          </a:p>
        </p:txBody>
      </p:sp>
      <p:sp>
        <p:nvSpPr>
          <p:cNvPr id="753778" name="Text Box 114"/>
          <p:cNvSpPr txBox="1">
            <a:spLocks noChangeArrowheads="1"/>
          </p:cNvSpPr>
          <p:nvPr/>
        </p:nvSpPr>
        <p:spPr bwMode="auto">
          <a:xfrm>
            <a:off x="5651500" y="3933825"/>
            <a:ext cx="360363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L</a:t>
            </a:r>
          </a:p>
        </p:txBody>
      </p:sp>
      <p:sp>
        <p:nvSpPr>
          <p:cNvPr id="753779" name="Text Box 115"/>
          <p:cNvSpPr txBox="1">
            <a:spLocks noChangeArrowheads="1"/>
          </p:cNvSpPr>
          <p:nvPr/>
        </p:nvSpPr>
        <p:spPr bwMode="auto">
          <a:xfrm>
            <a:off x="5651500" y="4170363"/>
            <a:ext cx="360363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L</a:t>
            </a:r>
          </a:p>
        </p:txBody>
      </p:sp>
      <p:sp>
        <p:nvSpPr>
          <p:cNvPr id="753780" name="Text Box 116"/>
          <p:cNvSpPr txBox="1">
            <a:spLocks noChangeArrowheads="1"/>
          </p:cNvSpPr>
          <p:nvPr/>
        </p:nvSpPr>
        <p:spPr bwMode="auto">
          <a:xfrm>
            <a:off x="7000875" y="3716338"/>
            <a:ext cx="30797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F</a:t>
            </a:r>
          </a:p>
        </p:txBody>
      </p:sp>
      <p:sp>
        <p:nvSpPr>
          <p:cNvPr id="753781" name="Text Box 117"/>
          <p:cNvSpPr txBox="1">
            <a:spLocks noChangeArrowheads="1"/>
          </p:cNvSpPr>
          <p:nvPr/>
        </p:nvSpPr>
        <p:spPr bwMode="auto">
          <a:xfrm>
            <a:off x="6969125" y="2997200"/>
            <a:ext cx="339725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L</a:t>
            </a:r>
          </a:p>
        </p:txBody>
      </p:sp>
      <p:sp>
        <p:nvSpPr>
          <p:cNvPr id="753782" name="Text Box 118"/>
          <p:cNvSpPr txBox="1">
            <a:spLocks noChangeArrowheads="1"/>
          </p:cNvSpPr>
          <p:nvPr/>
        </p:nvSpPr>
        <p:spPr bwMode="auto">
          <a:xfrm>
            <a:off x="3616325" y="4170363"/>
            <a:ext cx="30797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F</a:t>
            </a:r>
          </a:p>
        </p:txBody>
      </p:sp>
      <p:sp>
        <p:nvSpPr>
          <p:cNvPr id="753783" name="Text Box 119"/>
          <p:cNvSpPr txBox="1">
            <a:spLocks noChangeArrowheads="1"/>
          </p:cNvSpPr>
          <p:nvPr/>
        </p:nvSpPr>
        <p:spPr bwMode="auto">
          <a:xfrm>
            <a:off x="3563938" y="3933825"/>
            <a:ext cx="379412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(3)</a:t>
            </a:r>
          </a:p>
        </p:txBody>
      </p:sp>
      <p:sp>
        <p:nvSpPr>
          <p:cNvPr id="753784" name="Text Box 120"/>
          <p:cNvSpPr txBox="1">
            <a:spLocks noChangeArrowheads="1"/>
          </p:cNvSpPr>
          <p:nvPr/>
        </p:nvSpPr>
        <p:spPr bwMode="auto">
          <a:xfrm>
            <a:off x="3563938" y="3665538"/>
            <a:ext cx="379412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(3)</a:t>
            </a:r>
          </a:p>
        </p:txBody>
      </p:sp>
      <p:sp>
        <p:nvSpPr>
          <p:cNvPr id="753785" name="Text Box 121"/>
          <p:cNvSpPr txBox="1">
            <a:spLocks noChangeArrowheads="1"/>
          </p:cNvSpPr>
          <p:nvPr/>
        </p:nvSpPr>
        <p:spPr bwMode="auto">
          <a:xfrm>
            <a:off x="6084888" y="4170363"/>
            <a:ext cx="30797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F</a:t>
            </a:r>
          </a:p>
        </p:txBody>
      </p:sp>
      <p:sp>
        <p:nvSpPr>
          <p:cNvPr id="753786" name="Text Box 122"/>
          <p:cNvSpPr txBox="1">
            <a:spLocks noChangeArrowheads="1"/>
          </p:cNvSpPr>
          <p:nvPr/>
        </p:nvSpPr>
        <p:spPr bwMode="auto">
          <a:xfrm>
            <a:off x="6084888" y="3716338"/>
            <a:ext cx="357187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L</a:t>
            </a:r>
          </a:p>
        </p:txBody>
      </p:sp>
      <p:sp>
        <p:nvSpPr>
          <p:cNvPr id="753787" name="Text Box 123"/>
          <p:cNvSpPr txBox="1">
            <a:spLocks noChangeArrowheads="1"/>
          </p:cNvSpPr>
          <p:nvPr/>
        </p:nvSpPr>
        <p:spPr bwMode="auto">
          <a:xfrm>
            <a:off x="6084888" y="3954463"/>
            <a:ext cx="33972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L</a:t>
            </a:r>
          </a:p>
        </p:txBody>
      </p:sp>
      <p:sp>
        <p:nvSpPr>
          <p:cNvPr id="753788" name="Text Box 124"/>
          <p:cNvSpPr txBox="1">
            <a:spLocks noChangeArrowheads="1"/>
          </p:cNvSpPr>
          <p:nvPr/>
        </p:nvSpPr>
        <p:spPr bwMode="auto">
          <a:xfrm>
            <a:off x="6516688" y="3933825"/>
            <a:ext cx="307975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F</a:t>
            </a:r>
          </a:p>
        </p:txBody>
      </p:sp>
      <p:sp>
        <p:nvSpPr>
          <p:cNvPr id="753789" name="Text Box 125"/>
          <p:cNvSpPr txBox="1">
            <a:spLocks noChangeArrowheads="1"/>
          </p:cNvSpPr>
          <p:nvPr/>
        </p:nvSpPr>
        <p:spPr bwMode="auto">
          <a:xfrm>
            <a:off x="6537325" y="3429000"/>
            <a:ext cx="33972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 dirty="0"/>
              <a:t>L</a:t>
            </a:r>
          </a:p>
        </p:txBody>
      </p:sp>
      <p:sp>
        <p:nvSpPr>
          <p:cNvPr id="753790" name="Text Box 126"/>
          <p:cNvSpPr txBox="1">
            <a:spLocks noChangeArrowheads="1"/>
          </p:cNvSpPr>
          <p:nvPr/>
        </p:nvSpPr>
        <p:spPr bwMode="auto">
          <a:xfrm>
            <a:off x="6537325" y="3213100"/>
            <a:ext cx="339725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L</a:t>
            </a:r>
          </a:p>
        </p:txBody>
      </p:sp>
      <p:sp>
        <p:nvSpPr>
          <p:cNvPr id="753791" name="Text Box 127"/>
          <p:cNvSpPr txBox="1">
            <a:spLocks noChangeArrowheads="1"/>
          </p:cNvSpPr>
          <p:nvPr/>
        </p:nvSpPr>
        <p:spPr bwMode="auto">
          <a:xfrm>
            <a:off x="4192588" y="3954463"/>
            <a:ext cx="30797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 dirty="0"/>
              <a:t>F</a:t>
            </a:r>
          </a:p>
        </p:txBody>
      </p:sp>
      <p:sp>
        <p:nvSpPr>
          <p:cNvPr id="753792" name="Text Box 128"/>
          <p:cNvSpPr txBox="1">
            <a:spLocks noChangeArrowheads="1"/>
          </p:cNvSpPr>
          <p:nvPr/>
        </p:nvSpPr>
        <p:spPr bwMode="auto">
          <a:xfrm>
            <a:off x="4121150" y="3449761"/>
            <a:ext cx="379413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 dirty="0"/>
              <a:t>(</a:t>
            </a:r>
            <a:r>
              <a:rPr lang="en-US" altLang="zh-CN" sz="1600" dirty="0" smtClean="0"/>
              <a:t>2)</a:t>
            </a:r>
            <a:endParaRPr lang="en-US" altLang="zh-CN" sz="1600" dirty="0"/>
          </a:p>
        </p:txBody>
      </p:sp>
      <p:sp>
        <p:nvSpPr>
          <p:cNvPr id="753793" name="Text Box 129"/>
          <p:cNvSpPr txBox="1">
            <a:spLocks noChangeArrowheads="1"/>
          </p:cNvSpPr>
          <p:nvPr/>
        </p:nvSpPr>
        <p:spPr bwMode="auto">
          <a:xfrm>
            <a:off x="4121150" y="3213100"/>
            <a:ext cx="379413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(2)</a:t>
            </a:r>
          </a:p>
        </p:txBody>
      </p:sp>
      <p:sp>
        <p:nvSpPr>
          <p:cNvPr id="753794" name="Text Box 130"/>
          <p:cNvSpPr txBox="1">
            <a:spLocks noChangeArrowheads="1"/>
          </p:cNvSpPr>
          <p:nvPr/>
        </p:nvSpPr>
        <p:spPr bwMode="auto">
          <a:xfrm>
            <a:off x="4624388" y="2708275"/>
            <a:ext cx="379412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(1)</a:t>
            </a:r>
          </a:p>
        </p:txBody>
      </p:sp>
      <p:sp>
        <p:nvSpPr>
          <p:cNvPr id="753796" name="Text Box 132"/>
          <p:cNvSpPr txBox="1">
            <a:spLocks noChangeArrowheads="1"/>
          </p:cNvSpPr>
          <p:nvPr/>
        </p:nvSpPr>
        <p:spPr bwMode="auto">
          <a:xfrm>
            <a:off x="4695825" y="3716338"/>
            <a:ext cx="30797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F</a:t>
            </a:r>
          </a:p>
        </p:txBody>
      </p:sp>
      <p:sp>
        <p:nvSpPr>
          <p:cNvPr id="753797" name="Text Box 133"/>
          <p:cNvSpPr txBox="1">
            <a:spLocks noChangeArrowheads="1"/>
          </p:cNvSpPr>
          <p:nvPr/>
        </p:nvSpPr>
        <p:spPr bwMode="auto">
          <a:xfrm>
            <a:off x="6969125" y="2728913"/>
            <a:ext cx="339725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en-US" altLang="zh-CN" sz="1600"/>
              <a:t>L</a:t>
            </a:r>
          </a:p>
        </p:txBody>
      </p:sp>
      <p:sp>
        <p:nvSpPr>
          <p:cNvPr id="753798" name="Rectangle 134"/>
          <p:cNvSpPr>
            <a:spLocks noChangeArrowheads="1"/>
          </p:cNvSpPr>
          <p:nvPr/>
        </p:nvSpPr>
        <p:spPr bwMode="auto">
          <a:xfrm>
            <a:off x="2792413" y="5921375"/>
            <a:ext cx="1104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V := T</a:t>
            </a:r>
            <a:r>
              <a:rPr lang="en-US" altLang="zh-CN" sz="1600" baseline="30000"/>
              <a:t> </a:t>
            </a:r>
            <a:r>
              <a:rPr lang="en-US" altLang="zh-CN" sz="1600"/>
              <a:t>+ U</a:t>
            </a:r>
          </a:p>
        </p:txBody>
      </p:sp>
      <p:sp>
        <p:nvSpPr>
          <p:cNvPr id="753799" name="Rectangle 135"/>
          <p:cNvSpPr>
            <a:spLocks noChangeArrowheads="1"/>
          </p:cNvSpPr>
          <p:nvPr/>
        </p:nvSpPr>
        <p:spPr bwMode="auto">
          <a:xfrm>
            <a:off x="2771775" y="5660152"/>
            <a:ext cx="121860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U</a:t>
            </a:r>
            <a:r>
              <a:rPr lang="en-US" altLang="zh-CN" sz="1600" baseline="30000" dirty="0"/>
              <a:t> </a:t>
            </a:r>
            <a:r>
              <a:rPr lang="en-US" altLang="zh-CN" sz="1600" dirty="0"/>
              <a:t>:= </a:t>
            </a:r>
            <a:r>
              <a:rPr lang="en-US" altLang="zh-CN" sz="1600" dirty="0" smtClean="0"/>
              <a:t>D</a:t>
            </a:r>
            <a:r>
              <a:rPr lang="en-US" altLang="zh-CN" sz="1600" baseline="30000" dirty="0" smtClean="0"/>
              <a:t> </a:t>
            </a:r>
            <a:r>
              <a:rPr lang="en-US" altLang="zh-CN" sz="1600" dirty="0"/>
              <a:t>– C</a:t>
            </a:r>
            <a:r>
              <a:rPr lang="en-US" altLang="zh-CN" sz="1600" baseline="30000" dirty="0"/>
              <a:t> </a:t>
            </a:r>
            <a:r>
              <a:rPr lang="en-US" altLang="zh-CN" sz="1600" dirty="0"/>
              <a:t> </a:t>
            </a:r>
          </a:p>
        </p:txBody>
      </p:sp>
      <p:sp>
        <p:nvSpPr>
          <p:cNvPr id="753800" name="Rectangle 136"/>
          <p:cNvSpPr>
            <a:spLocks noChangeArrowheads="1"/>
          </p:cNvSpPr>
          <p:nvPr/>
        </p:nvSpPr>
        <p:spPr bwMode="auto">
          <a:xfrm>
            <a:off x="2771775" y="5416550"/>
            <a:ext cx="1185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T</a:t>
            </a:r>
            <a:r>
              <a:rPr lang="en-US" altLang="zh-CN" sz="1600" baseline="30000"/>
              <a:t> </a:t>
            </a:r>
            <a:r>
              <a:rPr lang="en-US" altLang="zh-CN" sz="1600"/>
              <a:t>:= A</a:t>
            </a:r>
            <a:r>
              <a:rPr lang="en-US" altLang="zh-CN" sz="1600" baseline="30000"/>
              <a:t> </a:t>
            </a:r>
            <a:r>
              <a:rPr lang="en-US" altLang="zh-CN" sz="1600"/>
              <a:t>– B</a:t>
            </a:r>
            <a:r>
              <a:rPr lang="en-US" altLang="zh-CN" sz="1600" baseline="30000"/>
              <a:t> </a:t>
            </a:r>
            <a:r>
              <a:rPr lang="en-US" altLang="zh-CN" sz="1600"/>
              <a:t> </a:t>
            </a:r>
          </a:p>
        </p:txBody>
      </p:sp>
      <p:sp>
        <p:nvSpPr>
          <p:cNvPr id="753801" name="Rectangle 137"/>
          <p:cNvSpPr>
            <a:spLocks noChangeArrowheads="1"/>
          </p:cNvSpPr>
          <p:nvPr/>
        </p:nvSpPr>
        <p:spPr bwMode="auto">
          <a:xfrm>
            <a:off x="4738688" y="6137275"/>
            <a:ext cx="1470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D</a:t>
            </a:r>
            <a:r>
              <a:rPr lang="en-US" altLang="zh-CN" sz="1600" baseline="30000" dirty="0"/>
              <a:t>FL</a:t>
            </a:r>
            <a:r>
              <a:rPr lang="en-US" altLang="zh-CN" sz="1600" dirty="0"/>
              <a:t>:= V</a:t>
            </a:r>
            <a:r>
              <a:rPr lang="en-US" altLang="zh-CN" sz="1600" baseline="30000" dirty="0"/>
              <a:t>   </a:t>
            </a:r>
            <a:r>
              <a:rPr lang="en-US" altLang="zh-CN" sz="1600" dirty="0"/>
              <a:t>+  U</a:t>
            </a:r>
            <a:r>
              <a:rPr lang="en-US" altLang="zh-CN" sz="1600" baseline="30000" dirty="0"/>
              <a:t> </a:t>
            </a:r>
            <a:r>
              <a:rPr lang="en-US" altLang="zh-CN" sz="1600" dirty="0"/>
              <a:t> </a:t>
            </a:r>
          </a:p>
        </p:txBody>
      </p:sp>
      <p:sp>
        <p:nvSpPr>
          <p:cNvPr id="753802" name="Rectangle 138"/>
          <p:cNvSpPr>
            <a:spLocks noChangeArrowheads="1"/>
          </p:cNvSpPr>
          <p:nvPr/>
        </p:nvSpPr>
        <p:spPr bwMode="auto">
          <a:xfrm>
            <a:off x="6754813" y="6137275"/>
            <a:ext cx="1489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D</a:t>
            </a:r>
            <a:r>
              <a:rPr lang="en-US" altLang="zh-CN" sz="1600" baseline="30000" dirty="0"/>
              <a:t>FL</a:t>
            </a:r>
            <a:r>
              <a:rPr lang="en-US" altLang="zh-CN" sz="1600" dirty="0"/>
              <a:t>:=V</a:t>
            </a:r>
            <a:r>
              <a:rPr lang="en-US" altLang="zh-CN" sz="1600" baseline="30000" dirty="0"/>
              <a:t>FF</a:t>
            </a:r>
            <a:r>
              <a:rPr lang="en-US" altLang="zh-CN" sz="1600" dirty="0"/>
              <a:t>+U</a:t>
            </a:r>
            <a:r>
              <a:rPr lang="en-US" altLang="zh-CN" sz="1600" baseline="30000" dirty="0"/>
              <a:t>FF</a:t>
            </a:r>
            <a:r>
              <a:rPr lang="en-US" altLang="zh-CN" sz="1600" dirty="0"/>
              <a:t> </a:t>
            </a:r>
          </a:p>
        </p:txBody>
      </p:sp>
      <p:sp>
        <p:nvSpPr>
          <p:cNvPr id="753803" name="Rectangle 139"/>
          <p:cNvSpPr>
            <a:spLocks noChangeArrowheads="1"/>
          </p:cNvSpPr>
          <p:nvPr/>
        </p:nvSpPr>
        <p:spPr bwMode="auto">
          <a:xfrm>
            <a:off x="4716463" y="5921375"/>
            <a:ext cx="1493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V</a:t>
            </a:r>
            <a:r>
              <a:rPr lang="en-US" altLang="zh-CN" sz="1600" baseline="30000" dirty="0"/>
              <a:t>(4)L</a:t>
            </a:r>
            <a:r>
              <a:rPr lang="en-US" altLang="zh-CN" sz="1600" dirty="0"/>
              <a:t>:= T</a:t>
            </a:r>
            <a:r>
              <a:rPr lang="en-US" altLang="zh-CN" sz="1600" baseline="30000" dirty="0"/>
              <a:t>  </a:t>
            </a:r>
            <a:r>
              <a:rPr lang="en-US" altLang="zh-CN" sz="1600" dirty="0"/>
              <a:t>+  U</a:t>
            </a:r>
            <a:r>
              <a:rPr lang="en-US" altLang="zh-CN" sz="1600" baseline="30000" dirty="0"/>
              <a:t> </a:t>
            </a:r>
            <a:r>
              <a:rPr lang="en-US" altLang="zh-CN" sz="1600" dirty="0"/>
              <a:t> </a:t>
            </a:r>
          </a:p>
        </p:txBody>
      </p:sp>
      <p:sp>
        <p:nvSpPr>
          <p:cNvPr id="753804" name="Rectangle 140"/>
          <p:cNvSpPr>
            <a:spLocks noChangeArrowheads="1"/>
          </p:cNvSpPr>
          <p:nvPr/>
        </p:nvSpPr>
        <p:spPr bwMode="auto">
          <a:xfrm>
            <a:off x="6732588" y="5921375"/>
            <a:ext cx="1635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V</a:t>
            </a:r>
            <a:r>
              <a:rPr lang="en-US" altLang="zh-CN" sz="1600" baseline="30000" dirty="0"/>
              <a:t>(4)L</a:t>
            </a:r>
            <a:r>
              <a:rPr lang="en-US" altLang="zh-CN" sz="1600" dirty="0"/>
              <a:t>:=T</a:t>
            </a:r>
            <a:r>
              <a:rPr lang="en-US" altLang="zh-CN" sz="1600" baseline="30000" dirty="0"/>
              <a:t>FF</a:t>
            </a:r>
            <a:r>
              <a:rPr lang="en-US" altLang="zh-CN" sz="1600" dirty="0"/>
              <a:t>+U</a:t>
            </a:r>
            <a:r>
              <a:rPr lang="en-US" altLang="zh-CN" sz="1600" baseline="30000" dirty="0"/>
              <a:t>(4)L</a:t>
            </a:r>
            <a:r>
              <a:rPr lang="en-US" altLang="zh-CN" sz="1600" dirty="0"/>
              <a:t> </a:t>
            </a:r>
          </a:p>
        </p:txBody>
      </p:sp>
      <p:sp>
        <p:nvSpPr>
          <p:cNvPr id="753805" name="Rectangle 141"/>
          <p:cNvSpPr>
            <a:spLocks noChangeArrowheads="1"/>
          </p:cNvSpPr>
          <p:nvPr/>
        </p:nvSpPr>
        <p:spPr bwMode="auto">
          <a:xfrm>
            <a:off x="4716463" y="5660152"/>
            <a:ext cx="14863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U</a:t>
            </a:r>
            <a:r>
              <a:rPr lang="en-US" altLang="zh-CN" sz="1600" baseline="30000" dirty="0"/>
              <a:t>(3)L</a:t>
            </a:r>
            <a:r>
              <a:rPr lang="en-US" altLang="zh-CN" sz="1600" dirty="0"/>
              <a:t>:= </a:t>
            </a:r>
            <a:r>
              <a:rPr lang="en-US" altLang="zh-CN" sz="1600" dirty="0" smtClean="0"/>
              <a:t>D</a:t>
            </a:r>
            <a:r>
              <a:rPr lang="en-US" altLang="zh-CN" sz="1600" baseline="30000" dirty="0" smtClean="0"/>
              <a:t> </a:t>
            </a:r>
            <a:r>
              <a:rPr lang="en-US" altLang="zh-CN" sz="1600" dirty="0"/>
              <a:t>–  C</a:t>
            </a:r>
            <a:r>
              <a:rPr lang="en-US" altLang="zh-CN" sz="1600" baseline="30000" dirty="0"/>
              <a:t> </a:t>
            </a:r>
            <a:r>
              <a:rPr lang="en-US" altLang="zh-CN" sz="1600" dirty="0"/>
              <a:t> </a:t>
            </a:r>
          </a:p>
        </p:txBody>
      </p:sp>
      <p:sp>
        <p:nvSpPr>
          <p:cNvPr id="753806" name="Rectangle 142"/>
          <p:cNvSpPr>
            <a:spLocks noChangeArrowheads="1"/>
          </p:cNvSpPr>
          <p:nvPr/>
        </p:nvSpPr>
        <p:spPr bwMode="auto">
          <a:xfrm>
            <a:off x="6732588" y="5660152"/>
            <a:ext cx="152227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U</a:t>
            </a:r>
            <a:r>
              <a:rPr lang="en-US" altLang="zh-CN" sz="1600" baseline="30000" dirty="0"/>
              <a:t>(3)L</a:t>
            </a:r>
            <a:r>
              <a:rPr lang="en-US" altLang="zh-CN" sz="1600" dirty="0" smtClean="0"/>
              <a:t>:=D</a:t>
            </a:r>
            <a:r>
              <a:rPr lang="en-US" altLang="zh-CN" sz="1600" baseline="30000" dirty="0" smtClean="0"/>
              <a:t>FF</a:t>
            </a:r>
            <a:r>
              <a:rPr lang="en-US" altLang="zh-CN" sz="1600" dirty="0" smtClean="0"/>
              <a:t>-C</a:t>
            </a:r>
            <a:r>
              <a:rPr lang="en-US" altLang="zh-CN" sz="1600" baseline="30000" dirty="0" smtClean="0"/>
              <a:t>FL</a:t>
            </a:r>
            <a:r>
              <a:rPr lang="en-US" altLang="zh-CN" sz="1600" dirty="0" smtClean="0"/>
              <a:t> </a:t>
            </a:r>
            <a:endParaRPr lang="en-US" altLang="zh-CN" sz="1600" dirty="0"/>
          </a:p>
        </p:txBody>
      </p:sp>
      <p:sp>
        <p:nvSpPr>
          <p:cNvPr id="753807" name="Rectangle 143"/>
          <p:cNvSpPr>
            <a:spLocks noChangeArrowheads="1"/>
          </p:cNvSpPr>
          <p:nvPr/>
        </p:nvSpPr>
        <p:spPr bwMode="auto">
          <a:xfrm>
            <a:off x="4705350" y="5416550"/>
            <a:ext cx="1460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T</a:t>
            </a:r>
            <a:r>
              <a:rPr lang="en-US" altLang="zh-CN" sz="1600" baseline="30000"/>
              <a:t>(3)L</a:t>
            </a:r>
            <a:r>
              <a:rPr lang="en-US" altLang="zh-CN" sz="1600"/>
              <a:t>:= A</a:t>
            </a:r>
            <a:r>
              <a:rPr lang="en-US" altLang="zh-CN" sz="1600" baseline="30000"/>
              <a:t> </a:t>
            </a:r>
            <a:r>
              <a:rPr lang="en-US" altLang="zh-CN" sz="1600"/>
              <a:t>–  B</a:t>
            </a:r>
            <a:r>
              <a:rPr lang="en-US" altLang="zh-CN" sz="1600" baseline="30000"/>
              <a:t> </a:t>
            </a:r>
            <a:r>
              <a:rPr lang="en-US" altLang="zh-CN" sz="1600"/>
              <a:t> </a:t>
            </a:r>
          </a:p>
        </p:txBody>
      </p:sp>
      <p:sp>
        <p:nvSpPr>
          <p:cNvPr id="753808" name="Rectangle 144"/>
          <p:cNvSpPr>
            <a:spLocks noChangeArrowheads="1"/>
          </p:cNvSpPr>
          <p:nvPr/>
        </p:nvSpPr>
        <p:spPr bwMode="auto">
          <a:xfrm>
            <a:off x="6732588" y="5415677"/>
            <a:ext cx="154151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/>
              <a:t>T</a:t>
            </a:r>
            <a:r>
              <a:rPr lang="en-US" altLang="zh-CN" sz="1600" baseline="30000" dirty="0"/>
              <a:t>(3)L</a:t>
            </a:r>
            <a:r>
              <a:rPr lang="en-US" altLang="zh-CN" sz="1600" dirty="0"/>
              <a:t>:=</a:t>
            </a:r>
            <a:r>
              <a:rPr lang="en-US" altLang="zh-CN" sz="1600" dirty="0" smtClean="0"/>
              <a:t>A</a:t>
            </a:r>
            <a:r>
              <a:rPr lang="en-US" altLang="zh-CN" sz="1600" baseline="30000" dirty="0" smtClean="0"/>
              <a:t>FL</a:t>
            </a:r>
            <a:r>
              <a:rPr lang="en-US" altLang="zh-CN" sz="1600" dirty="0" smtClean="0"/>
              <a:t>-B</a:t>
            </a:r>
            <a:r>
              <a:rPr lang="en-US" altLang="zh-CN" sz="1600" baseline="30000" dirty="0" smtClean="0"/>
              <a:t>FL</a:t>
            </a:r>
            <a:r>
              <a:rPr lang="en-US" altLang="zh-CN" sz="1600" dirty="0" smtClean="0"/>
              <a:t> </a:t>
            </a:r>
            <a:endParaRPr lang="en-US" altLang="zh-CN" sz="16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5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5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5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5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75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75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75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75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75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75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75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75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75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75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75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75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75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75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75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75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75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75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75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75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75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75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75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8" dur="500"/>
                                        <p:tgtEl>
                                          <p:spTgt spid="75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75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75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75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6" dur="500"/>
                                        <p:tgtEl>
                                          <p:spTgt spid="75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1" dur="500"/>
                                        <p:tgtEl>
                                          <p:spTgt spid="75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4" dur="500"/>
                                        <p:tgtEl>
                                          <p:spTgt spid="75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500"/>
                                        <p:tgtEl>
                                          <p:spTgt spid="75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0" dur="500"/>
                                        <p:tgtEl>
                                          <p:spTgt spid="75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721" grpId="0"/>
      <p:bldP spid="753773" grpId="0"/>
      <p:bldP spid="753774" grpId="0"/>
      <p:bldP spid="753775" grpId="0"/>
      <p:bldP spid="753776" grpId="0"/>
      <p:bldP spid="753777" grpId="0"/>
      <p:bldP spid="753778" grpId="0"/>
      <p:bldP spid="753779" grpId="0"/>
      <p:bldP spid="753780" grpId="0"/>
      <p:bldP spid="753781" grpId="0"/>
      <p:bldP spid="753782" grpId="0"/>
      <p:bldP spid="753783" grpId="0"/>
      <p:bldP spid="753784" grpId="0"/>
      <p:bldP spid="753785" grpId="0"/>
      <p:bldP spid="753786" grpId="0"/>
      <p:bldP spid="753787" grpId="0"/>
      <p:bldP spid="753788" grpId="0"/>
      <p:bldP spid="753789" grpId="0"/>
      <p:bldP spid="753790" grpId="0"/>
      <p:bldP spid="753791" grpId="0"/>
      <p:bldP spid="753792" grpId="0"/>
      <p:bldP spid="753793" grpId="0"/>
      <p:bldP spid="753794" grpId="0"/>
      <p:bldP spid="753796" grpId="0"/>
      <p:bldP spid="753797" grpId="0"/>
      <p:bldP spid="753798" grpId="0"/>
      <p:bldP spid="753799" grpId="0"/>
      <p:bldP spid="753800" grpId="0"/>
      <p:bldP spid="753801" grpId="0"/>
      <p:bldP spid="753802" grpId="0"/>
      <p:bldP spid="753803" grpId="0"/>
      <p:bldP spid="753804" grpId="0"/>
      <p:bldP spid="753805" grpId="0"/>
      <p:bldP spid="753806" grpId="0"/>
      <p:bldP spid="753807" grpId="0"/>
      <p:bldP spid="75380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2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基本块的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</a:t>
            </a:r>
          </a:p>
        </p:txBody>
      </p:sp>
      <p:sp>
        <p:nvSpPr>
          <p:cNvPr id="5018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4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5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6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7" name="Rectangle 11"/>
          <p:cNvSpPr>
            <a:spLocks noChangeArrowheads="1"/>
          </p:cNvSpPr>
          <p:nvPr/>
        </p:nvSpPr>
        <p:spPr bwMode="auto">
          <a:xfrm>
            <a:off x="838200" y="2057400"/>
            <a:ext cx="8153400" cy="382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0" i="1" dirty="0">
                <a:solidFill>
                  <a:srgbClr val="800080"/>
                </a:solidFill>
                <a:ea typeface="华文行楷" pitchFamily="2" charset="-122"/>
              </a:rPr>
              <a:t>DAG</a:t>
            </a:r>
            <a:endParaRPr lang="en-US" altLang="zh-CN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 i="1" dirty="0">
                <a:ea typeface="楷体_GB2312" pitchFamily="49" charset="-122"/>
              </a:rPr>
              <a:t>     DAG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指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有向无圈图</a:t>
            </a:r>
            <a:r>
              <a:rPr lang="zh-CN" altLang="en-US" sz="2400" dirty="0">
                <a:ea typeface="楷体_GB2312" pitchFamily="49" charset="-122"/>
              </a:rPr>
              <a:t>（ </a:t>
            </a:r>
            <a:r>
              <a:rPr lang="en-US" altLang="zh-CN" sz="2400" b="0" i="1" dirty="0"/>
              <a:t>Directed Acyclic Graph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）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基本块的 </a:t>
            </a:r>
            <a:r>
              <a:rPr lang="en-US" altLang="zh-CN" sz="2400" b="0" i="1" dirty="0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b="0" i="1" dirty="0">
                <a:solidFill>
                  <a:srgbClr val="800080"/>
                </a:solidFill>
                <a:ea typeface="华文行楷" pitchFamily="2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是在结点上带有标记的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DAG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b="0" dirty="0">
              <a:solidFill>
                <a:schemeClr val="tx1"/>
              </a:solidFill>
              <a:latin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3200" b="0" dirty="0">
                <a:solidFill>
                  <a:schemeClr val="tx1"/>
                </a:solidFill>
                <a:latin typeface="Times New Roman" pitchFamily="18" charset="0"/>
              </a:rPr>
              <a:t>  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叶结点</a:t>
            </a:r>
            <a:r>
              <a:rPr lang="zh-CN" altLang="en-US" sz="2400" dirty="0">
                <a:ea typeface="楷体_GB2312" pitchFamily="49" charset="-122"/>
              </a:rPr>
              <a:t>  代表名字的初值，以唯一的标识符（变量名字或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常数）标记（为避免混乱，用</a:t>
            </a:r>
            <a:r>
              <a:rPr lang="en-US" altLang="zh-CN" sz="2400" i="1" dirty="0">
                <a:ea typeface="楷体_GB2312" pitchFamily="49" charset="-122"/>
              </a:rPr>
              <a:t>x</a:t>
            </a:r>
            <a:r>
              <a:rPr lang="en-US" altLang="zh-CN" sz="2400" i="1" baseline="-25000" dirty="0">
                <a:ea typeface="楷体_GB2312" pitchFamily="49" charset="-122"/>
              </a:rPr>
              <a:t>0</a:t>
            </a:r>
            <a:r>
              <a:rPr lang="zh-CN" altLang="en-US" sz="2400" dirty="0">
                <a:ea typeface="楷体_GB2312" pitchFamily="49" charset="-122"/>
              </a:rPr>
              <a:t>表示变量名字</a:t>
            </a:r>
            <a:r>
              <a:rPr lang="en-US" altLang="zh-CN" sz="2400" i="1" dirty="0">
                <a:ea typeface="楷体_GB2312" pitchFamily="49" charset="-122"/>
              </a:rPr>
              <a:t>x</a:t>
            </a:r>
            <a:r>
              <a:rPr lang="zh-CN" altLang="en-US" sz="2400" dirty="0">
                <a:ea typeface="楷体_GB2312" pitchFamily="49" charset="-122"/>
              </a:rPr>
              <a:t>的初值）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zh-CN" altLang="en-US" sz="3200" b="0" dirty="0">
                <a:solidFill>
                  <a:schemeClr val="tx1"/>
                </a:solidFill>
                <a:latin typeface="Times New Roman" pitchFamily="18" charset="0"/>
              </a:rPr>
              <a:t>  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内部结点</a:t>
            </a:r>
            <a:r>
              <a:rPr lang="zh-CN" altLang="en-US" sz="2400" dirty="0">
                <a:ea typeface="楷体_GB2312" pitchFamily="49" charset="-122"/>
              </a:rPr>
              <a:t>  用运算符号标记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zh-CN" altLang="en-US" sz="3200" b="0" dirty="0">
                <a:solidFill>
                  <a:schemeClr val="tx1"/>
                </a:solidFill>
                <a:latin typeface="Times New Roman" pitchFamily="18" charset="0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所有结点都可有一个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附加的变量名字表</a:t>
            </a:r>
            <a:endParaRPr lang="zh-CN" altLang="en-US" sz="2400" dirty="0">
              <a:ea typeface="楷体_GB2312" pitchFamily="49" charset="-122"/>
            </a:endParaRPr>
          </a:p>
        </p:txBody>
      </p:sp>
      <p:sp>
        <p:nvSpPr>
          <p:cNvPr id="50188" name="Rectangle 13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6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120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838200" y="2057400"/>
            <a:ext cx="7696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仅考虑三种形式的 </a:t>
            </a:r>
            <a:r>
              <a:rPr lang="en-US" altLang="zh-CN" sz="2400" b="0" i="1" dirty="0">
                <a:solidFill>
                  <a:srgbClr val="800080"/>
                </a:solidFill>
                <a:ea typeface="华文行楷" pitchFamily="2" charset="-122"/>
              </a:rPr>
              <a:t>TAC</a:t>
            </a:r>
            <a:r>
              <a:rPr lang="en-US" altLang="zh-CN" b="0" i="1" dirty="0">
                <a:solidFill>
                  <a:srgbClr val="800080"/>
                </a:solidFill>
                <a:ea typeface="华文行楷" pitchFamily="2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语句</a:t>
            </a: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1212" name="Rectangle 13"/>
          <p:cNvSpPr>
            <a:spLocks noChangeArrowheads="1"/>
          </p:cNvSpPr>
          <p:nvPr/>
        </p:nvSpPr>
        <p:spPr bwMode="auto">
          <a:xfrm>
            <a:off x="838200" y="5957888"/>
            <a:ext cx="8054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zh-CN" altLang="en-US">
                <a:latin typeface="Times New Roman" pitchFamily="18" charset="0"/>
                <a:ea typeface="楷体_GB2312" pitchFamily="49" charset="-122"/>
              </a:rPr>
              <a:t>其他 </a:t>
            </a:r>
            <a:r>
              <a:rPr lang="en-US" altLang="zh-CN" sz="2400" b="0" i="1">
                <a:ea typeface="华文行楷" pitchFamily="2" charset="-122"/>
              </a:rPr>
              <a:t>TAC</a:t>
            </a:r>
            <a:r>
              <a:rPr lang="en-US" altLang="zh-CN" b="0" i="1">
                <a:ea typeface="华文行楷" pitchFamily="2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语句的 </a:t>
            </a:r>
            <a:r>
              <a:rPr lang="en-US" altLang="zh-CN" sz="2400" b="0" i="1">
                <a:ea typeface="楷体_GB2312" pitchFamily="49" charset="-122"/>
              </a:rPr>
              <a:t>DAG</a:t>
            </a:r>
            <a:r>
              <a:rPr lang="en-US" altLang="zh-CN"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结点的讨论参见龙书）</a:t>
            </a:r>
            <a:endParaRPr lang="zh-CN" altLang="en-US" sz="100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1213" name="Rectangle 15"/>
          <p:cNvSpPr>
            <a:spLocks noChangeArrowheads="1"/>
          </p:cNvSpPr>
          <p:nvPr/>
        </p:nvSpPr>
        <p:spPr bwMode="auto">
          <a:xfrm>
            <a:off x="1433513" y="3902075"/>
            <a:ext cx="13705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0" i="1" dirty="0">
                <a:ea typeface="楷体_GB2312" pitchFamily="49" charset="-122"/>
              </a:rPr>
              <a:t>DAG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 smtClean="0">
                <a:ea typeface="楷体_GB2312" pitchFamily="49" charset="-122"/>
              </a:rPr>
              <a:t>子图</a:t>
            </a:r>
            <a:endParaRPr lang="en-US" altLang="zh-CN" sz="2400" dirty="0" smtClean="0">
              <a:ea typeface="楷体_GB2312" pitchFamily="49" charset="-122"/>
            </a:endParaRPr>
          </a:p>
        </p:txBody>
      </p:sp>
      <p:sp>
        <p:nvSpPr>
          <p:cNvPr id="51214" name="Rectangle 16"/>
          <p:cNvSpPr>
            <a:spLocks noChangeArrowheads="1"/>
          </p:cNvSpPr>
          <p:nvPr/>
        </p:nvSpPr>
        <p:spPr bwMode="auto">
          <a:xfrm>
            <a:off x="3760788" y="4048125"/>
            <a:ext cx="32385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    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15" name="Rectangle 17"/>
          <p:cNvSpPr>
            <a:spLocks noChangeArrowheads="1"/>
          </p:cNvSpPr>
          <p:nvPr/>
        </p:nvSpPr>
        <p:spPr bwMode="auto">
          <a:xfrm>
            <a:off x="3992563" y="3883025"/>
            <a:ext cx="27463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A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16" name="Rectangle 18"/>
          <p:cNvSpPr>
            <a:spLocks noChangeArrowheads="1"/>
          </p:cNvSpPr>
          <p:nvPr/>
        </p:nvSpPr>
        <p:spPr bwMode="auto">
          <a:xfrm>
            <a:off x="3429000" y="4314825"/>
            <a:ext cx="3048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 B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17" name="Rectangle 20"/>
          <p:cNvSpPr>
            <a:spLocks noChangeArrowheads="1"/>
          </p:cNvSpPr>
          <p:nvPr/>
        </p:nvSpPr>
        <p:spPr bwMode="auto">
          <a:xfrm>
            <a:off x="5638800" y="3459163"/>
            <a:ext cx="304800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A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18" name="Rectangle 21"/>
          <p:cNvSpPr>
            <a:spLocks noChangeArrowheads="1"/>
          </p:cNvSpPr>
          <p:nvPr/>
        </p:nvSpPr>
        <p:spPr bwMode="auto">
          <a:xfrm>
            <a:off x="5238750" y="3886200"/>
            <a:ext cx="32385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op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19" name="Rectangle 23"/>
          <p:cNvSpPr>
            <a:spLocks noChangeArrowheads="1"/>
          </p:cNvSpPr>
          <p:nvPr/>
        </p:nvSpPr>
        <p:spPr bwMode="auto">
          <a:xfrm>
            <a:off x="5029200" y="4830763"/>
            <a:ext cx="32543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 B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20" name="Rectangle 24"/>
          <p:cNvSpPr>
            <a:spLocks noChangeArrowheads="1"/>
          </p:cNvSpPr>
          <p:nvPr/>
        </p:nvSpPr>
        <p:spPr bwMode="auto">
          <a:xfrm>
            <a:off x="7219950" y="3886200"/>
            <a:ext cx="32385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op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21" name="Rectangle 25"/>
          <p:cNvSpPr>
            <a:spLocks noChangeArrowheads="1"/>
          </p:cNvSpPr>
          <p:nvPr/>
        </p:nvSpPr>
        <p:spPr bwMode="auto">
          <a:xfrm>
            <a:off x="5827713" y="4494213"/>
            <a:ext cx="323850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    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22" name="Rectangle 26"/>
          <p:cNvSpPr>
            <a:spLocks noChangeArrowheads="1"/>
          </p:cNvSpPr>
          <p:nvPr/>
        </p:nvSpPr>
        <p:spPr bwMode="auto">
          <a:xfrm>
            <a:off x="6551613" y="4367213"/>
            <a:ext cx="48577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n1  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23" name="Rectangle 27"/>
          <p:cNvSpPr>
            <a:spLocks noChangeArrowheads="1"/>
          </p:cNvSpPr>
          <p:nvPr/>
        </p:nvSpPr>
        <p:spPr bwMode="auto">
          <a:xfrm>
            <a:off x="7847013" y="4367213"/>
            <a:ext cx="323850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n2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24" name="Rectangle 28"/>
          <p:cNvSpPr>
            <a:spLocks noChangeArrowheads="1"/>
          </p:cNvSpPr>
          <p:nvPr/>
        </p:nvSpPr>
        <p:spPr bwMode="auto">
          <a:xfrm>
            <a:off x="6477000" y="4843463"/>
            <a:ext cx="284163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B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25" name="Rectangle 29"/>
          <p:cNvSpPr>
            <a:spLocks noChangeArrowheads="1"/>
          </p:cNvSpPr>
          <p:nvPr/>
        </p:nvSpPr>
        <p:spPr bwMode="auto">
          <a:xfrm>
            <a:off x="7924800" y="4876800"/>
            <a:ext cx="3048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C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sp>
        <p:nvSpPr>
          <p:cNvPr id="51226" name="Line 30"/>
          <p:cNvSpPr>
            <a:spLocks noChangeShapeType="1"/>
          </p:cNvSpPr>
          <p:nvPr/>
        </p:nvSpPr>
        <p:spPr bwMode="auto">
          <a:xfrm>
            <a:off x="5181600" y="3962400"/>
            <a:ext cx="0" cy="381000"/>
          </a:xfrm>
          <a:prstGeom prst="line">
            <a:avLst/>
          </a:prstGeom>
          <a:noFill/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7" name="Line 31"/>
          <p:cNvSpPr>
            <a:spLocks noChangeShapeType="1"/>
          </p:cNvSpPr>
          <p:nvPr/>
        </p:nvSpPr>
        <p:spPr bwMode="auto">
          <a:xfrm flipH="1">
            <a:off x="6629400" y="3886200"/>
            <a:ext cx="541338" cy="457200"/>
          </a:xfrm>
          <a:prstGeom prst="line">
            <a:avLst/>
          </a:prstGeom>
          <a:noFill/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8" name="Line 32"/>
          <p:cNvSpPr>
            <a:spLocks noChangeShapeType="1"/>
          </p:cNvSpPr>
          <p:nvPr/>
        </p:nvSpPr>
        <p:spPr bwMode="auto">
          <a:xfrm>
            <a:off x="7585075" y="3886200"/>
            <a:ext cx="415925" cy="466725"/>
          </a:xfrm>
          <a:prstGeom prst="line">
            <a:avLst/>
          </a:prstGeom>
          <a:noFill/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9" name="Oval 33"/>
          <p:cNvSpPr>
            <a:spLocks noChangeArrowheads="1"/>
          </p:cNvSpPr>
          <p:nvPr/>
        </p:nvSpPr>
        <p:spPr bwMode="auto">
          <a:xfrm>
            <a:off x="3273425" y="3810000"/>
            <a:ext cx="658813" cy="498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0" name="Rectangle 34"/>
          <p:cNvSpPr>
            <a:spLocks noChangeArrowheads="1"/>
          </p:cNvSpPr>
          <p:nvPr/>
        </p:nvSpPr>
        <p:spPr bwMode="auto">
          <a:xfrm>
            <a:off x="3489325" y="3883025"/>
            <a:ext cx="2333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>
                <a:solidFill>
                  <a:srgbClr val="800080"/>
                </a:solidFill>
              </a:rPr>
              <a:t>n</a:t>
            </a:r>
            <a:r>
              <a:rPr lang="en-US" altLang="zh-CN" sz="2000" b="0" baseline="-25000">
                <a:solidFill>
                  <a:srgbClr val="800080"/>
                </a:solidFill>
              </a:rPr>
              <a:t>1</a:t>
            </a:r>
          </a:p>
        </p:txBody>
      </p:sp>
      <p:sp>
        <p:nvSpPr>
          <p:cNvPr id="51231" name="Oval 35"/>
          <p:cNvSpPr>
            <a:spLocks noChangeArrowheads="1"/>
          </p:cNvSpPr>
          <p:nvPr/>
        </p:nvSpPr>
        <p:spPr bwMode="auto">
          <a:xfrm>
            <a:off x="7646988" y="4343400"/>
            <a:ext cx="658812" cy="4937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2" name="Rectangle 36"/>
          <p:cNvSpPr>
            <a:spLocks noChangeArrowheads="1"/>
          </p:cNvSpPr>
          <p:nvPr/>
        </p:nvSpPr>
        <p:spPr bwMode="auto">
          <a:xfrm>
            <a:off x="7924800" y="4419600"/>
            <a:ext cx="2333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>
                <a:solidFill>
                  <a:srgbClr val="800080"/>
                </a:solidFill>
              </a:rPr>
              <a:t>n</a:t>
            </a:r>
            <a:r>
              <a:rPr lang="en-US" altLang="zh-CN" sz="2000" b="0" baseline="-25000">
                <a:solidFill>
                  <a:srgbClr val="800080"/>
                </a:solidFill>
              </a:rPr>
              <a:t>2</a:t>
            </a:r>
          </a:p>
        </p:txBody>
      </p:sp>
      <p:sp>
        <p:nvSpPr>
          <p:cNvPr id="51233" name="Oval 37"/>
          <p:cNvSpPr>
            <a:spLocks noChangeArrowheads="1"/>
          </p:cNvSpPr>
          <p:nvPr/>
        </p:nvSpPr>
        <p:spPr bwMode="auto">
          <a:xfrm>
            <a:off x="6351588" y="4329113"/>
            <a:ext cx="658812" cy="498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4" name="Rectangle 38"/>
          <p:cNvSpPr>
            <a:spLocks noChangeArrowheads="1"/>
          </p:cNvSpPr>
          <p:nvPr/>
        </p:nvSpPr>
        <p:spPr bwMode="auto">
          <a:xfrm>
            <a:off x="6557963" y="4419600"/>
            <a:ext cx="2333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n</a:t>
            </a:r>
            <a:r>
              <a:rPr lang="en-US" altLang="zh-CN" sz="2000" b="0" baseline="-25000" dirty="0">
                <a:solidFill>
                  <a:srgbClr val="800080"/>
                </a:solidFill>
              </a:rPr>
              <a:t>1</a:t>
            </a:r>
          </a:p>
        </p:txBody>
      </p:sp>
      <p:sp>
        <p:nvSpPr>
          <p:cNvPr id="51235" name="Oval 39"/>
          <p:cNvSpPr>
            <a:spLocks noChangeArrowheads="1"/>
          </p:cNvSpPr>
          <p:nvPr/>
        </p:nvSpPr>
        <p:spPr bwMode="auto">
          <a:xfrm>
            <a:off x="7010400" y="3429000"/>
            <a:ext cx="658813" cy="495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6" name="Rectangle 40"/>
          <p:cNvSpPr>
            <a:spLocks noChangeArrowheads="1"/>
          </p:cNvSpPr>
          <p:nvPr/>
        </p:nvSpPr>
        <p:spPr bwMode="auto">
          <a:xfrm>
            <a:off x="7243763" y="3505200"/>
            <a:ext cx="2333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n</a:t>
            </a:r>
            <a:r>
              <a:rPr lang="en-US" altLang="zh-CN" sz="2000" b="0" baseline="-25000" dirty="0">
                <a:solidFill>
                  <a:srgbClr val="800080"/>
                </a:solidFill>
              </a:rPr>
              <a:t>3</a:t>
            </a:r>
          </a:p>
        </p:txBody>
      </p:sp>
      <p:sp>
        <p:nvSpPr>
          <p:cNvPr id="51237" name="Oval 41"/>
          <p:cNvSpPr>
            <a:spLocks noChangeArrowheads="1"/>
          </p:cNvSpPr>
          <p:nvPr/>
        </p:nvSpPr>
        <p:spPr bwMode="auto">
          <a:xfrm>
            <a:off x="4873625" y="4306888"/>
            <a:ext cx="658813" cy="4937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8" name="Rectangle 42"/>
          <p:cNvSpPr>
            <a:spLocks noChangeArrowheads="1"/>
          </p:cNvSpPr>
          <p:nvPr/>
        </p:nvSpPr>
        <p:spPr bwMode="auto">
          <a:xfrm>
            <a:off x="5110163" y="4343400"/>
            <a:ext cx="2333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>
                <a:solidFill>
                  <a:srgbClr val="800080"/>
                </a:solidFill>
              </a:rPr>
              <a:t>n</a:t>
            </a:r>
            <a:r>
              <a:rPr lang="en-US" altLang="zh-CN" sz="2000" b="0" baseline="-25000">
                <a:solidFill>
                  <a:srgbClr val="800080"/>
                </a:solidFill>
              </a:rPr>
              <a:t>1</a:t>
            </a:r>
          </a:p>
        </p:txBody>
      </p:sp>
      <p:sp>
        <p:nvSpPr>
          <p:cNvPr id="51239" name="Oval 43"/>
          <p:cNvSpPr>
            <a:spLocks noChangeArrowheads="1"/>
          </p:cNvSpPr>
          <p:nvPr/>
        </p:nvSpPr>
        <p:spPr bwMode="auto">
          <a:xfrm>
            <a:off x="4873625" y="3429000"/>
            <a:ext cx="658813" cy="5000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0" name="Rectangle 44"/>
          <p:cNvSpPr>
            <a:spLocks noChangeArrowheads="1"/>
          </p:cNvSpPr>
          <p:nvPr/>
        </p:nvSpPr>
        <p:spPr bwMode="auto">
          <a:xfrm>
            <a:off x="5110163" y="3505200"/>
            <a:ext cx="2333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>
                <a:solidFill>
                  <a:srgbClr val="800080"/>
                </a:solidFill>
              </a:rPr>
              <a:t>n</a:t>
            </a:r>
            <a:r>
              <a:rPr lang="en-US" altLang="zh-CN" sz="2000" b="0" baseline="-25000">
                <a:solidFill>
                  <a:srgbClr val="800080"/>
                </a:solidFill>
              </a:rPr>
              <a:t>2</a:t>
            </a:r>
          </a:p>
        </p:txBody>
      </p:sp>
      <p:sp>
        <p:nvSpPr>
          <p:cNvPr id="51241" name="Rectangle 45"/>
          <p:cNvSpPr>
            <a:spLocks noChangeArrowheads="1"/>
          </p:cNvSpPr>
          <p:nvPr/>
        </p:nvSpPr>
        <p:spPr bwMode="auto">
          <a:xfrm>
            <a:off x="1447800" y="2819400"/>
            <a:ext cx="130651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</a:t>
            </a:r>
          </a:p>
        </p:txBody>
      </p:sp>
      <p:sp>
        <p:nvSpPr>
          <p:cNvPr id="51242" name="Rectangle 46"/>
          <p:cNvSpPr>
            <a:spLocks noChangeArrowheads="1"/>
          </p:cNvSpPr>
          <p:nvPr/>
        </p:nvSpPr>
        <p:spPr bwMode="auto">
          <a:xfrm>
            <a:off x="3370263" y="2819400"/>
            <a:ext cx="6683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A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:=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B</a:t>
            </a:r>
            <a:endParaRPr lang="en-US" altLang="zh-CN" sz="240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51243" name="Rectangle 47"/>
          <p:cNvSpPr>
            <a:spLocks noChangeArrowheads="1"/>
          </p:cNvSpPr>
          <p:nvPr/>
        </p:nvSpPr>
        <p:spPr bwMode="auto">
          <a:xfrm>
            <a:off x="4800600" y="2819400"/>
            <a:ext cx="1092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A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:=op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B</a:t>
            </a:r>
            <a:endParaRPr lang="en-US" altLang="zh-CN" sz="240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51244" name="Rectangle 48"/>
          <p:cNvSpPr>
            <a:spLocks noChangeArrowheads="1"/>
          </p:cNvSpPr>
          <p:nvPr/>
        </p:nvSpPr>
        <p:spPr bwMode="auto">
          <a:xfrm>
            <a:off x="6672263" y="2819400"/>
            <a:ext cx="14811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A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:=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B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 op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C</a:t>
            </a:r>
          </a:p>
        </p:txBody>
      </p:sp>
      <p:sp>
        <p:nvSpPr>
          <p:cNvPr id="51245" name="Rectangle 49"/>
          <p:cNvSpPr>
            <a:spLocks noChangeArrowheads="1"/>
          </p:cNvSpPr>
          <p:nvPr/>
        </p:nvSpPr>
        <p:spPr bwMode="auto">
          <a:xfrm>
            <a:off x="7848600" y="3459163"/>
            <a:ext cx="304800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300" b="0">
                <a:solidFill>
                  <a:srgbClr val="800080"/>
                </a:solidFill>
              </a:rPr>
              <a:t>A</a:t>
            </a:r>
            <a:endParaRPr lang="en-US" altLang="zh-CN" sz="2400" b="0">
              <a:solidFill>
                <a:srgbClr val="800080"/>
              </a:solidFill>
            </a:endParaRPr>
          </a:p>
        </p:txBody>
      </p:sp>
      <p:grpSp>
        <p:nvGrpSpPr>
          <p:cNvPr id="692277" name="Group 53"/>
          <p:cNvGrpSpPr>
            <a:grpSpLocks/>
          </p:cNvGrpSpPr>
          <p:nvPr/>
        </p:nvGrpSpPr>
        <p:grpSpPr bwMode="auto">
          <a:xfrm>
            <a:off x="5554663" y="4191000"/>
            <a:ext cx="1836737" cy="1584325"/>
            <a:chOff x="3499" y="2688"/>
            <a:chExt cx="1157" cy="998"/>
          </a:xfrm>
        </p:grpSpPr>
        <p:sp>
          <p:nvSpPr>
            <p:cNvPr id="51248" name="Rectangle 50"/>
            <p:cNvSpPr>
              <a:spLocks noChangeArrowheads="1"/>
            </p:cNvSpPr>
            <p:nvPr/>
          </p:nvSpPr>
          <p:spPr bwMode="auto">
            <a:xfrm>
              <a:off x="3499" y="3456"/>
              <a:ext cx="96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400">
                  <a:ea typeface="楷体_GB2312" pitchFamily="49" charset="-122"/>
                </a:rPr>
                <a:t>运算符标记</a:t>
              </a:r>
            </a:p>
          </p:txBody>
        </p:sp>
        <p:sp>
          <p:nvSpPr>
            <p:cNvPr id="51249" name="Line 51"/>
            <p:cNvSpPr>
              <a:spLocks noChangeShapeType="1"/>
            </p:cNvSpPr>
            <p:nvPr/>
          </p:nvSpPr>
          <p:spPr bwMode="auto">
            <a:xfrm>
              <a:off x="3504" y="2688"/>
              <a:ext cx="288" cy="76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0" name="Line 52"/>
            <p:cNvSpPr>
              <a:spLocks noChangeShapeType="1"/>
            </p:cNvSpPr>
            <p:nvPr/>
          </p:nvSpPr>
          <p:spPr bwMode="auto">
            <a:xfrm flipH="1">
              <a:off x="4224" y="2736"/>
              <a:ext cx="432" cy="720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47" name="Rectangle 54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0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50825" y="12493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 dirty="0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223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5" name="Rectangle 11"/>
          <p:cNvSpPr>
            <a:spLocks noChangeArrowheads="1"/>
          </p:cNvSpPr>
          <p:nvPr/>
        </p:nvSpPr>
        <p:spPr bwMode="auto">
          <a:xfrm>
            <a:off x="323850" y="1998663"/>
            <a:ext cx="8820150" cy="447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构造算法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zh-CN" altLang="en-US" sz="2400" dirty="0">
                <a:ea typeface="楷体_GB2312" pitchFamily="49" charset="-122"/>
              </a:rPr>
              <a:t>设 </a:t>
            </a:r>
            <a:r>
              <a:rPr lang="en-US" altLang="zh-CN" sz="2400" b="0" i="1" dirty="0">
                <a:ea typeface="楷体_GB2312" pitchFamily="49" charset="-122"/>
              </a:rPr>
              <a:t>x:=y op z</a:t>
            </a:r>
            <a:r>
              <a:rPr lang="en-US" altLang="zh-CN" sz="2400" b="0" dirty="0">
                <a:ea typeface="楷体_GB2312" pitchFamily="49" charset="-122"/>
              </a:rPr>
              <a:t>, </a:t>
            </a:r>
            <a:r>
              <a:rPr lang="en-US" altLang="zh-CN" sz="2400" b="0" i="1" dirty="0">
                <a:ea typeface="楷体_GB2312" pitchFamily="49" charset="-122"/>
              </a:rPr>
              <a:t>x:=op y</a:t>
            </a:r>
            <a:r>
              <a:rPr lang="en-US" altLang="zh-CN" sz="2400" b="0" dirty="0">
                <a:ea typeface="楷体_GB2312" pitchFamily="49" charset="-122"/>
              </a:rPr>
              <a:t>, </a:t>
            </a:r>
            <a:r>
              <a:rPr lang="en-US" altLang="zh-CN" sz="2400" b="0" i="1" dirty="0">
                <a:ea typeface="楷体_GB2312" pitchFamily="49" charset="-122"/>
              </a:rPr>
              <a:t>x:=y </a:t>
            </a:r>
            <a:r>
              <a:rPr lang="zh-CN" altLang="en-US" sz="2400" dirty="0">
                <a:ea typeface="楷体_GB2312" pitchFamily="49" charset="-122"/>
              </a:rPr>
              <a:t>分别为第</a:t>
            </a:r>
            <a:r>
              <a:rPr lang="en-US" altLang="zh-CN" sz="2400" b="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b="0" dirty="0">
                <a:ea typeface="楷体_GB2312" pitchFamily="49" charset="-122"/>
              </a:rPr>
              <a:t>2</a:t>
            </a:r>
            <a:r>
              <a:rPr lang="zh-CN" altLang="en-US" sz="2400" dirty="0">
                <a:ea typeface="楷体_GB2312" pitchFamily="49" charset="-122"/>
              </a:rPr>
              <a:t>、</a:t>
            </a:r>
            <a:r>
              <a:rPr lang="en-US" altLang="zh-CN" sz="2400" b="0" dirty="0">
                <a:ea typeface="楷体_GB2312" pitchFamily="49" charset="-122"/>
              </a:rPr>
              <a:t>3</a:t>
            </a:r>
            <a:r>
              <a:rPr lang="zh-CN" altLang="en-US" sz="2400" dirty="0">
                <a:ea typeface="楷体_GB2312" pitchFamily="49" charset="-122"/>
              </a:rPr>
              <a:t>种 </a:t>
            </a:r>
            <a:r>
              <a:rPr lang="en-US" altLang="zh-CN" sz="2400" b="0" i="1" dirty="0">
                <a:ea typeface="楷体_GB2312" pitchFamily="49" charset="-122"/>
              </a:rPr>
              <a:t>TAC </a:t>
            </a:r>
            <a:r>
              <a:rPr lang="zh-CN" altLang="en-US" sz="2400" dirty="0">
                <a:ea typeface="楷体_GB2312" pitchFamily="49" charset="-122"/>
              </a:rPr>
              <a:t>语句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设函数 </a:t>
            </a:r>
            <a:r>
              <a:rPr lang="en-US" altLang="zh-CN" sz="2400" b="0" i="1" dirty="0">
                <a:ea typeface="楷体_GB2312" pitchFamily="49" charset="-122"/>
              </a:rPr>
              <a:t>node(name) </a:t>
            </a:r>
            <a:r>
              <a:rPr lang="zh-CN" altLang="en-US" sz="2400" dirty="0">
                <a:ea typeface="楷体_GB2312" pitchFamily="49" charset="-122"/>
              </a:rPr>
              <a:t>返回最近创建的关联于 </a:t>
            </a:r>
            <a:r>
              <a:rPr lang="en-US" altLang="zh-CN" sz="2400" b="0" i="1" dirty="0">
                <a:ea typeface="楷体_GB2312" pitchFamily="49" charset="-122"/>
              </a:rPr>
              <a:t>name </a:t>
            </a:r>
            <a:r>
              <a:rPr lang="zh-CN" altLang="en-US" sz="2400" dirty="0">
                <a:ea typeface="楷体_GB2312" pitchFamily="49" charset="-122"/>
              </a:rPr>
              <a:t>的结点</a:t>
            </a:r>
            <a:endParaRPr kumimoji="0"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zh-CN" altLang="en-US" sz="2400" dirty="0">
                <a:ea typeface="楷体_GB2312" pitchFamily="49" charset="-122"/>
              </a:rPr>
              <a:t>首先，置 </a:t>
            </a:r>
            <a:r>
              <a:rPr lang="en-US" altLang="zh-CN" sz="2400" b="0" i="1" dirty="0">
                <a:ea typeface="楷体_GB2312" pitchFamily="49" charset="-122"/>
              </a:rPr>
              <a:t>DAG </a:t>
            </a:r>
            <a:r>
              <a:rPr lang="zh-CN" altLang="en-US" sz="2400" dirty="0">
                <a:ea typeface="楷体_GB2312" pitchFamily="49" charset="-122"/>
              </a:rPr>
              <a:t>为空</a:t>
            </a:r>
            <a:r>
              <a:rPr lang="en-US" altLang="zh-CN" sz="2400" dirty="0">
                <a:ea typeface="楷体_GB2312" pitchFamily="49" charset="-122"/>
              </a:rPr>
              <a:t>.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</a:t>
            </a:r>
            <a:r>
              <a:rPr lang="zh-CN" altLang="en-US" sz="2400" dirty="0">
                <a:ea typeface="楷体_GB2312" pitchFamily="49" charset="-122"/>
              </a:rPr>
              <a:t>对基本块的每一 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语句，依次进行下列步骤：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endParaRPr kumimoji="0"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无定义，则创建一个标记为 </a:t>
            </a:r>
            <a:r>
              <a:rPr lang="en-US" altLang="zh-CN" sz="2400" b="0" i="1" dirty="0">
                <a:ea typeface="楷体_GB2312" pitchFamily="49" charset="-122"/>
              </a:rPr>
              <a:t>y </a:t>
            </a:r>
            <a:r>
              <a:rPr lang="zh-CN" altLang="en-US" sz="2400" dirty="0">
                <a:ea typeface="楷体_GB2312" pitchFamily="49" charset="-122"/>
              </a:rPr>
              <a:t>的叶结点，并令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b="0" i="1" dirty="0">
                <a:ea typeface="楷体_GB2312" pitchFamily="49" charset="-122"/>
              </a:rPr>
              <a:t>   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为这个结点；对第 </a:t>
            </a:r>
            <a:r>
              <a:rPr lang="en-US" altLang="zh-CN" sz="2400" b="0" dirty="0">
                <a:ea typeface="楷体_GB2312" pitchFamily="49" charset="-122"/>
              </a:rPr>
              <a:t>1 </a:t>
            </a:r>
            <a:r>
              <a:rPr lang="zh-CN" altLang="en-US" sz="2400" dirty="0">
                <a:ea typeface="楷体_GB2312" pitchFamily="49" charset="-122"/>
              </a:rPr>
              <a:t>种语句，若</a:t>
            </a:r>
            <a:r>
              <a:rPr lang="en-US" altLang="zh-CN" sz="2400" b="0" i="1" dirty="0">
                <a:ea typeface="楷体_GB2312" pitchFamily="49" charset="-122"/>
              </a:rPr>
              <a:t>node(z) </a:t>
            </a:r>
            <a:r>
              <a:rPr lang="zh-CN" altLang="en-US" sz="2400" dirty="0">
                <a:ea typeface="楷体_GB2312" pitchFamily="49" charset="-122"/>
              </a:rPr>
              <a:t>无定义，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再创建标记为 </a:t>
            </a:r>
            <a:r>
              <a:rPr lang="en-US" altLang="zh-CN" sz="2400" b="0" i="1" dirty="0">
                <a:ea typeface="楷体_GB2312" pitchFamily="49" charset="-122"/>
              </a:rPr>
              <a:t>z </a:t>
            </a:r>
            <a:r>
              <a:rPr lang="zh-CN" altLang="en-US" sz="2400" dirty="0">
                <a:ea typeface="楷体_GB2312" pitchFamily="49" charset="-122"/>
              </a:rPr>
              <a:t>的叶结点，并令</a:t>
            </a:r>
            <a:r>
              <a:rPr lang="zh-CN" altLang="en-US" sz="2400" b="0" i="1" dirty="0">
                <a:ea typeface="楷体_GB2312" pitchFamily="49" charset="-122"/>
              </a:rPr>
              <a:t> </a:t>
            </a:r>
            <a:r>
              <a:rPr lang="en-US" altLang="zh-CN" sz="2400" b="0" i="1" dirty="0">
                <a:ea typeface="楷体_GB2312" pitchFamily="49" charset="-122"/>
              </a:rPr>
              <a:t>node(z) </a:t>
            </a:r>
            <a:r>
              <a:rPr lang="zh-CN" altLang="en-US" sz="2400" dirty="0">
                <a:ea typeface="楷体_GB2312" pitchFamily="49" charset="-122"/>
              </a:rPr>
              <a:t>为这个结点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（转下页）</a:t>
            </a:r>
            <a:endParaRPr kumimoji="0" lang="zh-CN" altLang="en-US" sz="2400" dirty="0">
              <a:ea typeface="楷体_GB2312" pitchFamily="49" charset="-122"/>
            </a:endParaRPr>
          </a:p>
        </p:txBody>
      </p:sp>
      <p:sp>
        <p:nvSpPr>
          <p:cNvPr id="52236" name="Rectangle 51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9906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3251" name="Rectangle 11"/>
          <p:cNvSpPr>
            <a:spLocks noChangeArrowheads="1"/>
          </p:cNvSpPr>
          <p:nvPr/>
        </p:nvSpPr>
        <p:spPr bwMode="auto">
          <a:xfrm>
            <a:off x="533400" y="1600200"/>
            <a:ext cx="86106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构造算法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（续上页）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endParaRPr kumimoji="0"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对于第 </a:t>
            </a:r>
            <a:r>
              <a:rPr lang="en-US" altLang="zh-CN" sz="2400" b="0" dirty="0">
                <a:ea typeface="楷体_GB2312" pitchFamily="49" charset="-122"/>
              </a:rPr>
              <a:t>1 </a:t>
            </a:r>
            <a:r>
              <a:rPr lang="zh-CN" altLang="en-US" sz="2400" dirty="0">
                <a:ea typeface="楷体_GB2312" pitchFamily="49" charset="-122"/>
              </a:rPr>
              <a:t>种语句，若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和 </a:t>
            </a:r>
            <a:r>
              <a:rPr lang="en-US" altLang="zh-CN" sz="2400" b="0" i="1" dirty="0">
                <a:ea typeface="楷体_GB2312" pitchFamily="49" charset="-122"/>
              </a:rPr>
              <a:t>node(z)</a:t>
            </a:r>
            <a:r>
              <a:rPr lang="zh-CN" altLang="en-US" sz="2400" dirty="0">
                <a:ea typeface="楷体_GB2312" pitchFamily="49" charset="-122"/>
              </a:rPr>
              <a:t>都是标记为常数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的叶结点，执行 </a:t>
            </a:r>
            <a:r>
              <a:rPr lang="en-US" altLang="zh-CN" sz="2400" b="0" i="1" dirty="0">
                <a:ea typeface="楷体_GB2312" pitchFamily="49" charset="-122"/>
              </a:rPr>
              <a:t>y</a:t>
            </a:r>
            <a:r>
              <a:rPr lang="en-US" altLang="zh-CN" sz="2400" b="0" dirty="0">
                <a:ea typeface="楷体_GB2312" pitchFamily="49" charset="-122"/>
              </a:rPr>
              <a:t> op </a:t>
            </a:r>
            <a:r>
              <a:rPr lang="en-US" altLang="zh-CN" sz="2400" b="0" i="1" dirty="0">
                <a:ea typeface="楷体_GB2312" pitchFamily="49" charset="-122"/>
              </a:rPr>
              <a:t>z</a:t>
            </a:r>
            <a:r>
              <a:rPr lang="zh-CN" altLang="en-US" sz="2400" dirty="0">
                <a:ea typeface="楷体_GB2312" pitchFamily="49" charset="-122"/>
              </a:rPr>
              <a:t>，令得到的新常数为</a:t>
            </a:r>
            <a:r>
              <a:rPr lang="en-US" altLang="zh-CN" sz="2400" b="0" i="1" dirty="0">
                <a:ea typeface="楷体_GB2312" pitchFamily="49" charset="-122"/>
              </a:rPr>
              <a:t>p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b="0" i="1" dirty="0">
                <a:ea typeface="楷体_GB2312" pitchFamily="49" charset="-122"/>
              </a:rPr>
              <a:t>node(p)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400" b="0" i="1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无定义，则构造一个用 </a:t>
            </a:r>
            <a:r>
              <a:rPr lang="en-US" altLang="zh-CN" sz="2400" b="0" i="1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做标记的叶结点 </a:t>
            </a:r>
            <a:r>
              <a:rPr lang="en-US" altLang="zh-CN" sz="2400" b="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b="0" i="1" dirty="0">
                <a:ea typeface="楷体_GB2312" pitchFamily="49" charset="-122"/>
              </a:rPr>
              <a:t>node(y)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400" b="0" i="1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b="0" i="1" dirty="0">
                <a:ea typeface="楷体_GB2312" pitchFamily="49" charset="-122"/>
              </a:rPr>
              <a:t>node(z)</a:t>
            </a:r>
            <a:r>
              <a:rPr lang="zh-CN" altLang="en-US" sz="2400" dirty="0">
                <a:ea typeface="楷体_GB2312" pitchFamily="49" charset="-122"/>
              </a:rPr>
              <a:t>是处理当前语句时新构造出来的结点，则删除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它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置</a:t>
            </a:r>
            <a:r>
              <a:rPr lang="en-US" altLang="zh-CN" sz="2400" b="0" i="1" dirty="0">
                <a:ea typeface="楷体_GB2312" pitchFamily="49" charset="-122"/>
              </a:rPr>
              <a:t>node(p)=n</a:t>
            </a:r>
            <a:r>
              <a:rPr lang="en-US" altLang="zh-CN" sz="2400" b="0" dirty="0">
                <a:ea typeface="楷体_GB2312" pitchFamily="49" charset="-122"/>
              </a:rPr>
              <a:t>.   </a:t>
            </a:r>
            <a:r>
              <a:rPr lang="zh-CN" altLang="en-US" sz="2400" dirty="0" smtClean="0">
                <a:ea typeface="楷体_GB2312" pitchFamily="49" charset="-122"/>
              </a:rPr>
              <a:t>（起到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合并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已知量</a:t>
            </a:r>
            <a:r>
              <a:rPr lang="zh-CN" altLang="en-US" sz="2400" dirty="0">
                <a:ea typeface="楷体_GB2312" pitchFamily="49" charset="-122"/>
              </a:rPr>
              <a:t>的作用）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若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或 </a:t>
            </a:r>
            <a:r>
              <a:rPr lang="en-US" altLang="zh-CN" sz="2400" b="0" i="1" dirty="0">
                <a:ea typeface="楷体_GB2312" pitchFamily="49" charset="-122"/>
              </a:rPr>
              <a:t>node(z)</a:t>
            </a:r>
            <a:r>
              <a:rPr lang="zh-CN" altLang="en-US" sz="2400" dirty="0">
                <a:ea typeface="楷体_GB2312" pitchFamily="49" charset="-122"/>
              </a:rPr>
              <a:t>不是标记为常数的叶结点，则检查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是否存在某个标记为 </a:t>
            </a:r>
            <a:r>
              <a:rPr lang="en-US" altLang="zh-CN" sz="2400" b="0" i="1" dirty="0">
                <a:ea typeface="楷体_GB2312" pitchFamily="49" charset="-122"/>
              </a:rPr>
              <a:t>op </a:t>
            </a:r>
            <a:r>
              <a:rPr lang="zh-CN" altLang="en-US" sz="2400" dirty="0">
                <a:ea typeface="楷体_GB2312" pitchFamily="49" charset="-122"/>
              </a:rPr>
              <a:t>的结点，其左孩子是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而右孩子是</a:t>
            </a:r>
            <a:r>
              <a:rPr lang="en-US" altLang="zh-CN" sz="2400" b="0" i="1" dirty="0">
                <a:ea typeface="楷体_GB2312" pitchFamily="49" charset="-122"/>
              </a:rPr>
              <a:t>node(z) </a:t>
            </a:r>
            <a:r>
              <a:rPr lang="zh-CN" altLang="en-US" sz="2400" dirty="0">
                <a:ea typeface="楷体_GB2312" pitchFamily="49" charset="-122"/>
              </a:rPr>
              <a:t>？若无，则创建这样的结点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无论有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无，都令该结点为 </a:t>
            </a:r>
            <a:r>
              <a:rPr lang="en-US" altLang="zh-CN" sz="2400" b="0" i="1" dirty="0">
                <a:ea typeface="楷体_GB2312" pitchFamily="49" charset="-122"/>
              </a:rPr>
              <a:t>n. </a:t>
            </a:r>
            <a:r>
              <a:rPr lang="zh-CN" altLang="en-US" sz="2400" dirty="0" smtClean="0">
                <a:ea typeface="楷体_GB2312" pitchFamily="49" charset="-122"/>
              </a:rPr>
              <a:t>（可能起到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删除多余运算</a:t>
            </a:r>
            <a:r>
              <a:rPr lang="zh-CN" altLang="en-US" sz="2400" dirty="0" smtClean="0">
                <a:ea typeface="楷体_GB2312" pitchFamily="49" charset="-122"/>
              </a:rPr>
              <a:t>的作用）</a:t>
            </a:r>
            <a:endParaRPr lang="zh-CN" altLang="en-US" sz="2400" b="0" i="1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（转下页）</a:t>
            </a:r>
          </a:p>
        </p:txBody>
      </p:sp>
      <p:sp>
        <p:nvSpPr>
          <p:cNvPr id="5325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6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7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8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9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0" name="Rectangle 13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1963" y="990600"/>
            <a:ext cx="82248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323528" y="1600200"/>
            <a:ext cx="882047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构造算法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（续上页）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endParaRPr kumimoji="0"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对于第 </a:t>
            </a:r>
            <a:r>
              <a:rPr lang="en-US" altLang="zh-CN" sz="2400" b="0" dirty="0">
                <a:ea typeface="楷体_GB2312" pitchFamily="49" charset="-122"/>
              </a:rPr>
              <a:t>2 </a:t>
            </a:r>
            <a:r>
              <a:rPr lang="zh-CN" altLang="en-US" sz="2400" dirty="0">
                <a:ea typeface="楷体_GB2312" pitchFamily="49" charset="-122"/>
              </a:rPr>
              <a:t>种语句，若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是标记为常数的叶结点，执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行 </a:t>
            </a:r>
            <a:r>
              <a:rPr lang="en-US" altLang="zh-CN" sz="2400" b="0" dirty="0">
                <a:ea typeface="楷体_GB2312" pitchFamily="49" charset="-122"/>
              </a:rPr>
              <a:t>op </a:t>
            </a:r>
            <a:r>
              <a:rPr lang="en-US" altLang="zh-CN" sz="2400" b="0" i="1" dirty="0">
                <a:ea typeface="楷体_GB2312" pitchFamily="49" charset="-122"/>
              </a:rPr>
              <a:t>y</a:t>
            </a:r>
            <a:r>
              <a:rPr lang="zh-CN" altLang="en-US" sz="2400" dirty="0">
                <a:ea typeface="楷体_GB2312" pitchFamily="49" charset="-122"/>
              </a:rPr>
              <a:t>，令得到的新常数为</a:t>
            </a:r>
            <a:r>
              <a:rPr lang="en-US" altLang="zh-CN" sz="2400" b="0" i="1" dirty="0">
                <a:ea typeface="楷体_GB2312" pitchFamily="49" charset="-122"/>
              </a:rPr>
              <a:t>p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b="0" i="1" dirty="0">
                <a:ea typeface="楷体_GB2312" pitchFamily="49" charset="-122"/>
              </a:rPr>
              <a:t>node(p)</a:t>
            </a:r>
            <a:r>
              <a:rPr lang="zh-CN" altLang="en-US" sz="2400" dirty="0">
                <a:ea typeface="楷体_GB2312" pitchFamily="49" charset="-122"/>
              </a:rPr>
              <a:t>无定义，则构造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一个用 </a:t>
            </a:r>
            <a:r>
              <a:rPr lang="en-US" altLang="zh-CN" sz="2400" b="0" i="1" dirty="0">
                <a:ea typeface="楷体_GB2312" pitchFamily="49" charset="-122"/>
              </a:rPr>
              <a:t>p </a:t>
            </a:r>
            <a:r>
              <a:rPr lang="zh-CN" altLang="en-US" sz="2400" dirty="0">
                <a:ea typeface="楷体_GB2312" pitchFamily="49" charset="-122"/>
              </a:rPr>
              <a:t>做标记的叶结点 </a:t>
            </a:r>
            <a:r>
              <a:rPr lang="en-US" altLang="zh-CN" sz="2400" b="0" i="1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是处理当前语句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时新构造出来的结点，则删除它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置</a:t>
            </a:r>
            <a:r>
              <a:rPr lang="en-US" altLang="zh-CN" sz="2400" b="0" i="1" dirty="0">
                <a:ea typeface="楷体_GB2312" pitchFamily="49" charset="-122"/>
              </a:rPr>
              <a:t>node(p)=n</a:t>
            </a:r>
            <a:r>
              <a:rPr lang="en-US" altLang="zh-CN" sz="2400" b="0" dirty="0">
                <a:ea typeface="楷体_GB2312" pitchFamily="49" charset="-122"/>
              </a:rPr>
              <a:t>.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（这一</a:t>
            </a:r>
            <a:r>
              <a:rPr lang="zh-CN" altLang="en-US" sz="2400" dirty="0" smtClean="0">
                <a:ea typeface="楷体_GB2312" pitchFamily="49" charset="-122"/>
              </a:rPr>
              <a:t>步起到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合并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已知量</a:t>
            </a:r>
            <a:r>
              <a:rPr lang="zh-CN" altLang="en-US" sz="2400" dirty="0">
                <a:ea typeface="楷体_GB2312" pitchFamily="49" charset="-122"/>
              </a:rPr>
              <a:t>的作用）</a:t>
            </a:r>
            <a:endParaRPr lang="zh-CN" altLang="en-US" sz="2400" b="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若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不是标记为常数的叶结点，则检查是否存在某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个标记为 </a:t>
            </a:r>
            <a:r>
              <a:rPr lang="en-US" altLang="zh-CN" sz="2400" b="0" i="1" dirty="0">
                <a:ea typeface="楷体_GB2312" pitchFamily="49" charset="-122"/>
              </a:rPr>
              <a:t>op </a:t>
            </a:r>
            <a:r>
              <a:rPr lang="zh-CN" altLang="en-US" sz="2400" dirty="0">
                <a:ea typeface="楷体_GB2312" pitchFamily="49" charset="-122"/>
              </a:rPr>
              <a:t>的结点，其唯一的孩子是 </a:t>
            </a:r>
            <a:r>
              <a:rPr lang="en-US" altLang="zh-CN" sz="2400" b="0" i="1" dirty="0">
                <a:ea typeface="楷体_GB2312" pitchFamily="49" charset="-122"/>
              </a:rPr>
              <a:t>node(y)</a:t>
            </a:r>
            <a:r>
              <a:rPr lang="zh-CN" altLang="en-US" sz="2400" dirty="0">
                <a:ea typeface="楷体_GB2312" pitchFamily="49" charset="-122"/>
              </a:rPr>
              <a:t>？若无，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则创建这样的结点</a:t>
            </a:r>
            <a:r>
              <a:rPr lang="en-US" altLang="zh-CN" sz="2400" dirty="0"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无论有无，都令该结点为 </a:t>
            </a:r>
            <a:r>
              <a:rPr lang="en-US" altLang="zh-CN" sz="2400" b="0" i="1" dirty="0">
                <a:ea typeface="楷体_GB2312" pitchFamily="49" charset="-122"/>
              </a:rPr>
              <a:t>n.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（这一</a:t>
            </a:r>
            <a:r>
              <a:rPr lang="zh-CN" altLang="en-US" sz="2400" dirty="0" smtClean="0">
                <a:ea typeface="楷体_GB2312" pitchFamily="49" charset="-122"/>
              </a:rPr>
              <a:t>步可能起到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删除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多余运算</a:t>
            </a:r>
            <a:r>
              <a:rPr lang="zh-CN" altLang="en-US" sz="2400" dirty="0">
                <a:ea typeface="楷体_GB2312" pitchFamily="49" charset="-122"/>
              </a:rPr>
              <a:t>的作用）</a:t>
            </a:r>
            <a:endParaRPr lang="zh-CN" altLang="en-US" sz="2400" b="0" i="1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（转下页）</a:t>
            </a:r>
          </a:p>
        </p:txBody>
      </p:sp>
      <p:sp>
        <p:nvSpPr>
          <p:cNvPr id="54276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7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8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9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0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1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2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3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4" name="Rectangle 13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81000" y="12192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 dirty="0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533400" y="1997075"/>
            <a:ext cx="8610600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构造算法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（续上页）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endParaRPr kumimoji="0"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对于第 </a:t>
            </a:r>
            <a:r>
              <a:rPr lang="en-US" altLang="zh-CN" sz="2400" b="0" dirty="0">
                <a:ea typeface="楷体_GB2312" pitchFamily="49" charset="-122"/>
              </a:rPr>
              <a:t>3 </a:t>
            </a:r>
            <a:r>
              <a:rPr lang="zh-CN" altLang="en-US" sz="2400" dirty="0">
                <a:ea typeface="楷体_GB2312" pitchFamily="49" charset="-122"/>
              </a:rPr>
              <a:t>种语句，令 </a:t>
            </a:r>
            <a:r>
              <a:rPr lang="en-US" altLang="zh-CN" sz="2400" b="0" i="1" dirty="0">
                <a:ea typeface="楷体_GB2312" pitchFamily="49" charset="-122"/>
              </a:rPr>
              <a:t>node(y) </a:t>
            </a:r>
            <a:r>
              <a:rPr lang="zh-CN" altLang="en-US" sz="2400" dirty="0">
                <a:ea typeface="楷体_GB2312" pitchFamily="49" charset="-122"/>
              </a:rPr>
              <a:t>为 </a:t>
            </a:r>
            <a:r>
              <a:rPr lang="en-US" altLang="zh-CN" sz="2400" b="0" i="1" dirty="0">
                <a:ea typeface="楷体_GB2312" pitchFamily="49" charset="-122"/>
              </a:rPr>
              <a:t>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最后，</a:t>
            </a:r>
            <a:r>
              <a:rPr lang="zh-CN" altLang="en-US" sz="2400" dirty="0">
                <a:ea typeface="楷体_GB2312" pitchFamily="49" charset="-122"/>
              </a:rPr>
              <a:t>从 </a:t>
            </a:r>
            <a:r>
              <a:rPr lang="en-US" altLang="zh-CN" sz="2400" b="0" i="1" dirty="0">
                <a:ea typeface="楷体_GB2312" pitchFamily="49" charset="-122"/>
              </a:rPr>
              <a:t>node(x) </a:t>
            </a:r>
            <a:r>
              <a:rPr lang="zh-CN" altLang="en-US" sz="2400" dirty="0">
                <a:ea typeface="楷体_GB2312" pitchFamily="49" charset="-122"/>
              </a:rPr>
              <a:t>的附加标识符表中将 </a:t>
            </a:r>
            <a:r>
              <a:rPr lang="en-US" altLang="zh-CN" sz="2400" b="0" i="1" dirty="0">
                <a:ea typeface="楷体_GB2312" pitchFamily="49" charset="-122"/>
              </a:rPr>
              <a:t>x </a:t>
            </a:r>
            <a:r>
              <a:rPr lang="zh-CN" altLang="en-US" sz="2400" dirty="0">
                <a:ea typeface="楷体_GB2312" pitchFamily="49" charset="-122"/>
              </a:rPr>
              <a:t>删除，将其添加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到结点 </a:t>
            </a:r>
            <a:r>
              <a:rPr lang="en-US" altLang="zh-CN" sz="2400" b="0" i="1" dirty="0">
                <a:ea typeface="楷体_GB2312" pitchFamily="49" charset="-122"/>
              </a:rPr>
              <a:t>n </a:t>
            </a:r>
            <a:r>
              <a:rPr lang="zh-CN" altLang="en-US" sz="2400" dirty="0">
                <a:ea typeface="楷体_GB2312" pitchFamily="49" charset="-122"/>
              </a:rPr>
              <a:t>的</a:t>
            </a:r>
            <a:r>
              <a:rPr lang="zh-CN" altLang="en-US" sz="2400" dirty="0" smtClean="0">
                <a:ea typeface="楷体_GB2312" pitchFamily="49" charset="-122"/>
              </a:rPr>
              <a:t>附加</a:t>
            </a:r>
            <a:r>
              <a:rPr lang="zh-CN" altLang="zh-CN" sz="2400" dirty="0" smtClean="0">
                <a:ea typeface="楷体_GB2312" pitchFamily="49" charset="-122"/>
              </a:rPr>
              <a:t>附加变量名字</a:t>
            </a:r>
            <a:r>
              <a:rPr lang="zh-CN" altLang="en-US" sz="2400" dirty="0" smtClean="0">
                <a:ea typeface="楷体_GB2312" pitchFamily="49" charset="-122"/>
              </a:rPr>
              <a:t>表中</a:t>
            </a:r>
            <a:r>
              <a:rPr lang="zh-CN" altLang="en-US" sz="2400" dirty="0">
                <a:ea typeface="楷体_GB2312" pitchFamily="49" charset="-122"/>
              </a:rPr>
              <a:t>，并置 </a:t>
            </a:r>
            <a:r>
              <a:rPr lang="en-US" altLang="zh-CN" sz="2400" b="0" i="1" dirty="0">
                <a:ea typeface="楷体_GB2312" pitchFamily="49" charset="-122"/>
              </a:rPr>
              <a:t>node(x) </a:t>
            </a:r>
            <a:r>
              <a:rPr lang="zh-CN" altLang="en-US" sz="2400" dirty="0">
                <a:ea typeface="楷体_GB2312" pitchFamily="49" charset="-122"/>
              </a:rPr>
              <a:t>为</a:t>
            </a:r>
            <a:r>
              <a:rPr lang="en-US" altLang="zh-CN" sz="2400" b="0" i="1" dirty="0">
                <a:ea typeface="楷体_GB2312" pitchFamily="49" charset="-122"/>
              </a:rPr>
              <a:t>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（这一步有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删除无用赋值</a:t>
            </a:r>
            <a:r>
              <a:rPr lang="zh-CN" altLang="en-US" sz="2400" dirty="0">
                <a:ea typeface="楷体_GB2312" pitchFamily="49" charset="-122"/>
              </a:rPr>
              <a:t>的作用）</a:t>
            </a:r>
          </a:p>
        </p:txBody>
      </p:sp>
      <p:sp>
        <p:nvSpPr>
          <p:cNvPr id="55300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364288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1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364288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2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364288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3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364288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4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364288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5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364288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6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364288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7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364288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8" name="Rectangle 13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6323" name="Rectangle 11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6324" name="Rectangle 52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56325" name="AutoShape 15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6" name="AutoShape 15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7" name="AutoShape 15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8" name="AutoShape 15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9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0" name="AutoShape 15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1" name="AutoShape 15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2" name="AutoShape 16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3" name="AutoShape 1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4" name="AutoShape 16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5" name="AutoShape 16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6" name="AutoShape 16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7" name="AutoShape 198"/>
          <p:cNvSpPr>
            <a:spLocks noChangeArrowheads="1"/>
          </p:cNvSpPr>
          <p:nvPr/>
        </p:nvSpPr>
        <p:spPr bwMode="auto">
          <a:xfrm>
            <a:off x="8458200" y="2133600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6338" name="Rectangle 199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7347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8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9" name="AutoShape 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0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1" name="AutoShape 1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2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3" name="AutoShape 1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4" name="AutoShape 1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5" name="AutoShape 1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6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7" name="AutoShape 1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8" name="AutoShape 1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9" name="Oval 23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57360" name="Rectangle 33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57361" name="Rectangle 34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57362" name="Rectangle 36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57363" name="AutoShape 37"/>
          <p:cNvSpPr>
            <a:spLocks noChangeArrowheads="1"/>
          </p:cNvSpPr>
          <p:nvPr/>
        </p:nvSpPr>
        <p:spPr bwMode="auto">
          <a:xfrm>
            <a:off x="8458200" y="2562225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7364" name="Rectangle 38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57365" name="Rectangle 40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8371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6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7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8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9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0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1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2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3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58384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58385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58386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58387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58388" name="AutoShape 35"/>
          <p:cNvSpPr>
            <a:spLocks noChangeArrowheads="1"/>
          </p:cNvSpPr>
          <p:nvPr/>
        </p:nvSpPr>
        <p:spPr bwMode="auto">
          <a:xfrm>
            <a:off x="8458200" y="2971800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8389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58390" name="Rectangle 37"/>
          <p:cNvSpPr>
            <a:spLocks noChangeArrowheads="1"/>
          </p:cNvSpPr>
          <p:nvPr/>
        </p:nvSpPr>
        <p:spPr bwMode="auto">
          <a:xfrm>
            <a:off x="30480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</a:t>
            </a:r>
          </a:p>
        </p:txBody>
      </p:sp>
      <p:sp>
        <p:nvSpPr>
          <p:cNvPr id="58391" name="Rectangle 38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58392" name="Rectangle 40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5939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7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8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9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0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1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2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3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4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5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6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7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59408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59409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59410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59411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59412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413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414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59415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59416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59417" name="AutoShape 35"/>
          <p:cNvSpPr>
            <a:spLocks noChangeArrowheads="1"/>
          </p:cNvSpPr>
          <p:nvPr/>
        </p:nvSpPr>
        <p:spPr bwMode="auto">
          <a:xfrm>
            <a:off x="8458200" y="3400425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18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59419" name="Rectangle 37"/>
          <p:cNvSpPr>
            <a:spLocks noChangeArrowheads="1"/>
          </p:cNvSpPr>
          <p:nvPr/>
        </p:nvSpPr>
        <p:spPr bwMode="auto">
          <a:xfrm>
            <a:off x="30480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</a:t>
            </a:r>
          </a:p>
        </p:txBody>
      </p:sp>
      <p:sp>
        <p:nvSpPr>
          <p:cNvPr id="59420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59421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59422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59423" name="Rectangle 41"/>
          <p:cNvSpPr>
            <a:spLocks noChangeArrowheads="1"/>
          </p:cNvSpPr>
          <p:nvPr/>
        </p:nvSpPr>
        <p:spPr bwMode="auto">
          <a:xfrm>
            <a:off x="4343400" y="45720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</a:t>
            </a:r>
          </a:p>
        </p:txBody>
      </p:sp>
      <p:sp>
        <p:nvSpPr>
          <p:cNvPr id="59424" name="Rectangle 42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59425" name="Rectangle 44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60419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0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1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3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4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5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6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7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8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9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0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Oval 19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0432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0433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0434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0435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0436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0437" name="Line 26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38" name="Line 27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39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40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41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0442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0443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60444" name="AutoShape 35"/>
          <p:cNvSpPr>
            <a:spLocks noChangeArrowheads="1"/>
          </p:cNvSpPr>
          <p:nvPr/>
        </p:nvSpPr>
        <p:spPr bwMode="auto">
          <a:xfrm>
            <a:off x="8458200" y="3857625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0445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0446" name="Rectangle 37"/>
          <p:cNvSpPr>
            <a:spLocks noChangeArrowheads="1"/>
          </p:cNvSpPr>
          <p:nvPr/>
        </p:nvSpPr>
        <p:spPr bwMode="auto">
          <a:xfrm>
            <a:off x="30480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</a:t>
            </a:r>
          </a:p>
        </p:txBody>
      </p:sp>
      <p:sp>
        <p:nvSpPr>
          <p:cNvPr id="60447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0448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0449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0450" name="Rectangle 41"/>
          <p:cNvSpPr>
            <a:spLocks noChangeArrowheads="1"/>
          </p:cNvSpPr>
          <p:nvPr/>
        </p:nvSpPr>
        <p:spPr bwMode="auto">
          <a:xfrm>
            <a:off x="4343400" y="45720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</a:t>
            </a:r>
          </a:p>
        </p:txBody>
      </p:sp>
      <p:sp>
        <p:nvSpPr>
          <p:cNvPr id="60451" name="Rectangle 42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0452" name="Rectangle 43"/>
          <p:cNvSpPr>
            <a:spLocks noChangeArrowheads="1"/>
          </p:cNvSpPr>
          <p:nvPr/>
        </p:nvSpPr>
        <p:spPr bwMode="auto">
          <a:xfrm>
            <a:off x="3505200" y="3886200"/>
            <a:ext cx="354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</a:t>
            </a:r>
          </a:p>
        </p:txBody>
      </p:sp>
      <p:sp>
        <p:nvSpPr>
          <p:cNvPr id="60453" name="Rectangle 44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60454" name="Rectangle 46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6144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5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9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1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3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4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5" name="Oval 19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1456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1457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1458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1459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1460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1461" name="Line 26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2" name="Line 27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3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4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5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1466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1467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61468" name="AutoShape 35"/>
          <p:cNvSpPr>
            <a:spLocks noChangeArrowheads="1"/>
          </p:cNvSpPr>
          <p:nvPr/>
        </p:nvSpPr>
        <p:spPr bwMode="auto">
          <a:xfrm>
            <a:off x="8458200" y="4314825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1469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1470" name="Rectangle 37"/>
          <p:cNvSpPr>
            <a:spLocks noChangeArrowheads="1"/>
          </p:cNvSpPr>
          <p:nvPr/>
        </p:nvSpPr>
        <p:spPr bwMode="auto">
          <a:xfrm>
            <a:off x="30480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</a:t>
            </a:r>
          </a:p>
        </p:txBody>
      </p:sp>
      <p:sp>
        <p:nvSpPr>
          <p:cNvPr id="61471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1472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1473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1474" name="Rectangle 41"/>
          <p:cNvSpPr>
            <a:spLocks noChangeArrowheads="1"/>
          </p:cNvSpPr>
          <p:nvPr/>
        </p:nvSpPr>
        <p:spPr bwMode="auto">
          <a:xfrm>
            <a:off x="4343400" y="45720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</a:t>
            </a:r>
          </a:p>
        </p:txBody>
      </p:sp>
      <p:sp>
        <p:nvSpPr>
          <p:cNvPr id="61475" name="Rectangle 42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1476" name="Rectangle 43"/>
          <p:cNvSpPr>
            <a:spLocks noChangeArrowheads="1"/>
          </p:cNvSpPr>
          <p:nvPr/>
        </p:nvSpPr>
        <p:spPr bwMode="auto">
          <a:xfrm>
            <a:off x="3505200" y="3886200"/>
            <a:ext cx="663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A, B</a:t>
            </a:r>
          </a:p>
        </p:txBody>
      </p:sp>
      <p:sp>
        <p:nvSpPr>
          <p:cNvPr id="61477" name="Rectangle 44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61478" name="Rectangle 46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62467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8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9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0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1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2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3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4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5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6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7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8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9" name="Oval 19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2480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2481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2482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2483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2484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2485" name="Line 26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486" name="Line 27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487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488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489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2490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2491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62492" name="AutoShape 35"/>
          <p:cNvSpPr>
            <a:spLocks noChangeArrowheads="1"/>
          </p:cNvSpPr>
          <p:nvPr/>
        </p:nvSpPr>
        <p:spPr bwMode="auto">
          <a:xfrm>
            <a:off x="8458200" y="4724400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2493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2494" name="Rectangle 37"/>
          <p:cNvSpPr>
            <a:spLocks noChangeArrowheads="1"/>
          </p:cNvSpPr>
          <p:nvPr/>
        </p:nvSpPr>
        <p:spPr bwMode="auto">
          <a:xfrm>
            <a:off x="3048000" y="5638800"/>
            <a:ext cx="917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T1, T3</a:t>
            </a:r>
          </a:p>
        </p:txBody>
      </p:sp>
      <p:sp>
        <p:nvSpPr>
          <p:cNvPr id="62495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2496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2497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2498" name="Rectangle 41"/>
          <p:cNvSpPr>
            <a:spLocks noChangeArrowheads="1"/>
          </p:cNvSpPr>
          <p:nvPr/>
        </p:nvSpPr>
        <p:spPr bwMode="auto">
          <a:xfrm>
            <a:off x="4343400" y="45720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</a:t>
            </a:r>
          </a:p>
        </p:txBody>
      </p:sp>
      <p:sp>
        <p:nvSpPr>
          <p:cNvPr id="62499" name="Rectangle 42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2500" name="Rectangle 43"/>
          <p:cNvSpPr>
            <a:spLocks noChangeArrowheads="1"/>
          </p:cNvSpPr>
          <p:nvPr/>
        </p:nvSpPr>
        <p:spPr bwMode="auto">
          <a:xfrm>
            <a:off x="3505200" y="3886200"/>
            <a:ext cx="663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A, B</a:t>
            </a:r>
          </a:p>
        </p:txBody>
      </p:sp>
      <p:sp>
        <p:nvSpPr>
          <p:cNvPr id="62501" name="Rectangle 44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62502" name="Rectangle 46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63491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2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3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4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6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7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8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9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0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1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2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3" name="Oval 19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3504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3505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3506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3507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3508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3509" name="Line 26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10" name="Line 27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11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12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13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3514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3515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63516" name="AutoShape 35"/>
          <p:cNvSpPr>
            <a:spLocks noChangeArrowheads="1"/>
          </p:cNvSpPr>
          <p:nvPr/>
        </p:nvSpPr>
        <p:spPr bwMode="auto">
          <a:xfrm>
            <a:off x="8458200" y="5153025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3517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3518" name="Rectangle 37"/>
          <p:cNvSpPr>
            <a:spLocks noChangeArrowheads="1"/>
          </p:cNvSpPr>
          <p:nvPr/>
        </p:nvSpPr>
        <p:spPr bwMode="auto">
          <a:xfrm>
            <a:off x="3048000" y="5638800"/>
            <a:ext cx="917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T1, T3</a:t>
            </a:r>
          </a:p>
        </p:txBody>
      </p:sp>
      <p:sp>
        <p:nvSpPr>
          <p:cNvPr id="63519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3520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3521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3522" name="Rectangle 41"/>
          <p:cNvSpPr>
            <a:spLocks noChangeArrowheads="1"/>
          </p:cNvSpPr>
          <p:nvPr/>
        </p:nvSpPr>
        <p:spPr bwMode="auto">
          <a:xfrm>
            <a:off x="4343400" y="4556125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T2,T4</a:t>
            </a:r>
          </a:p>
        </p:txBody>
      </p:sp>
      <p:sp>
        <p:nvSpPr>
          <p:cNvPr id="63523" name="Rectangle 42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3524" name="Rectangle 43"/>
          <p:cNvSpPr>
            <a:spLocks noChangeArrowheads="1"/>
          </p:cNvSpPr>
          <p:nvPr/>
        </p:nvSpPr>
        <p:spPr bwMode="auto">
          <a:xfrm>
            <a:off x="3505200" y="3886200"/>
            <a:ext cx="663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A, B</a:t>
            </a:r>
          </a:p>
        </p:txBody>
      </p:sp>
      <p:sp>
        <p:nvSpPr>
          <p:cNvPr id="63525" name="Rectangle 44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63526" name="Rectangle 46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6451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6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7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8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9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0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1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2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3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4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5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6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7" name="Oval 19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4528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4529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4530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4531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4532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4533" name="Line 26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34" name="Line 27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35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36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37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4538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4539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64540" name="AutoShape 35"/>
          <p:cNvSpPr>
            <a:spLocks noChangeArrowheads="1"/>
          </p:cNvSpPr>
          <p:nvPr/>
        </p:nvSpPr>
        <p:spPr bwMode="auto">
          <a:xfrm>
            <a:off x="8458200" y="5638800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4541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4542" name="Rectangle 37"/>
          <p:cNvSpPr>
            <a:spLocks noChangeArrowheads="1"/>
          </p:cNvSpPr>
          <p:nvPr/>
        </p:nvSpPr>
        <p:spPr bwMode="auto">
          <a:xfrm>
            <a:off x="3048000" y="5638800"/>
            <a:ext cx="917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T1, T3</a:t>
            </a:r>
          </a:p>
        </p:txBody>
      </p:sp>
      <p:sp>
        <p:nvSpPr>
          <p:cNvPr id="64543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4544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4545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4546" name="Rectangle 41"/>
          <p:cNvSpPr>
            <a:spLocks noChangeArrowheads="1"/>
          </p:cNvSpPr>
          <p:nvPr/>
        </p:nvSpPr>
        <p:spPr bwMode="auto">
          <a:xfrm>
            <a:off x="4343400" y="4556125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T2,T4</a:t>
            </a:r>
          </a:p>
        </p:txBody>
      </p:sp>
      <p:sp>
        <p:nvSpPr>
          <p:cNvPr id="64547" name="Rectangle 42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4548" name="Rectangle 43"/>
          <p:cNvSpPr>
            <a:spLocks noChangeArrowheads="1"/>
          </p:cNvSpPr>
          <p:nvPr/>
        </p:nvSpPr>
        <p:spPr bwMode="auto">
          <a:xfrm>
            <a:off x="3505200" y="3886200"/>
            <a:ext cx="1100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A, B, T5</a:t>
            </a:r>
          </a:p>
        </p:txBody>
      </p:sp>
      <p:sp>
        <p:nvSpPr>
          <p:cNvPr id="64549" name="Rectangle 44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64550" name="Rectangle 46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65539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0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1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2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3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4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5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6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7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8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9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0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1" name="Oval 19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5552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5553" name="Oval 21"/>
          <p:cNvSpPr>
            <a:spLocks noChangeArrowheads="1"/>
          </p:cNvSpPr>
          <p:nvPr/>
        </p:nvSpPr>
        <p:spPr bwMode="auto">
          <a:xfrm>
            <a:off x="5407025" y="4648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n7</a:t>
            </a:r>
          </a:p>
        </p:txBody>
      </p:sp>
      <p:sp>
        <p:nvSpPr>
          <p:cNvPr id="65554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5555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5556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5557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5558" name="Line 26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59" name="Line 27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60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61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62" name="Line 30"/>
          <p:cNvSpPr>
            <a:spLocks noChangeShapeType="1"/>
          </p:cNvSpPr>
          <p:nvPr/>
        </p:nvSpPr>
        <p:spPr bwMode="auto">
          <a:xfrm>
            <a:off x="6019800" y="5029200"/>
            <a:ext cx="228600" cy="762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63" name="Line 31"/>
          <p:cNvSpPr>
            <a:spLocks noChangeShapeType="1"/>
          </p:cNvSpPr>
          <p:nvPr/>
        </p:nvSpPr>
        <p:spPr bwMode="auto">
          <a:xfrm flipH="1">
            <a:off x="4572000" y="4953000"/>
            <a:ext cx="914400" cy="838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64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5565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5566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65567" name="AutoShape 35"/>
          <p:cNvSpPr>
            <a:spLocks noChangeArrowheads="1"/>
          </p:cNvSpPr>
          <p:nvPr/>
        </p:nvSpPr>
        <p:spPr bwMode="auto">
          <a:xfrm>
            <a:off x="8458200" y="6019800"/>
            <a:ext cx="457200" cy="180975"/>
          </a:xfrm>
          <a:prstGeom prst="leftArrow">
            <a:avLst>
              <a:gd name="adj1" fmla="val 50000"/>
              <a:gd name="adj2" fmla="val 63158"/>
            </a:avLst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5568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5569" name="Rectangle 37"/>
          <p:cNvSpPr>
            <a:spLocks noChangeArrowheads="1"/>
          </p:cNvSpPr>
          <p:nvPr/>
        </p:nvSpPr>
        <p:spPr bwMode="auto">
          <a:xfrm>
            <a:off x="3048000" y="5638800"/>
            <a:ext cx="917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T1, T3</a:t>
            </a:r>
          </a:p>
        </p:txBody>
      </p:sp>
      <p:sp>
        <p:nvSpPr>
          <p:cNvPr id="65570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5571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5572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5573" name="Rectangle 41"/>
          <p:cNvSpPr>
            <a:spLocks noChangeArrowheads="1"/>
          </p:cNvSpPr>
          <p:nvPr/>
        </p:nvSpPr>
        <p:spPr bwMode="auto">
          <a:xfrm>
            <a:off x="4343400" y="4556125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T2,T4</a:t>
            </a:r>
          </a:p>
        </p:txBody>
      </p:sp>
      <p:sp>
        <p:nvSpPr>
          <p:cNvPr id="65574" name="Rectangle 42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5575" name="Rectangle 43"/>
          <p:cNvSpPr>
            <a:spLocks noChangeArrowheads="1"/>
          </p:cNvSpPr>
          <p:nvPr/>
        </p:nvSpPr>
        <p:spPr bwMode="auto">
          <a:xfrm>
            <a:off x="3505200" y="3886200"/>
            <a:ext cx="1100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A, B, T5</a:t>
            </a:r>
          </a:p>
        </p:txBody>
      </p:sp>
      <p:sp>
        <p:nvSpPr>
          <p:cNvPr id="65576" name="Rectangle 44"/>
          <p:cNvSpPr>
            <a:spLocks noChangeArrowheads="1"/>
          </p:cNvSpPr>
          <p:nvPr/>
        </p:nvSpPr>
        <p:spPr bwMode="auto">
          <a:xfrm>
            <a:off x="5638800" y="5029200"/>
            <a:ext cx="2857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-</a:t>
            </a:r>
          </a:p>
        </p:txBody>
      </p:sp>
      <p:sp>
        <p:nvSpPr>
          <p:cNvPr id="65577" name="Rectangle 45"/>
          <p:cNvSpPr>
            <a:spLocks noChangeArrowheads="1"/>
          </p:cNvSpPr>
          <p:nvPr/>
        </p:nvSpPr>
        <p:spPr bwMode="auto">
          <a:xfrm>
            <a:off x="5867400" y="44196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T6</a:t>
            </a:r>
          </a:p>
        </p:txBody>
      </p:sp>
      <p:sp>
        <p:nvSpPr>
          <p:cNvPr id="65578" name="Rectangle 46"/>
          <p:cNvSpPr>
            <a:spLocks noChangeArrowheads="1"/>
          </p:cNvSpPr>
          <p:nvPr/>
        </p:nvSpPr>
        <p:spPr bwMode="auto">
          <a:xfrm>
            <a:off x="1524000" y="152400"/>
            <a:ext cx="4495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65579" name="Rectangle 48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基本块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表示的构造</a:t>
            </a:r>
          </a:p>
        </p:txBody>
      </p:sp>
      <p:sp>
        <p:nvSpPr>
          <p:cNvPr id="6656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5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6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8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9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0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1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2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3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4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5" name="Line 17"/>
          <p:cNvSpPr>
            <a:spLocks noChangeShapeType="1"/>
          </p:cNvSpPr>
          <p:nvPr/>
        </p:nvSpPr>
        <p:spPr bwMode="auto">
          <a:xfrm flipH="1">
            <a:off x="3352800" y="3124200"/>
            <a:ext cx="914400" cy="762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76" name="Oval 18"/>
          <p:cNvSpPr>
            <a:spLocks noChangeArrowheads="1"/>
          </p:cNvSpPr>
          <p:nvPr/>
        </p:nvSpPr>
        <p:spPr bwMode="auto">
          <a:xfrm>
            <a:off x="4187825" y="28194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n8</a:t>
            </a:r>
          </a:p>
        </p:txBody>
      </p:sp>
      <p:sp>
        <p:nvSpPr>
          <p:cNvPr id="66577" name="Oval 19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6578" name="Oval 20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6579" name="Oval 21"/>
          <p:cNvSpPr>
            <a:spLocks noChangeArrowheads="1"/>
          </p:cNvSpPr>
          <p:nvPr/>
        </p:nvSpPr>
        <p:spPr bwMode="auto">
          <a:xfrm>
            <a:off x="5407025" y="4648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n7</a:t>
            </a:r>
          </a:p>
        </p:txBody>
      </p:sp>
      <p:sp>
        <p:nvSpPr>
          <p:cNvPr id="66580" name="Oval 22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6581" name="Oval 23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6582" name="Oval 24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6583" name="Oval 25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6584" name="Line 26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85" name="Line 27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86" name="Line 28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87" name="Line 29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88" name="Line 30"/>
          <p:cNvSpPr>
            <a:spLocks noChangeShapeType="1"/>
          </p:cNvSpPr>
          <p:nvPr/>
        </p:nvSpPr>
        <p:spPr bwMode="auto">
          <a:xfrm>
            <a:off x="6019800" y="5029200"/>
            <a:ext cx="228600" cy="762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89" name="Line 31"/>
          <p:cNvSpPr>
            <a:spLocks noChangeShapeType="1"/>
          </p:cNvSpPr>
          <p:nvPr/>
        </p:nvSpPr>
        <p:spPr bwMode="auto">
          <a:xfrm flipH="1">
            <a:off x="4572000" y="4953000"/>
            <a:ext cx="914400" cy="838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90" name="Rectangle 32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6591" name="Rectangle 33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6592" name="Rectangle 34"/>
          <p:cNvSpPr>
            <a:spLocks noChangeArrowheads="1"/>
          </p:cNvSpPr>
          <p:nvPr/>
        </p:nvSpPr>
        <p:spPr bwMode="auto">
          <a:xfrm>
            <a:off x="6705600" y="1974850"/>
            <a:ext cx="1752600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T4:=R+r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/>
              <a:t>B:=T5*T6</a:t>
            </a:r>
          </a:p>
        </p:txBody>
      </p:sp>
      <p:sp>
        <p:nvSpPr>
          <p:cNvPr id="66593" name="Rectangle 36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6594" name="Rectangle 37"/>
          <p:cNvSpPr>
            <a:spLocks noChangeArrowheads="1"/>
          </p:cNvSpPr>
          <p:nvPr/>
        </p:nvSpPr>
        <p:spPr bwMode="auto">
          <a:xfrm>
            <a:off x="3048000" y="5638800"/>
            <a:ext cx="917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T1, T3</a:t>
            </a:r>
          </a:p>
        </p:txBody>
      </p:sp>
      <p:sp>
        <p:nvSpPr>
          <p:cNvPr id="66595" name="Rectangle 38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6596" name="Rectangle 39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6597" name="Rectangle 40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6598" name="Rectangle 41"/>
          <p:cNvSpPr>
            <a:spLocks noChangeArrowheads="1"/>
          </p:cNvSpPr>
          <p:nvPr/>
        </p:nvSpPr>
        <p:spPr bwMode="auto">
          <a:xfrm>
            <a:off x="4343400" y="4556125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T2,T4</a:t>
            </a:r>
          </a:p>
        </p:txBody>
      </p:sp>
      <p:sp>
        <p:nvSpPr>
          <p:cNvPr id="66599" name="Rectangle 42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6600" name="Rectangle 43"/>
          <p:cNvSpPr>
            <a:spLocks noChangeArrowheads="1"/>
          </p:cNvSpPr>
          <p:nvPr/>
        </p:nvSpPr>
        <p:spPr bwMode="auto">
          <a:xfrm>
            <a:off x="3505200" y="3886200"/>
            <a:ext cx="790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A, T5</a:t>
            </a:r>
          </a:p>
        </p:txBody>
      </p:sp>
      <p:sp>
        <p:nvSpPr>
          <p:cNvPr id="66601" name="Rectangle 44"/>
          <p:cNvSpPr>
            <a:spLocks noChangeArrowheads="1"/>
          </p:cNvSpPr>
          <p:nvPr/>
        </p:nvSpPr>
        <p:spPr bwMode="auto">
          <a:xfrm>
            <a:off x="5638800" y="5029200"/>
            <a:ext cx="2857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-</a:t>
            </a:r>
          </a:p>
        </p:txBody>
      </p:sp>
      <p:sp>
        <p:nvSpPr>
          <p:cNvPr id="66602" name="Rectangle 45"/>
          <p:cNvSpPr>
            <a:spLocks noChangeArrowheads="1"/>
          </p:cNvSpPr>
          <p:nvPr/>
        </p:nvSpPr>
        <p:spPr bwMode="auto">
          <a:xfrm>
            <a:off x="5867400" y="44196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T6</a:t>
            </a:r>
          </a:p>
        </p:txBody>
      </p:sp>
      <p:sp>
        <p:nvSpPr>
          <p:cNvPr id="66603" name="Line 46"/>
          <p:cNvSpPr>
            <a:spLocks noChangeShapeType="1"/>
          </p:cNvSpPr>
          <p:nvPr/>
        </p:nvSpPr>
        <p:spPr bwMode="auto">
          <a:xfrm>
            <a:off x="4876800" y="3124200"/>
            <a:ext cx="9144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604" name="Rectangle 47"/>
          <p:cNvSpPr>
            <a:spLocks noChangeArrowheads="1"/>
          </p:cNvSpPr>
          <p:nvPr/>
        </p:nvSpPr>
        <p:spPr bwMode="auto">
          <a:xfrm>
            <a:off x="4419600" y="32893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6605" name="Rectangle 48"/>
          <p:cNvSpPr>
            <a:spLocks noChangeArrowheads="1"/>
          </p:cNvSpPr>
          <p:nvPr/>
        </p:nvSpPr>
        <p:spPr bwMode="auto">
          <a:xfrm>
            <a:off x="4751388" y="2590800"/>
            <a:ext cx="354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B</a:t>
            </a:r>
          </a:p>
        </p:txBody>
      </p:sp>
      <p:sp>
        <p:nvSpPr>
          <p:cNvPr id="66606" name="Rectangle 49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  <p:sp>
        <p:nvSpPr>
          <p:cNvPr id="66607" name="Rectangle 51"/>
          <p:cNvSpPr>
            <a:spLocks noChangeArrowheads="1"/>
          </p:cNvSpPr>
          <p:nvPr/>
        </p:nvSpPr>
        <p:spPr bwMode="auto">
          <a:xfrm>
            <a:off x="838200" y="1676400"/>
            <a:ext cx="518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3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从基本块的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表示可得到等价的基本块</a:t>
            </a:r>
          </a:p>
        </p:txBody>
      </p:sp>
      <p:sp>
        <p:nvSpPr>
          <p:cNvPr id="67587" name="Rectangle 37"/>
          <p:cNvSpPr>
            <a:spLocks noChangeArrowheads="1"/>
          </p:cNvSpPr>
          <p:nvPr/>
        </p:nvSpPr>
        <p:spPr bwMode="auto">
          <a:xfrm>
            <a:off x="838200" y="1600200"/>
            <a:ext cx="79248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举例</a:t>
            </a:r>
            <a:r>
              <a:rPr lang="zh-CN" altLang="en-US">
                <a:latin typeface="Times New Roman" pitchFamily="18" charset="0"/>
                <a:ea typeface="楷体_GB2312" pitchFamily="49" charset="-122"/>
              </a:rPr>
              <a:t>：从下图的 </a:t>
            </a:r>
            <a:r>
              <a:rPr lang="en-US" altLang="zh-CN" sz="2400" b="0" i="1">
                <a:ea typeface="楷体_GB2312" pitchFamily="49" charset="-122"/>
              </a:rPr>
              <a:t>DAG </a:t>
            </a:r>
            <a:r>
              <a:rPr lang="zh-CN" altLang="en-US">
                <a:latin typeface="Times New Roman" pitchFamily="18" charset="0"/>
                <a:ea typeface="楷体_GB2312" pitchFamily="49" charset="-122"/>
              </a:rPr>
              <a:t>可得到右边的新的基本块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>
                <a:latin typeface="Times New Roman" pitchFamily="18" charset="0"/>
                <a:ea typeface="楷体_GB2312" pitchFamily="49" charset="-122"/>
              </a:rPr>
              <a:t>    （经拓扑排序及添加适当的复写语句）</a:t>
            </a:r>
          </a:p>
        </p:txBody>
      </p:sp>
      <p:sp>
        <p:nvSpPr>
          <p:cNvPr id="67588" name="AutoShape 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89" name="AutoShape 4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0" name="AutoShape 4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1" name="AutoShape 4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2" name="AutoShape 4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3" name="AutoShape 4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4" name="AutoShape 4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5" name="AutoShape 4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6" name="AutoShape 4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7" name="AutoShape 4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8" name="AutoShape 4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9" name="AutoShape 5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0" name="Line 51"/>
          <p:cNvSpPr>
            <a:spLocks noChangeShapeType="1"/>
          </p:cNvSpPr>
          <p:nvPr/>
        </p:nvSpPr>
        <p:spPr bwMode="auto">
          <a:xfrm flipH="1">
            <a:off x="3352800" y="3124200"/>
            <a:ext cx="914400" cy="762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01" name="Oval 52"/>
          <p:cNvSpPr>
            <a:spLocks noChangeArrowheads="1"/>
          </p:cNvSpPr>
          <p:nvPr/>
        </p:nvSpPr>
        <p:spPr bwMode="auto">
          <a:xfrm>
            <a:off x="4187825" y="28194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n8</a:t>
            </a:r>
          </a:p>
        </p:txBody>
      </p:sp>
      <p:sp>
        <p:nvSpPr>
          <p:cNvPr id="67602" name="Oval 53"/>
          <p:cNvSpPr>
            <a:spLocks noChangeArrowheads="1"/>
          </p:cNvSpPr>
          <p:nvPr/>
        </p:nvSpPr>
        <p:spPr bwMode="auto">
          <a:xfrm>
            <a:off x="2743200" y="38608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n6</a:t>
            </a:r>
          </a:p>
        </p:txBody>
      </p:sp>
      <p:sp>
        <p:nvSpPr>
          <p:cNvPr id="67603" name="Oval 54"/>
          <p:cNvSpPr>
            <a:spLocks noChangeArrowheads="1"/>
          </p:cNvSpPr>
          <p:nvPr/>
        </p:nvSpPr>
        <p:spPr bwMode="auto">
          <a:xfrm>
            <a:off x="3733800" y="46990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n5</a:t>
            </a:r>
          </a:p>
        </p:txBody>
      </p:sp>
      <p:sp>
        <p:nvSpPr>
          <p:cNvPr id="67604" name="Oval 55"/>
          <p:cNvSpPr>
            <a:spLocks noChangeArrowheads="1"/>
          </p:cNvSpPr>
          <p:nvPr/>
        </p:nvSpPr>
        <p:spPr bwMode="auto">
          <a:xfrm>
            <a:off x="5407025" y="4648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n7</a:t>
            </a:r>
          </a:p>
        </p:txBody>
      </p:sp>
      <p:sp>
        <p:nvSpPr>
          <p:cNvPr id="67605" name="Oval 56"/>
          <p:cNvSpPr>
            <a:spLocks noChangeArrowheads="1"/>
          </p:cNvSpPr>
          <p:nvPr/>
        </p:nvSpPr>
        <p:spPr bwMode="auto">
          <a:xfrm>
            <a:off x="7588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n1</a:t>
            </a:r>
          </a:p>
        </p:txBody>
      </p:sp>
      <p:sp>
        <p:nvSpPr>
          <p:cNvPr id="67606" name="Oval 57"/>
          <p:cNvSpPr>
            <a:spLocks noChangeArrowheads="1"/>
          </p:cNvSpPr>
          <p:nvPr/>
        </p:nvSpPr>
        <p:spPr bwMode="auto">
          <a:xfrm>
            <a:off x="23622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n2</a:t>
            </a:r>
          </a:p>
        </p:txBody>
      </p:sp>
      <p:sp>
        <p:nvSpPr>
          <p:cNvPr id="67607" name="Oval 58"/>
          <p:cNvSpPr>
            <a:spLocks noChangeArrowheads="1"/>
          </p:cNvSpPr>
          <p:nvPr/>
        </p:nvSpPr>
        <p:spPr bwMode="auto">
          <a:xfrm>
            <a:off x="4035425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n3</a:t>
            </a:r>
          </a:p>
        </p:txBody>
      </p:sp>
      <p:sp>
        <p:nvSpPr>
          <p:cNvPr id="67608" name="Oval 59"/>
          <p:cNvSpPr>
            <a:spLocks noChangeArrowheads="1"/>
          </p:cNvSpPr>
          <p:nvPr/>
        </p:nvSpPr>
        <p:spPr bwMode="auto">
          <a:xfrm>
            <a:off x="5715000" y="5791200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r>
              <a:rPr kumimoji="0" lang="en-US" altLang="zh-CN" sz="1600">
                <a:solidFill>
                  <a:srgbClr val="800080"/>
                </a:solidFill>
              </a:rPr>
              <a:t>n4</a:t>
            </a:r>
          </a:p>
        </p:txBody>
      </p:sp>
      <p:sp>
        <p:nvSpPr>
          <p:cNvPr id="67609" name="Line 60"/>
          <p:cNvSpPr>
            <a:spLocks noChangeShapeType="1"/>
          </p:cNvSpPr>
          <p:nvPr/>
        </p:nvSpPr>
        <p:spPr bwMode="auto">
          <a:xfrm flipH="1">
            <a:off x="2743200" y="4267200"/>
            <a:ext cx="3048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10" name="Line 61"/>
          <p:cNvSpPr>
            <a:spLocks noChangeShapeType="1"/>
          </p:cNvSpPr>
          <p:nvPr/>
        </p:nvSpPr>
        <p:spPr bwMode="auto">
          <a:xfrm flipH="1" flipV="1">
            <a:off x="3429000" y="4191000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11" name="Line 62"/>
          <p:cNvSpPr>
            <a:spLocks noChangeShapeType="1"/>
          </p:cNvSpPr>
          <p:nvPr/>
        </p:nvSpPr>
        <p:spPr bwMode="auto">
          <a:xfrm>
            <a:off x="4114800" y="5105400"/>
            <a:ext cx="152400" cy="685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12" name="Line 63"/>
          <p:cNvSpPr>
            <a:spLocks noChangeShapeType="1"/>
          </p:cNvSpPr>
          <p:nvPr/>
        </p:nvSpPr>
        <p:spPr bwMode="auto">
          <a:xfrm flipH="1" flipV="1">
            <a:off x="4495800" y="4953000"/>
            <a:ext cx="1295400" cy="914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13" name="Line 64"/>
          <p:cNvSpPr>
            <a:spLocks noChangeShapeType="1"/>
          </p:cNvSpPr>
          <p:nvPr/>
        </p:nvSpPr>
        <p:spPr bwMode="auto">
          <a:xfrm>
            <a:off x="6019800" y="5029200"/>
            <a:ext cx="228600" cy="762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14" name="Line 65"/>
          <p:cNvSpPr>
            <a:spLocks noChangeShapeType="1"/>
          </p:cNvSpPr>
          <p:nvPr/>
        </p:nvSpPr>
        <p:spPr bwMode="auto">
          <a:xfrm flipH="1">
            <a:off x="4572000" y="4953000"/>
            <a:ext cx="914400" cy="8382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15" name="Rectangle 66"/>
          <p:cNvSpPr>
            <a:spLocks noChangeArrowheads="1"/>
          </p:cNvSpPr>
          <p:nvPr/>
        </p:nvSpPr>
        <p:spPr bwMode="auto">
          <a:xfrm>
            <a:off x="7620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3.14</a:t>
            </a:r>
          </a:p>
        </p:txBody>
      </p:sp>
      <p:sp>
        <p:nvSpPr>
          <p:cNvPr id="67616" name="Rectangle 67"/>
          <p:cNvSpPr>
            <a:spLocks noChangeArrowheads="1"/>
          </p:cNvSpPr>
          <p:nvPr/>
        </p:nvSpPr>
        <p:spPr bwMode="auto">
          <a:xfrm>
            <a:off x="1447800" y="56388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T0</a:t>
            </a:r>
          </a:p>
        </p:txBody>
      </p:sp>
      <p:sp>
        <p:nvSpPr>
          <p:cNvPr id="67617" name="Rectangle 68"/>
          <p:cNvSpPr>
            <a:spLocks noChangeArrowheads="1"/>
          </p:cNvSpPr>
          <p:nvPr/>
        </p:nvSpPr>
        <p:spPr bwMode="auto">
          <a:xfrm>
            <a:off x="7162800" y="2432050"/>
            <a:ext cx="1752600" cy="404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T1:=6.28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T3:=6.28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T2:=R+r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T4:=T2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A:=6.28*T2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T5:=A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/>
              <a:t>B:=A*T6</a:t>
            </a:r>
          </a:p>
        </p:txBody>
      </p:sp>
      <p:sp>
        <p:nvSpPr>
          <p:cNvPr id="67618" name="Rectangle 70"/>
          <p:cNvSpPr>
            <a:spLocks noChangeArrowheads="1"/>
          </p:cNvSpPr>
          <p:nvPr/>
        </p:nvSpPr>
        <p:spPr bwMode="auto">
          <a:xfrm>
            <a:off x="2362200" y="6308725"/>
            <a:ext cx="677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6.28</a:t>
            </a:r>
          </a:p>
        </p:txBody>
      </p:sp>
      <p:sp>
        <p:nvSpPr>
          <p:cNvPr id="67619" name="Rectangle 71"/>
          <p:cNvSpPr>
            <a:spLocks noChangeArrowheads="1"/>
          </p:cNvSpPr>
          <p:nvPr/>
        </p:nvSpPr>
        <p:spPr bwMode="auto">
          <a:xfrm>
            <a:off x="3048000" y="5638800"/>
            <a:ext cx="917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T1, T3</a:t>
            </a:r>
          </a:p>
        </p:txBody>
      </p:sp>
      <p:sp>
        <p:nvSpPr>
          <p:cNvPr id="67620" name="Rectangle 72"/>
          <p:cNvSpPr>
            <a:spLocks noChangeArrowheads="1"/>
          </p:cNvSpPr>
          <p:nvPr/>
        </p:nvSpPr>
        <p:spPr bwMode="auto">
          <a:xfrm>
            <a:off x="4187825" y="6286500"/>
            <a:ext cx="460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7621" name="Rectangle 73"/>
          <p:cNvSpPr>
            <a:spLocks noChangeArrowheads="1"/>
          </p:cNvSpPr>
          <p:nvPr/>
        </p:nvSpPr>
        <p:spPr bwMode="auto">
          <a:xfrm>
            <a:off x="5943600" y="6248400"/>
            <a:ext cx="360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r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67622" name="Rectangle 74"/>
          <p:cNvSpPr>
            <a:spLocks noChangeArrowheads="1"/>
          </p:cNvSpPr>
          <p:nvPr/>
        </p:nvSpPr>
        <p:spPr bwMode="auto">
          <a:xfrm>
            <a:off x="4210050" y="5105400"/>
            <a:ext cx="3619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+</a:t>
            </a:r>
          </a:p>
        </p:txBody>
      </p:sp>
      <p:sp>
        <p:nvSpPr>
          <p:cNvPr id="67623" name="Rectangle 75"/>
          <p:cNvSpPr>
            <a:spLocks noChangeArrowheads="1"/>
          </p:cNvSpPr>
          <p:nvPr/>
        </p:nvSpPr>
        <p:spPr bwMode="auto">
          <a:xfrm>
            <a:off x="4343400" y="4556125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T2,T4</a:t>
            </a:r>
          </a:p>
        </p:txBody>
      </p:sp>
      <p:sp>
        <p:nvSpPr>
          <p:cNvPr id="67624" name="Rectangle 76"/>
          <p:cNvSpPr>
            <a:spLocks noChangeArrowheads="1"/>
          </p:cNvSpPr>
          <p:nvPr/>
        </p:nvSpPr>
        <p:spPr bwMode="auto">
          <a:xfrm>
            <a:off x="3124200" y="43561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7625" name="Rectangle 77"/>
          <p:cNvSpPr>
            <a:spLocks noChangeArrowheads="1"/>
          </p:cNvSpPr>
          <p:nvPr/>
        </p:nvSpPr>
        <p:spPr bwMode="auto">
          <a:xfrm>
            <a:off x="3505200" y="3886200"/>
            <a:ext cx="790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A, T5</a:t>
            </a:r>
          </a:p>
        </p:txBody>
      </p:sp>
      <p:sp>
        <p:nvSpPr>
          <p:cNvPr id="67626" name="Rectangle 78"/>
          <p:cNvSpPr>
            <a:spLocks noChangeArrowheads="1"/>
          </p:cNvSpPr>
          <p:nvPr/>
        </p:nvSpPr>
        <p:spPr bwMode="auto">
          <a:xfrm>
            <a:off x="5638800" y="5029200"/>
            <a:ext cx="28575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-</a:t>
            </a:r>
          </a:p>
        </p:txBody>
      </p:sp>
      <p:sp>
        <p:nvSpPr>
          <p:cNvPr id="67627" name="Rectangle 79"/>
          <p:cNvSpPr>
            <a:spLocks noChangeArrowheads="1"/>
          </p:cNvSpPr>
          <p:nvPr/>
        </p:nvSpPr>
        <p:spPr bwMode="auto">
          <a:xfrm>
            <a:off x="5867400" y="44196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T6</a:t>
            </a:r>
          </a:p>
        </p:txBody>
      </p:sp>
      <p:sp>
        <p:nvSpPr>
          <p:cNvPr id="67628" name="Line 80"/>
          <p:cNvSpPr>
            <a:spLocks noChangeShapeType="1"/>
          </p:cNvSpPr>
          <p:nvPr/>
        </p:nvSpPr>
        <p:spPr bwMode="auto">
          <a:xfrm>
            <a:off x="4876800" y="3124200"/>
            <a:ext cx="914400" cy="15240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629" name="Rectangle 81"/>
          <p:cNvSpPr>
            <a:spLocks noChangeArrowheads="1"/>
          </p:cNvSpPr>
          <p:nvPr/>
        </p:nvSpPr>
        <p:spPr bwMode="auto">
          <a:xfrm>
            <a:off x="4419600" y="3289300"/>
            <a:ext cx="303213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400" b="0"/>
              <a:t>*</a:t>
            </a:r>
          </a:p>
        </p:txBody>
      </p:sp>
      <p:sp>
        <p:nvSpPr>
          <p:cNvPr id="67630" name="Rectangle 82"/>
          <p:cNvSpPr>
            <a:spLocks noChangeArrowheads="1"/>
          </p:cNvSpPr>
          <p:nvPr/>
        </p:nvSpPr>
        <p:spPr bwMode="auto">
          <a:xfrm>
            <a:off x="4751388" y="2590800"/>
            <a:ext cx="354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B</a:t>
            </a:r>
          </a:p>
        </p:txBody>
      </p:sp>
      <p:sp>
        <p:nvSpPr>
          <p:cNvPr id="67631" name="Rectangle 83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从基本块的 </a:t>
            </a:r>
            <a:r>
              <a:rPr lang="en-US" altLang="zh-CN" b="0" i="1">
                <a:solidFill>
                  <a:srgbClr val="800080"/>
                </a:solidFill>
                <a:ea typeface="华文行楷" pitchFamily="2" charset="-122"/>
              </a:rPr>
              <a:t>DAG </a:t>
            </a:r>
            <a:r>
              <a:rPr lang="zh-CN" altLang="en-US" sz="320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表示可得到等价的基本块</a:t>
            </a: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838200" y="1600200"/>
            <a:ext cx="7924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比较变换前后的基本块</a:t>
            </a:r>
            <a:endParaRPr lang="zh-CN" altLang="en-US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8612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3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4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5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6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7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8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9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0" name="AutoShape 1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1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2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3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4" name="Rectangle 34"/>
          <p:cNvSpPr>
            <a:spLocks noChangeArrowheads="1"/>
          </p:cNvSpPr>
          <p:nvPr/>
        </p:nvSpPr>
        <p:spPr bwMode="auto">
          <a:xfrm>
            <a:off x="4114800" y="2286000"/>
            <a:ext cx="1752600" cy="404495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T1:=6.28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T3:=6.28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T2:=</a:t>
            </a:r>
            <a:r>
              <a:rPr lang="en-US" altLang="zh-CN" sz="2400" b="0" dirty="0" err="1"/>
              <a:t>R+r</a:t>
            </a:r>
            <a:endParaRPr lang="en-US" altLang="zh-CN" sz="2400" b="0" dirty="0"/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T4:=T2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A:=6.28*T2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T5:=A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400" b="0" dirty="0"/>
              <a:t>B:=A*T6</a:t>
            </a:r>
          </a:p>
        </p:txBody>
      </p:sp>
      <p:sp>
        <p:nvSpPr>
          <p:cNvPr id="68625" name="Rectangle 48"/>
          <p:cNvSpPr>
            <a:spLocks noChangeArrowheads="1"/>
          </p:cNvSpPr>
          <p:nvPr/>
        </p:nvSpPr>
        <p:spPr bwMode="auto">
          <a:xfrm>
            <a:off x="1295400" y="2286000"/>
            <a:ext cx="1752600" cy="442595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T0:=3.14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T1:=2*T0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T2:=</a:t>
            </a:r>
            <a:r>
              <a:rPr lang="en-US" altLang="zh-CN" sz="2400" b="0" dirty="0" err="1"/>
              <a:t>R+r</a:t>
            </a:r>
            <a:endParaRPr lang="en-US" altLang="zh-CN" sz="2400" b="0" dirty="0"/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A:=T1*T2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B:=A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T3:=2*T0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T4:=</a:t>
            </a:r>
            <a:r>
              <a:rPr lang="en-US" altLang="zh-CN" sz="2400" b="0" dirty="0" err="1"/>
              <a:t>R+r</a:t>
            </a:r>
            <a:endParaRPr lang="en-US" altLang="zh-CN" sz="2400" b="0" dirty="0"/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T5:=T3*T4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T6:=R-r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2400" b="0" dirty="0"/>
              <a:t>B:=T5*T6</a:t>
            </a:r>
          </a:p>
        </p:txBody>
      </p:sp>
      <p:sp>
        <p:nvSpPr>
          <p:cNvPr id="68626" name="AutoShape 50"/>
          <p:cNvSpPr>
            <a:spLocks noChangeArrowheads="1"/>
          </p:cNvSpPr>
          <p:nvPr/>
        </p:nvSpPr>
        <p:spPr bwMode="auto">
          <a:xfrm>
            <a:off x="3214688" y="4038600"/>
            <a:ext cx="671512" cy="180975"/>
          </a:xfrm>
          <a:prstGeom prst="rightArrow">
            <a:avLst>
              <a:gd name="adj1" fmla="val 50000"/>
              <a:gd name="adj2" fmla="val 92763"/>
            </a:avLst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710707" name="Rectangle 51"/>
          <p:cNvSpPr>
            <a:spLocks noChangeArrowheads="1"/>
          </p:cNvSpPr>
          <p:nvPr/>
        </p:nvSpPr>
        <p:spPr bwMode="auto">
          <a:xfrm>
            <a:off x="6477000" y="2286000"/>
            <a:ext cx="2040943" cy="234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zh-CN" altLang="en-US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所作的优化</a:t>
            </a:r>
          </a:p>
          <a:p>
            <a:r>
              <a:rPr lang="zh-CN" altLang="en-US" sz="2400" dirty="0">
                <a:ea typeface="楷体_GB2312" pitchFamily="49" charset="-122"/>
              </a:rPr>
              <a:t>合并已知量</a:t>
            </a:r>
            <a:endParaRPr lang="zh-CN" altLang="en-US" dirty="0">
              <a:latin typeface="Times New Roman" pitchFamily="18" charset="0"/>
              <a:ea typeface="楷体_GB2312" pitchFamily="49" charset="-122"/>
            </a:endParaRPr>
          </a:p>
          <a:p>
            <a:r>
              <a:rPr lang="zh-CN" altLang="en-US" sz="2400" dirty="0">
                <a:ea typeface="楷体_GB2312" pitchFamily="49" charset="-122"/>
              </a:rPr>
              <a:t>删除多余运算</a:t>
            </a:r>
          </a:p>
          <a:p>
            <a:r>
              <a:rPr lang="zh-CN" altLang="en-US" sz="2400" dirty="0">
                <a:ea typeface="楷体_GB2312" pitchFamily="49" charset="-122"/>
              </a:rPr>
              <a:t>删除无用</a:t>
            </a:r>
            <a:r>
              <a:rPr lang="zh-CN" altLang="en-US" sz="2400" dirty="0" smtClean="0">
                <a:ea typeface="楷体_GB2312" pitchFamily="49" charset="-122"/>
              </a:rPr>
              <a:t>赋值</a:t>
            </a:r>
            <a:endParaRPr lang="en-US" altLang="zh-CN" sz="2400" dirty="0" smtClean="0">
              <a:ea typeface="楷体_GB2312" pitchFamily="49" charset="-122"/>
            </a:endParaRPr>
          </a:p>
          <a:p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复写传播</a:t>
            </a:r>
            <a:endParaRPr lang="zh-CN" altLang="en-US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8628" name="Rectangle 52"/>
          <p:cNvSpPr>
            <a:spLocks noChangeArrowheads="1"/>
          </p:cNvSpPr>
          <p:nvPr/>
        </p:nvSpPr>
        <p:spPr bwMode="auto">
          <a:xfrm>
            <a:off x="1524000" y="152400"/>
            <a:ext cx="4648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None/>
            </a:pP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基本块的 </a:t>
            </a:r>
            <a:r>
              <a:rPr lang="en-US" altLang="zh-CN" sz="3600" b="0" i="1">
                <a:solidFill>
                  <a:srgbClr val="800080"/>
                </a:solidFill>
                <a:ea typeface="华文行楷" pitchFamily="2" charset="-122"/>
              </a:rPr>
              <a:t>DAG</a:t>
            </a:r>
            <a:r>
              <a:rPr lang="en-US" altLang="zh-CN" sz="4000" b="0" i="1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4000">
                <a:solidFill>
                  <a:srgbClr val="800080"/>
                </a:solidFill>
                <a:latin typeface="华文行楷" pitchFamily="2" charset="-122"/>
                <a:ea typeface="华文行楷" pitchFamily="2" charset="-122"/>
              </a:rPr>
              <a:t>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707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AutoShape 3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5" name="AutoShape 3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6" name="AutoShape 3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7" name="AutoShape 3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Rectangle 35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69639" name="Text Box 3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14400" y="1477963"/>
            <a:ext cx="5791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代码生成要考虑的主要问题</a:t>
            </a:r>
          </a:p>
        </p:txBody>
      </p:sp>
      <p:sp>
        <p:nvSpPr>
          <p:cNvPr id="69640" name="AutoShape 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1" name="AutoShape 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2" name="AutoShape 4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3" name="AutoShape 4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4" name="AutoShape 4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5" name="AutoShape 4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AutoShape 4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7" name="AutoShape 4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8" name="Text Box 4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914400" y="2286000"/>
            <a:ext cx="5791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一个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简单的代码生成算法</a:t>
            </a:r>
          </a:p>
        </p:txBody>
      </p:sp>
      <p:sp>
        <p:nvSpPr>
          <p:cNvPr id="69649" name="Text Box 49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914400" y="3078163"/>
            <a:ext cx="5791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9650" name="Text Box 52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900113" y="3860800"/>
            <a:ext cx="68405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简单的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图着色物理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寄存器分配算法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5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代码生成要考虑的主要问题</a:t>
            </a:r>
          </a:p>
        </p:txBody>
      </p:sp>
      <p:sp>
        <p:nvSpPr>
          <p:cNvPr id="7066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4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5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6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7" name="Rectangle 11"/>
          <p:cNvSpPr>
            <a:spLocks noChangeArrowheads="1"/>
          </p:cNvSpPr>
          <p:nvPr/>
        </p:nvSpPr>
        <p:spPr bwMode="auto">
          <a:xfrm>
            <a:off x="914400" y="2070100"/>
            <a:ext cx="79057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指令选择 </a:t>
            </a:r>
            <a:r>
              <a:rPr lang="zh-CN" altLang="zh-CN" sz="2400" b="0" dirty="0" smtClean="0"/>
              <a:t>（</a:t>
            </a:r>
            <a:r>
              <a:rPr lang="en-US" altLang="zh-CN" sz="2400" b="0" i="1" dirty="0" smtClean="0"/>
              <a:t>instruction selection</a:t>
            </a:r>
            <a:r>
              <a:rPr lang="zh-CN" altLang="zh-CN" sz="2400" b="0" dirty="0" smtClean="0"/>
              <a:t>）</a:t>
            </a:r>
            <a:endParaRPr lang="zh-CN" altLang="en-US" sz="2400" b="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zh-CN" altLang="en-US" sz="2400" dirty="0">
                <a:ea typeface="楷体_GB2312" pitchFamily="49" charset="-122"/>
              </a:rPr>
              <a:t>目标机指令集的性质和中间代码的形式决定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指令选择的难易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寄存器分配 </a:t>
            </a:r>
            <a:r>
              <a:rPr lang="zh-CN" altLang="zh-CN" sz="2400" b="0" dirty="0" smtClean="0"/>
              <a:t>（</a:t>
            </a:r>
            <a:r>
              <a:rPr lang="en-US" altLang="zh-CN" sz="2400" b="0" i="1" dirty="0" smtClean="0"/>
              <a:t>register allocation</a:t>
            </a:r>
            <a:r>
              <a:rPr lang="zh-CN" altLang="zh-CN" sz="2400" b="0" dirty="0" smtClean="0"/>
              <a:t>）</a:t>
            </a:r>
            <a:endParaRPr lang="zh-CN" altLang="en-US" sz="2400" b="0" dirty="0"/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充分、高效地使用寄存器</a:t>
            </a: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 smtClean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</a:t>
            </a:r>
            <a:r>
              <a:rPr lang="zh-CN" altLang="zh-CN" dirty="0" smtClean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调度</a:t>
            </a:r>
            <a:r>
              <a:rPr lang="en-US" altLang="zh-CN" dirty="0" smtClean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2400" b="0" dirty="0" smtClean="0"/>
              <a:t>（</a:t>
            </a:r>
            <a:r>
              <a:rPr lang="en-US" altLang="zh-CN" sz="2400" b="0" i="1" dirty="0" smtClean="0"/>
              <a:t>code scheduling</a:t>
            </a:r>
            <a:r>
              <a:rPr lang="zh-CN" altLang="zh-CN" sz="2400" b="0" dirty="0" smtClean="0"/>
              <a:t>）</a:t>
            </a:r>
            <a:endParaRPr lang="zh-CN" altLang="en-US" sz="2400" b="0" dirty="0" smtClean="0"/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zh-CN" altLang="en-US" dirty="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 smtClean="0">
                <a:ea typeface="楷体_GB2312" pitchFamily="49" charset="-122"/>
              </a:rPr>
              <a:t>选择</a:t>
            </a:r>
            <a:r>
              <a:rPr lang="zh-CN" altLang="en-US" sz="2400" dirty="0">
                <a:ea typeface="楷体_GB2312" pitchFamily="49" charset="-122"/>
              </a:rPr>
              <a:t>好计算的次序，充分利用目标机的特点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0668" name="Rectangle 15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指令选择</a:t>
            </a:r>
          </a:p>
        </p:txBody>
      </p:sp>
      <p:sp>
        <p:nvSpPr>
          <p:cNvPr id="7168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914400" y="2070100"/>
            <a:ext cx="8229600" cy="426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任务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为每条中间语言语句选择恰当的目标机指令或指令序列</a:t>
            </a:r>
            <a:endParaRPr kumimoji="0"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原则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首先要保证语义的一致性；若目标机指令系统比较完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备，为中间语言语句找到语义一致的指令序列模板是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很直接的（不必考虑执行效率的情形下）</a:t>
            </a:r>
            <a:endParaRPr kumimoji="0"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kumimoji="0" lang="zh-CN" altLang="en-US" sz="1000" dirty="0"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其次要权衡所生成代码的效率（考虑时间</a:t>
            </a:r>
            <a:r>
              <a:rPr lang="en-US" altLang="zh-CN" sz="2400" dirty="0">
                <a:ea typeface="楷体_GB2312" pitchFamily="49" charset="-122"/>
              </a:rPr>
              <a:t>/</a:t>
            </a:r>
            <a:r>
              <a:rPr lang="zh-CN" altLang="en-US" sz="2400" dirty="0">
                <a:ea typeface="楷体_GB2312" pitchFamily="49" charset="-122"/>
              </a:rPr>
              <a:t>空间代价）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这一点较难做到，因为执行效率往往与该语句的上下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文以及目标机体系结构（如流水线）有关</a:t>
            </a:r>
          </a:p>
        </p:txBody>
      </p:sp>
      <p:sp>
        <p:nvSpPr>
          <p:cNvPr id="71692" name="Rectangle 14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指令选择举例</a:t>
            </a:r>
          </a:p>
        </p:txBody>
      </p:sp>
      <p:sp>
        <p:nvSpPr>
          <p:cNvPr id="7271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5" name="Rectangle 11"/>
          <p:cNvSpPr>
            <a:spLocks noChangeArrowheads="1"/>
          </p:cNvSpPr>
          <p:nvPr/>
        </p:nvSpPr>
        <p:spPr bwMode="auto">
          <a:xfrm>
            <a:off x="914400" y="2070100"/>
            <a:ext cx="82296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TAC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语句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选择指令模板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 smtClean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例 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 </a:t>
            </a:r>
            <a:r>
              <a:rPr lang="en-US" altLang="zh-CN" sz="2400" b="0" dirty="0">
                <a:ea typeface="楷体_GB2312" pitchFamily="49" charset="-122"/>
              </a:rPr>
              <a:t>a:=</a:t>
            </a:r>
            <a:r>
              <a:rPr lang="en-US" altLang="zh-CN" sz="2400" b="0" dirty="0" err="1">
                <a:ea typeface="楷体_GB2312" pitchFamily="49" charset="-122"/>
              </a:rPr>
              <a:t>b+c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可转换为如下代码序列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              </a:t>
            </a:r>
            <a:r>
              <a:rPr lang="en-US" altLang="zh-CN" sz="2000" b="0" dirty="0"/>
              <a:t>MOV	b, R</a:t>
            </a:r>
            <a:r>
              <a:rPr lang="en-US" altLang="zh-CN" sz="2000" b="0" baseline="-25000" dirty="0"/>
              <a:t>0                 </a:t>
            </a:r>
            <a:r>
              <a:rPr lang="en-US" altLang="zh-CN" sz="2400" dirty="0">
                <a:ea typeface="楷体_GB2312" pitchFamily="49" charset="-122"/>
              </a:rPr>
              <a:t>/* </a:t>
            </a:r>
            <a:r>
              <a:rPr lang="en-US" altLang="zh-CN" sz="2000" b="0" dirty="0"/>
              <a:t>b </a:t>
            </a:r>
            <a:r>
              <a:rPr lang="zh-CN" altLang="en-US" sz="2400" dirty="0">
                <a:ea typeface="楷体_GB2312" pitchFamily="49" charset="-122"/>
              </a:rPr>
              <a:t>装入寄存器 </a:t>
            </a:r>
            <a:r>
              <a:rPr lang="en-US" altLang="zh-CN" sz="2000" b="0" dirty="0"/>
              <a:t>R</a:t>
            </a:r>
            <a:r>
              <a:rPr lang="en-US" altLang="zh-CN" sz="2000" b="0" baseline="-25000" dirty="0"/>
              <a:t>0</a:t>
            </a:r>
            <a:r>
              <a:rPr lang="en-US" altLang="zh-CN" sz="2400" dirty="0">
                <a:ea typeface="楷体_GB2312" pitchFamily="49" charset="-122"/>
              </a:rPr>
              <a:t> */</a:t>
            </a:r>
            <a:r>
              <a:rPr lang="en-US" altLang="zh-CN" sz="2000" b="0" dirty="0"/>
              <a:t>	  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/>
              <a:t>                     ADD	</a:t>
            </a:r>
            <a:r>
              <a:rPr lang="en-US" altLang="zh-CN" sz="2000" b="0" dirty="0" smtClean="0"/>
              <a:t>R</a:t>
            </a:r>
            <a:r>
              <a:rPr lang="en-US" altLang="zh-CN" sz="2000" b="0" baseline="-25000" dirty="0" smtClean="0"/>
              <a:t>0</a:t>
            </a:r>
            <a:r>
              <a:rPr lang="en-US" altLang="zh-CN" sz="2000" b="0" dirty="0" smtClean="0"/>
              <a:t>, c </a:t>
            </a:r>
            <a:r>
              <a:rPr lang="en-US" altLang="zh-CN" sz="2000" b="0" dirty="0"/>
              <a:t>	      </a:t>
            </a:r>
            <a:r>
              <a:rPr lang="en-US" altLang="zh-CN" sz="2400" dirty="0">
                <a:ea typeface="楷体_GB2312" pitchFamily="49" charset="-122"/>
              </a:rPr>
              <a:t>/* </a:t>
            </a:r>
            <a:r>
              <a:rPr lang="en-US" altLang="zh-CN" sz="2000" b="0" dirty="0"/>
              <a:t>c </a:t>
            </a:r>
            <a:r>
              <a:rPr lang="zh-CN" altLang="en-US" sz="2400" dirty="0">
                <a:ea typeface="楷体_GB2312" pitchFamily="49" charset="-122"/>
              </a:rPr>
              <a:t>加到 </a:t>
            </a:r>
            <a:r>
              <a:rPr lang="en-US" altLang="zh-CN" sz="2000" b="0" dirty="0"/>
              <a:t>R</a:t>
            </a:r>
            <a:r>
              <a:rPr lang="en-US" altLang="zh-CN" sz="2000" b="0" baseline="-25000" dirty="0"/>
              <a:t>0</a:t>
            </a:r>
            <a:r>
              <a:rPr lang="en-US" altLang="zh-CN" sz="2400" dirty="0">
                <a:ea typeface="楷体_GB2312" pitchFamily="49" charset="-122"/>
              </a:rPr>
              <a:t> */</a:t>
            </a:r>
            <a:endParaRPr lang="en-US" altLang="zh-CN" sz="2000" b="0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/>
              <a:t>		 MOV	R</a:t>
            </a:r>
            <a:r>
              <a:rPr lang="en-US" altLang="zh-CN" sz="2000" b="0" baseline="-25000" dirty="0"/>
              <a:t>0</a:t>
            </a:r>
            <a:r>
              <a:rPr lang="en-US" altLang="zh-CN" sz="2000" b="0" dirty="0"/>
              <a:t>, a	      </a:t>
            </a:r>
            <a:r>
              <a:rPr lang="en-US" altLang="zh-CN" sz="2400" dirty="0">
                <a:ea typeface="楷体_GB2312" pitchFamily="49" charset="-122"/>
              </a:rPr>
              <a:t>/* </a:t>
            </a:r>
            <a:r>
              <a:rPr lang="zh-CN" altLang="en-US" sz="2400" dirty="0">
                <a:ea typeface="楷体_GB2312" pitchFamily="49" charset="-122"/>
              </a:rPr>
              <a:t>存 </a:t>
            </a:r>
            <a:r>
              <a:rPr lang="en-US" altLang="zh-CN" sz="2000" b="0" dirty="0"/>
              <a:t>R</a:t>
            </a:r>
            <a:r>
              <a:rPr lang="en-US" altLang="zh-CN" sz="2000" b="0" baseline="-25000" dirty="0"/>
              <a:t>0 </a:t>
            </a:r>
            <a:r>
              <a:rPr lang="zh-CN" altLang="en-US" sz="2400" dirty="0">
                <a:ea typeface="楷体_GB2312" pitchFamily="49" charset="-122"/>
              </a:rPr>
              <a:t>到 </a:t>
            </a:r>
            <a:r>
              <a:rPr lang="en-US" altLang="zh-CN" sz="2000" b="0" dirty="0"/>
              <a:t>a</a:t>
            </a:r>
            <a:r>
              <a:rPr lang="en-US" altLang="zh-CN" sz="2400" dirty="0">
                <a:ea typeface="楷体_GB2312" pitchFamily="49" charset="-122"/>
              </a:rPr>
              <a:t> */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  </a:t>
            </a:r>
            <a:r>
              <a:rPr lang="zh-CN" altLang="en-US" sz="2400" dirty="0">
                <a:ea typeface="楷体_GB2312" pitchFamily="49" charset="-122"/>
              </a:rPr>
              <a:t>（其他算术和逻辑运算的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语句与此类似，只是选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择不同的目标指令，如减运算选择指令“</a:t>
            </a:r>
            <a:r>
              <a:rPr lang="en-US" altLang="zh-CN" sz="2400" b="0" dirty="0">
                <a:ea typeface="楷体_GB2312" pitchFamily="49" charset="-122"/>
              </a:rPr>
              <a:t>SUB</a:t>
            </a:r>
            <a:r>
              <a:rPr lang="en-US" altLang="zh-CN" sz="2400" dirty="0">
                <a:ea typeface="楷体_GB2312" pitchFamily="49" charset="-122"/>
              </a:rPr>
              <a:t>”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… 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</p:txBody>
      </p:sp>
      <p:sp>
        <p:nvSpPr>
          <p:cNvPr id="72716" name="Rectangle 14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4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2248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指令选择</a:t>
            </a:r>
          </a:p>
        </p:txBody>
      </p:sp>
      <p:sp>
        <p:nvSpPr>
          <p:cNvPr id="7373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9" name="Rectangle 11"/>
          <p:cNvSpPr>
            <a:spLocks noChangeArrowheads="1"/>
          </p:cNvSpPr>
          <p:nvPr/>
        </p:nvSpPr>
        <p:spPr bwMode="auto">
          <a:xfrm>
            <a:off x="914400" y="2070100"/>
            <a:ext cx="8001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选择指令模板时可考虑</a:t>
            </a:r>
            <a:r>
              <a:rPr lang="zh-CN" altLang="en-US" dirty="0" smtClean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指令执行的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代价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0" i="1" dirty="0">
                <a:ea typeface="楷体_GB2312" pitchFamily="49" charset="-122"/>
              </a:rPr>
              <a:t>cost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如</a:t>
            </a:r>
            <a:r>
              <a:rPr lang="zh-CN" altLang="en-US" sz="2400" dirty="0" smtClean="0">
                <a:ea typeface="楷体_GB2312" pitchFamily="49" charset="-122"/>
              </a:rPr>
              <a:t>：</a:t>
            </a:r>
            <a:r>
              <a:rPr lang="zh-CN" altLang="zh-CN" sz="2400" dirty="0" smtClean="0">
                <a:ea typeface="楷体_GB2312" pitchFamily="49" charset="-122"/>
              </a:rPr>
              <a:t>考虑因不同的寻址方式所附加的指令执行代价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dirty="0" smtClean="0">
                <a:ea typeface="楷体_GB2312" pitchFamily="49" charset="-122"/>
              </a:rPr>
              <a:t>      </a:t>
            </a:r>
            <a:r>
              <a:rPr lang="zh-CN" altLang="zh-CN" sz="2400" dirty="0" smtClean="0">
                <a:ea typeface="楷体_GB2312" pitchFamily="49" charset="-122"/>
              </a:rPr>
              <a:t>假设每条指令在操作数准备好后执行其操作的代价均</a:t>
            </a:r>
            <a:endParaRPr lang="en-US" altLang="zh-CN" sz="24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dirty="0" smtClean="0">
                <a:ea typeface="楷体_GB2312" pitchFamily="49" charset="-122"/>
              </a:rPr>
              <a:t>      </a:t>
            </a:r>
            <a:r>
              <a:rPr lang="zh-CN" altLang="zh-CN" sz="2400" dirty="0" smtClean="0">
                <a:ea typeface="楷体_GB2312" pitchFamily="49" charset="-122"/>
              </a:rPr>
              <a:t>为</a:t>
            </a:r>
            <a:r>
              <a:rPr lang="en-US" altLang="zh-CN" sz="2400" b="0" dirty="0" smtClean="0">
                <a:ea typeface="楷体_GB2312" pitchFamily="49" charset="-122"/>
              </a:rPr>
              <a:t>1</a:t>
            </a:r>
            <a:r>
              <a:rPr lang="zh-CN" altLang="zh-CN" sz="2400" dirty="0" smtClean="0">
                <a:ea typeface="楷体_GB2312" pitchFamily="49" charset="-122"/>
              </a:rPr>
              <a:t>，而是否会有附加的代价则要视获取操作数时是否</a:t>
            </a:r>
            <a:endParaRPr lang="en-US" altLang="zh-CN" sz="24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dirty="0" smtClean="0">
                <a:ea typeface="楷体_GB2312" pitchFamily="49" charset="-122"/>
              </a:rPr>
              <a:t>      </a:t>
            </a:r>
            <a:r>
              <a:rPr lang="zh-CN" altLang="zh-CN" sz="2400" dirty="0" smtClean="0">
                <a:ea typeface="楷体_GB2312" pitchFamily="49" charset="-122"/>
              </a:rPr>
              <a:t>访问内存而定，每访问一次内存则增加代价</a:t>
            </a:r>
            <a:r>
              <a:rPr lang="en-US" altLang="zh-CN" sz="2400" b="0" dirty="0" smtClean="0">
                <a:ea typeface="楷体_GB2312" pitchFamily="49" charset="-122"/>
              </a:rPr>
              <a:t>1</a:t>
            </a:r>
            <a:r>
              <a:rPr lang="zh-CN" altLang="zh-CN" sz="2400" dirty="0" smtClean="0">
                <a:ea typeface="楷体_GB2312" pitchFamily="49" charset="-122"/>
              </a:rPr>
              <a:t>。</a:t>
            </a:r>
            <a:endParaRPr lang="en-US" altLang="zh-CN" sz="2400" dirty="0">
              <a:ea typeface="楷体_GB2312" pitchFamily="49" charset="-122"/>
            </a:endParaRPr>
          </a:p>
        </p:txBody>
      </p:sp>
      <p:sp>
        <p:nvSpPr>
          <p:cNvPr id="73740" name="Rectangle 14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8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8224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指令选择</a:t>
            </a:r>
          </a:p>
        </p:txBody>
      </p:sp>
      <p:sp>
        <p:nvSpPr>
          <p:cNvPr id="74759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0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1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2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3" name="Rectangle 11"/>
          <p:cNvSpPr>
            <a:spLocks noChangeArrowheads="1"/>
          </p:cNvSpPr>
          <p:nvPr/>
        </p:nvSpPr>
        <p:spPr bwMode="auto">
          <a:xfrm>
            <a:off x="914400" y="1892300"/>
            <a:ext cx="80010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选择指令模板时可考虑</a:t>
            </a:r>
            <a:r>
              <a:rPr lang="zh-CN" altLang="en-US" dirty="0" smtClean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指令执行的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代价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0" i="1" dirty="0">
                <a:ea typeface="楷体_GB2312" pitchFamily="49" charset="-122"/>
              </a:rPr>
              <a:t>cost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  例 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 </a:t>
            </a:r>
            <a:r>
              <a:rPr lang="en-US" altLang="zh-CN" sz="2400" b="0" dirty="0">
                <a:ea typeface="楷体_GB2312" pitchFamily="49" charset="-122"/>
              </a:rPr>
              <a:t>a:=</a:t>
            </a:r>
            <a:r>
              <a:rPr lang="en-US" altLang="zh-CN" sz="2400" b="0" dirty="0" err="1">
                <a:ea typeface="楷体_GB2312" pitchFamily="49" charset="-122"/>
              </a:rPr>
              <a:t>b+c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的几种转换方式</a:t>
            </a:r>
            <a:endParaRPr kumimoji="0" lang="zh-CN" altLang="en-US" sz="1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764" name="Text Box 13"/>
          <p:cNvSpPr txBox="1">
            <a:spLocks noChangeArrowheads="1"/>
          </p:cNvSpPr>
          <p:nvPr/>
        </p:nvSpPr>
        <p:spPr bwMode="auto">
          <a:xfrm>
            <a:off x="1371600" y="3228975"/>
            <a:ext cx="35814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</a:t>
            </a:r>
            <a:r>
              <a:rPr lang="en-US" altLang="zh-CN" sz="2000" b="0" dirty="0"/>
              <a:t>MOV  b, R</a:t>
            </a:r>
            <a:r>
              <a:rPr lang="en-US" altLang="zh-CN" sz="2000" b="0" baseline="-25000" dirty="0"/>
              <a:t>0 </a:t>
            </a:r>
          </a:p>
          <a:p>
            <a:r>
              <a:rPr lang="en-US" altLang="zh-CN" sz="2000" b="0" dirty="0"/>
              <a:t>          ADD  </a:t>
            </a:r>
            <a:r>
              <a:rPr lang="en-US" altLang="zh-CN" sz="2000" b="0" dirty="0" smtClean="0"/>
              <a:t>R</a:t>
            </a:r>
            <a:r>
              <a:rPr lang="en-US" altLang="zh-CN" sz="2000" b="0" baseline="-25000" dirty="0" smtClean="0"/>
              <a:t>0</a:t>
            </a:r>
            <a:r>
              <a:rPr lang="en-US" altLang="zh-CN" sz="2000" b="0" dirty="0" smtClean="0"/>
              <a:t>,</a:t>
            </a:r>
            <a:r>
              <a:rPr lang="en-US" altLang="zh-CN" sz="2000" b="0" baseline="-25000" dirty="0" smtClean="0"/>
              <a:t> </a:t>
            </a:r>
            <a:r>
              <a:rPr lang="en-US" altLang="zh-CN" sz="2000" b="0" dirty="0" smtClean="0"/>
              <a:t>c</a:t>
            </a:r>
            <a:endParaRPr lang="en-US" altLang="zh-CN" sz="2000" b="0" baseline="-25000" dirty="0"/>
          </a:p>
          <a:p>
            <a:r>
              <a:rPr lang="en-US" altLang="zh-CN" sz="2000" b="0" baseline="-25000" dirty="0"/>
              <a:t>              </a:t>
            </a:r>
            <a:r>
              <a:rPr lang="en-US" altLang="zh-CN" sz="2000" b="0" dirty="0"/>
              <a:t>MOV  R</a:t>
            </a:r>
            <a:r>
              <a:rPr lang="en-US" altLang="zh-CN" sz="2000" b="0" baseline="-25000" dirty="0"/>
              <a:t>0</a:t>
            </a:r>
            <a:r>
              <a:rPr lang="en-US" altLang="zh-CN" sz="2000" b="0" dirty="0"/>
              <a:t>, a        </a:t>
            </a:r>
            <a:r>
              <a:rPr lang="en-US" altLang="zh-CN" sz="2000" b="0" dirty="0">
                <a:solidFill>
                  <a:srgbClr val="800080"/>
                </a:solidFill>
              </a:rPr>
              <a:t>cost=6</a:t>
            </a:r>
            <a:endParaRPr lang="en-US" altLang="zh-CN" sz="2000" b="0" dirty="0"/>
          </a:p>
        </p:txBody>
      </p:sp>
      <p:sp>
        <p:nvSpPr>
          <p:cNvPr id="74765" name="Text Box 14"/>
          <p:cNvSpPr txBox="1">
            <a:spLocks noChangeArrowheads="1"/>
          </p:cNvSpPr>
          <p:nvPr/>
        </p:nvSpPr>
        <p:spPr bwMode="auto">
          <a:xfrm>
            <a:off x="5257800" y="3228975"/>
            <a:ext cx="336848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2</a:t>
            </a:r>
            <a:r>
              <a:rPr lang="zh-CN" altLang="en-US" sz="2000" b="0" dirty="0">
                <a:ea typeface="楷体_GB2312" pitchFamily="49" charset="-122"/>
              </a:rPr>
              <a:t>）</a:t>
            </a:r>
            <a:r>
              <a:rPr lang="en-US" altLang="zh-CN" sz="2000" b="0" dirty="0"/>
              <a:t>MOV  b, a</a:t>
            </a:r>
            <a:r>
              <a:rPr lang="en-US" altLang="zh-CN" sz="2000" b="0" baseline="-25000" dirty="0"/>
              <a:t> </a:t>
            </a:r>
          </a:p>
          <a:p>
            <a:r>
              <a:rPr lang="en-US" altLang="zh-CN" sz="2000" b="0" dirty="0"/>
              <a:t>          ADD  </a:t>
            </a:r>
            <a:r>
              <a:rPr lang="en-US" altLang="zh-CN" sz="2000" b="0" dirty="0" smtClean="0"/>
              <a:t>a, c        </a:t>
            </a:r>
            <a:r>
              <a:rPr lang="en-US" altLang="zh-CN" sz="2000" b="0" dirty="0">
                <a:solidFill>
                  <a:srgbClr val="800080"/>
                </a:solidFill>
              </a:rPr>
              <a:t>cost=6</a:t>
            </a:r>
          </a:p>
        </p:txBody>
      </p:sp>
      <p:sp>
        <p:nvSpPr>
          <p:cNvPr id="74766" name="Text Box 15"/>
          <p:cNvSpPr txBox="1">
            <a:spLocks noChangeArrowheads="1"/>
          </p:cNvSpPr>
          <p:nvPr/>
        </p:nvSpPr>
        <p:spPr bwMode="auto">
          <a:xfrm>
            <a:off x="1371600" y="4600575"/>
            <a:ext cx="3581400" cy="2046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3</a:t>
            </a:r>
            <a:r>
              <a:rPr lang="zh-CN" altLang="en-US" sz="2000" b="0" dirty="0">
                <a:ea typeface="楷体_GB2312" pitchFamily="49" charset="-122"/>
              </a:rPr>
              <a:t>）</a:t>
            </a:r>
            <a:r>
              <a:rPr lang="zh-CN" altLang="en-US" sz="2000" dirty="0" smtClean="0">
                <a:ea typeface="楷体_GB2312" pitchFamily="49" charset="-122"/>
              </a:rPr>
              <a:t>假定</a:t>
            </a:r>
            <a:r>
              <a:rPr lang="en-US" altLang="zh-CN" sz="2000" b="0" dirty="0" smtClean="0">
                <a:ea typeface="楷体_GB2312" pitchFamily="49" charset="-122"/>
              </a:rPr>
              <a:t>R</a:t>
            </a:r>
            <a:r>
              <a:rPr lang="en-US" altLang="zh-CN" sz="2000" b="0" baseline="-25000" dirty="0" smtClean="0">
                <a:ea typeface="楷体_GB2312" pitchFamily="49" charset="-122"/>
              </a:rPr>
              <a:t>1 </a:t>
            </a:r>
            <a:r>
              <a:rPr lang="zh-CN" altLang="en-US" sz="2000" dirty="0">
                <a:ea typeface="楷体_GB2312" pitchFamily="49" charset="-122"/>
              </a:rPr>
              <a:t>和 </a:t>
            </a:r>
            <a:r>
              <a:rPr lang="en-US" altLang="zh-CN" sz="2000" b="0" dirty="0" smtClean="0">
                <a:ea typeface="楷体_GB2312" pitchFamily="49" charset="-122"/>
              </a:rPr>
              <a:t>R</a:t>
            </a:r>
            <a:r>
              <a:rPr lang="en-US" altLang="zh-CN" sz="2000" b="0" baseline="-25000" dirty="0" smtClean="0">
                <a:ea typeface="楷体_GB2312" pitchFamily="49" charset="-122"/>
              </a:rPr>
              <a:t>2</a:t>
            </a:r>
            <a:r>
              <a:rPr lang="zh-CN" altLang="zh-CN" sz="2000" dirty="0" smtClean="0">
                <a:ea typeface="楷体_GB2312" pitchFamily="49" charset="-122"/>
              </a:rPr>
              <a:t>中</a:t>
            </a:r>
            <a:r>
              <a:rPr lang="zh-CN" altLang="en-US" sz="2000" dirty="0" smtClean="0">
                <a:ea typeface="楷体_GB2312" pitchFamily="49" charset="-122"/>
              </a:rPr>
              <a:t>已经分别</a:t>
            </a:r>
            <a:endParaRPr lang="zh-CN" altLang="en-US" sz="2000" dirty="0">
              <a:ea typeface="楷体_GB2312" pitchFamily="49" charset="-122"/>
            </a:endParaRPr>
          </a:p>
          <a:p>
            <a:r>
              <a:rPr lang="en-US" altLang="zh-CN" sz="2000" dirty="0" smtClean="0">
                <a:ea typeface="楷体_GB2312" pitchFamily="49" charset="-122"/>
              </a:rPr>
              <a:t>          </a:t>
            </a:r>
            <a:r>
              <a:rPr lang="zh-CN" altLang="zh-CN" sz="2000" dirty="0" smtClean="0">
                <a:ea typeface="楷体_GB2312" pitchFamily="49" charset="-122"/>
              </a:rPr>
              <a:t>包含</a:t>
            </a:r>
            <a:r>
              <a:rPr lang="zh-CN" altLang="en-US" sz="2000" dirty="0" smtClean="0">
                <a:ea typeface="楷体_GB2312" pitchFamily="49" charset="-122"/>
              </a:rPr>
              <a:t>了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en-US" altLang="zh-CN" sz="2000" b="0" dirty="0" smtClean="0">
                <a:ea typeface="楷体_GB2312" pitchFamily="49" charset="-122"/>
              </a:rPr>
              <a:t>b </a:t>
            </a:r>
            <a:r>
              <a:rPr lang="zh-CN" altLang="en-US" sz="2000" dirty="0">
                <a:ea typeface="楷体_GB2312" pitchFamily="49" charset="-122"/>
              </a:rPr>
              <a:t>和 </a:t>
            </a:r>
            <a:r>
              <a:rPr lang="en-US" altLang="zh-CN" sz="2000" b="0" dirty="0">
                <a:ea typeface="楷体_GB2312" pitchFamily="49" charset="-122"/>
              </a:rPr>
              <a:t>c </a:t>
            </a:r>
            <a:r>
              <a:rPr lang="zh-CN" altLang="en-US" sz="2000" dirty="0" smtClean="0">
                <a:ea typeface="楷体_GB2312" pitchFamily="49" charset="-122"/>
              </a:rPr>
              <a:t>的值</a:t>
            </a:r>
            <a:endParaRPr lang="zh-CN" altLang="en-US" sz="2000" dirty="0">
              <a:ea typeface="楷体_GB2312" pitchFamily="49" charset="-122"/>
            </a:endParaRPr>
          </a:p>
          <a:p>
            <a:endParaRPr lang="zh-CN" altLang="en-US" sz="1000" dirty="0">
              <a:ea typeface="楷体_GB2312" pitchFamily="49" charset="-122"/>
            </a:endParaRPr>
          </a:p>
          <a:p>
            <a:r>
              <a:rPr lang="zh-CN" altLang="en-US" sz="2000" b="0" dirty="0" smtClean="0">
                <a:ea typeface="楷体_GB2312" pitchFamily="49" charset="-122"/>
              </a:rPr>
              <a:t>          </a:t>
            </a:r>
            <a:r>
              <a:rPr lang="en-US" altLang="zh-CN" sz="2000" b="0" dirty="0" smtClean="0"/>
              <a:t>MOV R</a:t>
            </a:r>
            <a:r>
              <a:rPr lang="en-US" altLang="zh-CN" sz="2000" b="0" baseline="-25000" dirty="0" smtClean="0"/>
              <a:t>1</a:t>
            </a:r>
            <a:r>
              <a:rPr lang="en-US" altLang="zh-CN" sz="2000" b="0" dirty="0" smtClean="0"/>
              <a:t>, R</a:t>
            </a:r>
            <a:r>
              <a:rPr lang="en-US" altLang="zh-CN" sz="2000" b="0" baseline="-25000" dirty="0" smtClean="0"/>
              <a:t>0</a:t>
            </a:r>
            <a:r>
              <a:rPr lang="zh-CN" altLang="en-US" sz="2000" b="0" dirty="0" smtClean="0">
                <a:ea typeface="楷体_GB2312" pitchFamily="49" charset="-122"/>
              </a:rPr>
              <a:t>         </a:t>
            </a:r>
            <a:endParaRPr lang="en-US" altLang="zh-CN" sz="2000" b="0" dirty="0" smtClean="0">
              <a:ea typeface="楷体_GB2312" pitchFamily="49" charset="-122"/>
            </a:endParaRPr>
          </a:p>
          <a:p>
            <a:r>
              <a:rPr lang="en-US" altLang="zh-CN" sz="2000" b="0" dirty="0" smtClean="0">
                <a:ea typeface="楷体_GB2312" pitchFamily="49" charset="-122"/>
              </a:rPr>
              <a:t>          </a:t>
            </a:r>
            <a:r>
              <a:rPr lang="en-US" altLang="zh-CN" sz="2000" b="0" dirty="0" smtClean="0"/>
              <a:t>ADD R</a:t>
            </a:r>
            <a:r>
              <a:rPr lang="en-US" altLang="zh-CN" sz="2000" b="0" baseline="-25000" dirty="0" smtClean="0"/>
              <a:t>0</a:t>
            </a:r>
            <a:r>
              <a:rPr lang="en-US" altLang="zh-CN" sz="2000" b="0" dirty="0" smtClean="0"/>
              <a:t>, R</a:t>
            </a:r>
            <a:r>
              <a:rPr lang="en-US" altLang="zh-CN" sz="2000" b="0" baseline="-25000" dirty="0" smtClean="0"/>
              <a:t>2</a:t>
            </a:r>
          </a:p>
          <a:p>
            <a:r>
              <a:rPr lang="en-US" altLang="zh-CN" sz="2000" b="0" dirty="0" smtClean="0"/>
              <a:t>          MOV R</a:t>
            </a:r>
            <a:r>
              <a:rPr lang="en-US" altLang="zh-CN" sz="2000" b="0" baseline="-25000" dirty="0" smtClean="0"/>
              <a:t>0</a:t>
            </a:r>
            <a:r>
              <a:rPr lang="en-US" altLang="zh-CN" sz="2000" b="0" dirty="0" smtClean="0"/>
              <a:t>, a</a:t>
            </a:r>
            <a:r>
              <a:rPr lang="en-US" altLang="zh-CN" sz="2000" b="0" baseline="-25000" dirty="0" smtClean="0"/>
              <a:t>      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cost=4</a:t>
            </a:r>
            <a:endParaRPr lang="en-US" altLang="zh-CN" b="0" baseline="-25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4767" name="Text Box 17"/>
          <p:cNvSpPr txBox="1">
            <a:spLocks noChangeArrowheads="1"/>
          </p:cNvSpPr>
          <p:nvPr/>
        </p:nvSpPr>
        <p:spPr bwMode="auto">
          <a:xfrm>
            <a:off x="5334000" y="4191000"/>
            <a:ext cx="3581400" cy="203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4</a:t>
            </a:r>
            <a:r>
              <a:rPr lang="zh-CN" altLang="en-US" sz="2000" b="0" dirty="0">
                <a:ea typeface="楷体_GB2312" pitchFamily="49" charset="-122"/>
              </a:rPr>
              <a:t>）</a:t>
            </a:r>
            <a:r>
              <a:rPr lang="zh-CN" altLang="zh-CN" sz="2000" dirty="0">
                <a:ea typeface="楷体_GB2312" pitchFamily="49" charset="-122"/>
              </a:rPr>
              <a:t>假定</a:t>
            </a:r>
            <a:r>
              <a:rPr lang="en-US" altLang="zh-CN" sz="2000" b="0" dirty="0">
                <a:ea typeface="楷体_GB2312" pitchFamily="49" charset="-122"/>
              </a:rPr>
              <a:t>R</a:t>
            </a:r>
            <a:r>
              <a:rPr lang="en-US" altLang="zh-CN" sz="2000" b="0" baseline="-25000" dirty="0">
                <a:ea typeface="楷体_GB2312" pitchFamily="49" charset="-122"/>
              </a:rPr>
              <a:t>1</a:t>
            </a:r>
            <a:r>
              <a:rPr lang="zh-CN" altLang="zh-CN" sz="2000" dirty="0">
                <a:ea typeface="楷体_GB2312" pitchFamily="49" charset="-122"/>
              </a:rPr>
              <a:t>和</a:t>
            </a:r>
            <a:r>
              <a:rPr lang="en-US" altLang="zh-CN" sz="2000" b="0" dirty="0">
                <a:ea typeface="楷体_GB2312" pitchFamily="49" charset="-122"/>
              </a:rPr>
              <a:t>R</a:t>
            </a:r>
            <a:r>
              <a:rPr lang="en-US" altLang="zh-CN" sz="2000" b="0" baseline="-25000" dirty="0">
                <a:ea typeface="楷体_GB2312" pitchFamily="49" charset="-122"/>
              </a:rPr>
              <a:t>2</a:t>
            </a:r>
            <a:r>
              <a:rPr lang="zh-CN" altLang="zh-CN" sz="2000" dirty="0">
                <a:ea typeface="楷体_GB2312" pitchFamily="49" charset="-122"/>
              </a:rPr>
              <a:t>中分别包含</a:t>
            </a:r>
            <a:r>
              <a:rPr lang="en-US" altLang="zh-CN" sz="2000" b="0" dirty="0">
                <a:ea typeface="楷体_GB2312" pitchFamily="49" charset="-122"/>
              </a:rPr>
              <a:t>b</a:t>
            </a:r>
          </a:p>
          <a:p>
            <a:r>
              <a:rPr lang="en-US" altLang="zh-CN" sz="2000" b="0" dirty="0">
                <a:ea typeface="楷体_GB2312" pitchFamily="49" charset="-122"/>
              </a:rPr>
              <a:t>         </a:t>
            </a:r>
            <a:r>
              <a:rPr lang="zh-CN" altLang="en-US" sz="2000" dirty="0">
                <a:ea typeface="楷体_GB2312" pitchFamily="49" charset="-122"/>
              </a:rPr>
              <a:t>和</a:t>
            </a:r>
            <a:r>
              <a:rPr lang="en-US" altLang="zh-CN" sz="2000" b="0" dirty="0">
                <a:ea typeface="楷体_GB2312" pitchFamily="49" charset="-122"/>
              </a:rPr>
              <a:t>c</a:t>
            </a:r>
            <a:r>
              <a:rPr lang="zh-CN" altLang="en-US" sz="2000" dirty="0">
                <a:ea typeface="楷体_GB2312" pitchFamily="49" charset="-122"/>
              </a:rPr>
              <a:t>的值</a:t>
            </a:r>
            <a:r>
              <a:rPr lang="en-US" altLang="zh-CN" sz="2000" dirty="0">
                <a:ea typeface="楷体_GB2312" pitchFamily="49" charset="-122"/>
              </a:rPr>
              <a:t>, </a:t>
            </a:r>
            <a:r>
              <a:rPr lang="zh-CN" altLang="en-US" sz="2000" dirty="0">
                <a:ea typeface="楷体_GB2312" pitchFamily="49" charset="-122"/>
              </a:rPr>
              <a:t>并且</a:t>
            </a:r>
            <a:r>
              <a:rPr lang="en-US" altLang="zh-CN" sz="2000" b="0" dirty="0">
                <a:ea typeface="楷体_GB2312" pitchFamily="49" charset="-122"/>
              </a:rPr>
              <a:t>b</a:t>
            </a:r>
            <a:r>
              <a:rPr lang="zh-CN" altLang="en-US" sz="2000" dirty="0">
                <a:ea typeface="楷体_GB2312" pitchFamily="49" charset="-122"/>
              </a:rPr>
              <a:t>的值在这</a:t>
            </a:r>
          </a:p>
          <a:p>
            <a:r>
              <a:rPr lang="zh-CN" altLang="en-US" sz="2000" dirty="0">
                <a:ea typeface="楷体_GB2312" pitchFamily="49" charset="-122"/>
              </a:rPr>
              <a:t>         个赋值以后不再需要</a:t>
            </a:r>
          </a:p>
          <a:p>
            <a:endParaRPr lang="zh-CN" altLang="en-US" sz="1000" dirty="0">
              <a:ea typeface="楷体_GB2312" pitchFamily="49" charset="-122"/>
            </a:endParaRPr>
          </a:p>
          <a:p>
            <a:r>
              <a:rPr lang="zh-CN" altLang="en-US" sz="2000" b="0" dirty="0">
                <a:ea typeface="楷体_GB2312" pitchFamily="49" charset="-122"/>
              </a:rPr>
              <a:t>          </a:t>
            </a:r>
            <a:r>
              <a:rPr lang="en-US" altLang="zh-CN" sz="2000" b="0" dirty="0"/>
              <a:t>ADD  </a:t>
            </a:r>
            <a:r>
              <a:rPr lang="en-US" altLang="zh-CN" sz="2000" b="0" dirty="0" smtClean="0"/>
              <a:t>R</a:t>
            </a:r>
            <a:r>
              <a:rPr lang="en-US" altLang="zh-CN" sz="2000" b="0" baseline="-25000" dirty="0" smtClean="0"/>
              <a:t>1</a:t>
            </a:r>
            <a:r>
              <a:rPr lang="en-US" altLang="zh-CN" sz="2000" b="0" dirty="0" smtClean="0"/>
              <a:t>,  R</a:t>
            </a:r>
            <a:r>
              <a:rPr lang="en-US" altLang="zh-CN" sz="2000" b="0" baseline="-25000" dirty="0" smtClean="0"/>
              <a:t>2</a:t>
            </a:r>
            <a:endParaRPr lang="en-US" altLang="zh-CN" sz="2000" b="0" baseline="-25000" dirty="0"/>
          </a:p>
          <a:p>
            <a:r>
              <a:rPr lang="en-US" altLang="zh-CN" sz="2000" b="0" dirty="0"/>
              <a:t>          MOV R</a:t>
            </a:r>
            <a:r>
              <a:rPr lang="en-US" altLang="zh-CN" sz="2000" b="0" baseline="-25000" dirty="0"/>
              <a:t>1</a:t>
            </a:r>
            <a:r>
              <a:rPr lang="en-US" altLang="zh-CN" sz="2000" b="0" dirty="0"/>
              <a:t>,  a</a:t>
            </a:r>
            <a:r>
              <a:rPr lang="en-US" altLang="zh-CN" sz="2000" b="0" baseline="-25000" dirty="0"/>
              <a:t>       </a:t>
            </a:r>
            <a:r>
              <a:rPr lang="en-US" altLang="zh-CN" sz="2000" b="0" dirty="0">
                <a:solidFill>
                  <a:srgbClr val="800080"/>
                </a:solidFill>
              </a:rPr>
              <a:t>cost=3</a:t>
            </a:r>
          </a:p>
        </p:txBody>
      </p:sp>
      <p:sp>
        <p:nvSpPr>
          <p:cNvPr id="74768" name="Rectangle 19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7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2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325563"/>
            <a:ext cx="5943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一个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简单的代码生成算法</a:t>
            </a:r>
          </a:p>
        </p:txBody>
      </p:sp>
      <p:sp>
        <p:nvSpPr>
          <p:cNvPr id="75783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4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5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6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7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8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9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0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1" name="Rectangle 16"/>
          <p:cNvSpPr>
            <a:spLocks noChangeArrowheads="1"/>
          </p:cNvSpPr>
          <p:nvPr/>
        </p:nvSpPr>
        <p:spPr bwMode="auto">
          <a:xfrm>
            <a:off x="1104900" y="2043113"/>
            <a:ext cx="7658100" cy="3385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基本块内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TAC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语句序列的简单代码生成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在基本块范围内考虑如何充分利用寄存器的问题</a:t>
            </a:r>
            <a:endParaRPr kumimoji="0"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sz="2400" dirty="0">
                <a:ea typeface="楷体_GB2312" pitchFamily="49" charset="-122"/>
              </a:rPr>
              <a:t>   </a:t>
            </a:r>
            <a:r>
              <a:rPr kumimoji="0" lang="zh-CN" altLang="en-US" sz="2400">
                <a:ea typeface="楷体_GB2312" pitchFamily="49" charset="-122"/>
              </a:rPr>
              <a:t>原则</a:t>
            </a:r>
            <a:r>
              <a:rPr kumimoji="0" lang="zh-CN" altLang="en-US" sz="2400" smtClean="0">
                <a:ea typeface="楷体_GB2312" pitchFamily="49" charset="-122"/>
              </a:rPr>
              <a:t>：</a:t>
            </a:r>
            <a:r>
              <a:rPr lang="zh-CN" altLang="en-US" sz="2000" smtClean="0">
                <a:ea typeface="楷体_GB2312" pitchFamily="49" charset="-122"/>
              </a:rPr>
              <a:t>尽可能</a:t>
            </a:r>
            <a:r>
              <a:rPr lang="zh-CN" altLang="en-US" sz="2000" dirty="0">
                <a:ea typeface="楷体_GB2312" pitchFamily="49" charset="-122"/>
              </a:rPr>
              <a:t>地让变量的值保留在寄存器</a:t>
            </a:r>
            <a:r>
              <a:rPr lang="zh-CN" altLang="en-US" sz="2000" dirty="0" smtClean="0">
                <a:ea typeface="楷体_GB2312" pitchFamily="49" charset="-122"/>
              </a:rPr>
              <a:t>中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           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000" dirty="0" smtClean="0">
                <a:ea typeface="楷体_GB2312" pitchFamily="49" charset="-122"/>
              </a:rPr>
              <a:t>尽可能</a:t>
            </a:r>
            <a:r>
              <a:rPr lang="zh-CN" altLang="en-US" sz="2000" dirty="0">
                <a:ea typeface="楷体_GB2312" pitchFamily="49" charset="-122"/>
              </a:rPr>
              <a:t>引用变量在寄存器中的</a:t>
            </a:r>
            <a:r>
              <a:rPr lang="zh-CN" altLang="en-US" sz="2000" dirty="0" smtClean="0">
                <a:ea typeface="楷体_GB2312" pitchFamily="49" charset="-122"/>
              </a:rPr>
              <a:t>值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dirty="0" smtClean="0">
                <a:ea typeface="楷体_GB2312" pitchFamily="49" charset="-122"/>
              </a:rPr>
              <a:t>                        </a:t>
            </a:r>
            <a:r>
              <a:rPr lang="zh-CN" altLang="zh-CN" sz="2000" dirty="0" smtClean="0">
                <a:ea typeface="楷体_GB2312" pitchFamily="49" charset="-122"/>
              </a:rPr>
              <a:t>不再被引用的变量所占用的寄存器应尽早释放</a:t>
            </a:r>
            <a:endParaRPr lang="zh-CN" altLang="en-US" sz="2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 </a:t>
            </a:r>
            <a:r>
              <a:rPr kumimoji="0" lang="zh-CN" altLang="en-US" sz="2400" dirty="0">
                <a:ea typeface="楷体_GB2312" pitchFamily="49" charset="-122"/>
              </a:rPr>
              <a:t>借助于在</a:t>
            </a:r>
            <a:r>
              <a:rPr lang="zh-CN" altLang="en-US" sz="2400" dirty="0">
                <a:ea typeface="楷体_GB2312" pitchFamily="49" charset="-122"/>
              </a:rPr>
              <a:t>基本块范围内建立变量的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待用信息链</a:t>
            </a:r>
            <a:r>
              <a:rPr lang="zh-CN" altLang="en-US" sz="2400" dirty="0">
                <a:ea typeface="楷体_GB2312" pitchFamily="49" charset="-122"/>
              </a:rPr>
              <a:t>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 活跃信息链</a:t>
            </a:r>
            <a:endParaRPr kumimoji="0" lang="zh-CN" altLang="en-US" sz="240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75792" name="Rectangle 19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57200" y="1173163"/>
            <a:ext cx="5943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一个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简单的代码生成算法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762000" y="1873250"/>
            <a:ext cx="8229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寄存器描述数组和</a:t>
            </a:r>
            <a:r>
              <a:rPr lang="zh-CN" altLang="en-US" dirty="0" smtClean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变量地址描述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数组</a:t>
            </a:r>
            <a:r>
              <a:rPr lang="zh-CN" altLang="en-US" dirty="0">
                <a:ea typeface="楷体_GB2312" pitchFamily="49" charset="-122"/>
              </a:rPr>
              <a:t> 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RVALUE[R]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描述寄存器 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R </a:t>
            </a:r>
            <a:r>
              <a:rPr lang="zh-CN" altLang="en-US" sz="2400" dirty="0" smtClean="0">
                <a:ea typeface="楷体_GB2312" pitchFamily="49" charset="-122"/>
              </a:rPr>
              <a:t>当前存放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哪些</a:t>
            </a:r>
            <a:r>
              <a:rPr lang="zh-CN" altLang="en-US" sz="2400" dirty="0" smtClean="0">
                <a:ea typeface="楷体_GB2312" pitchFamily="49" charset="-122"/>
              </a:rPr>
              <a:t>变量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400" dirty="0">
                <a:ea typeface="楷体_GB2312" pitchFamily="49" charset="-122"/>
              </a:rPr>
              <a:t>  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AVALUE[A]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表示变量 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的值存放在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哪个</a:t>
            </a:r>
            <a:r>
              <a:rPr lang="zh-CN" altLang="en-US" sz="2400" dirty="0">
                <a:ea typeface="楷体_GB2312" pitchFamily="49" charset="-122"/>
              </a:rPr>
              <a:t>寄存器中（或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400" dirty="0">
                <a:ea typeface="楷体_GB2312" pitchFamily="49" charset="-122"/>
              </a:rPr>
              <a:t>   不在任何寄存器中）</a:t>
            </a:r>
            <a:r>
              <a:rPr lang="zh-CN" altLang="en-US" sz="2400" b="0" dirty="0">
                <a:ea typeface="楷体_GB2312" pitchFamily="49" charset="-122"/>
              </a:rPr>
              <a:t> </a:t>
            </a:r>
          </a:p>
        </p:txBody>
      </p:sp>
      <p:sp>
        <p:nvSpPr>
          <p:cNvPr id="76804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5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6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7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8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9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0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1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2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3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4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5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6" name="Rectangle 1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95288" y="1052736"/>
            <a:ext cx="5943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一个</a:t>
            </a: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简单的代码生成算法</a:t>
            </a: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539750" y="1652603"/>
            <a:ext cx="8496300" cy="5205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基本块内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TAC</a:t>
            </a: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语句序列的简单代码生成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（假设只有形如 </a:t>
            </a:r>
            <a:r>
              <a:rPr lang="en-US" altLang="zh-CN" sz="2400" b="0" dirty="0">
                <a:ea typeface="楷体_GB2312" pitchFamily="49" charset="-122"/>
              </a:rPr>
              <a:t>A:=B op C </a:t>
            </a:r>
            <a:r>
              <a:rPr lang="zh-CN" altLang="en-US" sz="2400" dirty="0" smtClean="0">
                <a:ea typeface="楷体_GB2312" pitchFamily="49" charset="-122"/>
              </a:rPr>
              <a:t>和</a:t>
            </a:r>
            <a:r>
              <a:rPr lang="en-US" altLang="zh-CN" sz="2400" b="0" dirty="0" smtClean="0">
                <a:ea typeface="楷体_GB2312" pitchFamily="49" charset="-122"/>
              </a:rPr>
              <a:t>A:=B</a:t>
            </a:r>
            <a:r>
              <a:rPr lang="zh-CN" altLang="en-US" sz="2400" dirty="0" smtClean="0">
                <a:ea typeface="楷体_GB2312" pitchFamily="49" charset="-122"/>
              </a:rPr>
              <a:t>的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</a:t>
            </a:r>
            <a:r>
              <a:rPr lang="zh-CN" altLang="en-US" sz="2400" dirty="0" smtClean="0">
                <a:ea typeface="楷体_GB2312" pitchFamily="49" charset="-122"/>
              </a:rPr>
              <a:t>序列）</a:t>
            </a:r>
            <a:r>
              <a:rPr lang="zh-CN" altLang="en-US" dirty="0" smtClean="0">
                <a:ea typeface="楷体_GB2312" pitchFamily="49" charset="-122"/>
              </a:rPr>
              <a:t> 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en-US" altLang="zh-CN" sz="2400" b="0" dirty="0">
                <a:solidFill>
                  <a:srgbClr val="800080"/>
                </a:solidFill>
              </a:rPr>
              <a:t>step1</a:t>
            </a:r>
            <a:r>
              <a:rPr lang="zh-CN" altLang="en-US" sz="2400" dirty="0">
                <a:solidFill>
                  <a:srgbClr val="800080"/>
                </a:solidFill>
                <a:latin typeface="宋体" pitchFamily="2" charset="-122"/>
              </a:rPr>
              <a:t>：</a:t>
            </a:r>
            <a:r>
              <a:rPr lang="zh-CN" altLang="en-US" sz="2400" dirty="0">
                <a:ea typeface="楷体_GB2312" pitchFamily="49" charset="-122"/>
              </a:rPr>
              <a:t>对每个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</a:t>
            </a:r>
            <a:r>
              <a:rPr lang="en-US" altLang="zh-CN" sz="2400" b="0" dirty="0" err="1" smtClean="0">
                <a:ea typeface="楷体_GB2312" pitchFamily="49" charset="-122"/>
              </a:rPr>
              <a:t>i</a:t>
            </a:r>
            <a:r>
              <a:rPr lang="zh-CN" altLang="en-US" sz="2400" b="0" dirty="0" smtClean="0">
                <a:ea typeface="楷体_GB2312" pitchFamily="49" charset="-122"/>
              </a:rPr>
              <a:t>，</a:t>
            </a:r>
            <a:r>
              <a:rPr lang="zh-CN" altLang="en-US" sz="2400" dirty="0">
                <a:ea typeface="楷体_GB2312" pitchFamily="49" charset="-122"/>
              </a:rPr>
              <a:t>依次执行下述步骤：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 dirty="0">
                <a:ea typeface="楷体_GB2312" pitchFamily="49" charset="-122"/>
              </a:rPr>
              <a:t>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以 </a:t>
            </a:r>
            <a:r>
              <a:rPr lang="en-US" altLang="zh-CN" sz="2000" b="0" dirty="0" err="1" smtClean="0">
                <a:ea typeface="楷体_GB2312" pitchFamily="49" charset="-122"/>
              </a:rPr>
              <a:t>i</a:t>
            </a:r>
            <a:r>
              <a:rPr lang="en-US" altLang="zh-CN" sz="2000" b="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为</a:t>
            </a:r>
            <a:r>
              <a:rPr lang="zh-CN" altLang="en-US" sz="2000" dirty="0">
                <a:ea typeface="楷体_GB2312" pitchFamily="49" charset="-122"/>
              </a:rPr>
              <a:t>参数，调用 </a:t>
            </a:r>
            <a:r>
              <a:rPr lang="en-US" altLang="zh-CN" sz="2000" b="0" dirty="0" err="1" smtClean="0">
                <a:solidFill>
                  <a:srgbClr val="800080"/>
                </a:solidFill>
                <a:ea typeface="楷体_GB2312" pitchFamily="49" charset="-122"/>
              </a:rPr>
              <a:t>getreg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(</a:t>
            </a:r>
            <a:r>
              <a:rPr lang="en-US" altLang="zh-CN" sz="2000" b="0" dirty="0" err="1" smtClean="0">
                <a:solidFill>
                  <a:srgbClr val="800080"/>
                </a:solidFill>
                <a:ea typeface="楷体_GB2312" pitchFamily="49" charset="-122"/>
              </a:rPr>
              <a:t>i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)</a:t>
            </a:r>
            <a:r>
              <a:rPr lang="en-US" altLang="zh-CN" sz="2000" b="0" dirty="0" smtClean="0">
                <a:ea typeface="楷体_GB2312" pitchFamily="49" charset="-122"/>
              </a:rPr>
              <a:t>; </a:t>
            </a:r>
            <a:r>
              <a:rPr lang="zh-CN" altLang="en-US" sz="2000" dirty="0">
                <a:ea typeface="楷体_GB2312" pitchFamily="49" charset="-122"/>
              </a:rPr>
              <a:t>从 </a:t>
            </a:r>
            <a:r>
              <a:rPr lang="en-US" altLang="zh-CN" sz="2000" b="0" dirty="0" err="1">
                <a:ea typeface="楷体_GB2312" pitchFamily="49" charset="-122"/>
              </a:rPr>
              <a:t>getreg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返回</a:t>
            </a:r>
            <a:r>
              <a:rPr lang="zh-CN" altLang="en-US" sz="2000" dirty="0">
                <a:ea typeface="楷体_GB2312" pitchFamily="49" charset="-122"/>
              </a:rPr>
              <a:t>时，得到一寄存器 </a:t>
            </a:r>
            <a:r>
              <a:rPr lang="en-US" altLang="zh-CN" sz="2000" b="0" dirty="0">
                <a:ea typeface="楷体_GB2312" pitchFamily="49" charset="-122"/>
              </a:rPr>
              <a:t>R</a:t>
            </a:r>
            <a:r>
              <a:rPr lang="zh-CN" altLang="en-US" sz="2000" dirty="0">
                <a:ea typeface="楷体_GB2312" pitchFamily="49" charset="-122"/>
              </a:rPr>
              <a:t>（</a:t>
            </a:r>
            <a:r>
              <a:rPr lang="zh-CN" altLang="en-US" sz="2000" dirty="0" smtClean="0">
                <a:ea typeface="楷体_GB2312" pitchFamily="49" charset="-122"/>
              </a:rPr>
              <a:t>这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dirty="0" smtClean="0">
                <a:ea typeface="楷体_GB2312" pitchFamily="49" charset="-122"/>
              </a:rPr>
              <a:t>   </a:t>
            </a:r>
            <a:r>
              <a:rPr lang="zh-CN" altLang="en-US" sz="2000" dirty="0" smtClean="0">
                <a:ea typeface="楷体_GB2312" pitchFamily="49" charset="-122"/>
              </a:rPr>
              <a:t>里</a:t>
            </a:r>
            <a:r>
              <a:rPr lang="zh-CN" altLang="en-US" sz="2000" dirty="0">
                <a:ea typeface="楷体_GB2312" pitchFamily="49" charset="-122"/>
              </a:rPr>
              <a:t>先假定 </a:t>
            </a:r>
            <a:r>
              <a:rPr lang="en-US" altLang="zh-CN" sz="2000" b="0" dirty="0">
                <a:ea typeface="楷体_GB2312" pitchFamily="49" charset="-122"/>
              </a:rPr>
              <a:t>R </a:t>
            </a:r>
            <a:r>
              <a:rPr lang="zh-CN" altLang="en-US" sz="2000" dirty="0">
                <a:ea typeface="楷体_GB2312" pitchFamily="49" charset="-122"/>
              </a:rPr>
              <a:t>为伪寄存器</a:t>
            </a:r>
            <a:r>
              <a:rPr lang="zh-CN" altLang="en-US" sz="2000" dirty="0" smtClean="0">
                <a:ea typeface="楷体_GB2312" pitchFamily="49" charset="-122"/>
              </a:rPr>
              <a:t>），作为存放 </a:t>
            </a:r>
            <a:r>
              <a:rPr lang="en-US" altLang="zh-CN" sz="2000" b="0" dirty="0">
                <a:ea typeface="楷体_GB2312" pitchFamily="49" charset="-122"/>
              </a:rPr>
              <a:t>A </a:t>
            </a:r>
            <a:r>
              <a:rPr lang="zh-CN" altLang="en-US" sz="2000" dirty="0">
                <a:ea typeface="楷体_GB2312" pitchFamily="49" charset="-122"/>
              </a:rPr>
              <a:t>现行值的寄存器</a:t>
            </a:r>
            <a:r>
              <a:rPr lang="zh-CN" altLang="en-US" sz="2000" dirty="0" smtClean="0">
                <a:ea typeface="楷体_GB2312" pitchFamily="49" charset="-122"/>
              </a:rPr>
              <a:t>；</a:t>
            </a:r>
            <a:endParaRPr lang="zh-CN" altLang="en-US" sz="2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利用 </a:t>
            </a:r>
            <a:r>
              <a:rPr lang="en-US" altLang="zh-CN" sz="2000" b="0" dirty="0">
                <a:ea typeface="楷体_GB2312" pitchFamily="49" charset="-122"/>
              </a:rPr>
              <a:t>AVALUE[B] </a:t>
            </a:r>
            <a:r>
              <a:rPr lang="zh-CN" altLang="en-US" sz="2000" dirty="0">
                <a:ea typeface="楷体_GB2312" pitchFamily="49" charset="-122"/>
              </a:rPr>
              <a:t>和 </a:t>
            </a:r>
            <a:r>
              <a:rPr lang="en-US" altLang="zh-CN" sz="2000" b="0" dirty="0">
                <a:ea typeface="楷体_GB2312" pitchFamily="49" charset="-122"/>
              </a:rPr>
              <a:t>AVALUE[C]</a:t>
            </a:r>
            <a:r>
              <a:rPr lang="zh-CN" altLang="en-US" sz="2000" dirty="0">
                <a:ea typeface="楷体_GB2312" pitchFamily="49" charset="-122"/>
              </a:rPr>
              <a:t>，确定出 </a:t>
            </a:r>
            <a:r>
              <a:rPr lang="en-US" altLang="zh-CN" sz="2000" b="0" dirty="0">
                <a:ea typeface="楷体_GB2312" pitchFamily="49" charset="-122"/>
              </a:rPr>
              <a:t>B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和 </a:t>
            </a:r>
            <a:r>
              <a:rPr lang="en-US" altLang="zh-CN" sz="2000" b="0" dirty="0">
                <a:ea typeface="楷体_GB2312" pitchFamily="49" charset="-122"/>
              </a:rPr>
              <a:t>C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现行值存放</a:t>
            </a:r>
            <a:r>
              <a:rPr lang="zh-CN" altLang="en-US" sz="2000" dirty="0" smtClean="0">
                <a:ea typeface="楷体_GB2312" pitchFamily="49" charset="-122"/>
              </a:rPr>
              <a:t>位置；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dirty="0" smtClean="0">
                <a:ea typeface="楷体_GB2312" pitchFamily="49" charset="-122"/>
              </a:rPr>
              <a:t>    </a:t>
            </a:r>
            <a:r>
              <a:rPr lang="zh-CN" altLang="en-US" sz="2000" dirty="0" smtClean="0">
                <a:ea typeface="楷体_GB2312" pitchFamily="49" charset="-122"/>
              </a:rPr>
              <a:t>如果</a:t>
            </a:r>
            <a:r>
              <a:rPr lang="zh-CN" altLang="en-US" sz="2000" dirty="0">
                <a:ea typeface="楷体_GB2312" pitchFamily="49" charset="-122"/>
              </a:rPr>
              <a:t>其现行值在寄存器中，则把寄存器取作</a:t>
            </a:r>
            <a:r>
              <a:rPr lang="en-US" altLang="zh-CN" sz="2000" b="0" dirty="0">
                <a:ea typeface="楷体_GB2312" pitchFamily="49" charset="-122"/>
              </a:rPr>
              <a:t>B` </a:t>
            </a:r>
            <a:r>
              <a:rPr lang="zh-CN" altLang="en-US" sz="2000" dirty="0">
                <a:ea typeface="楷体_GB2312" pitchFamily="49" charset="-122"/>
              </a:rPr>
              <a:t>和 </a:t>
            </a:r>
            <a:r>
              <a:rPr lang="en-US" altLang="zh-CN" sz="2000" b="0" dirty="0">
                <a:ea typeface="楷体_GB2312" pitchFamily="49" charset="-122"/>
              </a:rPr>
              <a:t>C</a:t>
            </a:r>
            <a:r>
              <a:rPr lang="en-US" altLang="zh-CN" sz="2000" b="0" dirty="0" smtClean="0">
                <a:ea typeface="楷体_GB2312" pitchFamily="49" charset="-122"/>
              </a:rPr>
              <a:t>`</a:t>
            </a:r>
            <a:r>
              <a:rPr lang="zh-CN" altLang="en-US" sz="2000" dirty="0" smtClean="0">
                <a:ea typeface="楷体_GB2312" pitchFamily="49" charset="-122"/>
              </a:rPr>
              <a:t>；如果其现行值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dirty="0" smtClean="0">
                <a:ea typeface="楷体_GB2312" pitchFamily="49" charset="-122"/>
              </a:rPr>
              <a:t>    </a:t>
            </a:r>
            <a:r>
              <a:rPr lang="zh-CN" altLang="en-US" sz="2000" dirty="0" smtClean="0">
                <a:ea typeface="楷体_GB2312" pitchFamily="49" charset="-122"/>
              </a:rPr>
              <a:t>不在寄存器中，则在相应指令中仍用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zh-CN" altLang="en-US" sz="2000" dirty="0" smtClean="0">
                <a:ea typeface="楷体_GB2312" pitchFamily="49" charset="-122"/>
              </a:rPr>
              <a:t>和 </a:t>
            </a:r>
            <a:r>
              <a:rPr lang="en-US" altLang="zh-CN" sz="2000" b="0" dirty="0" smtClean="0">
                <a:ea typeface="楷体_GB2312" pitchFamily="49" charset="-122"/>
              </a:rPr>
              <a:t>C</a:t>
            </a:r>
            <a:r>
              <a:rPr lang="zh-CN" altLang="en-US" sz="2000" dirty="0" smtClean="0">
                <a:ea typeface="楷体_GB2312" pitchFamily="49" charset="-122"/>
              </a:rPr>
              <a:t>表示。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2000" dirty="0" smtClean="0">
                <a:latin typeface="楷体_GB2312" pitchFamily="49" charset="-122"/>
                <a:ea typeface="楷体_GB2312" pitchFamily="49" charset="-122"/>
              </a:rPr>
              <a:t>分两种情形生成目标代码：</a:t>
            </a:r>
            <a:endParaRPr lang="en-US" altLang="zh-CN" sz="2000" dirty="0"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>
                <a:ea typeface="楷体_GB2312" pitchFamily="49" charset="-122"/>
              </a:rPr>
              <a:t>    a)  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对于 </a:t>
            </a:r>
            <a:r>
              <a:rPr lang="en-US" altLang="zh-CN" sz="2000" b="0" dirty="0" err="1" smtClean="0">
                <a:ea typeface="楷体_GB2312" pitchFamily="49" charset="-122"/>
              </a:rPr>
              <a:t>i</a:t>
            </a:r>
            <a:r>
              <a:rPr lang="en-US" altLang="zh-CN" sz="2000" b="0" dirty="0" smtClean="0">
                <a:ea typeface="楷体_GB2312" pitchFamily="49" charset="-122"/>
              </a:rPr>
              <a:t>: A:=B op C</a:t>
            </a:r>
            <a:r>
              <a:rPr lang="zh-CN" altLang="en-US" sz="2000" b="0" dirty="0" smtClean="0">
                <a:ea typeface="楷体_GB2312" pitchFamily="49" charset="-122"/>
              </a:rPr>
              <a:t>。</a:t>
            </a:r>
            <a:r>
              <a:rPr lang="zh-CN" altLang="en-US" sz="2000" dirty="0" smtClean="0">
                <a:ea typeface="楷体_GB2312" pitchFamily="49" charset="-122"/>
              </a:rPr>
              <a:t>如果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zh-CN" altLang="en-US" sz="2000" dirty="0" smtClean="0">
                <a:ea typeface="楷体_GB2312" pitchFamily="49" charset="-122"/>
              </a:rPr>
              <a:t>现行值不在寄存器或者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en-US" altLang="zh-CN" sz="2000" b="0" dirty="0">
                <a:ea typeface="楷体_GB2312" pitchFamily="49" charset="-122"/>
              </a:rPr>
              <a:t>`≠R</a:t>
            </a:r>
            <a:r>
              <a:rPr lang="zh-CN" altLang="en-US" sz="2000" dirty="0">
                <a:ea typeface="楷体_GB2312" pitchFamily="49" charset="-122"/>
              </a:rPr>
              <a:t>，则</a:t>
            </a:r>
            <a:r>
              <a:rPr lang="zh-CN" altLang="en-US" sz="2000" dirty="0" smtClean="0">
                <a:ea typeface="楷体_GB2312" pitchFamily="49" charset="-122"/>
              </a:rPr>
              <a:t>生成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          MOV  B, R  </a:t>
            </a:r>
            <a:r>
              <a:rPr lang="zh-CN" altLang="en-US" sz="2000" dirty="0" smtClean="0">
                <a:ea typeface="楷体_GB2312" pitchFamily="49" charset="-122"/>
              </a:rPr>
              <a:t>或 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MOV  B, R  </a:t>
            </a:r>
            <a:r>
              <a:rPr lang="zh-CN" altLang="en-US" sz="2000" dirty="0" smtClean="0">
                <a:ea typeface="楷体_GB2312" pitchFamily="49" charset="-122"/>
              </a:rPr>
              <a:t>或 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MOV  </a:t>
            </a:r>
            <a:r>
              <a:rPr lang="en-US" altLang="zh-CN" sz="2000" b="0" dirty="0">
                <a:solidFill>
                  <a:srgbClr val="800080"/>
                </a:solidFill>
                <a:ea typeface="楷体_GB2312" pitchFamily="49" charset="-122"/>
              </a:rPr>
              <a:t>B`,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R  </a:t>
            </a:r>
            <a:r>
              <a:rPr lang="zh-CN" altLang="en-US" sz="2000" dirty="0" smtClean="0">
                <a:ea typeface="楷体_GB2312" pitchFamily="49" charset="-122"/>
              </a:rPr>
              <a:t>或 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MOV  B`, R 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          OP  R, C           OP  R, C`         OP  R, C            OP  R, C`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 smtClean="0">
                <a:ea typeface="楷体_GB2312" pitchFamily="49" charset="-122"/>
              </a:rPr>
              <a:t>         </a:t>
            </a:r>
            <a:r>
              <a:rPr lang="zh-CN" altLang="en-US" sz="2000" dirty="0">
                <a:ea typeface="楷体_GB2312" pitchFamily="49" charset="-122"/>
              </a:rPr>
              <a:t>否则</a:t>
            </a:r>
            <a:r>
              <a:rPr lang="zh-CN" altLang="en-US" sz="2000" dirty="0" smtClean="0">
                <a:ea typeface="楷体_GB2312" pitchFamily="49" charset="-122"/>
              </a:rPr>
              <a:t>，则生成   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OP  R, C    </a:t>
            </a:r>
            <a:r>
              <a:rPr lang="zh-CN" altLang="en-US" sz="2000" dirty="0" smtClean="0">
                <a:ea typeface="楷体_GB2312" pitchFamily="49" charset="-122"/>
              </a:rPr>
              <a:t>或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  OP  R, C`</a:t>
            </a:r>
            <a:endParaRPr lang="en-US" altLang="zh-CN" sz="2000" b="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77840" name="Rectangle 1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77828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29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0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1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2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3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4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5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6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7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8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9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7544" y="1265386"/>
            <a:ext cx="5943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一个</a:t>
            </a: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简单的代码生成算法</a:t>
            </a:r>
          </a:p>
        </p:txBody>
      </p:sp>
      <p:sp>
        <p:nvSpPr>
          <p:cNvPr id="78851" name="Rectangle 18"/>
          <p:cNvSpPr>
            <a:spLocks noChangeArrowheads="1"/>
          </p:cNvSpPr>
          <p:nvPr/>
        </p:nvSpPr>
        <p:spPr bwMode="auto">
          <a:xfrm>
            <a:off x="762000" y="2132856"/>
            <a:ext cx="8382000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 基本块内 </a:t>
            </a:r>
            <a:r>
              <a:rPr lang="en-US" altLang="zh-CN" sz="2400" b="0" i="1" dirty="0" smtClean="0">
                <a:solidFill>
                  <a:srgbClr val="800080"/>
                </a:solidFill>
                <a:ea typeface="楷体_GB2312" pitchFamily="49" charset="-122"/>
              </a:rPr>
              <a:t>TAC</a:t>
            </a:r>
            <a:r>
              <a:rPr lang="en-US" altLang="zh-CN" dirty="0" smtClean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语句序列的简单代码生成</a:t>
            </a:r>
            <a:r>
              <a:rPr lang="zh-CN" altLang="en-US" sz="2400" dirty="0" smtClean="0">
                <a:ea typeface="楷体_GB2312" pitchFamily="49" charset="-122"/>
              </a:rPr>
              <a:t>（</a:t>
            </a:r>
            <a:r>
              <a:rPr lang="zh-CN" altLang="en-US" sz="2400" dirty="0">
                <a:ea typeface="楷体_GB2312" pitchFamily="49" charset="-122"/>
              </a:rPr>
              <a:t>续前页</a:t>
            </a:r>
            <a:r>
              <a:rPr lang="zh-CN" altLang="en-US" sz="2400" dirty="0" smtClean="0">
                <a:ea typeface="楷体_GB2312" pitchFamily="49" charset="-122"/>
              </a:rPr>
              <a:t>）</a:t>
            </a:r>
            <a:endParaRPr lang="en-US" altLang="zh-CN" sz="24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sz="1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000" dirty="0" smtClean="0">
                <a:ea typeface="楷体_GB2312" pitchFamily="49" charset="-122"/>
              </a:rPr>
              <a:t>                </a:t>
            </a:r>
            <a:r>
              <a:rPr lang="zh-CN" altLang="en-US" sz="2000" dirty="0" smtClean="0">
                <a:ea typeface="楷体_GB2312" pitchFamily="49" charset="-122"/>
              </a:rPr>
              <a:t>如 </a:t>
            </a:r>
            <a:r>
              <a:rPr lang="en-US" altLang="zh-CN" sz="2000" b="0" dirty="0" smtClean="0">
                <a:ea typeface="楷体_GB2312" pitchFamily="49" charset="-122"/>
              </a:rPr>
              <a:t>B` </a:t>
            </a:r>
            <a:r>
              <a:rPr lang="zh-CN" altLang="en-US" sz="2000" dirty="0" smtClean="0">
                <a:ea typeface="楷体_GB2312" pitchFamily="49" charset="-122"/>
              </a:rPr>
              <a:t>或 </a:t>
            </a:r>
            <a:r>
              <a:rPr lang="en-US" altLang="zh-CN" sz="2000" b="0" dirty="0" smtClean="0">
                <a:ea typeface="楷体_GB2312" pitchFamily="49" charset="-122"/>
              </a:rPr>
              <a:t>C` </a:t>
            </a:r>
            <a:r>
              <a:rPr lang="zh-CN" altLang="en-US" sz="2000" dirty="0" smtClean="0">
                <a:ea typeface="楷体_GB2312" pitchFamily="49" charset="-122"/>
              </a:rPr>
              <a:t>为</a:t>
            </a:r>
            <a:r>
              <a:rPr lang="en-US" altLang="zh-CN" sz="2000" b="0" dirty="0" smtClean="0">
                <a:ea typeface="楷体_GB2312" pitchFamily="49" charset="-122"/>
              </a:rPr>
              <a:t>R</a:t>
            </a:r>
            <a:r>
              <a:rPr lang="zh-CN" altLang="en-US" sz="2000" dirty="0" smtClean="0">
                <a:ea typeface="楷体_GB2312" pitchFamily="49" charset="-122"/>
              </a:rPr>
              <a:t>，则删除 </a:t>
            </a:r>
            <a:r>
              <a:rPr lang="en-US" altLang="zh-CN" sz="2000" b="0" dirty="0" smtClean="0">
                <a:ea typeface="楷体_GB2312" pitchFamily="49" charset="-122"/>
              </a:rPr>
              <a:t>AVALUE[B] </a:t>
            </a:r>
            <a:r>
              <a:rPr lang="zh-CN" altLang="en-US" sz="2000" dirty="0" smtClean="0">
                <a:ea typeface="楷体_GB2312" pitchFamily="49" charset="-122"/>
              </a:rPr>
              <a:t>或 </a:t>
            </a:r>
            <a:r>
              <a:rPr lang="en-US" altLang="zh-CN" sz="2000" b="0" dirty="0" smtClean="0">
                <a:ea typeface="楷体_GB2312" pitchFamily="49" charset="-122"/>
              </a:rPr>
              <a:t>AVALUE[C]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中的 </a:t>
            </a:r>
            <a:r>
              <a:rPr lang="en-US" altLang="zh-CN" sz="2000" b="0" dirty="0" smtClean="0">
                <a:ea typeface="楷体_GB2312" pitchFamily="49" charset="-122"/>
              </a:rPr>
              <a:t>R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sz="1000" b="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 smtClean="0">
                <a:ea typeface="楷体_GB2312" pitchFamily="49" charset="-122"/>
              </a:rPr>
              <a:t>                对每个 </a:t>
            </a:r>
            <a:r>
              <a:rPr lang="en-US" altLang="zh-CN" sz="2000" b="0" dirty="0" smtClean="0">
                <a:ea typeface="楷体_GB2312" pitchFamily="49" charset="-122"/>
              </a:rPr>
              <a:t>D</a:t>
            </a:r>
            <a:r>
              <a:rPr lang="en-US" altLang="zh-CN" sz="2000" b="0" dirty="0" smtClean="0">
                <a:ea typeface="楷体_GB2312" pitchFamily="49" charset="-122"/>
                <a:sym typeface="Symbol"/>
              </a:rPr>
              <a:t>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zh-CN" altLang="en-US" sz="2000" dirty="0" smtClean="0">
                <a:ea typeface="楷体_GB2312" pitchFamily="49" charset="-122"/>
              </a:rPr>
              <a:t>，</a:t>
            </a:r>
            <a:r>
              <a:rPr lang="en-US" altLang="zh-CN" sz="2000" b="0" dirty="0" smtClean="0">
                <a:ea typeface="楷体_GB2312" pitchFamily="49" charset="-122"/>
              </a:rPr>
              <a:t>D</a:t>
            </a:r>
            <a:r>
              <a:rPr lang="en-US" altLang="zh-CN" sz="2000" b="0" dirty="0" smtClean="0">
                <a:ea typeface="楷体_GB2312" pitchFamily="49" charset="-122"/>
                <a:sym typeface="Symbol"/>
              </a:rPr>
              <a:t></a:t>
            </a:r>
            <a:r>
              <a:rPr lang="en-US" altLang="zh-CN" sz="2000" b="0" dirty="0" smtClean="0">
                <a:ea typeface="楷体_GB2312" pitchFamily="49" charset="-122"/>
              </a:rPr>
              <a:t>RVALUE[R]</a:t>
            </a:r>
            <a:r>
              <a:rPr lang="zh-CN" altLang="en-US" sz="2000" dirty="0" smtClean="0">
                <a:ea typeface="楷体_GB2312" pitchFamily="49" charset="-122"/>
              </a:rPr>
              <a:t>，并且在语句 </a:t>
            </a:r>
            <a:r>
              <a:rPr lang="en-US" altLang="zh-CN" sz="2000" b="0" dirty="0" err="1" smtClean="0">
                <a:ea typeface="楷体_GB2312" pitchFamily="49" charset="-122"/>
              </a:rPr>
              <a:t>i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之后 </a:t>
            </a:r>
            <a:r>
              <a:rPr lang="en-US" altLang="zh-CN" sz="2000" b="0" dirty="0" smtClean="0">
                <a:ea typeface="楷体_GB2312" pitchFamily="49" charset="-122"/>
              </a:rPr>
              <a:t>D</a:t>
            </a:r>
            <a:r>
              <a:rPr lang="zh-CN" altLang="en-US" sz="2000" b="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仍然是活</a:t>
            </a:r>
            <a:endParaRPr lang="en-US" altLang="zh-CN" sz="2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 smtClean="0">
                <a:ea typeface="楷体_GB2312" pitchFamily="49" charset="-122"/>
              </a:rPr>
              <a:t>                跃变量，则在生成以上代码之前先插入一条指令 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MOV R, D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b="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000" b="0" dirty="0" smtClean="0">
                <a:ea typeface="楷体_GB2312" pitchFamily="49" charset="-122"/>
              </a:rPr>
              <a:t>                </a:t>
            </a:r>
            <a:r>
              <a:rPr lang="zh-CN" altLang="en-US" sz="2000" dirty="0" smtClean="0">
                <a:ea typeface="楷体_GB2312" pitchFamily="49" charset="-122"/>
              </a:rPr>
              <a:t>令 </a:t>
            </a:r>
            <a:r>
              <a:rPr lang="en-US" altLang="zh-CN" sz="2000" b="0" dirty="0" smtClean="0">
                <a:ea typeface="楷体_GB2312" pitchFamily="49" charset="-122"/>
              </a:rPr>
              <a:t>AVALUE[A]={R}</a:t>
            </a:r>
            <a:r>
              <a:rPr lang="zh-CN" altLang="en-US" sz="2000" dirty="0" smtClean="0">
                <a:ea typeface="楷体_GB2312" pitchFamily="49" charset="-122"/>
              </a:rPr>
              <a:t>，并令 </a:t>
            </a:r>
            <a:r>
              <a:rPr lang="en-US" altLang="zh-CN" sz="2000" b="0" dirty="0" smtClean="0">
                <a:ea typeface="楷体_GB2312" pitchFamily="49" charset="-122"/>
              </a:rPr>
              <a:t>RVALUE[R]={A}</a:t>
            </a:r>
            <a:r>
              <a:rPr lang="zh-CN" altLang="en-US" sz="2000" dirty="0" smtClean="0">
                <a:ea typeface="楷体_GB2312" pitchFamily="49" charset="-122"/>
              </a:rPr>
              <a:t>，以表示变量 </a:t>
            </a:r>
            <a:r>
              <a:rPr lang="en-US" altLang="zh-CN" sz="2000" b="0" dirty="0" smtClean="0">
                <a:ea typeface="楷体_GB2312" pitchFamily="49" charset="-122"/>
              </a:rPr>
              <a:t>A </a:t>
            </a:r>
            <a:r>
              <a:rPr lang="zh-CN" altLang="en-US" sz="2000" dirty="0" smtClean="0">
                <a:ea typeface="楷体_GB2312" pitchFamily="49" charset="-122"/>
              </a:rPr>
              <a:t>的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000" dirty="0" smtClean="0">
                <a:ea typeface="楷体_GB2312" pitchFamily="49" charset="-122"/>
              </a:rPr>
              <a:t>                现行值只在 </a:t>
            </a:r>
            <a:r>
              <a:rPr lang="en-US" altLang="zh-CN" sz="2000" b="0" dirty="0" smtClean="0">
                <a:ea typeface="楷体_GB2312" pitchFamily="49" charset="-122"/>
              </a:rPr>
              <a:t>R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中并且 </a:t>
            </a:r>
            <a:r>
              <a:rPr lang="en-US" altLang="zh-CN" sz="2000" b="0" dirty="0" smtClean="0">
                <a:ea typeface="楷体_GB2312" pitchFamily="49" charset="-122"/>
              </a:rPr>
              <a:t>R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中的值只代表 </a:t>
            </a:r>
            <a:r>
              <a:rPr lang="en-US" altLang="zh-CN" sz="2000" b="0" dirty="0" smtClean="0">
                <a:ea typeface="楷体_GB2312" pitchFamily="49" charset="-122"/>
              </a:rPr>
              <a:t>A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的现行值 </a:t>
            </a:r>
            <a:endParaRPr lang="en-US" altLang="zh-CN" sz="2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b="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000" b="0" dirty="0" smtClean="0">
                <a:ea typeface="楷体_GB2312" pitchFamily="49" charset="-122"/>
              </a:rPr>
              <a:t>           </a:t>
            </a:r>
            <a:r>
              <a:rPr lang="en-US" altLang="zh-CN" sz="2000" b="0" dirty="0" smtClean="0">
                <a:ea typeface="楷体_GB2312" pitchFamily="49" charset="-122"/>
              </a:rPr>
              <a:t>b)  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对于 </a:t>
            </a:r>
            <a:r>
              <a:rPr lang="en-US" altLang="zh-CN" sz="2000" b="0" dirty="0" err="1" smtClean="0">
                <a:ea typeface="楷体_GB2312" pitchFamily="49" charset="-122"/>
              </a:rPr>
              <a:t>i</a:t>
            </a:r>
            <a:r>
              <a:rPr lang="en-US" altLang="zh-CN" sz="2000" b="0" dirty="0" smtClean="0">
                <a:ea typeface="楷体_GB2312" pitchFamily="49" charset="-122"/>
              </a:rPr>
              <a:t>: A:=B</a:t>
            </a:r>
            <a:r>
              <a:rPr lang="zh-CN" altLang="en-US" sz="2000" b="0" dirty="0" smtClean="0">
                <a:ea typeface="楷体_GB2312" pitchFamily="49" charset="-122"/>
              </a:rPr>
              <a:t>。</a:t>
            </a:r>
            <a:r>
              <a:rPr lang="zh-CN" altLang="en-US" sz="2000" dirty="0" smtClean="0">
                <a:ea typeface="楷体_GB2312" pitchFamily="49" charset="-122"/>
              </a:rPr>
              <a:t>如果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zh-CN" altLang="en-US" sz="2000" dirty="0" smtClean="0">
                <a:ea typeface="楷体_GB2312" pitchFamily="49" charset="-122"/>
              </a:rPr>
              <a:t>现行值不在寄存器中，则生成 </a:t>
            </a:r>
            <a:r>
              <a:rPr lang="en-US" altLang="zh-CN" sz="2000" b="0" dirty="0" smtClean="0">
                <a:solidFill>
                  <a:srgbClr val="800080"/>
                </a:solidFill>
                <a:ea typeface="楷体_GB2312" pitchFamily="49" charset="-122"/>
              </a:rPr>
              <a:t>MOV  B, R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 smtClean="0">
                <a:ea typeface="楷体_GB2312" pitchFamily="49" charset="-122"/>
              </a:rPr>
              <a:t>          令 </a:t>
            </a:r>
            <a:r>
              <a:rPr lang="en-US" altLang="zh-CN" sz="2000" b="0" dirty="0" smtClean="0">
                <a:ea typeface="楷体_GB2312" pitchFamily="49" charset="-122"/>
              </a:rPr>
              <a:t>AVALUE[B] = {R}</a:t>
            </a:r>
            <a:r>
              <a:rPr lang="zh-CN" altLang="en-US" sz="2000" dirty="0" smtClean="0">
                <a:ea typeface="楷体_GB2312" pitchFamily="49" charset="-122"/>
              </a:rPr>
              <a:t>，并令 </a:t>
            </a:r>
            <a:r>
              <a:rPr lang="en-US" altLang="zh-CN" sz="2000" b="0" dirty="0" smtClean="0">
                <a:ea typeface="楷体_GB2312" pitchFamily="49" charset="-122"/>
              </a:rPr>
              <a:t>RVALUE[R]={A, B}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b="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 smtClean="0">
                <a:ea typeface="楷体_GB2312" pitchFamily="49" charset="-122"/>
              </a:rPr>
              <a:t>          如果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zh-CN" altLang="en-US" sz="2000" dirty="0" smtClean="0">
                <a:ea typeface="楷体_GB2312" pitchFamily="49" charset="-122"/>
              </a:rPr>
              <a:t>现行值在寄存器</a:t>
            </a:r>
            <a:r>
              <a:rPr lang="en-US" altLang="zh-CN" sz="2000" dirty="0" smtClean="0">
                <a:ea typeface="楷体_GB2312" pitchFamily="49" charset="-122"/>
              </a:rPr>
              <a:t>(</a:t>
            </a:r>
            <a:r>
              <a:rPr lang="en-US" altLang="zh-CN" sz="2000" b="0" dirty="0" smtClean="0">
                <a:ea typeface="楷体_GB2312" pitchFamily="49" charset="-122"/>
              </a:rPr>
              <a:t>R</a:t>
            </a:r>
            <a:r>
              <a:rPr lang="en-US" altLang="zh-CN" sz="2000" dirty="0" smtClean="0">
                <a:ea typeface="楷体_GB2312" pitchFamily="49" charset="-122"/>
              </a:rPr>
              <a:t>)</a:t>
            </a:r>
            <a:r>
              <a:rPr lang="zh-CN" altLang="en-US" sz="2000" dirty="0" smtClean="0">
                <a:ea typeface="楷体_GB2312" pitchFamily="49" charset="-122"/>
              </a:rPr>
              <a:t>中，则将 </a:t>
            </a:r>
            <a:r>
              <a:rPr lang="en-US" altLang="zh-CN" sz="2000" b="0" dirty="0" smtClean="0">
                <a:ea typeface="楷体_GB2312" pitchFamily="49" charset="-122"/>
              </a:rPr>
              <a:t>A </a:t>
            </a:r>
            <a:r>
              <a:rPr lang="zh-CN" altLang="en-US" sz="2000" dirty="0" smtClean="0">
                <a:ea typeface="楷体_GB2312" pitchFamily="49" charset="-122"/>
              </a:rPr>
              <a:t>加入集合 </a:t>
            </a:r>
            <a:r>
              <a:rPr lang="en-US" altLang="zh-CN" sz="2000" b="0" dirty="0" smtClean="0">
                <a:ea typeface="楷体_GB2312" pitchFamily="49" charset="-122"/>
              </a:rPr>
              <a:t>RVALUE[R]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b="0" dirty="0" smtClean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 smtClean="0">
                <a:ea typeface="楷体_GB2312" pitchFamily="49" charset="-122"/>
              </a:rPr>
              <a:t>          无论何种情况，都令  </a:t>
            </a:r>
            <a:r>
              <a:rPr lang="en-US" altLang="zh-CN" sz="2000" b="0" dirty="0" smtClean="0">
                <a:ea typeface="楷体_GB2312" pitchFamily="49" charset="-122"/>
              </a:rPr>
              <a:t>AVALUE[A] = {R}</a:t>
            </a:r>
            <a:endParaRPr lang="en-US" altLang="zh-CN" sz="2000" b="0" dirty="0" smtClean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78852" name="AutoShape 2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3" name="AutoShape 2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4" name="AutoShape 2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5" name="AutoShape 2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6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7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8" name="AutoShape 2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9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0" name="AutoShape 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1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2" name="AutoShape 3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3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4" name="Rectangle 33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00608" y="1265386"/>
            <a:ext cx="5943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一个</a:t>
            </a: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简单的代码生成算法</a:t>
            </a:r>
          </a:p>
        </p:txBody>
      </p:sp>
      <p:sp>
        <p:nvSpPr>
          <p:cNvPr id="78851" name="Rectangle 18"/>
          <p:cNvSpPr>
            <a:spLocks noChangeArrowheads="1"/>
          </p:cNvSpPr>
          <p:nvPr/>
        </p:nvSpPr>
        <p:spPr bwMode="auto">
          <a:xfrm>
            <a:off x="762000" y="2060848"/>
            <a:ext cx="8382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 基本块内 </a:t>
            </a:r>
            <a:r>
              <a:rPr lang="en-US" altLang="zh-CN" sz="2400" b="0" i="1" dirty="0" smtClean="0">
                <a:solidFill>
                  <a:srgbClr val="800080"/>
                </a:solidFill>
                <a:ea typeface="楷体_GB2312" pitchFamily="49" charset="-122"/>
              </a:rPr>
              <a:t>TAC</a:t>
            </a:r>
            <a:r>
              <a:rPr lang="en-US" altLang="zh-CN" dirty="0" smtClean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语句序列的简单代码生成</a:t>
            </a:r>
            <a:r>
              <a:rPr lang="zh-CN" altLang="en-US" sz="2400" dirty="0" smtClean="0">
                <a:ea typeface="楷体_GB2312" pitchFamily="49" charset="-122"/>
              </a:rPr>
              <a:t>（</a:t>
            </a:r>
            <a:r>
              <a:rPr lang="zh-CN" altLang="en-US" sz="2400" dirty="0">
                <a:ea typeface="楷体_GB2312" pitchFamily="49" charset="-122"/>
              </a:rPr>
              <a:t>续前页</a:t>
            </a:r>
            <a:r>
              <a:rPr lang="zh-CN" altLang="en-US" sz="2400" dirty="0" smtClean="0">
                <a:ea typeface="楷体_GB2312" pitchFamily="49" charset="-122"/>
              </a:rPr>
              <a:t>）</a:t>
            </a:r>
            <a:endParaRPr lang="en-US" altLang="zh-CN" sz="24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en-US" altLang="zh-CN" sz="1000" b="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如 </a:t>
            </a: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B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或 </a:t>
            </a: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C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的现行值在基本块中不再被引用，它们也不是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基本</a:t>
            </a:r>
            <a:r>
              <a:rPr lang="zh-CN" altLang="en-US" sz="2000" dirty="0" smtClean="0">
                <a:ea typeface="楷体_GB2312" pitchFamily="49" charset="-122"/>
              </a:rPr>
              <a:t>块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dirty="0" smtClean="0">
                <a:ea typeface="楷体_GB2312" pitchFamily="49" charset="-122"/>
              </a:rPr>
              <a:t>    </a:t>
            </a:r>
            <a:r>
              <a:rPr lang="zh-CN" altLang="en-US" sz="2000" dirty="0" smtClean="0">
                <a:ea typeface="楷体_GB2312" pitchFamily="49" charset="-122"/>
              </a:rPr>
              <a:t>出口</a:t>
            </a:r>
            <a:r>
              <a:rPr lang="zh-CN" altLang="en-US" sz="2000" dirty="0">
                <a:ea typeface="楷体_GB2312" pitchFamily="49" charset="-122"/>
              </a:rPr>
              <a:t>之后的活跃变量（由语句 </a:t>
            </a:r>
            <a:r>
              <a:rPr lang="en-US" altLang="zh-CN" sz="2000" b="0" dirty="0" err="1">
                <a:ea typeface="楷体_GB2312" pitchFamily="49" charset="-122"/>
              </a:rPr>
              <a:t>i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上的附加信息知道），</a:t>
            </a:r>
            <a:r>
              <a:rPr lang="zh-CN" altLang="en-US" sz="2000" dirty="0" smtClean="0">
                <a:ea typeface="楷体_GB2312" pitchFamily="49" charset="-122"/>
              </a:rPr>
              <a:t>并且其现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dirty="0" smtClean="0">
                <a:ea typeface="楷体_GB2312" pitchFamily="49" charset="-122"/>
              </a:rPr>
              <a:t>    </a:t>
            </a:r>
            <a:r>
              <a:rPr lang="zh-CN" altLang="en-US" sz="2000" dirty="0" smtClean="0">
                <a:ea typeface="楷体_GB2312" pitchFamily="49" charset="-122"/>
              </a:rPr>
              <a:t>行</a:t>
            </a:r>
            <a:r>
              <a:rPr lang="zh-CN" altLang="en-US" sz="2000" dirty="0">
                <a:ea typeface="楷体_GB2312" pitchFamily="49" charset="-122"/>
              </a:rPr>
              <a:t>值在某个寄存器 </a:t>
            </a:r>
            <a:r>
              <a:rPr lang="en-US" altLang="zh-CN" sz="2000" b="0" dirty="0" err="1">
                <a:ea typeface="楷体_GB2312" pitchFamily="49" charset="-122"/>
              </a:rPr>
              <a:t>R</a:t>
            </a:r>
            <a:r>
              <a:rPr lang="en-US" altLang="zh-CN" sz="2000" b="0" baseline="-25000" dirty="0" err="1">
                <a:ea typeface="楷体_GB2312" pitchFamily="49" charset="-122"/>
              </a:rPr>
              <a:t>k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中，则删除 </a:t>
            </a:r>
            <a:r>
              <a:rPr lang="en-US" altLang="zh-CN" sz="2000" b="0" dirty="0">
                <a:ea typeface="楷体_GB2312" pitchFamily="49" charset="-122"/>
              </a:rPr>
              <a:t>RVALUE[</a:t>
            </a:r>
            <a:r>
              <a:rPr lang="en-US" altLang="zh-CN" sz="2000" b="0" dirty="0" err="1">
                <a:ea typeface="楷体_GB2312" pitchFamily="49" charset="-122"/>
              </a:rPr>
              <a:t>R</a:t>
            </a:r>
            <a:r>
              <a:rPr lang="en-US" altLang="zh-CN" sz="2000" b="0" baseline="-25000" dirty="0" err="1">
                <a:ea typeface="楷体_GB2312" pitchFamily="49" charset="-122"/>
              </a:rPr>
              <a:t>k</a:t>
            </a:r>
            <a:r>
              <a:rPr lang="en-US" altLang="zh-CN" sz="2000" b="0" dirty="0">
                <a:ea typeface="楷体_GB2312" pitchFamily="49" charset="-122"/>
              </a:rPr>
              <a:t>]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中的 </a:t>
            </a:r>
            <a:r>
              <a:rPr lang="en-US" altLang="zh-CN" sz="2000" b="0" dirty="0">
                <a:ea typeface="楷体_GB2312" pitchFamily="49" charset="-122"/>
              </a:rPr>
              <a:t>B </a:t>
            </a:r>
            <a:r>
              <a:rPr lang="zh-CN" altLang="en-US" sz="2000" dirty="0" smtClean="0">
                <a:ea typeface="楷体_GB2312" pitchFamily="49" charset="-122"/>
              </a:rPr>
              <a:t>或</a:t>
            </a:r>
            <a:r>
              <a:rPr lang="en-US" altLang="zh-CN" sz="2000" b="0" dirty="0" smtClean="0">
                <a:ea typeface="楷体_GB2312" pitchFamily="49" charset="-122"/>
              </a:rPr>
              <a:t>C </a:t>
            </a:r>
            <a:r>
              <a:rPr lang="zh-CN" altLang="en-US" sz="2000" dirty="0" smtClean="0">
                <a:ea typeface="楷体_GB2312" pitchFamily="49" charset="-122"/>
              </a:rPr>
              <a:t>以及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 smtClean="0">
                <a:ea typeface="楷体_GB2312" pitchFamily="49" charset="-122"/>
              </a:rPr>
              <a:t>     AVALUE[B</a:t>
            </a:r>
            <a:r>
              <a:rPr lang="en-US" altLang="zh-CN" sz="2000" b="0" dirty="0">
                <a:ea typeface="楷体_GB2312" pitchFamily="49" charset="-122"/>
              </a:rPr>
              <a:t>] </a:t>
            </a:r>
            <a:r>
              <a:rPr lang="zh-CN" altLang="en-US" sz="2000" dirty="0">
                <a:ea typeface="楷体_GB2312" pitchFamily="49" charset="-122"/>
              </a:rPr>
              <a:t>或 </a:t>
            </a:r>
            <a:r>
              <a:rPr lang="en-US" altLang="zh-CN" sz="2000" b="0" dirty="0">
                <a:ea typeface="楷体_GB2312" pitchFamily="49" charset="-122"/>
              </a:rPr>
              <a:t>AVALUE[C] </a:t>
            </a:r>
            <a:r>
              <a:rPr lang="zh-CN" altLang="en-US" sz="2000" dirty="0">
                <a:ea typeface="楷体_GB2312" pitchFamily="49" charset="-122"/>
              </a:rPr>
              <a:t>中的 </a:t>
            </a:r>
            <a:r>
              <a:rPr lang="en-US" altLang="zh-CN" sz="2000" b="0" dirty="0" err="1">
                <a:ea typeface="楷体_GB2312" pitchFamily="49" charset="-122"/>
              </a:rPr>
              <a:t>R</a:t>
            </a:r>
            <a:r>
              <a:rPr lang="en-US" altLang="zh-CN" sz="2000" b="0" baseline="-25000" dirty="0" err="1">
                <a:ea typeface="楷体_GB2312" pitchFamily="49" charset="-122"/>
              </a:rPr>
              <a:t>k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，使该寄存器</a:t>
            </a:r>
            <a:r>
              <a:rPr lang="zh-CN" altLang="en-US" sz="2000" dirty="0" smtClean="0">
                <a:ea typeface="楷体_GB2312" pitchFamily="49" charset="-122"/>
              </a:rPr>
              <a:t>不再</a:t>
            </a:r>
            <a:r>
              <a:rPr lang="zh-CN" altLang="en-US" sz="2000" dirty="0">
                <a:ea typeface="楷体_GB2312" pitchFamily="49" charset="-122"/>
              </a:rPr>
              <a:t>为 </a:t>
            </a:r>
            <a:r>
              <a:rPr lang="en-US" altLang="zh-CN" sz="2000" b="0" dirty="0">
                <a:ea typeface="楷体_GB2312" pitchFamily="49" charset="-122"/>
              </a:rPr>
              <a:t>B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或 </a:t>
            </a:r>
            <a:r>
              <a:rPr lang="en-US" altLang="zh-CN" sz="2000" b="0" dirty="0">
                <a:ea typeface="楷体_GB2312" pitchFamily="49" charset="-122"/>
              </a:rPr>
              <a:t>C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endParaRPr lang="en-US" altLang="zh-CN" sz="2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dirty="0" smtClean="0">
                <a:ea typeface="楷体_GB2312" pitchFamily="49" charset="-122"/>
              </a:rPr>
              <a:t>    </a:t>
            </a:r>
            <a:r>
              <a:rPr lang="zh-CN" altLang="en-US" sz="2000" dirty="0" smtClean="0">
                <a:ea typeface="楷体_GB2312" pitchFamily="49" charset="-122"/>
              </a:rPr>
              <a:t>所</a:t>
            </a:r>
            <a:r>
              <a:rPr lang="zh-CN" altLang="en-US" sz="2000" dirty="0">
                <a:ea typeface="楷体_GB2312" pitchFamily="49" charset="-122"/>
              </a:rPr>
              <a:t>占用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latin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en-US" altLang="zh-CN" sz="2400" b="0" dirty="0">
                <a:solidFill>
                  <a:srgbClr val="800080"/>
                </a:solidFill>
              </a:rPr>
              <a:t>step2</a:t>
            </a:r>
            <a:r>
              <a:rPr lang="en-US" altLang="zh-CN" sz="2400" dirty="0">
                <a:solidFill>
                  <a:srgbClr val="800080"/>
                </a:solidFill>
                <a:latin typeface="宋体" pitchFamily="2" charset="-122"/>
              </a:rPr>
              <a:t>: </a:t>
            </a:r>
            <a:r>
              <a:rPr lang="zh-CN" altLang="en-US" sz="2400" dirty="0">
                <a:ea typeface="楷体_GB2312" pitchFamily="49" charset="-122"/>
              </a:rPr>
              <a:t>处理完基本块中所有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语句之后，对现行值在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某寄存器 </a:t>
            </a:r>
            <a:r>
              <a:rPr lang="en-US" altLang="zh-CN" sz="2400" b="0" dirty="0">
                <a:ea typeface="楷体_GB2312" pitchFamily="49" charset="-122"/>
              </a:rPr>
              <a:t>R </a:t>
            </a:r>
            <a:r>
              <a:rPr lang="zh-CN" altLang="en-US" sz="2400" dirty="0">
                <a:ea typeface="楷体_GB2312" pitchFamily="49" charset="-122"/>
              </a:rPr>
              <a:t>中的每个变量 </a:t>
            </a:r>
            <a:r>
              <a:rPr lang="en-US" altLang="zh-CN" sz="2400" b="0" dirty="0">
                <a:ea typeface="楷体_GB2312" pitchFamily="49" charset="-122"/>
              </a:rPr>
              <a:t>M</a:t>
            </a:r>
            <a:r>
              <a:rPr lang="zh-CN" altLang="en-US" sz="2400" dirty="0">
                <a:ea typeface="楷体_GB2312" pitchFamily="49" charset="-122"/>
              </a:rPr>
              <a:t>，若它在出口之后是活跃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   的，则生成 </a:t>
            </a:r>
            <a:r>
              <a:rPr lang="en-US" altLang="zh-CN" sz="2400" b="0" dirty="0">
                <a:solidFill>
                  <a:srgbClr val="800080"/>
                </a:solidFill>
                <a:ea typeface="楷体_GB2312" pitchFamily="49" charset="-122"/>
              </a:rPr>
              <a:t>MOVE  R, M</a:t>
            </a:r>
            <a:r>
              <a:rPr lang="zh-CN" altLang="en-US" sz="2400" b="0" dirty="0">
                <a:ea typeface="楷体_GB2312" pitchFamily="49" charset="-122"/>
              </a:rPr>
              <a:t>，</a:t>
            </a:r>
            <a:r>
              <a:rPr lang="zh-CN" altLang="en-US" sz="2400" dirty="0">
                <a:ea typeface="楷体_GB2312" pitchFamily="49" charset="-122"/>
              </a:rPr>
              <a:t>将其存入主存</a:t>
            </a:r>
          </a:p>
        </p:txBody>
      </p:sp>
      <p:sp>
        <p:nvSpPr>
          <p:cNvPr id="78852" name="AutoShape 2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3" name="AutoShape 2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4" name="AutoShape 2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5" name="AutoShape 2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6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7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8" name="AutoShape 2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9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0" name="AutoShape 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1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2" name="AutoShape 3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3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4" name="Rectangle 33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95288" y="1173163"/>
            <a:ext cx="5943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一个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简单的代码生成算法</a:t>
            </a: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539750" y="1873250"/>
            <a:ext cx="8604250" cy="486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函数 </a:t>
            </a:r>
            <a:r>
              <a:rPr lang="en-US" altLang="zh-CN" sz="2400" b="0" dirty="0" err="1" smtClean="0">
                <a:solidFill>
                  <a:srgbClr val="800080"/>
                </a:solidFill>
                <a:ea typeface="楷体_GB2312" pitchFamily="49" charset="-122"/>
              </a:rPr>
              <a:t>getreg</a:t>
            </a:r>
            <a:endParaRPr lang="en-US" altLang="zh-CN" sz="2400" b="0" dirty="0" smtClean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0" dirty="0" smtClean="0">
                <a:solidFill>
                  <a:srgbClr val="800080"/>
                </a:solidFill>
                <a:ea typeface="楷体_GB2312" pitchFamily="49" charset="-122"/>
              </a:rPr>
              <a:t>    </a:t>
            </a:r>
            <a:r>
              <a:rPr lang="zh-CN" altLang="en-US" sz="2400" dirty="0" smtClean="0">
                <a:ea typeface="楷体_GB2312" pitchFamily="49" charset="-122"/>
              </a:rPr>
              <a:t>（</a:t>
            </a:r>
            <a:r>
              <a:rPr lang="zh-CN" altLang="en-US" sz="2400" dirty="0">
                <a:ea typeface="楷体_GB2312" pitchFamily="49" charset="-122"/>
              </a:rPr>
              <a:t>以 </a:t>
            </a:r>
            <a:r>
              <a:rPr lang="en-US" altLang="zh-CN" sz="2000" b="0" dirty="0" err="1">
                <a:ea typeface="楷体_GB2312" pitchFamily="49" charset="-122"/>
              </a:rPr>
              <a:t>i</a:t>
            </a:r>
            <a:r>
              <a:rPr lang="en-US" altLang="zh-CN" sz="2000" b="0" dirty="0">
                <a:ea typeface="楷体_GB2312" pitchFamily="49" charset="-122"/>
              </a:rPr>
              <a:t>: A:=B op C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zh-CN" altLang="en-US" sz="2400" dirty="0" smtClean="0">
                <a:ea typeface="楷体_GB2312" pitchFamily="49" charset="-122"/>
              </a:rPr>
              <a:t>或</a:t>
            </a:r>
            <a:r>
              <a:rPr lang="en-US" altLang="zh-CN" sz="2000" b="0" dirty="0" err="1" smtClean="0">
                <a:ea typeface="楷体_GB2312" pitchFamily="49" charset="-122"/>
              </a:rPr>
              <a:t>i</a:t>
            </a:r>
            <a:r>
              <a:rPr lang="en-US" altLang="zh-CN" sz="2000" b="0" dirty="0" smtClean="0">
                <a:ea typeface="楷体_GB2312" pitchFamily="49" charset="-122"/>
              </a:rPr>
              <a:t>: A:=B</a:t>
            </a:r>
            <a:r>
              <a:rPr lang="zh-CN" altLang="en-US" sz="2400" dirty="0" smtClean="0">
                <a:ea typeface="楷体_GB2312" pitchFamily="49" charset="-122"/>
              </a:rPr>
              <a:t>为</a:t>
            </a:r>
            <a:r>
              <a:rPr lang="zh-CN" altLang="en-US" sz="2400" dirty="0">
                <a:ea typeface="楷体_GB2312" pitchFamily="49" charset="-122"/>
              </a:rPr>
              <a:t>参数， 返回一个伪寄存器）</a:t>
            </a:r>
            <a:r>
              <a:rPr lang="zh-CN" altLang="en-US" dirty="0">
                <a:ea typeface="楷体_GB2312" pitchFamily="49" charset="-122"/>
              </a:rPr>
              <a:t> </a:t>
            </a:r>
            <a:endParaRPr lang="en-US" altLang="zh-CN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sz="10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 smtClean="0">
                <a:solidFill>
                  <a:srgbClr val="800080"/>
                </a:solidFill>
                <a:ea typeface="楷体_GB2312" pitchFamily="49" charset="-122"/>
              </a:rPr>
              <a:t>     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步骤</a:t>
            </a:r>
            <a:r>
              <a:rPr lang="zh-CN" altLang="en-US" sz="2400" dirty="0" smtClean="0">
                <a:solidFill>
                  <a:srgbClr val="800080"/>
                </a:solidFill>
                <a:latin typeface="宋体" pitchFamily="2" charset="-122"/>
              </a:rPr>
              <a:t>：</a:t>
            </a:r>
            <a:endParaRPr lang="zh-CN" altLang="en-US" sz="2400" dirty="0" smtClean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1000" dirty="0" smtClean="0">
                <a:ea typeface="楷体_GB2312" pitchFamily="49" charset="-122"/>
              </a:rPr>
              <a:t>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 对于 </a:t>
            </a:r>
            <a:r>
              <a:rPr lang="en-US" altLang="zh-CN" sz="2000" b="0" dirty="0" err="1" smtClean="0">
                <a:ea typeface="楷体_GB2312" pitchFamily="49" charset="-122"/>
              </a:rPr>
              <a:t>i</a:t>
            </a:r>
            <a:r>
              <a:rPr lang="en-US" altLang="zh-CN" sz="2000" b="0" dirty="0" smtClean="0">
                <a:ea typeface="楷体_GB2312" pitchFamily="49" charset="-122"/>
              </a:rPr>
              <a:t>: A:=B op C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b="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 smtClean="0">
                <a:ea typeface="楷体_GB2312" pitchFamily="49" charset="-122"/>
              </a:rPr>
              <a:t>    </a:t>
            </a:r>
            <a:r>
              <a:rPr lang="zh-CN" altLang="en-US" sz="2000" dirty="0" smtClean="0">
                <a:ea typeface="楷体_GB2312" pitchFamily="49" charset="-122"/>
              </a:rPr>
              <a:t>若 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en-US" altLang="zh-CN" sz="2000" b="0" dirty="0" smtClean="0">
                <a:ea typeface="楷体_GB2312" pitchFamily="49" charset="-122"/>
                <a:sym typeface="Symbol"/>
              </a:rPr>
              <a:t></a:t>
            </a:r>
            <a:r>
              <a:rPr lang="en-US" altLang="zh-CN" sz="2000" b="0" dirty="0" smtClean="0">
                <a:ea typeface="楷体_GB2312" pitchFamily="49" charset="-122"/>
              </a:rPr>
              <a:t>RVALUE[R]</a:t>
            </a:r>
            <a:r>
              <a:rPr lang="zh-CN" altLang="en-US" sz="2000" dirty="0" smtClean="0">
                <a:ea typeface="楷体_GB2312" pitchFamily="49" charset="-122"/>
              </a:rPr>
              <a:t>，</a:t>
            </a:r>
            <a:r>
              <a:rPr lang="zh-CN" altLang="en-US" sz="2000" dirty="0">
                <a:ea typeface="楷体_GB2312" pitchFamily="49" charset="-122"/>
              </a:rPr>
              <a:t>且在语句 </a:t>
            </a:r>
            <a:r>
              <a:rPr lang="en-US" altLang="zh-CN" sz="2000" b="0" dirty="0" err="1">
                <a:ea typeface="楷体_GB2312" pitchFamily="49" charset="-122"/>
              </a:rPr>
              <a:t>i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之后 </a:t>
            </a:r>
            <a:r>
              <a:rPr lang="en-US" altLang="zh-CN" sz="2000" b="0" dirty="0">
                <a:ea typeface="楷体_GB2312" pitchFamily="49" charset="-122"/>
              </a:rPr>
              <a:t>B </a:t>
            </a:r>
            <a:r>
              <a:rPr lang="zh-CN" altLang="en-US" sz="2000" dirty="0">
                <a:ea typeface="楷体_GB2312" pitchFamily="49" charset="-122"/>
              </a:rPr>
              <a:t>在基本块中不再被引用，同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ea typeface="楷体_GB2312" pitchFamily="49" charset="-122"/>
              </a:rPr>
              <a:t>    时也不是基本块出口之后的活跃变量（由 </a:t>
            </a:r>
            <a:r>
              <a:rPr lang="en-US" altLang="zh-CN" sz="2000" b="0" dirty="0" err="1">
                <a:ea typeface="楷体_GB2312" pitchFamily="49" charset="-122"/>
              </a:rPr>
              <a:t>i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上的附加信息可知道），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ea typeface="楷体_GB2312" pitchFamily="49" charset="-122"/>
              </a:rPr>
              <a:t>    则返回 </a:t>
            </a:r>
            <a:r>
              <a:rPr lang="en-US" altLang="zh-CN" sz="2000" b="0" dirty="0">
                <a:ea typeface="楷体_GB2312" pitchFamily="49" charset="-122"/>
              </a:rPr>
              <a:t>R</a:t>
            </a:r>
            <a:r>
              <a:rPr lang="zh-CN" altLang="en-US" sz="2000" dirty="0">
                <a:ea typeface="楷体_GB2312" pitchFamily="49" charset="-122"/>
              </a:rPr>
              <a:t>；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 否则</a:t>
            </a:r>
            <a:r>
              <a:rPr lang="zh-CN" altLang="en-US" sz="2000" dirty="0">
                <a:ea typeface="楷体_GB2312" pitchFamily="49" charset="-122"/>
              </a:rPr>
              <a:t>，返回一个新的伪寄存器</a:t>
            </a:r>
            <a:r>
              <a:rPr lang="en-US" altLang="zh-CN" sz="2000" b="0" dirty="0">
                <a:ea typeface="楷体_GB2312" pitchFamily="49" charset="-122"/>
              </a:rPr>
              <a:t>R</a:t>
            </a:r>
            <a:r>
              <a:rPr lang="en-US" altLang="zh-CN" sz="2000" b="0" dirty="0" smtClean="0">
                <a:ea typeface="楷体_GB2312" pitchFamily="49" charset="-122"/>
              </a:rPr>
              <a:t>’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b="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Tx/>
              <a:buChar char="•"/>
            </a:pP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 对于 </a:t>
            </a:r>
            <a:r>
              <a:rPr lang="en-US" altLang="zh-CN" sz="2000" b="0" dirty="0" err="1" smtClean="0">
                <a:ea typeface="楷体_GB2312" pitchFamily="49" charset="-122"/>
              </a:rPr>
              <a:t>i</a:t>
            </a:r>
            <a:r>
              <a:rPr lang="en-US" altLang="zh-CN" sz="2000" b="0" dirty="0" smtClean="0">
                <a:ea typeface="楷体_GB2312" pitchFamily="49" charset="-122"/>
              </a:rPr>
              <a:t>: A:=B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endParaRPr lang="en-US" altLang="zh-CN" sz="1000" b="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en-US" altLang="zh-CN" sz="2000" b="0" dirty="0" smtClean="0">
                <a:ea typeface="楷体_GB2312" pitchFamily="49" charset="-122"/>
              </a:rPr>
              <a:t>    </a:t>
            </a:r>
            <a:r>
              <a:rPr lang="zh-CN" altLang="en-US" sz="2000" dirty="0" smtClean="0">
                <a:ea typeface="楷体_GB2312" pitchFamily="49" charset="-122"/>
              </a:rPr>
              <a:t>若 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  <a:r>
              <a:rPr lang="en-US" altLang="zh-CN" sz="2000" b="0" dirty="0" smtClean="0">
                <a:ea typeface="楷体_GB2312" pitchFamily="49" charset="-122"/>
                <a:sym typeface="Symbol"/>
              </a:rPr>
              <a:t></a:t>
            </a:r>
            <a:r>
              <a:rPr lang="en-US" altLang="zh-CN" sz="2000" b="0" dirty="0" smtClean="0">
                <a:ea typeface="楷体_GB2312" pitchFamily="49" charset="-122"/>
              </a:rPr>
              <a:t>RVALUE[R]</a:t>
            </a:r>
            <a:r>
              <a:rPr lang="en-US" altLang="zh-CN" sz="2000" dirty="0" smtClean="0">
                <a:ea typeface="楷体_GB2312" pitchFamily="49" charset="-122"/>
              </a:rPr>
              <a:t> </a:t>
            </a:r>
            <a:r>
              <a:rPr lang="zh-CN" altLang="en-US" sz="2000" dirty="0" smtClean="0">
                <a:ea typeface="楷体_GB2312" pitchFamily="49" charset="-122"/>
              </a:rPr>
              <a:t>，则返回 </a:t>
            </a:r>
            <a:r>
              <a:rPr lang="en-US" altLang="zh-CN" sz="2000" b="0" dirty="0" smtClean="0">
                <a:ea typeface="楷体_GB2312" pitchFamily="49" charset="-122"/>
              </a:rPr>
              <a:t>R</a:t>
            </a:r>
            <a:r>
              <a:rPr lang="zh-CN" altLang="en-US" sz="2000" dirty="0" smtClean="0">
                <a:ea typeface="楷体_GB2312" pitchFamily="49" charset="-122"/>
              </a:rPr>
              <a:t>；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  否则</a:t>
            </a:r>
            <a:r>
              <a:rPr lang="zh-CN" altLang="en-US" sz="2000" dirty="0" smtClean="0">
                <a:ea typeface="楷体_GB2312" pitchFamily="49" charset="-122"/>
              </a:rPr>
              <a:t>，返回一个新的伪寄存器</a:t>
            </a:r>
            <a:r>
              <a:rPr lang="en-US" altLang="zh-CN" sz="2000" b="0" dirty="0" smtClean="0">
                <a:ea typeface="楷体_GB2312" pitchFamily="49" charset="-122"/>
              </a:rPr>
              <a:t>R’</a:t>
            </a:r>
            <a:endParaRPr lang="en-US" altLang="zh-CN" sz="2400" dirty="0">
              <a:ea typeface="楷体_GB2312" pitchFamily="49" charset="-122"/>
            </a:endParaRPr>
          </a:p>
        </p:txBody>
      </p:sp>
      <p:sp>
        <p:nvSpPr>
          <p:cNvPr id="79876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7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8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9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0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1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2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3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4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5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6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7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8" name="Rectangle 1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57200" y="1066800"/>
            <a:ext cx="685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3200">
                <a:ea typeface="楷体_GB2312" pitchFamily="49" charset="-122"/>
              </a:rPr>
              <a:t>一个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简单的代码生成算法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举例</a:t>
            </a: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685800" y="1708150"/>
            <a:ext cx="66944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对于右图的基本块 （</a:t>
            </a:r>
            <a:r>
              <a:rPr lang="zh-CN" altLang="en-US" sz="2400" dirty="0" smtClean="0">
                <a:ea typeface="楷体_GB2312" pitchFamily="49" charset="-122"/>
              </a:rPr>
              <a:t>假定</a:t>
            </a:r>
            <a:r>
              <a:rPr lang="en-US" altLang="zh-CN" sz="2400" b="0" dirty="0" smtClean="0">
                <a:ea typeface="楷体_GB2312" pitchFamily="49" charset="-122"/>
              </a:rPr>
              <a:t>b</a:t>
            </a:r>
            <a:r>
              <a:rPr lang="zh-CN" altLang="en-US" sz="2400" dirty="0" smtClean="0">
                <a:ea typeface="楷体_GB2312" pitchFamily="49" charset="-122"/>
              </a:rPr>
              <a:t>和 </a:t>
            </a:r>
            <a:r>
              <a:rPr lang="en-US" altLang="zh-CN" sz="2400" b="0" dirty="0">
                <a:ea typeface="楷体_GB2312" pitchFamily="49" charset="-122"/>
              </a:rPr>
              <a:t>d </a:t>
            </a:r>
            <a:r>
              <a:rPr lang="zh-CN" altLang="en-US" sz="2400" dirty="0">
                <a:ea typeface="楷体_GB2312" pitchFamily="49" charset="-122"/>
              </a:rPr>
              <a:t>在基本块的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出口是活跃的），利用上述算法可生成如下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代码序列：</a:t>
            </a:r>
          </a:p>
        </p:txBody>
      </p:sp>
      <p:sp>
        <p:nvSpPr>
          <p:cNvPr id="80900" name="Rectangle 17"/>
          <p:cNvSpPr>
            <a:spLocks noChangeArrowheads="1"/>
          </p:cNvSpPr>
          <p:nvPr/>
        </p:nvSpPr>
        <p:spPr bwMode="auto">
          <a:xfrm>
            <a:off x="7467600" y="1124744"/>
            <a:ext cx="1425575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  <a:buClr>
                <a:srgbClr val="800080"/>
              </a:buClr>
            </a:pPr>
            <a:r>
              <a:rPr lang="en-US" altLang="zh-CN" sz="2000" b="0" dirty="0">
                <a:ea typeface="楷体_GB2312" pitchFamily="49" charset="-122"/>
              </a:rPr>
              <a:t>t := a - </a:t>
            </a:r>
            <a:r>
              <a:rPr lang="en-US" altLang="zh-CN" sz="2000" b="0" dirty="0" smtClean="0">
                <a:ea typeface="楷体_GB2312" pitchFamily="49" charset="-122"/>
              </a:rPr>
              <a:t>b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800080"/>
              </a:buClr>
            </a:pPr>
            <a:r>
              <a:rPr lang="en-US" altLang="zh-CN" sz="2000" b="0" dirty="0" smtClean="0">
                <a:ea typeface="楷体_GB2312" pitchFamily="49" charset="-122"/>
              </a:rPr>
              <a:t>a := b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800080"/>
              </a:buClr>
            </a:pPr>
            <a:r>
              <a:rPr lang="en-US" altLang="zh-CN" sz="2000" b="0" dirty="0" smtClean="0">
                <a:ea typeface="楷体_GB2312" pitchFamily="49" charset="-122"/>
              </a:rPr>
              <a:t>u </a:t>
            </a:r>
            <a:r>
              <a:rPr lang="en-US" altLang="zh-CN" sz="2000" b="0" dirty="0">
                <a:ea typeface="楷体_GB2312" pitchFamily="49" charset="-122"/>
              </a:rPr>
              <a:t>:= a - </a:t>
            </a:r>
            <a:r>
              <a:rPr lang="en-US" altLang="zh-CN" sz="2000" b="0" dirty="0" smtClean="0">
                <a:ea typeface="楷体_GB2312" pitchFamily="49" charset="-122"/>
              </a:rPr>
              <a:t>c v </a:t>
            </a:r>
            <a:r>
              <a:rPr lang="en-US" altLang="zh-CN" sz="2000" b="0" dirty="0">
                <a:ea typeface="楷体_GB2312" pitchFamily="49" charset="-122"/>
              </a:rPr>
              <a:t>:= t + </a:t>
            </a:r>
            <a:r>
              <a:rPr lang="en-US" altLang="zh-CN" sz="2000" b="0" dirty="0" smtClean="0">
                <a:ea typeface="楷体_GB2312" pitchFamily="49" charset="-122"/>
              </a:rPr>
              <a:t>u </a:t>
            </a:r>
            <a:r>
              <a:rPr lang="en-US" altLang="zh-CN" sz="2000" b="0" dirty="0">
                <a:ea typeface="楷体_GB2312" pitchFamily="49" charset="-122"/>
              </a:rPr>
              <a:t>d := v + u</a:t>
            </a:r>
          </a:p>
        </p:txBody>
      </p:sp>
      <p:graphicFrame>
        <p:nvGraphicFramePr>
          <p:cNvPr id="80901" name="Object 18"/>
          <p:cNvGraphicFramePr>
            <a:graphicFrameLocks noChangeAspect="1"/>
          </p:cNvGraphicFramePr>
          <p:nvPr/>
        </p:nvGraphicFramePr>
        <p:xfrm>
          <a:off x="755650" y="2924175"/>
          <a:ext cx="8132763" cy="3976688"/>
        </p:xfrm>
        <a:graphic>
          <a:graphicData uri="http://schemas.openxmlformats.org/presentationml/2006/ole">
            <p:oleObj spid="_x0000_s80901" name="Document" r:id="rId4" imgW="8349586" imgH="4084445" progId="Word.Document.8">
              <p:embed/>
            </p:oleObj>
          </a:graphicData>
        </a:graphic>
      </p:graphicFrame>
      <p:sp>
        <p:nvSpPr>
          <p:cNvPr id="80902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3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4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5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6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7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8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9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0" name="AutoShape 13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1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2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3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4" name="Rectangle 20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196752"/>
            <a:ext cx="3737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8192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0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1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2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3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5" name="Rectangle 17"/>
          <p:cNvSpPr>
            <a:spLocks noChangeArrowheads="1"/>
          </p:cNvSpPr>
          <p:nvPr/>
        </p:nvSpPr>
        <p:spPr bwMode="auto">
          <a:xfrm>
            <a:off x="1143000" y="1935163"/>
            <a:ext cx="7239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2400" dirty="0">
                <a:ea typeface="楷体_GB2312" pitchFamily="49" charset="-122"/>
              </a:rPr>
              <a:t>从某个基本块的 </a:t>
            </a:r>
            <a:r>
              <a:rPr lang="en-US" altLang="zh-CN" sz="2400" b="0" i="1" dirty="0">
                <a:ea typeface="楷体_GB2312" pitchFamily="49" charset="-122"/>
              </a:rPr>
              <a:t>DAG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表示得到的两段 </a:t>
            </a:r>
            <a:r>
              <a:rPr lang="en-US" altLang="zh-CN" sz="2400" b="0" i="1" dirty="0">
                <a:ea typeface="楷体_GB2312" pitchFamily="49" charset="-122"/>
              </a:rPr>
              <a:t>TAC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代码</a:t>
            </a:r>
          </a:p>
        </p:txBody>
      </p:sp>
      <p:sp>
        <p:nvSpPr>
          <p:cNvPr id="81936" name="Line 21"/>
          <p:cNvSpPr>
            <a:spLocks noChangeShapeType="1"/>
          </p:cNvSpPr>
          <p:nvPr/>
        </p:nvSpPr>
        <p:spPr bwMode="auto">
          <a:xfrm flipH="1">
            <a:off x="2136775" y="3368675"/>
            <a:ext cx="685800" cy="1447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37" name="Oval 22"/>
          <p:cNvSpPr>
            <a:spLocks noChangeArrowheads="1"/>
          </p:cNvSpPr>
          <p:nvPr/>
        </p:nvSpPr>
        <p:spPr bwMode="auto">
          <a:xfrm>
            <a:off x="3736975" y="38258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  <a:sym typeface="Symbol" pitchFamily="18" charset="2"/>
              </a:rPr>
              <a:t></a:t>
            </a:r>
            <a:endParaRPr lang="en-US" altLang="zh-CN" sz="2400" b="0"/>
          </a:p>
        </p:txBody>
      </p:sp>
      <p:sp>
        <p:nvSpPr>
          <p:cNvPr id="81938" name="Oval 23"/>
          <p:cNvSpPr>
            <a:spLocks noChangeArrowheads="1"/>
          </p:cNvSpPr>
          <p:nvPr/>
        </p:nvSpPr>
        <p:spPr bwMode="auto">
          <a:xfrm>
            <a:off x="1752600" y="4740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600">
                <a:solidFill>
                  <a:srgbClr val="800080"/>
                </a:solidFill>
              </a:rPr>
              <a:t>+</a:t>
            </a:r>
          </a:p>
        </p:txBody>
      </p:sp>
      <p:sp>
        <p:nvSpPr>
          <p:cNvPr id="81939" name="Oval 24"/>
          <p:cNvSpPr>
            <a:spLocks noChangeArrowheads="1"/>
          </p:cNvSpPr>
          <p:nvPr/>
        </p:nvSpPr>
        <p:spPr bwMode="auto">
          <a:xfrm>
            <a:off x="3127375" y="4740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1940" name="Oval 25"/>
          <p:cNvSpPr>
            <a:spLocks noChangeArrowheads="1"/>
          </p:cNvSpPr>
          <p:nvPr/>
        </p:nvSpPr>
        <p:spPr bwMode="auto">
          <a:xfrm>
            <a:off x="4495800" y="4740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600">
                <a:solidFill>
                  <a:srgbClr val="800080"/>
                </a:solidFill>
              </a:rPr>
              <a:t>+</a:t>
            </a:r>
          </a:p>
        </p:txBody>
      </p:sp>
      <p:sp>
        <p:nvSpPr>
          <p:cNvPr id="81941" name="Oval 26"/>
          <p:cNvSpPr>
            <a:spLocks noChangeArrowheads="1"/>
          </p:cNvSpPr>
          <p:nvPr/>
        </p:nvSpPr>
        <p:spPr bwMode="auto">
          <a:xfrm>
            <a:off x="1066800" y="5629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1942" name="Oval 27"/>
          <p:cNvSpPr>
            <a:spLocks noChangeArrowheads="1"/>
          </p:cNvSpPr>
          <p:nvPr/>
        </p:nvSpPr>
        <p:spPr bwMode="auto">
          <a:xfrm>
            <a:off x="2286000" y="56546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1943" name="Oval 28"/>
          <p:cNvSpPr>
            <a:spLocks noChangeArrowheads="1"/>
          </p:cNvSpPr>
          <p:nvPr/>
        </p:nvSpPr>
        <p:spPr bwMode="auto">
          <a:xfrm>
            <a:off x="3736975" y="5629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1944" name="Oval 29"/>
          <p:cNvSpPr>
            <a:spLocks noChangeArrowheads="1"/>
          </p:cNvSpPr>
          <p:nvPr/>
        </p:nvSpPr>
        <p:spPr bwMode="auto">
          <a:xfrm>
            <a:off x="5108575" y="5629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1945" name="Line 30"/>
          <p:cNvSpPr>
            <a:spLocks noChangeShapeType="1"/>
          </p:cNvSpPr>
          <p:nvPr/>
        </p:nvSpPr>
        <p:spPr bwMode="auto">
          <a:xfrm>
            <a:off x="3203575" y="3368675"/>
            <a:ext cx="6096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46" name="Line 31"/>
          <p:cNvSpPr>
            <a:spLocks noChangeShapeType="1"/>
          </p:cNvSpPr>
          <p:nvPr/>
        </p:nvSpPr>
        <p:spPr bwMode="auto">
          <a:xfrm flipV="1">
            <a:off x="3508375" y="4206875"/>
            <a:ext cx="3810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47" name="Line 32"/>
          <p:cNvSpPr>
            <a:spLocks noChangeShapeType="1"/>
          </p:cNvSpPr>
          <p:nvPr/>
        </p:nvSpPr>
        <p:spPr bwMode="auto">
          <a:xfrm>
            <a:off x="2289175" y="5121275"/>
            <a:ext cx="3810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48" name="Line 33"/>
          <p:cNvSpPr>
            <a:spLocks noChangeShapeType="1"/>
          </p:cNvSpPr>
          <p:nvPr/>
        </p:nvSpPr>
        <p:spPr bwMode="auto">
          <a:xfrm flipV="1">
            <a:off x="4117975" y="5121275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49" name="Line 34"/>
          <p:cNvSpPr>
            <a:spLocks noChangeShapeType="1"/>
          </p:cNvSpPr>
          <p:nvPr/>
        </p:nvSpPr>
        <p:spPr bwMode="auto">
          <a:xfrm>
            <a:off x="5108575" y="5121275"/>
            <a:ext cx="3810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50" name="Line 35"/>
          <p:cNvSpPr>
            <a:spLocks noChangeShapeType="1"/>
          </p:cNvSpPr>
          <p:nvPr/>
        </p:nvSpPr>
        <p:spPr bwMode="auto">
          <a:xfrm flipH="1">
            <a:off x="1450975" y="5121275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51" name="Rectangle 36"/>
          <p:cNvSpPr>
            <a:spLocks noChangeArrowheads="1"/>
          </p:cNvSpPr>
          <p:nvPr/>
        </p:nvSpPr>
        <p:spPr bwMode="auto">
          <a:xfrm>
            <a:off x="1262063" y="6096000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1952" name="Rectangle 37"/>
          <p:cNvSpPr>
            <a:spLocks noChangeArrowheads="1"/>
          </p:cNvSpPr>
          <p:nvPr/>
        </p:nvSpPr>
        <p:spPr bwMode="auto">
          <a:xfrm>
            <a:off x="2365375" y="4587875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</a:t>
            </a:r>
          </a:p>
        </p:txBody>
      </p:sp>
      <p:sp>
        <p:nvSpPr>
          <p:cNvPr id="81953" name="Rectangle 38"/>
          <p:cNvSpPr>
            <a:spLocks noChangeArrowheads="1"/>
          </p:cNvSpPr>
          <p:nvPr/>
        </p:nvSpPr>
        <p:spPr bwMode="auto">
          <a:xfrm>
            <a:off x="6629400" y="2736850"/>
            <a:ext cx="1524000" cy="153035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T1:=a+b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T2:=c+d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T3:=e-T2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T4:=T1-T3</a:t>
            </a:r>
          </a:p>
        </p:txBody>
      </p:sp>
      <p:sp>
        <p:nvSpPr>
          <p:cNvPr id="81954" name="Rectangle 40"/>
          <p:cNvSpPr>
            <a:spLocks noChangeArrowheads="1"/>
          </p:cNvSpPr>
          <p:nvPr/>
        </p:nvSpPr>
        <p:spPr bwMode="auto">
          <a:xfrm>
            <a:off x="3051175" y="27432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T4</a:t>
            </a:r>
          </a:p>
        </p:txBody>
      </p:sp>
      <p:sp>
        <p:nvSpPr>
          <p:cNvPr id="81955" name="Rectangle 41"/>
          <p:cNvSpPr>
            <a:spLocks noChangeArrowheads="1"/>
          </p:cNvSpPr>
          <p:nvPr/>
        </p:nvSpPr>
        <p:spPr bwMode="auto">
          <a:xfrm>
            <a:off x="3889375" y="6096000"/>
            <a:ext cx="4032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c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1956" name="Rectangle 42"/>
          <p:cNvSpPr>
            <a:spLocks noChangeArrowheads="1"/>
          </p:cNvSpPr>
          <p:nvPr/>
        </p:nvSpPr>
        <p:spPr bwMode="auto">
          <a:xfrm>
            <a:off x="5357813" y="6096000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d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1957" name="Rectangle 44"/>
          <p:cNvSpPr>
            <a:spLocks noChangeArrowheads="1"/>
          </p:cNvSpPr>
          <p:nvPr/>
        </p:nvSpPr>
        <p:spPr bwMode="auto">
          <a:xfrm>
            <a:off x="4346575" y="3597275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T3</a:t>
            </a:r>
          </a:p>
        </p:txBody>
      </p:sp>
      <p:sp>
        <p:nvSpPr>
          <p:cNvPr id="81958" name="Rectangle 48"/>
          <p:cNvSpPr>
            <a:spLocks noChangeArrowheads="1"/>
          </p:cNvSpPr>
          <p:nvPr/>
        </p:nvSpPr>
        <p:spPr bwMode="auto">
          <a:xfrm>
            <a:off x="5160963" y="4648200"/>
            <a:ext cx="481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</a:t>
            </a:r>
          </a:p>
        </p:txBody>
      </p:sp>
      <p:sp>
        <p:nvSpPr>
          <p:cNvPr id="81959" name="Line 49"/>
          <p:cNvSpPr>
            <a:spLocks noChangeShapeType="1"/>
          </p:cNvSpPr>
          <p:nvPr/>
        </p:nvSpPr>
        <p:spPr bwMode="auto">
          <a:xfrm>
            <a:off x="4346575" y="4206875"/>
            <a:ext cx="4572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60" name="Rectangle 52"/>
          <p:cNvSpPr>
            <a:spLocks noChangeArrowheads="1"/>
          </p:cNvSpPr>
          <p:nvPr/>
        </p:nvSpPr>
        <p:spPr bwMode="auto">
          <a:xfrm>
            <a:off x="2441575" y="6096000"/>
            <a:ext cx="417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b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1961" name="Rectangle 53"/>
          <p:cNvSpPr>
            <a:spLocks noChangeArrowheads="1"/>
          </p:cNvSpPr>
          <p:nvPr/>
        </p:nvSpPr>
        <p:spPr bwMode="auto">
          <a:xfrm>
            <a:off x="3355975" y="5197475"/>
            <a:ext cx="417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e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1962" name="Oval 54"/>
          <p:cNvSpPr>
            <a:spLocks noChangeArrowheads="1"/>
          </p:cNvSpPr>
          <p:nvPr/>
        </p:nvSpPr>
        <p:spPr bwMode="auto">
          <a:xfrm>
            <a:off x="2593975" y="29876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  <a:sym typeface="Symbol" pitchFamily="18" charset="2"/>
              </a:rPr>
              <a:t></a:t>
            </a:r>
          </a:p>
        </p:txBody>
      </p:sp>
      <p:sp>
        <p:nvSpPr>
          <p:cNvPr id="81963" name="Rectangle 56"/>
          <p:cNvSpPr>
            <a:spLocks noChangeArrowheads="1"/>
          </p:cNvSpPr>
          <p:nvPr/>
        </p:nvSpPr>
        <p:spPr bwMode="auto">
          <a:xfrm>
            <a:off x="6629400" y="4800600"/>
            <a:ext cx="1524000" cy="153035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T2:=c+d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T3:=e-T2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T1:=a+b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T4:=T1-T3</a:t>
            </a:r>
          </a:p>
        </p:txBody>
      </p:sp>
      <p:sp>
        <p:nvSpPr>
          <p:cNvPr id="81964" name="Rectangle 5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4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4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4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0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1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2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3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4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5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6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7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8" name="Rectangle 16"/>
          <p:cNvSpPr>
            <a:spLocks noChangeArrowheads="1"/>
          </p:cNvSpPr>
          <p:nvPr/>
        </p:nvSpPr>
        <p:spPr bwMode="auto">
          <a:xfrm>
            <a:off x="914400" y="1828800"/>
            <a:ext cx="822960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2400" dirty="0">
                <a:ea typeface="楷体_GB2312" pitchFamily="49" charset="-122"/>
              </a:rPr>
              <a:t>将上述简单的代码生成算法应用于如下两个基本块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比较</a:t>
            </a:r>
            <a:r>
              <a:rPr lang="zh-CN" altLang="en-US" sz="2400" dirty="0">
                <a:ea typeface="楷体_GB2312" pitchFamily="49" charset="-122"/>
              </a:rPr>
              <a:t>其结果（这里假设基本块出口处只有</a:t>
            </a:r>
            <a:r>
              <a:rPr lang="en-US" altLang="zh-CN" sz="2400" b="0" dirty="0">
                <a:ea typeface="楷体_GB2312" pitchFamily="49" charset="-122"/>
              </a:rPr>
              <a:t>T4</a:t>
            </a:r>
            <a:r>
              <a:rPr lang="zh-CN" altLang="en-US" sz="2400" dirty="0">
                <a:ea typeface="楷体_GB2312" pitchFamily="49" charset="-122"/>
              </a:rPr>
              <a:t>是活跃的）</a:t>
            </a:r>
          </a:p>
        </p:txBody>
      </p:sp>
      <p:sp>
        <p:nvSpPr>
          <p:cNvPr id="82959" name="AutoShape 19"/>
          <p:cNvSpPr>
            <a:spLocks noChangeArrowheads="1"/>
          </p:cNvSpPr>
          <p:nvPr/>
        </p:nvSpPr>
        <p:spPr bwMode="auto">
          <a:xfrm>
            <a:off x="2833688" y="3740150"/>
            <a:ext cx="366712" cy="180975"/>
          </a:xfrm>
          <a:prstGeom prst="rightArrow">
            <a:avLst>
              <a:gd name="adj1" fmla="val 50000"/>
              <a:gd name="adj2" fmla="val 50658"/>
            </a:avLst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82960" name="Rectangle 20"/>
          <p:cNvSpPr>
            <a:spLocks noChangeArrowheads="1"/>
          </p:cNvSpPr>
          <p:nvPr/>
        </p:nvSpPr>
        <p:spPr bwMode="auto">
          <a:xfrm>
            <a:off x="1219200" y="2971800"/>
            <a:ext cx="1524000" cy="153035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/>
              <a:t>T1:=</a:t>
            </a:r>
            <a:r>
              <a:rPr lang="en-US" altLang="zh-CN" sz="2000" b="0" dirty="0" err="1"/>
              <a:t>a+b</a:t>
            </a:r>
            <a:endParaRPr lang="en-US" altLang="zh-CN" sz="2000" b="0" dirty="0"/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/>
              <a:t>T2:=</a:t>
            </a:r>
            <a:r>
              <a:rPr lang="en-US" altLang="zh-CN" sz="2000" b="0" dirty="0" err="1"/>
              <a:t>c+d</a:t>
            </a:r>
            <a:endParaRPr lang="en-US" altLang="zh-CN" sz="2000" b="0" dirty="0"/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/>
              <a:t>T3:=e-T2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/>
              <a:t>T4:=T1-T3</a:t>
            </a:r>
          </a:p>
        </p:txBody>
      </p:sp>
      <p:sp>
        <p:nvSpPr>
          <p:cNvPr id="82961" name="Rectangle 21"/>
          <p:cNvSpPr>
            <a:spLocks noChangeArrowheads="1"/>
          </p:cNvSpPr>
          <p:nvPr/>
        </p:nvSpPr>
        <p:spPr bwMode="auto">
          <a:xfrm>
            <a:off x="5257800" y="2978150"/>
            <a:ext cx="1524000" cy="153035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T2:=c+d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T3:=e-T2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T1:=a+b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T4:=T1-T3</a:t>
            </a:r>
          </a:p>
        </p:txBody>
      </p:sp>
      <p:sp>
        <p:nvSpPr>
          <p:cNvPr id="82962" name="Rectangle 22"/>
          <p:cNvSpPr>
            <a:spLocks noChangeArrowheads="1"/>
          </p:cNvSpPr>
          <p:nvPr/>
        </p:nvSpPr>
        <p:spPr bwMode="auto">
          <a:xfrm>
            <a:off x="3276600" y="2971800"/>
            <a:ext cx="1524000" cy="2978150"/>
          </a:xfrm>
          <a:prstGeom prst="rect">
            <a:avLst/>
          </a:prstGeom>
          <a:noFill/>
          <a:ln w="9525" cap="rnd">
            <a:solidFill>
              <a:srgbClr val="80008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a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ADD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b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c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1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ADD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1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d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e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2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SUB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2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1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SUB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2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R</a:t>
            </a:r>
            <a:r>
              <a:rPr lang="en-US" altLang="zh-CN" sz="2000" b="0" baseline="-25000" dirty="0">
                <a:solidFill>
                  <a:srgbClr val="800080"/>
                </a:solidFill>
              </a:rPr>
              <a:t>0</a:t>
            </a:r>
            <a:r>
              <a:rPr lang="en-US" altLang="zh-CN" sz="2000" b="0" dirty="0">
                <a:solidFill>
                  <a:srgbClr val="800080"/>
                </a:solidFill>
              </a:rPr>
              <a:t>,T4</a:t>
            </a:r>
            <a:endParaRPr lang="en-US" altLang="zh-CN" sz="2000" b="0" baseline="-25000" dirty="0">
              <a:solidFill>
                <a:srgbClr val="800080"/>
              </a:solidFill>
            </a:endParaRPr>
          </a:p>
        </p:txBody>
      </p:sp>
      <p:sp>
        <p:nvSpPr>
          <p:cNvPr id="82963" name="AutoShape 23"/>
          <p:cNvSpPr>
            <a:spLocks noChangeArrowheads="1"/>
          </p:cNvSpPr>
          <p:nvPr/>
        </p:nvSpPr>
        <p:spPr bwMode="auto">
          <a:xfrm>
            <a:off x="6872288" y="3740150"/>
            <a:ext cx="366712" cy="180975"/>
          </a:xfrm>
          <a:prstGeom prst="rightArrow">
            <a:avLst>
              <a:gd name="adj1" fmla="val 50000"/>
              <a:gd name="adj2" fmla="val 50658"/>
            </a:avLst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82964" name="Rectangle 24"/>
          <p:cNvSpPr>
            <a:spLocks noChangeArrowheads="1"/>
          </p:cNvSpPr>
          <p:nvPr/>
        </p:nvSpPr>
        <p:spPr bwMode="auto">
          <a:xfrm>
            <a:off x="7391400" y="2971800"/>
            <a:ext cx="1524000" cy="2978150"/>
          </a:xfrm>
          <a:prstGeom prst="rect">
            <a:avLst/>
          </a:prstGeom>
          <a:noFill/>
          <a:ln w="9525" cap="rnd">
            <a:solidFill>
              <a:srgbClr val="80008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c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ADD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d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e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1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SUB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1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a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ADD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b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SUB 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0</a:t>
            </a:r>
            <a:r>
              <a:rPr lang="en-US" altLang="zh-CN" sz="2000" b="0" dirty="0" smtClean="0">
                <a:solidFill>
                  <a:srgbClr val="800080"/>
                </a:solidFill>
              </a:rPr>
              <a:t>, R</a:t>
            </a:r>
            <a:r>
              <a:rPr lang="en-US" altLang="zh-CN" sz="2000" b="0" baseline="-25000" dirty="0" smtClean="0">
                <a:solidFill>
                  <a:srgbClr val="800080"/>
                </a:solidFill>
              </a:rPr>
              <a:t>1</a:t>
            </a:r>
            <a:endParaRPr lang="en-US" altLang="zh-CN" sz="2000" b="0" baseline="-25000" dirty="0">
              <a:solidFill>
                <a:srgbClr val="800080"/>
              </a:solidFill>
            </a:endParaRP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 dirty="0">
                <a:solidFill>
                  <a:srgbClr val="800080"/>
                </a:solidFill>
              </a:rPr>
              <a:t>MOV R</a:t>
            </a:r>
            <a:r>
              <a:rPr lang="en-US" altLang="zh-CN" sz="2000" b="0" baseline="-25000" dirty="0">
                <a:solidFill>
                  <a:srgbClr val="800080"/>
                </a:solidFill>
              </a:rPr>
              <a:t>0</a:t>
            </a:r>
            <a:r>
              <a:rPr lang="en-US" altLang="zh-CN" sz="2000" b="0" dirty="0">
                <a:solidFill>
                  <a:srgbClr val="800080"/>
                </a:solidFill>
              </a:rPr>
              <a:t>,T4</a:t>
            </a:r>
          </a:p>
        </p:txBody>
      </p:sp>
      <p:sp>
        <p:nvSpPr>
          <p:cNvPr id="712729" name="Rectangle 25"/>
          <p:cNvSpPr>
            <a:spLocks noChangeArrowheads="1"/>
          </p:cNvSpPr>
          <p:nvPr/>
        </p:nvSpPr>
        <p:spPr bwMode="auto">
          <a:xfrm>
            <a:off x="1163638" y="6261100"/>
            <a:ext cx="477996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第二段代码较优</a:t>
            </a:r>
            <a:r>
              <a:rPr lang="zh-CN" altLang="en-US" sz="2400">
                <a:ea typeface="楷体_GB2312" pitchFamily="49" charset="-122"/>
              </a:rPr>
              <a:t>（少用了寄存器）</a:t>
            </a:r>
          </a:p>
        </p:txBody>
      </p:sp>
      <p:sp>
        <p:nvSpPr>
          <p:cNvPr id="82967" name="Rectangle 2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24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196752"/>
            <a:ext cx="3737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29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2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4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5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6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7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8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9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0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1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2" name="Rectangle 16"/>
          <p:cNvSpPr>
            <a:spLocks noChangeArrowheads="1"/>
          </p:cNvSpPr>
          <p:nvPr/>
        </p:nvSpPr>
        <p:spPr bwMode="auto">
          <a:xfrm>
            <a:off x="838200" y="1828800"/>
            <a:ext cx="8153400" cy="405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2400" dirty="0">
                <a:ea typeface="楷体_GB2312" pitchFamily="49" charset="-122"/>
              </a:rPr>
              <a:t>从上例可知：对于上述简单的代码生成算法，从基本块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</a:t>
            </a:r>
            <a:r>
              <a:rPr lang="en-US" altLang="zh-CN" sz="2400" b="0" i="1" dirty="0">
                <a:ea typeface="楷体_GB2312" pitchFamily="49" charset="-122"/>
              </a:rPr>
              <a:t>DAG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表示产生语句的次序影响到目标代码生成的质量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一个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从 </a:t>
            </a:r>
            <a:r>
              <a:rPr lang="en-US" altLang="zh-CN" sz="2400" b="0" i="1" dirty="0">
                <a:solidFill>
                  <a:srgbClr val="800080"/>
                </a:solidFill>
                <a:ea typeface="楷体_GB2312" pitchFamily="49" charset="-122"/>
              </a:rPr>
              <a:t>DAG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产生语句序列的启发式排序算法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itchFamily="18" charset="0"/>
              </a:rPr>
              <a:t>     </a:t>
            </a:r>
            <a:r>
              <a:rPr lang="en-US" altLang="zh-CN" sz="2000" b="0" dirty="0">
                <a:ea typeface="楷体_GB2312" pitchFamily="49" charset="-122"/>
              </a:rPr>
              <a:t>while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zh-CN" sz="2000" dirty="0">
                <a:ea typeface="楷体_GB2312" pitchFamily="49" charset="-122"/>
              </a:rPr>
              <a:t>存在未列入表的内部结点</a:t>
            </a:r>
            <a:r>
              <a:rPr lang="zh-CN" altLang="en-US" sz="2000" dirty="0">
                <a:ea typeface="楷体_GB2312" pitchFamily="49" charset="-122"/>
              </a:rPr>
              <a:t> </a:t>
            </a:r>
            <a:r>
              <a:rPr lang="en-US" altLang="zh-CN" sz="2000" dirty="0">
                <a:ea typeface="楷体_GB2312" pitchFamily="49" charset="-122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000" dirty="0">
                <a:ea typeface="楷体_GB2312" pitchFamily="49" charset="-122"/>
              </a:rPr>
              <a:t>            </a:t>
            </a:r>
            <a:r>
              <a:rPr lang="zh-CN" altLang="zh-CN" sz="2000" dirty="0">
                <a:ea typeface="楷体_GB2312" pitchFamily="49" charset="-122"/>
              </a:rPr>
              <a:t>选取一个未列入表的但其全部父结点均已列入表的结点</a:t>
            </a:r>
            <a:r>
              <a:rPr lang="zh-CN" altLang="en-US" sz="2000" dirty="0">
                <a:ea typeface="楷体_GB2312" pitchFamily="49" charset="-122"/>
              </a:rPr>
              <a:t> </a:t>
            </a:r>
            <a:r>
              <a:rPr lang="en-US" altLang="zh-CN" sz="2000" b="0" i="1" dirty="0">
                <a:ea typeface="楷体_GB2312" pitchFamily="49" charset="-122"/>
              </a:rPr>
              <a:t>n</a:t>
            </a:r>
            <a:r>
              <a:rPr lang="en-US" altLang="zh-CN" sz="2000" b="0" dirty="0">
                <a:ea typeface="楷体_GB2312" pitchFamily="49" charset="-122"/>
              </a:rPr>
              <a:t>;</a:t>
            </a:r>
            <a:r>
              <a:rPr lang="en-US" altLang="zh-CN" sz="2000" dirty="0">
                <a:ea typeface="楷体_GB2312" pitchFamily="49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000" dirty="0">
                <a:ea typeface="楷体_GB2312" pitchFamily="49" charset="-122"/>
              </a:rPr>
              <a:t>            </a:t>
            </a:r>
            <a:r>
              <a:rPr lang="zh-CN" altLang="en-US" sz="2000" dirty="0">
                <a:ea typeface="楷体_GB2312" pitchFamily="49" charset="-122"/>
              </a:rPr>
              <a:t>将 </a:t>
            </a:r>
            <a:r>
              <a:rPr lang="en-US" altLang="zh-CN" sz="2000" b="0" i="1" dirty="0">
                <a:ea typeface="楷体_GB2312" pitchFamily="49" charset="-122"/>
              </a:rPr>
              <a:t>n </a:t>
            </a:r>
            <a:r>
              <a:rPr lang="zh-CN" altLang="en-US" sz="2000" dirty="0">
                <a:ea typeface="楷体_GB2312" pitchFamily="49" charset="-122"/>
              </a:rPr>
              <a:t>列入表中</a:t>
            </a:r>
            <a:r>
              <a:rPr lang="en-US" altLang="zh-CN" sz="2000" b="0" dirty="0">
                <a:ea typeface="楷体_GB2312" pitchFamily="49" charset="-122"/>
              </a:rPr>
              <a:t>;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000" dirty="0">
                <a:ea typeface="楷体_GB2312" pitchFamily="49" charset="-122"/>
              </a:rPr>
              <a:t>            </a:t>
            </a:r>
            <a:r>
              <a:rPr lang="en-US" altLang="zh-CN" sz="2000" b="0" dirty="0">
                <a:ea typeface="楷体_GB2312" pitchFamily="49" charset="-122"/>
              </a:rPr>
              <a:t>while </a:t>
            </a:r>
            <a:r>
              <a:rPr lang="en-US" altLang="zh-CN" sz="2000" b="0" i="1" dirty="0">
                <a:ea typeface="楷体_GB2312" pitchFamily="49" charset="-122"/>
              </a:rPr>
              <a:t>n </a:t>
            </a:r>
            <a:r>
              <a:rPr lang="zh-CN" altLang="en-US" sz="2000" dirty="0">
                <a:ea typeface="楷体_GB2312" pitchFamily="49" charset="-122"/>
              </a:rPr>
              <a:t>的最左孩子 </a:t>
            </a:r>
            <a:r>
              <a:rPr lang="en-US" altLang="zh-CN" sz="2000" b="0" i="1" dirty="0">
                <a:ea typeface="楷体_GB2312" pitchFamily="49" charset="-122"/>
              </a:rPr>
              <a:t>m</a:t>
            </a:r>
            <a:r>
              <a:rPr lang="en-US" altLang="zh-CN" sz="2000" dirty="0">
                <a:ea typeface="楷体_GB2312" pitchFamily="49" charset="-122"/>
              </a:rPr>
              <a:t> </a:t>
            </a:r>
            <a:r>
              <a:rPr lang="zh-CN" altLang="en-US" sz="2000" dirty="0">
                <a:ea typeface="楷体_GB2312" pitchFamily="49" charset="-122"/>
              </a:rPr>
              <a:t>不是叶结点且其所有父结点均已在表中 </a:t>
            </a:r>
            <a:r>
              <a:rPr lang="en-US" altLang="zh-CN" sz="2000" dirty="0">
                <a:ea typeface="楷体_GB2312" pitchFamily="49" charset="-122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000" dirty="0">
                <a:ea typeface="楷体_GB2312" pitchFamily="49" charset="-122"/>
              </a:rPr>
              <a:t>                   </a:t>
            </a:r>
            <a:r>
              <a:rPr lang="en-US" altLang="en-US" sz="2000" dirty="0">
                <a:ea typeface="楷体_GB2312" pitchFamily="49" charset="-122"/>
              </a:rPr>
              <a:t>将 </a:t>
            </a:r>
            <a:r>
              <a:rPr lang="en-US" altLang="zh-CN" sz="2000" b="0" i="1" dirty="0">
                <a:ea typeface="楷体_GB2312" pitchFamily="49" charset="-122"/>
              </a:rPr>
              <a:t>m </a:t>
            </a:r>
            <a:r>
              <a:rPr lang="en-US" altLang="en-US" sz="2000" dirty="0" err="1">
                <a:ea typeface="楷体_GB2312" pitchFamily="49" charset="-122"/>
              </a:rPr>
              <a:t>列入表中</a:t>
            </a:r>
            <a:r>
              <a:rPr lang="en-US" altLang="en-US" sz="2000" b="0" dirty="0">
                <a:ea typeface="楷体_GB2312" pitchFamily="49" charset="-122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en-US" sz="2000" b="0" dirty="0">
                <a:ea typeface="楷体_GB2312" pitchFamily="49" charset="-122"/>
              </a:rPr>
              <a:t>                    </a:t>
            </a:r>
            <a:r>
              <a:rPr lang="en-US" altLang="zh-CN" sz="2000" b="0" i="1" dirty="0">
                <a:ea typeface="楷体_GB2312" pitchFamily="49" charset="-122"/>
              </a:rPr>
              <a:t>n </a:t>
            </a:r>
            <a:r>
              <a:rPr lang="en-US" altLang="zh-CN" sz="2000" b="0" dirty="0">
                <a:ea typeface="楷体_GB2312" pitchFamily="49" charset="-122"/>
              </a:rPr>
              <a:t>:= </a:t>
            </a:r>
            <a:r>
              <a:rPr lang="en-US" altLang="zh-CN" sz="2000" b="0" i="1" dirty="0">
                <a:ea typeface="楷体_GB2312" pitchFamily="49" charset="-122"/>
              </a:rPr>
              <a:t>m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000" b="0" i="1" dirty="0">
                <a:ea typeface="楷体_GB2312" pitchFamily="49" charset="-122"/>
              </a:rPr>
              <a:t>           </a:t>
            </a:r>
            <a:r>
              <a:rPr lang="en-US" altLang="zh-CN" sz="2000" b="0" dirty="0">
                <a:ea typeface="楷体_GB2312" pitchFamily="49" charset="-122"/>
              </a:rPr>
              <a:t> </a:t>
            </a:r>
            <a:r>
              <a:rPr lang="en-US" altLang="zh-CN" sz="2000" dirty="0">
                <a:ea typeface="楷体_GB2312" pitchFamily="49" charset="-122"/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000" dirty="0">
                <a:ea typeface="楷体_GB2312" pitchFamily="49" charset="-122"/>
              </a:rPr>
              <a:t>      }</a:t>
            </a:r>
          </a:p>
        </p:txBody>
      </p:sp>
      <p:sp>
        <p:nvSpPr>
          <p:cNvPr id="713754" name="Rectangle 26"/>
          <p:cNvSpPr>
            <a:spLocks noChangeArrowheads="1"/>
          </p:cNvSpPr>
          <p:nvPr/>
        </p:nvSpPr>
        <p:spPr bwMode="auto">
          <a:xfrm>
            <a:off x="1143000" y="6108700"/>
            <a:ext cx="7843838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结果：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产生语句的次序应与内部结点列入表中的次序相反</a:t>
            </a:r>
          </a:p>
        </p:txBody>
      </p:sp>
      <p:sp>
        <p:nvSpPr>
          <p:cNvPr id="83985" name="Rectangle 29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18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196752"/>
            <a:ext cx="3737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54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6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7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8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9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0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1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2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3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4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5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6" name="Rectangle 16"/>
          <p:cNvSpPr>
            <a:spLocks noChangeArrowheads="1"/>
          </p:cNvSpPr>
          <p:nvPr/>
        </p:nvSpPr>
        <p:spPr bwMode="auto">
          <a:xfrm>
            <a:off x="838200" y="1828800"/>
            <a:ext cx="815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2400">
                <a:ea typeface="楷体_GB2312" pitchFamily="49" charset="-122"/>
              </a:rPr>
              <a:t>从 </a:t>
            </a:r>
            <a:r>
              <a:rPr lang="en-US" altLang="zh-CN" sz="2400" b="0" i="1">
                <a:ea typeface="楷体_GB2312" pitchFamily="49" charset="-122"/>
              </a:rPr>
              <a:t>DAG </a:t>
            </a:r>
            <a:r>
              <a:rPr lang="zh-CN" altLang="en-US" sz="2400">
                <a:ea typeface="楷体_GB2312" pitchFamily="49" charset="-122"/>
              </a:rPr>
              <a:t>产生语句序列的启发式排序算法</a:t>
            </a: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000">
              <a:ea typeface="楷体_GB2312" pitchFamily="49" charset="-122"/>
            </a:endParaRPr>
          </a:p>
        </p:txBody>
      </p:sp>
      <p:sp>
        <p:nvSpPr>
          <p:cNvPr id="85007" name="Oval 48"/>
          <p:cNvSpPr>
            <a:spLocks noChangeArrowheads="1"/>
          </p:cNvSpPr>
          <p:nvPr/>
        </p:nvSpPr>
        <p:spPr bwMode="auto">
          <a:xfrm>
            <a:off x="2895600" y="32900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+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85008" name="Oval 49"/>
          <p:cNvSpPr>
            <a:spLocks noChangeArrowheads="1"/>
          </p:cNvSpPr>
          <p:nvPr/>
        </p:nvSpPr>
        <p:spPr bwMode="auto">
          <a:xfrm>
            <a:off x="1981200" y="5347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+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85009" name="Oval 50"/>
          <p:cNvSpPr>
            <a:spLocks noChangeArrowheads="1"/>
          </p:cNvSpPr>
          <p:nvPr/>
        </p:nvSpPr>
        <p:spPr bwMode="auto">
          <a:xfrm>
            <a:off x="5334000" y="44330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+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85010" name="Oval 51"/>
          <p:cNvSpPr>
            <a:spLocks noChangeArrowheads="1"/>
          </p:cNvSpPr>
          <p:nvPr/>
        </p:nvSpPr>
        <p:spPr bwMode="auto">
          <a:xfrm>
            <a:off x="3200400" y="44330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cs typeface="Arial" pitchFamily="34" charset="0"/>
                <a:sym typeface="Symbol" pitchFamily="18" charset="2"/>
              </a:rPr>
              <a:t>–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85011" name="Oval 52"/>
          <p:cNvSpPr>
            <a:spLocks noChangeArrowheads="1"/>
          </p:cNvSpPr>
          <p:nvPr/>
        </p:nvSpPr>
        <p:spPr bwMode="auto">
          <a:xfrm>
            <a:off x="5638800" y="32900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cs typeface="Arial" pitchFamily="34" charset="0"/>
                <a:sym typeface="Symbol" pitchFamily="18" charset="2"/>
              </a:rPr>
              <a:t>–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85012" name="Oval 53"/>
          <p:cNvSpPr>
            <a:spLocks noChangeArrowheads="1"/>
          </p:cNvSpPr>
          <p:nvPr/>
        </p:nvSpPr>
        <p:spPr bwMode="auto">
          <a:xfrm>
            <a:off x="4191000" y="2680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</a:t>
            </a:r>
          </a:p>
        </p:txBody>
      </p:sp>
      <p:sp>
        <p:nvSpPr>
          <p:cNvPr id="85013" name="Oval 54"/>
          <p:cNvSpPr>
            <a:spLocks noChangeArrowheads="1"/>
          </p:cNvSpPr>
          <p:nvPr/>
        </p:nvSpPr>
        <p:spPr bwMode="auto">
          <a:xfrm>
            <a:off x="4191000" y="3823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</a:t>
            </a:r>
          </a:p>
        </p:txBody>
      </p:sp>
      <p:sp>
        <p:nvSpPr>
          <p:cNvPr id="85014" name="Oval 55"/>
          <p:cNvSpPr>
            <a:spLocks noChangeArrowheads="1"/>
          </p:cNvSpPr>
          <p:nvPr/>
        </p:nvSpPr>
        <p:spPr bwMode="auto">
          <a:xfrm>
            <a:off x="1219200" y="6109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a</a:t>
            </a:r>
          </a:p>
        </p:txBody>
      </p:sp>
      <p:sp>
        <p:nvSpPr>
          <p:cNvPr id="85015" name="Oval 56"/>
          <p:cNvSpPr>
            <a:spLocks noChangeArrowheads="1"/>
          </p:cNvSpPr>
          <p:nvPr/>
        </p:nvSpPr>
        <p:spPr bwMode="auto">
          <a:xfrm>
            <a:off x="2743200" y="6109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b</a:t>
            </a:r>
          </a:p>
        </p:txBody>
      </p:sp>
      <p:sp>
        <p:nvSpPr>
          <p:cNvPr id="85016" name="Oval 57"/>
          <p:cNvSpPr>
            <a:spLocks noChangeArrowheads="1"/>
          </p:cNvSpPr>
          <p:nvPr/>
        </p:nvSpPr>
        <p:spPr bwMode="auto">
          <a:xfrm>
            <a:off x="3429000" y="53220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c</a:t>
            </a:r>
          </a:p>
        </p:txBody>
      </p:sp>
      <p:sp>
        <p:nvSpPr>
          <p:cNvPr id="85017" name="Oval 58"/>
          <p:cNvSpPr>
            <a:spLocks noChangeArrowheads="1"/>
          </p:cNvSpPr>
          <p:nvPr/>
        </p:nvSpPr>
        <p:spPr bwMode="auto">
          <a:xfrm>
            <a:off x="4724400" y="5347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d</a:t>
            </a:r>
          </a:p>
        </p:txBody>
      </p:sp>
      <p:sp>
        <p:nvSpPr>
          <p:cNvPr id="85018" name="Oval 59"/>
          <p:cNvSpPr>
            <a:spLocks noChangeArrowheads="1"/>
          </p:cNvSpPr>
          <p:nvPr/>
        </p:nvSpPr>
        <p:spPr bwMode="auto">
          <a:xfrm>
            <a:off x="6705600" y="53982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e</a:t>
            </a:r>
          </a:p>
        </p:txBody>
      </p:sp>
      <p:sp>
        <p:nvSpPr>
          <p:cNvPr id="85019" name="Line 60"/>
          <p:cNvSpPr>
            <a:spLocks noChangeShapeType="1"/>
          </p:cNvSpPr>
          <p:nvPr/>
        </p:nvSpPr>
        <p:spPr bwMode="auto">
          <a:xfrm flipH="1">
            <a:off x="2209800" y="3667708"/>
            <a:ext cx="762000" cy="1666291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0" name="Line 61"/>
          <p:cNvSpPr>
            <a:spLocks noChangeShapeType="1"/>
          </p:cNvSpPr>
          <p:nvPr/>
        </p:nvSpPr>
        <p:spPr bwMode="auto">
          <a:xfrm flipH="1">
            <a:off x="3276600" y="2918114"/>
            <a:ext cx="914400" cy="43468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1" name="Line 62"/>
          <p:cNvSpPr>
            <a:spLocks noChangeShapeType="1"/>
          </p:cNvSpPr>
          <p:nvPr/>
        </p:nvSpPr>
        <p:spPr bwMode="auto">
          <a:xfrm>
            <a:off x="4648200" y="2918114"/>
            <a:ext cx="1066800" cy="43468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2" name="Line 63"/>
          <p:cNvSpPr>
            <a:spLocks noChangeShapeType="1"/>
          </p:cNvSpPr>
          <p:nvPr/>
        </p:nvSpPr>
        <p:spPr bwMode="auto">
          <a:xfrm flipH="1">
            <a:off x="1600200" y="5665068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3" name="Line 64"/>
          <p:cNvSpPr>
            <a:spLocks noChangeShapeType="1"/>
          </p:cNvSpPr>
          <p:nvPr/>
        </p:nvSpPr>
        <p:spPr bwMode="auto">
          <a:xfrm flipH="1">
            <a:off x="2362200" y="4758172"/>
            <a:ext cx="914400" cy="652027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4" name="Line 65"/>
          <p:cNvSpPr>
            <a:spLocks noChangeShapeType="1"/>
          </p:cNvSpPr>
          <p:nvPr/>
        </p:nvSpPr>
        <p:spPr bwMode="auto">
          <a:xfrm flipH="1">
            <a:off x="3581400" y="4133562"/>
            <a:ext cx="685800" cy="362237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5" name="Line 66"/>
          <p:cNvSpPr>
            <a:spLocks noChangeShapeType="1"/>
          </p:cNvSpPr>
          <p:nvPr/>
        </p:nvSpPr>
        <p:spPr bwMode="auto">
          <a:xfrm flipH="1">
            <a:off x="4648200" y="3523962"/>
            <a:ext cx="990600" cy="362237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6" name="Line 67"/>
          <p:cNvSpPr>
            <a:spLocks noChangeShapeType="1"/>
          </p:cNvSpPr>
          <p:nvPr/>
        </p:nvSpPr>
        <p:spPr bwMode="auto">
          <a:xfrm flipH="1">
            <a:off x="5029200" y="4826868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7" name="Line 68"/>
          <p:cNvSpPr>
            <a:spLocks noChangeShapeType="1"/>
          </p:cNvSpPr>
          <p:nvPr/>
        </p:nvSpPr>
        <p:spPr bwMode="auto">
          <a:xfrm flipH="1" flipV="1">
            <a:off x="2362200" y="5665068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8" name="Line 69"/>
          <p:cNvSpPr>
            <a:spLocks noChangeShapeType="1"/>
          </p:cNvSpPr>
          <p:nvPr/>
        </p:nvSpPr>
        <p:spPr bwMode="auto">
          <a:xfrm>
            <a:off x="3581400" y="4754420"/>
            <a:ext cx="152400" cy="579579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29" name="Line 70"/>
          <p:cNvSpPr>
            <a:spLocks noChangeShapeType="1"/>
          </p:cNvSpPr>
          <p:nvPr/>
        </p:nvSpPr>
        <p:spPr bwMode="auto">
          <a:xfrm>
            <a:off x="4572000" y="4133562"/>
            <a:ext cx="762000" cy="362237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30" name="Line 71"/>
          <p:cNvSpPr>
            <a:spLocks noChangeShapeType="1"/>
          </p:cNvSpPr>
          <p:nvPr/>
        </p:nvSpPr>
        <p:spPr bwMode="auto">
          <a:xfrm>
            <a:off x="5791200" y="4685726"/>
            <a:ext cx="990600" cy="724474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31" name="Line 72"/>
          <p:cNvSpPr>
            <a:spLocks noChangeShapeType="1"/>
          </p:cNvSpPr>
          <p:nvPr/>
        </p:nvSpPr>
        <p:spPr bwMode="auto">
          <a:xfrm>
            <a:off x="6019800" y="3671462"/>
            <a:ext cx="914400" cy="1738738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5849" name="Rectangle 73"/>
          <p:cNvSpPr>
            <a:spLocks noChangeArrowheads="1"/>
          </p:cNvSpPr>
          <p:nvPr/>
        </p:nvSpPr>
        <p:spPr bwMode="auto">
          <a:xfrm>
            <a:off x="4724400" y="25289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715850" name="Rectangle 74"/>
          <p:cNvSpPr>
            <a:spLocks noChangeArrowheads="1"/>
          </p:cNvSpPr>
          <p:nvPr/>
        </p:nvSpPr>
        <p:spPr bwMode="auto">
          <a:xfrm>
            <a:off x="2465388" y="3303684"/>
            <a:ext cx="35401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2</a:t>
            </a:r>
          </a:p>
        </p:txBody>
      </p:sp>
      <p:sp>
        <p:nvSpPr>
          <p:cNvPr id="715851" name="Rectangle 75"/>
          <p:cNvSpPr>
            <a:spLocks noChangeArrowheads="1"/>
          </p:cNvSpPr>
          <p:nvPr/>
        </p:nvSpPr>
        <p:spPr bwMode="auto">
          <a:xfrm>
            <a:off x="6096000" y="31385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3</a:t>
            </a:r>
          </a:p>
        </p:txBody>
      </p:sp>
      <p:sp>
        <p:nvSpPr>
          <p:cNvPr id="715852" name="Rectangle 76"/>
          <p:cNvSpPr>
            <a:spLocks noChangeArrowheads="1"/>
          </p:cNvSpPr>
          <p:nvPr/>
        </p:nvSpPr>
        <p:spPr bwMode="auto">
          <a:xfrm>
            <a:off x="3962400" y="36084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4</a:t>
            </a:r>
          </a:p>
        </p:txBody>
      </p:sp>
      <p:sp>
        <p:nvSpPr>
          <p:cNvPr id="715853" name="Rectangle 77"/>
          <p:cNvSpPr>
            <a:spLocks noChangeArrowheads="1"/>
          </p:cNvSpPr>
          <p:nvPr/>
        </p:nvSpPr>
        <p:spPr bwMode="auto">
          <a:xfrm>
            <a:off x="2998788" y="4205384"/>
            <a:ext cx="35401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>
                <a:ea typeface="楷体_GB2312" pitchFamily="49" charset="-122"/>
              </a:rPr>
              <a:t>5</a:t>
            </a:r>
          </a:p>
        </p:txBody>
      </p:sp>
      <p:sp>
        <p:nvSpPr>
          <p:cNvPr id="715854" name="Rectangle 78"/>
          <p:cNvSpPr>
            <a:spLocks noChangeArrowheads="1"/>
          </p:cNvSpPr>
          <p:nvPr/>
        </p:nvSpPr>
        <p:spPr bwMode="auto">
          <a:xfrm>
            <a:off x="1676400" y="51324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>
                <a:ea typeface="楷体_GB2312" pitchFamily="49" charset="-122"/>
              </a:rPr>
              <a:t>6</a:t>
            </a:r>
          </a:p>
        </p:txBody>
      </p:sp>
      <p:sp>
        <p:nvSpPr>
          <p:cNvPr id="715855" name="Rectangle 79"/>
          <p:cNvSpPr>
            <a:spLocks noChangeArrowheads="1"/>
          </p:cNvSpPr>
          <p:nvPr/>
        </p:nvSpPr>
        <p:spPr bwMode="auto">
          <a:xfrm>
            <a:off x="5741988" y="4281584"/>
            <a:ext cx="35401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>
                <a:ea typeface="楷体_GB2312" pitchFamily="49" charset="-122"/>
              </a:rPr>
              <a:t>7</a:t>
            </a:r>
          </a:p>
        </p:txBody>
      </p:sp>
      <p:sp>
        <p:nvSpPr>
          <p:cNvPr id="85040" name="Rectangle 8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49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196752"/>
            <a:ext cx="3737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1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1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1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1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1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71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849" grpId="0" autoUpdateAnimBg="0"/>
      <p:bldP spid="715850" grpId="0" autoUpdateAnimBg="0"/>
      <p:bldP spid="715851" grpId="0" autoUpdateAnimBg="0"/>
      <p:bldP spid="715852" grpId="0" autoUpdateAnimBg="0"/>
      <p:bldP spid="715853" grpId="0" autoUpdateAnimBg="0"/>
      <p:bldP spid="715854" grpId="0" autoUpdateAnimBg="0"/>
      <p:bldP spid="715855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1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1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6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7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8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Rectangle 16"/>
          <p:cNvSpPr>
            <a:spLocks noChangeArrowheads="1"/>
          </p:cNvSpPr>
          <p:nvPr/>
        </p:nvSpPr>
        <p:spPr bwMode="auto">
          <a:xfrm>
            <a:off x="838200" y="1828800"/>
            <a:ext cx="815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2400">
                <a:ea typeface="楷体_GB2312" pitchFamily="49" charset="-122"/>
              </a:rPr>
              <a:t>从 </a:t>
            </a:r>
            <a:r>
              <a:rPr lang="en-US" altLang="zh-CN" sz="2400" b="0" i="1">
                <a:ea typeface="楷体_GB2312" pitchFamily="49" charset="-122"/>
              </a:rPr>
              <a:t>DAG </a:t>
            </a:r>
            <a:r>
              <a:rPr lang="zh-CN" altLang="en-US" sz="2400">
                <a:ea typeface="楷体_GB2312" pitchFamily="49" charset="-122"/>
              </a:rPr>
              <a:t>产生语句序列的启发式排序算法</a:t>
            </a: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000">
              <a:ea typeface="楷体_GB2312" pitchFamily="49" charset="-122"/>
            </a:endParaRPr>
          </a:p>
        </p:txBody>
      </p:sp>
      <p:sp>
        <p:nvSpPr>
          <p:cNvPr id="86031" name="Line 18"/>
          <p:cNvSpPr>
            <a:spLocks noChangeShapeType="1"/>
          </p:cNvSpPr>
          <p:nvPr/>
        </p:nvSpPr>
        <p:spPr bwMode="auto">
          <a:xfrm flipH="1">
            <a:off x="2136775" y="3368675"/>
            <a:ext cx="685800" cy="14478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32" name="Oval 19"/>
          <p:cNvSpPr>
            <a:spLocks noChangeArrowheads="1"/>
          </p:cNvSpPr>
          <p:nvPr/>
        </p:nvSpPr>
        <p:spPr bwMode="auto">
          <a:xfrm>
            <a:off x="3736975" y="38258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  <a:sym typeface="Symbol" pitchFamily="18" charset="2"/>
              </a:rPr>
              <a:t></a:t>
            </a:r>
            <a:endParaRPr lang="en-US" altLang="zh-CN" sz="2400" b="0"/>
          </a:p>
        </p:txBody>
      </p:sp>
      <p:sp>
        <p:nvSpPr>
          <p:cNvPr id="86033" name="Oval 20"/>
          <p:cNvSpPr>
            <a:spLocks noChangeArrowheads="1"/>
          </p:cNvSpPr>
          <p:nvPr/>
        </p:nvSpPr>
        <p:spPr bwMode="auto">
          <a:xfrm>
            <a:off x="1752600" y="4740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600">
                <a:solidFill>
                  <a:srgbClr val="800080"/>
                </a:solidFill>
              </a:rPr>
              <a:t>+</a:t>
            </a:r>
          </a:p>
        </p:txBody>
      </p:sp>
      <p:sp>
        <p:nvSpPr>
          <p:cNvPr id="86034" name="Oval 21"/>
          <p:cNvSpPr>
            <a:spLocks noChangeArrowheads="1"/>
          </p:cNvSpPr>
          <p:nvPr/>
        </p:nvSpPr>
        <p:spPr bwMode="auto">
          <a:xfrm>
            <a:off x="3127375" y="4740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6035" name="Oval 22"/>
          <p:cNvSpPr>
            <a:spLocks noChangeArrowheads="1"/>
          </p:cNvSpPr>
          <p:nvPr/>
        </p:nvSpPr>
        <p:spPr bwMode="auto">
          <a:xfrm>
            <a:off x="4495800" y="4740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600">
                <a:solidFill>
                  <a:srgbClr val="800080"/>
                </a:solidFill>
              </a:rPr>
              <a:t>+</a:t>
            </a:r>
          </a:p>
        </p:txBody>
      </p:sp>
      <p:sp>
        <p:nvSpPr>
          <p:cNvPr id="86036" name="Oval 23"/>
          <p:cNvSpPr>
            <a:spLocks noChangeArrowheads="1"/>
          </p:cNvSpPr>
          <p:nvPr/>
        </p:nvSpPr>
        <p:spPr bwMode="auto">
          <a:xfrm>
            <a:off x="1066800" y="5629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6037" name="Oval 24"/>
          <p:cNvSpPr>
            <a:spLocks noChangeArrowheads="1"/>
          </p:cNvSpPr>
          <p:nvPr/>
        </p:nvSpPr>
        <p:spPr bwMode="auto">
          <a:xfrm>
            <a:off x="2286000" y="56546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6038" name="Oval 25"/>
          <p:cNvSpPr>
            <a:spLocks noChangeArrowheads="1"/>
          </p:cNvSpPr>
          <p:nvPr/>
        </p:nvSpPr>
        <p:spPr bwMode="auto">
          <a:xfrm>
            <a:off x="3736975" y="5629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6039" name="Oval 26"/>
          <p:cNvSpPr>
            <a:spLocks noChangeArrowheads="1"/>
          </p:cNvSpPr>
          <p:nvPr/>
        </p:nvSpPr>
        <p:spPr bwMode="auto">
          <a:xfrm>
            <a:off x="5108575" y="56292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</a:t>
            </a:r>
            <a:endParaRPr kumimoji="0" lang="en-US" altLang="zh-CN" sz="1600">
              <a:solidFill>
                <a:srgbClr val="800080"/>
              </a:solidFill>
            </a:endParaRPr>
          </a:p>
        </p:txBody>
      </p:sp>
      <p:sp>
        <p:nvSpPr>
          <p:cNvPr id="86040" name="Line 27"/>
          <p:cNvSpPr>
            <a:spLocks noChangeShapeType="1"/>
          </p:cNvSpPr>
          <p:nvPr/>
        </p:nvSpPr>
        <p:spPr bwMode="auto">
          <a:xfrm>
            <a:off x="3203575" y="3368675"/>
            <a:ext cx="6096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41" name="Line 28"/>
          <p:cNvSpPr>
            <a:spLocks noChangeShapeType="1"/>
          </p:cNvSpPr>
          <p:nvPr/>
        </p:nvSpPr>
        <p:spPr bwMode="auto">
          <a:xfrm flipV="1">
            <a:off x="3508375" y="4206875"/>
            <a:ext cx="3810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42" name="Line 29"/>
          <p:cNvSpPr>
            <a:spLocks noChangeShapeType="1"/>
          </p:cNvSpPr>
          <p:nvPr/>
        </p:nvSpPr>
        <p:spPr bwMode="auto">
          <a:xfrm>
            <a:off x="2289175" y="5121275"/>
            <a:ext cx="3810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43" name="Line 30"/>
          <p:cNvSpPr>
            <a:spLocks noChangeShapeType="1"/>
          </p:cNvSpPr>
          <p:nvPr/>
        </p:nvSpPr>
        <p:spPr bwMode="auto">
          <a:xfrm flipV="1">
            <a:off x="4117975" y="5121275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44" name="Line 31"/>
          <p:cNvSpPr>
            <a:spLocks noChangeShapeType="1"/>
          </p:cNvSpPr>
          <p:nvPr/>
        </p:nvSpPr>
        <p:spPr bwMode="auto">
          <a:xfrm>
            <a:off x="5108575" y="5121275"/>
            <a:ext cx="3810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45" name="Line 32"/>
          <p:cNvSpPr>
            <a:spLocks noChangeShapeType="1"/>
          </p:cNvSpPr>
          <p:nvPr/>
        </p:nvSpPr>
        <p:spPr bwMode="auto">
          <a:xfrm flipH="1">
            <a:off x="1450975" y="5121275"/>
            <a:ext cx="5334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46" name="Rectangle 33"/>
          <p:cNvSpPr>
            <a:spLocks noChangeArrowheads="1"/>
          </p:cNvSpPr>
          <p:nvPr/>
        </p:nvSpPr>
        <p:spPr bwMode="auto">
          <a:xfrm>
            <a:off x="1262063" y="6096000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a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6047" name="Rectangle 34"/>
          <p:cNvSpPr>
            <a:spLocks noChangeArrowheads="1"/>
          </p:cNvSpPr>
          <p:nvPr/>
        </p:nvSpPr>
        <p:spPr bwMode="auto">
          <a:xfrm>
            <a:off x="2365375" y="4587875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T1</a:t>
            </a:r>
          </a:p>
        </p:txBody>
      </p:sp>
      <p:sp>
        <p:nvSpPr>
          <p:cNvPr id="86048" name="Rectangle 35"/>
          <p:cNvSpPr>
            <a:spLocks noChangeArrowheads="1"/>
          </p:cNvSpPr>
          <p:nvPr/>
        </p:nvSpPr>
        <p:spPr bwMode="auto">
          <a:xfrm>
            <a:off x="5181600" y="2590800"/>
            <a:ext cx="3810000" cy="99060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内部结点列入表中的次序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         </a:t>
            </a:r>
            <a:r>
              <a:rPr lang="en-US" altLang="zh-CN" sz="2000" b="0" dirty="0"/>
              <a:t>T4   T1   T3    T2</a:t>
            </a:r>
          </a:p>
        </p:txBody>
      </p:sp>
      <p:sp>
        <p:nvSpPr>
          <p:cNvPr id="86049" name="Rectangle 36"/>
          <p:cNvSpPr>
            <a:spLocks noChangeArrowheads="1"/>
          </p:cNvSpPr>
          <p:nvPr/>
        </p:nvSpPr>
        <p:spPr bwMode="auto">
          <a:xfrm>
            <a:off x="3051175" y="2743200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T4</a:t>
            </a:r>
          </a:p>
        </p:txBody>
      </p:sp>
      <p:sp>
        <p:nvSpPr>
          <p:cNvPr id="86050" name="Rectangle 37"/>
          <p:cNvSpPr>
            <a:spLocks noChangeArrowheads="1"/>
          </p:cNvSpPr>
          <p:nvPr/>
        </p:nvSpPr>
        <p:spPr bwMode="auto">
          <a:xfrm>
            <a:off x="3889375" y="6096000"/>
            <a:ext cx="4032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c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6051" name="Rectangle 38"/>
          <p:cNvSpPr>
            <a:spLocks noChangeArrowheads="1"/>
          </p:cNvSpPr>
          <p:nvPr/>
        </p:nvSpPr>
        <p:spPr bwMode="auto">
          <a:xfrm>
            <a:off x="5357813" y="6096000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d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6052" name="Rectangle 39"/>
          <p:cNvSpPr>
            <a:spLocks noChangeArrowheads="1"/>
          </p:cNvSpPr>
          <p:nvPr/>
        </p:nvSpPr>
        <p:spPr bwMode="auto">
          <a:xfrm>
            <a:off x="4346575" y="3597275"/>
            <a:ext cx="481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T3</a:t>
            </a:r>
          </a:p>
        </p:txBody>
      </p:sp>
      <p:sp>
        <p:nvSpPr>
          <p:cNvPr id="86053" name="Rectangle 40"/>
          <p:cNvSpPr>
            <a:spLocks noChangeArrowheads="1"/>
          </p:cNvSpPr>
          <p:nvPr/>
        </p:nvSpPr>
        <p:spPr bwMode="auto">
          <a:xfrm>
            <a:off x="5160963" y="4648200"/>
            <a:ext cx="481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T2</a:t>
            </a:r>
          </a:p>
        </p:txBody>
      </p:sp>
      <p:sp>
        <p:nvSpPr>
          <p:cNvPr id="86054" name="Line 41"/>
          <p:cNvSpPr>
            <a:spLocks noChangeShapeType="1"/>
          </p:cNvSpPr>
          <p:nvPr/>
        </p:nvSpPr>
        <p:spPr bwMode="auto">
          <a:xfrm>
            <a:off x="4346575" y="4206875"/>
            <a:ext cx="457200" cy="5334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55" name="Rectangle 42"/>
          <p:cNvSpPr>
            <a:spLocks noChangeArrowheads="1"/>
          </p:cNvSpPr>
          <p:nvPr/>
        </p:nvSpPr>
        <p:spPr bwMode="auto">
          <a:xfrm>
            <a:off x="2441575" y="6096000"/>
            <a:ext cx="417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b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6056" name="Rectangle 43"/>
          <p:cNvSpPr>
            <a:spLocks noChangeArrowheads="1"/>
          </p:cNvSpPr>
          <p:nvPr/>
        </p:nvSpPr>
        <p:spPr bwMode="auto">
          <a:xfrm>
            <a:off x="3355975" y="5197475"/>
            <a:ext cx="417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/>
              <a:t>e</a:t>
            </a:r>
            <a:r>
              <a:rPr lang="en-US" altLang="zh-CN" sz="2000" b="0" baseline="-25000"/>
              <a:t>0</a:t>
            </a:r>
          </a:p>
        </p:txBody>
      </p:sp>
      <p:sp>
        <p:nvSpPr>
          <p:cNvPr id="86057" name="Oval 44"/>
          <p:cNvSpPr>
            <a:spLocks noChangeArrowheads="1"/>
          </p:cNvSpPr>
          <p:nvPr/>
        </p:nvSpPr>
        <p:spPr bwMode="auto">
          <a:xfrm>
            <a:off x="2593975" y="2987675"/>
            <a:ext cx="765175" cy="40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lIns="54000" tIns="10800" rIns="54000" bIns="10800"/>
          <a:lstStyle/>
          <a:p>
            <a:pPr algn="just"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</a:rPr>
              <a:t>    </a:t>
            </a:r>
            <a:r>
              <a:rPr kumimoji="0" lang="en-US" altLang="zh-CN" sz="1400">
                <a:solidFill>
                  <a:srgbClr val="800080"/>
                </a:solidFill>
                <a:latin typeface="Times New Roman" pitchFamily="18" charset="0"/>
                <a:sym typeface="Symbol" pitchFamily="18" charset="2"/>
              </a:rPr>
              <a:t></a:t>
            </a:r>
          </a:p>
        </p:txBody>
      </p:sp>
      <p:sp>
        <p:nvSpPr>
          <p:cNvPr id="86058" name="Rectangle 45"/>
          <p:cNvSpPr>
            <a:spLocks noChangeArrowheads="1"/>
          </p:cNvSpPr>
          <p:nvPr/>
        </p:nvSpPr>
        <p:spPr bwMode="auto">
          <a:xfrm>
            <a:off x="7162800" y="4108450"/>
            <a:ext cx="1524000" cy="2216150"/>
          </a:xfrm>
          <a:prstGeom prst="rect">
            <a:avLst/>
          </a:prstGeom>
          <a:noFill/>
          <a:ln w="9525" cap="rnd">
            <a:solidFill>
              <a:srgbClr val="333399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结果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endParaRPr lang="zh-CN" altLang="en-US" sz="1000" b="0"/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T2:=c+d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T3:=e-T2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T1:=a+b</a:t>
            </a:r>
          </a:p>
          <a:p>
            <a:pPr marL="533400" indent="-53340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b="0"/>
              <a:t>T4:=T1-T3</a:t>
            </a:r>
          </a:p>
        </p:txBody>
      </p:sp>
      <p:sp>
        <p:nvSpPr>
          <p:cNvPr id="86060" name="Rectangle 4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46" name="Rectangle 73"/>
          <p:cNvSpPr>
            <a:spLocks noChangeArrowheads="1"/>
          </p:cNvSpPr>
          <p:nvPr/>
        </p:nvSpPr>
        <p:spPr bwMode="auto">
          <a:xfrm>
            <a:off x="2345779" y="292494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47" name="Rectangle 74"/>
          <p:cNvSpPr>
            <a:spLocks noChangeArrowheads="1"/>
          </p:cNvSpPr>
          <p:nvPr/>
        </p:nvSpPr>
        <p:spPr bwMode="auto">
          <a:xfrm>
            <a:off x="1481684" y="4645702"/>
            <a:ext cx="35401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2</a:t>
            </a:r>
          </a:p>
        </p:txBody>
      </p:sp>
      <p:sp>
        <p:nvSpPr>
          <p:cNvPr id="48" name="Rectangle 75"/>
          <p:cNvSpPr>
            <a:spLocks noChangeArrowheads="1"/>
          </p:cNvSpPr>
          <p:nvPr/>
        </p:nvSpPr>
        <p:spPr bwMode="auto">
          <a:xfrm>
            <a:off x="3425899" y="3861048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3</a:t>
            </a:r>
          </a:p>
        </p:txBody>
      </p:sp>
      <p:sp>
        <p:nvSpPr>
          <p:cNvPr id="49" name="Rectangle 76"/>
          <p:cNvSpPr>
            <a:spLocks noChangeArrowheads="1"/>
          </p:cNvSpPr>
          <p:nvPr/>
        </p:nvSpPr>
        <p:spPr bwMode="auto">
          <a:xfrm>
            <a:off x="4217987" y="4717710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/>
          <a:p>
            <a:r>
              <a:rPr lang="en-US" altLang="zh-CN" sz="2400" b="0" i="1" dirty="0">
                <a:ea typeface="楷体_GB2312" pitchFamily="49" charset="-122"/>
              </a:rPr>
              <a:t>4</a:t>
            </a:r>
          </a:p>
        </p:txBody>
      </p:sp>
      <p:sp>
        <p:nvSpPr>
          <p:cNvPr id="50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196752"/>
            <a:ext cx="3737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7" grpId="0" autoUpdateAnimBg="0"/>
      <p:bldP spid="48" grpId="0" autoUpdateAnimBg="0"/>
      <p:bldP spid="49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1042988" y="1916113"/>
            <a:ext cx="7777484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表达式树的求值</a:t>
            </a: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</a:t>
            </a:r>
            <a:r>
              <a:rPr lang="en-US" altLang="zh-CN" sz="2400" b="0" dirty="0" err="1" smtClean="0">
                <a:solidFill>
                  <a:srgbClr val="800080"/>
                </a:solidFill>
              </a:rPr>
              <a:t>Ershov</a:t>
            </a:r>
            <a:r>
              <a:rPr lang="en-US" altLang="zh-CN" sz="2400" b="0" dirty="0" smtClean="0">
                <a:solidFill>
                  <a:srgbClr val="800080"/>
                </a:solidFill>
              </a:rPr>
              <a:t> </a:t>
            </a:r>
            <a:r>
              <a:rPr lang="zh-CN" altLang="zh-CN" sz="2400" dirty="0" smtClean="0">
                <a:solidFill>
                  <a:srgbClr val="800080"/>
                </a:solidFill>
                <a:ea typeface="楷体_GB2312" pitchFamily="49" charset="-122"/>
              </a:rPr>
              <a:t>数</a:t>
            </a:r>
            <a:r>
              <a:rPr lang="zh-CN" altLang="en-US" sz="2400" dirty="0" smtClean="0">
                <a:ea typeface="楷体_GB2312" pitchFamily="49" charset="-122"/>
              </a:rPr>
              <a:t>：</a:t>
            </a:r>
            <a:r>
              <a:rPr lang="zh-CN" altLang="zh-CN" sz="2400" dirty="0" smtClean="0">
                <a:ea typeface="楷体_GB2312" pitchFamily="49" charset="-122"/>
              </a:rPr>
              <a:t>表达式求值时所需寄存器数目的最小值</a:t>
            </a:r>
            <a:endParaRPr lang="zh-CN" altLang="en-US" sz="2400" dirty="0">
              <a:ea typeface="楷体_GB2312" pitchFamily="49" charset="-122"/>
            </a:endParaRPr>
          </a:p>
        </p:txBody>
      </p:sp>
      <p:sp>
        <p:nvSpPr>
          <p:cNvPr id="9933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6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7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8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9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0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1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2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3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5" name="Rectangle 17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18" name="Oval 49"/>
          <p:cNvSpPr>
            <a:spLocks noChangeArrowheads="1"/>
          </p:cNvSpPr>
          <p:nvPr/>
        </p:nvSpPr>
        <p:spPr bwMode="auto">
          <a:xfrm>
            <a:off x="2885728" y="403991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+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19" name="Oval 50"/>
          <p:cNvSpPr>
            <a:spLocks noChangeArrowheads="1"/>
          </p:cNvSpPr>
          <p:nvPr/>
        </p:nvSpPr>
        <p:spPr bwMode="auto">
          <a:xfrm>
            <a:off x="4796408" y="484280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+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20" name="Oval 52"/>
          <p:cNvSpPr>
            <a:spLocks noChangeArrowheads="1"/>
          </p:cNvSpPr>
          <p:nvPr/>
        </p:nvSpPr>
        <p:spPr bwMode="auto">
          <a:xfrm>
            <a:off x="5638800" y="40460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cs typeface="Arial" pitchFamily="34" charset="0"/>
                <a:sym typeface="Symbol" pitchFamily="18" charset="2"/>
              </a:rPr>
              <a:t>–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21" name="Oval 53"/>
          <p:cNvSpPr>
            <a:spLocks noChangeArrowheads="1"/>
          </p:cNvSpPr>
          <p:nvPr/>
        </p:nvSpPr>
        <p:spPr bwMode="auto">
          <a:xfrm>
            <a:off x="4191000" y="3436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</a:t>
            </a:r>
          </a:p>
        </p:txBody>
      </p:sp>
      <p:sp>
        <p:nvSpPr>
          <p:cNvPr id="22" name="Oval 55"/>
          <p:cNvSpPr>
            <a:spLocks noChangeArrowheads="1"/>
          </p:cNvSpPr>
          <p:nvPr/>
        </p:nvSpPr>
        <p:spPr bwMode="auto">
          <a:xfrm>
            <a:off x="2123728" y="480191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a</a:t>
            </a:r>
          </a:p>
        </p:txBody>
      </p:sp>
      <p:sp>
        <p:nvSpPr>
          <p:cNvPr id="23" name="Oval 56"/>
          <p:cNvSpPr>
            <a:spLocks noChangeArrowheads="1"/>
          </p:cNvSpPr>
          <p:nvPr/>
        </p:nvSpPr>
        <p:spPr bwMode="auto">
          <a:xfrm>
            <a:off x="3647728" y="480191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b</a:t>
            </a:r>
          </a:p>
        </p:txBody>
      </p:sp>
      <p:sp>
        <p:nvSpPr>
          <p:cNvPr id="24" name="Oval 57"/>
          <p:cNvSpPr>
            <a:spLocks noChangeArrowheads="1"/>
          </p:cNvSpPr>
          <p:nvPr/>
        </p:nvSpPr>
        <p:spPr bwMode="auto">
          <a:xfrm>
            <a:off x="6588224" y="4833072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 dirty="0">
                <a:solidFill>
                  <a:srgbClr val="800080"/>
                </a:solidFill>
                <a:sym typeface="Symbol" pitchFamily="18" charset="2"/>
              </a:rPr>
              <a:t>c</a:t>
            </a:r>
          </a:p>
        </p:txBody>
      </p:sp>
      <p:sp>
        <p:nvSpPr>
          <p:cNvPr id="25" name="Oval 58"/>
          <p:cNvSpPr>
            <a:spLocks noChangeArrowheads="1"/>
          </p:cNvSpPr>
          <p:nvPr/>
        </p:nvSpPr>
        <p:spPr bwMode="auto">
          <a:xfrm>
            <a:off x="4114800" y="5710974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d</a:t>
            </a:r>
          </a:p>
        </p:txBody>
      </p:sp>
      <p:sp>
        <p:nvSpPr>
          <p:cNvPr id="26" name="Oval 59"/>
          <p:cNvSpPr>
            <a:spLocks noChangeArrowheads="1"/>
          </p:cNvSpPr>
          <p:nvPr/>
        </p:nvSpPr>
        <p:spPr bwMode="auto">
          <a:xfrm>
            <a:off x="5842992" y="5710974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 dirty="0">
                <a:solidFill>
                  <a:srgbClr val="800080"/>
                </a:solidFill>
                <a:sym typeface="Symbol" pitchFamily="18" charset="2"/>
              </a:rPr>
              <a:t>e</a:t>
            </a:r>
          </a:p>
        </p:txBody>
      </p:sp>
      <p:sp>
        <p:nvSpPr>
          <p:cNvPr id="27" name="Line 61"/>
          <p:cNvSpPr>
            <a:spLocks noChangeShapeType="1"/>
          </p:cNvSpPr>
          <p:nvPr/>
        </p:nvSpPr>
        <p:spPr bwMode="auto">
          <a:xfrm flipH="1">
            <a:off x="3276600" y="3674114"/>
            <a:ext cx="914400" cy="43468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8" name="Line 62"/>
          <p:cNvSpPr>
            <a:spLocks noChangeShapeType="1"/>
          </p:cNvSpPr>
          <p:nvPr/>
        </p:nvSpPr>
        <p:spPr bwMode="auto">
          <a:xfrm>
            <a:off x="4648200" y="3674114"/>
            <a:ext cx="1066800" cy="43468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Line 63"/>
          <p:cNvSpPr>
            <a:spLocks noChangeShapeType="1"/>
          </p:cNvSpPr>
          <p:nvPr/>
        </p:nvSpPr>
        <p:spPr bwMode="auto">
          <a:xfrm flipH="1">
            <a:off x="2504728" y="4357544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0" name="Line 66"/>
          <p:cNvSpPr>
            <a:spLocks noChangeShapeType="1"/>
          </p:cNvSpPr>
          <p:nvPr/>
        </p:nvSpPr>
        <p:spPr bwMode="auto">
          <a:xfrm flipH="1">
            <a:off x="5076056" y="4329016"/>
            <a:ext cx="576064" cy="504056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1" name="Line 67"/>
          <p:cNvSpPr>
            <a:spLocks noChangeShapeType="1"/>
          </p:cNvSpPr>
          <p:nvPr/>
        </p:nvSpPr>
        <p:spPr bwMode="auto">
          <a:xfrm flipH="1">
            <a:off x="4474840" y="5203842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2" name="Line 68"/>
          <p:cNvSpPr>
            <a:spLocks noChangeShapeType="1"/>
          </p:cNvSpPr>
          <p:nvPr/>
        </p:nvSpPr>
        <p:spPr bwMode="auto">
          <a:xfrm flipH="1" flipV="1">
            <a:off x="3266728" y="4357544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3" name="Line 71"/>
          <p:cNvSpPr>
            <a:spLocks noChangeShapeType="1"/>
          </p:cNvSpPr>
          <p:nvPr/>
        </p:nvSpPr>
        <p:spPr bwMode="auto">
          <a:xfrm>
            <a:off x="5194920" y="5134910"/>
            <a:ext cx="792088" cy="576064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4" name="Line 72"/>
          <p:cNvSpPr>
            <a:spLocks noChangeShapeType="1"/>
          </p:cNvSpPr>
          <p:nvPr/>
        </p:nvSpPr>
        <p:spPr bwMode="auto">
          <a:xfrm>
            <a:off x="6084168" y="4329016"/>
            <a:ext cx="648072" cy="504056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5" name="Rectangle 73"/>
          <p:cNvSpPr>
            <a:spLocks noChangeArrowheads="1"/>
          </p:cNvSpPr>
          <p:nvPr/>
        </p:nvSpPr>
        <p:spPr bwMode="auto">
          <a:xfrm>
            <a:off x="4724400" y="32849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3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36" name="Rectangle 75"/>
          <p:cNvSpPr>
            <a:spLocks noChangeArrowheads="1"/>
          </p:cNvSpPr>
          <p:nvPr/>
        </p:nvSpPr>
        <p:spPr bwMode="auto">
          <a:xfrm>
            <a:off x="6096000" y="38945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2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37" name="Rectangle 76"/>
          <p:cNvSpPr>
            <a:spLocks noChangeArrowheads="1"/>
          </p:cNvSpPr>
          <p:nvPr/>
        </p:nvSpPr>
        <p:spPr bwMode="auto">
          <a:xfrm>
            <a:off x="5298107" y="4897646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2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38" name="Rectangle 77"/>
          <p:cNvSpPr>
            <a:spLocks noChangeArrowheads="1"/>
          </p:cNvSpPr>
          <p:nvPr/>
        </p:nvSpPr>
        <p:spPr bwMode="auto">
          <a:xfrm>
            <a:off x="7098308" y="4905080"/>
            <a:ext cx="35401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1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39" name="Rectangle 78"/>
          <p:cNvSpPr>
            <a:spLocks noChangeArrowheads="1"/>
          </p:cNvSpPr>
          <p:nvPr/>
        </p:nvSpPr>
        <p:spPr bwMode="auto">
          <a:xfrm>
            <a:off x="2580928" y="3824960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2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40" name="Rectangle 73"/>
          <p:cNvSpPr>
            <a:spLocks noChangeArrowheads="1"/>
          </p:cNvSpPr>
          <p:nvPr/>
        </p:nvSpPr>
        <p:spPr bwMode="auto">
          <a:xfrm>
            <a:off x="6156176" y="5977766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41" name="Rectangle 73"/>
          <p:cNvSpPr>
            <a:spLocks noChangeArrowheads="1"/>
          </p:cNvSpPr>
          <p:nvPr/>
        </p:nvSpPr>
        <p:spPr bwMode="auto">
          <a:xfrm>
            <a:off x="3779912" y="5985200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42" name="Rectangle 73"/>
          <p:cNvSpPr>
            <a:spLocks noChangeArrowheads="1"/>
          </p:cNvSpPr>
          <p:nvPr/>
        </p:nvSpPr>
        <p:spPr bwMode="auto">
          <a:xfrm>
            <a:off x="3347864" y="4977088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43" name="Rectangle 73"/>
          <p:cNvSpPr>
            <a:spLocks noChangeArrowheads="1"/>
          </p:cNvSpPr>
          <p:nvPr/>
        </p:nvSpPr>
        <p:spPr bwMode="auto">
          <a:xfrm>
            <a:off x="1763688" y="4977088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44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196752"/>
            <a:ext cx="3737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1042988" y="1916113"/>
            <a:ext cx="4105076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表达式树的求值</a:t>
            </a:r>
            <a:endParaRPr lang="zh-CN" altLang="en-US" sz="2400" dirty="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en-US" altLang="zh-CN" sz="2400" b="0" dirty="0" smtClean="0">
                <a:ea typeface="楷体_GB2312" pitchFamily="49" charset="-122"/>
              </a:rPr>
              <a:t>     </a:t>
            </a:r>
            <a:r>
              <a:rPr lang="en-US" altLang="zh-CN" sz="2400" b="0" dirty="0" err="1" smtClean="0">
                <a:solidFill>
                  <a:srgbClr val="800080"/>
                </a:solidFill>
                <a:ea typeface="楷体_GB2312" pitchFamily="49" charset="-122"/>
              </a:rPr>
              <a:t>Sethi-Ullman</a:t>
            </a:r>
            <a:r>
              <a:rPr lang="zh-CN" altLang="en-US" sz="2400" dirty="0" smtClean="0">
                <a:solidFill>
                  <a:srgbClr val="800080"/>
                </a:solidFill>
                <a:ea typeface="楷体_GB2312" pitchFamily="49" charset="-122"/>
              </a:rPr>
              <a:t>算法</a:t>
            </a:r>
            <a:endParaRPr lang="zh-CN" altLang="en-US" sz="240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9933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4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5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6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7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8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9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0" name="AutoShape 1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1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2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3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5" name="Rectangle 17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sp>
        <p:nvSpPr>
          <p:cNvPr id="44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196752"/>
            <a:ext cx="37379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zh-CN" sz="3200" dirty="0" smtClean="0">
                <a:solidFill>
                  <a:srgbClr val="800080"/>
                </a:solidFill>
                <a:ea typeface="楷体_GB2312" pitchFamily="49" charset="-122"/>
              </a:rPr>
              <a:t>高效使用寄存器</a:t>
            </a:r>
            <a:endParaRPr lang="zh-CN" altLang="en-US" sz="3200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45" name="Oval 49"/>
          <p:cNvSpPr>
            <a:spLocks noChangeArrowheads="1"/>
          </p:cNvSpPr>
          <p:nvPr/>
        </p:nvSpPr>
        <p:spPr bwMode="auto">
          <a:xfrm>
            <a:off x="1661592" y="403991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+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46" name="Oval 50"/>
          <p:cNvSpPr>
            <a:spLocks noChangeArrowheads="1"/>
          </p:cNvSpPr>
          <p:nvPr/>
        </p:nvSpPr>
        <p:spPr bwMode="auto">
          <a:xfrm>
            <a:off x="3572272" y="484280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+</a:t>
            </a:r>
            <a:endParaRPr lang="en-US" altLang="zh-CN" sz="2000" b="0">
              <a:solidFill>
                <a:srgbClr val="800080"/>
              </a:solidFill>
            </a:endParaRPr>
          </a:p>
        </p:txBody>
      </p:sp>
      <p:sp>
        <p:nvSpPr>
          <p:cNvPr id="47" name="Oval 52"/>
          <p:cNvSpPr>
            <a:spLocks noChangeArrowheads="1"/>
          </p:cNvSpPr>
          <p:nvPr/>
        </p:nvSpPr>
        <p:spPr bwMode="auto">
          <a:xfrm>
            <a:off x="4414664" y="40460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 dirty="0">
                <a:solidFill>
                  <a:srgbClr val="800080"/>
                </a:solidFill>
                <a:cs typeface="Arial" pitchFamily="34" charset="0"/>
                <a:sym typeface="Symbol" pitchFamily="18" charset="2"/>
              </a:rPr>
              <a:t>–</a:t>
            </a:r>
            <a:endParaRPr lang="en-US" altLang="zh-CN" sz="2000" b="0" dirty="0">
              <a:solidFill>
                <a:srgbClr val="800080"/>
              </a:solidFill>
            </a:endParaRPr>
          </a:p>
        </p:txBody>
      </p:sp>
      <p:sp>
        <p:nvSpPr>
          <p:cNvPr id="48" name="Oval 53"/>
          <p:cNvSpPr>
            <a:spLocks noChangeArrowheads="1"/>
          </p:cNvSpPr>
          <p:nvPr/>
        </p:nvSpPr>
        <p:spPr bwMode="auto">
          <a:xfrm>
            <a:off x="2966864" y="3436439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</a:t>
            </a:r>
          </a:p>
        </p:txBody>
      </p:sp>
      <p:sp>
        <p:nvSpPr>
          <p:cNvPr id="49" name="Oval 55"/>
          <p:cNvSpPr>
            <a:spLocks noChangeArrowheads="1"/>
          </p:cNvSpPr>
          <p:nvPr/>
        </p:nvSpPr>
        <p:spPr bwMode="auto">
          <a:xfrm>
            <a:off x="899592" y="480191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a</a:t>
            </a:r>
          </a:p>
        </p:txBody>
      </p:sp>
      <p:sp>
        <p:nvSpPr>
          <p:cNvPr id="50" name="Oval 56"/>
          <p:cNvSpPr>
            <a:spLocks noChangeArrowheads="1"/>
          </p:cNvSpPr>
          <p:nvPr/>
        </p:nvSpPr>
        <p:spPr bwMode="auto">
          <a:xfrm>
            <a:off x="2423592" y="4801915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b</a:t>
            </a:r>
          </a:p>
        </p:txBody>
      </p:sp>
      <p:sp>
        <p:nvSpPr>
          <p:cNvPr id="51" name="Oval 57"/>
          <p:cNvSpPr>
            <a:spLocks noChangeArrowheads="1"/>
          </p:cNvSpPr>
          <p:nvPr/>
        </p:nvSpPr>
        <p:spPr bwMode="auto">
          <a:xfrm>
            <a:off x="5364088" y="4833072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 dirty="0">
                <a:solidFill>
                  <a:srgbClr val="800080"/>
                </a:solidFill>
                <a:sym typeface="Symbol" pitchFamily="18" charset="2"/>
              </a:rPr>
              <a:t>c</a:t>
            </a:r>
          </a:p>
        </p:txBody>
      </p:sp>
      <p:sp>
        <p:nvSpPr>
          <p:cNvPr id="52" name="Oval 58"/>
          <p:cNvSpPr>
            <a:spLocks noChangeArrowheads="1"/>
          </p:cNvSpPr>
          <p:nvPr/>
        </p:nvSpPr>
        <p:spPr bwMode="auto">
          <a:xfrm>
            <a:off x="2890664" y="5710974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>
                <a:solidFill>
                  <a:srgbClr val="800080"/>
                </a:solidFill>
                <a:sym typeface="Symbol" pitchFamily="18" charset="2"/>
              </a:rPr>
              <a:t>d</a:t>
            </a:r>
          </a:p>
        </p:txBody>
      </p:sp>
      <p:sp>
        <p:nvSpPr>
          <p:cNvPr id="53" name="Oval 59"/>
          <p:cNvSpPr>
            <a:spLocks noChangeArrowheads="1"/>
          </p:cNvSpPr>
          <p:nvPr/>
        </p:nvSpPr>
        <p:spPr bwMode="auto">
          <a:xfrm>
            <a:off x="4618856" y="5710974"/>
            <a:ext cx="457200" cy="346234"/>
          </a:xfrm>
          <a:prstGeom prst="ellips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</p:spPr>
        <p:txBody>
          <a:bodyPr wrap="square" tIns="0" bIns="0" anchor="ctr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en-US" altLang="zh-CN" sz="2000" b="0" dirty="0">
                <a:solidFill>
                  <a:srgbClr val="800080"/>
                </a:solidFill>
                <a:sym typeface="Symbol" pitchFamily="18" charset="2"/>
              </a:rPr>
              <a:t>e</a:t>
            </a:r>
          </a:p>
        </p:txBody>
      </p:sp>
      <p:sp>
        <p:nvSpPr>
          <p:cNvPr id="54" name="Line 61"/>
          <p:cNvSpPr>
            <a:spLocks noChangeShapeType="1"/>
          </p:cNvSpPr>
          <p:nvPr/>
        </p:nvSpPr>
        <p:spPr bwMode="auto">
          <a:xfrm flipH="1">
            <a:off x="2052464" y="3674114"/>
            <a:ext cx="914400" cy="43468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5" name="Line 62"/>
          <p:cNvSpPr>
            <a:spLocks noChangeShapeType="1"/>
          </p:cNvSpPr>
          <p:nvPr/>
        </p:nvSpPr>
        <p:spPr bwMode="auto">
          <a:xfrm>
            <a:off x="3424064" y="3674114"/>
            <a:ext cx="1066800" cy="434685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6" name="Line 63"/>
          <p:cNvSpPr>
            <a:spLocks noChangeShapeType="1"/>
          </p:cNvSpPr>
          <p:nvPr/>
        </p:nvSpPr>
        <p:spPr bwMode="auto">
          <a:xfrm flipH="1">
            <a:off x="1280592" y="4357544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7" name="Line 66"/>
          <p:cNvSpPr>
            <a:spLocks noChangeShapeType="1"/>
          </p:cNvSpPr>
          <p:nvPr/>
        </p:nvSpPr>
        <p:spPr bwMode="auto">
          <a:xfrm flipH="1">
            <a:off x="3851920" y="4329016"/>
            <a:ext cx="576064" cy="504056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8" name="Line 67"/>
          <p:cNvSpPr>
            <a:spLocks noChangeShapeType="1"/>
          </p:cNvSpPr>
          <p:nvPr/>
        </p:nvSpPr>
        <p:spPr bwMode="auto">
          <a:xfrm flipH="1">
            <a:off x="3250704" y="5203842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9" name="Line 68"/>
          <p:cNvSpPr>
            <a:spLocks noChangeShapeType="1"/>
          </p:cNvSpPr>
          <p:nvPr/>
        </p:nvSpPr>
        <p:spPr bwMode="auto">
          <a:xfrm flipH="1" flipV="1">
            <a:off x="2042592" y="4357544"/>
            <a:ext cx="457200" cy="507132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0" name="Line 71"/>
          <p:cNvSpPr>
            <a:spLocks noChangeShapeType="1"/>
          </p:cNvSpPr>
          <p:nvPr/>
        </p:nvSpPr>
        <p:spPr bwMode="auto">
          <a:xfrm>
            <a:off x="3970784" y="5134910"/>
            <a:ext cx="792088" cy="576064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1" name="Line 72"/>
          <p:cNvSpPr>
            <a:spLocks noChangeShapeType="1"/>
          </p:cNvSpPr>
          <p:nvPr/>
        </p:nvSpPr>
        <p:spPr bwMode="auto">
          <a:xfrm>
            <a:off x="4860032" y="4329016"/>
            <a:ext cx="648072" cy="504056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2" name="Rectangle 73"/>
          <p:cNvSpPr>
            <a:spLocks noChangeArrowheads="1"/>
          </p:cNvSpPr>
          <p:nvPr/>
        </p:nvSpPr>
        <p:spPr bwMode="auto">
          <a:xfrm>
            <a:off x="3500264" y="32849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3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63" name="Rectangle 75"/>
          <p:cNvSpPr>
            <a:spLocks noChangeArrowheads="1"/>
          </p:cNvSpPr>
          <p:nvPr/>
        </p:nvSpPr>
        <p:spPr bwMode="auto">
          <a:xfrm>
            <a:off x="4871864" y="3894584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2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64" name="Rectangle 76"/>
          <p:cNvSpPr>
            <a:spLocks noChangeArrowheads="1"/>
          </p:cNvSpPr>
          <p:nvPr/>
        </p:nvSpPr>
        <p:spPr bwMode="auto">
          <a:xfrm>
            <a:off x="4073971" y="4897646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2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65" name="Rectangle 77"/>
          <p:cNvSpPr>
            <a:spLocks noChangeArrowheads="1"/>
          </p:cNvSpPr>
          <p:nvPr/>
        </p:nvSpPr>
        <p:spPr bwMode="auto">
          <a:xfrm>
            <a:off x="5874172" y="4905080"/>
            <a:ext cx="35401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1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66" name="Rectangle 78"/>
          <p:cNvSpPr>
            <a:spLocks noChangeArrowheads="1"/>
          </p:cNvSpPr>
          <p:nvPr/>
        </p:nvSpPr>
        <p:spPr bwMode="auto">
          <a:xfrm>
            <a:off x="1356792" y="3824960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 smtClean="0">
                <a:ea typeface="楷体_GB2312" pitchFamily="49" charset="-122"/>
              </a:rPr>
              <a:t>2</a:t>
            </a:r>
            <a:endParaRPr lang="en-US" altLang="zh-CN" sz="2400" b="0" i="1" dirty="0">
              <a:ea typeface="楷体_GB2312" pitchFamily="49" charset="-122"/>
            </a:endParaRPr>
          </a:p>
        </p:txBody>
      </p:sp>
      <p:sp>
        <p:nvSpPr>
          <p:cNvPr id="67" name="Rectangle 73"/>
          <p:cNvSpPr>
            <a:spLocks noChangeArrowheads="1"/>
          </p:cNvSpPr>
          <p:nvPr/>
        </p:nvSpPr>
        <p:spPr bwMode="auto">
          <a:xfrm>
            <a:off x="4932040" y="5977766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68" name="Rectangle 73"/>
          <p:cNvSpPr>
            <a:spLocks noChangeArrowheads="1"/>
          </p:cNvSpPr>
          <p:nvPr/>
        </p:nvSpPr>
        <p:spPr bwMode="auto">
          <a:xfrm>
            <a:off x="2555776" y="5985200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69" name="Rectangle 73"/>
          <p:cNvSpPr>
            <a:spLocks noChangeArrowheads="1"/>
          </p:cNvSpPr>
          <p:nvPr/>
        </p:nvSpPr>
        <p:spPr bwMode="auto">
          <a:xfrm>
            <a:off x="2123728" y="4977088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70" name="Rectangle 73"/>
          <p:cNvSpPr>
            <a:spLocks noChangeArrowheads="1"/>
          </p:cNvSpPr>
          <p:nvPr/>
        </p:nvSpPr>
        <p:spPr bwMode="auto">
          <a:xfrm>
            <a:off x="539552" y="4977088"/>
            <a:ext cx="354013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tIns="0" bIns="0">
            <a:spAutoFit/>
          </a:bodyPr>
          <a:lstStyle>
            <a:defPPr>
              <a:defRPr lang="zh-CN"/>
            </a:defPPr>
            <a:lvl1pPr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rgbClr val="333399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400" b="0" i="1" dirty="0">
                <a:ea typeface="楷体_GB2312" pitchFamily="49" charset="-122"/>
              </a:rPr>
              <a:t>1</a:t>
            </a:r>
          </a:p>
        </p:txBody>
      </p:sp>
      <p:sp>
        <p:nvSpPr>
          <p:cNvPr id="71" name="矩形 70"/>
          <p:cNvSpPr/>
          <p:nvPr/>
        </p:nvSpPr>
        <p:spPr>
          <a:xfrm>
            <a:off x="5868144" y="1502782"/>
            <a:ext cx="27363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LD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0</a:t>
            </a:r>
            <a:r>
              <a:rPr lang="en-US" altLang="zh-CN" sz="2000" b="0" kern="100" dirty="0" smtClean="0">
                <a:latin typeface="+mn-lt"/>
                <a:ea typeface="宋体"/>
              </a:rPr>
              <a:t>, a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LD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r>
              <a:rPr lang="en-US" altLang="zh-CN" sz="2000" b="0" kern="100" dirty="0" smtClean="0">
                <a:latin typeface="+mn-lt"/>
                <a:ea typeface="宋体"/>
              </a:rPr>
              <a:t>, b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ADD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0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0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LD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r>
              <a:rPr lang="en-US" altLang="zh-CN" sz="2000" b="0" kern="100" dirty="0" smtClean="0">
                <a:latin typeface="+mn-lt"/>
                <a:ea typeface="宋体"/>
              </a:rPr>
              <a:t>, d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LD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2</a:t>
            </a:r>
            <a:r>
              <a:rPr lang="en-US" altLang="zh-CN" sz="2000" b="0" kern="100" dirty="0" smtClean="0">
                <a:latin typeface="+mn-lt"/>
                <a:ea typeface="宋体"/>
              </a:rPr>
              <a:t>, e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ADD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2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LD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2</a:t>
            </a:r>
            <a:r>
              <a:rPr lang="en-US" altLang="zh-CN" sz="2000" b="0" kern="100" dirty="0" smtClean="0">
                <a:latin typeface="+mn-lt"/>
                <a:ea typeface="宋体"/>
              </a:rPr>
              <a:t>, c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SUB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2</a:t>
            </a:r>
            <a:endParaRPr lang="zh-CN" altLang="zh-CN" sz="2000" b="0" kern="100" dirty="0" smtClean="0">
              <a:latin typeface="+mn-lt"/>
              <a:ea typeface="宋体"/>
            </a:endParaRPr>
          </a:p>
          <a:p>
            <a:pPr marL="266700" indent="2667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 smtClean="0">
                <a:latin typeface="+mn-lt"/>
                <a:ea typeface="宋体"/>
              </a:rPr>
              <a:t>MUL   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0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0</a:t>
            </a:r>
            <a:r>
              <a:rPr lang="en-US" altLang="zh-CN" sz="2000" b="0" kern="100" dirty="0" smtClean="0">
                <a:latin typeface="+mn-lt"/>
                <a:ea typeface="宋体"/>
              </a:rPr>
              <a:t>, R</a:t>
            </a:r>
            <a:r>
              <a:rPr lang="en-US" altLang="zh-CN" sz="2000" b="0" kern="100" baseline="-25000" dirty="0" smtClean="0">
                <a:latin typeface="+mn-lt"/>
                <a:ea typeface="宋体"/>
              </a:rPr>
              <a:t>1</a:t>
            </a:r>
            <a:endParaRPr lang="zh-CN" altLang="zh-CN" sz="2000" b="0" kern="100" dirty="0">
              <a:latin typeface="+mn-lt"/>
              <a:ea typeface="宋体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838200" y="1325563"/>
            <a:ext cx="7478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简单的图着色物理寄存器分配算法</a:t>
            </a:r>
          </a:p>
        </p:txBody>
      </p:sp>
      <p:sp>
        <p:nvSpPr>
          <p:cNvPr id="100355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6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7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8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9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0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1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2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3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4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5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6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7" name="Rectangle 16"/>
          <p:cNvSpPr>
            <a:spLocks noChangeArrowheads="1"/>
          </p:cNvSpPr>
          <p:nvPr/>
        </p:nvSpPr>
        <p:spPr bwMode="auto">
          <a:xfrm>
            <a:off x="1104900" y="2041525"/>
            <a:ext cx="77343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两</a:t>
            </a: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遍的寄存器分配和指派算法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第一遍先假定可用的通用寄存器是无限数量的，完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成指令</a:t>
            </a:r>
            <a:r>
              <a:rPr lang="zh-CN" altLang="en-US" sz="2400" dirty="0" smtClean="0">
                <a:ea typeface="楷体_GB2312" pitchFamily="49" charset="-122"/>
              </a:rPr>
              <a:t>选择和生成</a:t>
            </a:r>
            <a:endParaRPr kumimoji="0"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300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sz="2400" dirty="0">
                <a:ea typeface="楷体_GB2312" pitchFamily="49" charset="-122"/>
              </a:rPr>
              <a:t>例如：前面介绍的简单代码生成算法中的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en-US" altLang="zh-CN" sz="2400" b="0" dirty="0" err="1">
                <a:solidFill>
                  <a:srgbClr val="800080"/>
                </a:solidFill>
                <a:ea typeface="楷体_GB2312" pitchFamily="49" charset="-122"/>
              </a:rPr>
              <a:t>getreg</a:t>
            </a:r>
            <a:endParaRPr lang="en-US" altLang="zh-CN" sz="2400" b="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函数返回一个伪寄存器（不管物理寄存器的个数）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第二遍将物理</a:t>
            </a:r>
            <a:r>
              <a:rPr lang="zh-CN" altLang="en-US" sz="2400" dirty="0" smtClean="0">
                <a:ea typeface="楷体_GB2312" pitchFamily="49" charset="-122"/>
              </a:rPr>
              <a:t>寄存器指派到</a:t>
            </a:r>
            <a:r>
              <a:rPr lang="zh-CN" altLang="en-US" sz="2400" dirty="0">
                <a:ea typeface="楷体_GB2312" pitchFamily="49" charset="-122"/>
              </a:rPr>
              <a:t>伪寄存器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1000" dirty="0">
                <a:ea typeface="楷体_GB2312" pitchFamily="49" charset="-122"/>
              </a:rPr>
              <a:t>  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物理寄存器数量不足时，会将一些伪寄存器泄露到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（</a:t>
            </a:r>
            <a:r>
              <a:rPr lang="en-US" altLang="zh-CN" sz="2400" b="0" i="1" dirty="0">
                <a:ea typeface="楷体_GB2312" pitchFamily="49" charset="-122"/>
              </a:rPr>
              <a:t>spilled into</a:t>
            </a:r>
            <a:r>
              <a:rPr lang="zh-CN" altLang="en-US" sz="2400" dirty="0">
                <a:ea typeface="楷体_GB2312" pitchFamily="49" charset="-122"/>
              </a:rPr>
              <a:t>）内存，图着色算法的核心任务是使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得泄露的伪寄存器数目最少</a:t>
            </a:r>
          </a:p>
        </p:txBody>
      </p:sp>
      <p:sp>
        <p:nvSpPr>
          <p:cNvPr id="100368" name="Rectangle 18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6"/>
          <p:cNvSpPr>
            <a:spLocks noChangeArrowheads="1"/>
          </p:cNvSpPr>
          <p:nvPr/>
        </p:nvSpPr>
        <p:spPr bwMode="auto">
          <a:xfrm>
            <a:off x="838200" y="1711325"/>
            <a:ext cx="8126413" cy="499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基于寄存器相干图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register-interference graph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    的图着色寄存器分配算法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构造寄存器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相干图</a:t>
            </a:r>
            <a:endParaRPr kumimoji="0" lang="zh-CN" altLang="en-US" sz="24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300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结点</a:t>
            </a:r>
            <a:r>
              <a:rPr lang="zh-CN" altLang="en-US" sz="2400" dirty="0">
                <a:ea typeface="楷体_GB2312" pitchFamily="49" charset="-122"/>
              </a:rPr>
              <a:t>：每一个伪寄存器为一个结点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边</a:t>
            </a:r>
            <a:r>
              <a:rPr lang="zh-CN" altLang="en-US" sz="2400" dirty="0">
                <a:ea typeface="楷体_GB2312" pitchFamily="49" charset="-122"/>
              </a:rPr>
              <a:t>：如果程序中存在某点，一个结点在该点被定义，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而另一个结点在该点是活跃的，则在这两个结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点间连一条边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对相干图进行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着色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coloring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1000" dirty="0">
                <a:ea typeface="楷体_GB2312" pitchFamily="49" charset="-122"/>
              </a:rPr>
              <a:t>  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使用</a:t>
            </a:r>
            <a:r>
              <a:rPr lang="en-US" altLang="zh-CN" sz="2400" b="0" i="1" dirty="0">
                <a:ea typeface="楷体_GB2312" pitchFamily="49" charset="-122"/>
              </a:rPr>
              <a:t>k</a:t>
            </a:r>
            <a:r>
              <a:rPr lang="zh-CN" altLang="en-US" sz="2400" dirty="0">
                <a:ea typeface="楷体_GB2312" pitchFamily="49" charset="-122"/>
              </a:rPr>
              <a:t>（物理寄存器数量）种颜色对相干图进行着色，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使任何相邻的结点具有不同的颜色（即两个相干的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伪寄存器不会分配到同一个物理寄存器）</a:t>
            </a:r>
          </a:p>
        </p:txBody>
      </p:sp>
      <p:sp>
        <p:nvSpPr>
          <p:cNvPr id="101379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0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1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2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3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4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5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6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7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8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9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90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91" name="Text Box 1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7478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简单的图着色物理寄存器分配算法</a:t>
            </a:r>
          </a:p>
        </p:txBody>
      </p:sp>
      <p:sp>
        <p:nvSpPr>
          <p:cNvPr id="101392" name="Rectangle 19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6"/>
          <p:cNvSpPr>
            <a:spLocks noChangeArrowheads="1"/>
          </p:cNvSpPr>
          <p:nvPr/>
        </p:nvSpPr>
        <p:spPr bwMode="auto">
          <a:xfrm>
            <a:off x="838201" y="1711325"/>
            <a:ext cx="41658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基于寄存器相干</a:t>
            </a:r>
            <a:r>
              <a:rPr lang="zh-CN" altLang="en-US" dirty="0" smtClean="0">
                <a:solidFill>
                  <a:srgbClr val="800080"/>
                </a:solidFill>
                <a:ea typeface="楷体_GB2312" pitchFamily="49" charset="-122"/>
              </a:rPr>
              <a:t>图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101392" name="Rectangle 19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212976"/>
            <a:ext cx="8400929" cy="3600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79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0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1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2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3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4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5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6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7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8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9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90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617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844824"/>
            <a:ext cx="2460776" cy="1550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91" name="Text Box 1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7478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sz="3200" dirty="0">
                <a:solidFill>
                  <a:srgbClr val="800080"/>
                </a:solidFill>
                <a:ea typeface="楷体_GB2312" pitchFamily="49" charset="-122"/>
              </a:rPr>
              <a:t>简单的图着色物理寄存器分配算法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4"/>
          <p:cNvSpPr>
            <a:spLocks noChangeArrowheads="1"/>
          </p:cNvSpPr>
          <p:nvPr/>
        </p:nvSpPr>
        <p:spPr bwMode="auto">
          <a:xfrm>
            <a:off x="838200" y="1752600"/>
            <a:ext cx="7886700" cy="477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一种启发式图着色算法</a:t>
            </a:r>
            <a:endParaRPr kumimoji="0" lang="zh-CN" altLang="en-US" dirty="0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“一个图是否能用 </a:t>
            </a:r>
            <a:r>
              <a:rPr lang="en-US" altLang="zh-CN" sz="2400" b="0" i="1" dirty="0">
                <a:ea typeface="楷体_GB2312" pitchFamily="49" charset="-122"/>
              </a:rPr>
              <a:t>k </a:t>
            </a:r>
            <a:r>
              <a:rPr lang="zh-CN" altLang="en-US" sz="2400" dirty="0">
                <a:ea typeface="楷体_GB2312" pitchFamily="49" charset="-122"/>
              </a:rPr>
              <a:t>种颜色着色”是 </a:t>
            </a:r>
            <a:r>
              <a:rPr lang="en-US" altLang="zh-CN" sz="2400" b="0" i="1" dirty="0">
                <a:ea typeface="楷体_GB2312" pitchFamily="49" charset="-122"/>
              </a:rPr>
              <a:t>NP-</a:t>
            </a:r>
            <a:r>
              <a:rPr lang="zh-CN" altLang="en-US" sz="2400" dirty="0">
                <a:ea typeface="楷体_GB2312" pitchFamily="49" charset="-122"/>
              </a:rPr>
              <a:t>完全问题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以下是一个简单的启发式 </a:t>
            </a:r>
            <a:r>
              <a:rPr lang="en-US" altLang="zh-CN" sz="2400" b="0" i="1" dirty="0">
                <a:ea typeface="楷体_GB2312" pitchFamily="49" charset="-122"/>
              </a:rPr>
              <a:t>k-</a:t>
            </a:r>
            <a:r>
              <a:rPr lang="zh-CN" altLang="en-US" sz="2400" dirty="0">
                <a:ea typeface="楷体_GB2312" pitchFamily="49" charset="-122"/>
              </a:rPr>
              <a:t>着色算法：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假设图 </a:t>
            </a:r>
            <a:r>
              <a:rPr lang="en-US" altLang="zh-CN" sz="2400" b="0" i="1" dirty="0">
                <a:ea typeface="楷体_GB2312" pitchFamily="49" charset="-122"/>
              </a:rPr>
              <a:t>G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中某个结点 </a:t>
            </a:r>
            <a:r>
              <a:rPr lang="en-US" altLang="zh-CN" sz="2400" b="0" i="1" dirty="0">
                <a:ea typeface="楷体_GB2312" pitchFamily="49" charset="-122"/>
              </a:rPr>
              <a:t>n </a:t>
            </a:r>
            <a:r>
              <a:rPr lang="zh-CN" altLang="en-US" sz="2400" dirty="0">
                <a:ea typeface="楷体_GB2312" pitchFamily="49" charset="-122"/>
              </a:rPr>
              <a:t>的度数小于 </a:t>
            </a:r>
            <a:r>
              <a:rPr lang="en-US" altLang="zh-CN" sz="2400" b="0" i="1" dirty="0">
                <a:ea typeface="楷体_GB2312" pitchFamily="49" charset="-122"/>
              </a:rPr>
              <a:t>k</a:t>
            </a:r>
            <a:r>
              <a:rPr lang="zh-CN" altLang="en-US" sz="2400" dirty="0">
                <a:ea typeface="楷体_GB2312" pitchFamily="49" charset="-122"/>
              </a:rPr>
              <a:t>，从</a:t>
            </a:r>
            <a:r>
              <a:rPr lang="en-US" altLang="zh-CN" sz="2400" b="0" i="1" dirty="0">
                <a:ea typeface="楷体_GB2312" pitchFamily="49" charset="-122"/>
              </a:rPr>
              <a:t>G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中删除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</a:t>
            </a:r>
            <a:r>
              <a:rPr lang="en-US" altLang="zh-CN" sz="2400" b="0" i="1" dirty="0">
                <a:ea typeface="楷体_GB2312" pitchFamily="49" charset="-122"/>
              </a:rPr>
              <a:t>n </a:t>
            </a:r>
            <a:r>
              <a:rPr lang="zh-CN" altLang="en-US" sz="2400" dirty="0">
                <a:ea typeface="楷体_GB2312" pitchFamily="49" charset="-122"/>
              </a:rPr>
              <a:t>及其邻边得到图 </a:t>
            </a:r>
            <a:r>
              <a:rPr lang="en-US" altLang="zh-CN" sz="2400" b="0" i="1" dirty="0">
                <a:ea typeface="楷体_GB2312" pitchFamily="49" charset="-122"/>
              </a:rPr>
              <a:t>G’</a:t>
            </a:r>
            <a:r>
              <a:rPr lang="zh-CN" altLang="en-US" sz="2400" dirty="0">
                <a:ea typeface="楷体_GB2312" pitchFamily="49" charset="-122"/>
              </a:rPr>
              <a:t>，对 </a:t>
            </a:r>
            <a:r>
              <a:rPr lang="en-US" altLang="zh-CN" sz="2400" b="0" i="1" dirty="0">
                <a:ea typeface="楷体_GB2312" pitchFamily="49" charset="-122"/>
              </a:rPr>
              <a:t>G </a:t>
            </a:r>
            <a:r>
              <a:rPr lang="zh-CN" altLang="en-US" sz="2400" dirty="0">
                <a:ea typeface="楷体_GB2312" pitchFamily="49" charset="-122"/>
              </a:rPr>
              <a:t>的</a:t>
            </a:r>
            <a:r>
              <a:rPr lang="en-US" altLang="zh-CN" sz="2400" b="0" i="1" dirty="0">
                <a:ea typeface="楷体_GB2312" pitchFamily="49" charset="-122"/>
              </a:rPr>
              <a:t>k-</a:t>
            </a:r>
            <a:r>
              <a:rPr lang="zh-CN" altLang="en-US" sz="2400" dirty="0">
                <a:ea typeface="楷体_GB2312" pitchFamily="49" charset="-122"/>
              </a:rPr>
              <a:t>着色问题可转化为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先对</a:t>
            </a:r>
            <a:r>
              <a:rPr lang="en-US" altLang="zh-CN" sz="2400" b="0" i="1" dirty="0">
                <a:ea typeface="楷体_GB2312" pitchFamily="49" charset="-122"/>
              </a:rPr>
              <a:t>G’ k-</a:t>
            </a:r>
            <a:r>
              <a:rPr lang="zh-CN" altLang="en-US" sz="2400" dirty="0">
                <a:ea typeface="楷体_GB2312" pitchFamily="49" charset="-122"/>
              </a:rPr>
              <a:t>着色，然后给结点 </a:t>
            </a:r>
            <a:r>
              <a:rPr lang="en-US" altLang="zh-CN" sz="2400" b="0" i="1" dirty="0">
                <a:ea typeface="楷体_GB2312" pitchFamily="49" charset="-122"/>
              </a:rPr>
              <a:t>n </a:t>
            </a:r>
            <a:r>
              <a:rPr lang="zh-CN" altLang="en-US" sz="2400" dirty="0">
                <a:ea typeface="楷体_GB2312" pitchFamily="49" charset="-122"/>
              </a:rPr>
              <a:t>分配一个其相邻结点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在 </a:t>
            </a:r>
            <a:r>
              <a:rPr lang="en-US" altLang="zh-CN" sz="2400" b="0" i="1" dirty="0">
                <a:ea typeface="楷体_GB2312" pitchFamily="49" charset="-122"/>
              </a:rPr>
              <a:t>G’ </a:t>
            </a:r>
            <a:r>
              <a:rPr lang="zh-CN" altLang="en-US" sz="2400" dirty="0">
                <a:ea typeface="楷体_GB2312" pitchFamily="49" charset="-122"/>
              </a:rPr>
              <a:t>的</a:t>
            </a:r>
            <a:r>
              <a:rPr lang="en-US" altLang="zh-CN" sz="2400" b="0" i="1" dirty="0">
                <a:ea typeface="楷体_GB2312" pitchFamily="49" charset="-122"/>
              </a:rPr>
              <a:t>k-</a:t>
            </a:r>
            <a:r>
              <a:rPr lang="zh-CN" altLang="en-US" sz="2400" dirty="0">
                <a:ea typeface="楷体_GB2312" pitchFamily="49" charset="-122"/>
              </a:rPr>
              <a:t>着色中没有使用过的颜色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重复这个过程从图中删除度数小于 </a:t>
            </a:r>
            <a:r>
              <a:rPr lang="en-US" altLang="zh-CN" sz="2400" b="0" i="1" dirty="0">
                <a:ea typeface="楷体_GB2312" pitchFamily="49" charset="-122"/>
              </a:rPr>
              <a:t>k </a:t>
            </a:r>
            <a:r>
              <a:rPr lang="zh-CN" altLang="en-US" sz="2400" dirty="0">
                <a:ea typeface="楷体_GB2312" pitchFamily="49" charset="-122"/>
              </a:rPr>
              <a:t>的结点，如果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可以到达一个空图，说明对原图可以成功实现 </a:t>
            </a:r>
            <a:r>
              <a:rPr lang="en-US" altLang="zh-CN" sz="2400" b="0" i="1" dirty="0">
                <a:ea typeface="楷体_GB2312" pitchFamily="49" charset="-122"/>
              </a:rPr>
              <a:t>k-</a:t>
            </a:r>
            <a:r>
              <a:rPr lang="zh-CN" altLang="en-US" sz="2400" dirty="0">
                <a:ea typeface="楷体_GB2312" pitchFamily="49" charset="-122"/>
              </a:rPr>
              <a:t>着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色；否则，原图不能成功实现 </a:t>
            </a:r>
            <a:r>
              <a:rPr lang="en-US" altLang="zh-CN" sz="2400" b="0" i="1" dirty="0">
                <a:ea typeface="楷体_GB2312" pitchFamily="49" charset="-122"/>
              </a:rPr>
              <a:t>k-</a:t>
            </a:r>
            <a:r>
              <a:rPr lang="zh-CN" altLang="en-US" sz="2400" dirty="0">
                <a:ea typeface="楷体_GB2312" pitchFamily="49" charset="-122"/>
              </a:rPr>
              <a:t>着色，可从 </a:t>
            </a:r>
            <a:r>
              <a:rPr lang="en-US" altLang="zh-CN" sz="2400" b="0" i="1" dirty="0">
                <a:ea typeface="楷体_GB2312" pitchFamily="49" charset="-122"/>
              </a:rPr>
              <a:t>G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中选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择某个结点作为泄露候选，将其删除，算法可继续</a:t>
            </a:r>
          </a:p>
        </p:txBody>
      </p:sp>
      <p:sp>
        <p:nvSpPr>
          <p:cNvPr id="10240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5" name="AutoShape 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6" name="AutoShape 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8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9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0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1" name="AutoShape 1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2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3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4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5" name="Text Box 1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93738" y="1052513"/>
            <a:ext cx="74787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简单的图着色物理寄存器分配算法</a:t>
            </a:r>
          </a:p>
        </p:txBody>
      </p:sp>
      <p:sp>
        <p:nvSpPr>
          <p:cNvPr id="102416" name="Rectangle 19"/>
          <p:cNvSpPr>
            <a:spLocks noChangeArrowheads="1"/>
          </p:cNvSpPr>
          <p:nvPr/>
        </p:nvSpPr>
        <p:spPr bwMode="auto">
          <a:xfrm>
            <a:off x="1524000" y="188913"/>
            <a:ext cx="43434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目标代码生成技术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03431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2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3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4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5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6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7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8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9" name="Rectangle 17"/>
          <p:cNvSpPr>
            <a:spLocks noChangeArrowheads="1"/>
          </p:cNvSpPr>
          <p:nvPr/>
        </p:nvSpPr>
        <p:spPr bwMode="auto">
          <a:xfrm>
            <a:off x="990600" y="1752600"/>
            <a:ext cx="6172200" cy="490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依优化范围划分</a:t>
            </a:r>
            <a:endParaRPr kumimoji="0" lang="zh-CN" altLang="en-US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窥孔优化</a:t>
            </a:r>
            <a:r>
              <a:rPr lang="zh-CN" altLang="en-US" sz="2400">
                <a:ea typeface="楷体_GB2312" pitchFamily="49" charset="-122"/>
              </a:rPr>
              <a:t>（</a:t>
            </a:r>
            <a:r>
              <a:rPr lang="en-US" altLang="zh-CN" sz="2400" b="0" i="1">
                <a:ea typeface="楷体_GB2312" pitchFamily="49" charset="-122"/>
              </a:rPr>
              <a:t>peephole optimization</a:t>
            </a:r>
            <a:r>
              <a:rPr lang="zh-CN" altLang="en-US" sz="240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局部的几条指令范围内的优化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局部优化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基本块范围内的优化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全局优化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流图范围内的优化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过程间优化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整个程序范围内的优化</a:t>
            </a:r>
            <a:endParaRPr lang="zh-CN" altLang="en-US" sz="1000">
              <a:ea typeface="楷体_GB2312" pitchFamily="49" charset="-122"/>
            </a:endParaRPr>
          </a:p>
        </p:txBody>
      </p:sp>
      <p:sp>
        <p:nvSpPr>
          <p:cNvPr id="103440" name="Text Box 1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066800"/>
            <a:ext cx="5943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简单的归类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0445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9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0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1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2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3" name="Rectangle 15"/>
          <p:cNvSpPr>
            <a:spLocks noChangeArrowheads="1"/>
          </p:cNvSpPr>
          <p:nvPr/>
        </p:nvSpPr>
        <p:spPr bwMode="auto">
          <a:xfrm>
            <a:off x="990600" y="2057400"/>
            <a:ext cx="6172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依优化对象划分</a:t>
            </a:r>
            <a:endParaRPr kumimoji="0" lang="zh-CN" altLang="en-US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目标代码优化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面向目标代码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中间代码优化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面向程序的中间表示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源级优化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面向源程序</a:t>
            </a:r>
          </a:p>
        </p:txBody>
      </p:sp>
      <p:sp>
        <p:nvSpPr>
          <p:cNvPr id="104464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295400"/>
            <a:ext cx="5943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简单的归类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5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6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7" name="AutoShape 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8" name="Rectangle 7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05479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0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1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2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3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4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5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6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7" name="Rectangle 16"/>
          <p:cNvSpPr>
            <a:spLocks noChangeArrowheads="1"/>
          </p:cNvSpPr>
          <p:nvPr/>
        </p:nvSpPr>
        <p:spPr bwMode="auto">
          <a:xfrm>
            <a:off x="990600" y="1628775"/>
            <a:ext cx="6172200" cy="515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依优化侧面划分</a:t>
            </a:r>
            <a:endParaRPr kumimoji="0" lang="zh-CN" altLang="en-US">
              <a:solidFill>
                <a:srgbClr val="800080"/>
              </a:solidFill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指令调度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寄存器分配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存储层次优化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存储布局优化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循环优化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控制流优化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过程优化</a:t>
            </a:r>
            <a:endParaRPr lang="zh-CN" altLang="en-US" sz="2400"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……</a:t>
            </a:r>
          </a:p>
        </p:txBody>
      </p:sp>
      <p:sp>
        <p:nvSpPr>
          <p:cNvPr id="105488" name="Text Box 1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62000" y="1052513"/>
            <a:ext cx="5943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简单的归类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499" name="AutoShape 2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0" name="AutoShape 2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1" name="AutoShape 2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2" name="Rectangle 30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06503" name="AutoShape 3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4" name="AutoShape 3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5" name="AutoShape 3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6" name="AutoShape 3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7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8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9" name="AutoShape 37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0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1" name="Rectangle 39"/>
          <p:cNvSpPr>
            <a:spLocks noChangeArrowheads="1"/>
          </p:cNvSpPr>
          <p:nvPr/>
        </p:nvSpPr>
        <p:spPr bwMode="auto">
          <a:xfrm>
            <a:off x="755650" y="2120900"/>
            <a:ext cx="8208963" cy="161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工作方式  </a:t>
            </a:r>
            <a:r>
              <a:rPr lang="zh-CN" altLang="en-US" sz="2400">
                <a:ea typeface="楷体_GB2312" pitchFamily="49" charset="-122"/>
              </a:rPr>
              <a:t>在目标指令序列上滑动一个包含几条指令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 的窗口（称为窥孔），发现其中不够优化的指令序列，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 用一段更短或更有效的指令序列来替代它，使整个代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None/>
            </a:pPr>
            <a:r>
              <a:rPr lang="zh-CN" altLang="en-US" sz="2400">
                <a:ea typeface="楷体_GB2312" pitchFamily="49" charset="-122"/>
              </a:rPr>
              <a:t>      码得到改进</a:t>
            </a: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</p:txBody>
      </p:sp>
      <p:sp>
        <p:nvSpPr>
          <p:cNvPr id="106512" name="Text Box 40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9750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6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0752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2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3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4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5" name="Rectangle 15"/>
          <p:cNvSpPr>
            <a:spLocks noChangeArrowheads="1"/>
          </p:cNvSpPr>
          <p:nvPr/>
        </p:nvSpPr>
        <p:spPr bwMode="auto">
          <a:xfrm>
            <a:off x="684213" y="2120900"/>
            <a:ext cx="8459787" cy="341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删除冗余的“取”和“存”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redundant loads and stores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指令序列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MOV   R0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a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2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MOV   a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R0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可优化为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MOV   R0</a:t>
            </a:r>
            <a:r>
              <a:rPr lang="zh-CN" altLang="en-US" sz="2000" b="0" dirty="0">
                <a:ea typeface="楷体_GB2312" pitchFamily="49" charset="-122"/>
              </a:rPr>
              <a:t>，</a:t>
            </a:r>
            <a:r>
              <a:rPr lang="en-US" altLang="zh-CN" sz="2000" b="0" dirty="0">
                <a:ea typeface="楷体_GB2312" pitchFamily="49" charset="-122"/>
              </a:rPr>
              <a:t>a</a:t>
            </a:r>
          </a:p>
        </p:txBody>
      </p:sp>
      <p:sp>
        <p:nvSpPr>
          <p:cNvPr id="107536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68313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7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8" name="AutoShape 1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9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0" name="Rectangle 21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08551" name="AutoShape 2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2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3" name="AutoShape 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4" name="AutoShape 2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5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6" name="AutoShape 2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7" name="AutoShape 2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8" name="AutoShape 2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9" name="Rectangle 30"/>
          <p:cNvSpPr>
            <a:spLocks noChangeArrowheads="1"/>
          </p:cNvSpPr>
          <p:nvPr/>
        </p:nvSpPr>
        <p:spPr bwMode="auto">
          <a:xfrm>
            <a:off x="876300" y="2120900"/>
            <a:ext cx="81153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合并已知量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 smtClean="0">
                <a:ea typeface="楷体_GB2312" pitchFamily="49" charset="-122"/>
              </a:rPr>
              <a:t>constant </a:t>
            </a:r>
            <a:r>
              <a:rPr lang="en-US" altLang="zh-CN" sz="2400" b="0" i="1" dirty="0">
                <a:ea typeface="楷体_GB2312" pitchFamily="49" charset="-122"/>
              </a:rPr>
              <a:t>folding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代码序列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r2:=3*2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可优化为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r2:=6</a:t>
            </a:r>
          </a:p>
        </p:txBody>
      </p:sp>
      <p:sp>
        <p:nvSpPr>
          <p:cNvPr id="108560" name="Text Box 31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0957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9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80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81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82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83" name="Rectangle 15"/>
          <p:cNvSpPr>
            <a:spLocks noChangeArrowheads="1"/>
          </p:cNvSpPr>
          <p:nvPr/>
        </p:nvSpPr>
        <p:spPr bwMode="auto">
          <a:xfrm>
            <a:off x="432817" y="1998663"/>
            <a:ext cx="8675687" cy="437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常量传播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constants propagating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代码序列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r2:=4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2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r3:=r1+r2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可优化为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>
                <a:ea typeface="楷体_GB2312" pitchFamily="49" charset="-122"/>
              </a:rPr>
              <a:t>            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r2:=4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2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r3:=r1+ 4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2000" b="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</a:t>
            </a:r>
            <a:r>
              <a:rPr lang="zh-CN" altLang="en-US" sz="2400" dirty="0">
                <a:ea typeface="楷体_GB2312" pitchFamily="49" charset="-122"/>
              </a:rPr>
              <a:t>注：虽然条数未少，但</a:t>
            </a:r>
            <a:r>
              <a:rPr lang="zh-CN" altLang="en-US" sz="2400" dirty="0" smtClean="0">
                <a:ea typeface="楷体_GB2312" pitchFamily="49" charset="-122"/>
              </a:rPr>
              <a:t>若是知道</a:t>
            </a:r>
            <a:r>
              <a:rPr lang="en-US" altLang="zh-CN" sz="2000" b="0" dirty="0" smtClean="0">
                <a:ea typeface="楷体_GB2312" pitchFamily="49" charset="-122"/>
              </a:rPr>
              <a:t>r2</a:t>
            </a:r>
            <a:r>
              <a:rPr lang="zh-CN" altLang="en-US" sz="2400" dirty="0" smtClean="0">
                <a:ea typeface="楷体_GB2312" pitchFamily="49" charset="-122"/>
              </a:rPr>
              <a:t>不再活跃</a:t>
            </a:r>
            <a:r>
              <a:rPr lang="zh-CN" altLang="en-US" sz="2400" dirty="0">
                <a:ea typeface="楷体_GB2312" pitchFamily="49" charset="-122"/>
              </a:rPr>
              <a:t>时，可删除（</a:t>
            </a:r>
            <a:r>
              <a:rPr lang="en-US" altLang="zh-CN" sz="2400" b="0" dirty="0">
                <a:ea typeface="楷体_GB2312" pitchFamily="49" charset="-122"/>
              </a:rPr>
              <a:t>1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</p:txBody>
      </p:sp>
      <p:sp>
        <p:nvSpPr>
          <p:cNvPr id="109584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81000" y="1249363"/>
            <a:ext cx="6934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59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59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59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0599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0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1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2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3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4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5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6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7" name="Rectangle 15"/>
          <p:cNvSpPr>
            <a:spLocks noChangeArrowheads="1"/>
          </p:cNvSpPr>
          <p:nvPr/>
        </p:nvSpPr>
        <p:spPr bwMode="auto">
          <a:xfrm>
            <a:off x="876300" y="2120900"/>
            <a:ext cx="8115300" cy="319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代数化简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algebraic simplification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代码序列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x:=x+0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2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……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n</a:t>
            </a:r>
            <a:r>
              <a:rPr lang="zh-CN" altLang="en-US" sz="2000" b="0" dirty="0">
                <a:ea typeface="楷体_GB2312" pitchFamily="49" charset="-122"/>
              </a:rPr>
              <a:t>）  </a:t>
            </a:r>
            <a:r>
              <a:rPr lang="en-US" altLang="zh-CN" sz="2000" b="0" dirty="0">
                <a:ea typeface="楷体_GB2312" pitchFamily="49" charset="-122"/>
              </a:rPr>
              <a:t>y:=y*1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中的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1</a:t>
            </a:r>
            <a:r>
              <a:rPr lang="zh-CN" altLang="en-US" sz="2000" b="0" dirty="0">
                <a:ea typeface="楷体_GB2312" pitchFamily="49" charset="-122"/>
              </a:rPr>
              <a:t>）</a:t>
            </a:r>
            <a:r>
              <a:rPr lang="en-US" altLang="zh-CN" sz="2000" b="0" dirty="0">
                <a:ea typeface="楷体_GB2312" pitchFamily="49" charset="-122"/>
              </a:rPr>
              <a:t>,</a:t>
            </a:r>
            <a:r>
              <a:rPr lang="zh-CN" altLang="en-US" sz="2000" b="0" dirty="0">
                <a:ea typeface="楷体_GB2312" pitchFamily="49" charset="-122"/>
              </a:rPr>
              <a:t>（</a:t>
            </a:r>
            <a:r>
              <a:rPr lang="en-US" altLang="zh-CN" sz="2000" b="0" dirty="0">
                <a:ea typeface="楷体_GB2312" pitchFamily="49" charset="-122"/>
              </a:rPr>
              <a:t>n</a:t>
            </a:r>
            <a:r>
              <a:rPr lang="zh-CN" altLang="en-US" sz="2000" b="0" dirty="0">
                <a:ea typeface="楷体_GB2312" pitchFamily="49" charset="-122"/>
              </a:rPr>
              <a:t>）</a:t>
            </a:r>
            <a:r>
              <a:rPr lang="zh-CN" altLang="en-US" sz="2400" dirty="0">
                <a:ea typeface="楷体_GB2312" pitchFamily="49" charset="-122"/>
              </a:rPr>
              <a:t>可在窥孔优化时删除</a:t>
            </a:r>
          </a:p>
        </p:txBody>
      </p:sp>
      <p:sp>
        <p:nvSpPr>
          <p:cNvPr id="110608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162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4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5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6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7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8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9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0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1" name="Rectangle 15"/>
          <p:cNvSpPr>
            <a:spLocks noChangeArrowheads="1"/>
          </p:cNvSpPr>
          <p:nvPr/>
        </p:nvSpPr>
        <p:spPr bwMode="auto">
          <a:xfrm>
            <a:off x="876300" y="2120900"/>
            <a:ext cx="8115300" cy="420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控制流优化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flow-of-control optimization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代码序列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>
                <a:ea typeface="楷体_GB2312" pitchFamily="49" charset="-122"/>
              </a:rPr>
              <a:t>                        </a:t>
            </a:r>
            <a:r>
              <a:rPr lang="en-US" altLang="zh-CN" sz="2000" b="0" dirty="0" err="1">
                <a:ea typeface="楷体_GB2312" pitchFamily="49" charset="-122"/>
              </a:rPr>
              <a:t>goto</a:t>
            </a:r>
            <a:r>
              <a:rPr lang="en-US" altLang="zh-CN" sz="2000" b="0" dirty="0">
                <a:ea typeface="楷体_GB2312" pitchFamily="49" charset="-122"/>
              </a:rPr>
              <a:t> L1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            ……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L1:       </a:t>
            </a:r>
            <a:r>
              <a:rPr lang="en-US" altLang="zh-CN" sz="2000" b="0" dirty="0" err="1">
                <a:ea typeface="楷体_GB2312" pitchFamily="49" charset="-122"/>
              </a:rPr>
              <a:t>goto</a:t>
            </a:r>
            <a:r>
              <a:rPr lang="en-US" altLang="zh-CN" sz="2000" b="0" dirty="0">
                <a:ea typeface="楷体_GB2312" pitchFamily="49" charset="-122"/>
              </a:rPr>
              <a:t> L2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可替换为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>
                <a:ea typeface="楷体_GB2312" pitchFamily="49" charset="-122"/>
              </a:rPr>
              <a:t>                        </a:t>
            </a:r>
            <a:r>
              <a:rPr lang="en-US" altLang="zh-CN" sz="2000" b="0" dirty="0" err="1">
                <a:ea typeface="楷体_GB2312" pitchFamily="49" charset="-122"/>
              </a:rPr>
              <a:t>goto</a:t>
            </a:r>
            <a:r>
              <a:rPr lang="en-US" altLang="zh-CN" sz="2000" b="0" dirty="0">
                <a:ea typeface="楷体_GB2312" pitchFamily="49" charset="-122"/>
              </a:rPr>
              <a:t> L2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            ……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        L1:       </a:t>
            </a:r>
            <a:r>
              <a:rPr lang="en-US" altLang="zh-CN" sz="2000" b="0" dirty="0" err="1">
                <a:ea typeface="楷体_GB2312" pitchFamily="49" charset="-122"/>
              </a:rPr>
              <a:t>goto</a:t>
            </a:r>
            <a:r>
              <a:rPr lang="en-US" altLang="zh-CN" sz="2000" b="0" dirty="0">
                <a:ea typeface="楷体_GB2312" pitchFamily="49" charset="-122"/>
              </a:rPr>
              <a:t> L2</a:t>
            </a:r>
            <a:endParaRPr lang="en-US" altLang="zh-CN" sz="2400" dirty="0">
              <a:ea typeface="楷体_GB2312" pitchFamily="49" charset="-122"/>
            </a:endParaRPr>
          </a:p>
        </p:txBody>
      </p:sp>
      <p:sp>
        <p:nvSpPr>
          <p:cNvPr id="111632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264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2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3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4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5" name="Rectangle 15"/>
          <p:cNvSpPr>
            <a:spLocks noChangeArrowheads="1"/>
          </p:cNvSpPr>
          <p:nvPr/>
        </p:nvSpPr>
        <p:spPr bwMode="auto">
          <a:xfrm>
            <a:off x="876300" y="2120900"/>
            <a:ext cx="7277100" cy="390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死代码删除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dead-code elimination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代码序列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 smtClean="0">
                <a:ea typeface="楷体_GB2312" pitchFamily="49" charset="-122"/>
              </a:rPr>
              <a:t>                        </a:t>
            </a:r>
            <a:r>
              <a:rPr lang="en-US" altLang="zh-CN" sz="2000" b="0" dirty="0" smtClean="0">
                <a:ea typeface="楷体_GB2312" pitchFamily="49" charset="-122"/>
              </a:rPr>
              <a:t>debug := false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 smtClean="0">
                <a:ea typeface="楷体_GB2312" pitchFamily="49" charset="-122"/>
              </a:rPr>
              <a:t>                        if (debug) print …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 smtClean="0">
                <a:ea typeface="楷体_GB2312" pitchFamily="49" charset="-122"/>
              </a:rPr>
              <a:t>                        ……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 smtClean="0">
                <a:ea typeface="楷体_GB2312" pitchFamily="49" charset="-122"/>
              </a:rPr>
              <a:t>   </a:t>
            </a:r>
            <a:r>
              <a:rPr lang="zh-CN" altLang="en-US" sz="2400" dirty="0" smtClean="0">
                <a:ea typeface="楷体_GB2312" pitchFamily="49" charset="-122"/>
              </a:rPr>
              <a:t>可替换为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 smtClean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b="0" dirty="0" smtClean="0">
                <a:ea typeface="楷体_GB2312" pitchFamily="49" charset="-122"/>
              </a:rPr>
              <a:t>                        </a:t>
            </a:r>
            <a:r>
              <a:rPr lang="en-US" altLang="zh-CN" sz="2000" b="0" dirty="0" smtClean="0">
                <a:ea typeface="楷体_GB2312" pitchFamily="49" charset="-122"/>
              </a:rPr>
              <a:t>debug := false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 smtClean="0">
                <a:ea typeface="楷体_GB2312" pitchFamily="49" charset="-122"/>
              </a:rPr>
              <a:t>                        ……</a:t>
            </a:r>
            <a:endParaRPr lang="en-US" altLang="zh-CN" sz="2000" b="0" dirty="0">
              <a:ea typeface="楷体_GB2312" pitchFamily="49" charset="-122"/>
            </a:endParaRPr>
          </a:p>
        </p:txBody>
      </p:sp>
      <p:sp>
        <p:nvSpPr>
          <p:cNvPr id="112656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6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6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6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367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5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6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7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8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9" name="Rectangle 15"/>
          <p:cNvSpPr>
            <a:spLocks noChangeArrowheads="1"/>
          </p:cNvSpPr>
          <p:nvPr/>
        </p:nvSpPr>
        <p:spPr bwMode="auto">
          <a:xfrm>
            <a:off x="876300" y="2120900"/>
            <a:ext cx="8115300" cy="207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强度削弱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reduction in strength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</a:t>
            </a:r>
            <a:r>
              <a:rPr lang="zh-CN" altLang="en-US" sz="2000" b="0" dirty="0">
                <a:ea typeface="楷体_GB2312" pitchFamily="49" charset="-122"/>
              </a:rPr>
              <a:t>       </a:t>
            </a:r>
            <a:r>
              <a:rPr lang="en-US" altLang="zh-CN" sz="2000" b="0" dirty="0">
                <a:ea typeface="楷体_GB2312" pitchFamily="49" charset="-122"/>
              </a:rPr>
              <a:t>x:=2.0*f</a:t>
            </a: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可替换为</a:t>
            </a:r>
            <a:r>
              <a:rPr lang="zh-CN" altLang="en-US" sz="2000" b="0" dirty="0">
                <a:ea typeface="楷体_GB2312" pitchFamily="49" charset="-122"/>
              </a:rPr>
              <a:t>     </a:t>
            </a:r>
            <a:r>
              <a:rPr lang="en-US" altLang="zh-CN" sz="2000" b="0" dirty="0">
                <a:ea typeface="楷体_GB2312" pitchFamily="49" charset="-122"/>
              </a:rPr>
              <a:t>x:=</a:t>
            </a:r>
            <a:r>
              <a:rPr lang="en-US" altLang="zh-CN" sz="2000" b="0" dirty="0" err="1">
                <a:ea typeface="楷体_GB2312" pitchFamily="49" charset="-122"/>
              </a:rPr>
              <a:t>f+f</a:t>
            </a:r>
            <a:endParaRPr lang="en-US" altLang="zh-CN" sz="2000" b="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dirty="0">
                <a:ea typeface="楷体_GB2312" pitchFamily="49" charset="-122"/>
              </a:rPr>
              <a:t>   </a:t>
            </a:r>
            <a:r>
              <a:rPr lang="en-US" altLang="zh-CN" sz="2000" b="0" dirty="0">
                <a:ea typeface="楷体_GB2312" pitchFamily="49" charset="-122"/>
              </a:rPr>
              <a:t>       x:=f/ 2.0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可替换为</a:t>
            </a:r>
            <a:r>
              <a:rPr lang="zh-CN" altLang="en-US" sz="2000" b="0" dirty="0">
                <a:ea typeface="楷体_GB2312" pitchFamily="49" charset="-122"/>
              </a:rPr>
              <a:t>     </a:t>
            </a:r>
            <a:r>
              <a:rPr lang="en-US" altLang="zh-CN" sz="2000" b="0" dirty="0">
                <a:ea typeface="楷体_GB2312" pitchFamily="49" charset="-122"/>
              </a:rPr>
              <a:t>x:=f*0.5                        </a:t>
            </a:r>
          </a:p>
        </p:txBody>
      </p:sp>
      <p:sp>
        <p:nvSpPr>
          <p:cNvPr id="113680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1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2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3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4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4695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7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9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0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1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2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3" name="Rectangle 15"/>
          <p:cNvSpPr>
            <a:spLocks noChangeArrowheads="1"/>
          </p:cNvSpPr>
          <p:nvPr/>
        </p:nvSpPr>
        <p:spPr bwMode="auto">
          <a:xfrm>
            <a:off x="755650" y="2120900"/>
            <a:ext cx="8235950" cy="316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使用目标机惯用指令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use of idioms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某个操作数与</a:t>
            </a:r>
            <a:r>
              <a:rPr lang="en-US" altLang="zh-CN" sz="2400" b="0" i="1" dirty="0">
                <a:ea typeface="楷体_GB2312" pitchFamily="49" charset="-122"/>
              </a:rPr>
              <a:t>1 </a:t>
            </a:r>
            <a:r>
              <a:rPr lang="zh-CN" altLang="en-US" sz="2400" dirty="0">
                <a:ea typeface="楷体_GB2312" pitchFamily="49" charset="-122"/>
              </a:rPr>
              <a:t>相加，通常用“加</a:t>
            </a:r>
            <a:r>
              <a:rPr lang="en-US" altLang="zh-CN" sz="2400" b="0" i="1" dirty="0">
                <a:ea typeface="楷体_GB2312" pitchFamily="49" charset="-122"/>
              </a:rPr>
              <a:t>1</a:t>
            </a:r>
            <a:r>
              <a:rPr lang="en-US" altLang="zh-CN" sz="2400" dirty="0">
                <a:ea typeface="楷体_GB2312" pitchFamily="49" charset="-122"/>
              </a:rPr>
              <a:t>”</a:t>
            </a:r>
            <a:r>
              <a:rPr lang="zh-CN" altLang="en-US" sz="2400" dirty="0">
                <a:ea typeface="楷体_GB2312" pitchFamily="49" charset="-122"/>
              </a:rPr>
              <a:t>指令，而不是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用“加”指令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某个定点数乘以</a:t>
            </a:r>
            <a:r>
              <a:rPr lang="en-US" altLang="zh-CN" sz="2400" b="0" i="1" dirty="0">
                <a:ea typeface="楷体_GB2312" pitchFamily="49" charset="-122"/>
              </a:rPr>
              <a:t>2 </a:t>
            </a:r>
            <a:r>
              <a:rPr lang="zh-CN" altLang="en-US" sz="2400" dirty="0">
                <a:ea typeface="楷体_GB2312" pitchFamily="49" charset="-122"/>
              </a:rPr>
              <a:t>，可以采用“左移”指令；而除以</a:t>
            </a:r>
            <a:r>
              <a:rPr lang="en-US" altLang="zh-CN" sz="2400" b="0" i="1" dirty="0">
                <a:ea typeface="楷体_GB2312" pitchFamily="49" charset="-122"/>
              </a:rPr>
              <a:t>2 </a:t>
            </a:r>
            <a:r>
              <a:rPr lang="zh-CN" altLang="en-US" sz="2400" dirty="0">
                <a:ea typeface="楷体_GB2312" pitchFamily="49" charset="-122"/>
              </a:rPr>
              <a:t>，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则可以采用“右移”指令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</a:t>
            </a:r>
            <a:r>
              <a:rPr lang="en-US" altLang="zh-CN" sz="2400" dirty="0">
                <a:ea typeface="楷体_GB2312" pitchFamily="49" charset="-122"/>
              </a:rPr>
              <a:t>…</a:t>
            </a:r>
            <a:endParaRPr lang="en-US" altLang="zh-CN" sz="2000" b="0" dirty="0">
              <a:ea typeface="楷体_GB2312" pitchFamily="49" charset="-122"/>
            </a:endParaRPr>
          </a:p>
        </p:txBody>
      </p:sp>
      <p:sp>
        <p:nvSpPr>
          <p:cNvPr id="114704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39750" y="12954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窥孔优化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peephole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AutoShape 3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5" name="AutoShape 3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6" name="AutoShape 3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7" name="AutoShape 3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8" name="Rectangle 38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5719" name="AutoShape 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0" name="AutoShape 4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1" name="AutoShape 4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2" name="AutoShape 4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3" name="AutoShape 4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4" name="AutoShape 4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5" name="AutoShape 4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6" name="AutoShape 4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7" name="Rectangle 47"/>
          <p:cNvSpPr>
            <a:spLocks noChangeArrowheads="1"/>
          </p:cNvSpPr>
          <p:nvPr/>
        </p:nvSpPr>
        <p:spPr bwMode="auto">
          <a:xfrm>
            <a:off x="876300" y="2120900"/>
            <a:ext cx="8115300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en-US" altLang="zh-CN" sz="2400" b="0" i="1">
                <a:ea typeface="楷体_GB2312" pitchFamily="49" charset="-122"/>
              </a:rPr>
              <a:t>DAG</a:t>
            </a:r>
            <a:r>
              <a:rPr lang="en-US" altLang="zh-CN" sz="2400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的构造过程中已经进行过一些基本块内的优化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       合并已知量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       删除多余运算（公共表达式删除）</a:t>
            </a:r>
            <a:endParaRPr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       删除无用赋值</a:t>
            </a:r>
          </a:p>
        </p:txBody>
      </p:sp>
      <p:sp>
        <p:nvSpPr>
          <p:cNvPr id="115728" name="Text Box 4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295400"/>
            <a:ext cx="7810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基本块内的优化</a:t>
            </a:r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39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1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6743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5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6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7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8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9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0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1" name="Rectangle 15"/>
          <p:cNvSpPr>
            <a:spLocks noChangeArrowheads="1"/>
          </p:cNvSpPr>
          <p:nvPr/>
        </p:nvSpPr>
        <p:spPr bwMode="auto">
          <a:xfrm>
            <a:off x="876300" y="2120900"/>
            <a:ext cx="8115300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借助于针对流图的数据流分析进行的优化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 例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       全局公共表达式删除</a:t>
            </a:r>
            <a:endParaRPr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       全局死代码删除</a:t>
            </a:r>
            <a:r>
              <a:rPr lang="zh-CN" altLang="en-US" sz="2400">
                <a:ea typeface="楷体_GB2312" pitchFamily="49" charset="-122"/>
              </a:rPr>
              <a:t>（删除从流图入口不能到达的代码）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      </a:t>
            </a:r>
            <a:r>
              <a:rPr lang="en-US" altLang="zh-CN" sz="2400">
                <a:ea typeface="楷体_GB2312" pitchFamily="49" charset="-122"/>
              </a:rPr>
              <a:t>……</a:t>
            </a:r>
          </a:p>
        </p:txBody>
      </p:sp>
      <p:sp>
        <p:nvSpPr>
          <p:cNvPr id="116752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295400"/>
            <a:ext cx="7810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全局优化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global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3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4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5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776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8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9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0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2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3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4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5" name="Rectangle 15"/>
          <p:cNvSpPr>
            <a:spLocks noChangeArrowheads="1"/>
          </p:cNvSpPr>
          <p:nvPr/>
        </p:nvSpPr>
        <p:spPr bwMode="auto">
          <a:xfrm>
            <a:off x="876300" y="1862138"/>
            <a:ext cx="8115300" cy="420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r>
              <a:rPr lang="zh-CN" altLang="en-US" dirty="0">
                <a:ea typeface="楷体_GB2312" pitchFamily="49" charset="-122"/>
              </a:rPr>
              <a:t>（选讲</a:t>
            </a:r>
            <a:r>
              <a:rPr lang="zh-CN" altLang="en-GB" dirty="0">
                <a:ea typeface="楷体_GB2312" pitchFamily="49" charset="-122"/>
              </a:rPr>
              <a:t>）</a:t>
            </a:r>
            <a:endParaRPr lang="zh-CN" altLang="en-US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代码外提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code motion</a:t>
            </a:r>
            <a:r>
              <a:rPr lang="zh-CN" altLang="en-US" sz="2400" dirty="0">
                <a:ea typeface="楷体_GB2312" pitchFamily="49" charset="-122"/>
              </a:rPr>
              <a:t>）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             </a:t>
            </a:r>
            <a:r>
              <a:rPr lang="en-US" altLang="zh-CN" sz="2400" b="0" dirty="0">
                <a:ea typeface="楷体_GB2312" pitchFamily="49" charset="-122"/>
              </a:rPr>
              <a:t>while </a:t>
            </a:r>
            <a:r>
              <a:rPr lang="zh-CN" altLang="en-US" sz="2400" b="0" dirty="0">
                <a:ea typeface="楷体_GB2312" pitchFamily="49" charset="-122"/>
              </a:rPr>
              <a:t>（</a:t>
            </a:r>
            <a:r>
              <a:rPr lang="en-US" altLang="zh-CN" sz="2400" b="0" dirty="0" err="1">
                <a:ea typeface="楷体_GB2312" pitchFamily="49" charset="-122"/>
              </a:rPr>
              <a:t>i</a:t>
            </a:r>
            <a:r>
              <a:rPr lang="en-US" altLang="zh-CN" sz="2400" b="0" dirty="0">
                <a:ea typeface="楷体_GB2312" pitchFamily="49" charset="-122"/>
              </a:rPr>
              <a:t>&lt; limit/2</a:t>
            </a:r>
            <a:r>
              <a:rPr lang="zh-CN" altLang="en-US" sz="2400" b="0" dirty="0">
                <a:ea typeface="楷体_GB2312" pitchFamily="49" charset="-122"/>
              </a:rPr>
              <a:t>）</a:t>
            </a:r>
            <a:r>
              <a:rPr lang="en-US" altLang="zh-CN" sz="2400" b="0" dirty="0">
                <a:ea typeface="楷体_GB2312" pitchFamily="49" charset="-122"/>
              </a:rPr>
              <a:t>{…}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b="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0" dirty="0">
                <a:ea typeface="楷体_GB2312" pitchFamily="49" charset="-122"/>
              </a:rPr>
              <a:t>    </a:t>
            </a:r>
            <a:r>
              <a:rPr lang="zh-CN" altLang="en-US" sz="2400" dirty="0">
                <a:ea typeface="楷体_GB2312" pitchFamily="49" charset="-122"/>
              </a:rPr>
              <a:t>等价于  </a:t>
            </a:r>
            <a:r>
              <a:rPr lang="en-US" altLang="zh-CN" sz="2400" b="0" dirty="0">
                <a:ea typeface="楷体_GB2312" pitchFamily="49" charset="-122"/>
              </a:rPr>
              <a:t>t:=limit/2;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0" dirty="0">
                <a:ea typeface="楷体_GB2312" pitchFamily="49" charset="-122"/>
              </a:rPr>
              <a:t>                while </a:t>
            </a:r>
            <a:r>
              <a:rPr lang="zh-CN" altLang="en-US" sz="2400" b="0" dirty="0">
                <a:ea typeface="楷体_GB2312" pitchFamily="49" charset="-122"/>
              </a:rPr>
              <a:t>（</a:t>
            </a:r>
            <a:r>
              <a:rPr lang="en-US" altLang="zh-CN" sz="2400" b="0" dirty="0" err="1">
                <a:ea typeface="楷体_GB2312" pitchFamily="49" charset="-122"/>
              </a:rPr>
              <a:t>i</a:t>
            </a:r>
            <a:r>
              <a:rPr lang="en-US" altLang="zh-CN" sz="2400" b="0" dirty="0">
                <a:ea typeface="楷体_GB2312" pitchFamily="49" charset="-122"/>
              </a:rPr>
              <a:t>&lt; t</a:t>
            </a:r>
            <a:r>
              <a:rPr lang="zh-CN" altLang="en-US" sz="2400" b="0" dirty="0">
                <a:ea typeface="楷体_GB2312" pitchFamily="49" charset="-122"/>
              </a:rPr>
              <a:t>）</a:t>
            </a:r>
            <a:r>
              <a:rPr lang="en-US" altLang="zh-CN" sz="2400" b="0" dirty="0">
                <a:ea typeface="楷体_GB2312" pitchFamily="49" charset="-122"/>
              </a:rPr>
              <a:t>{…}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b="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zh-CN" sz="2400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循环不变量</a:t>
            </a:r>
            <a:r>
              <a:rPr lang="zh-CN" altLang="en-US" sz="2400" dirty="0">
                <a:ea typeface="楷体_GB2312" pitchFamily="49" charset="-122"/>
              </a:rPr>
              <a:t>（</a:t>
            </a:r>
            <a:r>
              <a:rPr lang="en-US" altLang="zh-CN" sz="2400" b="0" i="1" dirty="0">
                <a:ea typeface="楷体_GB2312" pitchFamily="49" charset="-122"/>
              </a:rPr>
              <a:t>loop-invariant</a:t>
            </a:r>
            <a:r>
              <a:rPr lang="zh-CN" altLang="en-US" sz="2400" dirty="0">
                <a:ea typeface="楷体_GB2312" pitchFamily="49" charset="-122"/>
              </a:rPr>
              <a:t>）代码可以外提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借助于 </a:t>
            </a:r>
            <a:r>
              <a:rPr lang="en-US" altLang="zh-CN" sz="2400" b="0" dirty="0">
                <a:ea typeface="楷体_GB2312" pitchFamily="49" charset="-122"/>
              </a:rPr>
              <a:t>UD </a:t>
            </a:r>
            <a:r>
              <a:rPr lang="zh-CN" altLang="en-US" sz="2400" dirty="0">
                <a:ea typeface="楷体_GB2312" pitchFamily="49" charset="-122"/>
              </a:rPr>
              <a:t>链可以查找循环不变量，如对于循环内部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的语句 </a:t>
            </a:r>
            <a:r>
              <a:rPr lang="en-US" altLang="zh-CN" sz="2400" b="0" dirty="0">
                <a:ea typeface="楷体_GB2312" pitchFamily="49" charset="-122"/>
              </a:rPr>
              <a:t>x:=</a:t>
            </a:r>
            <a:r>
              <a:rPr lang="en-US" altLang="zh-CN" sz="2400" b="0" dirty="0" err="1">
                <a:ea typeface="楷体_GB2312" pitchFamily="49" charset="-122"/>
              </a:rPr>
              <a:t>y+z</a:t>
            </a:r>
            <a:r>
              <a:rPr lang="zh-CN" altLang="en-US" sz="2400" b="0" dirty="0">
                <a:ea typeface="楷体_GB2312" pitchFamily="49" charset="-122"/>
              </a:rPr>
              <a:t>，</a:t>
            </a:r>
            <a:r>
              <a:rPr lang="zh-CN" altLang="en-US" sz="2400" dirty="0">
                <a:ea typeface="楷体_GB2312" pitchFamily="49" charset="-122"/>
              </a:rPr>
              <a:t>若 </a:t>
            </a:r>
            <a:r>
              <a:rPr lang="en-US" altLang="zh-CN" sz="2400" b="0" dirty="0">
                <a:ea typeface="楷体_GB2312" pitchFamily="49" charset="-122"/>
              </a:rPr>
              <a:t>y </a:t>
            </a:r>
            <a:r>
              <a:rPr lang="zh-CN" altLang="en-US" sz="2400" dirty="0">
                <a:ea typeface="楷体_GB2312" pitchFamily="49" charset="-122"/>
              </a:rPr>
              <a:t>和 </a:t>
            </a:r>
            <a:r>
              <a:rPr lang="en-US" altLang="zh-CN" sz="2400" b="0" dirty="0">
                <a:ea typeface="楷体_GB2312" pitchFamily="49" charset="-122"/>
              </a:rPr>
              <a:t>z </a:t>
            </a:r>
            <a:r>
              <a:rPr lang="zh-CN" altLang="en-US" sz="2400" dirty="0">
                <a:ea typeface="楷体_GB2312" pitchFamily="49" charset="-122"/>
              </a:rPr>
              <a:t>的定值点都在循环外</a:t>
            </a:r>
            <a:r>
              <a:rPr lang="zh-CN" altLang="en-US" sz="2400" b="0" dirty="0">
                <a:ea typeface="楷体_GB2312" pitchFamily="49" charset="-122"/>
              </a:rPr>
              <a:t> ，</a:t>
            </a:r>
            <a:r>
              <a:rPr lang="zh-CN" altLang="en-US" sz="2400" dirty="0">
                <a:ea typeface="楷体_GB2312" pitchFamily="49" charset="-122"/>
              </a:rPr>
              <a:t>则</a:t>
            </a:r>
            <a:r>
              <a:rPr lang="zh-CN" altLang="en-US" sz="2400" b="0" dirty="0">
                <a:ea typeface="楷体_GB2312" pitchFamily="49" charset="-122"/>
              </a:rPr>
              <a:t>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b="0" dirty="0">
                <a:ea typeface="楷体_GB2312" pitchFamily="49" charset="-122"/>
              </a:rPr>
              <a:t>    </a:t>
            </a:r>
            <a:r>
              <a:rPr lang="en-US" altLang="zh-CN" sz="2400" b="0" dirty="0">
                <a:ea typeface="楷体_GB2312" pitchFamily="49" charset="-122"/>
              </a:rPr>
              <a:t>x:=</a:t>
            </a:r>
            <a:r>
              <a:rPr lang="en-US" altLang="zh-CN" sz="2400" b="0" dirty="0" err="1">
                <a:ea typeface="楷体_GB2312" pitchFamily="49" charset="-122"/>
              </a:rPr>
              <a:t>y+z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为循环不变量</a:t>
            </a:r>
          </a:p>
        </p:txBody>
      </p:sp>
      <p:sp>
        <p:nvSpPr>
          <p:cNvPr id="117776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173163"/>
            <a:ext cx="6934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循环优化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8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8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89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879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2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3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4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5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6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7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8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9" name="Rectangle 15"/>
          <p:cNvSpPr>
            <a:spLocks noChangeArrowheads="1"/>
          </p:cNvSpPr>
          <p:nvPr/>
        </p:nvSpPr>
        <p:spPr bwMode="auto">
          <a:xfrm>
            <a:off x="914400" y="1862138"/>
            <a:ext cx="8115300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 dirty="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dirty="0">
                <a:solidFill>
                  <a:srgbClr val="800080"/>
                </a:solidFill>
                <a:ea typeface="楷体_GB2312" pitchFamily="49" charset="-122"/>
              </a:rPr>
              <a:t>举例</a:t>
            </a:r>
            <a:r>
              <a:rPr lang="zh-CN" altLang="en-US" dirty="0">
                <a:ea typeface="楷体_GB2312" pitchFamily="49" charset="-122"/>
              </a:rPr>
              <a:t>（选讲</a:t>
            </a:r>
            <a:r>
              <a:rPr lang="zh-CN" altLang="en-GB" dirty="0">
                <a:ea typeface="楷体_GB2312" pitchFamily="49" charset="-122"/>
              </a:rPr>
              <a:t>）</a:t>
            </a:r>
            <a:endParaRPr lang="zh-CN" altLang="en-US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 dirty="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solidFill>
                  <a:srgbClr val="800080"/>
                </a:solidFill>
                <a:ea typeface="楷体_GB2312" pitchFamily="49" charset="-122"/>
              </a:rPr>
              <a:t>  循环不变量代码外提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 dirty="0">
                <a:ea typeface="楷体_GB2312" pitchFamily="49" charset="-122"/>
              </a:rPr>
              <a:t>   循环不变量代码 </a:t>
            </a:r>
            <a:r>
              <a:rPr lang="en-US" altLang="zh-CN" sz="2400" b="0" dirty="0">
                <a:ea typeface="楷体_GB2312" pitchFamily="49" charset="-122"/>
              </a:rPr>
              <a:t>x:=</a:t>
            </a:r>
            <a:r>
              <a:rPr lang="en-US" altLang="zh-CN" sz="2400" b="0" dirty="0" err="1">
                <a:ea typeface="楷体_GB2312" pitchFamily="49" charset="-122"/>
              </a:rPr>
              <a:t>y+z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可以外提的一个充分条件：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  </a:t>
            </a:r>
            <a:r>
              <a:rPr lang="en-US" altLang="zh-CN" sz="2000" dirty="0">
                <a:latin typeface="宋体" pitchFamily="2" charset="-122"/>
                <a:ea typeface="楷体_GB2312" pitchFamily="49" charset="-122"/>
              </a:rPr>
              <a:t>1) 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所在</a:t>
            </a: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结点是循环的所有出口结点的支配结点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  </a:t>
            </a:r>
            <a:r>
              <a:rPr lang="en-US" altLang="zh-CN" sz="2000" dirty="0">
                <a:latin typeface="宋体" pitchFamily="2" charset="-122"/>
                <a:ea typeface="楷体_GB2312" pitchFamily="49" charset="-122"/>
              </a:rPr>
              <a:t>2) 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循环</a:t>
            </a: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中其它地方不再有 </a:t>
            </a:r>
            <a:r>
              <a:rPr lang="en-US" altLang="zh-CN" sz="2400" b="0" dirty="0">
                <a:ea typeface="楷体_GB2312" pitchFamily="49" charset="-122"/>
              </a:rPr>
              <a:t>x </a:t>
            </a: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的定值点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  </a:t>
            </a:r>
            <a:r>
              <a:rPr lang="en-US" altLang="zh-CN" sz="2000" dirty="0">
                <a:latin typeface="宋体" pitchFamily="2" charset="-122"/>
                <a:ea typeface="楷体_GB2312" pitchFamily="49" charset="-122"/>
              </a:rPr>
              <a:t>3</a:t>
            </a:r>
            <a:r>
              <a:rPr lang="en-US" altLang="zh-CN" sz="2000">
                <a:latin typeface="宋体" pitchFamily="2" charset="-122"/>
                <a:ea typeface="楷体_GB2312" pitchFamily="49" charset="-122"/>
              </a:rPr>
              <a:t>) </a:t>
            </a:r>
            <a:r>
              <a:rPr lang="zh-CN" altLang="en-US" sz="2000" smtClean="0">
                <a:latin typeface="宋体" pitchFamily="2" charset="-122"/>
                <a:ea typeface="楷体_GB2312" pitchFamily="49" charset="-122"/>
              </a:rPr>
              <a:t>循环</a:t>
            </a: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中 </a:t>
            </a:r>
            <a:r>
              <a:rPr lang="en-US" altLang="zh-CN" sz="2000" b="0" dirty="0">
                <a:ea typeface="楷体_GB2312" pitchFamily="49" charset="-122"/>
              </a:rPr>
              <a:t>x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的所有引用点都是且仅是这个定值所能达到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的</a:t>
            </a:r>
            <a:endParaRPr lang="en-US" altLang="zh-CN" sz="2000" dirty="0" smtClean="0">
              <a:latin typeface="宋体" pitchFamily="2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dirty="0" smtClean="0">
                <a:latin typeface="宋体" pitchFamily="2" charset="-122"/>
                <a:ea typeface="楷体_GB2312" pitchFamily="49" charset="-122"/>
              </a:rPr>
              <a:t>  4) 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若</a:t>
            </a:r>
            <a:r>
              <a:rPr lang="en-US" altLang="zh-CN" sz="2000" b="0" dirty="0" smtClean="0">
                <a:ea typeface="楷体_GB2312" pitchFamily="49" charset="-122"/>
              </a:rPr>
              <a:t>y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或</a:t>
            </a:r>
            <a:r>
              <a:rPr lang="en-US" altLang="zh-CN" sz="2000" b="0" dirty="0" smtClean="0">
                <a:ea typeface="楷体_GB2312" pitchFamily="49" charset="-122"/>
              </a:rPr>
              <a:t>z</a:t>
            </a:r>
            <a:r>
              <a:rPr lang="zh-CN" altLang="zh-CN" sz="2000" dirty="0" smtClean="0">
                <a:latin typeface="宋体" pitchFamily="2" charset="-122"/>
                <a:ea typeface="楷体_GB2312" pitchFamily="49" charset="-122"/>
              </a:rPr>
              <a:t>是在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循环</a:t>
            </a:r>
            <a:r>
              <a:rPr lang="zh-CN" altLang="zh-CN" sz="2000" dirty="0" smtClean="0">
                <a:latin typeface="宋体" pitchFamily="2" charset="-122"/>
                <a:ea typeface="楷体_GB2312" pitchFamily="49" charset="-122"/>
              </a:rPr>
              <a:t>中定值的，则只有当这些定值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点的语句（一</a:t>
            </a:r>
            <a:endParaRPr lang="en-US" altLang="zh-CN" sz="2000" dirty="0" smtClean="0">
              <a:latin typeface="宋体" pitchFamily="2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dirty="0" smtClean="0">
                <a:latin typeface="宋体" pitchFamily="2" charset="-122"/>
                <a:ea typeface="楷体_GB2312" pitchFamily="49" charset="-122"/>
              </a:rPr>
              <a:t>     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定也是循环不变量）已经被执行过代码外提</a:t>
            </a:r>
            <a:endParaRPr lang="en-US" altLang="zh-CN" sz="2000" dirty="0" smtClean="0">
              <a:latin typeface="宋体" pitchFamily="2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000" dirty="0" smtClean="0">
              <a:latin typeface="宋体" pitchFamily="2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或者，在满足上述 第 </a:t>
            </a:r>
            <a:r>
              <a:rPr lang="en-US" altLang="zh-CN" sz="2000" dirty="0" smtClean="0">
                <a:latin typeface="宋体" pitchFamily="2" charset="-122"/>
                <a:ea typeface="楷体_GB2312" pitchFamily="49" charset="-122"/>
              </a:rPr>
              <a:t>2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、</a:t>
            </a:r>
            <a:r>
              <a:rPr lang="en-US" altLang="zh-CN" sz="2000" dirty="0" smtClean="0">
                <a:latin typeface="宋体" pitchFamily="2" charset="-122"/>
                <a:ea typeface="楷体_GB2312" pitchFamily="49" charset="-122"/>
              </a:rPr>
              <a:t>3 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和 </a:t>
            </a:r>
            <a:r>
              <a:rPr lang="en-US" altLang="zh-CN" sz="2000" dirty="0" smtClean="0">
                <a:latin typeface="宋体" pitchFamily="2" charset="-122"/>
                <a:ea typeface="楷体_GB2312" pitchFamily="49" charset="-122"/>
              </a:rPr>
              <a:t>4 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条的前提下，将第</a:t>
            </a:r>
            <a:r>
              <a:rPr lang="en-US" altLang="zh-CN" sz="2000" dirty="0" smtClean="0">
                <a:latin typeface="宋体" pitchFamily="2" charset="-122"/>
                <a:ea typeface="楷体_GB2312" pitchFamily="49" charset="-122"/>
              </a:rPr>
              <a:t>1</a:t>
            </a:r>
            <a:r>
              <a:rPr lang="zh-CN" altLang="en-US" sz="2000" dirty="0" smtClean="0">
                <a:latin typeface="宋体" pitchFamily="2" charset="-122"/>
                <a:ea typeface="楷体_GB2312" pitchFamily="49" charset="-122"/>
              </a:rPr>
              <a:t>条替换为：</a:t>
            </a:r>
            <a:endParaRPr lang="en-US" altLang="zh-CN" sz="2000" dirty="0" smtClean="0">
              <a:latin typeface="宋体" pitchFamily="2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dirty="0">
              <a:latin typeface="宋体" pitchFamily="2" charset="-122"/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  </a:t>
            </a:r>
            <a:r>
              <a:rPr lang="en-US" altLang="zh-CN" sz="2000" dirty="0" smtClean="0">
                <a:latin typeface="宋体" pitchFamily="2" charset="-122"/>
                <a:ea typeface="楷体_GB2312" pitchFamily="49" charset="-122"/>
              </a:rPr>
              <a:t>5) </a:t>
            </a: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要求 </a:t>
            </a:r>
            <a:r>
              <a:rPr lang="en-US" altLang="zh-CN" sz="2400" b="0" dirty="0">
                <a:ea typeface="楷体_GB2312" pitchFamily="49" charset="-122"/>
              </a:rPr>
              <a:t>x </a:t>
            </a:r>
            <a:r>
              <a:rPr lang="zh-CN" altLang="en-US" sz="2000" dirty="0">
                <a:latin typeface="宋体" pitchFamily="2" charset="-122"/>
                <a:ea typeface="楷体_GB2312" pitchFamily="49" charset="-122"/>
              </a:rPr>
              <a:t>在离开循环之后不再是活跃的</a:t>
            </a:r>
          </a:p>
        </p:txBody>
      </p:sp>
      <p:sp>
        <p:nvSpPr>
          <p:cNvPr id="118800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173163"/>
            <a:ext cx="6934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循环优化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1" name="AutoShape 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2" name="AutoShape 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3" name="AutoShape 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4" name="Rectangle 7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19815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6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7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8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9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0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1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2" name="AutoShape 1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3" name="Rectangle 16"/>
          <p:cNvSpPr>
            <a:spLocks noChangeArrowheads="1"/>
          </p:cNvSpPr>
          <p:nvPr/>
        </p:nvSpPr>
        <p:spPr bwMode="auto">
          <a:xfrm>
            <a:off x="914400" y="1862138"/>
            <a:ext cx="74025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 </a:t>
            </a: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</a:rPr>
              <a:t>下图中循环不变量不符合外提条件 （选讲</a:t>
            </a:r>
            <a:r>
              <a:rPr lang="zh-CN" altLang="en-GB" sz="2400">
                <a:ea typeface="楷体_GB2312" pitchFamily="49" charset="-122"/>
              </a:rPr>
              <a:t>）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119824" name="Text Box 1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173163"/>
            <a:ext cx="6934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循环优化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19825" name="Rectangle 108"/>
          <p:cNvSpPr>
            <a:spLocks noChangeArrowheads="1"/>
          </p:cNvSpPr>
          <p:nvPr/>
        </p:nvSpPr>
        <p:spPr bwMode="auto">
          <a:xfrm>
            <a:off x="1114425" y="1925638"/>
            <a:ext cx="190500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zh-CN"/>
          </a:p>
        </p:txBody>
      </p:sp>
      <p:graphicFrame>
        <p:nvGraphicFramePr>
          <p:cNvPr id="119826" name="Object 197"/>
          <p:cNvGraphicFramePr>
            <a:graphicFrameLocks noChangeAspect="1"/>
          </p:cNvGraphicFramePr>
          <p:nvPr/>
        </p:nvGraphicFramePr>
        <p:xfrm>
          <a:off x="2103438" y="2517775"/>
          <a:ext cx="4678362" cy="4264025"/>
        </p:xfrm>
        <a:graphic>
          <a:graphicData uri="http://schemas.openxmlformats.org/presentationml/2006/ole">
            <p:oleObj spid="_x0000_s119826" name="Visio" r:id="rId4" imgW="4425696" imgH="4030370" progId="">
              <p:embed/>
            </p:oleObj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8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20839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0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1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2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3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4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5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6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7" name="Rectangle 15"/>
          <p:cNvSpPr>
            <a:spLocks noChangeArrowheads="1"/>
          </p:cNvSpPr>
          <p:nvPr/>
        </p:nvSpPr>
        <p:spPr bwMode="auto">
          <a:xfrm>
            <a:off x="876300" y="1862138"/>
            <a:ext cx="8115300" cy="405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 typeface="Symbol" pitchFamily="18" charset="2"/>
              <a:buChar char="-"/>
            </a:pPr>
            <a:r>
              <a:rPr lang="en-US" altLang="zh-CN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ea typeface="楷体_GB2312" pitchFamily="49" charset="-122"/>
              </a:rPr>
              <a:t>举例</a:t>
            </a:r>
            <a:r>
              <a:rPr lang="zh-CN" altLang="en-US">
                <a:ea typeface="楷体_GB2312" pitchFamily="49" charset="-122"/>
              </a:rPr>
              <a:t>（选讲</a:t>
            </a:r>
            <a:r>
              <a:rPr lang="zh-CN" altLang="en-GB">
                <a:ea typeface="楷体_GB2312" pitchFamily="49" charset="-122"/>
              </a:rPr>
              <a:t>）</a:t>
            </a:r>
            <a:endParaRPr lang="zh-CN" altLang="en-US" sz="24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kumimoji="0" lang="zh-CN" altLang="en-US" sz="1000">
              <a:solidFill>
                <a:srgbClr val="800080"/>
              </a:solidFill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  归纳变量</a:t>
            </a:r>
            <a:r>
              <a:rPr lang="zh-CN" altLang="en-US" sz="2400">
                <a:ea typeface="楷体_GB2312" pitchFamily="49" charset="-122"/>
              </a:rPr>
              <a:t>（</a:t>
            </a:r>
            <a:r>
              <a:rPr lang="en-US" altLang="zh-CN" sz="2400" b="0" i="1">
                <a:ea typeface="楷体_GB2312" pitchFamily="49" charset="-122"/>
              </a:rPr>
              <a:t>induction variable</a:t>
            </a:r>
            <a:r>
              <a:rPr lang="zh-CN" altLang="en-US" sz="2400">
                <a:ea typeface="楷体_GB2312" pitchFamily="49" charset="-122"/>
              </a:rPr>
              <a:t>）</a:t>
            </a:r>
            <a:r>
              <a:rPr lang="zh-CN" altLang="en-US" sz="2400">
                <a:solidFill>
                  <a:srgbClr val="800080"/>
                </a:solidFill>
                <a:ea typeface="楷体_GB2312" pitchFamily="49" charset="-122"/>
              </a:rPr>
              <a:t>相关的优化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</a:t>
            </a:r>
            <a:r>
              <a:rPr lang="zh-CN" altLang="en-US" sz="2000">
                <a:ea typeface="楷体_GB2312" pitchFamily="49" charset="-122"/>
              </a:rPr>
              <a:t>归纳变量是在循环的顺序迭代中取得一系列值的变量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ea typeface="楷体_GB2312" pitchFamily="49" charset="-122"/>
              </a:rPr>
              <a:t>   </a:t>
            </a:r>
            <a:r>
              <a:rPr lang="zh-CN" altLang="en-US" sz="2000">
                <a:ea typeface="楷体_GB2312" pitchFamily="49" charset="-122"/>
              </a:rPr>
              <a:t>常见的归纳变量如循环下标及循环体内显式增量和减量的变量</a:t>
            </a:r>
            <a:endParaRPr lang="zh-CN" altLang="en-US" sz="2400" b="0">
              <a:ea typeface="楷体_GB2312" pitchFamily="49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1000" b="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      通常可以针对归纳变量可以进行如下优化：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       </a:t>
            </a:r>
            <a:r>
              <a:rPr lang="en-US" altLang="zh-CN" sz="2000" b="0">
                <a:ea typeface="楷体_GB2312" pitchFamily="49" charset="-122"/>
              </a:rPr>
              <a:t>1</a:t>
            </a:r>
            <a:r>
              <a:rPr lang="zh-CN" altLang="en-US" sz="2000" b="0">
                <a:ea typeface="楷体_GB2312" pitchFamily="49" charset="-122"/>
              </a:rPr>
              <a:t>）</a:t>
            </a: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削弱归纳变量的计算强度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endParaRPr lang="zh-CN" altLang="en-US" sz="1000">
              <a:ea typeface="楷体_GB2312" pitchFamily="49" charset="-122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       </a:t>
            </a:r>
            <a:r>
              <a:rPr lang="en-US" altLang="zh-CN" sz="2000" b="0">
                <a:ea typeface="楷体_GB2312" pitchFamily="49" charset="-122"/>
              </a:rPr>
              <a:t>2</a:t>
            </a:r>
            <a:r>
              <a:rPr lang="zh-CN" altLang="en-US" sz="2000" b="0">
                <a:ea typeface="楷体_GB2312" pitchFamily="49" charset="-122"/>
              </a:rPr>
              <a:t>）</a:t>
            </a:r>
            <a:r>
              <a:rPr lang="zh-CN" altLang="en-US" sz="2000">
                <a:ea typeface="楷体_GB2312" pitchFamily="49" charset="-122"/>
              </a:rPr>
              <a:t>因常常可以</a:t>
            </a:r>
            <a:r>
              <a:rPr lang="zh-CN" altLang="en-US" sz="2000">
                <a:solidFill>
                  <a:srgbClr val="800080"/>
                </a:solidFill>
                <a:ea typeface="楷体_GB2312" pitchFamily="49" charset="-122"/>
              </a:rPr>
              <a:t>有冗余的归纳变量</a:t>
            </a:r>
            <a:r>
              <a:rPr lang="zh-CN" altLang="en-US" sz="2000">
                <a:ea typeface="楷体_GB2312" pitchFamily="49" charset="-122"/>
              </a:rPr>
              <a:t>，可以只在寄存器中保存个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             别归纳变量，而不是全部</a:t>
            </a:r>
            <a:r>
              <a:rPr lang="en-US" altLang="zh-CN" sz="2000">
                <a:ea typeface="楷体_GB2312" pitchFamily="49" charset="-122"/>
              </a:rPr>
              <a:t>. </a:t>
            </a:r>
            <a:r>
              <a:rPr lang="zh-CN" altLang="en-US" sz="2000">
                <a:ea typeface="楷体_GB2312" pitchFamily="49" charset="-122"/>
              </a:rPr>
              <a:t>特别是经强度削弱后，往往可以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ea typeface="楷体_GB2312" pitchFamily="49" charset="-122"/>
              </a:rPr>
              <a:t>                 删除某些归纳变量</a:t>
            </a:r>
          </a:p>
        </p:txBody>
      </p:sp>
      <p:sp>
        <p:nvSpPr>
          <p:cNvPr id="120848" name="Text Box 1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173163"/>
            <a:ext cx="6934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循环优化</a:t>
            </a:r>
            <a:r>
              <a:rPr lang="zh-CN" altLang="en-US">
                <a:ea typeface="楷体_GB2312" pitchFamily="49" charset="-122"/>
              </a:rPr>
              <a:t>（</a:t>
            </a:r>
            <a:r>
              <a:rPr lang="en-US" altLang="zh-CN" b="0" i="1">
                <a:ea typeface="楷体_GB2312" pitchFamily="49" charset="-122"/>
              </a:rPr>
              <a:t>loop optimization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6"/>
          <p:cNvSpPr>
            <a:spLocks noChangeArrowheads="1"/>
          </p:cNvSpPr>
          <p:nvPr/>
        </p:nvSpPr>
        <p:spPr bwMode="auto">
          <a:xfrm>
            <a:off x="1524000" y="188913"/>
            <a:ext cx="3352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ea typeface="华文行楷" pitchFamily="2" charset="-122"/>
              </a:rPr>
              <a:t>代码优化技术</a:t>
            </a:r>
          </a:p>
        </p:txBody>
      </p:sp>
      <p:sp>
        <p:nvSpPr>
          <p:cNvPr id="121859" name="Text Box 2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23900" y="1066800"/>
            <a:ext cx="48561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800080"/>
              </a:buClr>
              <a:buFont typeface="Wingdings" pitchFamily="2" charset="2"/>
              <a:buChar char="²"/>
            </a:pPr>
            <a:r>
              <a:rPr lang="en-US" altLang="zh-CN" sz="3200">
                <a:solidFill>
                  <a:srgbClr val="800080"/>
                </a:solidFill>
                <a:ea typeface="楷体_GB2312" pitchFamily="49" charset="-122"/>
              </a:rPr>
              <a:t>  </a:t>
            </a:r>
            <a:r>
              <a:rPr lang="zh-CN" altLang="en-US" sz="3200">
                <a:ea typeface="楷体_GB2312" pitchFamily="49" charset="-122"/>
              </a:rPr>
              <a:t>循环优化</a:t>
            </a:r>
            <a:r>
              <a:rPr lang="zh-CN" altLang="en-US" sz="3200">
                <a:solidFill>
                  <a:srgbClr val="800080"/>
                </a:solidFill>
                <a:ea typeface="楷体_GB2312" pitchFamily="49" charset="-122"/>
              </a:rPr>
              <a:t>举例</a:t>
            </a:r>
            <a:r>
              <a:rPr lang="zh-CN" altLang="en-US">
                <a:ea typeface="楷体_GB2312" pitchFamily="49" charset="-122"/>
              </a:rPr>
              <a:t>（选讲</a:t>
            </a:r>
            <a:r>
              <a:rPr lang="zh-CN" altLang="en-GB">
                <a:ea typeface="楷体_GB2312" pitchFamily="49" charset="-122"/>
              </a:rPr>
              <a:t>）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734231" name="AutoShape 23"/>
          <p:cNvSpPr>
            <a:spLocks noChangeArrowheads="1"/>
          </p:cNvSpPr>
          <p:nvPr/>
        </p:nvSpPr>
        <p:spPr bwMode="auto">
          <a:xfrm>
            <a:off x="2998788" y="2108200"/>
            <a:ext cx="1357312" cy="457200"/>
          </a:xfrm>
          <a:custGeom>
            <a:avLst/>
            <a:gdLst>
              <a:gd name="T0" fmla="*/ 678593 w 21600"/>
              <a:gd name="T1" fmla="*/ 0 h 21600"/>
              <a:gd name="T2" fmla="*/ 169664 w 21600"/>
              <a:gd name="T3" fmla="*/ 228600 h 21600"/>
              <a:gd name="T4" fmla="*/ 678593 w 21600"/>
              <a:gd name="T5" fmla="*/ 114300 h 21600"/>
              <a:gd name="T6" fmla="*/ 1526976 w 21600"/>
              <a:gd name="T7" fmla="*/ 228600 h 21600"/>
              <a:gd name="T8" fmla="*/ 1187648 w 21600"/>
              <a:gd name="T9" fmla="*/ 342900 h 21600"/>
              <a:gd name="T10" fmla="*/ 848320 w 21600"/>
              <a:gd name="T11" fmla="*/ 22860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noFill/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1861" name="Object 30"/>
          <p:cNvGraphicFramePr>
            <a:graphicFrameLocks noChangeAspect="1"/>
          </p:cNvGraphicFramePr>
          <p:nvPr/>
        </p:nvGraphicFramePr>
        <p:xfrm>
          <a:off x="755650" y="1844675"/>
          <a:ext cx="2381250" cy="4170363"/>
        </p:xfrm>
        <a:graphic>
          <a:graphicData uri="http://schemas.openxmlformats.org/presentationml/2006/ole">
            <p:oleObj spid="_x0000_s121861" name="Visio" r:id="rId4" imgW="2876702" imgH="4390339" progId="">
              <p:embed/>
            </p:oleObj>
          </a:graphicData>
        </a:graphic>
      </p:graphicFrame>
      <p:graphicFrame>
        <p:nvGraphicFramePr>
          <p:cNvPr id="734239" name="Object 31"/>
          <p:cNvGraphicFramePr>
            <a:graphicFrameLocks noChangeAspect="1"/>
          </p:cNvGraphicFramePr>
          <p:nvPr/>
        </p:nvGraphicFramePr>
        <p:xfrm>
          <a:off x="3487738" y="2420938"/>
          <a:ext cx="2381250" cy="4170362"/>
        </p:xfrm>
        <a:graphic>
          <a:graphicData uri="http://schemas.openxmlformats.org/presentationml/2006/ole">
            <p:oleObj spid="_x0000_s121862" name="Visio" r:id="rId5" imgW="2876702" imgH="4390339" progId="">
              <p:embed/>
            </p:oleObj>
          </a:graphicData>
        </a:graphic>
      </p:graphicFrame>
      <p:graphicFrame>
        <p:nvGraphicFramePr>
          <p:cNvPr id="734240" name="Object 32"/>
          <p:cNvGraphicFramePr>
            <a:graphicFrameLocks noChangeAspect="1"/>
          </p:cNvGraphicFramePr>
          <p:nvPr/>
        </p:nvGraphicFramePr>
        <p:xfrm>
          <a:off x="6443663" y="2997200"/>
          <a:ext cx="2381250" cy="3738563"/>
        </p:xfrm>
        <a:graphic>
          <a:graphicData uri="http://schemas.openxmlformats.org/presentationml/2006/ole">
            <p:oleObj spid="_x0000_s121863" name="Visio" r:id="rId6" imgW="2876702" imgH="3958133" progId="">
              <p:embed/>
            </p:oleObj>
          </a:graphicData>
        </a:graphic>
      </p:graphicFrame>
      <p:sp>
        <p:nvSpPr>
          <p:cNvPr id="121864" name="AutoShape 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5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7" name="AutoShape 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8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9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0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1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2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3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4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5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4242" name="AutoShape 34"/>
          <p:cNvSpPr>
            <a:spLocks noChangeArrowheads="1"/>
          </p:cNvSpPr>
          <p:nvPr/>
        </p:nvSpPr>
        <p:spPr bwMode="auto">
          <a:xfrm>
            <a:off x="5591175" y="2540000"/>
            <a:ext cx="1357313" cy="457200"/>
          </a:xfrm>
          <a:custGeom>
            <a:avLst/>
            <a:gdLst>
              <a:gd name="T0" fmla="*/ 678594 w 21600"/>
              <a:gd name="T1" fmla="*/ 0 h 21600"/>
              <a:gd name="T2" fmla="*/ 169664 w 21600"/>
              <a:gd name="T3" fmla="*/ 228600 h 21600"/>
              <a:gd name="T4" fmla="*/ 678594 w 21600"/>
              <a:gd name="T5" fmla="*/ 114300 h 21600"/>
              <a:gd name="T6" fmla="*/ 1526977 w 21600"/>
              <a:gd name="T7" fmla="*/ 228600 h 21600"/>
              <a:gd name="T8" fmla="*/ 1187649 w 21600"/>
              <a:gd name="T9" fmla="*/ 342900 h 21600"/>
              <a:gd name="T10" fmla="*/ 848321 w 21600"/>
              <a:gd name="T11" fmla="*/ 22860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noFill/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734243" name="Text Box 35"/>
          <p:cNvSpPr txBox="1">
            <a:spLocks noChangeArrowheads="1"/>
          </p:cNvSpPr>
          <p:nvPr/>
        </p:nvSpPr>
        <p:spPr bwMode="auto">
          <a:xfrm>
            <a:off x="6064250" y="2222500"/>
            <a:ext cx="2292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r>
              <a:rPr lang="en-US" altLang="zh-CN" sz="2000" b="0">
                <a:ea typeface="楷体_GB2312" pitchFamily="49" charset="-122"/>
              </a:rPr>
              <a:t>B</a:t>
            </a:r>
            <a:r>
              <a:rPr lang="en-US" altLang="zh-CN" sz="2000" b="0" baseline="-25000">
                <a:ea typeface="楷体_GB2312" pitchFamily="49" charset="-122"/>
              </a:rPr>
              <a:t>4 </a:t>
            </a:r>
            <a:r>
              <a:rPr lang="zh-CN" altLang="en-US" sz="2000">
                <a:ea typeface="楷体_GB2312" pitchFamily="49" charset="-122"/>
              </a:rPr>
              <a:t>入口处 </a:t>
            </a:r>
            <a:r>
              <a:rPr lang="en-US" altLang="zh-CN" sz="2000" b="0">
                <a:ea typeface="楷体_GB2312" pitchFamily="49" charset="-122"/>
              </a:rPr>
              <a:t>x </a:t>
            </a:r>
            <a:r>
              <a:rPr lang="zh-CN" altLang="en-US" sz="2000">
                <a:ea typeface="楷体_GB2312" pitchFamily="49" charset="-122"/>
              </a:rPr>
              <a:t>非活跃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34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73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73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73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73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31" grpId="0" animBg="1"/>
      <p:bldP spid="734242" grpId="0" animBg="1"/>
      <p:bldP spid="734243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3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4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5" name="AutoShape 1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6" name="Rectangle 12"/>
          <p:cNvSpPr>
            <a:spLocks noChangeArrowheads="1"/>
          </p:cNvSpPr>
          <p:nvPr/>
        </p:nvSpPr>
        <p:spPr bwMode="auto">
          <a:xfrm>
            <a:off x="1552575" y="263525"/>
            <a:ext cx="221615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800080"/>
                </a:solidFill>
                <a:latin typeface="Times New Roman" pitchFamily="18" charset="0"/>
                <a:ea typeface="华文行楷" pitchFamily="2" charset="-122"/>
              </a:rPr>
              <a:t>课后作业</a:t>
            </a:r>
          </a:p>
        </p:txBody>
      </p:sp>
      <p:sp>
        <p:nvSpPr>
          <p:cNvPr id="122888" name="Rectangle 22"/>
          <p:cNvSpPr>
            <a:spLocks noChangeArrowheads="1"/>
          </p:cNvSpPr>
          <p:nvPr/>
        </p:nvSpPr>
        <p:spPr bwMode="auto">
          <a:xfrm>
            <a:off x="2071688" y="17478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755650" y="1517650"/>
            <a:ext cx="8280400" cy="112954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0"/>
              </a:spcBef>
              <a:buClr>
                <a:srgbClr val="800080"/>
              </a:buClr>
            </a:pPr>
            <a:r>
              <a:rPr kumimoji="0" lang="en-US" altLang="zh-CN" sz="2400" dirty="0" smtClean="0">
                <a:solidFill>
                  <a:srgbClr val="990099"/>
                </a:solidFill>
                <a:ea typeface="楷体_GB2312" pitchFamily="49" charset="-122"/>
              </a:rPr>
              <a:t>     </a:t>
            </a:r>
            <a:r>
              <a:rPr kumimoji="0" lang="zh-CN" altLang="en-US" sz="2400" dirty="0" smtClean="0">
                <a:solidFill>
                  <a:srgbClr val="990099"/>
                </a:solidFill>
                <a:ea typeface="楷体_GB2312" pitchFamily="49" charset="-122"/>
              </a:rPr>
              <a:t>第十二讲</a:t>
            </a:r>
            <a:r>
              <a:rPr kumimoji="0" lang="zh-CN" altLang="en-US" sz="2400" dirty="0">
                <a:solidFill>
                  <a:srgbClr val="990099"/>
                </a:solidFill>
                <a:ea typeface="楷体_GB2312" pitchFamily="49" charset="-122"/>
              </a:rPr>
              <a:t>课堂教案 </a:t>
            </a:r>
            <a:r>
              <a:rPr kumimoji="0" lang="en-US" altLang="zh-CN" sz="2400" dirty="0" smtClean="0">
                <a:solidFill>
                  <a:srgbClr val="990099"/>
                </a:solidFill>
                <a:ea typeface="楷体_GB2312" pitchFamily="49" charset="-122"/>
              </a:rPr>
              <a:t>Lucture12.pdf </a:t>
            </a:r>
            <a:r>
              <a:rPr kumimoji="0" lang="zh-CN" altLang="en-US" sz="2400" dirty="0">
                <a:solidFill>
                  <a:srgbClr val="990099"/>
                </a:solidFill>
                <a:ea typeface="楷体_GB2312" pitchFamily="49" charset="-122"/>
              </a:rPr>
              <a:t>中</a:t>
            </a:r>
            <a:r>
              <a:rPr kumimoji="0" lang="zh-CN" altLang="en-US" sz="2400" dirty="0" smtClean="0">
                <a:solidFill>
                  <a:srgbClr val="990099"/>
                </a:solidFill>
                <a:ea typeface="楷体_GB2312" pitchFamily="49" charset="-122"/>
              </a:rPr>
              <a:t>的第</a:t>
            </a:r>
            <a:r>
              <a:rPr kumimoji="0" lang="en-US" altLang="zh-CN" sz="2400" dirty="0" smtClean="0">
                <a:solidFill>
                  <a:srgbClr val="990099"/>
                </a:solidFill>
                <a:ea typeface="楷体_GB2312" pitchFamily="49" charset="-122"/>
              </a:rPr>
              <a:t>4</a:t>
            </a:r>
            <a:r>
              <a:rPr kumimoji="0" lang="zh-CN" altLang="en-US" sz="2400" dirty="0" smtClean="0">
                <a:solidFill>
                  <a:srgbClr val="990099"/>
                </a:solidFill>
                <a:ea typeface="楷体_GB2312" pitchFamily="49" charset="-122"/>
              </a:rPr>
              <a:t>、</a:t>
            </a:r>
            <a:r>
              <a:rPr kumimoji="0" lang="en-US" altLang="zh-CN" sz="2400" dirty="0" smtClean="0">
                <a:solidFill>
                  <a:srgbClr val="990099"/>
                </a:solidFill>
                <a:ea typeface="楷体_GB2312" pitchFamily="49" charset="-122"/>
              </a:rPr>
              <a:t>6</a:t>
            </a:r>
            <a:r>
              <a:rPr kumimoji="0" lang="zh-CN" altLang="en-US" sz="2400" dirty="0" smtClean="0">
                <a:solidFill>
                  <a:srgbClr val="990099"/>
                </a:solidFill>
                <a:ea typeface="楷体_GB2312" pitchFamily="49" charset="-122"/>
              </a:rPr>
              <a:t>、</a:t>
            </a:r>
            <a:r>
              <a:rPr kumimoji="0" lang="en-US" altLang="zh-CN" sz="2400" dirty="0" smtClean="0">
                <a:solidFill>
                  <a:srgbClr val="990099"/>
                </a:solidFill>
                <a:ea typeface="楷体_GB2312" pitchFamily="49" charset="-122"/>
              </a:rPr>
              <a:t>10</a:t>
            </a:r>
            <a:r>
              <a:rPr kumimoji="0" lang="zh-CN" altLang="en-US" sz="2400" smtClean="0">
                <a:solidFill>
                  <a:srgbClr val="990099"/>
                </a:solidFill>
                <a:ea typeface="楷体_GB2312" pitchFamily="49" charset="-122"/>
              </a:rPr>
              <a:t>、</a:t>
            </a:r>
            <a:r>
              <a:rPr kumimoji="0" lang="en-US" altLang="zh-CN" sz="2400" smtClean="0">
                <a:solidFill>
                  <a:srgbClr val="990099"/>
                </a:solidFill>
                <a:ea typeface="楷体_GB2312" pitchFamily="49" charset="-122"/>
              </a:rPr>
              <a:t>11</a:t>
            </a:r>
            <a:r>
              <a:rPr kumimoji="0" lang="zh-CN" altLang="en-US" sz="2400" dirty="0" smtClean="0">
                <a:solidFill>
                  <a:srgbClr val="990099"/>
                </a:solidFill>
                <a:ea typeface="楷体_GB2312" pitchFamily="49" charset="-122"/>
              </a:rPr>
              <a:t>（图</a:t>
            </a:r>
            <a:r>
              <a:rPr kumimoji="0" lang="en-US" altLang="zh-CN" sz="2400" dirty="0" smtClean="0">
                <a:solidFill>
                  <a:srgbClr val="990099"/>
                </a:solidFill>
                <a:ea typeface="楷体_GB2312" pitchFamily="49" charset="-122"/>
              </a:rPr>
              <a:t>33</a:t>
            </a:r>
            <a:r>
              <a:rPr kumimoji="0" lang="zh-CN" altLang="en-US" sz="2400" dirty="0" smtClean="0">
                <a:solidFill>
                  <a:srgbClr val="990099"/>
                </a:solidFill>
                <a:ea typeface="楷体_GB2312" pitchFamily="49" charset="-122"/>
              </a:rPr>
              <a:t>）</a:t>
            </a:r>
            <a:r>
              <a:rPr kumimoji="0" lang="en-US" altLang="zh-CN" sz="2400" dirty="0" smtClean="0">
                <a:solidFill>
                  <a:srgbClr val="990099"/>
                </a:solidFill>
                <a:ea typeface="楷体_GB2312" pitchFamily="49" charset="-122"/>
              </a:rPr>
              <a:t> </a:t>
            </a:r>
            <a:r>
              <a:rPr kumimoji="0" lang="zh-CN" altLang="en-US" sz="2400" dirty="0">
                <a:solidFill>
                  <a:srgbClr val="990099"/>
                </a:solidFill>
                <a:ea typeface="楷体_GB2312" pitchFamily="49" charset="-122"/>
              </a:rPr>
              <a:t>题</a:t>
            </a:r>
          </a:p>
          <a:p>
            <a:pPr marL="457200" indent="-457200">
              <a:buFont typeface="Wingdings" pitchFamily="2" charset="2"/>
              <a:buNone/>
            </a:pPr>
            <a:endParaRPr kumimoji="0" lang="zh-CN" altLang="en-US" sz="1000" dirty="0"/>
          </a:p>
          <a:p>
            <a:pPr marL="457200" indent="-457200">
              <a:spcBef>
                <a:spcPct val="0"/>
              </a:spcBef>
              <a:buClr>
                <a:srgbClr val="800080"/>
              </a:buClr>
            </a:pPr>
            <a:r>
              <a:rPr lang="zh-CN" altLang="en-US" sz="2000" dirty="0">
                <a:ea typeface="楷体_GB2312" pitchFamily="49" charset="-122"/>
              </a:rPr>
              <a:t>     （</a:t>
            </a:r>
            <a:r>
              <a:rPr lang="en-US" altLang="zh-CN" sz="2000" dirty="0" smtClean="0">
                <a:ea typeface="楷体_GB2312" pitchFamily="49" charset="-122"/>
              </a:rPr>
              <a:t>Lucture12.pdf </a:t>
            </a:r>
            <a:r>
              <a:rPr lang="zh-CN" altLang="en-US" sz="2000" dirty="0">
                <a:ea typeface="楷体_GB2312" pitchFamily="49" charset="-122"/>
              </a:rPr>
              <a:t>可从网络学堂“课程文件”下载）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82000" y="6553200"/>
            <a:ext cx="179388" cy="107950"/>
          </a:xfrm>
          <a:prstGeom prst="actionButtonForwardNex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7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077200" y="6553200"/>
            <a:ext cx="179388" cy="107950"/>
          </a:xfrm>
          <a:prstGeom prst="actionButtonBackPrevious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8" name="AutoShape 1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772400" y="6553200"/>
            <a:ext cx="179388" cy="107950"/>
          </a:xfrm>
          <a:prstGeom prst="actionButtonBeginning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9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686800" y="6553200"/>
            <a:ext cx="179388" cy="107950"/>
          </a:xfrm>
          <a:prstGeom prst="actionButtonE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0" name="Rectangle 20"/>
          <p:cNvSpPr>
            <a:spLocks noChangeArrowheads="1"/>
          </p:cNvSpPr>
          <p:nvPr/>
        </p:nvSpPr>
        <p:spPr bwMode="auto">
          <a:xfrm>
            <a:off x="3352800" y="5103813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4000" i="1">
                <a:solidFill>
                  <a:schemeClr val="hlink"/>
                </a:solidFill>
              </a:rPr>
              <a:t>Thank You</a:t>
            </a:r>
            <a:endParaRPr lang="en-US" altLang="zh-CN" sz="3200" i="1">
              <a:solidFill>
                <a:schemeClr val="hlink"/>
              </a:solidFill>
              <a:latin typeface="CMR10" charset="0"/>
            </a:endParaRPr>
          </a:p>
        </p:txBody>
      </p:sp>
      <p:sp>
        <p:nvSpPr>
          <p:cNvPr id="123911" name="Rectangle 21"/>
          <p:cNvSpPr>
            <a:spLocks noChangeArrowheads="1"/>
          </p:cNvSpPr>
          <p:nvPr/>
        </p:nvSpPr>
        <p:spPr bwMode="auto">
          <a:xfrm>
            <a:off x="1828800" y="2132856"/>
            <a:ext cx="5638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200" i="1">
                <a:solidFill>
                  <a:schemeClr val="hlink"/>
                </a:solidFill>
              </a:rPr>
              <a:t>Wish You a Great Success,</a:t>
            </a:r>
            <a:r>
              <a:rPr lang="en-US" altLang="zh-CN" sz="3200" i="1">
                <a:solidFill>
                  <a:schemeClr val="hlink"/>
                </a:solidFill>
                <a:latin typeface="CMR10" charset="0"/>
              </a:rPr>
              <a:t>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0" rIns="9144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0" rIns="9144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53327</TotalTime>
  <Words>10096</Words>
  <Application>Microsoft Office PowerPoint</Application>
  <PresentationFormat>全屏显示(4:3)</PresentationFormat>
  <Paragraphs>2156</Paragraphs>
  <Slides>111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111</vt:i4>
      </vt:variant>
    </vt:vector>
  </HeadingPairs>
  <TitlesOfParts>
    <vt:vector size="114" baseType="lpstr">
      <vt:lpstr>Capsules</vt:lpstr>
      <vt:lpstr>Visio</vt:lpstr>
      <vt:lpstr>Document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  <vt:lpstr>幻灯片 76</vt:lpstr>
      <vt:lpstr>幻灯片 77</vt:lpstr>
      <vt:lpstr>幻灯片 78</vt:lpstr>
      <vt:lpstr>幻灯片 79</vt:lpstr>
      <vt:lpstr>幻灯片 80</vt:lpstr>
      <vt:lpstr>幻灯片 81</vt:lpstr>
      <vt:lpstr>幻灯片 82</vt:lpstr>
      <vt:lpstr>幻灯片 83</vt:lpstr>
      <vt:lpstr>幻灯片 84</vt:lpstr>
      <vt:lpstr>幻灯片 85</vt:lpstr>
      <vt:lpstr>幻灯片 86</vt:lpstr>
      <vt:lpstr>幻灯片 87</vt:lpstr>
      <vt:lpstr>幻灯片 88</vt:lpstr>
      <vt:lpstr>幻灯片 89</vt:lpstr>
      <vt:lpstr>幻灯片 90</vt:lpstr>
      <vt:lpstr>幻灯片 91</vt:lpstr>
      <vt:lpstr>幻灯片 92</vt:lpstr>
      <vt:lpstr>幻灯片 93</vt:lpstr>
      <vt:lpstr>幻灯片 94</vt:lpstr>
      <vt:lpstr>幻灯片 95</vt:lpstr>
      <vt:lpstr>幻灯片 96</vt:lpstr>
      <vt:lpstr>幻灯片 97</vt:lpstr>
      <vt:lpstr>幻灯片 98</vt:lpstr>
      <vt:lpstr>幻灯片 99</vt:lpstr>
      <vt:lpstr>幻灯片 100</vt:lpstr>
      <vt:lpstr>幻灯片 101</vt:lpstr>
      <vt:lpstr>幻灯片 102</vt:lpstr>
      <vt:lpstr>幻灯片 103</vt:lpstr>
      <vt:lpstr>幻灯片 104</vt:lpstr>
      <vt:lpstr>幻灯片 105</vt:lpstr>
      <vt:lpstr>幻灯片 106</vt:lpstr>
      <vt:lpstr>幻灯片 107</vt:lpstr>
      <vt:lpstr>幻灯片 108</vt:lpstr>
      <vt:lpstr>幻灯片 109</vt:lpstr>
      <vt:lpstr>幻灯片 110</vt:lpstr>
      <vt:lpstr>幻灯片 111</vt:lpstr>
    </vt:vector>
  </TitlesOfParts>
  <Company>wyy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</dc:creator>
  <cp:lastModifiedBy>own00004</cp:lastModifiedBy>
  <cp:revision>2096</cp:revision>
  <dcterms:created xsi:type="dcterms:W3CDTF">2002-02-03T03:17:28Z</dcterms:created>
  <dcterms:modified xsi:type="dcterms:W3CDTF">2020-09-21T02:04:23Z</dcterms:modified>
</cp:coreProperties>
</file>
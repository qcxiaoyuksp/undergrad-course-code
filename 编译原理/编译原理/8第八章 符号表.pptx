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Default Extension="bin" ContentType="application/vnd.openxmlformats-officedocument.oleObject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Default Extension="vml" ContentType="application/vnd.openxmlformats-officedocument.vmlDrawing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notesMasterIdLst>
    <p:notesMasterId r:id="rId18"/>
  </p:notesMasterIdLst>
  <p:handoutMasterIdLst>
    <p:handoutMasterId r:id="rId19"/>
  </p:handoutMasterIdLst>
  <p:sldIdLst>
    <p:sldId id="256" r:id="rId2"/>
    <p:sldId id="526" r:id="rId3"/>
    <p:sldId id="732" r:id="rId4"/>
    <p:sldId id="527" r:id="rId5"/>
    <p:sldId id="648" r:id="rId6"/>
    <p:sldId id="760" r:id="rId7"/>
    <p:sldId id="761" r:id="rId8"/>
    <p:sldId id="734" r:id="rId9"/>
    <p:sldId id="649" r:id="rId10"/>
    <p:sldId id="762" r:id="rId11"/>
    <p:sldId id="657" r:id="rId12"/>
    <p:sldId id="834" r:id="rId13"/>
    <p:sldId id="836" r:id="rId14"/>
    <p:sldId id="763" r:id="rId15"/>
    <p:sldId id="735" r:id="rId16"/>
    <p:sldId id="277" r:id="rId17"/>
  </p:sldIdLst>
  <p:sldSz cx="9144000" cy="6858000" type="screen4x3"/>
  <p:notesSz cx="6645275" cy="9779000"/>
  <p:defaultTextStyle>
    <a:defPPr>
      <a:defRPr lang="zh-CN"/>
    </a:defPPr>
    <a:lvl1pPr algn="l" rtl="0" fontAlgn="base">
      <a:spcBef>
        <a:spcPct val="0"/>
      </a:spcBef>
      <a:spcAft>
        <a:spcPct val="0"/>
      </a:spcAft>
      <a:buClr>
        <a:srgbClr val="800080"/>
      </a:buClr>
      <a:buFont typeface="Wingdings" pitchFamily="2" charset="2"/>
      <a:buChar char="²"/>
      <a:defRPr kumimoji="1" sz="2400" kern="1200">
        <a:solidFill>
          <a:srgbClr val="333399"/>
        </a:solidFill>
        <a:latin typeface="Arial" pitchFamily="34" charset="0"/>
        <a:ea typeface="楷体_GB2312" pitchFamily="49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buClr>
        <a:srgbClr val="800080"/>
      </a:buClr>
      <a:buFont typeface="Wingdings" pitchFamily="2" charset="2"/>
      <a:buChar char="²"/>
      <a:defRPr kumimoji="1" sz="2400" kern="1200">
        <a:solidFill>
          <a:srgbClr val="333399"/>
        </a:solidFill>
        <a:latin typeface="Arial" pitchFamily="34" charset="0"/>
        <a:ea typeface="楷体_GB2312" pitchFamily="49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buClr>
        <a:srgbClr val="800080"/>
      </a:buClr>
      <a:buFont typeface="Wingdings" pitchFamily="2" charset="2"/>
      <a:buChar char="²"/>
      <a:defRPr kumimoji="1" sz="2400" kern="1200">
        <a:solidFill>
          <a:srgbClr val="333399"/>
        </a:solidFill>
        <a:latin typeface="Arial" pitchFamily="34" charset="0"/>
        <a:ea typeface="楷体_GB2312" pitchFamily="49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buClr>
        <a:srgbClr val="800080"/>
      </a:buClr>
      <a:buFont typeface="Wingdings" pitchFamily="2" charset="2"/>
      <a:buChar char="²"/>
      <a:defRPr kumimoji="1" sz="2400" kern="1200">
        <a:solidFill>
          <a:srgbClr val="333399"/>
        </a:solidFill>
        <a:latin typeface="Arial" pitchFamily="34" charset="0"/>
        <a:ea typeface="楷体_GB2312" pitchFamily="49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buClr>
        <a:srgbClr val="800080"/>
      </a:buClr>
      <a:buFont typeface="Wingdings" pitchFamily="2" charset="2"/>
      <a:buChar char="²"/>
      <a:defRPr kumimoji="1" sz="2400" kern="1200">
        <a:solidFill>
          <a:srgbClr val="333399"/>
        </a:solidFill>
        <a:latin typeface="Arial" pitchFamily="34" charset="0"/>
        <a:ea typeface="楷体_GB2312" pitchFamily="49" charset="-122"/>
        <a:cs typeface="+mn-cs"/>
      </a:defRPr>
    </a:lvl5pPr>
    <a:lvl6pPr marL="2286000" algn="l" defTabSz="914400" rtl="0" eaLnBrk="1" latinLnBrk="0" hangingPunct="1">
      <a:defRPr kumimoji="1" sz="2400" kern="1200">
        <a:solidFill>
          <a:srgbClr val="333399"/>
        </a:solidFill>
        <a:latin typeface="Arial" pitchFamily="34" charset="0"/>
        <a:ea typeface="楷体_GB2312" pitchFamily="49" charset="-122"/>
        <a:cs typeface="+mn-cs"/>
      </a:defRPr>
    </a:lvl6pPr>
    <a:lvl7pPr marL="2743200" algn="l" defTabSz="914400" rtl="0" eaLnBrk="1" latinLnBrk="0" hangingPunct="1">
      <a:defRPr kumimoji="1" sz="2400" kern="1200">
        <a:solidFill>
          <a:srgbClr val="333399"/>
        </a:solidFill>
        <a:latin typeface="Arial" pitchFamily="34" charset="0"/>
        <a:ea typeface="楷体_GB2312" pitchFamily="49" charset="-122"/>
        <a:cs typeface="+mn-cs"/>
      </a:defRPr>
    </a:lvl7pPr>
    <a:lvl8pPr marL="3200400" algn="l" defTabSz="914400" rtl="0" eaLnBrk="1" latinLnBrk="0" hangingPunct="1">
      <a:defRPr kumimoji="1" sz="2400" kern="1200">
        <a:solidFill>
          <a:srgbClr val="333399"/>
        </a:solidFill>
        <a:latin typeface="Arial" pitchFamily="34" charset="0"/>
        <a:ea typeface="楷体_GB2312" pitchFamily="49" charset="-122"/>
        <a:cs typeface="+mn-cs"/>
      </a:defRPr>
    </a:lvl8pPr>
    <a:lvl9pPr marL="3657600" algn="l" defTabSz="914400" rtl="0" eaLnBrk="1" latinLnBrk="0" hangingPunct="1">
      <a:defRPr kumimoji="1" sz="2400" kern="1200">
        <a:solidFill>
          <a:srgbClr val="333399"/>
        </a:solidFill>
        <a:latin typeface="Arial" pitchFamily="34" charset="0"/>
        <a:ea typeface="楷体_GB2312" pitchFamily="49" charset="-122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FF00"/>
    <a:srgbClr val="990099"/>
    <a:srgbClr val="800080"/>
    <a:srgbClr val="333399"/>
    <a:srgbClr val="008000"/>
    <a:srgbClr val="5F5F5F"/>
    <a:srgbClr val="9900CC"/>
    <a:srgbClr val="FFCCFF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2672" autoAdjust="0"/>
    <p:restoredTop sz="98113" autoAdjust="0"/>
  </p:normalViewPr>
  <p:slideViewPr>
    <p:cSldViewPr>
      <p:cViewPr varScale="1">
        <p:scale>
          <a:sx n="117" d="100"/>
          <a:sy n="117" d="100"/>
        </p:scale>
        <p:origin x="-1602" y="-96"/>
      </p:cViewPr>
      <p:guideLst>
        <p:guide orient="horz" pos="2208"/>
        <p:guide pos="283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3" d="100"/>
          <a:sy n="53" d="100"/>
        </p:scale>
        <p:origin x="-1638" y="-84"/>
      </p:cViewPr>
      <p:guideLst>
        <p:guide orient="horz" pos="3080"/>
        <p:guide pos="2093"/>
      </p:guideLst>
    </p:cSldViewPr>
  </p:notes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79725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03" tIns="45702" rIns="91403" bIns="45702" numCol="1" anchor="t" anchorCtr="0" compatLnSpc="1">
            <a:prstTxWarp prst="textNoShape">
              <a:avLst/>
            </a:prstTxWarp>
          </a:bodyPr>
          <a:lstStyle>
            <a:lvl1pPr>
              <a:buClrTx/>
              <a:buFontTx/>
              <a:buNone/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</a:lstStyle>
          <a:p>
            <a:endParaRPr lang="en-US" altLang="zh-CN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765550" y="0"/>
            <a:ext cx="2879725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03" tIns="45702" rIns="91403" bIns="45702" numCol="1" anchor="t" anchorCtr="0" compatLnSpc="1">
            <a:prstTxWarp prst="textNoShape">
              <a:avLst/>
            </a:prstTxWarp>
          </a:bodyPr>
          <a:lstStyle>
            <a:lvl1pPr algn="r">
              <a:buClrTx/>
              <a:buFontTx/>
              <a:buNone/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</a:lstStyle>
          <a:p>
            <a:endParaRPr lang="en-US" altLang="zh-CN"/>
          </a:p>
        </p:txBody>
      </p:sp>
      <p:sp>
        <p:nvSpPr>
          <p:cNvPr id="307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290050"/>
            <a:ext cx="2879725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03" tIns="45702" rIns="91403" bIns="45702" numCol="1" anchor="b" anchorCtr="0" compatLnSpc="1">
            <a:prstTxWarp prst="textNoShape">
              <a:avLst/>
            </a:prstTxWarp>
          </a:bodyPr>
          <a:lstStyle>
            <a:lvl1pPr>
              <a:buClrTx/>
              <a:buFontTx/>
              <a:buNone/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</a:lstStyle>
          <a:p>
            <a:endParaRPr lang="en-US" altLang="zh-CN"/>
          </a:p>
        </p:txBody>
      </p:sp>
      <p:sp>
        <p:nvSpPr>
          <p:cNvPr id="307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765550" y="9290050"/>
            <a:ext cx="2879725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03" tIns="45702" rIns="91403" bIns="45702" numCol="1" anchor="b" anchorCtr="0" compatLnSpc="1">
            <a:prstTxWarp prst="textNoShape">
              <a:avLst/>
            </a:prstTxWarp>
          </a:bodyPr>
          <a:lstStyle>
            <a:lvl1pPr algn="r">
              <a:buClrTx/>
              <a:buFontTx/>
              <a:buNone/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</a:lstStyle>
          <a:p>
            <a:fld id="{7C2E8C8E-BB2F-489E-AB9E-8463316ADC78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8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877888" y="733425"/>
            <a:ext cx="4889500" cy="366712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</p:spTree>
  </p:cSld>
  <p:clrMapOvr>
    <a:masterClrMapping/>
  </p:clrMapOvr>
  <p:transition spd="med" advClick="0">
    <p:wipe dir="r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 spd="med" advClick="0">
    <p:wipe dir="r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</p:cSld>
  <p:clrMapOvr>
    <a:masterClrMapping/>
  </p:clrMapOvr>
  <p:transition spd="med" advClick="0">
    <p:wipe dir="r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 spd="med" advClick="0">
    <p:wipe dir="r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 spd="med" advClick="0">
    <p:wipe dir="r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  <p:transition spd="med" advClick="0">
    <p:wipe dir="r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:\Users\own00004\AppData\Roaming\Tencent\Users\1423813091\QQ\WinTemp\RichOle\E0LYC9`]3BH35I4~U9{J0GE.png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7215206" y="71414"/>
            <a:ext cx="1609715" cy="449105"/>
          </a:xfrm>
          <a:prstGeom prst="rect">
            <a:avLst/>
          </a:prstGeom>
          <a:noFill/>
        </p:spPr>
      </p:pic>
    </p:spTree>
  </p:cSld>
  <p:clrMapOvr>
    <a:masterClrMapping/>
  </p:clrMapOvr>
  <p:transition spd="med" advClick="0">
    <p:wipe dir="r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pic>
        <p:nvPicPr>
          <p:cNvPr id="5" name="Picture 1" descr="C:\Users\own00004\AppData\Roaming\Tencent\Users\1423813091\QQ\WinTemp\RichOle\E0LYC9`]3BH35I4~U9{J0GE.png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7215206" y="0"/>
            <a:ext cx="1609715" cy="449105"/>
          </a:xfrm>
          <a:prstGeom prst="rect">
            <a:avLst/>
          </a:prstGeom>
          <a:noFill/>
        </p:spPr>
      </p:pic>
    </p:spTree>
  </p:cSld>
  <p:clrMapOvr>
    <a:masterClrMapping/>
  </p:clrMapOvr>
  <p:transition spd="med" advClick="0">
    <p:wipe dir="r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pic>
        <p:nvPicPr>
          <p:cNvPr id="5" name="Picture 1" descr="C:\Users\own00004\AppData\Roaming\Tencent\Users\1423813091\QQ\WinTemp\RichOle\E0LYC9`]3BH35I4~U9{J0GE.png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7286644" y="0"/>
            <a:ext cx="1609715" cy="449105"/>
          </a:xfrm>
          <a:prstGeom prst="rect">
            <a:avLst/>
          </a:prstGeom>
          <a:noFill/>
        </p:spPr>
      </p:pic>
    </p:spTree>
  </p:cSld>
  <p:clrMapOvr>
    <a:masterClrMapping/>
  </p:clrMapOvr>
  <p:transition spd="med" advClick="0">
    <p:wipe dir="r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pic>
        <p:nvPicPr>
          <p:cNvPr id="4" name="Picture 1" descr="C:\Users\own00004\AppData\Roaming\Tencent\Users\1423813091\QQ\WinTemp\RichOle\E0LYC9`]3BH35I4~U9{J0GE.png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7429520" y="0"/>
            <a:ext cx="1609715" cy="449105"/>
          </a:xfrm>
          <a:prstGeom prst="rect">
            <a:avLst/>
          </a:prstGeom>
          <a:noFill/>
        </p:spPr>
      </p:pic>
    </p:spTree>
  </p:cSld>
  <p:clrMapOvr>
    <a:masterClrMapping/>
  </p:clrMapOvr>
  <p:transition spd="med" advClick="0">
    <p:wipe dir="r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pic>
        <p:nvPicPr>
          <p:cNvPr id="4" name="Picture 1" descr="C:\Users\own00004\AppData\Roaming\Tencent\Users\1423813091\QQ\WinTemp\RichOle\E0LYC9`]3BH35I4~U9{J0GE.png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7143768" y="0"/>
            <a:ext cx="1609715" cy="449105"/>
          </a:xfrm>
          <a:prstGeom prst="rect">
            <a:avLst/>
          </a:prstGeom>
          <a:noFill/>
        </p:spPr>
      </p:pic>
    </p:spTree>
  </p:cSld>
  <p:clrMapOvr>
    <a:masterClrMapping/>
  </p:clrMapOvr>
  <p:transition spd="med" advClick="0">
    <p:wipe dir="r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hyperlink" Target="http://www.tsinghua.edu.cn/chn/index.htm" TargetMode="Externa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22" name="Group 1026"/>
          <p:cNvGrpSpPr>
            <a:grpSpLocks/>
          </p:cNvGrpSpPr>
          <p:nvPr/>
        </p:nvGrpSpPr>
        <p:grpSpPr bwMode="auto">
          <a:xfrm>
            <a:off x="0" y="0"/>
            <a:ext cx="1476375" cy="6858000"/>
            <a:chOff x="0" y="0"/>
            <a:chExt cx="2016" cy="4320"/>
          </a:xfrm>
        </p:grpSpPr>
        <p:sp>
          <p:nvSpPr>
            <p:cNvPr id="5123" name="Rectangle 1027"/>
            <p:cNvSpPr>
              <a:spLocks noChangeArrowheads="1"/>
            </p:cNvSpPr>
            <p:nvPr/>
          </p:nvSpPr>
          <p:spPr bwMode="auto">
            <a:xfrm>
              <a:off x="0" y="0"/>
              <a:ext cx="480" cy="4320"/>
            </a:xfrm>
            <a:prstGeom prst="rect">
              <a:avLst/>
            </a:prstGeom>
            <a:gradFill rotWithShape="0">
              <a:gsLst>
                <a:gs pos="0">
                  <a:srgbClr val="800080"/>
                </a:gs>
                <a:gs pos="100000">
                  <a:srgbClr val="800080">
                    <a:gamma/>
                    <a:tint val="20000"/>
                    <a:invGamma/>
                  </a:srgbClr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124" name="Rectangle 1028"/>
            <p:cNvSpPr>
              <a:spLocks noChangeArrowheads="1"/>
            </p:cNvSpPr>
            <p:nvPr/>
          </p:nvSpPr>
          <p:spPr bwMode="auto">
            <a:xfrm>
              <a:off x="432" y="0"/>
              <a:ext cx="1584" cy="672"/>
            </a:xfrm>
            <a:prstGeom prst="rect">
              <a:avLst/>
            </a:prstGeom>
            <a:gradFill rotWithShape="0">
              <a:gsLst>
                <a:gs pos="0">
                  <a:srgbClr val="800080"/>
                </a:gs>
                <a:gs pos="100000">
                  <a:srgbClr val="800080">
                    <a:gamma/>
                    <a:tint val="20000"/>
                    <a:invGamma/>
                  </a:srgbClr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5134" name="Line 1038"/>
          <p:cNvSpPr>
            <a:spLocks noChangeShapeType="1"/>
          </p:cNvSpPr>
          <p:nvPr userDrawn="1"/>
        </p:nvSpPr>
        <p:spPr bwMode="auto">
          <a:xfrm>
            <a:off x="1476375" y="981075"/>
            <a:ext cx="7515225" cy="9525"/>
          </a:xfrm>
          <a:prstGeom prst="line">
            <a:avLst/>
          </a:prstGeom>
          <a:noFill/>
          <a:ln w="57150" cmpd="thinThick">
            <a:solidFill>
              <a:srgbClr val="800080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pic>
        <p:nvPicPr>
          <p:cNvPr id="5135" name="Picture 1039" descr="清华大学">
            <a:hlinkClick r:id="rId13"/>
          </p:cNvPr>
          <p:cNvPicPr>
            <a:picLocks noChangeAspect="1" noChangeArrowheads="1"/>
          </p:cNvPicPr>
          <p:nvPr userDrawn="1"/>
        </p:nvPicPr>
        <p:blipFill>
          <a:blip r:embed="rId14" cstate="print"/>
          <a:srcRect/>
          <a:stretch>
            <a:fillRect/>
          </a:stretch>
        </p:blipFill>
        <p:spPr bwMode="auto">
          <a:xfrm>
            <a:off x="7380288" y="163513"/>
            <a:ext cx="1223962" cy="312737"/>
          </a:xfrm>
          <a:prstGeom prst="rect">
            <a:avLst/>
          </a:prstGeom>
          <a:noFill/>
        </p:spPr>
      </p:pic>
      <p:sp>
        <p:nvSpPr>
          <p:cNvPr id="5136" name="Text Box 1040"/>
          <p:cNvSpPr txBox="1">
            <a:spLocks noChangeArrowheads="1"/>
          </p:cNvSpPr>
          <p:nvPr userDrawn="1"/>
        </p:nvSpPr>
        <p:spPr bwMode="auto">
          <a:xfrm>
            <a:off x="7235825" y="476250"/>
            <a:ext cx="1800225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buClrTx/>
              <a:buFontTx/>
              <a:buNone/>
            </a:pPr>
            <a:r>
              <a:rPr lang="en-US" altLang="zh-CN" sz="2000">
                <a:solidFill>
                  <a:srgbClr val="990099"/>
                </a:solidFill>
                <a:latin typeface="Comic Sans MS" pitchFamily="66" charset="0"/>
                <a:cs typeface="Times New Roman" pitchFamily="18" charset="0"/>
              </a:rPr>
              <a:t>《</a:t>
            </a:r>
            <a:r>
              <a:rPr lang="zh-CN" altLang="en-US" sz="2000">
                <a:solidFill>
                  <a:srgbClr val="990099"/>
                </a:solidFill>
                <a:latin typeface="Comic Sans MS" pitchFamily="66" charset="0"/>
                <a:cs typeface="Times New Roman" pitchFamily="18" charset="0"/>
              </a:rPr>
              <a:t>编译原理</a:t>
            </a:r>
            <a:r>
              <a:rPr lang="en-US" altLang="zh-CN" sz="2000">
                <a:solidFill>
                  <a:srgbClr val="990099"/>
                </a:solidFill>
                <a:latin typeface="Comic Sans MS" pitchFamily="66" charset="0"/>
                <a:cs typeface="Times New Roman" pitchFamily="18" charset="0"/>
              </a:rPr>
              <a:t>》</a:t>
            </a:r>
          </a:p>
        </p:txBody>
      </p:sp>
      <p:sp>
        <p:nvSpPr>
          <p:cNvPr id="5137" name="AutoShape 1041"/>
          <p:cNvSpPr>
            <a:spLocks noChangeArrowheads="1"/>
          </p:cNvSpPr>
          <p:nvPr userDrawn="1"/>
        </p:nvSpPr>
        <p:spPr bwMode="auto">
          <a:xfrm>
            <a:off x="1116013" y="188913"/>
            <a:ext cx="3311525" cy="64770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 algn="ctr">
              <a:buClrTx/>
              <a:buFontTx/>
              <a:buNone/>
            </a:pPr>
            <a:endParaRPr lang="zh-CN" altLang="zh-CN">
              <a:solidFill>
                <a:schemeClr val="tx1"/>
              </a:solidFill>
              <a:latin typeface="Times New Roman" pitchFamily="18" charset="0"/>
              <a:ea typeface="宋体" pitchFamily="2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</p:sldLayoutIdLst>
  <p:transition spd="med" advClick="0">
    <p:wipe dir="r"/>
  </p:transition>
  <p:txStyles>
    <p:titleStyle>
      <a:lvl1pPr algn="l" rtl="0" fontAlgn="base">
        <a:lnSpc>
          <a:spcPct val="90000"/>
        </a:lnSpc>
        <a:spcBef>
          <a:spcPct val="0"/>
        </a:spcBef>
        <a:spcAft>
          <a:spcPct val="0"/>
        </a:spcAft>
        <a:defRPr kumimoji="1" sz="36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fontAlgn="base">
        <a:lnSpc>
          <a:spcPct val="90000"/>
        </a:lnSpc>
        <a:spcBef>
          <a:spcPct val="0"/>
        </a:spcBef>
        <a:spcAft>
          <a:spcPct val="0"/>
        </a:spcAft>
        <a:defRPr kumimoji="1" sz="3600" b="1">
          <a:solidFill>
            <a:schemeClr val="tx2"/>
          </a:solidFill>
          <a:latin typeface="Arial" pitchFamily="34" charset="0"/>
          <a:ea typeface="宋体" pitchFamily="2" charset="-122"/>
        </a:defRPr>
      </a:lvl2pPr>
      <a:lvl3pPr algn="l" rtl="0" fontAlgn="base">
        <a:lnSpc>
          <a:spcPct val="90000"/>
        </a:lnSpc>
        <a:spcBef>
          <a:spcPct val="0"/>
        </a:spcBef>
        <a:spcAft>
          <a:spcPct val="0"/>
        </a:spcAft>
        <a:defRPr kumimoji="1" sz="3600" b="1">
          <a:solidFill>
            <a:schemeClr val="tx2"/>
          </a:solidFill>
          <a:latin typeface="Arial" pitchFamily="34" charset="0"/>
          <a:ea typeface="宋体" pitchFamily="2" charset="-122"/>
        </a:defRPr>
      </a:lvl3pPr>
      <a:lvl4pPr algn="l" rtl="0" fontAlgn="base">
        <a:lnSpc>
          <a:spcPct val="90000"/>
        </a:lnSpc>
        <a:spcBef>
          <a:spcPct val="0"/>
        </a:spcBef>
        <a:spcAft>
          <a:spcPct val="0"/>
        </a:spcAft>
        <a:defRPr kumimoji="1" sz="3600" b="1">
          <a:solidFill>
            <a:schemeClr val="tx2"/>
          </a:solidFill>
          <a:latin typeface="Arial" pitchFamily="34" charset="0"/>
          <a:ea typeface="宋体" pitchFamily="2" charset="-122"/>
        </a:defRPr>
      </a:lvl4pPr>
      <a:lvl5pPr algn="l" rtl="0" fontAlgn="base">
        <a:lnSpc>
          <a:spcPct val="90000"/>
        </a:lnSpc>
        <a:spcBef>
          <a:spcPct val="0"/>
        </a:spcBef>
        <a:spcAft>
          <a:spcPct val="0"/>
        </a:spcAft>
        <a:defRPr kumimoji="1" sz="3600" b="1">
          <a:solidFill>
            <a:schemeClr val="tx2"/>
          </a:solidFill>
          <a:latin typeface="Arial" pitchFamily="34" charset="0"/>
          <a:ea typeface="宋体" pitchFamily="2" charset="-122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kumimoji="1" sz="3600" b="1">
          <a:solidFill>
            <a:schemeClr val="tx2"/>
          </a:solidFill>
          <a:latin typeface="Arial" pitchFamily="34" charset="0"/>
          <a:ea typeface="宋体" pitchFamily="2" charset="-122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kumimoji="1" sz="3600" b="1">
          <a:solidFill>
            <a:schemeClr val="tx2"/>
          </a:solidFill>
          <a:latin typeface="Arial" pitchFamily="34" charset="0"/>
          <a:ea typeface="宋体" pitchFamily="2" charset="-122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kumimoji="1" sz="3600" b="1">
          <a:solidFill>
            <a:schemeClr val="tx2"/>
          </a:solidFill>
          <a:latin typeface="Arial" pitchFamily="34" charset="0"/>
          <a:ea typeface="宋体" pitchFamily="2" charset="-122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kumimoji="1" sz="3600" b="1">
          <a:solidFill>
            <a:schemeClr val="tx2"/>
          </a:solidFill>
          <a:latin typeface="Arial" pitchFamily="34" charset="0"/>
          <a:ea typeface="宋体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chemeClr val="tx1"/>
        </a:buClr>
        <a:buSzPct val="75000"/>
        <a:buFont typeface="Wingdings" pitchFamily="2" charset="2"/>
        <a:buChar char="l"/>
        <a:defRPr kumimoji="1"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lr>
          <a:schemeClr val="tx1"/>
        </a:buClr>
        <a:buSzPct val="75000"/>
        <a:buChar char="–"/>
        <a:defRPr kumimoji="1" sz="2400">
          <a:solidFill>
            <a:schemeClr val="tx1"/>
          </a:solidFill>
          <a:latin typeface="+mn-lt"/>
          <a:ea typeface="+mn-ea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SzPct val="75000"/>
        <a:buFont typeface="Wingdings" pitchFamily="2" charset="2"/>
        <a:buChar char="l"/>
        <a:defRPr kumimoji="1" sz="2000">
          <a:solidFill>
            <a:schemeClr val="tx1"/>
          </a:solidFill>
          <a:latin typeface="+mn-lt"/>
          <a:ea typeface="+mn-ea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SzPct val="80000"/>
        <a:buChar char="–"/>
        <a:defRPr kumimoji="1">
          <a:solidFill>
            <a:schemeClr val="tx1"/>
          </a:solidFill>
          <a:latin typeface="+mn-lt"/>
          <a:ea typeface="+mn-ea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itchFamily="2" charset="2"/>
        <a:buChar char="l"/>
        <a:defRPr kumimoji="1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itchFamily="2" charset="2"/>
        <a:buChar char="l"/>
        <a:defRPr kumimoji="1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itchFamily="2" charset="2"/>
        <a:buChar char="l"/>
        <a:defRPr kumimoji="1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itchFamily="2" charset="2"/>
        <a:buChar char="l"/>
        <a:defRPr kumimoji="1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itchFamily="2" charset="2"/>
        <a:buChar char="l"/>
        <a:defRPr kumimoji="1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16.xml"/><Relationship Id="rId2" Type="http://schemas.openxmlformats.org/officeDocument/2006/relationships/slide" Target="slide3.xml"/><Relationship Id="rId1" Type="http://schemas.openxmlformats.org/officeDocument/2006/relationships/slideLayout" Target="../slideLayouts/slideLayout7.xml"/><Relationship Id="rId6" Type="http://schemas.openxmlformats.org/officeDocument/2006/relationships/slide" Target="slide8.xml"/><Relationship Id="rId5" Type="http://schemas.openxmlformats.org/officeDocument/2006/relationships/slide" Target="slide4.xml"/><Relationship Id="rId4" Type="http://schemas.openxmlformats.org/officeDocument/2006/relationships/slide" Target="slide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5" name="AutoShape 7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382000" y="6553200"/>
            <a:ext cx="179388" cy="107950"/>
          </a:xfrm>
          <a:prstGeom prst="actionButtonForwardNex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56" name="AutoShape 8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8077200" y="6553200"/>
            <a:ext cx="179388" cy="107950"/>
          </a:xfrm>
          <a:prstGeom prst="actionButtonBackPrevious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57" name="AutoShape 9">
            <a:hlinkClick r:id="" action="ppaction://hlinkshowjump?jump=firstslide" highlightClick="1"/>
          </p:cNvPr>
          <p:cNvSpPr>
            <a:spLocks noChangeArrowheads="1"/>
          </p:cNvSpPr>
          <p:nvPr/>
        </p:nvSpPr>
        <p:spPr bwMode="auto">
          <a:xfrm>
            <a:off x="7772400" y="6553200"/>
            <a:ext cx="179388" cy="107950"/>
          </a:xfrm>
          <a:prstGeom prst="actionButtonBeginning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58" name="AutoShape 10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686800" y="6553200"/>
            <a:ext cx="179388" cy="107950"/>
          </a:xfrm>
          <a:prstGeom prst="actionButtonEnd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62" name="Text Box 14">
            <a:hlinkClick r:id="rId2" action="ppaction://hlinksldjump"/>
          </p:cNvPr>
          <p:cNvSpPr txBox="1">
            <a:spLocks noChangeArrowheads="1"/>
          </p:cNvSpPr>
          <p:nvPr/>
        </p:nvSpPr>
        <p:spPr bwMode="auto">
          <a:xfrm>
            <a:off x="1141413" y="1563688"/>
            <a:ext cx="5878512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altLang="zh-CN" sz="3600" b="1" dirty="0">
                <a:solidFill>
                  <a:srgbClr val="800080"/>
                </a:solidFill>
                <a:latin typeface="楷体_GB2312" pitchFamily="49" charset="-122"/>
              </a:rPr>
              <a:t> </a:t>
            </a:r>
            <a:r>
              <a:rPr lang="zh-CN" altLang="en-US" sz="3600" b="1">
                <a:solidFill>
                  <a:srgbClr val="800080"/>
                </a:solidFill>
                <a:latin typeface="楷体_GB2312" pitchFamily="49" charset="-122"/>
              </a:rPr>
              <a:t>符号</a:t>
            </a:r>
            <a:r>
              <a:rPr lang="zh-CN" altLang="en-US" sz="3600" b="1" smtClean="0">
                <a:solidFill>
                  <a:srgbClr val="800080"/>
                </a:solidFill>
                <a:latin typeface="楷体_GB2312" pitchFamily="49" charset="-122"/>
              </a:rPr>
              <a:t>表</a:t>
            </a:r>
            <a:endParaRPr lang="zh-CN" altLang="en-US" sz="3600" b="1">
              <a:solidFill>
                <a:srgbClr val="800080"/>
              </a:solidFill>
              <a:latin typeface="楷体_GB2312" pitchFamily="49" charset="-122"/>
            </a:endParaRPr>
          </a:p>
        </p:txBody>
      </p:sp>
      <p:sp>
        <p:nvSpPr>
          <p:cNvPr id="2066" name="Rectangle 18"/>
          <p:cNvSpPr>
            <a:spLocks noChangeArrowheads="1"/>
          </p:cNvSpPr>
          <p:nvPr/>
        </p:nvSpPr>
        <p:spPr bwMode="auto">
          <a:xfrm>
            <a:off x="1479550" y="188913"/>
            <a:ext cx="1949450" cy="66172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lnSpc>
                <a:spcPct val="90000"/>
              </a:lnSpc>
              <a:buClrTx/>
              <a:buFontTx/>
              <a:buNone/>
            </a:pPr>
            <a:r>
              <a:rPr lang="zh-CN" altLang="en-US" sz="4000" b="1" dirty="0" smtClean="0">
                <a:solidFill>
                  <a:srgbClr val="800080"/>
                </a:solidFill>
                <a:ea typeface="华文行楷" pitchFamily="2" charset="-122"/>
              </a:rPr>
              <a:t>第八章</a:t>
            </a:r>
            <a:endParaRPr lang="zh-CN" altLang="en-US" sz="4000" b="1" dirty="0">
              <a:solidFill>
                <a:srgbClr val="800080"/>
              </a:solidFill>
              <a:ea typeface="华文行楷" pitchFamily="2" charset="-122"/>
            </a:endParaRPr>
          </a:p>
        </p:txBody>
      </p:sp>
    </p:spTree>
  </p:cSld>
  <p:clrMapOvr>
    <a:masterClrMapping/>
  </p:clrMapOvr>
  <p:transition spd="med" advClick="0">
    <p:wipe dir="r"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145" name="Text Box 17">
            <a:hlinkClick r:id="rId2" action="ppaction://hlinksldjump"/>
          </p:cNvPr>
          <p:cNvSpPr txBox="1">
            <a:spLocks noChangeArrowheads="1"/>
          </p:cNvSpPr>
          <p:nvPr/>
        </p:nvSpPr>
        <p:spPr bwMode="auto">
          <a:xfrm>
            <a:off x="1066800" y="1524000"/>
            <a:ext cx="6940550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buClrTx/>
            </a:pPr>
            <a:r>
              <a:rPr lang="en-US" altLang="zh-CN" sz="3200" b="1">
                <a:solidFill>
                  <a:srgbClr val="800080"/>
                </a:solidFill>
              </a:rPr>
              <a:t> </a:t>
            </a:r>
            <a:r>
              <a:rPr lang="zh-CN" altLang="en-US" sz="3200" b="1">
                <a:solidFill>
                  <a:srgbClr val="800080"/>
                </a:solidFill>
              </a:rPr>
              <a:t>符号表</a:t>
            </a:r>
            <a:r>
              <a:rPr lang="zh-CN" altLang="en-US" sz="3200" b="1">
                <a:solidFill>
                  <a:srgbClr val="800080"/>
                </a:solidFill>
                <a:latin typeface="楷体_GB2312" pitchFamily="49" charset="-122"/>
              </a:rPr>
              <a:t>的作用</a:t>
            </a:r>
          </a:p>
        </p:txBody>
      </p:sp>
      <p:sp>
        <p:nvSpPr>
          <p:cNvPr id="304146" name="AutoShape 18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382000" y="6553200"/>
            <a:ext cx="179388" cy="107950"/>
          </a:xfrm>
          <a:prstGeom prst="actionButtonForwardNex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04147" name="AutoShape 19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8077200" y="6553200"/>
            <a:ext cx="179388" cy="107950"/>
          </a:xfrm>
          <a:prstGeom prst="actionButtonBackPrevious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04148" name="AutoShape 20">
            <a:hlinkClick r:id="" action="ppaction://hlinkshowjump?jump=firstslide" highlightClick="1"/>
          </p:cNvPr>
          <p:cNvSpPr>
            <a:spLocks noChangeArrowheads="1"/>
          </p:cNvSpPr>
          <p:nvPr/>
        </p:nvSpPr>
        <p:spPr bwMode="auto">
          <a:xfrm>
            <a:off x="7772400" y="6553200"/>
            <a:ext cx="179388" cy="107950"/>
          </a:xfrm>
          <a:prstGeom prst="actionButtonBeginning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04149" name="AutoShape 21">
            <a:hlinkClick r:id="rId3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8686800" y="6553200"/>
            <a:ext cx="179388" cy="107950"/>
          </a:xfrm>
          <a:prstGeom prst="actionButtonEnd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04210" name="Rectangle 82"/>
          <p:cNvSpPr>
            <a:spLocks noChangeArrowheads="1"/>
          </p:cNvSpPr>
          <p:nvPr/>
        </p:nvSpPr>
        <p:spPr bwMode="auto">
          <a:xfrm>
            <a:off x="1524000" y="188913"/>
            <a:ext cx="1828800" cy="6413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90000"/>
              </a:lnSpc>
              <a:buClrTx/>
              <a:buFontTx/>
              <a:buNone/>
            </a:pPr>
            <a:r>
              <a:rPr lang="zh-CN" altLang="en-US" sz="4000" b="1">
                <a:solidFill>
                  <a:srgbClr val="800080"/>
                </a:solidFill>
                <a:latin typeface="华文行楷" pitchFamily="2" charset="-122"/>
                <a:ea typeface="华文行楷" pitchFamily="2" charset="-122"/>
              </a:rPr>
              <a:t>符号表</a:t>
            </a:r>
          </a:p>
        </p:txBody>
      </p:sp>
      <p:sp>
        <p:nvSpPr>
          <p:cNvPr id="304211" name="Text Box 83">
            <a:hlinkClick r:id="rId4" action="ppaction://hlinksldjump"/>
          </p:cNvPr>
          <p:cNvSpPr txBox="1">
            <a:spLocks noChangeArrowheads="1"/>
          </p:cNvSpPr>
          <p:nvPr/>
        </p:nvSpPr>
        <p:spPr bwMode="auto">
          <a:xfrm>
            <a:off x="1071563" y="3001963"/>
            <a:ext cx="5033962" cy="579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altLang="zh-CN" sz="3200" b="1">
                <a:solidFill>
                  <a:srgbClr val="800080"/>
                </a:solidFill>
              </a:rPr>
              <a:t> </a:t>
            </a:r>
            <a:r>
              <a:rPr lang="zh-CN" altLang="en-US" sz="3200" b="1">
                <a:solidFill>
                  <a:srgbClr val="800080"/>
                </a:solidFill>
              </a:rPr>
              <a:t>符号表的实现</a:t>
            </a:r>
          </a:p>
        </p:txBody>
      </p:sp>
      <p:sp>
        <p:nvSpPr>
          <p:cNvPr id="304212" name="Text Box 84">
            <a:hlinkClick r:id="rId5" action="ppaction://hlinksldjump"/>
          </p:cNvPr>
          <p:cNvSpPr txBox="1">
            <a:spLocks noChangeArrowheads="1"/>
          </p:cNvSpPr>
          <p:nvPr/>
        </p:nvSpPr>
        <p:spPr bwMode="auto">
          <a:xfrm>
            <a:off x="1071563" y="2286000"/>
            <a:ext cx="5176837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altLang="zh-CN" sz="3200" b="1">
                <a:solidFill>
                  <a:srgbClr val="800080"/>
                </a:solidFill>
              </a:rPr>
              <a:t> </a:t>
            </a:r>
            <a:r>
              <a:rPr lang="zh-CN" altLang="en-US" sz="3200" b="1">
                <a:solidFill>
                  <a:srgbClr val="800080"/>
                </a:solidFill>
              </a:rPr>
              <a:t>符号表的常见属性</a:t>
            </a:r>
          </a:p>
        </p:txBody>
      </p:sp>
      <p:sp>
        <p:nvSpPr>
          <p:cNvPr id="304214" name="Text Box 86">
            <a:hlinkClick r:id="rId6" action="ppaction://hlinksldjump"/>
          </p:cNvPr>
          <p:cNvSpPr txBox="1">
            <a:spLocks noChangeArrowheads="1"/>
          </p:cNvSpPr>
          <p:nvPr/>
        </p:nvSpPr>
        <p:spPr bwMode="auto">
          <a:xfrm>
            <a:off x="1066800" y="3786188"/>
            <a:ext cx="5592763" cy="579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altLang="zh-CN" sz="3200" b="1">
                <a:solidFill>
                  <a:srgbClr val="800080"/>
                </a:solidFill>
              </a:rPr>
              <a:t> </a:t>
            </a:r>
            <a:r>
              <a:rPr lang="zh-CN" altLang="en-US" sz="3200" b="1">
                <a:solidFill>
                  <a:srgbClr val="800080"/>
                </a:solidFill>
              </a:rPr>
              <a:t>符号表体现作用域与可见性</a:t>
            </a:r>
          </a:p>
        </p:txBody>
      </p:sp>
    </p:spTree>
  </p:cSld>
  <p:clrMapOvr>
    <a:masterClrMapping/>
  </p:clrMapOvr>
  <p:transition spd="med" advClick="0">
    <p:wipe dir="r"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331" name="Text Box 35"/>
          <p:cNvSpPr txBox="1">
            <a:spLocks noChangeArrowheads="1"/>
          </p:cNvSpPr>
          <p:nvPr/>
        </p:nvSpPr>
        <p:spPr bwMode="auto">
          <a:xfrm>
            <a:off x="762000" y="1325563"/>
            <a:ext cx="6940550" cy="579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buClrTx/>
            </a:pPr>
            <a:r>
              <a:rPr lang="en-US" altLang="zh-CN" sz="3200" b="1">
                <a:solidFill>
                  <a:srgbClr val="800080"/>
                </a:solidFill>
              </a:rPr>
              <a:t> </a:t>
            </a:r>
            <a:r>
              <a:rPr lang="zh-CN" altLang="en-US" sz="3200" b="1">
                <a:solidFill>
                  <a:srgbClr val="800080"/>
                </a:solidFill>
              </a:rPr>
              <a:t>符号表</a:t>
            </a:r>
            <a:r>
              <a:rPr lang="zh-CN" altLang="en-US" sz="3200" b="1">
                <a:solidFill>
                  <a:srgbClr val="800080"/>
                </a:solidFill>
                <a:latin typeface="楷体_GB2312" pitchFamily="49" charset="-122"/>
              </a:rPr>
              <a:t>的作用</a:t>
            </a:r>
          </a:p>
        </p:txBody>
      </p:sp>
      <p:sp>
        <p:nvSpPr>
          <p:cNvPr id="567336" name="Rectangle 40"/>
          <p:cNvSpPr>
            <a:spLocks noChangeArrowheads="1"/>
          </p:cNvSpPr>
          <p:nvPr/>
        </p:nvSpPr>
        <p:spPr bwMode="auto">
          <a:xfrm>
            <a:off x="1524000" y="188913"/>
            <a:ext cx="1828800" cy="6413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90000"/>
              </a:lnSpc>
              <a:buClrTx/>
              <a:buFontTx/>
              <a:buNone/>
            </a:pPr>
            <a:r>
              <a:rPr lang="zh-CN" altLang="en-US" sz="4000" b="1">
                <a:solidFill>
                  <a:srgbClr val="800080"/>
                </a:solidFill>
                <a:latin typeface="华文行楷" pitchFamily="2" charset="-122"/>
                <a:ea typeface="华文行楷" pitchFamily="2" charset="-122"/>
              </a:rPr>
              <a:t>符号表</a:t>
            </a:r>
          </a:p>
        </p:txBody>
      </p:sp>
      <p:sp>
        <p:nvSpPr>
          <p:cNvPr id="567339" name="Rectangle 43"/>
          <p:cNvSpPr>
            <a:spLocks noChangeArrowheads="1"/>
          </p:cNvSpPr>
          <p:nvPr/>
        </p:nvSpPr>
        <p:spPr bwMode="auto">
          <a:xfrm>
            <a:off x="1104900" y="2060575"/>
            <a:ext cx="7859588" cy="43088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buClrTx/>
              <a:buFont typeface="Symbol" pitchFamily="18" charset="2"/>
              <a:buChar char="-"/>
            </a:pPr>
            <a:r>
              <a:rPr lang="en-US" altLang="zh-CN" sz="2800" b="1" dirty="0">
                <a:solidFill>
                  <a:srgbClr val="800080"/>
                </a:solidFill>
                <a:latin typeface="楷体_GB2312" pitchFamily="49" charset="-122"/>
              </a:rPr>
              <a:t> </a:t>
            </a:r>
            <a:r>
              <a:rPr kumimoji="0" lang="zh-CN" altLang="en-US" sz="2800" b="1" dirty="0"/>
              <a:t>用来</a:t>
            </a:r>
            <a:r>
              <a:rPr kumimoji="0" lang="zh-CN" altLang="en-US" sz="2800" b="1" dirty="0">
                <a:solidFill>
                  <a:srgbClr val="800080"/>
                </a:solidFill>
              </a:rPr>
              <a:t>存放</a:t>
            </a:r>
            <a:r>
              <a:rPr kumimoji="0" lang="zh-CN" altLang="en-US" sz="2800" b="1" dirty="0"/>
              <a:t>有关</a:t>
            </a:r>
            <a:r>
              <a:rPr kumimoji="0" lang="zh-CN" altLang="en-US" sz="2800" b="1" dirty="0">
                <a:solidFill>
                  <a:srgbClr val="800080"/>
                </a:solidFill>
              </a:rPr>
              <a:t>标识符（符号）的属性</a:t>
            </a:r>
            <a:r>
              <a:rPr kumimoji="0" lang="zh-CN" altLang="en-US" sz="2800" b="1" dirty="0"/>
              <a:t>信息</a:t>
            </a:r>
          </a:p>
          <a:p>
            <a:pPr>
              <a:buClrTx/>
              <a:buFont typeface="Symbol" pitchFamily="18" charset="2"/>
              <a:buNone/>
            </a:pPr>
            <a:endParaRPr kumimoji="0" lang="zh-CN" altLang="en-US" sz="1000" b="1" dirty="0">
              <a:solidFill>
                <a:srgbClr val="800080"/>
              </a:solidFill>
            </a:endParaRPr>
          </a:p>
          <a:p>
            <a:pPr lvl="1">
              <a:buClrTx/>
              <a:buFontTx/>
              <a:buChar char="•"/>
            </a:pPr>
            <a:r>
              <a:rPr lang="zh-CN" altLang="en-US" b="1" dirty="0">
                <a:solidFill>
                  <a:srgbClr val="800080"/>
                </a:solidFill>
                <a:latin typeface="Times New Roman" pitchFamily="18" charset="0"/>
              </a:rPr>
              <a:t> </a:t>
            </a:r>
            <a:r>
              <a:rPr lang="zh-CN" altLang="en-US" b="1" dirty="0">
                <a:latin typeface="Times New Roman" pitchFamily="18" charset="0"/>
              </a:rPr>
              <a:t> </a:t>
            </a:r>
            <a:r>
              <a:rPr kumimoji="0" lang="zh-CN" altLang="en-US" b="1" dirty="0"/>
              <a:t>这些信息会在编译的不同阶段用到</a:t>
            </a:r>
          </a:p>
          <a:p>
            <a:pPr lvl="1">
              <a:buClrTx/>
              <a:buFontTx/>
              <a:buNone/>
            </a:pPr>
            <a:endParaRPr lang="zh-CN" altLang="en-US" sz="1000" b="1" dirty="0"/>
          </a:p>
          <a:p>
            <a:pPr lvl="1">
              <a:buFontTx/>
              <a:buChar char="•"/>
            </a:pPr>
            <a:r>
              <a:rPr lang="zh-CN" altLang="en-US" b="1" dirty="0">
                <a:latin typeface="楷体_GB2312" pitchFamily="49" charset="-122"/>
              </a:rPr>
              <a:t> </a:t>
            </a:r>
            <a:r>
              <a:rPr kumimoji="0" lang="zh-CN" altLang="en-US" b="1" dirty="0" smtClean="0">
                <a:latin typeface="楷体_GB2312" pitchFamily="49" charset="-122"/>
              </a:rPr>
              <a:t>符号表的</a:t>
            </a:r>
            <a:r>
              <a:rPr kumimoji="0" lang="zh-CN" altLang="en-US" b="1" dirty="0">
                <a:latin typeface="楷体_GB2312" pitchFamily="49" charset="-122"/>
              </a:rPr>
              <a:t>内容将</a:t>
            </a:r>
            <a:r>
              <a:rPr kumimoji="0" lang="zh-CN" altLang="en-US" b="1" dirty="0" smtClean="0">
                <a:latin typeface="楷体_GB2312" pitchFamily="49" charset="-122"/>
              </a:rPr>
              <a:t>用于静态语义检查</a:t>
            </a:r>
            <a:r>
              <a:rPr kumimoji="0" lang="zh-CN" altLang="en-US" b="1" dirty="0">
                <a:latin typeface="楷体_GB2312" pitchFamily="49" charset="-122"/>
              </a:rPr>
              <a:t>和产生中间代码</a:t>
            </a:r>
          </a:p>
          <a:p>
            <a:pPr lvl="1">
              <a:buFontTx/>
              <a:buNone/>
            </a:pPr>
            <a:endParaRPr kumimoji="0" lang="zh-CN" altLang="en-US" sz="1000" b="1" dirty="0">
              <a:latin typeface="楷体_GB2312" pitchFamily="49" charset="-122"/>
            </a:endParaRPr>
          </a:p>
          <a:p>
            <a:pPr lvl="1">
              <a:buFontTx/>
              <a:buChar char="•"/>
            </a:pPr>
            <a:r>
              <a:rPr lang="zh-CN" altLang="en-US" b="1" dirty="0">
                <a:latin typeface="楷体_GB2312" pitchFamily="49" charset="-122"/>
              </a:rPr>
              <a:t> </a:t>
            </a:r>
            <a:r>
              <a:rPr kumimoji="0" lang="zh-CN" altLang="en-US" b="1" dirty="0"/>
              <a:t>在目标代码生成阶段，符号表是对符号名进行地址</a:t>
            </a:r>
          </a:p>
          <a:p>
            <a:pPr lvl="1">
              <a:buFontTx/>
              <a:buNone/>
            </a:pPr>
            <a:r>
              <a:rPr kumimoji="0" lang="zh-CN" altLang="en-US" b="1" dirty="0"/>
              <a:t>   </a:t>
            </a:r>
            <a:r>
              <a:rPr kumimoji="0" lang="zh-CN" altLang="en-US" b="1" dirty="0" smtClean="0"/>
              <a:t> 分配</a:t>
            </a:r>
            <a:r>
              <a:rPr kumimoji="0" lang="zh-CN" altLang="en-US" b="1" dirty="0"/>
              <a:t>的依据</a:t>
            </a:r>
          </a:p>
          <a:p>
            <a:pPr lvl="1">
              <a:buFontTx/>
              <a:buNone/>
            </a:pPr>
            <a:endParaRPr kumimoji="0" lang="zh-CN" altLang="en-US" sz="1000" b="1" dirty="0"/>
          </a:p>
          <a:p>
            <a:pPr lvl="1">
              <a:buFontTx/>
              <a:buChar char="•"/>
            </a:pPr>
            <a:r>
              <a:rPr lang="zh-CN" altLang="en-US" b="1" dirty="0">
                <a:latin typeface="楷体_GB2312" pitchFamily="49" charset="-122"/>
              </a:rPr>
              <a:t> </a:t>
            </a:r>
            <a:r>
              <a:rPr kumimoji="0" lang="zh-CN" altLang="en-US" b="1" dirty="0"/>
              <a:t>对一个多遍扫描的编译程序，不同遍所用的符号表</a:t>
            </a:r>
          </a:p>
          <a:p>
            <a:pPr lvl="1">
              <a:buFontTx/>
              <a:buNone/>
            </a:pPr>
            <a:r>
              <a:rPr kumimoji="0" lang="zh-CN" altLang="en-US" b="1" dirty="0"/>
              <a:t>   </a:t>
            </a:r>
            <a:r>
              <a:rPr kumimoji="0" lang="zh-CN" altLang="en-US" b="1" dirty="0" smtClean="0"/>
              <a:t> 也</a:t>
            </a:r>
            <a:r>
              <a:rPr kumimoji="0" lang="zh-CN" altLang="en-US" b="1" dirty="0"/>
              <a:t>会有所不同，因为每遍所关心的信息或所能得到</a:t>
            </a:r>
          </a:p>
          <a:p>
            <a:pPr lvl="1">
              <a:buFontTx/>
              <a:buNone/>
            </a:pPr>
            <a:r>
              <a:rPr kumimoji="0" lang="zh-CN" altLang="en-US" b="1" dirty="0"/>
              <a:t>   </a:t>
            </a:r>
            <a:r>
              <a:rPr kumimoji="0" lang="zh-CN" altLang="en-US" b="1" dirty="0" smtClean="0"/>
              <a:t> 的</a:t>
            </a:r>
            <a:r>
              <a:rPr kumimoji="0" lang="zh-CN" altLang="en-US" b="1" dirty="0"/>
              <a:t>信息会有差异</a:t>
            </a:r>
          </a:p>
          <a:p>
            <a:pPr lvl="1">
              <a:buFontTx/>
              <a:buNone/>
            </a:pPr>
            <a:endParaRPr kumimoji="0" lang="zh-CN" altLang="en-US" sz="1000" b="1" dirty="0"/>
          </a:p>
          <a:p>
            <a:pPr>
              <a:buClrTx/>
              <a:buFont typeface="Symbol" pitchFamily="18" charset="2"/>
              <a:buChar char="-"/>
            </a:pPr>
            <a:r>
              <a:rPr lang="zh-CN" altLang="en-US" sz="2800" b="1" dirty="0">
                <a:solidFill>
                  <a:srgbClr val="800080"/>
                </a:solidFill>
                <a:latin typeface="楷体_GB2312" pitchFamily="49" charset="-122"/>
              </a:rPr>
              <a:t> </a:t>
            </a:r>
            <a:r>
              <a:rPr kumimoji="0" lang="zh-CN" altLang="en-US" sz="2800" b="1" dirty="0">
                <a:solidFill>
                  <a:srgbClr val="800080"/>
                </a:solidFill>
              </a:rPr>
              <a:t>用来体现作用域与可见性信息</a:t>
            </a:r>
            <a:endParaRPr kumimoji="0" lang="zh-CN" altLang="en-US" sz="1000" b="1" dirty="0">
              <a:solidFill>
                <a:srgbClr val="800080"/>
              </a:solidFill>
            </a:endParaRPr>
          </a:p>
        </p:txBody>
      </p:sp>
      <p:sp>
        <p:nvSpPr>
          <p:cNvPr id="567332" name="AutoShape 36">
            <a:hlinkClick r:id="rId2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8382000" y="6553200"/>
            <a:ext cx="179388" cy="107950"/>
          </a:xfrm>
          <a:prstGeom prst="actionButtonForwardNex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67333" name="AutoShape 37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8077200" y="6553200"/>
            <a:ext cx="179388" cy="107950"/>
          </a:xfrm>
          <a:prstGeom prst="actionButtonBackPrevious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67334" name="AutoShape 38">
            <a:hlinkClick r:id="" action="ppaction://hlinkshowjump?jump=firstslide" highlightClick="1"/>
          </p:cNvPr>
          <p:cNvSpPr>
            <a:spLocks noChangeArrowheads="1"/>
          </p:cNvSpPr>
          <p:nvPr/>
        </p:nvSpPr>
        <p:spPr bwMode="auto">
          <a:xfrm>
            <a:off x="7772400" y="6553200"/>
            <a:ext cx="179388" cy="107950"/>
          </a:xfrm>
          <a:prstGeom prst="actionButtonBeginning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67335" name="AutoShape 39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686800" y="6553200"/>
            <a:ext cx="179388" cy="107950"/>
          </a:xfrm>
          <a:prstGeom prst="actionButtonEnd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p:transition spd="med" advClick="0">
    <p:wipe dir="r"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190" name="AutoShape 38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382000" y="6553200"/>
            <a:ext cx="179388" cy="107950"/>
          </a:xfrm>
          <a:prstGeom prst="actionButtonForwardNex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05191" name="AutoShape 39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8077200" y="6553200"/>
            <a:ext cx="179388" cy="107950"/>
          </a:xfrm>
          <a:prstGeom prst="actionButtonBackPrevious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05192" name="AutoShape 40">
            <a:hlinkClick r:id="" action="ppaction://hlinkshowjump?jump=firstslide" highlightClick="1"/>
          </p:cNvPr>
          <p:cNvSpPr>
            <a:spLocks noChangeArrowheads="1"/>
          </p:cNvSpPr>
          <p:nvPr/>
        </p:nvSpPr>
        <p:spPr bwMode="auto">
          <a:xfrm>
            <a:off x="7772400" y="6553200"/>
            <a:ext cx="179388" cy="107950"/>
          </a:xfrm>
          <a:prstGeom prst="actionButtonBeginning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05193" name="AutoShape 41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686800" y="6553200"/>
            <a:ext cx="179388" cy="107950"/>
          </a:xfrm>
          <a:prstGeom prst="actionButtonEnd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05194" name="Rectangle 42"/>
          <p:cNvSpPr>
            <a:spLocks noChangeArrowheads="1"/>
          </p:cNvSpPr>
          <p:nvPr/>
        </p:nvSpPr>
        <p:spPr bwMode="auto">
          <a:xfrm>
            <a:off x="1524000" y="188913"/>
            <a:ext cx="1828800" cy="6413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90000"/>
              </a:lnSpc>
              <a:buClrTx/>
              <a:buFontTx/>
              <a:buNone/>
            </a:pPr>
            <a:r>
              <a:rPr lang="zh-CN" altLang="en-US" sz="4000" b="1">
                <a:solidFill>
                  <a:srgbClr val="800080"/>
                </a:solidFill>
                <a:latin typeface="华文行楷" pitchFamily="2" charset="-122"/>
                <a:ea typeface="华文行楷" pitchFamily="2" charset="-122"/>
              </a:rPr>
              <a:t>符号表</a:t>
            </a:r>
          </a:p>
        </p:txBody>
      </p:sp>
      <p:sp>
        <p:nvSpPr>
          <p:cNvPr id="305196" name="Text Box 44">
            <a:hlinkClick r:id="" action="ppaction://noaction"/>
          </p:cNvPr>
          <p:cNvSpPr txBox="1">
            <a:spLocks noChangeArrowheads="1"/>
          </p:cNvSpPr>
          <p:nvPr/>
        </p:nvSpPr>
        <p:spPr bwMode="auto">
          <a:xfrm>
            <a:off x="762000" y="1120775"/>
            <a:ext cx="5176838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altLang="zh-CN" sz="3200" b="1">
                <a:solidFill>
                  <a:srgbClr val="800080"/>
                </a:solidFill>
              </a:rPr>
              <a:t> </a:t>
            </a:r>
            <a:r>
              <a:rPr lang="zh-CN" altLang="en-US" sz="3200" b="1">
                <a:solidFill>
                  <a:srgbClr val="800080"/>
                </a:solidFill>
              </a:rPr>
              <a:t>符号的常见属性</a:t>
            </a:r>
          </a:p>
        </p:txBody>
      </p:sp>
      <p:sp>
        <p:nvSpPr>
          <p:cNvPr id="305198" name="AutoShape 46">
            <a:hlinkClick r:id="rId2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8382000" y="6553200"/>
            <a:ext cx="179388" cy="107950"/>
          </a:xfrm>
          <a:prstGeom prst="actionButtonForwardNex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05199" name="AutoShape 47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8077200" y="6553200"/>
            <a:ext cx="179388" cy="107950"/>
          </a:xfrm>
          <a:prstGeom prst="actionButtonBackPrevious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05200" name="AutoShape 48">
            <a:hlinkClick r:id="" action="ppaction://hlinkshowjump?jump=firstslide" highlightClick="1"/>
          </p:cNvPr>
          <p:cNvSpPr>
            <a:spLocks noChangeArrowheads="1"/>
          </p:cNvSpPr>
          <p:nvPr/>
        </p:nvSpPr>
        <p:spPr bwMode="auto">
          <a:xfrm>
            <a:off x="7772400" y="6553200"/>
            <a:ext cx="179388" cy="107950"/>
          </a:xfrm>
          <a:prstGeom prst="actionButtonBeginning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05201" name="AutoShape 49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686800" y="6553200"/>
            <a:ext cx="179388" cy="107950"/>
          </a:xfrm>
          <a:prstGeom prst="actionButtonEnd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05202" name="Rectangle 50"/>
          <p:cNvSpPr>
            <a:spLocks noChangeArrowheads="1"/>
          </p:cNvSpPr>
          <p:nvPr/>
        </p:nvSpPr>
        <p:spPr bwMode="auto">
          <a:xfrm>
            <a:off x="1104900" y="1773238"/>
            <a:ext cx="6515100" cy="4968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buClrTx/>
              <a:buFont typeface="Symbol" pitchFamily="18" charset="2"/>
              <a:buChar char="-"/>
            </a:pPr>
            <a:r>
              <a:rPr lang="en-US" altLang="zh-CN" sz="2800" b="1">
                <a:solidFill>
                  <a:srgbClr val="800080"/>
                </a:solidFill>
                <a:latin typeface="楷体_GB2312" pitchFamily="49" charset="-122"/>
              </a:rPr>
              <a:t> </a:t>
            </a:r>
            <a:r>
              <a:rPr kumimoji="0" lang="zh-CN" altLang="en-US" sz="2800" b="1">
                <a:solidFill>
                  <a:srgbClr val="800080"/>
                </a:solidFill>
              </a:rPr>
              <a:t>符号名</a:t>
            </a:r>
          </a:p>
          <a:p>
            <a:pPr>
              <a:buClrTx/>
              <a:buFont typeface="Symbol" pitchFamily="18" charset="2"/>
              <a:buNone/>
            </a:pPr>
            <a:endParaRPr kumimoji="0" lang="zh-CN" altLang="en-US" sz="1000" b="1">
              <a:solidFill>
                <a:srgbClr val="800080"/>
              </a:solidFill>
            </a:endParaRPr>
          </a:p>
          <a:p>
            <a:pPr>
              <a:buClrTx/>
              <a:buFont typeface="Symbol" pitchFamily="18" charset="2"/>
              <a:buChar char="-"/>
            </a:pPr>
            <a:r>
              <a:rPr kumimoji="0" lang="zh-CN" altLang="en-US" sz="2800" b="1">
                <a:solidFill>
                  <a:srgbClr val="800080"/>
                </a:solidFill>
              </a:rPr>
              <a:t>  符号的类别</a:t>
            </a:r>
          </a:p>
          <a:p>
            <a:pPr>
              <a:buClrTx/>
              <a:buFont typeface="Symbol" pitchFamily="18" charset="2"/>
              <a:buNone/>
            </a:pPr>
            <a:endParaRPr kumimoji="0" lang="zh-CN" altLang="en-US" sz="1000" b="1">
              <a:solidFill>
                <a:srgbClr val="800080"/>
              </a:solidFill>
            </a:endParaRPr>
          </a:p>
          <a:p>
            <a:pPr>
              <a:buClrTx/>
              <a:buFont typeface="Symbol" pitchFamily="18" charset="2"/>
              <a:buChar char="-"/>
            </a:pPr>
            <a:r>
              <a:rPr kumimoji="0" lang="zh-CN" altLang="en-US" sz="2800" b="1">
                <a:solidFill>
                  <a:srgbClr val="800080"/>
                </a:solidFill>
              </a:rPr>
              <a:t>  符号的类型</a:t>
            </a:r>
          </a:p>
          <a:p>
            <a:pPr>
              <a:buClrTx/>
              <a:buFont typeface="Symbol" pitchFamily="18" charset="2"/>
              <a:buNone/>
            </a:pPr>
            <a:endParaRPr kumimoji="0" lang="zh-CN" altLang="en-US" sz="1000" b="1">
              <a:solidFill>
                <a:srgbClr val="800080"/>
              </a:solidFill>
            </a:endParaRPr>
          </a:p>
          <a:p>
            <a:pPr>
              <a:buClrTx/>
              <a:buFont typeface="Symbol" pitchFamily="18" charset="2"/>
              <a:buChar char="-"/>
            </a:pPr>
            <a:r>
              <a:rPr kumimoji="0" lang="zh-CN" altLang="en-US" sz="2800" b="1">
                <a:solidFill>
                  <a:srgbClr val="800080"/>
                </a:solidFill>
              </a:rPr>
              <a:t>  符号的存储类别和存储分配信息</a:t>
            </a:r>
          </a:p>
          <a:p>
            <a:pPr>
              <a:buClrTx/>
              <a:buFont typeface="Symbol" pitchFamily="18" charset="2"/>
              <a:buNone/>
            </a:pPr>
            <a:endParaRPr kumimoji="0" lang="zh-CN" altLang="en-US" sz="1000" b="1">
              <a:solidFill>
                <a:srgbClr val="800080"/>
              </a:solidFill>
            </a:endParaRPr>
          </a:p>
          <a:p>
            <a:pPr>
              <a:buClrTx/>
              <a:buFont typeface="Symbol" pitchFamily="18" charset="2"/>
              <a:buChar char="-"/>
            </a:pPr>
            <a:r>
              <a:rPr kumimoji="0" lang="zh-CN" altLang="en-US" sz="2800" b="1">
                <a:solidFill>
                  <a:srgbClr val="800080"/>
                </a:solidFill>
              </a:rPr>
              <a:t>  符号的作用域信息</a:t>
            </a:r>
          </a:p>
          <a:p>
            <a:pPr>
              <a:buClrTx/>
              <a:buFont typeface="Symbol" pitchFamily="18" charset="2"/>
              <a:buNone/>
            </a:pPr>
            <a:endParaRPr kumimoji="0" lang="zh-CN" altLang="en-US" sz="1000" b="1">
              <a:solidFill>
                <a:srgbClr val="800080"/>
              </a:solidFill>
            </a:endParaRPr>
          </a:p>
          <a:p>
            <a:pPr>
              <a:buClrTx/>
              <a:buFont typeface="Symbol" pitchFamily="18" charset="2"/>
              <a:buChar char="-"/>
            </a:pPr>
            <a:r>
              <a:rPr kumimoji="0" lang="zh-CN" altLang="en-US" sz="2800" b="1">
                <a:solidFill>
                  <a:srgbClr val="800080"/>
                </a:solidFill>
              </a:rPr>
              <a:t>  其他属性</a:t>
            </a:r>
          </a:p>
          <a:p>
            <a:pPr>
              <a:buClrTx/>
              <a:buFont typeface="Symbol" pitchFamily="18" charset="2"/>
              <a:buNone/>
            </a:pPr>
            <a:endParaRPr kumimoji="0" lang="zh-CN" altLang="en-US" sz="1000" b="1">
              <a:solidFill>
                <a:srgbClr val="800080"/>
              </a:solidFill>
            </a:endParaRPr>
          </a:p>
          <a:p>
            <a:pPr lvl="1">
              <a:buClrTx/>
              <a:buFontTx/>
              <a:buChar char="•"/>
            </a:pPr>
            <a:r>
              <a:rPr lang="zh-CN" altLang="en-US" b="1">
                <a:solidFill>
                  <a:srgbClr val="800080"/>
                </a:solidFill>
                <a:latin typeface="Times New Roman" pitchFamily="18" charset="0"/>
              </a:rPr>
              <a:t> </a:t>
            </a:r>
            <a:r>
              <a:rPr lang="zh-CN" altLang="en-US" b="1">
                <a:latin typeface="Times New Roman" pitchFamily="18" charset="0"/>
              </a:rPr>
              <a:t> </a:t>
            </a:r>
            <a:r>
              <a:rPr lang="zh-CN" altLang="en-US" b="1"/>
              <a:t>数组内情向量</a:t>
            </a:r>
            <a:endParaRPr kumimoji="0" lang="zh-CN" altLang="en-US" b="1"/>
          </a:p>
          <a:p>
            <a:pPr lvl="1">
              <a:buClrTx/>
              <a:buFontTx/>
              <a:buNone/>
            </a:pPr>
            <a:endParaRPr lang="zh-CN" altLang="en-US" sz="1000" b="1"/>
          </a:p>
          <a:p>
            <a:pPr lvl="1">
              <a:buFontTx/>
              <a:buChar char="•"/>
            </a:pPr>
            <a:r>
              <a:rPr lang="zh-CN" altLang="en-US" b="1">
                <a:latin typeface="楷体_GB2312" pitchFamily="49" charset="-122"/>
              </a:rPr>
              <a:t> </a:t>
            </a:r>
            <a:r>
              <a:rPr lang="zh-CN" altLang="en-US" b="1"/>
              <a:t>记录结构的成员信息</a:t>
            </a:r>
            <a:r>
              <a:rPr lang="zh-CN" altLang="en-US" b="1">
                <a:solidFill>
                  <a:schemeClr val="tx1"/>
                </a:solidFill>
              </a:rPr>
              <a:t> </a:t>
            </a:r>
            <a:endParaRPr kumimoji="0" lang="zh-CN" altLang="en-US" b="1">
              <a:latin typeface="楷体_GB2312" pitchFamily="49" charset="-122"/>
            </a:endParaRPr>
          </a:p>
          <a:p>
            <a:pPr lvl="1">
              <a:buFontTx/>
              <a:buNone/>
            </a:pPr>
            <a:endParaRPr kumimoji="0" lang="zh-CN" altLang="en-US" sz="1000" b="1">
              <a:latin typeface="楷体_GB2312" pitchFamily="49" charset="-122"/>
            </a:endParaRPr>
          </a:p>
          <a:p>
            <a:pPr lvl="1">
              <a:buFontTx/>
              <a:buChar char="•"/>
            </a:pPr>
            <a:r>
              <a:rPr lang="zh-CN" altLang="en-US" b="1">
                <a:latin typeface="楷体_GB2312" pitchFamily="49" charset="-122"/>
              </a:rPr>
              <a:t> </a:t>
            </a:r>
            <a:r>
              <a:rPr lang="zh-CN" altLang="en-US" b="1"/>
              <a:t>函数及过程的形参</a:t>
            </a:r>
            <a:r>
              <a:rPr lang="zh-CN" altLang="en-US" b="1">
                <a:solidFill>
                  <a:schemeClr val="tx1"/>
                </a:solidFill>
              </a:rPr>
              <a:t> </a:t>
            </a:r>
            <a:endParaRPr kumimoji="0" lang="zh-CN" altLang="en-US" b="1"/>
          </a:p>
        </p:txBody>
      </p:sp>
    </p:spTree>
  </p:cSld>
  <p:clrMapOvr>
    <a:masterClrMapping/>
  </p:clrMapOvr>
  <p:transition spd="med" advClick="0">
    <p:wipe dir="r"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327" name="Rectangle 31"/>
          <p:cNvSpPr>
            <a:spLocks noChangeArrowheads="1"/>
          </p:cNvSpPr>
          <p:nvPr/>
        </p:nvSpPr>
        <p:spPr bwMode="auto">
          <a:xfrm>
            <a:off x="1524000" y="188913"/>
            <a:ext cx="1828800" cy="6413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90000"/>
              </a:lnSpc>
              <a:buClrTx/>
              <a:buFontTx/>
              <a:buNone/>
            </a:pPr>
            <a:r>
              <a:rPr lang="zh-CN" altLang="en-US" sz="4000" b="1">
                <a:solidFill>
                  <a:srgbClr val="800080"/>
                </a:solidFill>
                <a:latin typeface="华文行楷" pitchFamily="2" charset="-122"/>
                <a:ea typeface="华文行楷" pitchFamily="2" charset="-122"/>
              </a:rPr>
              <a:t>符号表</a:t>
            </a:r>
          </a:p>
        </p:txBody>
      </p:sp>
      <p:sp>
        <p:nvSpPr>
          <p:cNvPr id="439330" name="AutoShape 34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382000" y="6553200"/>
            <a:ext cx="179388" cy="107950"/>
          </a:xfrm>
          <a:prstGeom prst="actionButtonForwardNex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39331" name="AutoShape 35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8077200" y="6553200"/>
            <a:ext cx="179388" cy="107950"/>
          </a:xfrm>
          <a:prstGeom prst="actionButtonBackPrevious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39332" name="AutoShape 36">
            <a:hlinkClick r:id="" action="ppaction://hlinkshowjump?jump=firstslide" highlightClick="1"/>
          </p:cNvPr>
          <p:cNvSpPr>
            <a:spLocks noChangeArrowheads="1"/>
          </p:cNvSpPr>
          <p:nvPr/>
        </p:nvSpPr>
        <p:spPr bwMode="auto">
          <a:xfrm>
            <a:off x="7772400" y="6553200"/>
            <a:ext cx="179388" cy="107950"/>
          </a:xfrm>
          <a:prstGeom prst="actionButtonBeginning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39333" name="AutoShape 37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686800" y="6553200"/>
            <a:ext cx="179388" cy="107950"/>
          </a:xfrm>
          <a:prstGeom prst="actionButtonEnd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39334" name="Text Box 38">
            <a:hlinkClick r:id="" action="ppaction://noaction"/>
          </p:cNvPr>
          <p:cNvSpPr txBox="1">
            <a:spLocks noChangeArrowheads="1"/>
          </p:cNvSpPr>
          <p:nvPr/>
        </p:nvSpPr>
        <p:spPr bwMode="auto">
          <a:xfrm>
            <a:off x="762000" y="1196975"/>
            <a:ext cx="5176838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altLang="zh-CN" sz="3200" b="1">
                <a:solidFill>
                  <a:srgbClr val="800080"/>
                </a:solidFill>
              </a:rPr>
              <a:t> </a:t>
            </a:r>
            <a:r>
              <a:rPr lang="zh-CN" altLang="en-US" sz="3200" b="1">
                <a:solidFill>
                  <a:srgbClr val="800080"/>
                </a:solidFill>
              </a:rPr>
              <a:t>符号表的实现</a:t>
            </a:r>
          </a:p>
        </p:txBody>
      </p:sp>
      <p:sp>
        <p:nvSpPr>
          <p:cNvPr id="439335" name="AutoShape 39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382000" y="6553200"/>
            <a:ext cx="179388" cy="107950"/>
          </a:xfrm>
          <a:prstGeom prst="actionButtonForwardNex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39336" name="AutoShape 40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8077200" y="6553200"/>
            <a:ext cx="179388" cy="107950"/>
          </a:xfrm>
          <a:prstGeom prst="actionButtonBackPrevious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39337" name="AutoShape 41">
            <a:hlinkClick r:id="" action="ppaction://hlinkshowjump?jump=firstslide" highlightClick="1"/>
          </p:cNvPr>
          <p:cNvSpPr>
            <a:spLocks noChangeArrowheads="1"/>
          </p:cNvSpPr>
          <p:nvPr/>
        </p:nvSpPr>
        <p:spPr bwMode="auto">
          <a:xfrm>
            <a:off x="7772400" y="6553200"/>
            <a:ext cx="179388" cy="107950"/>
          </a:xfrm>
          <a:prstGeom prst="actionButtonBeginning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39338" name="AutoShape 42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686800" y="6553200"/>
            <a:ext cx="179388" cy="107950"/>
          </a:xfrm>
          <a:prstGeom prst="actionButtonEnd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39339" name="Rectangle 43"/>
          <p:cNvSpPr>
            <a:spLocks noChangeArrowheads="1"/>
          </p:cNvSpPr>
          <p:nvPr/>
        </p:nvSpPr>
        <p:spPr bwMode="auto">
          <a:xfrm>
            <a:off x="1104900" y="1989138"/>
            <a:ext cx="7734300" cy="41417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buClrTx/>
              <a:buFont typeface="Symbol" pitchFamily="18" charset="2"/>
              <a:buNone/>
            </a:pPr>
            <a:endParaRPr lang="en-US" altLang="zh-CN" sz="1000" b="1">
              <a:solidFill>
                <a:srgbClr val="800080"/>
              </a:solidFill>
              <a:latin typeface="楷体_GB2312" pitchFamily="49" charset="-122"/>
            </a:endParaRPr>
          </a:p>
          <a:p>
            <a:pPr>
              <a:buClrTx/>
              <a:buFont typeface="Symbol" pitchFamily="18" charset="2"/>
              <a:buChar char="-"/>
            </a:pPr>
            <a:r>
              <a:rPr lang="en-US" altLang="zh-CN" sz="2800" b="1">
                <a:solidFill>
                  <a:srgbClr val="800080"/>
                </a:solidFill>
                <a:latin typeface="楷体_GB2312" pitchFamily="49" charset="-122"/>
              </a:rPr>
              <a:t> </a:t>
            </a:r>
            <a:r>
              <a:rPr lang="zh-CN" altLang="en-US" sz="2800" b="1">
                <a:solidFill>
                  <a:srgbClr val="800080"/>
                </a:solidFill>
                <a:latin typeface="楷体_GB2312" pitchFamily="49" charset="-122"/>
              </a:rPr>
              <a:t>针对</a:t>
            </a:r>
            <a:r>
              <a:rPr kumimoji="0" lang="zh-CN" altLang="en-US" sz="2800" b="1">
                <a:solidFill>
                  <a:srgbClr val="800080"/>
                </a:solidFill>
              </a:rPr>
              <a:t>符号表的常见操作</a:t>
            </a:r>
            <a:endParaRPr kumimoji="0" lang="zh-CN" altLang="en-US" b="1"/>
          </a:p>
          <a:p>
            <a:pPr lvl="1">
              <a:buFontTx/>
              <a:buNone/>
            </a:pPr>
            <a:endParaRPr kumimoji="0" lang="zh-CN" altLang="en-US" sz="1000" b="1">
              <a:solidFill>
                <a:srgbClr val="800080"/>
              </a:solidFill>
            </a:endParaRPr>
          </a:p>
          <a:p>
            <a:pPr lvl="1">
              <a:buClrTx/>
              <a:buFontTx/>
              <a:buChar char="•"/>
            </a:pPr>
            <a:r>
              <a:rPr lang="zh-CN" altLang="en-US">
                <a:solidFill>
                  <a:srgbClr val="800080"/>
                </a:solidFill>
              </a:rPr>
              <a:t>  </a:t>
            </a:r>
            <a:r>
              <a:rPr lang="zh-CN" altLang="en-US" b="1">
                <a:solidFill>
                  <a:srgbClr val="800080"/>
                </a:solidFill>
              </a:rPr>
              <a:t>创建</a:t>
            </a:r>
            <a:r>
              <a:rPr kumimoji="0" lang="zh-CN" altLang="en-US" b="1">
                <a:solidFill>
                  <a:srgbClr val="800080"/>
                </a:solidFill>
              </a:rPr>
              <a:t>符号表  </a:t>
            </a:r>
            <a:r>
              <a:rPr lang="zh-CN" altLang="en-US" b="1"/>
              <a:t> 在编译开始，或进入一个作用域</a:t>
            </a:r>
          </a:p>
          <a:p>
            <a:pPr lvl="1">
              <a:buClrTx/>
              <a:buFontTx/>
              <a:buNone/>
            </a:pPr>
            <a:endParaRPr lang="zh-CN" altLang="en-US" sz="1000" b="1"/>
          </a:p>
          <a:p>
            <a:pPr lvl="1">
              <a:buClrTx/>
              <a:buFontTx/>
              <a:buChar char="•"/>
            </a:pPr>
            <a:r>
              <a:rPr lang="zh-CN" altLang="en-US" b="1">
                <a:solidFill>
                  <a:srgbClr val="800080"/>
                </a:solidFill>
              </a:rPr>
              <a:t>  </a:t>
            </a:r>
            <a:r>
              <a:rPr kumimoji="0" lang="zh-CN" altLang="en-US" b="1">
                <a:solidFill>
                  <a:srgbClr val="800080"/>
                </a:solidFill>
              </a:rPr>
              <a:t>插入表项  </a:t>
            </a:r>
            <a:r>
              <a:rPr lang="zh-CN" altLang="en-US" b="1">
                <a:latin typeface="Times New Roman" pitchFamily="18" charset="0"/>
              </a:rPr>
              <a:t> </a:t>
            </a:r>
            <a:r>
              <a:rPr lang="zh-CN" altLang="en-US" b="1"/>
              <a:t>在遇到新的标识符声明时进行</a:t>
            </a:r>
          </a:p>
          <a:p>
            <a:pPr lvl="1">
              <a:buClrTx/>
              <a:buFontTx/>
              <a:buNone/>
            </a:pPr>
            <a:endParaRPr lang="zh-CN" altLang="en-US" sz="1000" b="1"/>
          </a:p>
          <a:p>
            <a:pPr lvl="1">
              <a:buClrTx/>
              <a:buFontTx/>
              <a:buChar char="•"/>
            </a:pPr>
            <a:r>
              <a:rPr lang="zh-CN" altLang="en-US">
                <a:solidFill>
                  <a:srgbClr val="800080"/>
                </a:solidFill>
              </a:rPr>
              <a:t>  </a:t>
            </a:r>
            <a:r>
              <a:rPr kumimoji="0" lang="zh-CN" altLang="en-US" b="1">
                <a:solidFill>
                  <a:srgbClr val="800080"/>
                </a:solidFill>
              </a:rPr>
              <a:t>查询表项  </a:t>
            </a:r>
            <a:r>
              <a:rPr lang="zh-CN" altLang="en-US" b="1">
                <a:latin typeface="Times New Roman" pitchFamily="18" charset="0"/>
              </a:rPr>
              <a:t> </a:t>
            </a:r>
            <a:r>
              <a:rPr lang="zh-CN" altLang="en-US" b="1"/>
              <a:t>在引用标识符时进行</a:t>
            </a:r>
          </a:p>
          <a:p>
            <a:pPr lvl="1">
              <a:buClrTx/>
              <a:buFontTx/>
              <a:buNone/>
            </a:pPr>
            <a:endParaRPr lang="zh-CN" altLang="en-US" sz="1000" b="1"/>
          </a:p>
          <a:p>
            <a:pPr lvl="1">
              <a:buClrTx/>
              <a:buFontTx/>
              <a:buChar char="•"/>
            </a:pPr>
            <a:r>
              <a:rPr kumimoji="0" lang="zh-CN" altLang="en-US" b="1">
                <a:solidFill>
                  <a:srgbClr val="800080"/>
                </a:solidFill>
              </a:rPr>
              <a:t>  修改表项  </a:t>
            </a:r>
            <a:r>
              <a:rPr lang="zh-CN" altLang="en-US" b="1">
                <a:latin typeface="Times New Roman" pitchFamily="18" charset="0"/>
              </a:rPr>
              <a:t> </a:t>
            </a:r>
            <a:r>
              <a:rPr lang="zh-CN" altLang="en-US" b="1"/>
              <a:t>在获得新的语义值信息时进行</a:t>
            </a:r>
          </a:p>
          <a:p>
            <a:pPr lvl="1">
              <a:buClrTx/>
              <a:buFontTx/>
              <a:buNone/>
            </a:pPr>
            <a:endParaRPr lang="zh-CN" altLang="en-US" sz="1000" b="1"/>
          </a:p>
          <a:p>
            <a:pPr lvl="1">
              <a:buClrTx/>
              <a:buFontTx/>
              <a:buChar char="•"/>
            </a:pPr>
            <a:r>
              <a:rPr lang="zh-CN" altLang="en-US">
                <a:solidFill>
                  <a:srgbClr val="800080"/>
                </a:solidFill>
              </a:rPr>
              <a:t>  </a:t>
            </a:r>
            <a:r>
              <a:rPr kumimoji="0" lang="zh-CN" altLang="en-US" b="1">
                <a:solidFill>
                  <a:srgbClr val="800080"/>
                </a:solidFill>
              </a:rPr>
              <a:t>删除表项  </a:t>
            </a:r>
            <a:r>
              <a:rPr lang="zh-CN" altLang="en-US" b="1">
                <a:latin typeface="Times New Roman" pitchFamily="18" charset="0"/>
              </a:rPr>
              <a:t> </a:t>
            </a:r>
            <a:r>
              <a:rPr lang="zh-CN" altLang="en-US" b="1"/>
              <a:t>在标识符成为不可见或不再需要它的任</a:t>
            </a:r>
          </a:p>
          <a:p>
            <a:pPr lvl="1">
              <a:buClrTx/>
              <a:buFontTx/>
              <a:buNone/>
            </a:pPr>
            <a:r>
              <a:rPr lang="zh-CN" altLang="en-US" b="1"/>
              <a:t>                     何信息时进行</a:t>
            </a:r>
          </a:p>
          <a:p>
            <a:pPr lvl="1">
              <a:buClrTx/>
              <a:buFontTx/>
              <a:buNone/>
            </a:pPr>
            <a:endParaRPr lang="zh-CN" altLang="en-US" sz="1000" b="1"/>
          </a:p>
          <a:p>
            <a:pPr lvl="1">
              <a:buClrTx/>
              <a:buFontTx/>
              <a:buChar char="•"/>
            </a:pPr>
            <a:r>
              <a:rPr kumimoji="0" lang="zh-CN" altLang="en-US" b="1">
                <a:solidFill>
                  <a:srgbClr val="800080"/>
                </a:solidFill>
              </a:rPr>
              <a:t>  释放符号表空间</a:t>
            </a:r>
            <a:r>
              <a:rPr lang="zh-CN" altLang="en-US" b="1"/>
              <a:t>   在编译结束前或退出一个作用域</a:t>
            </a:r>
          </a:p>
        </p:txBody>
      </p:sp>
    </p:spTree>
  </p:cSld>
  <p:clrMapOvr>
    <a:masterClrMapping/>
  </p:clrMapOvr>
  <p:transition spd="med" advClick="0">
    <p:wipe dir="r"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042" name="AutoShape 2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382000" y="6553200"/>
            <a:ext cx="179388" cy="107950"/>
          </a:xfrm>
          <a:prstGeom prst="actionButtonForwardNex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99043" name="AutoShape 3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8077200" y="6553200"/>
            <a:ext cx="179388" cy="107950"/>
          </a:xfrm>
          <a:prstGeom prst="actionButtonBackPrevious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99044" name="AutoShape 4">
            <a:hlinkClick r:id="" action="ppaction://hlinkshowjump?jump=firstslide" highlightClick="1"/>
          </p:cNvPr>
          <p:cNvSpPr>
            <a:spLocks noChangeArrowheads="1"/>
          </p:cNvSpPr>
          <p:nvPr/>
        </p:nvSpPr>
        <p:spPr bwMode="auto">
          <a:xfrm>
            <a:off x="7772400" y="6553200"/>
            <a:ext cx="179388" cy="107950"/>
          </a:xfrm>
          <a:prstGeom prst="actionButtonBeginning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99045" name="AutoShape 5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686800" y="6553200"/>
            <a:ext cx="179388" cy="107950"/>
          </a:xfrm>
          <a:prstGeom prst="actionButtonEnd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99046" name="Rectangle 6"/>
          <p:cNvSpPr>
            <a:spLocks noChangeArrowheads="1"/>
          </p:cNvSpPr>
          <p:nvPr/>
        </p:nvSpPr>
        <p:spPr bwMode="auto">
          <a:xfrm>
            <a:off x="1524000" y="188913"/>
            <a:ext cx="1828800" cy="6413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90000"/>
              </a:lnSpc>
              <a:buClrTx/>
              <a:buFontTx/>
              <a:buNone/>
            </a:pPr>
            <a:r>
              <a:rPr lang="zh-CN" altLang="en-US" sz="4000" b="1">
                <a:solidFill>
                  <a:srgbClr val="800080"/>
                </a:solidFill>
                <a:latin typeface="华文行楷" pitchFamily="2" charset="-122"/>
                <a:ea typeface="华文行楷" pitchFamily="2" charset="-122"/>
              </a:rPr>
              <a:t>符号表</a:t>
            </a:r>
          </a:p>
        </p:txBody>
      </p:sp>
      <p:sp>
        <p:nvSpPr>
          <p:cNvPr id="599047" name="Text Box 7">
            <a:hlinkClick r:id="" action="ppaction://noaction"/>
          </p:cNvPr>
          <p:cNvSpPr txBox="1">
            <a:spLocks noChangeArrowheads="1"/>
          </p:cNvSpPr>
          <p:nvPr/>
        </p:nvSpPr>
        <p:spPr bwMode="auto">
          <a:xfrm>
            <a:off x="762000" y="1325563"/>
            <a:ext cx="5033963" cy="579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altLang="zh-CN" sz="3200" b="1">
                <a:solidFill>
                  <a:srgbClr val="800080"/>
                </a:solidFill>
              </a:rPr>
              <a:t> </a:t>
            </a:r>
            <a:r>
              <a:rPr lang="zh-CN" altLang="en-US" sz="3200" b="1">
                <a:solidFill>
                  <a:srgbClr val="800080"/>
                </a:solidFill>
              </a:rPr>
              <a:t>符号表的实现</a:t>
            </a:r>
          </a:p>
        </p:txBody>
      </p:sp>
      <p:sp>
        <p:nvSpPr>
          <p:cNvPr id="599048" name="AutoShape 8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382000" y="6553200"/>
            <a:ext cx="179388" cy="107950"/>
          </a:xfrm>
          <a:prstGeom prst="actionButtonForwardNex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99049" name="AutoShape 9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8077200" y="6553200"/>
            <a:ext cx="179388" cy="107950"/>
          </a:xfrm>
          <a:prstGeom prst="actionButtonBackPrevious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99050" name="AutoShape 10">
            <a:hlinkClick r:id="" action="ppaction://hlinkshowjump?jump=firstslide" highlightClick="1"/>
          </p:cNvPr>
          <p:cNvSpPr>
            <a:spLocks noChangeArrowheads="1"/>
          </p:cNvSpPr>
          <p:nvPr/>
        </p:nvSpPr>
        <p:spPr bwMode="auto">
          <a:xfrm>
            <a:off x="7772400" y="6553200"/>
            <a:ext cx="179388" cy="107950"/>
          </a:xfrm>
          <a:prstGeom prst="actionButtonBeginning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99051" name="AutoShape 11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686800" y="6553200"/>
            <a:ext cx="179388" cy="107950"/>
          </a:xfrm>
          <a:prstGeom prst="actionButtonEnd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99052" name="AutoShape 12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382000" y="6553200"/>
            <a:ext cx="179388" cy="107950"/>
          </a:xfrm>
          <a:prstGeom prst="actionButtonForwardNex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99053" name="AutoShape 13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8077200" y="6553200"/>
            <a:ext cx="179388" cy="107950"/>
          </a:xfrm>
          <a:prstGeom prst="actionButtonBackPrevious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99054" name="AutoShape 14">
            <a:hlinkClick r:id="" action="ppaction://hlinkshowjump?jump=firstslide" highlightClick="1"/>
          </p:cNvPr>
          <p:cNvSpPr>
            <a:spLocks noChangeArrowheads="1"/>
          </p:cNvSpPr>
          <p:nvPr/>
        </p:nvSpPr>
        <p:spPr bwMode="auto">
          <a:xfrm>
            <a:off x="7772400" y="6553200"/>
            <a:ext cx="179388" cy="107950"/>
          </a:xfrm>
          <a:prstGeom prst="actionButtonBeginning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99055" name="AutoShape 15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686800" y="6553200"/>
            <a:ext cx="179388" cy="107950"/>
          </a:xfrm>
          <a:prstGeom prst="actionButtonEnd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99056" name="Rectangle 16"/>
          <p:cNvSpPr>
            <a:spLocks noChangeArrowheads="1"/>
          </p:cNvSpPr>
          <p:nvPr/>
        </p:nvSpPr>
        <p:spPr bwMode="auto">
          <a:xfrm>
            <a:off x="1104900" y="2057400"/>
            <a:ext cx="7505700" cy="3624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buClrTx/>
              <a:buFont typeface="Symbol" pitchFamily="18" charset="2"/>
              <a:buChar char="-"/>
            </a:pPr>
            <a:r>
              <a:rPr lang="en-US" altLang="zh-CN" sz="2800" b="1" dirty="0">
                <a:solidFill>
                  <a:srgbClr val="800080"/>
                </a:solidFill>
                <a:latin typeface="楷体_GB2312" pitchFamily="49" charset="-122"/>
              </a:rPr>
              <a:t> </a:t>
            </a:r>
            <a:r>
              <a:rPr lang="zh-CN" altLang="en-US" sz="2800" b="1" dirty="0">
                <a:solidFill>
                  <a:srgbClr val="800080"/>
                </a:solidFill>
                <a:latin typeface="楷体_GB2312" pitchFamily="49" charset="-122"/>
              </a:rPr>
              <a:t>实现符号表的</a:t>
            </a:r>
            <a:r>
              <a:rPr kumimoji="0" lang="zh-CN" altLang="en-US" sz="2800" b="1" dirty="0">
                <a:solidFill>
                  <a:srgbClr val="800080"/>
                </a:solidFill>
              </a:rPr>
              <a:t>常用数据结构</a:t>
            </a:r>
          </a:p>
          <a:p>
            <a:pPr>
              <a:buClrTx/>
              <a:buFont typeface="Symbol" pitchFamily="18" charset="2"/>
              <a:buNone/>
            </a:pPr>
            <a:endParaRPr kumimoji="0" lang="zh-CN" altLang="en-US" sz="1000" b="1" dirty="0">
              <a:solidFill>
                <a:srgbClr val="800080"/>
              </a:solidFill>
            </a:endParaRPr>
          </a:p>
          <a:p>
            <a:pPr lvl="1">
              <a:buClrTx/>
              <a:buFontTx/>
              <a:buChar char="•"/>
            </a:pPr>
            <a:r>
              <a:rPr lang="zh-CN" altLang="en-US" b="1" dirty="0">
                <a:solidFill>
                  <a:srgbClr val="800080"/>
                </a:solidFill>
                <a:latin typeface="Times New Roman" pitchFamily="18" charset="0"/>
              </a:rPr>
              <a:t> </a:t>
            </a:r>
            <a:r>
              <a:rPr lang="zh-CN" altLang="en-US" b="1" dirty="0">
                <a:latin typeface="Times New Roman" pitchFamily="18" charset="0"/>
              </a:rPr>
              <a:t> </a:t>
            </a:r>
            <a:r>
              <a:rPr kumimoji="0" lang="zh-CN" altLang="en-US" b="1" dirty="0">
                <a:solidFill>
                  <a:srgbClr val="800080"/>
                </a:solidFill>
              </a:rPr>
              <a:t>一般的线性表</a:t>
            </a:r>
          </a:p>
          <a:p>
            <a:pPr lvl="1">
              <a:buClrTx/>
              <a:buFontTx/>
              <a:buNone/>
            </a:pPr>
            <a:endParaRPr kumimoji="0" lang="zh-CN" altLang="en-US" sz="1000" b="1" dirty="0">
              <a:solidFill>
                <a:srgbClr val="800080"/>
              </a:solidFill>
            </a:endParaRPr>
          </a:p>
          <a:p>
            <a:pPr lvl="1">
              <a:buClrTx/>
              <a:buFontTx/>
              <a:buNone/>
            </a:pPr>
            <a:r>
              <a:rPr kumimoji="0" lang="zh-CN" altLang="en-US" b="1" dirty="0"/>
              <a:t>   如：数组，链表，等</a:t>
            </a:r>
          </a:p>
          <a:p>
            <a:pPr lvl="1">
              <a:buClrTx/>
              <a:buFontTx/>
              <a:buNone/>
            </a:pPr>
            <a:endParaRPr lang="zh-CN" altLang="en-US" sz="1000" b="1" dirty="0"/>
          </a:p>
          <a:p>
            <a:pPr lvl="1">
              <a:buFontTx/>
              <a:buChar char="•"/>
            </a:pPr>
            <a:r>
              <a:rPr lang="zh-CN" altLang="en-US" b="1" dirty="0">
                <a:latin typeface="Times New Roman" pitchFamily="18" charset="0"/>
              </a:rPr>
              <a:t>  </a:t>
            </a:r>
            <a:r>
              <a:rPr kumimoji="0" lang="zh-CN" altLang="en-US" b="1" dirty="0">
                <a:solidFill>
                  <a:srgbClr val="800080"/>
                </a:solidFill>
              </a:rPr>
              <a:t>有序表</a:t>
            </a:r>
          </a:p>
          <a:p>
            <a:pPr lvl="1">
              <a:buFontTx/>
              <a:buNone/>
            </a:pPr>
            <a:endParaRPr kumimoji="0" lang="zh-CN" altLang="en-US" sz="1000" b="1" dirty="0">
              <a:solidFill>
                <a:srgbClr val="800080"/>
              </a:solidFill>
            </a:endParaRPr>
          </a:p>
          <a:p>
            <a:pPr lvl="1">
              <a:buClrTx/>
              <a:buFontTx/>
              <a:buNone/>
            </a:pPr>
            <a:r>
              <a:rPr kumimoji="0" lang="zh-CN" altLang="en-US" b="1" dirty="0"/>
              <a:t>   查询较无序表快，如可以采用折半查找</a:t>
            </a:r>
          </a:p>
          <a:p>
            <a:pPr lvl="1">
              <a:buClrTx/>
              <a:buFontTx/>
              <a:buNone/>
            </a:pPr>
            <a:endParaRPr lang="zh-CN" altLang="en-US" sz="1000" b="1" dirty="0"/>
          </a:p>
          <a:p>
            <a:pPr lvl="1">
              <a:buFontTx/>
              <a:buChar char="•"/>
            </a:pPr>
            <a:r>
              <a:rPr lang="zh-CN" altLang="en-US" b="1" dirty="0">
                <a:latin typeface="Times New Roman" pitchFamily="18" charset="0"/>
              </a:rPr>
              <a:t>  </a:t>
            </a:r>
            <a:r>
              <a:rPr kumimoji="0" lang="zh-CN" altLang="en-US" b="1" dirty="0">
                <a:solidFill>
                  <a:srgbClr val="800080"/>
                </a:solidFill>
              </a:rPr>
              <a:t>二叉搜索树</a:t>
            </a:r>
          </a:p>
          <a:p>
            <a:pPr lvl="1">
              <a:buClrTx/>
              <a:buFontTx/>
              <a:buNone/>
            </a:pPr>
            <a:endParaRPr lang="zh-CN" altLang="en-US" sz="1000" b="1" dirty="0"/>
          </a:p>
          <a:p>
            <a:pPr lvl="1">
              <a:buFontTx/>
              <a:buChar char="•"/>
            </a:pPr>
            <a:r>
              <a:rPr lang="zh-CN" altLang="en-US" b="1" dirty="0">
                <a:latin typeface="Times New Roman" pitchFamily="18" charset="0"/>
              </a:rPr>
              <a:t>  </a:t>
            </a:r>
            <a:r>
              <a:rPr kumimoji="0" lang="en-US" altLang="zh-CN" dirty="0">
                <a:solidFill>
                  <a:srgbClr val="800080"/>
                </a:solidFill>
              </a:rPr>
              <a:t>Hash</a:t>
            </a:r>
            <a:r>
              <a:rPr kumimoji="0" lang="zh-CN" altLang="en-US" b="1" dirty="0">
                <a:solidFill>
                  <a:srgbClr val="800080"/>
                </a:solidFill>
              </a:rPr>
              <a:t>表</a:t>
            </a:r>
            <a:endParaRPr lang="zh-CN" altLang="en-US" sz="1000" b="1" dirty="0"/>
          </a:p>
        </p:txBody>
      </p:sp>
    </p:spTree>
  </p:cSld>
  <p:clrMapOvr>
    <a:masterClrMapping/>
  </p:clrMapOvr>
  <p:transition spd="med" advClick="0">
    <p:wipe dir="r"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070" name="Rectangle 6"/>
          <p:cNvSpPr>
            <a:spLocks noChangeArrowheads="1"/>
          </p:cNvSpPr>
          <p:nvPr/>
        </p:nvSpPr>
        <p:spPr bwMode="auto">
          <a:xfrm>
            <a:off x="1524000" y="188913"/>
            <a:ext cx="1828800" cy="6413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90000"/>
              </a:lnSpc>
              <a:buClrTx/>
              <a:buFontTx/>
              <a:buNone/>
            </a:pPr>
            <a:r>
              <a:rPr lang="zh-CN" altLang="en-US" sz="4000" b="1">
                <a:solidFill>
                  <a:srgbClr val="800080"/>
                </a:solidFill>
                <a:latin typeface="华文行楷" pitchFamily="2" charset="-122"/>
                <a:ea typeface="华文行楷" pitchFamily="2" charset="-122"/>
              </a:rPr>
              <a:t>符号表</a:t>
            </a:r>
          </a:p>
        </p:txBody>
      </p:sp>
      <p:sp>
        <p:nvSpPr>
          <p:cNvPr id="600071" name="Text Box 7">
            <a:hlinkClick r:id="" action="ppaction://noaction"/>
          </p:cNvPr>
          <p:cNvSpPr txBox="1">
            <a:spLocks noChangeArrowheads="1"/>
          </p:cNvSpPr>
          <p:nvPr/>
        </p:nvSpPr>
        <p:spPr bwMode="auto">
          <a:xfrm>
            <a:off x="762000" y="1325563"/>
            <a:ext cx="5033963" cy="579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altLang="zh-CN" sz="3200" b="1">
                <a:solidFill>
                  <a:srgbClr val="800080"/>
                </a:solidFill>
              </a:rPr>
              <a:t> </a:t>
            </a:r>
            <a:r>
              <a:rPr lang="zh-CN" altLang="en-US" sz="3200" b="1">
                <a:solidFill>
                  <a:srgbClr val="800080"/>
                </a:solidFill>
              </a:rPr>
              <a:t>符号表的实现</a:t>
            </a:r>
          </a:p>
        </p:txBody>
      </p:sp>
      <p:sp>
        <p:nvSpPr>
          <p:cNvPr id="600080" name="Rectangle 16"/>
          <p:cNvSpPr>
            <a:spLocks noChangeArrowheads="1"/>
          </p:cNvSpPr>
          <p:nvPr/>
        </p:nvSpPr>
        <p:spPr bwMode="auto">
          <a:xfrm>
            <a:off x="935038" y="2057400"/>
            <a:ext cx="8101012" cy="15541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buClrTx/>
              <a:buFont typeface="Symbol" pitchFamily="18" charset="2"/>
              <a:buChar char="-"/>
            </a:pPr>
            <a:r>
              <a:rPr lang="en-US" altLang="zh-CN" sz="2800" b="1">
                <a:solidFill>
                  <a:srgbClr val="800080"/>
                </a:solidFill>
                <a:latin typeface="楷体_GB2312" pitchFamily="49" charset="-122"/>
              </a:rPr>
              <a:t> </a:t>
            </a:r>
            <a:r>
              <a:rPr kumimoji="0" lang="zh-CN" altLang="en-US" sz="2800" b="1">
                <a:solidFill>
                  <a:srgbClr val="800080"/>
                </a:solidFill>
                <a:latin typeface="楷体_GB2312" pitchFamily="49" charset="-122"/>
              </a:rPr>
              <a:t>存储效率问题</a:t>
            </a:r>
            <a:endParaRPr kumimoji="0" lang="zh-CN" altLang="en-US" sz="2800" b="1">
              <a:solidFill>
                <a:srgbClr val="800080"/>
              </a:solidFill>
            </a:endParaRPr>
          </a:p>
          <a:p>
            <a:pPr>
              <a:buClrTx/>
              <a:buFont typeface="Symbol" pitchFamily="18" charset="2"/>
              <a:buNone/>
            </a:pPr>
            <a:endParaRPr kumimoji="0" lang="zh-CN" altLang="en-US" sz="1000" b="1">
              <a:solidFill>
                <a:srgbClr val="800080"/>
              </a:solidFill>
            </a:endParaRPr>
          </a:p>
          <a:p>
            <a:pPr lvl="1">
              <a:buClrTx/>
              <a:buFontTx/>
              <a:buChar char="•"/>
            </a:pPr>
            <a:r>
              <a:rPr lang="zh-CN" altLang="en-US" b="1">
                <a:solidFill>
                  <a:srgbClr val="800080"/>
                </a:solidFill>
                <a:latin typeface="Times New Roman" pitchFamily="18" charset="0"/>
              </a:rPr>
              <a:t> </a:t>
            </a:r>
            <a:r>
              <a:rPr lang="zh-CN" altLang="en-US" b="1">
                <a:latin typeface="Times New Roman" pitchFamily="18" charset="0"/>
              </a:rPr>
              <a:t> </a:t>
            </a:r>
            <a:r>
              <a:rPr kumimoji="0" lang="zh-CN" altLang="en-US" b="1"/>
              <a:t>重要，但本课程不专门讨论</a:t>
            </a:r>
          </a:p>
          <a:p>
            <a:pPr lvl="1">
              <a:buClrTx/>
              <a:buFontTx/>
              <a:buNone/>
            </a:pPr>
            <a:endParaRPr lang="zh-CN" altLang="en-US" sz="1000" b="1"/>
          </a:p>
          <a:p>
            <a:pPr lvl="1">
              <a:buFontTx/>
              <a:buChar char="•"/>
            </a:pPr>
            <a:r>
              <a:rPr lang="zh-CN" altLang="en-US" b="1">
                <a:latin typeface="Times New Roman" pitchFamily="18" charset="0"/>
              </a:rPr>
              <a:t>  两方面：</a:t>
            </a:r>
            <a:r>
              <a:rPr kumimoji="0" lang="zh-CN" altLang="en-US" b="1">
                <a:solidFill>
                  <a:srgbClr val="800080"/>
                </a:solidFill>
              </a:rPr>
              <a:t>省空间</a:t>
            </a:r>
            <a:r>
              <a:rPr lang="zh-CN" altLang="en-US" b="1">
                <a:latin typeface="Times New Roman" pitchFamily="18" charset="0"/>
              </a:rPr>
              <a:t>，</a:t>
            </a:r>
            <a:r>
              <a:rPr kumimoji="0" lang="zh-CN" altLang="en-US" b="1">
                <a:solidFill>
                  <a:srgbClr val="800080"/>
                </a:solidFill>
              </a:rPr>
              <a:t>高效率</a:t>
            </a:r>
            <a:endParaRPr lang="zh-CN" altLang="en-US" sz="1000" b="1"/>
          </a:p>
        </p:txBody>
      </p:sp>
      <p:sp>
        <p:nvSpPr>
          <p:cNvPr id="600066" name="AutoShape 2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382000" y="6553200"/>
            <a:ext cx="179388" cy="107950"/>
          </a:xfrm>
          <a:prstGeom prst="actionButtonForwardNex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00067" name="AutoShape 3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8077200" y="6553200"/>
            <a:ext cx="179388" cy="107950"/>
          </a:xfrm>
          <a:prstGeom prst="actionButtonBackPrevious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00068" name="AutoShape 4">
            <a:hlinkClick r:id="" action="ppaction://hlinkshowjump?jump=firstslide" highlightClick="1"/>
          </p:cNvPr>
          <p:cNvSpPr>
            <a:spLocks noChangeArrowheads="1"/>
          </p:cNvSpPr>
          <p:nvPr/>
        </p:nvSpPr>
        <p:spPr bwMode="auto">
          <a:xfrm>
            <a:off x="7772400" y="6553200"/>
            <a:ext cx="179388" cy="107950"/>
          </a:xfrm>
          <a:prstGeom prst="actionButtonBeginning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00069" name="AutoShape 5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686800" y="6553200"/>
            <a:ext cx="179388" cy="107950"/>
          </a:xfrm>
          <a:prstGeom prst="actionButtonEnd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00072" name="AutoShape 8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382000" y="6553200"/>
            <a:ext cx="179388" cy="107950"/>
          </a:xfrm>
          <a:prstGeom prst="actionButtonForwardNex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00073" name="AutoShape 9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8077200" y="6553200"/>
            <a:ext cx="179388" cy="107950"/>
          </a:xfrm>
          <a:prstGeom prst="actionButtonBackPrevious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00074" name="AutoShape 10">
            <a:hlinkClick r:id="" action="ppaction://hlinkshowjump?jump=firstslide" highlightClick="1"/>
          </p:cNvPr>
          <p:cNvSpPr>
            <a:spLocks noChangeArrowheads="1"/>
          </p:cNvSpPr>
          <p:nvPr/>
        </p:nvSpPr>
        <p:spPr bwMode="auto">
          <a:xfrm>
            <a:off x="7772400" y="6553200"/>
            <a:ext cx="179388" cy="107950"/>
          </a:xfrm>
          <a:prstGeom prst="actionButtonBeginning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00075" name="AutoShape 11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686800" y="6553200"/>
            <a:ext cx="179388" cy="107950"/>
          </a:xfrm>
          <a:prstGeom prst="actionButtonEnd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00076" name="AutoShape 12">
            <a:hlinkClick r:id="rId2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8382000" y="6553200"/>
            <a:ext cx="179388" cy="107950"/>
          </a:xfrm>
          <a:prstGeom prst="actionButtonForwardNex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00077" name="AutoShape 13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8077200" y="6553200"/>
            <a:ext cx="179388" cy="107950"/>
          </a:xfrm>
          <a:prstGeom prst="actionButtonBackPrevious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00078" name="AutoShape 14">
            <a:hlinkClick r:id="" action="ppaction://hlinkshowjump?jump=firstslide" highlightClick="1"/>
          </p:cNvPr>
          <p:cNvSpPr>
            <a:spLocks noChangeArrowheads="1"/>
          </p:cNvSpPr>
          <p:nvPr/>
        </p:nvSpPr>
        <p:spPr bwMode="auto">
          <a:xfrm>
            <a:off x="7772400" y="6553200"/>
            <a:ext cx="179388" cy="107950"/>
          </a:xfrm>
          <a:prstGeom prst="actionButtonBeginning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00079" name="AutoShape 15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686800" y="6553200"/>
            <a:ext cx="179388" cy="107950"/>
          </a:xfrm>
          <a:prstGeom prst="actionButtonEnd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p:transition spd="med" advClick="0">
    <p:wipe dir="r"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355" name="AutoShape 11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382000" y="6553200"/>
            <a:ext cx="179388" cy="107950"/>
          </a:xfrm>
          <a:prstGeom prst="actionButtonForwardNex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69356" name="AutoShape 12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8077200" y="6553200"/>
            <a:ext cx="179388" cy="107950"/>
          </a:xfrm>
          <a:prstGeom prst="actionButtonBackPrevious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69357" name="AutoShape 13">
            <a:hlinkClick r:id="" action="ppaction://hlinkshowjump?jump=firstslide" highlightClick="1"/>
          </p:cNvPr>
          <p:cNvSpPr>
            <a:spLocks noChangeArrowheads="1"/>
          </p:cNvSpPr>
          <p:nvPr/>
        </p:nvSpPr>
        <p:spPr bwMode="auto">
          <a:xfrm>
            <a:off x="7772400" y="6553200"/>
            <a:ext cx="179388" cy="107950"/>
          </a:xfrm>
          <a:prstGeom prst="actionButtonBeginning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69358" name="AutoShape 14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686800" y="6553200"/>
            <a:ext cx="179388" cy="107950"/>
          </a:xfrm>
          <a:prstGeom prst="actionButtonEnd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69359" name="Rectangle 15"/>
          <p:cNvSpPr>
            <a:spLocks noChangeArrowheads="1"/>
          </p:cNvSpPr>
          <p:nvPr/>
        </p:nvSpPr>
        <p:spPr bwMode="auto">
          <a:xfrm>
            <a:off x="1524000" y="188913"/>
            <a:ext cx="1828800" cy="6413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90000"/>
              </a:lnSpc>
              <a:buClrTx/>
              <a:buFontTx/>
              <a:buNone/>
            </a:pPr>
            <a:r>
              <a:rPr lang="zh-CN" altLang="en-US" sz="4000" b="1">
                <a:solidFill>
                  <a:srgbClr val="800080"/>
                </a:solidFill>
                <a:latin typeface="华文行楷" pitchFamily="2" charset="-122"/>
                <a:ea typeface="华文行楷" pitchFamily="2" charset="-122"/>
              </a:rPr>
              <a:t>符号表</a:t>
            </a:r>
          </a:p>
        </p:txBody>
      </p:sp>
      <p:sp>
        <p:nvSpPr>
          <p:cNvPr id="569360" name="Text Box 16">
            <a:hlinkClick r:id="" action="ppaction://noaction"/>
          </p:cNvPr>
          <p:cNvSpPr txBox="1">
            <a:spLocks noChangeArrowheads="1"/>
          </p:cNvSpPr>
          <p:nvPr/>
        </p:nvSpPr>
        <p:spPr bwMode="auto">
          <a:xfrm>
            <a:off x="762000" y="1325563"/>
            <a:ext cx="5033963" cy="579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altLang="zh-CN" sz="3200" b="1">
                <a:solidFill>
                  <a:srgbClr val="800080"/>
                </a:solidFill>
              </a:rPr>
              <a:t> </a:t>
            </a:r>
            <a:r>
              <a:rPr lang="zh-CN" altLang="en-US" sz="3200" b="1">
                <a:solidFill>
                  <a:srgbClr val="800080"/>
                </a:solidFill>
              </a:rPr>
              <a:t>符号表体现作用域信息</a:t>
            </a:r>
          </a:p>
        </p:txBody>
      </p:sp>
      <p:sp>
        <p:nvSpPr>
          <p:cNvPr id="569361" name="AutoShape 17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382000" y="6553200"/>
            <a:ext cx="179388" cy="107950"/>
          </a:xfrm>
          <a:prstGeom prst="actionButtonForwardNex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69362" name="AutoShape 18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8077200" y="6553200"/>
            <a:ext cx="179388" cy="107950"/>
          </a:xfrm>
          <a:prstGeom prst="actionButtonBackPrevious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69363" name="AutoShape 19">
            <a:hlinkClick r:id="" action="ppaction://hlinkshowjump?jump=firstslide" highlightClick="1"/>
          </p:cNvPr>
          <p:cNvSpPr>
            <a:spLocks noChangeArrowheads="1"/>
          </p:cNvSpPr>
          <p:nvPr/>
        </p:nvSpPr>
        <p:spPr bwMode="auto">
          <a:xfrm>
            <a:off x="7772400" y="6553200"/>
            <a:ext cx="179388" cy="107950"/>
          </a:xfrm>
          <a:prstGeom prst="actionButtonBeginning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69364" name="AutoShape 20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686800" y="6553200"/>
            <a:ext cx="179388" cy="107950"/>
          </a:xfrm>
          <a:prstGeom prst="actionButtonEnd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69365" name="AutoShape 21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382000" y="6553200"/>
            <a:ext cx="179388" cy="107950"/>
          </a:xfrm>
          <a:prstGeom prst="actionButtonForwardNex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69366" name="AutoShape 22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8077200" y="6553200"/>
            <a:ext cx="179388" cy="107950"/>
          </a:xfrm>
          <a:prstGeom prst="actionButtonBackPrevious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69367" name="AutoShape 23">
            <a:hlinkClick r:id="" action="ppaction://hlinkshowjump?jump=firstslide" highlightClick="1"/>
          </p:cNvPr>
          <p:cNvSpPr>
            <a:spLocks noChangeArrowheads="1"/>
          </p:cNvSpPr>
          <p:nvPr/>
        </p:nvSpPr>
        <p:spPr bwMode="auto">
          <a:xfrm>
            <a:off x="7772400" y="6553200"/>
            <a:ext cx="179388" cy="107950"/>
          </a:xfrm>
          <a:prstGeom prst="actionButtonBeginning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69368" name="AutoShape 24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686800" y="6553200"/>
            <a:ext cx="179388" cy="107950"/>
          </a:xfrm>
          <a:prstGeom prst="actionButtonEnd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69369" name="Rectangle 25"/>
          <p:cNvSpPr>
            <a:spLocks noChangeArrowheads="1"/>
          </p:cNvSpPr>
          <p:nvPr/>
        </p:nvSpPr>
        <p:spPr bwMode="auto">
          <a:xfrm>
            <a:off x="1104900" y="2057400"/>
            <a:ext cx="7658100" cy="2286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buClrTx/>
              <a:buFont typeface="Symbol" pitchFamily="18" charset="2"/>
              <a:buChar char="-"/>
            </a:pPr>
            <a:r>
              <a:rPr lang="en-US" altLang="zh-CN" sz="2800" b="1">
                <a:solidFill>
                  <a:srgbClr val="800080"/>
                </a:solidFill>
                <a:latin typeface="楷体_GB2312" pitchFamily="49" charset="-122"/>
              </a:rPr>
              <a:t> </a:t>
            </a:r>
            <a:r>
              <a:rPr kumimoji="0" lang="zh-CN" altLang="en-US" sz="2800" b="1">
                <a:solidFill>
                  <a:srgbClr val="800080"/>
                </a:solidFill>
              </a:rPr>
              <a:t>作用域与可见性</a:t>
            </a:r>
          </a:p>
          <a:p>
            <a:pPr>
              <a:buClrTx/>
              <a:buFont typeface="Symbol" pitchFamily="18" charset="2"/>
              <a:buNone/>
            </a:pPr>
            <a:endParaRPr kumimoji="0" lang="zh-CN" altLang="en-US" sz="1000" b="1">
              <a:solidFill>
                <a:srgbClr val="800080"/>
              </a:solidFill>
            </a:endParaRPr>
          </a:p>
          <a:p>
            <a:pPr>
              <a:buClrTx/>
              <a:buFont typeface="Symbol" pitchFamily="18" charset="2"/>
              <a:buChar char="-"/>
            </a:pPr>
            <a:r>
              <a:rPr kumimoji="0" lang="zh-CN" altLang="en-US" sz="2800" b="1">
                <a:solidFill>
                  <a:srgbClr val="800080"/>
                </a:solidFill>
              </a:rPr>
              <a:t>  作用域与符号表组织</a:t>
            </a:r>
          </a:p>
          <a:p>
            <a:pPr>
              <a:buClrTx/>
              <a:buFont typeface="Symbol" pitchFamily="18" charset="2"/>
              <a:buNone/>
            </a:pPr>
            <a:endParaRPr kumimoji="0" lang="zh-CN" altLang="en-US" sz="1000" b="1">
              <a:solidFill>
                <a:srgbClr val="800080"/>
              </a:solidFill>
            </a:endParaRPr>
          </a:p>
          <a:p>
            <a:pPr lvl="1">
              <a:buFontTx/>
              <a:buChar char="•"/>
            </a:pPr>
            <a:r>
              <a:rPr lang="zh-CN" altLang="en-US" b="1"/>
              <a:t>  </a:t>
            </a:r>
            <a:r>
              <a:rPr kumimoji="0" lang="zh-CN" altLang="en-US" b="1"/>
              <a:t>所有作用域共用一个全局符号表</a:t>
            </a:r>
          </a:p>
          <a:p>
            <a:pPr lvl="1">
              <a:buFontTx/>
              <a:buNone/>
            </a:pPr>
            <a:endParaRPr kumimoji="0" lang="zh-CN" altLang="en-US" sz="1000" b="1">
              <a:latin typeface="楷体_GB2312" pitchFamily="49" charset="-122"/>
            </a:endParaRPr>
          </a:p>
          <a:p>
            <a:pPr lvl="1">
              <a:buFontTx/>
              <a:buChar char="•"/>
            </a:pPr>
            <a:r>
              <a:rPr lang="zh-CN" altLang="en-US" b="1">
                <a:latin typeface="楷体_GB2312" pitchFamily="49" charset="-122"/>
              </a:rPr>
              <a:t> </a:t>
            </a:r>
            <a:r>
              <a:rPr kumimoji="0" lang="zh-CN" altLang="en-US" b="1"/>
              <a:t>每个作用域都有各自的符号表</a:t>
            </a:r>
          </a:p>
          <a:p>
            <a:pPr>
              <a:buClrTx/>
              <a:buFont typeface="Symbol" pitchFamily="18" charset="2"/>
              <a:buNone/>
            </a:pPr>
            <a:endParaRPr kumimoji="0" lang="en-US" altLang="zh-CN" sz="1000" b="1">
              <a:solidFill>
                <a:srgbClr val="800080"/>
              </a:solidFill>
            </a:endParaRPr>
          </a:p>
        </p:txBody>
      </p:sp>
    </p:spTree>
  </p:cSld>
  <p:clrMapOvr>
    <a:masterClrMapping/>
  </p:clrMapOvr>
  <p:transition spd="med" advClick="0">
    <p:wipe dir="r"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39" name="AutoShape 19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382000" y="6553200"/>
            <a:ext cx="179388" cy="107950"/>
          </a:xfrm>
          <a:prstGeom prst="actionButtonForwardNex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40340" name="AutoShape 20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8077200" y="6553200"/>
            <a:ext cx="179388" cy="107950"/>
          </a:xfrm>
          <a:prstGeom prst="actionButtonBackPrevious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40341" name="AutoShape 21">
            <a:hlinkClick r:id="" action="ppaction://hlinkshowjump?jump=firstslide" highlightClick="1"/>
          </p:cNvPr>
          <p:cNvSpPr>
            <a:spLocks noChangeArrowheads="1"/>
          </p:cNvSpPr>
          <p:nvPr/>
        </p:nvSpPr>
        <p:spPr bwMode="auto">
          <a:xfrm>
            <a:off x="7772400" y="6553200"/>
            <a:ext cx="179388" cy="107950"/>
          </a:xfrm>
          <a:prstGeom prst="actionButtonBeginning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40342" name="AutoShape 22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686800" y="6553200"/>
            <a:ext cx="179388" cy="107950"/>
          </a:xfrm>
          <a:prstGeom prst="actionButtonEnd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40343" name="Rectangle 23"/>
          <p:cNvSpPr>
            <a:spLocks noChangeArrowheads="1"/>
          </p:cNvSpPr>
          <p:nvPr/>
        </p:nvSpPr>
        <p:spPr bwMode="auto">
          <a:xfrm>
            <a:off x="1524000" y="188913"/>
            <a:ext cx="1828800" cy="6413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90000"/>
              </a:lnSpc>
              <a:buClrTx/>
              <a:buFontTx/>
              <a:buNone/>
            </a:pPr>
            <a:r>
              <a:rPr lang="zh-CN" altLang="en-US" sz="4000" b="1">
                <a:solidFill>
                  <a:srgbClr val="800080"/>
                </a:solidFill>
                <a:latin typeface="华文行楷" pitchFamily="2" charset="-122"/>
                <a:ea typeface="华文行楷" pitchFamily="2" charset="-122"/>
              </a:rPr>
              <a:t>符号表</a:t>
            </a:r>
          </a:p>
        </p:txBody>
      </p:sp>
      <p:sp>
        <p:nvSpPr>
          <p:cNvPr id="440344" name="Text Box 24">
            <a:hlinkClick r:id="" action="ppaction://noaction"/>
          </p:cNvPr>
          <p:cNvSpPr txBox="1">
            <a:spLocks noChangeArrowheads="1"/>
          </p:cNvSpPr>
          <p:nvPr/>
        </p:nvSpPr>
        <p:spPr bwMode="auto">
          <a:xfrm>
            <a:off x="762000" y="1325563"/>
            <a:ext cx="5033963" cy="579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altLang="zh-CN" sz="3200" b="1">
                <a:solidFill>
                  <a:srgbClr val="800080"/>
                </a:solidFill>
              </a:rPr>
              <a:t> </a:t>
            </a:r>
            <a:r>
              <a:rPr lang="zh-CN" altLang="en-US" sz="3200" b="1">
                <a:solidFill>
                  <a:srgbClr val="800080"/>
                </a:solidFill>
              </a:rPr>
              <a:t>作用域与可见性</a:t>
            </a:r>
          </a:p>
        </p:txBody>
      </p:sp>
      <p:sp>
        <p:nvSpPr>
          <p:cNvPr id="440345" name="AutoShape 25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382000" y="6553200"/>
            <a:ext cx="179388" cy="107950"/>
          </a:xfrm>
          <a:prstGeom prst="actionButtonForwardNex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40346" name="AutoShape 26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8077200" y="6553200"/>
            <a:ext cx="179388" cy="107950"/>
          </a:xfrm>
          <a:prstGeom prst="actionButtonBackPrevious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40347" name="AutoShape 27">
            <a:hlinkClick r:id="" action="ppaction://hlinkshowjump?jump=firstslide" highlightClick="1"/>
          </p:cNvPr>
          <p:cNvSpPr>
            <a:spLocks noChangeArrowheads="1"/>
          </p:cNvSpPr>
          <p:nvPr/>
        </p:nvSpPr>
        <p:spPr bwMode="auto">
          <a:xfrm>
            <a:off x="7772400" y="6553200"/>
            <a:ext cx="179388" cy="107950"/>
          </a:xfrm>
          <a:prstGeom prst="actionButtonBeginning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40348" name="AutoShape 28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686800" y="6553200"/>
            <a:ext cx="179388" cy="107950"/>
          </a:xfrm>
          <a:prstGeom prst="actionButtonEnd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40349" name="AutoShape 29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382000" y="6553200"/>
            <a:ext cx="179388" cy="107950"/>
          </a:xfrm>
          <a:prstGeom prst="actionButtonForwardNex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40350" name="AutoShape 30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8077200" y="6553200"/>
            <a:ext cx="179388" cy="107950"/>
          </a:xfrm>
          <a:prstGeom prst="actionButtonBackPrevious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40351" name="AutoShape 31">
            <a:hlinkClick r:id="" action="ppaction://hlinkshowjump?jump=firstslide" highlightClick="1"/>
          </p:cNvPr>
          <p:cNvSpPr>
            <a:spLocks noChangeArrowheads="1"/>
          </p:cNvSpPr>
          <p:nvPr/>
        </p:nvSpPr>
        <p:spPr bwMode="auto">
          <a:xfrm>
            <a:off x="7772400" y="6553200"/>
            <a:ext cx="179388" cy="107950"/>
          </a:xfrm>
          <a:prstGeom prst="actionButtonBeginning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40352" name="AutoShape 32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686800" y="6553200"/>
            <a:ext cx="179388" cy="107950"/>
          </a:xfrm>
          <a:prstGeom prst="actionButtonEnd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40353" name="Rectangle 33"/>
          <p:cNvSpPr>
            <a:spLocks noChangeArrowheads="1"/>
          </p:cNvSpPr>
          <p:nvPr/>
        </p:nvSpPr>
        <p:spPr bwMode="auto">
          <a:xfrm>
            <a:off x="1104900" y="2057400"/>
            <a:ext cx="7859713" cy="3381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buClrTx/>
              <a:buFont typeface="Symbol" pitchFamily="18" charset="2"/>
              <a:buChar char="-"/>
            </a:pPr>
            <a:r>
              <a:rPr lang="en-US" altLang="zh-CN" sz="2800" b="1">
                <a:solidFill>
                  <a:srgbClr val="800080"/>
                </a:solidFill>
                <a:latin typeface="楷体_GB2312" pitchFamily="49" charset="-122"/>
              </a:rPr>
              <a:t> </a:t>
            </a:r>
            <a:r>
              <a:rPr lang="zh-CN" altLang="en-US" sz="2800" b="1">
                <a:solidFill>
                  <a:srgbClr val="800080"/>
                </a:solidFill>
                <a:latin typeface="楷体_GB2312" pitchFamily="49" charset="-122"/>
              </a:rPr>
              <a:t>嵌套的</a:t>
            </a:r>
            <a:r>
              <a:rPr kumimoji="0" lang="zh-CN" altLang="en-US" sz="2800" b="1">
                <a:solidFill>
                  <a:srgbClr val="800080"/>
                </a:solidFill>
              </a:rPr>
              <a:t>作用域</a:t>
            </a:r>
            <a:r>
              <a:rPr kumimoji="0" lang="zh-CN" altLang="en-US" sz="2800" b="1"/>
              <a:t>（</a:t>
            </a:r>
            <a:r>
              <a:rPr kumimoji="0" lang="en-US" altLang="zh-CN" sz="2800" i="1"/>
              <a:t>nested scopes</a:t>
            </a:r>
            <a:r>
              <a:rPr kumimoji="0" lang="zh-CN" altLang="en-US" sz="2800" b="1"/>
              <a:t>）</a:t>
            </a:r>
          </a:p>
          <a:p>
            <a:pPr>
              <a:buClrTx/>
              <a:buFont typeface="Symbol" pitchFamily="18" charset="2"/>
              <a:buNone/>
            </a:pPr>
            <a:endParaRPr kumimoji="0" lang="zh-CN" altLang="en-US" sz="1000" b="1">
              <a:solidFill>
                <a:srgbClr val="800080"/>
              </a:solidFill>
            </a:endParaRPr>
          </a:p>
          <a:p>
            <a:pPr>
              <a:buClrTx/>
              <a:buFont typeface="Symbol" pitchFamily="18" charset="2"/>
              <a:buChar char="-"/>
            </a:pPr>
            <a:r>
              <a:rPr kumimoji="0" lang="zh-CN" altLang="en-US" sz="2800" b="1">
                <a:solidFill>
                  <a:srgbClr val="800080"/>
                </a:solidFill>
              </a:rPr>
              <a:t>  开作用域与闭作用域</a:t>
            </a:r>
            <a:r>
              <a:rPr kumimoji="0" lang="zh-CN" altLang="en-US" sz="2800" b="1"/>
              <a:t>（相应于程序中特殊点）</a:t>
            </a:r>
            <a:endParaRPr kumimoji="0" lang="zh-CN" altLang="en-US" sz="2800" b="1">
              <a:solidFill>
                <a:srgbClr val="800080"/>
              </a:solidFill>
            </a:endParaRPr>
          </a:p>
          <a:p>
            <a:pPr>
              <a:buClrTx/>
              <a:buFont typeface="Symbol" pitchFamily="18" charset="2"/>
              <a:buNone/>
            </a:pPr>
            <a:endParaRPr kumimoji="0" lang="zh-CN" altLang="en-US" sz="1000" b="1">
              <a:solidFill>
                <a:srgbClr val="800080"/>
              </a:solidFill>
            </a:endParaRPr>
          </a:p>
          <a:p>
            <a:pPr lvl="1">
              <a:buFontTx/>
              <a:buChar char="•"/>
            </a:pPr>
            <a:r>
              <a:rPr lang="zh-CN" altLang="en-US" b="1"/>
              <a:t>  </a:t>
            </a:r>
            <a:r>
              <a:rPr kumimoji="0" lang="zh-CN" altLang="en-US" b="1"/>
              <a:t>该点所在的作用域为</a:t>
            </a:r>
            <a:r>
              <a:rPr kumimoji="0" lang="zh-CN" altLang="en-US" b="1">
                <a:solidFill>
                  <a:srgbClr val="800080"/>
                </a:solidFill>
              </a:rPr>
              <a:t>当前作用域</a:t>
            </a:r>
          </a:p>
          <a:p>
            <a:pPr lvl="1">
              <a:buFontTx/>
              <a:buNone/>
            </a:pPr>
            <a:endParaRPr kumimoji="0" lang="zh-CN" altLang="en-US" sz="1000" b="1">
              <a:latin typeface="楷体_GB2312" pitchFamily="49" charset="-122"/>
            </a:endParaRPr>
          </a:p>
          <a:p>
            <a:pPr lvl="1">
              <a:buFontTx/>
              <a:buChar char="•"/>
            </a:pPr>
            <a:r>
              <a:rPr lang="zh-CN" altLang="en-US" b="1">
                <a:latin typeface="楷体_GB2312" pitchFamily="49" charset="-122"/>
              </a:rPr>
              <a:t> </a:t>
            </a:r>
            <a:r>
              <a:rPr kumimoji="0" lang="zh-CN" altLang="en-US" b="1"/>
              <a:t>当前作用域与包含它的程序单元所构成的作用域称</a:t>
            </a:r>
          </a:p>
          <a:p>
            <a:pPr lvl="1">
              <a:buFontTx/>
              <a:buNone/>
            </a:pPr>
            <a:r>
              <a:rPr kumimoji="0" lang="zh-CN" altLang="en-US" b="1"/>
              <a:t>   为</a:t>
            </a:r>
            <a:r>
              <a:rPr kumimoji="0" lang="zh-CN" altLang="en-US" b="1">
                <a:solidFill>
                  <a:srgbClr val="800080"/>
                </a:solidFill>
              </a:rPr>
              <a:t>开作用域</a:t>
            </a:r>
            <a:r>
              <a:rPr kumimoji="0" lang="zh-CN" altLang="en-US" b="1"/>
              <a:t>（</a:t>
            </a:r>
            <a:r>
              <a:rPr kumimoji="0" lang="en-US" altLang="zh-CN" i="1"/>
              <a:t>open scopes</a:t>
            </a:r>
            <a:r>
              <a:rPr kumimoji="0" lang="zh-CN" altLang="en-US" b="1"/>
              <a:t>）</a:t>
            </a:r>
          </a:p>
          <a:p>
            <a:pPr lvl="1">
              <a:buFontTx/>
              <a:buNone/>
            </a:pPr>
            <a:endParaRPr kumimoji="0" lang="zh-CN" altLang="en-US" sz="1000" b="1"/>
          </a:p>
          <a:p>
            <a:pPr lvl="1">
              <a:buFontTx/>
              <a:buChar char="•"/>
            </a:pPr>
            <a:r>
              <a:rPr lang="zh-CN" altLang="en-US" b="1">
                <a:latin typeface="楷体_GB2312" pitchFamily="49" charset="-122"/>
              </a:rPr>
              <a:t> </a:t>
            </a:r>
            <a:r>
              <a:rPr kumimoji="0" lang="zh-CN" altLang="en-US" b="1"/>
              <a:t>不属于开作用域的作用域称为</a:t>
            </a:r>
            <a:r>
              <a:rPr kumimoji="0" lang="zh-CN" altLang="en-US" b="1">
                <a:solidFill>
                  <a:srgbClr val="800080"/>
                </a:solidFill>
              </a:rPr>
              <a:t>闭作用域</a:t>
            </a:r>
            <a:r>
              <a:rPr kumimoji="0" lang="zh-CN" altLang="en-US" b="1"/>
              <a:t>（</a:t>
            </a:r>
            <a:r>
              <a:rPr kumimoji="0" lang="en-US" altLang="zh-CN" i="1"/>
              <a:t>close</a:t>
            </a:r>
          </a:p>
          <a:p>
            <a:pPr lvl="1">
              <a:buFontTx/>
              <a:buNone/>
            </a:pPr>
            <a:r>
              <a:rPr kumimoji="0" lang="en-US" altLang="zh-CN" i="1"/>
              <a:t>    scopes</a:t>
            </a:r>
            <a:r>
              <a:rPr kumimoji="0" lang="zh-CN" altLang="en-US" b="1"/>
              <a:t>）</a:t>
            </a:r>
            <a:endParaRPr kumimoji="0" lang="zh-CN" altLang="en-US" sz="1000" b="1">
              <a:solidFill>
                <a:srgbClr val="800080"/>
              </a:solidFill>
            </a:endParaRPr>
          </a:p>
        </p:txBody>
      </p:sp>
    </p:spTree>
  </p:cSld>
  <p:clrMapOvr>
    <a:masterClrMapping/>
  </p:clrMapOvr>
  <p:transition spd="med" advClick="0">
    <p:wipe dir="r"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090" name="AutoShape 2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382000" y="6553200"/>
            <a:ext cx="179388" cy="107950"/>
          </a:xfrm>
          <a:prstGeom prst="actionButtonForwardNex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01091" name="AutoShape 3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8077200" y="6553200"/>
            <a:ext cx="179388" cy="107950"/>
          </a:xfrm>
          <a:prstGeom prst="actionButtonBackPrevious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01092" name="AutoShape 4">
            <a:hlinkClick r:id="" action="ppaction://hlinkshowjump?jump=firstslide" highlightClick="1"/>
          </p:cNvPr>
          <p:cNvSpPr>
            <a:spLocks noChangeArrowheads="1"/>
          </p:cNvSpPr>
          <p:nvPr/>
        </p:nvSpPr>
        <p:spPr bwMode="auto">
          <a:xfrm>
            <a:off x="7772400" y="6553200"/>
            <a:ext cx="179388" cy="107950"/>
          </a:xfrm>
          <a:prstGeom prst="actionButtonBeginning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01093" name="AutoShape 5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686800" y="6553200"/>
            <a:ext cx="179388" cy="107950"/>
          </a:xfrm>
          <a:prstGeom prst="actionButtonEnd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01094" name="Rectangle 6"/>
          <p:cNvSpPr>
            <a:spLocks noChangeArrowheads="1"/>
          </p:cNvSpPr>
          <p:nvPr/>
        </p:nvSpPr>
        <p:spPr bwMode="auto">
          <a:xfrm>
            <a:off x="1524000" y="188913"/>
            <a:ext cx="1828800" cy="6413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90000"/>
              </a:lnSpc>
              <a:buClrTx/>
              <a:buFontTx/>
              <a:buNone/>
            </a:pPr>
            <a:r>
              <a:rPr lang="zh-CN" altLang="en-US" sz="4000" b="1">
                <a:solidFill>
                  <a:srgbClr val="800080"/>
                </a:solidFill>
                <a:latin typeface="华文行楷" pitchFamily="2" charset="-122"/>
                <a:ea typeface="华文行楷" pitchFamily="2" charset="-122"/>
              </a:rPr>
              <a:t>符号表</a:t>
            </a:r>
          </a:p>
        </p:txBody>
      </p:sp>
      <p:sp>
        <p:nvSpPr>
          <p:cNvPr id="601095" name="Text Box 7">
            <a:hlinkClick r:id="" action="ppaction://noaction"/>
          </p:cNvPr>
          <p:cNvSpPr txBox="1">
            <a:spLocks noChangeArrowheads="1"/>
          </p:cNvSpPr>
          <p:nvPr/>
        </p:nvSpPr>
        <p:spPr bwMode="auto">
          <a:xfrm>
            <a:off x="762000" y="1325563"/>
            <a:ext cx="5033963" cy="579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altLang="zh-CN" sz="3200" b="1">
                <a:solidFill>
                  <a:srgbClr val="800080"/>
                </a:solidFill>
              </a:rPr>
              <a:t> </a:t>
            </a:r>
            <a:r>
              <a:rPr lang="zh-CN" altLang="en-US" sz="3200" b="1">
                <a:solidFill>
                  <a:srgbClr val="800080"/>
                </a:solidFill>
              </a:rPr>
              <a:t>作用域与可见性</a:t>
            </a:r>
          </a:p>
        </p:txBody>
      </p:sp>
      <p:sp>
        <p:nvSpPr>
          <p:cNvPr id="601096" name="AutoShape 8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382000" y="6553200"/>
            <a:ext cx="179388" cy="107950"/>
          </a:xfrm>
          <a:prstGeom prst="actionButtonForwardNex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01097" name="AutoShape 9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8077200" y="6553200"/>
            <a:ext cx="179388" cy="107950"/>
          </a:xfrm>
          <a:prstGeom prst="actionButtonBackPrevious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01098" name="AutoShape 10">
            <a:hlinkClick r:id="" action="ppaction://hlinkshowjump?jump=firstslide" highlightClick="1"/>
          </p:cNvPr>
          <p:cNvSpPr>
            <a:spLocks noChangeArrowheads="1"/>
          </p:cNvSpPr>
          <p:nvPr/>
        </p:nvSpPr>
        <p:spPr bwMode="auto">
          <a:xfrm>
            <a:off x="7772400" y="6553200"/>
            <a:ext cx="179388" cy="107950"/>
          </a:xfrm>
          <a:prstGeom prst="actionButtonBeginning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01099" name="AutoShape 11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686800" y="6553200"/>
            <a:ext cx="179388" cy="107950"/>
          </a:xfrm>
          <a:prstGeom prst="actionButtonEnd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01100" name="AutoShape 12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382000" y="6553200"/>
            <a:ext cx="179388" cy="107950"/>
          </a:xfrm>
          <a:prstGeom prst="actionButtonForwardNex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01101" name="AutoShape 13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8077200" y="6553200"/>
            <a:ext cx="179388" cy="107950"/>
          </a:xfrm>
          <a:prstGeom prst="actionButtonBackPrevious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01102" name="AutoShape 14">
            <a:hlinkClick r:id="" action="ppaction://hlinkshowjump?jump=firstslide" highlightClick="1"/>
          </p:cNvPr>
          <p:cNvSpPr>
            <a:spLocks noChangeArrowheads="1"/>
          </p:cNvSpPr>
          <p:nvPr/>
        </p:nvSpPr>
        <p:spPr bwMode="auto">
          <a:xfrm>
            <a:off x="7772400" y="6553200"/>
            <a:ext cx="179388" cy="107950"/>
          </a:xfrm>
          <a:prstGeom prst="actionButtonBeginning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01103" name="AutoShape 15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686800" y="6553200"/>
            <a:ext cx="179388" cy="107950"/>
          </a:xfrm>
          <a:prstGeom prst="actionButtonEnd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01104" name="Rectangle 16"/>
          <p:cNvSpPr>
            <a:spLocks noChangeArrowheads="1"/>
          </p:cNvSpPr>
          <p:nvPr/>
        </p:nvSpPr>
        <p:spPr bwMode="auto">
          <a:xfrm>
            <a:off x="1104900" y="2057400"/>
            <a:ext cx="7859588" cy="28315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buClrTx/>
              <a:buFont typeface="Symbol" pitchFamily="18" charset="2"/>
              <a:buChar char="-"/>
            </a:pPr>
            <a:r>
              <a:rPr lang="en-US" altLang="zh-CN" sz="2800" b="1" dirty="0">
                <a:solidFill>
                  <a:srgbClr val="800080"/>
                </a:solidFill>
                <a:latin typeface="楷体_GB2312" pitchFamily="49" charset="-122"/>
              </a:rPr>
              <a:t> </a:t>
            </a:r>
            <a:r>
              <a:rPr lang="zh-CN" altLang="en-US" sz="2800" b="1" dirty="0">
                <a:solidFill>
                  <a:srgbClr val="800080"/>
                </a:solidFill>
                <a:latin typeface="楷体_GB2312" pitchFamily="49" charset="-122"/>
              </a:rPr>
              <a:t>常用的可见性规则</a:t>
            </a:r>
            <a:r>
              <a:rPr kumimoji="0" lang="zh-CN" altLang="en-US" sz="2800" b="1" dirty="0"/>
              <a:t>（</a:t>
            </a:r>
            <a:r>
              <a:rPr kumimoji="0" lang="en-US" altLang="zh-CN" sz="2800" i="1" dirty="0"/>
              <a:t>visibility rules</a:t>
            </a:r>
            <a:r>
              <a:rPr kumimoji="0" lang="zh-CN" altLang="en-US" sz="2800" b="1" dirty="0"/>
              <a:t>）</a:t>
            </a:r>
          </a:p>
          <a:p>
            <a:pPr>
              <a:buClrTx/>
              <a:buFont typeface="Symbol" pitchFamily="18" charset="2"/>
              <a:buNone/>
            </a:pPr>
            <a:endParaRPr kumimoji="0" lang="zh-CN" altLang="en-US" sz="1000" b="1" dirty="0">
              <a:solidFill>
                <a:srgbClr val="800080"/>
              </a:solidFill>
            </a:endParaRPr>
          </a:p>
          <a:p>
            <a:pPr lvl="1">
              <a:buFontTx/>
              <a:buChar char="•"/>
            </a:pPr>
            <a:r>
              <a:rPr lang="zh-CN" altLang="en-US" b="1" dirty="0"/>
              <a:t>  </a:t>
            </a:r>
            <a:r>
              <a:rPr kumimoji="0" lang="zh-CN" altLang="en-US" b="1" dirty="0"/>
              <a:t>在程序的任何一点，只有在该点的开作用域中声明</a:t>
            </a:r>
          </a:p>
          <a:p>
            <a:pPr lvl="1">
              <a:buFontTx/>
              <a:buNone/>
            </a:pPr>
            <a:r>
              <a:rPr kumimoji="0" lang="zh-CN" altLang="en-US" b="1" dirty="0"/>
              <a:t>   的名字才是可访问的</a:t>
            </a:r>
            <a:endParaRPr kumimoji="0" lang="zh-CN" altLang="en-US" b="1" dirty="0">
              <a:solidFill>
                <a:srgbClr val="800080"/>
              </a:solidFill>
            </a:endParaRPr>
          </a:p>
          <a:p>
            <a:pPr lvl="1">
              <a:buFontTx/>
              <a:buNone/>
            </a:pPr>
            <a:endParaRPr kumimoji="0" lang="zh-CN" altLang="en-US" sz="1000" b="1" dirty="0">
              <a:latin typeface="楷体_GB2312" pitchFamily="49" charset="-122"/>
            </a:endParaRPr>
          </a:p>
          <a:p>
            <a:pPr lvl="1">
              <a:buFontTx/>
              <a:buChar char="•"/>
            </a:pPr>
            <a:r>
              <a:rPr kumimoji="0" lang="zh-CN" altLang="en-US" b="1" dirty="0" smtClean="0"/>
              <a:t>  若</a:t>
            </a:r>
            <a:r>
              <a:rPr kumimoji="0" lang="zh-CN" altLang="en-US" b="1" dirty="0"/>
              <a:t>一个名字在多个开作用域中被声明，则把离该名</a:t>
            </a:r>
          </a:p>
          <a:p>
            <a:pPr lvl="1">
              <a:buFontTx/>
              <a:buNone/>
            </a:pPr>
            <a:r>
              <a:rPr kumimoji="0" lang="zh-CN" altLang="en-US" b="1" dirty="0"/>
              <a:t>   字的某个引用最近的声明作为该引用的解释</a:t>
            </a:r>
          </a:p>
          <a:p>
            <a:pPr lvl="1">
              <a:buFontTx/>
              <a:buNone/>
            </a:pPr>
            <a:endParaRPr kumimoji="0" lang="zh-CN" altLang="en-US" sz="1000" b="1" dirty="0"/>
          </a:p>
          <a:p>
            <a:pPr lvl="1">
              <a:buFontTx/>
              <a:buChar char="•"/>
            </a:pPr>
            <a:r>
              <a:rPr lang="zh-CN" altLang="en-US" b="1" dirty="0">
                <a:latin typeface="楷体_GB2312" pitchFamily="49" charset="-122"/>
              </a:rPr>
              <a:t> </a:t>
            </a:r>
            <a:r>
              <a:rPr kumimoji="0" lang="zh-CN" altLang="en-US" b="1" dirty="0"/>
              <a:t>新的声明只能出现在当前作用域</a:t>
            </a:r>
          </a:p>
        </p:txBody>
      </p:sp>
    </p:spTree>
  </p:cSld>
  <p:clrMapOvr>
    <a:masterClrMapping/>
  </p:clrMapOvr>
  <p:transition spd="med" advClick="0">
    <p:wipe dir="r"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625" name="AutoShape 65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382000" y="6553200"/>
            <a:ext cx="179388" cy="107950"/>
          </a:xfrm>
          <a:prstGeom prst="actionButtonForwardNex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50626" name="AutoShape 66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8077200" y="6553200"/>
            <a:ext cx="179388" cy="107950"/>
          </a:xfrm>
          <a:prstGeom prst="actionButtonBackPrevious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50627" name="AutoShape 67">
            <a:hlinkClick r:id="" action="ppaction://hlinkshowjump?jump=firstslide" highlightClick="1"/>
          </p:cNvPr>
          <p:cNvSpPr>
            <a:spLocks noChangeArrowheads="1"/>
          </p:cNvSpPr>
          <p:nvPr/>
        </p:nvSpPr>
        <p:spPr bwMode="auto">
          <a:xfrm>
            <a:off x="7772400" y="6553200"/>
            <a:ext cx="179388" cy="107950"/>
          </a:xfrm>
          <a:prstGeom prst="actionButtonBeginning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50628" name="AutoShape 68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686800" y="6553200"/>
            <a:ext cx="179388" cy="107950"/>
          </a:xfrm>
          <a:prstGeom prst="actionButtonEnd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50629" name="Rectangle 69"/>
          <p:cNvSpPr>
            <a:spLocks noChangeArrowheads="1"/>
          </p:cNvSpPr>
          <p:nvPr/>
        </p:nvSpPr>
        <p:spPr bwMode="auto">
          <a:xfrm>
            <a:off x="1524000" y="188913"/>
            <a:ext cx="1828800" cy="6413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90000"/>
              </a:lnSpc>
              <a:buClrTx/>
              <a:buFontTx/>
              <a:buNone/>
            </a:pPr>
            <a:r>
              <a:rPr lang="zh-CN" altLang="en-US" sz="4000" b="1">
                <a:solidFill>
                  <a:srgbClr val="800080"/>
                </a:solidFill>
                <a:latin typeface="华文行楷" pitchFamily="2" charset="-122"/>
                <a:ea typeface="华文行楷" pitchFamily="2" charset="-122"/>
              </a:rPr>
              <a:t>符号表</a:t>
            </a:r>
          </a:p>
        </p:txBody>
      </p:sp>
      <p:sp>
        <p:nvSpPr>
          <p:cNvPr id="450630" name="Text Box 70">
            <a:hlinkClick r:id="" action="ppaction://noaction"/>
          </p:cNvPr>
          <p:cNvSpPr txBox="1">
            <a:spLocks noChangeArrowheads="1"/>
          </p:cNvSpPr>
          <p:nvPr/>
        </p:nvSpPr>
        <p:spPr bwMode="auto">
          <a:xfrm>
            <a:off x="762000" y="1325563"/>
            <a:ext cx="5033963" cy="579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altLang="zh-CN" sz="3200" b="1">
                <a:solidFill>
                  <a:srgbClr val="800080"/>
                </a:solidFill>
              </a:rPr>
              <a:t> </a:t>
            </a:r>
            <a:r>
              <a:rPr kumimoji="0" lang="zh-CN" altLang="en-US" sz="3200" b="1">
                <a:solidFill>
                  <a:srgbClr val="800080"/>
                </a:solidFill>
              </a:rPr>
              <a:t>作用域与符号表组织</a:t>
            </a:r>
          </a:p>
        </p:txBody>
      </p:sp>
      <p:sp>
        <p:nvSpPr>
          <p:cNvPr id="450631" name="AutoShape 71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382000" y="6553200"/>
            <a:ext cx="179388" cy="107950"/>
          </a:xfrm>
          <a:prstGeom prst="actionButtonForwardNex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50632" name="AutoShape 72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8077200" y="6553200"/>
            <a:ext cx="179388" cy="107950"/>
          </a:xfrm>
          <a:prstGeom prst="actionButtonBackPrevious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50633" name="AutoShape 73">
            <a:hlinkClick r:id="" action="ppaction://hlinkshowjump?jump=firstslide" highlightClick="1"/>
          </p:cNvPr>
          <p:cNvSpPr>
            <a:spLocks noChangeArrowheads="1"/>
          </p:cNvSpPr>
          <p:nvPr/>
        </p:nvSpPr>
        <p:spPr bwMode="auto">
          <a:xfrm>
            <a:off x="7772400" y="6553200"/>
            <a:ext cx="179388" cy="107950"/>
          </a:xfrm>
          <a:prstGeom prst="actionButtonBeginning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50634" name="AutoShape 74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686800" y="6553200"/>
            <a:ext cx="179388" cy="107950"/>
          </a:xfrm>
          <a:prstGeom prst="actionButtonEnd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50635" name="AutoShape 75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382000" y="6553200"/>
            <a:ext cx="179388" cy="107950"/>
          </a:xfrm>
          <a:prstGeom prst="actionButtonForwardNex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50636" name="AutoShape 76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8077200" y="6553200"/>
            <a:ext cx="179388" cy="107950"/>
          </a:xfrm>
          <a:prstGeom prst="actionButtonBackPrevious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50637" name="AutoShape 77">
            <a:hlinkClick r:id="" action="ppaction://hlinkshowjump?jump=firstslide" highlightClick="1"/>
          </p:cNvPr>
          <p:cNvSpPr>
            <a:spLocks noChangeArrowheads="1"/>
          </p:cNvSpPr>
          <p:nvPr/>
        </p:nvSpPr>
        <p:spPr bwMode="auto">
          <a:xfrm>
            <a:off x="7772400" y="6553200"/>
            <a:ext cx="179388" cy="107950"/>
          </a:xfrm>
          <a:prstGeom prst="actionButtonBeginning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50638" name="AutoShape 78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686800" y="6553200"/>
            <a:ext cx="179388" cy="107950"/>
          </a:xfrm>
          <a:prstGeom prst="actionButtonEnd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50639" name="Rectangle 79"/>
          <p:cNvSpPr>
            <a:spLocks noChangeArrowheads="1"/>
          </p:cNvSpPr>
          <p:nvPr/>
        </p:nvSpPr>
        <p:spPr bwMode="auto">
          <a:xfrm>
            <a:off x="1104900" y="2057400"/>
            <a:ext cx="7658100" cy="2954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buClrTx/>
              <a:buFont typeface="Symbol" pitchFamily="18" charset="2"/>
              <a:buChar char="-"/>
            </a:pPr>
            <a:r>
              <a:rPr kumimoji="0" lang="en-US" altLang="zh-CN" sz="2800" b="1">
                <a:solidFill>
                  <a:srgbClr val="800080"/>
                </a:solidFill>
              </a:rPr>
              <a:t>  </a:t>
            </a:r>
            <a:r>
              <a:rPr kumimoji="0" lang="zh-CN" altLang="en-US" sz="2800" b="1">
                <a:solidFill>
                  <a:srgbClr val="800080"/>
                </a:solidFill>
              </a:rPr>
              <a:t>作用域与单符号表组织</a:t>
            </a:r>
          </a:p>
          <a:p>
            <a:pPr>
              <a:buClrTx/>
              <a:buFont typeface="Symbol" pitchFamily="18" charset="2"/>
              <a:buNone/>
            </a:pPr>
            <a:endParaRPr kumimoji="0" lang="zh-CN" altLang="en-US" sz="1000" b="1">
              <a:solidFill>
                <a:srgbClr val="800080"/>
              </a:solidFill>
            </a:endParaRPr>
          </a:p>
          <a:p>
            <a:pPr lvl="1">
              <a:buFontTx/>
              <a:buChar char="•"/>
            </a:pPr>
            <a:r>
              <a:rPr lang="zh-CN" altLang="en-US" b="1"/>
              <a:t>  </a:t>
            </a:r>
            <a:r>
              <a:rPr kumimoji="0" lang="zh-CN" altLang="en-US" b="1"/>
              <a:t>所有嵌套的作用域共用一个全局符号表</a:t>
            </a:r>
          </a:p>
          <a:p>
            <a:pPr lvl="1">
              <a:buFontTx/>
              <a:buNone/>
            </a:pPr>
            <a:endParaRPr kumimoji="0" lang="zh-CN" altLang="en-US" sz="1000" b="1">
              <a:latin typeface="楷体_GB2312" pitchFamily="49" charset="-122"/>
            </a:endParaRPr>
          </a:p>
          <a:p>
            <a:pPr lvl="1">
              <a:buFontTx/>
              <a:buChar char="•"/>
            </a:pPr>
            <a:r>
              <a:rPr lang="zh-CN" altLang="en-US" b="1">
                <a:latin typeface="楷体_GB2312" pitchFamily="49" charset="-122"/>
              </a:rPr>
              <a:t> </a:t>
            </a:r>
            <a:r>
              <a:rPr kumimoji="0" lang="zh-CN" altLang="en-US" b="1"/>
              <a:t>每个作用域有一个作用域号</a:t>
            </a:r>
          </a:p>
          <a:p>
            <a:pPr lvl="1">
              <a:buFontTx/>
              <a:buNone/>
            </a:pPr>
            <a:endParaRPr kumimoji="0" lang="zh-CN" altLang="en-US" sz="1000" b="1"/>
          </a:p>
          <a:p>
            <a:pPr lvl="1">
              <a:buFontTx/>
              <a:buChar char="•"/>
            </a:pPr>
            <a:r>
              <a:rPr kumimoji="0" lang="zh-CN" altLang="en-US" b="1"/>
              <a:t>  仅记录开作用域中的符号</a:t>
            </a:r>
          </a:p>
          <a:p>
            <a:pPr lvl="1">
              <a:buFontTx/>
              <a:buNone/>
            </a:pPr>
            <a:endParaRPr kumimoji="0" lang="zh-CN" altLang="en-US" sz="1000" b="1"/>
          </a:p>
          <a:p>
            <a:pPr lvl="1">
              <a:buFontTx/>
              <a:buChar char="•"/>
            </a:pPr>
            <a:r>
              <a:rPr kumimoji="0" lang="zh-CN" altLang="en-US" b="1"/>
              <a:t>  当某个作用域成为闭作用域时，从符号表中删除该</a:t>
            </a:r>
          </a:p>
          <a:p>
            <a:pPr lvl="1">
              <a:buFontTx/>
              <a:buNone/>
            </a:pPr>
            <a:r>
              <a:rPr kumimoji="0" lang="zh-CN" altLang="en-US" b="1"/>
              <a:t>   作用域中所声明的名字</a:t>
            </a:r>
            <a:endParaRPr kumimoji="0" lang="zh-CN" altLang="en-US" sz="1000" b="1">
              <a:solidFill>
                <a:srgbClr val="800080"/>
              </a:solidFill>
            </a:endParaRPr>
          </a:p>
        </p:txBody>
      </p:sp>
    </p:spTree>
  </p:cSld>
  <p:clrMapOvr>
    <a:masterClrMapping/>
  </p:clrMapOvr>
  <p:transition spd="med" advClick="0">
    <p:wipe dir="r"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8066" name="Text Box 2"/>
          <p:cNvSpPr txBox="1">
            <a:spLocks noChangeArrowheads="1"/>
          </p:cNvSpPr>
          <p:nvPr/>
        </p:nvSpPr>
        <p:spPr bwMode="auto">
          <a:xfrm>
            <a:off x="6443663" y="1176338"/>
            <a:ext cx="2592387" cy="5529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80000"/>
              </a:lnSpc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None/>
            </a:pPr>
            <a:r>
              <a:rPr lang="en-US" altLang="zh-CN" sz="1800" b="1">
                <a:ea typeface="宋体" pitchFamily="2" charset="-122"/>
              </a:rPr>
              <a:t>const a=25;</a:t>
            </a: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None/>
            </a:pPr>
            <a:r>
              <a:rPr lang="en-US" altLang="zh-CN" sz="1800" b="1">
                <a:ea typeface="宋体" pitchFamily="2" charset="-122"/>
              </a:rPr>
              <a:t>var x,y;</a:t>
            </a: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None/>
            </a:pPr>
            <a:r>
              <a:rPr lang="en-US" altLang="zh-CN" sz="1800" b="1">
                <a:ea typeface="宋体" pitchFamily="2" charset="-122"/>
              </a:rPr>
              <a:t>procedure  p;</a:t>
            </a: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None/>
            </a:pPr>
            <a:r>
              <a:rPr lang="en-US" altLang="zh-CN" sz="1800" b="1">
                <a:ea typeface="宋体" pitchFamily="2" charset="-122"/>
              </a:rPr>
              <a:t>    var  z;</a:t>
            </a: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None/>
            </a:pPr>
            <a:r>
              <a:rPr lang="en-US" altLang="zh-CN" sz="1800" b="1">
                <a:ea typeface="宋体" pitchFamily="2" charset="-122"/>
              </a:rPr>
              <a:t>    begin</a:t>
            </a: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None/>
            </a:pPr>
            <a:r>
              <a:rPr lang="en-US" altLang="zh-CN" sz="1800" b="1">
                <a:ea typeface="宋体" pitchFamily="2" charset="-122"/>
              </a:rPr>
              <a:t>         ……</a:t>
            </a: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None/>
            </a:pPr>
            <a:r>
              <a:rPr lang="en-US" altLang="zh-CN" sz="1800" b="1">
                <a:ea typeface="宋体" pitchFamily="2" charset="-122"/>
              </a:rPr>
              <a:t>    end; </a:t>
            </a: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None/>
            </a:pPr>
            <a:r>
              <a:rPr lang="en-US" altLang="zh-CN" sz="1800" b="1">
                <a:ea typeface="宋体" pitchFamily="2" charset="-122"/>
              </a:rPr>
              <a:t>procedure  r;</a:t>
            </a: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None/>
            </a:pPr>
            <a:r>
              <a:rPr lang="en-US" altLang="zh-CN" sz="1800" b="1">
                <a:ea typeface="宋体" pitchFamily="2" charset="-122"/>
              </a:rPr>
              <a:t>    var x, s;</a:t>
            </a: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None/>
            </a:pPr>
            <a:r>
              <a:rPr lang="en-US" altLang="zh-CN" sz="1800" b="1">
                <a:ea typeface="宋体" pitchFamily="2" charset="-122"/>
              </a:rPr>
              <a:t>    procedure t;</a:t>
            </a: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None/>
            </a:pPr>
            <a:r>
              <a:rPr lang="en-US" altLang="zh-CN" sz="1800" b="1">
                <a:ea typeface="宋体" pitchFamily="2" charset="-122"/>
              </a:rPr>
              <a:t>         var  x;</a:t>
            </a: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None/>
            </a:pPr>
            <a:r>
              <a:rPr lang="en-US" altLang="zh-CN" sz="1800" b="1">
                <a:ea typeface="宋体" pitchFamily="2" charset="-122"/>
              </a:rPr>
              <a:t>         begin</a:t>
            </a: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None/>
            </a:pPr>
            <a:r>
              <a:rPr lang="en-US" altLang="zh-CN" sz="1800" b="1">
                <a:ea typeface="宋体" pitchFamily="2" charset="-122"/>
              </a:rPr>
              <a:t>            ……  </a:t>
            </a:r>
            <a:r>
              <a:rPr lang="en-US" altLang="zh-CN" sz="1800" b="1">
                <a:solidFill>
                  <a:srgbClr val="800080"/>
                </a:solidFill>
                <a:ea typeface="宋体" pitchFamily="2" charset="-122"/>
              </a:rPr>
              <a:t>/*here*/</a:t>
            </a:r>
            <a:endParaRPr lang="en-US" altLang="zh-CN" sz="1800" b="1">
              <a:ea typeface="宋体" pitchFamily="2" charset="-122"/>
            </a:endParaRP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None/>
            </a:pPr>
            <a:r>
              <a:rPr lang="en-US" altLang="zh-CN" sz="1800" b="1">
                <a:ea typeface="宋体" pitchFamily="2" charset="-122"/>
              </a:rPr>
              <a:t>         end;</a:t>
            </a: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None/>
            </a:pPr>
            <a:r>
              <a:rPr lang="en-US" altLang="zh-CN" sz="1800" b="1">
                <a:ea typeface="宋体" pitchFamily="2" charset="-122"/>
              </a:rPr>
              <a:t>    begin</a:t>
            </a:r>
            <a:endParaRPr lang="en-US" altLang="zh-CN" sz="1800" b="1">
              <a:solidFill>
                <a:srgbClr val="800080"/>
              </a:solidFill>
              <a:ea typeface="宋体" pitchFamily="2" charset="-122"/>
            </a:endParaRP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None/>
            </a:pPr>
            <a:r>
              <a:rPr lang="en-US" altLang="zh-CN" sz="1800" b="1">
                <a:ea typeface="宋体" pitchFamily="2" charset="-122"/>
              </a:rPr>
              <a:t>         ……</a:t>
            </a: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None/>
            </a:pPr>
            <a:r>
              <a:rPr lang="en-US" altLang="zh-CN" sz="1800" b="1">
                <a:ea typeface="宋体" pitchFamily="2" charset="-122"/>
              </a:rPr>
              <a:t>    end; </a:t>
            </a: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None/>
            </a:pPr>
            <a:r>
              <a:rPr lang="en-US" altLang="zh-CN" sz="1800" b="1">
                <a:ea typeface="宋体" pitchFamily="2" charset="-122"/>
              </a:rPr>
              <a:t>begin</a:t>
            </a: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None/>
            </a:pPr>
            <a:r>
              <a:rPr lang="en-US" altLang="zh-CN" sz="1800" b="1">
                <a:ea typeface="宋体" pitchFamily="2" charset="-122"/>
              </a:rPr>
              <a:t>    ……</a:t>
            </a: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None/>
            </a:pPr>
            <a:r>
              <a:rPr lang="en-US" altLang="zh-CN" sz="1800" b="1">
                <a:ea typeface="宋体" pitchFamily="2" charset="-122"/>
              </a:rPr>
              <a:t>end. </a:t>
            </a:r>
          </a:p>
        </p:txBody>
      </p:sp>
      <p:sp>
        <p:nvSpPr>
          <p:cNvPr id="728067" name="Text Box 3"/>
          <p:cNvSpPr txBox="1">
            <a:spLocks noChangeArrowheads="1"/>
          </p:cNvSpPr>
          <p:nvPr/>
        </p:nvSpPr>
        <p:spPr bwMode="auto">
          <a:xfrm>
            <a:off x="684213" y="2081213"/>
            <a:ext cx="5832475" cy="8842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buFont typeface="Wingdings" pitchFamily="2" charset="2"/>
              <a:buNone/>
            </a:pPr>
            <a:r>
              <a:rPr lang="en-US" altLang="zh-CN" sz="2800" b="1">
                <a:solidFill>
                  <a:srgbClr val="800080"/>
                </a:solidFill>
              </a:rPr>
              <a:t>    </a:t>
            </a:r>
            <a:r>
              <a:rPr lang="zh-CN" altLang="en-US" sz="2800" b="1">
                <a:solidFill>
                  <a:srgbClr val="800080"/>
                </a:solidFill>
              </a:rPr>
              <a:t>例：</a:t>
            </a:r>
            <a:r>
              <a:rPr lang="zh-CN" altLang="en-US" b="1"/>
              <a:t>右边某语言程序在处理到</a:t>
            </a:r>
            <a:r>
              <a:rPr lang="en-US" altLang="zh-CN"/>
              <a:t>/*here*/</a:t>
            </a:r>
          </a:p>
          <a:p>
            <a:pPr>
              <a:buFont typeface="Wingdings" pitchFamily="2" charset="2"/>
              <a:buNone/>
            </a:pPr>
            <a:r>
              <a:rPr lang="en-US" altLang="zh-CN"/>
              <a:t>             </a:t>
            </a:r>
            <a:r>
              <a:rPr lang="zh-CN" altLang="en-US" b="1"/>
              <a:t>时的符号表（以哈希表为例）</a:t>
            </a:r>
            <a:endParaRPr lang="zh-CN" altLang="en-US" b="1">
              <a:latin typeface="楷体_GB2312" pitchFamily="49" charset="-122"/>
            </a:endParaRPr>
          </a:p>
        </p:txBody>
      </p:sp>
      <p:sp>
        <p:nvSpPr>
          <p:cNvPr id="728068" name="Text Box 4"/>
          <p:cNvSpPr txBox="1">
            <a:spLocks noChangeArrowheads="1"/>
          </p:cNvSpPr>
          <p:nvPr/>
        </p:nvSpPr>
        <p:spPr bwMode="auto">
          <a:xfrm>
            <a:off x="828675" y="1066800"/>
            <a:ext cx="5343525" cy="946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altLang="zh-CN" sz="2800" b="1">
                <a:solidFill>
                  <a:srgbClr val="800080"/>
                </a:solidFill>
              </a:rPr>
              <a:t> </a:t>
            </a:r>
            <a:r>
              <a:rPr kumimoji="0" lang="zh-CN" altLang="en-US" sz="2800" b="1">
                <a:solidFill>
                  <a:srgbClr val="800080"/>
                </a:solidFill>
              </a:rPr>
              <a:t>所有嵌套的作用域共用一个</a:t>
            </a:r>
          </a:p>
          <a:p>
            <a:pPr>
              <a:buFont typeface="Wingdings" pitchFamily="2" charset="2"/>
              <a:buNone/>
            </a:pPr>
            <a:r>
              <a:rPr kumimoji="0" lang="zh-CN" altLang="en-US" sz="2800" b="1">
                <a:solidFill>
                  <a:srgbClr val="800080"/>
                </a:solidFill>
              </a:rPr>
              <a:t>    全局符号表</a:t>
            </a:r>
          </a:p>
        </p:txBody>
      </p:sp>
      <p:sp>
        <p:nvSpPr>
          <p:cNvPr id="728069" name="Rectangle 5"/>
          <p:cNvSpPr>
            <a:spLocks noChangeArrowheads="1"/>
          </p:cNvSpPr>
          <p:nvPr/>
        </p:nvSpPr>
        <p:spPr bwMode="auto">
          <a:xfrm>
            <a:off x="1524000" y="188913"/>
            <a:ext cx="1828800" cy="6413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90000"/>
              </a:lnSpc>
              <a:buClrTx/>
              <a:buFontTx/>
              <a:buNone/>
            </a:pPr>
            <a:r>
              <a:rPr lang="zh-CN" altLang="en-US" sz="4000" b="1">
                <a:solidFill>
                  <a:srgbClr val="800080"/>
                </a:solidFill>
                <a:latin typeface="华文行楷" pitchFamily="2" charset="-122"/>
                <a:ea typeface="华文行楷" pitchFamily="2" charset="-122"/>
              </a:rPr>
              <a:t>符号表</a:t>
            </a:r>
          </a:p>
        </p:txBody>
      </p:sp>
      <p:sp>
        <p:nvSpPr>
          <p:cNvPr id="728070" name="Line 6"/>
          <p:cNvSpPr>
            <a:spLocks noChangeShapeType="1"/>
          </p:cNvSpPr>
          <p:nvPr/>
        </p:nvSpPr>
        <p:spPr bwMode="auto">
          <a:xfrm>
            <a:off x="1295400" y="3200400"/>
            <a:ext cx="0" cy="2743200"/>
          </a:xfrm>
          <a:prstGeom prst="line">
            <a:avLst/>
          </a:prstGeom>
          <a:noFill/>
          <a:ln w="9525">
            <a:solidFill>
              <a:srgbClr val="800080"/>
            </a:solidFill>
            <a:round/>
            <a:headEnd/>
            <a:tailEnd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728071" name="Line 7"/>
          <p:cNvSpPr>
            <a:spLocks noChangeShapeType="1"/>
          </p:cNvSpPr>
          <p:nvPr/>
        </p:nvSpPr>
        <p:spPr bwMode="auto">
          <a:xfrm>
            <a:off x="2514600" y="3200400"/>
            <a:ext cx="0" cy="2743200"/>
          </a:xfrm>
          <a:prstGeom prst="line">
            <a:avLst/>
          </a:prstGeom>
          <a:noFill/>
          <a:ln w="9525">
            <a:solidFill>
              <a:srgbClr val="800080"/>
            </a:solidFill>
            <a:round/>
            <a:headEnd/>
            <a:tailEnd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728072" name="Line 8"/>
          <p:cNvSpPr>
            <a:spLocks noChangeShapeType="1"/>
          </p:cNvSpPr>
          <p:nvPr/>
        </p:nvSpPr>
        <p:spPr bwMode="auto">
          <a:xfrm>
            <a:off x="1295400" y="3200400"/>
            <a:ext cx="1219200" cy="0"/>
          </a:xfrm>
          <a:prstGeom prst="line">
            <a:avLst/>
          </a:prstGeom>
          <a:noFill/>
          <a:ln w="9525">
            <a:solidFill>
              <a:srgbClr val="800080"/>
            </a:solidFill>
            <a:round/>
            <a:headEnd/>
            <a:tailEnd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728073" name="Line 9"/>
          <p:cNvSpPr>
            <a:spLocks noChangeShapeType="1"/>
          </p:cNvSpPr>
          <p:nvPr/>
        </p:nvSpPr>
        <p:spPr bwMode="auto">
          <a:xfrm>
            <a:off x="1295400" y="3810000"/>
            <a:ext cx="1219200" cy="0"/>
          </a:xfrm>
          <a:prstGeom prst="line">
            <a:avLst/>
          </a:prstGeom>
          <a:noFill/>
          <a:ln w="9525">
            <a:solidFill>
              <a:srgbClr val="800080"/>
            </a:solidFill>
            <a:round/>
            <a:headEnd/>
            <a:tailEnd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728074" name="Line 10"/>
          <p:cNvSpPr>
            <a:spLocks noChangeShapeType="1"/>
          </p:cNvSpPr>
          <p:nvPr/>
        </p:nvSpPr>
        <p:spPr bwMode="auto">
          <a:xfrm>
            <a:off x="1295400" y="4419600"/>
            <a:ext cx="1219200" cy="0"/>
          </a:xfrm>
          <a:prstGeom prst="line">
            <a:avLst/>
          </a:prstGeom>
          <a:noFill/>
          <a:ln w="9525">
            <a:solidFill>
              <a:srgbClr val="800080"/>
            </a:solidFill>
            <a:round/>
            <a:headEnd/>
            <a:tailEnd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728075" name="Text Box 11"/>
          <p:cNvSpPr txBox="1">
            <a:spLocks noChangeArrowheads="1"/>
          </p:cNvSpPr>
          <p:nvPr/>
        </p:nvSpPr>
        <p:spPr bwMode="auto">
          <a:xfrm>
            <a:off x="1752600" y="4632325"/>
            <a:ext cx="228600" cy="549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buFont typeface="Wingdings" pitchFamily="2" charset="2"/>
              <a:buNone/>
            </a:pPr>
            <a:r>
              <a:rPr lang="en-US" altLang="zh-CN" sz="1000">
                <a:solidFill>
                  <a:srgbClr val="800080"/>
                </a:solidFill>
                <a:sym typeface="Symbol" pitchFamily="18" charset="2"/>
              </a:rPr>
              <a:t></a:t>
            </a:r>
          </a:p>
        </p:txBody>
      </p:sp>
      <p:sp>
        <p:nvSpPr>
          <p:cNvPr id="728076" name="Text Box 12"/>
          <p:cNvSpPr txBox="1">
            <a:spLocks noChangeArrowheads="1"/>
          </p:cNvSpPr>
          <p:nvPr/>
        </p:nvSpPr>
        <p:spPr bwMode="auto">
          <a:xfrm>
            <a:off x="2971800" y="3276600"/>
            <a:ext cx="762000" cy="466725"/>
          </a:xfrm>
          <a:prstGeom prst="rect">
            <a:avLst/>
          </a:prstGeom>
          <a:noFill/>
          <a:ln w="9525">
            <a:solidFill>
              <a:srgbClr val="800080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buFont typeface="Wingdings" pitchFamily="2" charset="2"/>
              <a:buNone/>
            </a:pPr>
            <a:r>
              <a:rPr lang="en-US" altLang="zh-CN">
                <a:solidFill>
                  <a:srgbClr val="800080"/>
                </a:solidFill>
              </a:rPr>
              <a:t>t(2)</a:t>
            </a:r>
          </a:p>
        </p:txBody>
      </p:sp>
      <p:sp>
        <p:nvSpPr>
          <p:cNvPr id="728077" name="Line 13"/>
          <p:cNvSpPr>
            <a:spLocks noChangeShapeType="1"/>
          </p:cNvSpPr>
          <p:nvPr/>
        </p:nvSpPr>
        <p:spPr bwMode="auto">
          <a:xfrm>
            <a:off x="2514600" y="3505200"/>
            <a:ext cx="457200" cy="0"/>
          </a:xfrm>
          <a:prstGeom prst="line">
            <a:avLst/>
          </a:prstGeom>
          <a:noFill/>
          <a:ln w="9525">
            <a:solidFill>
              <a:srgbClr val="800080"/>
            </a:solidFill>
            <a:round/>
            <a:headEnd/>
            <a:tailEnd type="triangle" w="med" len="med"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728078" name="Line 14"/>
          <p:cNvSpPr>
            <a:spLocks noChangeShapeType="1"/>
          </p:cNvSpPr>
          <p:nvPr/>
        </p:nvSpPr>
        <p:spPr bwMode="auto">
          <a:xfrm>
            <a:off x="1295400" y="5334000"/>
            <a:ext cx="1219200" cy="0"/>
          </a:xfrm>
          <a:prstGeom prst="line">
            <a:avLst/>
          </a:prstGeom>
          <a:noFill/>
          <a:ln w="9525">
            <a:solidFill>
              <a:srgbClr val="800080"/>
            </a:solidFill>
            <a:round/>
            <a:headEnd/>
            <a:tailEnd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728079" name="Line 15"/>
          <p:cNvSpPr>
            <a:spLocks noChangeShapeType="1"/>
          </p:cNvSpPr>
          <p:nvPr/>
        </p:nvSpPr>
        <p:spPr bwMode="auto">
          <a:xfrm>
            <a:off x="1295400" y="5943600"/>
            <a:ext cx="1219200" cy="0"/>
          </a:xfrm>
          <a:prstGeom prst="line">
            <a:avLst/>
          </a:prstGeom>
          <a:noFill/>
          <a:ln w="9525">
            <a:solidFill>
              <a:srgbClr val="800080"/>
            </a:solidFill>
            <a:round/>
            <a:headEnd/>
            <a:tailEnd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728080" name="Text Box 16"/>
          <p:cNvSpPr txBox="1">
            <a:spLocks noChangeArrowheads="1"/>
          </p:cNvSpPr>
          <p:nvPr/>
        </p:nvSpPr>
        <p:spPr bwMode="auto">
          <a:xfrm>
            <a:off x="4191000" y="3276600"/>
            <a:ext cx="838200" cy="466725"/>
          </a:xfrm>
          <a:prstGeom prst="rect">
            <a:avLst/>
          </a:prstGeom>
          <a:noFill/>
          <a:ln w="9525">
            <a:solidFill>
              <a:srgbClr val="800080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buFont typeface="Wingdings" pitchFamily="2" charset="2"/>
              <a:buNone/>
            </a:pPr>
            <a:r>
              <a:rPr lang="en-US" altLang="zh-CN">
                <a:solidFill>
                  <a:srgbClr val="800080"/>
                </a:solidFill>
              </a:rPr>
              <a:t>p(1)</a:t>
            </a:r>
          </a:p>
        </p:txBody>
      </p:sp>
      <p:sp>
        <p:nvSpPr>
          <p:cNvPr id="728081" name="Text Box 17"/>
          <p:cNvSpPr txBox="1">
            <a:spLocks noChangeArrowheads="1"/>
          </p:cNvSpPr>
          <p:nvPr/>
        </p:nvSpPr>
        <p:spPr bwMode="auto">
          <a:xfrm>
            <a:off x="5486400" y="3267075"/>
            <a:ext cx="762000" cy="466725"/>
          </a:xfrm>
          <a:prstGeom prst="rect">
            <a:avLst/>
          </a:prstGeom>
          <a:noFill/>
          <a:ln w="9525">
            <a:solidFill>
              <a:srgbClr val="800080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buFont typeface="Wingdings" pitchFamily="2" charset="2"/>
              <a:buNone/>
            </a:pPr>
            <a:r>
              <a:rPr lang="en-US" altLang="zh-CN">
                <a:solidFill>
                  <a:srgbClr val="800080"/>
                </a:solidFill>
              </a:rPr>
              <a:t>a(1)</a:t>
            </a:r>
          </a:p>
        </p:txBody>
      </p:sp>
      <p:sp>
        <p:nvSpPr>
          <p:cNvPr id="728082" name="Line 18"/>
          <p:cNvSpPr>
            <a:spLocks noChangeShapeType="1"/>
          </p:cNvSpPr>
          <p:nvPr/>
        </p:nvSpPr>
        <p:spPr bwMode="auto">
          <a:xfrm>
            <a:off x="3733800" y="3505200"/>
            <a:ext cx="457200" cy="0"/>
          </a:xfrm>
          <a:prstGeom prst="line">
            <a:avLst/>
          </a:prstGeom>
          <a:noFill/>
          <a:ln w="9525">
            <a:solidFill>
              <a:srgbClr val="800080"/>
            </a:solidFill>
            <a:round/>
            <a:headEnd/>
            <a:tailEnd type="triangle" w="med" len="med"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728083" name="Line 19"/>
          <p:cNvSpPr>
            <a:spLocks noChangeShapeType="1"/>
          </p:cNvSpPr>
          <p:nvPr/>
        </p:nvSpPr>
        <p:spPr bwMode="auto">
          <a:xfrm>
            <a:off x="5029200" y="3505200"/>
            <a:ext cx="457200" cy="0"/>
          </a:xfrm>
          <a:prstGeom prst="line">
            <a:avLst/>
          </a:prstGeom>
          <a:noFill/>
          <a:ln w="9525">
            <a:solidFill>
              <a:srgbClr val="800080"/>
            </a:solidFill>
            <a:round/>
            <a:headEnd/>
            <a:tailEnd type="triangle" w="med" len="med"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728084" name="Text Box 20"/>
          <p:cNvSpPr txBox="1">
            <a:spLocks noChangeArrowheads="1"/>
          </p:cNvSpPr>
          <p:nvPr/>
        </p:nvSpPr>
        <p:spPr bwMode="auto">
          <a:xfrm>
            <a:off x="2971800" y="5400675"/>
            <a:ext cx="762000" cy="466725"/>
          </a:xfrm>
          <a:prstGeom prst="rect">
            <a:avLst/>
          </a:prstGeom>
          <a:noFill/>
          <a:ln w="9525">
            <a:solidFill>
              <a:srgbClr val="800080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buFont typeface="Wingdings" pitchFamily="2" charset="2"/>
              <a:buNone/>
            </a:pPr>
            <a:r>
              <a:rPr lang="en-US" altLang="zh-CN">
                <a:solidFill>
                  <a:srgbClr val="800080"/>
                </a:solidFill>
              </a:rPr>
              <a:t>s(2)</a:t>
            </a:r>
          </a:p>
        </p:txBody>
      </p:sp>
      <p:sp>
        <p:nvSpPr>
          <p:cNvPr id="728085" name="Line 21"/>
          <p:cNvSpPr>
            <a:spLocks noChangeShapeType="1"/>
          </p:cNvSpPr>
          <p:nvPr/>
        </p:nvSpPr>
        <p:spPr bwMode="auto">
          <a:xfrm>
            <a:off x="2514600" y="5629275"/>
            <a:ext cx="457200" cy="0"/>
          </a:xfrm>
          <a:prstGeom prst="line">
            <a:avLst/>
          </a:prstGeom>
          <a:noFill/>
          <a:ln w="9525">
            <a:solidFill>
              <a:srgbClr val="800080"/>
            </a:solidFill>
            <a:round/>
            <a:headEnd/>
            <a:tailEnd type="triangle" w="med" len="med"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728086" name="Text Box 22"/>
          <p:cNvSpPr txBox="1">
            <a:spLocks noChangeArrowheads="1"/>
          </p:cNvSpPr>
          <p:nvPr/>
        </p:nvSpPr>
        <p:spPr bwMode="auto">
          <a:xfrm>
            <a:off x="4191000" y="5400675"/>
            <a:ext cx="838200" cy="466725"/>
          </a:xfrm>
          <a:prstGeom prst="rect">
            <a:avLst/>
          </a:prstGeom>
          <a:noFill/>
          <a:ln w="9525">
            <a:solidFill>
              <a:srgbClr val="800080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buFont typeface="Wingdings" pitchFamily="2" charset="2"/>
              <a:buNone/>
            </a:pPr>
            <a:r>
              <a:rPr lang="en-US" altLang="zh-CN">
                <a:solidFill>
                  <a:srgbClr val="800080"/>
                </a:solidFill>
              </a:rPr>
              <a:t>r(1)</a:t>
            </a:r>
          </a:p>
        </p:txBody>
      </p:sp>
      <p:sp>
        <p:nvSpPr>
          <p:cNvPr id="728087" name="Text Box 23"/>
          <p:cNvSpPr txBox="1">
            <a:spLocks noChangeArrowheads="1"/>
          </p:cNvSpPr>
          <p:nvPr/>
        </p:nvSpPr>
        <p:spPr bwMode="auto">
          <a:xfrm>
            <a:off x="5486400" y="5391150"/>
            <a:ext cx="762000" cy="466725"/>
          </a:xfrm>
          <a:prstGeom prst="rect">
            <a:avLst/>
          </a:prstGeom>
          <a:noFill/>
          <a:ln w="9525">
            <a:solidFill>
              <a:srgbClr val="800080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buFont typeface="Wingdings" pitchFamily="2" charset="2"/>
              <a:buNone/>
            </a:pPr>
            <a:r>
              <a:rPr lang="en-US" altLang="zh-CN">
                <a:solidFill>
                  <a:srgbClr val="800080"/>
                </a:solidFill>
              </a:rPr>
              <a:t>y(1)</a:t>
            </a:r>
          </a:p>
        </p:txBody>
      </p:sp>
      <p:sp>
        <p:nvSpPr>
          <p:cNvPr id="728088" name="Line 24"/>
          <p:cNvSpPr>
            <a:spLocks noChangeShapeType="1"/>
          </p:cNvSpPr>
          <p:nvPr/>
        </p:nvSpPr>
        <p:spPr bwMode="auto">
          <a:xfrm>
            <a:off x="3733800" y="5629275"/>
            <a:ext cx="457200" cy="0"/>
          </a:xfrm>
          <a:prstGeom prst="line">
            <a:avLst/>
          </a:prstGeom>
          <a:noFill/>
          <a:ln w="9525">
            <a:solidFill>
              <a:srgbClr val="800080"/>
            </a:solidFill>
            <a:round/>
            <a:headEnd/>
            <a:tailEnd type="triangle" w="med" len="med"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728089" name="Line 25"/>
          <p:cNvSpPr>
            <a:spLocks noChangeShapeType="1"/>
          </p:cNvSpPr>
          <p:nvPr/>
        </p:nvSpPr>
        <p:spPr bwMode="auto">
          <a:xfrm>
            <a:off x="5029200" y="5629275"/>
            <a:ext cx="457200" cy="0"/>
          </a:xfrm>
          <a:prstGeom prst="line">
            <a:avLst/>
          </a:prstGeom>
          <a:noFill/>
          <a:ln w="9525">
            <a:solidFill>
              <a:srgbClr val="800080"/>
            </a:solidFill>
            <a:round/>
            <a:headEnd/>
            <a:tailEnd type="triangle" w="med" len="med"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728090" name="Text Box 26"/>
          <p:cNvSpPr txBox="1">
            <a:spLocks noChangeArrowheads="1"/>
          </p:cNvSpPr>
          <p:nvPr/>
        </p:nvSpPr>
        <p:spPr bwMode="auto">
          <a:xfrm>
            <a:off x="2971800" y="3952875"/>
            <a:ext cx="762000" cy="466725"/>
          </a:xfrm>
          <a:prstGeom prst="rect">
            <a:avLst/>
          </a:prstGeom>
          <a:noFill/>
          <a:ln w="9525">
            <a:solidFill>
              <a:srgbClr val="800080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buFont typeface="Wingdings" pitchFamily="2" charset="2"/>
              <a:buNone/>
            </a:pPr>
            <a:r>
              <a:rPr lang="en-US" altLang="zh-CN">
                <a:solidFill>
                  <a:srgbClr val="800080"/>
                </a:solidFill>
              </a:rPr>
              <a:t>x(3)</a:t>
            </a:r>
          </a:p>
        </p:txBody>
      </p:sp>
      <p:sp>
        <p:nvSpPr>
          <p:cNvPr id="728091" name="Line 27"/>
          <p:cNvSpPr>
            <a:spLocks noChangeShapeType="1"/>
          </p:cNvSpPr>
          <p:nvPr/>
        </p:nvSpPr>
        <p:spPr bwMode="auto">
          <a:xfrm>
            <a:off x="2514600" y="4181475"/>
            <a:ext cx="457200" cy="0"/>
          </a:xfrm>
          <a:prstGeom prst="line">
            <a:avLst/>
          </a:prstGeom>
          <a:noFill/>
          <a:ln w="9525">
            <a:solidFill>
              <a:srgbClr val="800080"/>
            </a:solidFill>
            <a:round/>
            <a:headEnd/>
            <a:tailEnd type="triangle" w="med" len="med"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728092" name="Text Box 28"/>
          <p:cNvSpPr txBox="1">
            <a:spLocks noChangeArrowheads="1"/>
          </p:cNvSpPr>
          <p:nvPr/>
        </p:nvSpPr>
        <p:spPr bwMode="auto">
          <a:xfrm>
            <a:off x="4191000" y="3952875"/>
            <a:ext cx="838200" cy="466725"/>
          </a:xfrm>
          <a:prstGeom prst="rect">
            <a:avLst/>
          </a:prstGeom>
          <a:noFill/>
          <a:ln w="9525">
            <a:solidFill>
              <a:srgbClr val="800080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buFont typeface="Wingdings" pitchFamily="2" charset="2"/>
              <a:buNone/>
            </a:pPr>
            <a:r>
              <a:rPr lang="en-US" altLang="zh-CN">
                <a:solidFill>
                  <a:srgbClr val="800080"/>
                </a:solidFill>
              </a:rPr>
              <a:t>x(2)</a:t>
            </a:r>
          </a:p>
        </p:txBody>
      </p:sp>
      <p:sp>
        <p:nvSpPr>
          <p:cNvPr id="728093" name="Text Box 29"/>
          <p:cNvSpPr txBox="1">
            <a:spLocks noChangeArrowheads="1"/>
          </p:cNvSpPr>
          <p:nvPr/>
        </p:nvSpPr>
        <p:spPr bwMode="auto">
          <a:xfrm>
            <a:off x="5486400" y="3943350"/>
            <a:ext cx="762000" cy="466725"/>
          </a:xfrm>
          <a:prstGeom prst="rect">
            <a:avLst/>
          </a:prstGeom>
          <a:noFill/>
          <a:ln w="9525">
            <a:solidFill>
              <a:srgbClr val="800080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buFont typeface="Wingdings" pitchFamily="2" charset="2"/>
              <a:buNone/>
            </a:pPr>
            <a:r>
              <a:rPr lang="en-US" altLang="zh-CN">
                <a:solidFill>
                  <a:srgbClr val="800080"/>
                </a:solidFill>
              </a:rPr>
              <a:t>x(1)</a:t>
            </a:r>
          </a:p>
        </p:txBody>
      </p:sp>
      <p:sp>
        <p:nvSpPr>
          <p:cNvPr id="728094" name="Line 30"/>
          <p:cNvSpPr>
            <a:spLocks noChangeShapeType="1"/>
          </p:cNvSpPr>
          <p:nvPr/>
        </p:nvSpPr>
        <p:spPr bwMode="auto">
          <a:xfrm>
            <a:off x="3733800" y="4181475"/>
            <a:ext cx="457200" cy="0"/>
          </a:xfrm>
          <a:prstGeom prst="line">
            <a:avLst/>
          </a:prstGeom>
          <a:noFill/>
          <a:ln w="9525">
            <a:solidFill>
              <a:srgbClr val="800080"/>
            </a:solidFill>
            <a:round/>
            <a:headEnd/>
            <a:tailEnd type="triangle" w="med" len="med"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728095" name="Line 31"/>
          <p:cNvSpPr>
            <a:spLocks noChangeShapeType="1"/>
          </p:cNvSpPr>
          <p:nvPr/>
        </p:nvSpPr>
        <p:spPr bwMode="auto">
          <a:xfrm>
            <a:off x="5029200" y="4181475"/>
            <a:ext cx="457200" cy="0"/>
          </a:xfrm>
          <a:prstGeom prst="line">
            <a:avLst/>
          </a:prstGeom>
          <a:noFill/>
          <a:ln w="9525">
            <a:solidFill>
              <a:srgbClr val="800080"/>
            </a:solidFill>
            <a:round/>
            <a:headEnd/>
            <a:tailEnd type="triangle" w="med" len="med"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728096" name="Rectangle 32"/>
          <p:cNvSpPr>
            <a:spLocks noChangeArrowheads="1"/>
          </p:cNvSpPr>
          <p:nvPr/>
        </p:nvSpPr>
        <p:spPr bwMode="auto">
          <a:xfrm>
            <a:off x="990600" y="6096000"/>
            <a:ext cx="522922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buFont typeface="Wingdings" pitchFamily="2" charset="2"/>
              <a:buNone/>
            </a:pPr>
            <a:r>
              <a:rPr lang="en-US" altLang="zh-CN">
                <a:solidFill>
                  <a:srgbClr val="800080"/>
                </a:solidFill>
              </a:rPr>
              <a:t>Hash Table     </a:t>
            </a:r>
            <a:r>
              <a:rPr lang="zh-CN" altLang="en-US" b="1"/>
              <a:t>（表中数字代表层号）</a:t>
            </a:r>
          </a:p>
        </p:txBody>
      </p:sp>
      <p:sp>
        <p:nvSpPr>
          <p:cNvPr id="728097" name="AutoShape 33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382000" y="6553200"/>
            <a:ext cx="179388" cy="107950"/>
          </a:xfrm>
          <a:prstGeom prst="actionButtonForwardNex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28098" name="AutoShape 34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8077200" y="6553200"/>
            <a:ext cx="179388" cy="107950"/>
          </a:xfrm>
          <a:prstGeom prst="actionButtonBackPrevious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28099" name="AutoShape 35">
            <a:hlinkClick r:id="" action="ppaction://hlinkshowjump?jump=firstslide" highlightClick="1"/>
          </p:cNvPr>
          <p:cNvSpPr>
            <a:spLocks noChangeArrowheads="1"/>
          </p:cNvSpPr>
          <p:nvPr/>
        </p:nvSpPr>
        <p:spPr bwMode="auto">
          <a:xfrm>
            <a:off x="7772400" y="6553200"/>
            <a:ext cx="179388" cy="107950"/>
          </a:xfrm>
          <a:prstGeom prst="actionButtonBeginning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28100" name="AutoShape 36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686800" y="6553200"/>
            <a:ext cx="179388" cy="107950"/>
          </a:xfrm>
          <a:prstGeom prst="actionButtonEnd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28101" name="AutoShape 37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382000" y="6553200"/>
            <a:ext cx="179388" cy="107950"/>
          </a:xfrm>
          <a:prstGeom prst="actionButtonForwardNex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28102" name="AutoShape 38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8077200" y="6553200"/>
            <a:ext cx="179388" cy="107950"/>
          </a:xfrm>
          <a:prstGeom prst="actionButtonBackPrevious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28103" name="AutoShape 39">
            <a:hlinkClick r:id="" action="ppaction://hlinkshowjump?jump=firstslide" highlightClick="1"/>
          </p:cNvPr>
          <p:cNvSpPr>
            <a:spLocks noChangeArrowheads="1"/>
          </p:cNvSpPr>
          <p:nvPr/>
        </p:nvSpPr>
        <p:spPr bwMode="auto">
          <a:xfrm>
            <a:off x="7772400" y="6553200"/>
            <a:ext cx="179388" cy="107950"/>
          </a:xfrm>
          <a:prstGeom prst="actionButtonBeginning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28104" name="AutoShape 40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686800" y="6553200"/>
            <a:ext cx="179388" cy="107950"/>
          </a:xfrm>
          <a:prstGeom prst="actionButtonEnd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28105" name="AutoShape 41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382000" y="6553200"/>
            <a:ext cx="179388" cy="107950"/>
          </a:xfrm>
          <a:prstGeom prst="actionButtonForwardNex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28106" name="AutoShape 42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8077200" y="6553200"/>
            <a:ext cx="179388" cy="107950"/>
          </a:xfrm>
          <a:prstGeom prst="actionButtonBackPrevious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28107" name="AutoShape 43">
            <a:hlinkClick r:id="" action="ppaction://hlinkshowjump?jump=firstslide" highlightClick="1"/>
          </p:cNvPr>
          <p:cNvSpPr>
            <a:spLocks noChangeArrowheads="1"/>
          </p:cNvSpPr>
          <p:nvPr/>
        </p:nvSpPr>
        <p:spPr bwMode="auto">
          <a:xfrm>
            <a:off x="7772400" y="6553200"/>
            <a:ext cx="179388" cy="107950"/>
          </a:xfrm>
          <a:prstGeom prst="actionButtonBeginning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28108" name="AutoShape 44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686800" y="6553200"/>
            <a:ext cx="179388" cy="107950"/>
          </a:xfrm>
          <a:prstGeom prst="actionButtonEnd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p:transition spd="med" advClick="0">
    <p:wipe dir="r"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0116" name="Text Box 4"/>
          <p:cNvSpPr txBox="1">
            <a:spLocks noChangeArrowheads="1"/>
          </p:cNvSpPr>
          <p:nvPr/>
        </p:nvSpPr>
        <p:spPr bwMode="auto">
          <a:xfrm>
            <a:off x="828675" y="1066800"/>
            <a:ext cx="5343525" cy="946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altLang="zh-CN" sz="2800" b="1">
                <a:solidFill>
                  <a:srgbClr val="800080"/>
                </a:solidFill>
              </a:rPr>
              <a:t> </a:t>
            </a:r>
            <a:r>
              <a:rPr kumimoji="0" lang="zh-CN" altLang="en-US" sz="2800" b="1">
                <a:solidFill>
                  <a:srgbClr val="800080"/>
                </a:solidFill>
              </a:rPr>
              <a:t>所有嵌套的作用域共用一个</a:t>
            </a:r>
          </a:p>
          <a:p>
            <a:pPr>
              <a:buFont typeface="Wingdings" pitchFamily="2" charset="2"/>
              <a:buNone/>
            </a:pPr>
            <a:r>
              <a:rPr kumimoji="0" lang="zh-CN" altLang="en-US" sz="2800" b="1">
                <a:solidFill>
                  <a:srgbClr val="800080"/>
                </a:solidFill>
              </a:rPr>
              <a:t>    全局符号表</a:t>
            </a:r>
          </a:p>
        </p:txBody>
      </p:sp>
      <p:sp>
        <p:nvSpPr>
          <p:cNvPr id="730117" name="Rectangle 5"/>
          <p:cNvSpPr>
            <a:spLocks noChangeArrowheads="1"/>
          </p:cNvSpPr>
          <p:nvPr/>
        </p:nvSpPr>
        <p:spPr bwMode="auto">
          <a:xfrm>
            <a:off x="1524000" y="188913"/>
            <a:ext cx="1828800" cy="6413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90000"/>
              </a:lnSpc>
              <a:buClrTx/>
              <a:buFontTx/>
              <a:buNone/>
            </a:pPr>
            <a:r>
              <a:rPr lang="zh-CN" altLang="en-US" sz="4000" b="1">
                <a:solidFill>
                  <a:srgbClr val="800080"/>
                </a:solidFill>
                <a:latin typeface="华文行楷" pitchFamily="2" charset="-122"/>
                <a:ea typeface="华文行楷" pitchFamily="2" charset="-122"/>
              </a:rPr>
              <a:t>符号表</a:t>
            </a:r>
          </a:p>
        </p:txBody>
      </p:sp>
      <p:graphicFrame>
        <p:nvGraphicFramePr>
          <p:cNvPr id="730157" name="Object 45"/>
          <p:cNvGraphicFramePr>
            <a:graphicFrameLocks noChangeAspect="1"/>
          </p:cNvGraphicFramePr>
          <p:nvPr/>
        </p:nvGraphicFramePr>
        <p:xfrm>
          <a:off x="990600" y="3135313"/>
          <a:ext cx="5165725" cy="2957512"/>
        </p:xfrm>
        <a:graphic>
          <a:graphicData uri="http://schemas.openxmlformats.org/presentationml/2006/ole">
            <p:oleObj spid="_x0000_s730157" name="Visio" r:id="rId3" imgW="4366870" imgH="2506370" progId="">
              <p:embed/>
            </p:oleObj>
          </a:graphicData>
        </a:graphic>
      </p:graphicFrame>
      <p:sp>
        <p:nvSpPr>
          <p:cNvPr id="730158" name="Text Box 46"/>
          <p:cNvSpPr txBox="1">
            <a:spLocks noChangeArrowheads="1"/>
          </p:cNvSpPr>
          <p:nvPr/>
        </p:nvSpPr>
        <p:spPr bwMode="auto">
          <a:xfrm>
            <a:off x="6443663" y="1176338"/>
            <a:ext cx="2592387" cy="5529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80000"/>
              </a:lnSpc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None/>
            </a:pPr>
            <a:r>
              <a:rPr lang="en-US" altLang="zh-CN" sz="1800" b="1">
                <a:ea typeface="宋体" pitchFamily="2" charset="-122"/>
              </a:rPr>
              <a:t>const a=25;</a:t>
            </a: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None/>
            </a:pPr>
            <a:r>
              <a:rPr lang="en-US" altLang="zh-CN" sz="1800" b="1">
                <a:ea typeface="宋体" pitchFamily="2" charset="-122"/>
              </a:rPr>
              <a:t>var x,y;</a:t>
            </a: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None/>
            </a:pPr>
            <a:r>
              <a:rPr lang="en-US" altLang="zh-CN" sz="1800" b="1">
                <a:ea typeface="宋体" pitchFamily="2" charset="-122"/>
              </a:rPr>
              <a:t>procedure  p;</a:t>
            </a: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None/>
            </a:pPr>
            <a:r>
              <a:rPr lang="en-US" altLang="zh-CN" sz="1800" b="1">
                <a:ea typeface="宋体" pitchFamily="2" charset="-122"/>
              </a:rPr>
              <a:t>    var  z;</a:t>
            </a: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None/>
            </a:pPr>
            <a:r>
              <a:rPr lang="en-US" altLang="zh-CN" sz="1800" b="1">
                <a:ea typeface="宋体" pitchFamily="2" charset="-122"/>
              </a:rPr>
              <a:t>    begin</a:t>
            </a: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None/>
            </a:pPr>
            <a:r>
              <a:rPr lang="en-US" altLang="zh-CN" sz="1800" b="1">
                <a:ea typeface="宋体" pitchFamily="2" charset="-122"/>
              </a:rPr>
              <a:t>         ……</a:t>
            </a: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None/>
            </a:pPr>
            <a:r>
              <a:rPr lang="en-US" altLang="zh-CN" sz="1800" b="1">
                <a:ea typeface="宋体" pitchFamily="2" charset="-122"/>
              </a:rPr>
              <a:t>    end; </a:t>
            </a: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None/>
            </a:pPr>
            <a:r>
              <a:rPr lang="en-US" altLang="zh-CN" sz="1800" b="1">
                <a:ea typeface="宋体" pitchFamily="2" charset="-122"/>
              </a:rPr>
              <a:t>procedure  r;</a:t>
            </a: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None/>
            </a:pPr>
            <a:r>
              <a:rPr lang="en-US" altLang="zh-CN" sz="1800" b="1">
                <a:ea typeface="宋体" pitchFamily="2" charset="-122"/>
              </a:rPr>
              <a:t>    var x, s;</a:t>
            </a: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None/>
            </a:pPr>
            <a:r>
              <a:rPr lang="en-US" altLang="zh-CN" sz="1800" b="1">
                <a:ea typeface="宋体" pitchFamily="2" charset="-122"/>
              </a:rPr>
              <a:t>    procedure t;</a:t>
            </a: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None/>
            </a:pPr>
            <a:r>
              <a:rPr lang="en-US" altLang="zh-CN" sz="1800" b="1">
                <a:ea typeface="宋体" pitchFamily="2" charset="-122"/>
              </a:rPr>
              <a:t>         var  v, x, y;</a:t>
            </a: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None/>
            </a:pPr>
            <a:r>
              <a:rPr lang="en-US" altLang="zh-CN" sz="1800" b="1">
                <a:ea typeface="宋体" pitchFamily="2" charset="-122"/>
              </a:rPr>
              <a:t>         begin</a:t>
            </a: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None/>
            </a:pPr>
            <a:r>
              <a:rPr lang="en-US" altLang="zh-CN" sz="1800" b="1">
                <a:ea typeface="宋体" pitchFamily="2" charset="-122"/>
              </a:rPr>
              <a:t>            ……</a:t>
            </a: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None/>
            </a:pPr>
            <a:r>
              <a:rPr lang="en-US" altLang="zh-CN" sz="1800" b="1">
                <a:ea typeface="宋体" pitchFamily="2" charset="-122"/>
              </a:rPr>
              <a:t>         end;</a:t>
            </a: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None/>
            </a:pPr>
            <a:r>
              <a:rPr lang="en-US" altLang="zh-CN" sz="1800" b="1">
                <a:ea typeface="宋体" pitchFamily="2" charset="-122"/>
              </a:rPr>
              <a:t>    begin         </a:t>
            </a:r>
            <a:r>
              <a:rPr lang="en-US" altLang="zh-CN" sz="1800" b="1">
                <a:solidFill>
                  <a:srgbClr val="800080"/>
                </a:solidFill>
                <a:ea typeface="宋体" pitchFamily="2" charset="-122"/>
              </a:rPr>
              <a:t>/*here*/</a:t>
            </a: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None/>
            </a:pPr>
            <a:r>
              <a:rPr lang="en-US" altLang="zh-CN" sz="1800" b="1">
                <a:ea typeface="宋体" pitchFamily="2" charset="-122"/>
              </a:rPr>
              <a:t>         ……</a:t>
            </a: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None/>
            </a:pPr>
            <a:r>
              <a:rPr lang="en-US" altLang="zh-CN" sz="1800" b="1">
                <a:ea typeface="宋体" pitchFamily="2" charset="-122"/>
              </a:rPr>
              <a:t>    end; </a:t>
            </a: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None/>
            </a:pPr>
            <a:r>
              <a:rPr lang="en-US" altLang="zh-CN" sz="1800" b="1">
                <a:ea typeface="宋体" pitchFamily="2" charset="-122"/>
              </a:rPr>
              <a:t>begin</a:t>
            </a: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None/>
            </a:pPr>
            <a:r>
              <a:rPr lang="en-US" altLang="zh-CN" sz="1800" b="1">
                <a:ea typeface="宋体" pitchFamily="2" charset="-122"/>
              </a:rPr>
              <a:t>    ……</a:t>
            </a: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None/>
            </a:pPr>
            <a:r>
              <a:rPr lang="en-US" altLang="zh-CN" sz="1800" b="1">
                <a:ea typeface="宋体" pitchFamily="2" charset="-122"/>
              </a:rPr>
              <a:t>end. </a:t>
            </a:r>
          </a:p>
        </p:txBody>
      </p:sp>
      <p:sp>
        <p:nvSpPr>
          <p:cNvPr id="730145" name="AutoShape 33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382000" y="6553200"/>
            <a:ext cx="179388" cy="107950"/>
          </a:xfrm>
          <a:prstGeom prst="actionButtonForwardNex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30146" name="AutoShape 34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8077200" y="6553200"/>
            <a:ext cx="179388" cy="107950"/>
          </a:xfrm>
          <a:prstGeom prst="actionButtonBackPrevious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30147" name="AutoShape 35">
            <a:hlinkClick r:id="" action="ppaction://hlinkshowjump?jump=firstslide" highlightClick="1"/>
          </p:cNvPr>
          <p:cNvSpPr>
            <a:spLocks noChangeArrowheads="1"/>
          </p:cNvSpPr>
          <p:nvPr/>
        </p:nvSpPr>
        <p:spPr bwMode="auto">
          <a:xfrm>
            <a:off x="7772400" y="6553200"/>
            <a:ext cx="179388" cy="107950"/>
          </a:xfrm>
          <a:prstGeom prst="actionButtonBeginning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30148" name="AutoShape 36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686800" y="6553200"/>
            <a:ext cx="179388" cy="107950"/>
          </a:xfrm>
          <a:prstGeom prst="actionButtonEnd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30149" name="AutoShape 37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382000" y="6553200"/>
            <a:ext cx="179388" cy="107950"/>
          </a:xfrm>
          <a:prstGeom prst="actionButtonForwardNex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30150" name="AutoShape 38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8077200" y="6553200"/>
            <a:ext cx="179388" cy="107950"/>
          </a:xfrm>
          <a:prstGeom prst="actionButtonBackPrevious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30151" name="AutoShape 39">
            <a:hlinkClick r:id="" action="ppaction://hlinkshowjump?jump=firstslide" highlightClick="1"/>
          </p:cNvPr>
          <p:cNvSpPr>
            <a:spLocks noChangeArrowheads="1"/>
          </p:cNvSpPr>
          <p:nvPr/>
        </p:nvSpPr>
        <p:spPr bwMode="auto">
          <a:xfrm>
            <a:off x="7772400" y="6553200"/>
            <a:ext cx="179388" cy="107950"/>
          </a:xfrm>
          <a:prstGeom prst="actionButtonBeginning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30152" name="AutoShape 40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686800" y="6553200"/>
            <a:ext cx="179388" cy="107950"/>
          </a:xfrm>
          <a:prstGeom prst="actionButtonEnd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30153" name="AutoShape 41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382000" y="6553200"/>
            <a:ext cx="179388" cy="107950"/>
          </a:xfrm>
          <a:prstGeom prst="actionButtonForwardNex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30154" name="AutoShape 42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8077200" y="6553200"/>
            <a:ext cx="179388" cy="107950"/>
          </a:xfrm>
          <a:prstGeom prst="actionButtonBackPrevious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30155" name="AutoShape 43">
            <a:hlinkClick r:id="" action="ppaction://hlinkshowjump?jump=firstslide" highlightClick="1"/>
          </p:cNvPr>
          <p:cNvSpPr>
            <a:spLocks noChangeArrowheads="1"/>
          </p:cNvSpPr>
          <p:nvPr/>
        </p:nvSpPr>
        <p:spPr bwMode="auto">
          <a:xfrm>
            <a:off x="7772400" y="6553200"/>
            <a:ext cx="179388" cy="107950"/>
          </a:xfrm>
          <a:prstGeom prst="actionButtonBeginning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30156" name="AutoShape 44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686800" y="6553200"/>
            <a:ext cx="179388" cy="107950"/>
          </a:xfrm>
          <a:prstGeom prst="actionButtonEnd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30159" name="Rectangle 47"/>
          <p:cNvSpPr>
            <a:spLocks noChangeArrowheads="1"/>
          </p:cNvSpPr>
          <p:nvPr/>
        </p:nvSpPr>
        <p:spPr bwMode="auto">
          <a:xfrm>
            <a:off x="1042988" y="6156325"/>
            <a:ext cx="5041900" cy="701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buFont typeface="Wingdings" pitchFamily="2" charset="2"/>
              <a:buNone/>
            </a:pPr>
            <a:r>
              <a:rPr lang="en-US" altLang="zh-CN" sz="2000">
                <a:solidFill>
                  <a:srgbClr val="800080"/>
                </a:solidFill>
              </a:rPr>
              <a:t>Dx:</a:t>
            </a:r>
            <a:r>
              <a:rPr lang="en-US" altLang="zh-CN" sz="2000" b="1">
                <a:solidFill>
                  <a:srgbClr val="800080"/>
                </a:solidFill>
              </a:rPr>
              <a:t> </a:t>
            </a:r>
            <a:r>
              <a:rPr lang="zh-CN" altLang="en-US" sz="2000" b="1"/>
              <a:t>基地址  </a:t>
            </a:r>
            <a:r>
              <a:rPr lang="zh-CN" altLang="en-US" sz="2000" b="1">
                <a:solidFill>
                  <a:srgbClr val="800080"/>
                </a:solidFill>
              </a:rPr>
              <a:t>    </a:t>
            </a:r>
            <a:r>
              <a:rPr lang="en-US" altLang="zh-CN" sz="2000">
                <a:solidFill>
                  <a:srgbClr val="800080"/>
                </a:solidFill>
              </a:rPr>
              <a:t>Cx:</a:t>
            </a:r>
            <a:r>
              <a:rPr lang="en-US" altLang="zh-CN" sz="2000" b="1">
                <a:solidFill>
                  <a:srgbClr val="800080"/>
                </a:solidFill>
              </a:rPr>
              <a:t> </a:t>
            </a:r>
            <a:r>
              <a:rPr lang="zh-CN" altLang="en-US" sz="2000" b="1"/>
              <a:t>栈帧中控制单元数目</a:t>
            </a:r>
          </a:p>
          <a:p>
            <a:pPr>
              <a:buFont typeface="Wingdings" pitchFamily="2" charset="2"/>
              <a:buNone/>
            </a:pPr>
            <a:r>
              <a:rPr lang="en-US" altLang="zh-CN" sz="2000">
                <a:solidFill>
                  <a:srgbClr val="800080"/>
                </a:solidFill>
              </a:rPr>
              <a:t>LEV:</a:t>
            </a:r>
            <a:r>
              <a:rPr lang="en-US" altLang="zh-CN" sz="2000" b="1">
                <a:solidFill>
                  <a:srgbClr val="800080"/>
                </a:solidFill>
              </a:rPr>
              <a:t> </a:t>
            </a:r>
            <a:r>
              <a:rPr lang="zh-CN" altLang="en-US" sz="2000" b="1"/>
              <a:t>层号</a:t>
            </a:r>
            <a:r>
              <a:rPr lang="zh-CN" altLang="en-US" sz="2000"/>
              <a:t>      </a:t>
            </a:r>
          </a:p>
        </p:txBody>
      </p:sp>
      <p:sp>
        <p:nvSpPr>
          <p:cNvPr id="730160" name="Text Box 48"/>
          <p:cNvSpPr txBox="1">
            <a:spLocks noChangeArrowheads="1"/>
          </p:cNvSpPr>
          <p:nvPr/>
        </p:nvSpPr>
        <p:spPr bwMode="auto">
          <a:xfrm>
            <a:off x="684213" y="2081213"/>
            <a:ext cx="5832475" cy="8842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buFont typeface="Wingdings" pitchFamily="2" charset="2"/>
              <a:buNone/>
            </a:pPr>
            <a:r>
              <a:rPr lang="en-US" altLang="zh-CN" sz="2800" b="1" dirty="0">
                <a:solidFill>
                  <a:srgbClr val="800080"/>
                </a:solidFill>
              </a:rPr>
              <a:t>    </a:t>
            </a:r>
            <a:r>
              <a:rPr lang="zh-CN" altLang="en-US" sz="2800" b="1" dirty="0">
                <a:solidFill>
                  <a:srgbClr val="800080"/>
                </a:solidFill>
              </a:rPr>
              <a:t>例：</a:t>
            </a:r>
            <a:r>
              <a:rPr lang="zh-CN" altLang="en-US" b="1" dirty="0"/>
              <a:t>右边某语言程序在处理到</a:t>
            </a:r>
            <a:r>
              <a:rPr lang="en-US" altLang="zh-CN" dirty="0"/>
              <a:t>/*here*/</a:t>
            </a:r>
          </a:p>
          <a:p>
            <a:pPr>
              <a:buFont typeface="Wingdings" pitchFamily="2" charset="2"/>
              <a:buNone/>
            </a:pPr>
            <a:r>
              <a:rPr lang="en-US" altLang="zh-CN" dirty="0"/>
              <a:t>             </a:t>
            </a:r>
            <a:r>
              <a:rPr lang="zh-CN" altLang="en-US" b="1" dirty="0"/>
              <a:t>时的符号表（以</a:t>
            </a:r>
            <a:r>
              <a:rPr lang="zh-CN" altLang="en-US" b="1" dirty="0" smtClean="0"/>
              <a:t>线性表</a:t>
            </a:r>
            <a:r>
              <a:rPr lang="zh-CN" altLang="en-US" b="1" dirty="0"/>
              <a:t>为例）</a:t>
            </a:r>
            <a:endParaRPr lang="zh-CN" altLang="en-US" b="1" dirty="0">
              <a:latin typeface="楷体_GB2312" pitchFamily="49" charset="-122"/>
            </a:endParaRPr>
          </a:p>
        </p:txBody>
      </p:sp>
    </p:spTree>
  </p:cSld>
  <p:clrMapOvr>
    <a:masterClrMapping/>
  </p:clrMapOvr>
  <p:transition spd="med" advClick="0">
    <p:wipe dir="r"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114" name="AutoShape 2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382000" y="6553200"/>
            <a:ext cx="179388" cy="107950"/>
          </a:xfrm>
          <a:prstGeom prst="actionButtonForwardNex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02115" name="AutoShape 3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8077200" y="6553200"/>
            <a:ext cx="179388" cy="107950"/>
          </a:xfrm>
          <a:prstGeom prst="actionButtonBackPrevious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02116" name="AutoShape 4">
            <a:hlinkClick r:id="" action="ppaction://hlinkshowjump?jump=firstslide" highlightClick="1"/>
          </p:cNvPr>
          <p:cNvSpPr>
            <a:spLocks noChangeArrowheads="1"/>
          </p:cNvSpPr>
          <p:nvPr/>
        </p:nvSpPr>
        <p:spPr bwMode="auto">
          <a:xfrm>
            <a:off x="7772400" y="6553200"/>
            <a:ext cx="179388" cy="107950"/>
          </a:xfrm>
          <a:prstGeom prst="actionButtonBeginning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02117" name="AutoShape 5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686800" y="6553200"/>
            <a:ext cx="179388" cy="107950"/>
          </a:xfrm>
          <a:prstGeom prst="actionButtonEnd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02118" name="Rectangle 6"/>
          <p:cNvSpPr>
            <a:spLocks noChangeArrowheads="1"/>
          </p:cNvSpPr>
          <p:nvPr/>
        </p:nvSpPr>
        <p:spPr bwMode="auto">
          <a:xfrm>
            <a:off x="1524000" y="188913"/>
            <a:ext cx="1828800" cy="6413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90000"/>
              </a:lnSpc>
              <a:buClrTx/>
              <a:buFontTx/>
              <a:buNone/>
            </a:pPr>
            <a:r>
              <a:rPr lang="zh-CN" altLang="en-US" sz="4000" b="1">
                <a:solidFill>
                  <a:srgbClr val="800080"/>
                </a:solidFill>
                <a:latin typeface="华文行楷" pitchFamily="2" charset="-122"/>
                <a:ea typeface="华文行楷" pitchFamily="2" charset="-122"/>
              </a:rPr>
              <a:t>符号表</a:t>
            </a:r>
          </a:p>
        </p:txBody>
      </p:sp>
      <p:sp>
        <p:nvSpPr>
          <p:cNvPr id="602119" name="Text Box 7">
            <a:hlinkClick r:id="" action="ppaction://noaction"/>
          </p:cNvPr>
          <p:cNvSpPr txBox="1">
            <a:spLocks noChangeArrowheads="1"/>
          </p:cNvSpPr>
          <p:nvPr/>
        </p:nvSpPr>
        <p:spPr bwMode="auto">
          <a:xfrm>
            <a:off x="762000" y="1325563"/>
            <a:ext cx="5033963" cy="579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altLang="zh-CN" sz="3200" b="1">
                <a:solidFill>
                  <a:srgbClr val="800080"/>
                </a:solidFill>
              </a:rPr>
              <a:t> </a:t>
            </a:r>
            <a:r>
              <a:rPr kumimoji="0" lang="zh-CN" altLang="en-US" sz="3200" b="1">
                <a:solidFill>
                  <a:srgbClr val="800080"/>
                </a:solidFill>
              </a:rPr>
              <a:t>作用域与符号表组织</a:t>
            </a:r>
          </a:p>
        </p:txBody>
      </p:sp>
      <p:sp>
        <p:nvSpPr>
          <p:cNvPr id="602120" name="AutoShape 8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382000" y="6553200"/>
            <a:ext cx="179388" cy="107950"/>
          </a:xfrm>
          <a:prstGeom prst="actionButtonForwardNex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02121" name="AutoShape 9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8077200" y="6553200"/>
            <a:ext cx="179388" cy="107950"/>
          </a:xfrm>
          <a:prstGeom prst="actionButtonBackPrevious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02122" name="AutoShape 10">
            <a:hlinkClick r:id="" action="ppaction://hlinkshowjump?jump=firstslide" highlightClick="1"/>
          </p:cNvPr>
          <p:cNvSpPr>
            <a:spLocks noChangeArrowheads="1"/>
          </p:cNvSpPr>
          <p:nvPr/>
        </p:nvSpPr>
        <p:spPr bwMode="auto">
          <a:xfrm>
            <a:off x="7772400" y="6553200"/>
            <a:ext cx="179388" cy="107950"/>
          </a:xfrm>
          <a:prstGeom prst="actionButtonBeginning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02123" name="AutoShape 11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686800" y="6553200"/>
            <a:ext cx="179388" cy="107950"/>
          </a:xfrm>
          <a:prstGeom prst="actionButtonEnd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02124" name="AutoShape 12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382000" y="6553200"/>
            <a:ext cx="179388" cy="107950"/>
          </a:xfrm>
          <a:prstGeom prst="actionButtonForwardNex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02125" name="AutoShape 13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8077200" y="6553200"/>
            <a:ext cx="179388" cy="107950"/>
          </a:xfrm>
          <a:prstGeom prst="actionButtonBackPrevious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02126" name="AutoShape 14">
            <a:hlinkClick r:id="" action="ppaction://hlinkshowjump?jump=firstslide" highlightClick="1"/>
          </p:cNvPr>
          <p:cNvSpPr>
            <a:spLocks noChangeArrowheads="1"/>
          </p:cNvSpPr>
          <p:nvPr/>
        </p:nvSpPr>
        <p:spPr bwMode="auto">
          <a:xfrm>
            <a:off x="7772400" y="6553200"/>
            <a:ext cx="179388" cy="107950"/>
          </a:xfrm>
          <a:prstGeom prst="actionButtonBeginning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02127" name="AutoShape 15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686800" y="6553200"/>
            <a:ext cx="179388" cy="107950"/>
          </a:xfrm>
          <a:prstGeom prst="actionButtonEnd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02128" name="Rectangle 16"/>
          <p:cNvSpPr>
            <a:spLocks noChangeArrowheads="1"/>
          </p:cNvSpPr>
          <p:nvPr/>
        </p:nvSpPr>
        <p:spPr bwMode="auto">
          <a:xfrm>
            <a:off x="1104900" y="2057400"/>
            <a:ext cx="7859713" cy="3684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buClrTx/>
              <a:buFont typeface="Symbol" pitchFamily="18" charset="2"/>
              <a:buChar char="-"/>
            </a:pPr>
            <a:r>
              <a:rPr kumimoji="0" lang="en-US" altLang="zh-CN" sz="2800" b="1">
                <a:solidFill>
                  <a:srgbClr val="800080"/>
                </a:solidFill>
              </a:rPr>
              <a:t>  </a:t>
            </a:r>
            <a:r>
              <a:rPr kumimoji="0" lang="zh-CN" altLang="en-US" sz="2800" b="1">
                <a:solidFill>
                  <a:srgbClr val="800080"/>
                </a:solidFill>
              </a:rPr>
              <a:t>作用域与多符号表组织</a:t>
            </a:r>
          </a:p>
          <a:p>
            <a:pPr>
              <a:buClrTx/>
              <a:buFont typeface="Symbol" pitchFamily="18" charset="2"/>
              <a:buNone/>
            </a:pPr>
            <a:endParaRPr kumimoji="0" lang="zh-CN" altLang="en-US" sz="1000" b="1">
              <a:solidFill>
                <a:srgbClr val="800080"/>
              </a:solidFill>
            </a:endParaRPr>
          </a:p>
          <a:p>
            <a:pPr lvl="1">
              <a:buFontTx/>
              <a:buChar char="•"/>
            </a:pPr>
            <a:r>
              <a:rPr lang="zh-CN" altLang="en-US" b="1"/>
              <a:t>  </a:t>
            </a:r>
            <a:r>
              <a:rPr kumimoji="0" lang="zh-CN" altLang="en-US" b="1"/>
              <a:t>每个作用域都有各自的符号表</a:t>
            </a:r>
          </a:p>
          <a:p>
            <a:pPr lvl="1">
              <a:buFontTx/>
              <a:buNone/>
            </a:pPr>
            <a:endParaRPr kumimoji="0" lang="zh-CN" altLang="en-US" sz="1000" b="1">
              <a:latin typeface="楷体_GB2312" pitchFamily="49" charset="-122"/>
            </a:endParaRPr>
          </a:p>
          <a:p>
            <a:pPr lvl="1">
              <a:buFontTx/>
              <a:buChar char="•"/>
            </a:pPr>
            <a:r>
              <a:rPr lang="zh-CN" altLang="en-US" b="1">
                <a:latin typeface="楷体_GB2312" pitchFamily="49" charset="-122"/>
              </a:rPr>
              <a:t> 维护一个符号表的</a:t>
            </a:r>
            <a:r>
              <a:rPr lang="zh-CN" altLang="en-US" b="1">
                <a:solidFill>
                  <a:srgbClr val="800080"/>
                </a:solidFill>
                <a:latin typeface="楷体_GB2312" pitchFamily="49" charset="-122"/>
              </a:rPr>
              <a:t>作用域栈</a:t>
            </a:r>
            <a:r>
              <a:rPr lang="zh-CN" altLang="en-US" b="1">
                <a:latin typeface="楷体_GB2312" pitchFamily="49" charset="-122"/>
              </a:rPr>
              <a:t>，</a:t>
            </a:r>
            <a:r>
              <a:rPr kumimoji="0" lang="zh-CN" altLang="en-US" b="1"/>
              <a:t>每个开作用域对应栈</a:t>
            </a:r>
          </a:p>
          <a:p>
            <a:pPr lvl="1">
              <a:buFontTx/>
              <a:buNone/>
            </a:pPr>
            <a:r>
              <a:rPr kumimoji="0" lang="zh-CN" altLang="en-US" b="1"/>
              <a:t>   中的一个入口，当前的开作用域出现在该栈的栈顶</a:t>
            </a:r>
          </a:p>
          <a:p>
            <a:pPr lvl="1">
              <a:buFontTx/>
              <a:buNone/>
            </a:pPr>
            <a:endParaRPr kumimoji="0" lang="zh-CN" altLang="en-US" sz="1000" b="1"/>
          </a:p>
          <a:p>
            <a:pPr lvl="1">
              <a:buFontTx/>
              <a:buChar char="•"/>
            </a:pPr>
            <a:r>
              <a:rPr kumimoji="0" lang="zh-CN" altLang="en-US" b="1"/>
              <a:t>  当一个新的作用域开放时，新符号表将被创建，并</a:t>
            </a:r>
          </a:p>
          <a:p>
            <a:pPr lvl="1">
              <a:buFontTx/>
              <a:buNone/>
            </a:pPr>
            <a:r>
              <a:rPr kumimoji="0" lang="zh-CN" altLang="en-US" b="1"/>
              <a:t>    将其入栈</a:t>
            </a:r>
          </a:p>
          <a:p>
            <a:pPr lvl="1">
              <a:buFontTx/>
              <a:buNone/>
            </a:pPr>
            <a:endParaRPr kumimoji="0" lang="zh-CN" altLang="en-US" sz="1000" b="1"/>
          </a:p>
          <a:p>
            <a:pPr lvl="1">
              <a:buFontTx/>
              <a:buChar char="•"/>
            </a:pPr>
            <a:r>
              <a:rPr kumimoji="0" lang="zh-CN" altLang="en-US" b="1"/>
              <a:t>  在当前作用域成为闭作用域时，从栈顶弹出相应的</a:t>
            </a:r>
          </a:p>
          <a:p>
            <a:pPr lvl="1">
              <a:buFontTx/>
              <a:buNone/>
            </a:pPr>
            <a:r>
              <a:rPr kumimoji="0" lang="zh-CN" altLang="en-US" b="1"/>
              <a:t>   符号表</a:t>
            </a:r>
            <a:endParaRPr kumimoji="0" lang="zh-CN" altLang="en-US" sz="1000" b="1">
              <a:solidFill>
                <a:srgbClr val="800080"/>
              </a:solidFill>
            </a:endParaRPr>
          </a:p>
        </p:txBody>
      </p:sp>
    </p:spTree>
  </p:cSld>
  <p:clrMapOvr>
    <a:masterClrMapping/>
  </p:clrMapOvr>
  <p:transition spd="med" advClick="0">
    <p:wipe dir="r"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471" name="Text Box 103"/>
          <p:cNvSpPr txBox="1">
            <a:spLocks noChangeArrowheads="1"/>
          </p:cNvSpPr>
          <p:nvPr/>
        </p:nvSpPr>
        <p:spPr bwMode="auto">
          <a:xfrm>
            <a:off x="6443663" y="1176338"/>
            <a:ext cx="2592387" cy="5529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80000"/>
              </a:lnSpc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None/>
            </a:pPr>
            <a:r>
              <a:rPr lang="en-US" altLang="zh-CN" sz="1800" b="1">
                <a:ea typeface="宋体" pitchFamily="2" charset="-122"/>
              </a:rPr>
              <a:t>const a=25;</a:t>
            </a: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None/>
            </a:pPr>
            <a:r>
              <a:rPr lang="en-US" altLang="zh-CN" sz="1800" b="1">
                <a:ea typeface="宋体" pitchFamily="2" charset="-122"/>
              </a:rPr>
              <a:t>var x,y;</a:t>
            </a: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None/>
            </a:pPr>
            <a:r>
              <a:rPr lang="en-US" altLang="zh-CN" sz="1800" b="1">
                <a:ea typeface="宋体" pitchFamily="2" charset="-122"/>
              </a:rPr>
              <a:t>procedure  p;</a:t>
            </a: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None/>
            </a:pPr>
            <a:r>
              <a:rPr lang="en-US" altLang="zh-CN" sz="1800" b="1">
                <a:ea typeface="宋体" pitchFamily="2" charset="-122"/>
              </a:rPr>
              <a:t>    var  z;</a:t>
            </a: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None/>
            </a:pPr>
            <a:r>
              <a:rPr lang="en-US" altLang="zh-CN" sz="1800" b="1">
                <a:ea typeface="宋体" pitchFamily="2" charset="-122"/>
              </a:rPr>
              <a:t>    begin</a:t>
            </a: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None/>
            </a:pPr>
            <a:r>
              <a:rPr lang="en-US" altLang="zh-CN" sz="1800" b="1">
                <a:ea typeface="宋体" pitchFamily="2" charset="-122"/>
              </a:rPr>
              <a:t>         ……</a:t>
            </a: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None/>
            </a:pPr>
            <a:r>
              <a:rPr lang="en-US" altLang="zh-CN" sz="1800" b="1">
                <a:ea typeface="宋体" pitchFamily="2" charset="-122"/>
              </a:rPr>
              <a:t>    end; </a:t>
            </a: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None/>
            </a:pPr>
            <a:r>
              <a:rPr lang="en-US" altLang="zh-CN" sz="1800" b="1">
                <a:ea typeface="宋体" pitchFamily="2" charset="-122"/>
              </a:rPr>
              <a:t>procedure  r;</a:t>
            </a: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None/>
            </a:pPr>
            <a:r>
              <a:rPr lang="en-US" altLang="zh-CN" sz="1800" b="1">
                <a:ea typeface="宋体" pitchFamily="2" charset="-122"/>
              </a:rPr>
              <a:t>    var x, s;</a:t>
            </a: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None/>
            </a:pPr>
            <a:r>
              <a:rPr lang="en-US" altLang="zh-CN" sz="1800" b="1">
                <a:ea typeface="宋体" pitchFamily="2" charset="-122"/>
              </a:rPr>
              <a:t>    procedure t;</a:t>
            </a: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None/>
            </a:pPr>
            <a:r>
              <a:rPr lang="en-US" altLang="zh-CN" sz="1800" b="1">
                <a:ea typeface="宋体" pitchFamily="2" charset="-122"/>
              </a:rPr>
              <a:t>         var  x;</a:t>
            </a: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None/>
            </a:pPr>
            <a:r>
              <a:rPr lang="en-US" altLang="zh-CN" sz="1800" b="1">
                <a:ea typeface="宋体" pitchFamily="2" charset="-122"/>
              </a:rPr>
              <a:t>         begin</a:t>
            </a: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None/>
            </a:pPr>
            <a:r>
              <a:rPr lang="en-US" altLang="zh-CN" sz="1800" b="1">
                <a:ea typeface="宋体" pitchFamily="2" charset="-122"/>
              </a:rPr>
              <a:t>            ……</a:t>
            </a: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None/>
            </a:pPr>
            <a:r>
              <a:rPr lang="en-US" altLang="zh-CN" sz="1800" b="1">
                <a:ea typeface="宋体" pitchFamily="2" charset="-122"/>
              </a:rPr>
              <a:t>         end;</a:t>
            </a: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None/>
            </a:pPr>
            <a:r>
              <a:rPr lang="en-US" altLang="zh-CN" sz="1800" b="1">
                <a:ea typeface="宋体" pitchFamily="2" charset="-122"/>
              </a:rPr>
              <a:t>    begin         </a:t>
            </a:r>
            <a:r>
              <a:rPr lang="en-US" altLang="zh-CN" sz="1800" b="1">
                <a:solidFill>
                  <a:srgbClr val="800080"/>
                </a:solidFill>
                <a:ea typeface="宋体" pitchFamily="2" charset="-122"/>
              </a:rPr>
              <a:t>/*here*/</a:t>
            </a: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None/>
            </a:pPr>
            <a:r>
              <a:rPr lang="en-US" altLang="zh-CN" sz="1800" b="1">
                <a:ea typeface="宋体" pitchFamily="2" charset="-122"/>
              </a:rPr>
              <a:t>         ……</a:t>
            </a: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None/>
            </a:pPr>
            <a:r>
              <a:rPr lang="en-US" altLang="zh-CN" sz="1800" b="1">
                <a:ea typeface="宋体" pitchFamily="2" charset="-122"/>
              </a:rPr>
              <a:t>    end; </a:t>
            </a: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None/>
            </a:pPr>
            <a:r>
              <a:rPr lang="en-US" altLang="zh-CN" sz="1800" b="1">
                <a:ea typeface="宋体" pitchFamily="2" charset="-122"/>
              </a:rPr>
              <a:t>begin</a:t>
            </a: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None/>
            </a:pPr>
            <a:r>
              <a:rPr lang="en-US" altLang="zh-CN" sz="1800" b="1">
                <a:ea typeface="宋体" pitchFamily="2" charset="-122"/>
              </a:rPr>
              <a:t>    ……</a:t>
            </a: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None/>
            </a:pPr>
            <a:r>
              <a:rPr lang="en-US" altLang="zh-CN" sz="1800" b="1">
                <a:ea typeface="宋体" pitchFamily="2" charset="-122"/>
              </a:rPr>
              <a:t>end. </a:t>
            </a:r>
          </a:p>
        </p:txBody>
      </p:sp>
      <p:sp>
        <p:nvSpPr>
          <p:cNvPr id="570472" name="Text Box 104"/>
          <p:cNvSpPr txBox="1">
            <a:spLocks noChangeArrowheads="1"/>
          </p:cNvSpPr>
          <p:nvPr/>
        </p:nvSpPr>
        <p:spPr bwMode="auto">
          <a:xfrm>
            <a:off x="827088" y="2081213"/>
            <a:ext cx="5268912" cy="8842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buFont typeface="Wingdings" pitchFamily="2" charset="2"/>
              <a:buNone/>
            </a:pPr>
            <a:r>
              <a:rPr lang="en-US" altLang="zh-CN" sz="2800" b="1">
                <a:solidFill>
                  <a:srgbClr val="800080"/>
                </a:solidFill>
              </a:rPr>
              <a:t>    </a:t>
            </a:r>
            <a:r>
              <a:rPr lang="zh-CN" altLang="en-US" sz="2800" b="1">
                <a:solidFill>
                  <a:srgbClr val="800080"/>
                </a:solidFill>
              </a:rPr>
              <a:t>例：</a:t>
            </a:r>
            <a:r>
              <a:rPr lang="zh-CN" altLang="en-US" b="1"/>
              <a:t>右边程序在处理到</a:t>
            </a:r>
            <a:r>
              <a:rPr lang="en-US" altLang="zh-CN"/>
              <a:t>/*here*/</a:t>
            </a:r>
            <a:r>
              <a:rPr lang="zh-CN" altLang="en-US" b="1"/>
              <a:t>时</a:t>
            </a:r>
          </a:p>
          <a:p>
            <a:pPr>
              <a:buFont typeface="Wingdings" pitchFamily="2" charset="2"/>
              <a:buNone/>
            </a:pPr>
            <a:r>
              <a:rPr lang="zh-CN" altLang="en-US" b="1"/>
              <a:t>              的作用域栈如下所示</a:t>
            </a:r>
            <a:endParaRPr lang="zh-CN" altLang="en-US" b="1">
              <a:latin typeface="楷体_GB2312" pitchFamily="49" charset="-122"/>
            </a:endParaRPr>
          </a:p>
        </p:txBody>
      </p:sp>
      <p:sp>
        <p:nvSpPr>
          <p:cNvPr id="570473" name="Text Box 105"/>
          <p:cNvSpPr txBox="1">
            <a:spLocks noChangeArrowheads="1"/>
          </p:cNvSpPr>
          <p:nvPr/>
        </p:nvSpPr>
        <p:spPr bwMode="auto">
          <a:xfrm>
            <a:off x="828675" y="1366838"/>
            <a:ext cx="5343525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altLang="zh-CN" sz="2800" b="1">
                <a:solidFill>
                  <a:srgbClr val="800080"/>
                </a:solidFill>
              </a:rPr>
              <a:t> </a:t>
            </a:r>
            <a:r>
              <a:rPr lang="zh-CN" altLang="en-US" sz="2800" b="1">
                <a:solidFill>
                  <a:srgbClr val="800080"/>
                </a:solidFill>
              </a:rPr>
              <a:t>每个作用域都有各自的符号表</a:t>
            </a:r>
            <a:r>
              <a:rPr lang="zh-CN" altLang="en-US" sz="2800" b="1">
                <a:latin typeface="楷体_GB2312" pitchFamily="49" charset="-122"/>
              </a:rPr>
              <a:t> </a:t>
            </a:r>
          </a:p>
        </p:txBody>
      </p:sp>
      <p:sp>
        <p:nvSpPr>
          <p:cNvPr id="570487" name="Rectangle 119"/>
          <p:cNvSpPr>
            <a:spLocks noChangeArrowheads="1"/>
          </p:cNvSpPr>
          <p:nvPr/>
        </p:nvSpPr>
        <p:spPr bwMode="auto">
          <a:xfrm>
            <a:off x="1524000" y="188913"/>
            <a:ext cx="1828800" cy="6413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90000"/>
              </a:lnSpc>
              <a:buClrTx/>
              <a:buFontTx/>
              <a:buNone/>
            </a:pPr>
            <a:r>
              <a:rPr lang="zh-CN" altLang="en-US" sz="4000" b="1">
                <a:solidFill>
                  <a:srgbClr val="800080"/>
                </a:solidFill>
                <a:latin typeface="华文行楷" pitchFamily="2" charset="-122"/>
                <a:ea typeface="华文行楷" pitchFamily="2" charset="-122"/>
              </a:rPr>
              <a:t>符号表</a:t>
            </a:r>
          </a:p>
        </p:txBody>
      </p:sp>
      <p:sp>
        <p:nvSpPr>
          <p:cNvPr id="570488" name="Line 120"/>
          <p:cNvSpPr>
            <a:spLocks noChangeShapeType="1"/>
          </p:cNvSpPr>
          <p:nvPr/>
        </p:nvSpPr>
        <p:spPr bwMode="auto">
          <a:xfrm>
            <a:off x="1295400" y="3200400"/>
            <a:ext cx="0" cy="2514600"/>
          </a:xfrm>
          <a:prstGeom prst="line">
            <a:avLst/>
          </a:prstGeom>
          <a:noFill/>
          <a:ln w="9525">
            <a:solidFill>
              <a:srgbClr val="800080"/>
            </a:solidFill>
            <a:round/>
            <a:headEnd/>
            <a:tailEnd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570489" name="Line 121"/>
          <p:cNvSpPr>
            <a:spLocks noChangeShapeType="1"/>
          </p:cNvSpPr>
          <p:nvPr/>
        </p:nvSpPr>
        <p:spPr bwMode="auto">
          <a:xfrm>
            <a:off x="2514600" y="3200400"/>
            <a:ext cx="0" cy="2514600"/>
          </a:xfrm>
          <a:prstGeom prst="line">
            <a:avLst/>
          </a:prstGeom>
          <a:noFill/>
          <a:ln w="9525">
            <a:solidFill>
              <a:srgbClr val="800080"/>
            </a:solidFill>
            <a:round/>
            <a:headEnd/>
            <a:tailEnd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570490" name="Line 122"/>
          <p:cNvSpPr>
            <a:spLocks noChangeShapeType="1"/>
          </p:cNvSpPr>
          <p:nvPr/>
        </p:nvSpPr>
        <p:spPr bwMode="auto">
          <a:xfrm>
            <a:off x="1295400" y="3200400"/>
            <a:ext cx="1219200" cy="0"/>
          </a:xfrm>
          <a:prstGeom prst="line">
            <a:avLst/>
          </a:prstGeom>
          <a:noFill/>
          <a:ln w="9525">
            <a:solidFill>
              <a:srgbClr val="800080"/>
            </a:solidFill>
            <a:round/>
            <a:headEnd/>
            <a:tailEnd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570491" name="Line 123"/>
          <p:cNvSpPr>
            <a:spLocks noChangeShapeType="1"/>
          </p:cNvSpPr>
          <p:nvPr/>
        </p:nvSpPr>
        <p:spPr bwMode="auto">
          <a:xfrm>
            <a:off x="1295400" y="3810000"/>
            <a:ext cx="1219200" cy="0"/>
          </a:xfrm>
          <a:prstGeom prst="line">
            <a:avLst/>
          </a:prstGeom>
          <a:noFill/>
          <a:ln w="9525">
            <a:solidFill>
              <a:srgbClr val="800080"/>
            </a:solidFill>
            <a:round/>
            <a:headEnd/>
            <a:tailEnd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570492" name="Line 124"/>
          <p:cNvSpPr>
            <a:spLocks noChangeShapeType="1"/>
          </p:cNvSpPr>
          <p:nvPr/>
        </p:nvSpPr>
        <p:spPr bwMode="auto">
          <a:xfrm>
            <a:off x="1295400" y="4419600"/>
            <a:ext cx="1219200" cy="0"/>
          </a:xfrm>
          <a:prstGeom prst="line">
            <a:avLst/>
          </a:prstGeom>
          <a:noFill/>
          <a:ln w="9525">
            <a:solidFill>
              <a:srgbClr val="800080"/>
            </a:solidFill>
            <a:round/>
            <a:headEnd/>
            <a:tailEnd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570493" name="Text Box 125"/>
          <p:cNvSpPr txBox="1">
            <a:spLocks noChangeArrowheads="1"/>
          </p:cNvSpPr>
          <p:nvPr/>
        </p:nvSpPr>
        <p:spPr bwMode="auto">
          <a:xfrm>
            <a:off x="1752600" y="4724400"/>
            <a:ext cx="228600" cy="549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buFont typeface="Wingdings" pitchFamily="2" charset="2"/>
              <a:buNone/>
            </a:pPr>
            <a:r>
              <a:rPr lang="en-US" altLang="zh-CN" sz="1000">
                <a:solidFill>
                  <a:srgbClr val="800080"/>
                </a:solidFill>
                <a:sym typeface="Symbol" pitchFamily="18" charset="2"/>
              </a:rPr>
              <a:t></a:t>
            </a:r>
          </a:p>
        </p:txBody>
      </p:sp>
      <p:sp>
        <p:nvSpPr>
          <p:cNvPr id="570495" name="Text Box 127"/>
          <p:cNvSpPr txBox="1">
            <a:spLocks noChangeArrowheads="1"/>
          </p:cNvSpPr>
          <p:nvPr/>
        </p:nvSpPr>
        <p:spPr bwMode="auto">
          <a:xfrm>
            <a:off x="3276600" y="3276600"/>
            <a:ext cx="1676400" cy="466725"/>
          </a:xfrm>
          <a:prstGeom prst="rect">
            <a:avLst/>
          </a:prstGeom>
          <a:noFill/>
          <a:ln w="9525">
            <a:solidFill>
              <a:srgbClr val="800080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buFont typeface="Wingdings" pitchFamily="2" charset="2"/>
              <a:buNone/>
            </a:pPr>
            <a:r>
              <a:rPr lang="en-US" altLang="zh-CN">
                <a:solidFill>
                  <a:srgbClr val="800080"/>
                </a:solidFill>
              </a:rPr>
              <a:t>a, x, y, p, r</a:t>
            </a:r>
          </a:p>
        </p:txBody>
      </p:sp>
      <p:sp>
        <p:nvSpPr>
          <p:cNvPr id="570496" name="Text Box 128"/>
          <p:cNvSpPr txBox="1">
            <a:spLocks noChangeArrowheads="1"/>
          </p:cNvSpPr>
          <p:nvPr/>
        </p:nvSpPr>
        <p:spPr bwMode="auto">
          <a:xfrm>
            <a:off x="3581400" y="3952875"/>
            <a:ext cx="990600" cy="466725"/>
          </a:xfrm>
          <a:prstGeom prst="rect">
            <a:avLst/>
          </a:prstGeom>
          <a:noFill/>
          <a:ln w="9525">
            <a:solidFill>
              <a:srgbClr val="800080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buFont typeface="Wingdings" pitchFamily="2" charset="2"/>
              <a:buNone/>
            </a:pPr>
            <a:r>
              <a:rPr lang="en-US" altLang="zh-CN">
                <a:solidFill>
                  <a:srgbClr val="800080"/>
                </a:solidFill>
              </a:rPr>
              <a:t>x, s, t</a:t>
            </a:r>
          </a:p>
        </p:txBody>
      </p:sp>
      <p:sp>
        <p:nvSpPr>
          <p:cNvPr id="570497" name="Text Box 129"/>
          <p:cNvSpPr txBox="1">
            <a:spLocks noChangeArrowheads="1"/>
          </p:cNvSpPr>
          <p:nvPr/>
        </p:nvSpPr>
        <p:spPr bwMode="auto">
          <a:xfrm>
            <a:off x="3581400" y="4724400"/>
            <a:ext cx="533400" cy="466725"/>
          </a:xfrm>
          <a:prstGeom prst="rect">
            <a:avLst/>
          </a:prstGeom>
          <a:noFill/>
          <a:ln w="9525">
            <a:solidFill>
              <a:srgbClr val="333399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buFont typeface="Wingdings" pitchFamily="2" charset="2"/>
              <a:buNone/>
            </a:pPr>
            <a:r>
              <a:rPr lang="en-US" altLang="zh-CN"/>
              <a:t>z</a:t>
            </a:r>
          </a:p>
        </p:txBody>
      </p:sp>
      <p:sp>
        <p:nvSpPr>
          <p:cNvPr id="570498" name="Text Box 130"/>
          <p:cNvSpPr txBox="1">
            <a:spLocks noChangeArrowheads="1"/>
          </p:cNvSpPr>
          <p:nvPr/>
        </p:nvSpPr>
        <p:spPr bwMode="auto">
          <a:xfrm>
            <a:off x="3581400" y="5410200"/>
            <a:ext cx="533400" cy="466725"/>
          </a:xfrm>
          <a:prstGeom prst="rect">
            <a:avLst/>
          </a:prstGeom>
          <a:noFill/>
          <a:ln w="9525">
            <a:solidFill>
              <a:srgbClr val="333399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buFont typeface="Wingdings" pitchFamily="2" charset="2"/>
              <a:buNone/>
            </a:pPr>
            <a:r>
              <a:rPr lang="en-US" altLang="zh-CN"/>
              <a:t>x</a:t>
            </a:r>
          </a:p>
        </p:txBody>
      </p:sp>
      <p:sp>
        <p:nvSpPr>
          <p:cNvPr id="570499" name="Text Box 131"/>
          <p:cNvSpPr txBox="1">
            <a:spLocks noChangeArrowheads="1"/>
          </p:cNvSpPr>
          <p:nvPr/>
        </p:nvSpPr>
        <p:spPr bwMode="auto">
          <a:xfrm>
            <a:off x="4038600" y="6019800"/>
            <a:ext cx="228600" cy="549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buFont typeface="Wingdings" pitchFamily="2" charset="2"/>
              <a:buNone/>
            </a:pPr>
            <a:r>
              <a:rPr lang="en-US" altLang="zh-CN" sz="1000">
                <a:sym typeface="Symbol" pitchFamily="18" charset="2"/>
              </a:rPr>
              <a:t></a:t>
            </a:r>
          </a:p>
        </p:txBody>
      </p:sp>
      <p:sp>
        <p:nvSpPr>
          <p:cNvPr id="570500" name="Rectangle 132"/>
          <p:cNvSpPr>
            <a:spLocks noChangeArrowheads="1"/>
          </p:cNvSpPr>
          <p:nvPr/>
        </p:nvSpPr>
        <p:spPr bwMode="auto">
          <a:xfrm>
            <a:off x="4686300" y="4648200"/>
            <a:ext cx="14097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buFont typeface="Wingdings" pitchFamily="2" charset="2"/>
              <a:buNone/>
            </a:pPr>
            <a:r>
              <a:rPr kumimoji="0" lang="zh-CN" altLang="en-US" b="1">
                <a:solidFill>
                  <a:srgbClr val="800080"/>
                </a:solidFill>
              </a:rPr>
              <a:t>开作用域</a:t>
            </a:r>
          </a:p>
        </p:txBody>
      </p:sp>
      <p:sp>
        <p:nvSpPr>
          <p:cNvPr id="570501" name="Rectangle 133"/>
          <p:cNvSpPr>
            <a:spLocks noChangeArrowheads="1"/>
          </p:cNvSpPr>
          <p:nvPr/>
        </p:nvSpPr>
        <p:spPr bwMode="auto">
          <a:xfrm>
            <a:off x="4686300" y="5410200"/>
            <a:ext cx="14097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buFont typeface="Wingdings" pitchFamily="2" charset="2"/>
              <a:buNone/>
            </a:pPr>
            <a:r>
              <a:rPr kumimoji="0" lang="zh-CN" altLang="en-US" b="1"/>
              <a:t>闭作用域</a:t>
            </a:r>
          </a:p>
        </p:txBody>
      </p:sp>
      <p:sp>
        <p:nvSpPr>
          <p:cNvPr id="570503" name="Line 135"/>
          <p:cNvSpPr>
            <a:spLocks noChangeShapeType="1"/>
          </p:cNvSpPr>
          <p:nvPr/>
        </p:nvSpPr>
        <p:spPr bwMode="auto">
          <a:xfrm>
            <a:off x="1981200" y="3505200"/>
            <a:ext cx="1295400" cy="0"/>
          </a:xfrm>
          <a:prstGeom prst="line">
            <a:avLst/>
          </a:prstGeom>
          <a:noFill/>
          <a:ln w="9525">
            <a:solidFill>
              <a:srgbClr val="800080"/>
            </a:solidFill>
            <a:round/>
            <a:headEnd/>
            <a:tailEnd type="triangle" w="med" len="med"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570504" name="Line 136"/>
          <p:cNvSpPr>
            <a:spLocks noChangeShapeType="1"/>
          </p:cNvSpPr>
          <p:nvPr/>
        </p:nvSpPr>
        <p:spPr bwMode="auto">
          <a:xfrm>
            <a:off x="1981200" y="4191000"/>
            <a:ext cx="1600200" cy="0"/>
          </a:xfrm>
          <a:prstGeom prst="line">
            <a:avLst/>
          </a:prstGeom>
          <a:noFill/>
          <a:ln w="9525">
            <a:solidFill>
              <a:srgbClr val="800080"/>
            </a:solidFill>
            <a:round/>
            <a:headEnd/>
            <a:tailEnd type="triangle" w="med" len="med"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570505" name="Line 137"/>
          <p:cNvSpPr>
            <a:spLocks noChangeShapeType="1"/>
          </p:cNvSpPr>
          <p:nvPr/>
        </p:nvSpPr>
        <p:spPr bwMode="auto">
          <a:xfrm>
            <a:off x="4953000" y="3505200"/>
            <a:ext cx="685800" cy="1219200"/>
          </a:xfrm>
          <a:prstGeom prst="line">
            <a:avLst/>
          </a:prstGeom>
          <a:noFill/>
          <a:ln w="12700" cap="rnd">
            <a:solidFill>
              <a:srgbClr val="800080"/>
            </a:solidFill>
            <a:prstDash val="sysDot"/>
            <a:round/>
            <a:headEnd/>
            <a:tailEnd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570506" name="Line 138"/>
          <p:cNvSpPr>
            <a:spLocks noChangeShapeType="1"/>
          </p:cNvSpPr>
          <p:nvPr/>
        </p:nvSpPr>
        <p:spPr bwMode="auto">
          <a:xfrm>
            <a:off x="4572000" y="4191000"/>
            <a:ext cx="533400" cy="533400"/>
          </a:xfrm>
          <a:prstGeom prst="line">
            <a:avLst/>
          </a:prstGeom>
          <a:noFill/>
          <a:ln w="12700" cap="rnd">
            <a:solidFill>
              <a:srgbClr val="800080"/>
            </a:solidFill>
            <a:prstDash val="sysDot"/>
            <a:round/>
            <a:headEnd/>
            <a:tailEnd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570507" name="Line 139"/>
          <p:cNvSpPr>
            <a:spLocks noChangeShapeType="1"/>
          </p:cNvSpPr>
          <p:nvPr/>
        </p:nvSpPr>
        <p:spPr bwMode="auto">
          <a:xfrm>
            <a:off x="4114800" y="4953000"/>
            <a:ext cx="1066800" cy="533400"/>
          </a:xfrm>
          <a:prstGeom prst="line">
            <a:avLst/>
          </a:prstGeom>
          <a:noFill/>
          <a:ln w="12700" cap="rnd">
            <a:solidFill>
              <a:srgbClr val="333399"/>
            </a:solidFill>
            <a:prstDash val="sysDot"/>
            <a:round/>
            <a:headEnd/>
            <a:tailEnd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570508" name="Line 140"/>
          <p:cNvSpPr>
            <a:spLocks noChangeShapeType="1"/>
          </p:cNvSpPr>
          <p:nvPr/>
        </p:nvSpPr>
        <p:spPr bwMode="auto">
          <a:xfrm flipV="1">
            <a:off x="4114800" y="5638800"/>
            <a:ext cx="685800" cy="76200"/>
          </a:xfrm>
          <a:prstGeom prst="line">
            <a:avLst/>
          </a:prstGeom>
          <a:noFill/>
          <a:ln w="12700" cap="rnd">
            <a:solidFill>
              <a:srgbClr val="333399"/>
            </a:solidFill>
            <a:prstDash val="sysDot"/>
            <a:round/>
            <a:headEnd/>
            <a:tailEnd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570509" name="Rectangle 141"/>
          <p:cNvSpPr>
            <a:spLocks noChangeArrowheads="1"/>
          </p:cNvSpPr>
          <p:nvPr/>
        </p:nvSpPr>
        <p:spPr bwMode="auto">
          <a:xfrm>
            <a:off x="990600" y="5943600"/>
            <a:ext cx="189547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buFont typeface="Wingdings" pitchFamily="2" charset="2"/>
              <a:buNone/>
            </a:pPr>
            <a:r>
              <a:rPr lang="en-US" altLang="zh-CN">
                <a:solidFill>
                  <a:srgbClr val="800080"/>
                </a:solidFill>
              </a:rPr>
              <a:t>Scope Stack</a:t>
            </a:r>
          </a:p>
        </p:txBody>
      </p:sp>
      <p:sp>
        <p:nvSpPr>
          <p:cNvPr id="570475" name="AutoShape 107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382000" y="6553200"/>
            <a:ext cx="179388" cy="107950"/>
          </a:xfrm>
          <a:prstGeom prst="actionButtonForwardNex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70476" name="AutoShape 108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8077200" y="6553200"/>
            <a:ext cx="179388" cy="107950"/>
          </a:xfrm>
          <a:prstGeom prst="actionButtonBackPrevious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70477" name="AutoShape 109">
            <a:hlinkClick r:id="" action="ppaction://hlinkshowjump?jump=firstslide" highlightClick="1"/>
          </p:cNvPr>
          <p:cNvSpPr>
            <a:spLocks noChangeArrowheads="1"/>
          </p:cNvSpPr>
          <p:nvPr/>
        </p:nvSpPr>
        <p:spPr bwMode="auto">
          <a:xfrm>
            <a:off x="7772400" y="6553200"/>
            <a:ext cx="179388" cy="107950"/>
          </a:xfrm>
          <a:prstGeom prst="actionButtonBeginning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70478" name="AutoShape 110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686800" y="6553200"/>
            <a:ext cx="179388" cy="107950"/>
          </a:xfrm>
          <a:prstGeom prst="actionButtonEnd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70479" name="AutoShape 111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382000" y="6553200"/>
            <a:ext cx="179388" cy="107950"/>
          </a:xfrm>
          <a:prstGeom prst="actionButtonForwardNex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70480" name="AutoShape 112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8077200" y="6553200"/>
            <a:ext cx="179388" cy="107950"/>
          </a:xfrm>
          <a:prstGeom prst="actionButtonBackPrevious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70481" name="AutoShape 113">
            <a:hlinkClick r:id="" action="ppaction://hlinkshowjump?jump=firstslide" highlightClick="1"/>
          </p:cNvPr>
          <p:cNvSpPr>
            <a:spLocks noChangeArrowheads="1"/>
          </p:cNvSpPr>
          <p:nvPr/>
        </p:nvSpPr>
        <p:spPr bwMode="auto">
          <a:xfrm>
            <a:off x="7772400" y="6553200"/>
            <a:ext cx="179388" cy="107950"/>
          </a:xfrm>
          <a:prstGeom prst="actionButtonBeginning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70482" name="AutoShape 114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686800" y="6553200"/>
            <a:ext cx="179388" cy="107950"/>
          </a:xfrm>
          <a:prstGeom prst="actionButtonEnd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70483" name="AutoShape 115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382000" y="6553200"/>
            <a:ext cx="179388" cy="107950"/>
          </a:xfrm>
          <a:prstGeom prst="actionButtonForwardNex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70484" name="AutoShape 116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8077200" y="6553200"/>
            <a:ext cx="179388" cy="107950"/>
          </a:xfrm>
          <a:prstGeom prst="actionButtonBackPrevious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70485" name="AutoShape 117">
            <a:hlinkClick r:id="" action="ppaction://hlinkshowjump?jump=firstslide" highlightClick="1"/>
          </p:cNvPr>
          <p:cNvSpPr>
            <a:spLocks noChangeArrowheads="1"/>
          </p:cNvSpPr>
          <p:nvPr/>
        </p:nvSpPr>
        <p:spPr bwMode="auto">
          <a:xfrm>
            <a:off x="7772400" y="6553200"/>
            <a:ext cx="179388" cy="107950"/>
          </a:xfrm>
          <a:prstGeom prst="actionButtonBeginning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70486" name="AutoShape 118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686800" y="6553200"/>
            <a:ext cx="179388" cy="107950"/>
          </a:xfrm>
          <a:prstGeom prst="actionButtonEnd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p:transition spd="med" advClick="0">
    <p:wipe dir="r"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33" name="Rectangle 9"/>
          <p:cNvSpPr>
            <a:spLocks noChangeArrowheads="1"/>
          </p:cNvSpPr>
          <p:nvPr/>
        </p:nvSpPr>
        <p:spPr bwMode="auto">
          <a:xfrm>
            <a:off x="3352800" y="4479925"/>
            <a:ext cx="2819400" cy="701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buClrTx/>
              <a:buFontTx/>
              <a:buNone/>
            </a:pPr>
            <a:r>
              <a:rPr lang="en-US" altLang="zh-CN" sz="4000" b="1" i="1">
                <a:solidFill>
                  <a:schemeClr val="hlink"/>
                </a:solidFill>
                <a:ea typeface="宋体" pitchFamily="2" charset="-122"/>
              </a:rPr>
              <a:t>Thank You</a:t>
            </a:r>
            <a:endParaRPr lang="en-US" altLang="zh-CN" sz="3200" b="1" i="1">
              <a:solidFill>
                <a:schemeClr val="hlink"/>
              </a:solidFill>
              <a:latin typeface="CMR10" charset="0"/>
              <a:ea typeface="宋体" pitchFamily="2" charset="-122"/>
            </a:endParaRPr>
          </a:p>
        </p:txBody>
      </p:sp>
      <p:sp>
        <p:nvSpPr>
          <p:cNvPr id="26634" name="Rectangle 10"/>
          <p:cNvSpPr>
            <a:spLocks noChangeArrowheads="1"/>
          </p:cNvSpPr>
          <p:nvPr/>
        </p:nvSpPr>
        <p:spPr bwMode="auto">
          <a:xfrm>
            <a:off x="1981200" y="2209800"/>
            <a:ext cx="38862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b"/>
          <a:lstStyle/>
          <a:p>
            <a:pPr>
              <a:lnSpc>
                <a:spcPct val="90000"/>
              </a:lnSpc>
              <a:buClrTx/>
              <a:buFontTx/>
              <a:buNone/>
            </a:pPr>
            <a:r>
              <a:rPr lang="en-US" altLang="zh-CN" sz="3200" b="1" i="1">
                <a:solidFill>
                  <a:schemeClr val="hlink"/>
                </a:solidFill>
                <a:ea typeface="宋体" pitchFamily="2" charset="-122"/>
              </a:rPr>
              <a:t>That’s all for today.</a:t>
            </a:r>
            <a:r>
              <a:rPr lang="en-US" altLang="zh-CN" sz="3200" b="1" i="1">
                <a:solidFill>
                  <a:schemeClr val="hlink"/>
                </a:solidFill>
                <a:latin typeface="CMR10" charset="0"/>
                <a:ea typeface="宋体" pitchFamily="2" charset="-122"/>
              </a:rPr>
              <a:t> </a:t>
            </a:r>
          </a:p>
        </p:txBody>
      </p:sp>
      <p:sp>
        <p:nvSpPr>
          <p:cNvPr id="26635" name="AutoShape 11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382000" y="6553200"/>
            <a:ext cx="179388" cy="107950"/>
          </a:xfrm>
          <a:prstGeom prst="actionButtonForwardNex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6636" name="AutoShape 12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8077200" y="6553200"/>
            <a:ext cx="179388" cy="107950"/>
          </a:xfrm>
          <a:prstGeom prst="actionButtonBackPrevious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6637" name="AutoShape 13">
            <a:hlinkClick r:id="" action="ppaction://hlinkshowjump?jump=firstslide" highlightClick="1"/>
          </p:cNvPr>
          <p:cNvSpPr>
            <a:spLocks noChangeArrowheads="1"/>
          </p:cNvSpPr>
          <p:nvPr/>
        </p:nvSpPr>
        <p:spPr bwMode="auto">
          <a:xfrm>
            <a:off x="7772400" y="6553200"/>
            <a:ext cx="179388" cy="107950"/>
          </a:xfrm>
          <a:prstGeom prst="actionButtonBeginning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6638" name="AutoShape 14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686800" y="6553200"/>
            <a:ext cx="179388" cy="107950"/>
          </a:xfrm>
          <a:prstGeom prst="actionButtonEnd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p:transition spd="med" advClick="0">
    <p:wipe dir="r"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Capsules">
  <a:themeElements>
    <a:clrScheme name="Capsules 2">
      <a:dk1>
        <a:srgbClr val="003366"/>
      </a:dk1>
      <a:lt1>
        <a:srgbClr val="FFFFFF"/>
      </a:lt1>
      <a:dk2>
        <a:srgbClr val="006666"/>
      </a:dk2>
      <a:lt2>
        <a:srgbClr val="003366"/>
      </a:lt2>
      <a:accent1>
        <a:srgbClr val="99CC99"/>
      </a:accent1>
      <a:accent2>
        <a:srgbClr val="33CCCC"/>
      </a:accent2>
      <a:accent3>
        <a:srgbClr val="FFFFFF"/>
      </a:accent3>
      <a:accent4>
        <a:srgbClr val="002A56"/>
      </a:accent4>
      <a:accent5>
        <a:srgbClr val="CAE2CA"/>
      </a:accent5>
      <a:accent6>
        <a:srgbClr val="2DB9B9"/>
      </a:accent6>
      <a:hlink>
        <a:srgbClr val="666699"/>
      </a:hlink>
      <a:folHlink>
        <a:srgbClr val="CC99FF"/>
      </a:folHlink>
    </a:clrScheme>
    <a:fontScheme name="Capsules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>
            <a:srgbClr val="800080"/>
          </a:buClr>
          <a:buSzTx/>
          <a:buFont typeface="Wingdings" pitchFamily="2" charset="2"/>
          <a:buChar char="²"/>
          <a:tabLst/>
          <a:defRPr kumimoji="1" lang="zh-CN" altLang="en-US" sz="2400" b="0" i="0" u="none" strike="noStrike" cap="none" normalizeH="0" baseline="0" smtClean="0">
            <a:ln>
              <a:noFill/>
            </a:ln>
            <a:solidFill>
              <a:srgbClr val="333399"/>
            </a:solidFill>
            <a:effectLst/>
            <a:latin typeface="Arial" pitchFamily="34" charset="0"/>
            <a:ea typeface="楷体_GB2312" pitchFamily="49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>
            <a:srgbClr val="800080"/>
          </a:buClr>
          <a:buSzTx/>
          <a:buFont typeface="Wingdings" pitchFamily="2" charset="2"/>
          <a:buChar char="²"/>
          <a:tabLst/>
          <a:defRPr kumimoji="1" lang="zh-CN" altLang="en-US" sz="2400" b="0" i="0" u="none" strike="noStrike" cap="none" normalizeH="0" baseline="0" smtClean="0">
            <a:ln>
              <a:noFill/>
            </a:ln>
            <a:solidFill>
              <a:srgbClr val="333399"/>
            </a:solidFill>
            <a:effectLst/>
            <a:latin typeface="Arial" pitchFamily="34" charset="0"/>
            <a:ea typeface="楷体_GB2312" pitchFamily="49" charset="-122"/>
          </a:defRPr>
        </a:defPPr>
      </a:lstStyle>
    </a:lnDef>
  </a:objectDefaults>
  <a:extraClrSchemeLst>
    <a:extraClrScheme>
      <a:clrScheme name="Capsules 1">
        <a:dk1>
          <a:srgbClr val="000066"/>
        </a:dk1>
        <a:lt1>
          <a:srgbClr val="FFFFEB"/>
        </a:lt1>
        <a:dk2>
          <a:srgbClr val="336699"/>
        </a:dk2>
        <a:lt2>
          <a:srgbClr val="FFFFEB"/>
        </a:lt2>
        <a:accent1>
          <a:srgbClr val="666699"/>
        </a:accent1>
        <a:accent2>
          <a:srgbClr val="99CCFF"/>
        </a:accent2>
        <a:accent3>
          <a:srgbClr val="ADB8CA"/>
        </a:accent3>
        <a:accent4>
          <a:srgbClr val="DADAC9"/>
        </a:accent4>
        <a:accent5>
          <a:srgbClr val="B8B8CA"/>
        </a:accent5>
        <a:accent6>
          <a:srgbClr val="8AB9E7"/>
        </a:accent6>
        <a:hlink>
          <a:srgbClr val="CCCCFF"/>
        </a:hlink>
        <a:folHlink>
          <a:srgbClr val="C68D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apsules 2">
        <a:dk1>
          <a:srgbClr val="003366"/>
        </a:dk1>
        <a:lt1>
          <a:srgbClr val="FFFFFF"/>
        </a:lt1>
        <a:dk2>
          <a:srgbClr val="006666"/>
        </a:dk2>
        <a:lt2>
          <a:srgbClr val="003366"/>
        </a:lt2>
        <a:accent1>
          <a:srgbClr val="99CC99"/>
        </a:accent1>
        <a:accent2>
          <a:srgbClr val="33CCCC"/>
        </a:accent2>
        <a:accent3>
          <a:srgbClr val="FFFFFF"/>
        </a:accent3>
        <a:accent4>
          <a:srgbClr val="002A56"/>
        </a:accent4>
        <a:accent5>
          <a:srgbClr val="CAE2CA"/>
        </a:accent5>
        <a:accent6>
          <a:srgbClr val="2DB9B9"/>
        </a:accent6>
        <a:hlink>
          <a:srgbClr val="666699"/>
        </a:hlink>
        <a:folHlink>
          <a:srgbClr val="CC99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apsules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C0C0C0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737373"/>
        </a:accent6>
        <a:hlink>
          <a:srgbClr val="5F5F5F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apsules 4">
        <a:dk1>
          <a:srgbClr val="000000"/>
        </a:dk1>
        <a:lt1>
          <a:srgbClr val="FFFFFF"/>
        </a:lt1>
        <a:dk2>
          <a:srgbClr val="9900CC"/>
        </a:dk2>
        <a:lt2>
          <a:srgbClr val="0033CC"/>
        </a:lt2>
        <a:accent1>
          <a:srgbClr val="FFCC66"/>
        </a:accent1>
        <a:accent2>
          <a:srgbClr val="33CC33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2DB92D"/>
        </a:accent6>
        <a:hlink>
          <a:srgbClr val="9900CC"/>
        </a:hlink>
        <a:folHlink>
          <a:srgbClr val="9900C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C:\Program Files\Microsoft Office\Templates\Presentation Designs\Capsules.pot</Template>
  <TotalTime>34055</TotalTime>
  <Words>1074</Words>
  <Application>Microsoft Office PowerPoint</Application>
  <PresentationFormat>全屏显示(4:3)</PresentationFormat>
  <Paragraphs>238</Paragraphs>
  <Slides>16</Slides>
  <Notes>0</Notes>
  <HiddenSlides>0</HiddenSlides>
  <MMClips>0</MMClips>
  <ScaleCrop>false</ScaleCrop>
  <HeadingPairs>
    <vt:vector size="6" baseType="variant"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18" baseType="lpstr">
      <vt:lpstr>Capsules</vt:lpstr>
      <vt:lpstr>Visio</vt:lpstr>
      <vt:lpstr>幻灯片 1</vt:lpstr>
      <vt:lpstr>幻灯片 2</vt:lpstr>
      <vt:lpstr>幻灯片 3</vt:lpstr>
      <vt:lpstr>幻灯片 4</vt:lpstr>
      <vt:lpstr>幻灯片 5</vt:lpstr>
      <vt:lpstr>幻灯片 6</vt:lpstr>
      <vt:lpstr>幻灯片 7</vt:lpstr>
      <vt:lpstr>幻灯片 8</vt:lpstr>
      <vt:lpstr>幻灯片 9</vt:lpstr>
      <vt:lpstr>幻灯片 10</vt:lpstr>
      <vt:lpstr>幻灯片 11</vt:lpstr>
      <vt:lpstr>幻灯片 12</vt:lpstr>
      <vt:lpstr>幻灯片 13</vt:lpstr>
      <vt:lpstr>幻灯片 14</vt:lpstr>
      <vt:lpstr>幻灯片 15</vt:lpstr>
      <vt:lpstr>幻灯片 16</vt:lpstr>
    </vt:vector>
  </TitlesOfParts>
  <Company>wyy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wang</dc:creator>
  <cp:lastModifiedBy>own00004</cp:lastModifiedBy>
  <cp:revision>1557</cp:revision>
  <dcterms:created xsi:type="dcterms:W3CDTF">2002-02-03T03:17:28Z</dcterms:created>
  <dcterms:modified xsi:type="dcterms:W3CDTF">2020-09-21T02:14:18Z</dcterms:modified>
</cp:coreProperties>
</file>
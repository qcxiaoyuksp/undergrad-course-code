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852" r:id="rId3"/>
    <p:sldId id="573" r:id="rId4"/>
    <p:sldId id="867" r:id="rId5"/>
    <p:sldId id="256" r:id="rId6"/>
    <p:sldId id="847" r:id="rId7"/>
    <p:sldId id="848" r:id="rId8"/>
    <p:sldId id="868" r:id="rId9"/>
    <p:sldId id="869" r:id="rId10"/>
    <p:sldId id="849" r:id="rId11"/>
    <p:sldId id="872" r:id="rId12"/>
    <p:sldId id="870" r:id="rId13"/>
    <p:sldId id="871" r:id="rId14"/>
    <p:sldId id="873" r:id="rId15"/>
    <p:sldId id="875" r:id="rId16"/>
    <p:sldId id="874" r:id="rId17"/>
    <p:sldId id="876" r:id="rId18"/>
    <p:sldId id="877" r:id="rId19"/>
    <p:sldId id="878" r:id="rId20"/>
    <p:sldId id="879" r:id="rId21"/>
    <p:sldId id="1120" r:id="rId22"/>
    <p:sldId id="1121" r:id="rId23"/>
    <p:sldId id="646" r:id="rId24"/>
    <p:sldId id="881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26C9B-3BAF-4834-93F5-E520E29744AC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42EEC-82E5-4D28-AC98-54F8FB8FFC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259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8975E951-9BB7-1254-A343-1DD043ADAE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E72DF02-31B4-474B-A046-9DF6697786FD}" type="slidenum">
              <a:rPr lang="zh-CN" altLang="en-US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D9677170-36ED-24BB-FE86-4FBE84D21D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7EF0FEBE-3EEA-690E-3D93-BD91B23AE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3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BB69E762-D4E4-B298-29A8-9DDBE96F1C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FD96A0-CE58-4674-8800-D5FE9DCB5C02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21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AB3FE51D-6CAB-E3D8-A346-A43C6CC558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3E11A759-99D3-97D5-81E6-75ED4A3764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CF7C1437-733E-6568-0AB0-3FE90BEEEA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19C9EB6-847D-4BFD-AF0E-01870BA6A3A6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22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5FCB91BE-1DC4-89EF-4948-CBEC7F8D3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1F7A1F59-2853-7160-13C2-46C47A14A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9EDED671-B6EF-7A65-1CB5-BD8E8B3FC7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B15B743-9087-43A1-8203-8B1463927765}" type="slidenum">
              <a:rPr lang="zh-CN" altLang="en-US" sz="1200" smtClean="0"/>
              <a:pPr>
                <a:spcBef>
                  <a:spcPct val="0"/>
                </a:spcBef>
              </a:pPr>
              <a:t>23</a:t>
            </a:fld>
            <a:endParaRPr lang="en-US" altLang="zh-CN" sz="120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8B87F316-6CF8-B9D1-218B-DCEFB90DD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E3F0A920-79DC-2D28-EFFA-583ECACD8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72C77-6D60-EDA7-1B62-3111A3454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1BD22D-0114-9308-30A0-415FD39B3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71C5FF-0388-9E14-EA6B-D5BC5A71D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4F2FCE-ABC0-BC73-91CD-3CC7E035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48CF83-123E-2D23-9638-7DA8A0F0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23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2B765-C07A-C352-01F2-04E97BFB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90E4C-E18E-8327-E6D9-FC8046304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AF94C4-1DEC-A67D-77D2-FDC4ACD84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D71F62-03BA-45A0-20B7-885B0736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6E118A-F1E4-3ADC-5160-0E64BC02C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870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6F244-A392-1BA1-C779-8C0B7ED12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69708C-5651-C59D-F034-AC5C74DFE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44C5B-69FC-0E1C-54AB-BAF1C9E8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74829D-FF2B-58E8-66AE-75856CDC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50330-DE59-9789-479A-97853A49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905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2A3F0-AB97-40FB-6F35-2068FAA3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A51CE-BC58-E34B-2E6F-2648D5390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922A43-DD4F-E630-1867-6595A7F94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55F2BC-36B5-BAD6-FE65-280AA7B1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A65926-D30E-0D51-7412-089491F9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7C33C9-8C8F-C1E4-D491-A5875368E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79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A5B27-2C2D-8774-3653-FD21E563B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C8CCE9-4680-443B-6111-38E6ED804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095B5F-0872-7075-35DD-A431E1AB6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123531-C0A9-5B10-60D6-132DAB309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EDE0AB-1B96-33F9-49D7-2D444AA76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A66B2B-7E62-905C-660E-60DB0EC8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9E08DA-13E8-5109-0955-379D6F25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C21CD46-F037-ACC1-BFAD-A1ED1580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42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1C393-01FD-53B4-D292-014CD31D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E6AA75-EF38-530A-F402-24F8485B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3D46A5-EB9E-FCF0-12ED-AFC4E709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32ECBD-8CCA-7749-0345-AC0095B9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195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5C7788-A558-4859-2B89-066798AA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B0016C-920E-ABF6-B883-B567442B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7443F4-4FD9-A9E4-5DB7-7257BEB2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0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EB224-18F1-9211-44D1-BDD311AE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AEF45B-ECE9-6D06-D769-D833C5AEB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E65C1E-D951-A488-5A8E-12F951686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EE3C77-C322-AF6C-4732-0DBBDF27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519783-00D2-6E4C-2220-FB6F98DD9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7E2476-EC2C-2DC2-1A08-E4D39B62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61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F0EFD-C4AF-EE62-68DB-DFD0883B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313BC2-41BB-4D19-F7C6-38F93E632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17F420-2303-AECF-676E-0DFB9A83E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DB5A02-1DD7-3AF2-6273-62760F58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B10F90-5CFA-3803-38F9-B8FB43288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A6A191-769B-9BDC-0A7A-BCEDFC99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20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B9875-1ABC-A66B-8F81-CCB323C80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72FCF1-D0E2-4920-550A-3D7E56304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E6E7D8-F5E1-E056-4F73-4E5625803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CE7CB-8DC2-2035-D76C-981DC17F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85B48-AF27-1971-D36D-BE48B58D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49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6F46D0-67B6-1784-62A6-347AD48A5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4B17D8-19F4-50D5-33D7-87CDB0853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1ED0BD-D753-3E74-3F68-3E2932B7D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2B4BE8-3BC7-5A1B-513B-7FDBD287D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502C8F-6DF2-5FE2-B836-977D00A48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5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EAD999-F039-9163-8DE5-16959BAA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0197AE-E531-1776-4B98-F36048B0C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88AA28-95B9-3213-A494-AE77ADA72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630B1-EA8D-46D8-AE50-07BBD702708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9FB18C-6856-02B6-EB19-5FC72AF07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F15499-18E8-E807-E44F-4A506AE1C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ED1AD-6053-4B12-83E1-6EB9B23D2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06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F9E418F-3D66-DAD9-D171-CC45858DC54C}"/>
              </a:ext>
            </a:extLst>
          </p:cNvPr>
          <p:cNvSpPr txBox="1"/>
          <p:nvPr/>
        </p:nvSpPr>
        <p:spPr>
          <a:xfrm>
            <a:off x="1166191" y="1024594"/>
            <a:ext cx="9707218" cy="3752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重点题型：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概念（选择、判断）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算符优先分析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LR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分析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赋值语句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布尔表达式的翻译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中间表示形式：三地址码或四元式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必经结点集、支配结点、回边、循环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DAG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优化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9645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AA68DB0-CB8E-2D87-7AEE-1322C126E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62" y="863945"/>
            <a:ext cx="12794973" cy="2387600"/>
          </a:xfrm>
        </p:spPr>
        <p:txBody>
          <a:bodyPr>
            <a:noAutofit/>
          </a:bodyPr>
          <a:lstStyle/>
          <a:p>
            <a:pPr marL="63500" marR="5316855" algn="l" defTabSz="0" eaLnBrk="0">
              <a:lnSpc>
                <a:spcPct val="115000"/>
              </a:lnSpc>
              <a:spcBef>
                <a:spcPts val="315"/>
              </a:spcBef>
              <a:spcAft>
                <a:spcPts val="0"/>
              </a:spcAft>
            </a:pPr>
            <a:r>
              <a:rPr lang="en-US" altLang="zh-CN" sz="2400" b="1" spc="-5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一、给定文法</a:t>
            </a:r>
            <a:r>
              <a:rPr lang="en-US" altLang="zh-CN" sz="2400" b="1" spc="-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G(s) </a:t>
            </a:r>
            <a:br>
              <a:rPr lang="en-US" altLang="zh-CN" sz="24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</a:br>
            <a:r>
              <a:rPr lang="en-US" altLang="zh-CN" sz="24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S→(T)|a</a:t>
            </a:r>
            <a:br>
              <a:rPr lang="zh-CN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</a:br>
            <a:r>
              <a:rPr lang="en-US" altLang="zh-CN" sz="24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T→T,S|S</a:t>
            </a:r>
            <a:br>
              <a:rPr lang="zh-CN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</a:br>
            <a:r>
              <a:rPr lang="en-US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(1) </a:t>
            </a:r>
            <a:r>
              <a:rPr lang="en-US" altLang="zh-CN" sz="2400" b="1" spc="-25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计算该文法各非终结符的</a:t>
            </a:r>
            <a:r>
              <a:rPr lang="en-US" altLang="zh-CN" sz="2400" b="1" spc="-25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FIRSTVT</a:t>
            </a:r>
            <a:r>
              <a:rPr lang="en-US" altLang="zh-CN" sz="2400" b="1" spc="-15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2400" b="1" spc="-135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和 </a:t>
            </a:r>
            <a:r>
              <a:rPr lang="en-US" altLang="zh-CN" sz="24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LASTVT</a:t>
            </a:r>
            <a:r>
              <a:rPr lang="en-US" altLang="zh-CN" sz="2400" b="1" spc="-5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集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(2) </a:t>
            </a:r>
            <a:r>
              <a:rPr lang="en-US" altLang="zh-CN" sz="2400" b="1" spc="-1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构造算符优先表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418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80" name="组合 44">
            <a:extLst>
              <a:ext uri="{FF2B5EF4-FFF2-40B4-BE49-F238E27FC236}">
                <a16:creationId xmlns:a16="http://schemas.microsoft.com/office/drawing/2014/main" id="{177B71AA-188F-864C-1793-89EDFE3D76BB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13" name="五边形 12">
              <a:extLst>
                <a:ext uri="{FF2B5EF4-FFF2-40B4-BE49-F238E27FC236}">
                  <a16:creationId xmlns:a16="http://schemas.microsoft.com/office/drawing/2014/main" id="{2DBFADB3-A494-6970-0C71-5A79E6494534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7021" name="五边形 46">
              <a:extLst>
                <a:ext uri="{FF2B5EF4-FFF2-40B4-BE49-F238E27FC236}">
                  <a16:creationId xmlns:a16="http://schemas.microsoft.com/office/drawing/2014/main" id="{79627A92-BAD2-B0EC-567B-426A22DE8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星形: 五角 2">
            <a:extLst>
              <a:ext uri="{FF2B5EF4-FFF2-40B4-BE49-F238E27FC236}">
                <a16:creationId xmlns:a16="http://schemas.microsoft.com/office/drawing/2014/main" id="{6E650023-0237-5D50-A1EC-807136684D6D}"/>
              </a:ext>
            </a:extLst>
          </p:cNvPr>
          <p:cNvSpPr/>
          <p:nvPr/>
        </p:nvSpPr>
        <p:spPr>
          <a:xfrm>
            <a:off x="1156664" y="95791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A81CB4F-0806-59C3-E255-4CE7DED92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058863"/>
            <a:ext cx="9865760" cy="343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fontAlgn="ctr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v"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反复使用下面两条规则：</a:t>
            </a:r>
          </a:p>
          <a:p>
            <a:pPr lvl="1" eaLnBrk="1" fontAlgn="ctr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1、若有产生式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…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或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Ba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…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，则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FIRSTVT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(A)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 eaLnBrk="1" fontAlgn="ctr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2、若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FIRSTVT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(B)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且有产生式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Bb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…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，则有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FIRSTVT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(A)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fontAlgn="ctr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v"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反复使用下面两条规则：</a:t>
            </a:r>
          </a:p>
          <a:p>
            <a:pPr lvl="1" eaLnBrk="1" fontAlgn="ctr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1、若有产生式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…a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或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…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，则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LASTVT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(A)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 eaLnBrk="1" fontAlgn="ctr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2、若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LASTVT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(B)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且有产生式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…B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，则有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LASTVT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(A)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3FB87BA-4B96-6E19-E49E-1FDD51A1D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188" y="3931708"/>
            <a:ext cx="10594837" cy="26638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ctr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ctr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ctr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ctr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检查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的每个产生式的每个候选式，找出所有满足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≖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的终结符对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A→…ab…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或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A→…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aBb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根据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FIRSTVT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LASTVT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集合，检查每个产生式的候选式，确定满足关系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⋖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⋗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的所有终结符对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1044900"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若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A→…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aB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…,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则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</a:t>
            </a:r>
            <a:r>
              <a:rPr lang="zh-CN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b∈FIRSTVT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(B),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有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a⋖b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1044900"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若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A→…Bb…,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则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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∈LASTVT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(B),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有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a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⋗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4DBAA6C-7986-BB68-753D-B4867FC43A6A}"/>
              </a:ext>
            </a:extLst>
          </p:cNvPr>
          <p:cNvSpPr txBox="1"/>
          <p:nvPr/>
        </p:nvSpPr>
        <p:spPr>
          <a:xfrm>
            <a:off x="298174" y="232058"/>
            <a:ext cx="55327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spc="-5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一、给定文法</a:t>
            </a:r>
            <a:r>
              <a:rPr lang="en-US" altLang="zh-CN" sz="1800" b="1" spc="-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G(s) </a:t>
            </a:r>
            <a:br>
              <a:rPr lang="en-US" altLang="zh-CN" sz="18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</a:br>
            <a:r>
              <a:rPr lang="en-US" altLang="zh-CN" sz="18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S→(T)|a</a:t>
            </a:r>
            <a:br>
              <a:rPr lang="zh-CN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</a:br>
            <a:r>
              <a:rPr lang="en-US" altLang="zh-CN" sz="18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T→T,S|S</a:t>
            </a:r>
            <a:br>
              <a:rPr lang="zh-CN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</a:br>
            <a:r>
              <a:rPr lang="en-US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(1) </a:t>
            </a:r>
            <a:r>
              <a:rPr lang="en-US" altLang="zh-CN" sz="1800" b="1" spc="-25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计算该文法各非终结符的</a:t>
            </a:r>
            <a:r>
              <a:rPr lang="en-US" altLang="zh-CN" sz="1800" b="1" spc="-25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FIRSTVT</a:t>
            </a:r>
            <a:r>
              <a:rPr lang="en-US" altLang="zh-CN" sz="1800" b="1" spc="-15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1800" b="1" spc="-135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和 </a:t>
            </a:r>
            <a:r>
              <a:rPr lang="en-US" altLang="zh-CN" sz="18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LASTVT</a:t>
            </a:r>
            <a:r>
              <a:rPr lang="en-US" altLang="zh-CN" sz="1800" b="1" spc="-5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集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(2) </a:t>
            </a:r>
            <a:r>
              <a:rPr lang="en-US" altLang="zh-CN" sz="1800" b="1" spc="-1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构造算符优先表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55FFED-874A-D67C-12C9-605A3E2DF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418" y="2064647"/>
            <a:ext cx="37449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FIRSTVT(S)={                    }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FIRSTVT(T)={                    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55244B-CDD3-8F39-D0A9-D801835E1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19" y="2064647"/>
            <a:ext cx="574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EC2409-5CE8-4434-59AC-07EF88BCE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682" y="2056710"/>
            <a:ext cx="576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76F842-128B-C725-A217-A5333236B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44" y="2411411"/>
            <a:ext cx="576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5ED5EF-AD91-A5F8-EC8F-607686AAA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57" y="2436811"/>
            <a:ext cx="677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51D44B-6244-9F96-A43C-1566E1FDB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468" y="2021785"/>
            <a:ext cx="39814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LASTVT(S)={                     }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LASTVT(T)={                     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5C3D3D-178C-9BEC-709E-630BD13F7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561" y="2021785"/>
            <a:ext cx="576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08AD06-4075-D759-3874-AC3616B0F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561" y="2387530"/>
            <a:ext cx="576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7D0F42-C9CC-275C-EEAB-E313BA049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0674" y="2016676"/>
            <a:ext cx="576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8606AD4-1D32-0CAB-E811-EB0B94543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700" y="2380282"/>
            <a:ext cx="7183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A4C72932-39A0-3E29-38FE-B3D3FBA0B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858065"/>
              </p:ext>
            </p:extLst>
          </p:nvPr>
        </p:nvGraphicFramePr>
        <p:xfrm>
          <a:off x="1190418" y="3734535"/>
          <a:ext cx="812800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3949636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59623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1096504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867182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3417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44625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234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328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258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414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698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35904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BBBA1721-CFAC-3746-242A-1685F0425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174" y="3334485"/>
            <a:ext cx="792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#S#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1944ACC-A514-C3FE-CC5B-19D3D0FC7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0816" y="5711925"/>
            <a:ext cx="773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≖</a:t>
            </a:r>
            <a:endParaRPr lang="zh-CN" altLang="en-US" sz="2000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D9A3D22-C8EA-3E1E-5B6B-220898D1C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45" y="5711925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</a:rPr>
              <a:t>⋖</a:t>
            </a:r>
            <a:endParaRPr lang="zh-CN" altLang="en-US" sz="2000" b="1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4AB747D-63C1-B01F-B2E0-EABC159D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0" y="5711925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⋖</a:t>
            </a:r>
            <a:endParaRPr lang="zh-CN" altLang="en-US" sz="20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1ACDC3-C261-1F65-E6E9-DDE9B872F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0817" y="4923255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⋗</a:t>
            </a:r>
            <a:endParaRPr lang="zh-CN" altLang="en-US" sz="2000" b="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91F9A0D-2991-6AC4-E0C5-F312FB5A4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0817" y="4134585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⋗</a:t>
            </a:r>
            <a:endParaRPr lang="zh-CN" altLang="en-US" sz="2000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FD67C41-D2B1-0364-7538-305C74887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94" y="4534635"/>
            <a:ext cx="773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≖</a:t>
            </a:r>
            <a:endParaRPr lang="zh-CN" altLang="en-US" sz="2000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135AAE0-8440-153D-2B24-26774D784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45" y="4520743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⋖</a:t>
            </a:r>
            <a:endParaRPr lang="zh-CN" altLang="en-US" sz="2000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DB626DC-1E77-4AEC-4630-4F19E3B9B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044" y="4520743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⋖</a:t>
            </a:r>
            <a:endParaRPr lang="zh-CN" altLang="en-US" sz="2000" b="1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71F93AC-8387-5319-6473-36CF23A4D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172" y="4520743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⋖</a:t>
            </a:r>
            <a:endParaRPr lang="zh-CN" altLang="en-US" sz="2000" b="1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B8B479B-B9C7-954B-8379-C0C9A7D8B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718" y="4120693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⋗</a:t>
            </a:r>
            <a:endParaRPr lang="zh-CN" altLang="en-US" sz="20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23DC885-8FCD-BFAD-8546-280209360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6" y="4906901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⋗</a:t>
            </a:r>
            <a:endParaRPr lang="zh-CN" altLang="en-US" sz="2000" b="1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45DD217-4668-A533-4AD6-7A051006A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782" y="5322557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⋗</a:t>
            </a:r>
            <a:endParaRPr lang="zh-CN" altLang="en-US" sz="2000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F59A17C-0FEE-063B-E54C-49089EF57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7561" y="4120693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⋗</a:t>
            </a:r>
            <a:endParaRPr lang="zh-CN" altLang="en-US" sz="20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B575D2B-B5D2-9DEF-451B-76BF11A57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919" y="4906901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⋗</a:t>
            </a:r>
            <a:endParaRPr lang="zh-CN" altLang="en-US" sz="20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663149E-BB37-6AB7-530C-3A12BB07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8625" y="5322557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⋗</a:t>
            </a:r>
            <a:endParaRPr lang="zh-CN" altLang="en-US" sz="20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B6B10E5-BC40-3410-D677-6100FA5C2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863" y="5306951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⋖</a:t>
            </a:r>
            <a:endParaRPr lang="zh-CN" altLang="en-US" sz="20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DAF3C2C-2179-6992-DE91-0E297398C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090" y="5306951"/>
            <a:ext cx="773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⋖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7108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14" grpId="0"/>
      <p:bldP spid="15" grpId="0"/>
      <p:bldP spid="16" grpId="0"/>
      <p:bldP spid="17" grpId="0"/>
      <p:bldP spid="20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7DF16CA-80ED-BC4C-76C7-32C8FAEA9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1160463"/>
            <a:ext cx="807043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二、已知文法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A →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aAd|aAb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|</a:t>
            </a:r>
            <a:r>
              <a:rPr lang="el-GR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ε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判断该文法是否是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SLR(1)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文法，若是，请构造相应分析表，并对输入串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ab#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给出分析过程</a:t>
            </a:r>
          </a:p>
        </p:txBody>
      </p:sp>
    </p:spTree>
    <p:extLst>
      <p:ext uri="{BB962C8B-B14F-4D97-AF65-F5344CB8AC3E}">
        <p14:creationId xmlns:p14="http://schemas.microsoft.com/office/powerpoint/2010/main" val="24170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3C891C0-7467-8A24-C50D-B75F25AE778F}"/>
              </a:ext>
            </a:extLst>
          </p:cNvPr>
          <p:cNvSpPr/>
          <p:nvPr/>
        </p:nvSpPr>
        <p:spPr>
          <a:xfrm>
            <a:off x="256351" y="2024544"/>
            <a:ext cx="3984349" cy="32829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6">
            <a:extLst>
              <a:ext uri="{FF2B5EF4-FFF2-40B4-BE49-F238E27FC236}">
                <a16:creationId xmlns:a16="http://schemas.microsoft.com/office/drawing/2014/main" id="{F6CF0356-E191-B32F-3B22-0B738C786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51" y="4449416"/>
            <a:ext cx="3984349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如果集合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{a</a:t>
            </a:r>
            <a:r>
              <a:rPr lang="en-US" altLang="zh-CN" sz="16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16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a</a:t>
            </a:r>
            <a:r>
              <a:rPr lang="en-US" altLang="zh-CN" sz="1600" b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FOLLOW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6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FOLLOW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6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FOLLOW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600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两两不相交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，则为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SLR(1)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文法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C590B4F8-18D6-68D2-9D56-0D98196046DE}"/>
              </a:ext>
            </a:extLst>
          </p:cNvPr>
          <p:cNvGrpSpPr>
            <a:grpSpLocks/>
          </p:cNvGrpSpPr>
          <p:nvPr/>
        </p:nvGrpSpPr>
        <p:grpSpPr bwMode="auto">
          <a:xfrm>
            <a:off x="1971126" y="2086337"/>
            <a:ext cx="1603721" cy="958850"/>
            <a:chOff x="1519" y="1525"/>
            <a:chExt cx="784" cy="859"/>
          </a:xfrm>
        </p:grpSpPr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3E23A9F5-D0A5-D8C7-CDFD-48CB3E492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1525"/>
              <a:ext cx="136" cy="859"/>
            </a:xfrm>
            <a:prstGeom prst="rightBrace">
              <a:avLst>
                <a:gd name="adj1" fmla="val 3611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E35574BD-F76C-8A4E-2688-54B67C553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" y="1816"/>
              <a:ext cx="674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个移进项目</a:t>
              </a:r>
            </a:p>
          </p:txBody>
        </p:sp>
      </p:grpSp>
      <p:grpSp>
        <p:nvGrpSpPr>
          <p:cNvPr id="13" name="Group 7">
            <a:extLst>
              <a:ext uri="{FF2B5EF4-FFF2-40B4-BE49-F238E27FC236}">
                <a16:creationId xmlns:a16="http://schemas.microsoft.com/office/drawing/2014/main" id="{B398D1C3-6F5C-C583-F22F-A3262C0A75BE}"/>
              </a:ext>
            </a:extLst>
          </p:cNvPr>
          <p:cNvGrpSpPr>
            <a:grpSpLocks/>
          </p:cNvGrpSpPr>
          <p:nvPr/>
        </p:nvGrpSpPr>
        <p:grpSpPr bwMode="auto">
          <a:xfrm>
            <a:off x="1384894" y="3248231"/>
            <a:ext cx="1622488" cy="1001712"/>
            <a:chOff x="1202" y="2132"/>
            <a:chExt cx="699" cy="663"/>
          </a:xfrm>
        </p:grpSpPr>
        <p:sp>
          <p:nvSpPr>
            <p:cNvPr id="14" name="AutoShape 8">
              <a:extLst>
                <a:ext uri="{FF2B5EF4-FFF2-40B4-BE49-F238E27FC236}">
                  <a16:creationId xmlns:a16="http://schemas.microsoft.com/office/drawing/2014/main" id="{F2A64403-0813-B7AB-BB58-96B730235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132"/>
              <a:ext cx="136" cy="663"/>
            </a:xfrm>
            <a:prstGeom prst="rightBrace">
              <a:avLst>
                <a:gd name="adj1" fmla="val 36134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68C566DF-0CC9-6812-51CF-6C846EFF5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7" y="2343"/>
              <a:ext cx="57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个归约项目</a:t>
              </a:r>
            </a:p>
          </p:txBody>
        </p:sp>
      </p:grpSp>
      <p:sp>
        <p:nvSpPr>
          <p:cNvPr id="16" name="矩形 5">
            <a:extLst>
              <a:ext uri="{FF2B5EF4-FFF2-40B4-BE49-F238E27FC236}">
                <a16:creationId xmlns:a16="http://schemas.microsoft.com/office/drawing/2014/main" id="{B7D52664-63CC-7296-9833-181E528D6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51" y="2024544"/>
            <a:ext cx="3603625" cy="2326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18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.a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ts val="18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.a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18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…</a:t>
            </a:r>
          </a:p>
          <a:p>
            <a:pPr eaLnBrk="1" hangingPunct="1">
              <a:lnSpc>
                <a:spcPts val="18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800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1800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.a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1800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18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γ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ts val="18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γ</a:t>
            </a:r>
            <a:r>
              <a:rPr lang="en-US" altLang="zh-CN" sz="1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ts val="18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…</a:t>
            </a:r>
          </a:p>
          <a:p>
            <a:pPr eaLnBrk="1" hangingPunct="1">
              <a:lnSpc>
                <a:spcPts val="18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1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18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γ</a:t>
            </a:r>
            <a:r>
              <a:rPr lang="en-US" altLang="zh-CN" sz="1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7" name="对话气泡: 椭圆形 16">
            <a:extLst>
              <a:ext uri="{FF2B5EF4-FFF2-40B4-BE49-F238E27FC236}">
                <a16:creationId xmlns:a16="http://schemas.microsoft.com/office/drawing/2014/main" id="{11293187-9295-6944-ECDD-E941002432E1}"/>
              </a:ext>
            </a:extLst>
          </p:cNvPr>
          <p:cNvSpPr/>
          <p:nvPr/>
        </p:nvSpPr>
        <p:spPr>
          <a:xfrm>
            <a:off x="1700571" y="3847574"/>
            <a:ext cx="1326400" cy="659910"/>
          </a:xfrm>
          <a:prstGeom prst="wedgeEllipseCallou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待移进符号</a:t>
            </a:r>
          </a:p>
        </p:txBody>
      </p:sp>
      <p:sp>
        <p:nvSpPr>
          <p:cNvPr id="19" name="对话气泡: 椭圆形 18">
            <a:extLst>
              <a:ext uri="{FF2B5EF4-FFF2-40B4-BE49-F238E27FC236}">
                <a16:creationId xmlns:a16="http://schemas.microsoft.com/office/drawing/2014/main" id="{FE327871-B35D-ED2A-167A-8D3228BA3B7A}"/>
              </a:ext>
            </a:extLst>
          </p:cNvPr>
          <p:cNvSpPr/>
          <p:nvPr/>
        </p:nvSpPr>
        <p:spPr>
          <a:xfrm>
            <a:off x="3247238" y="3755713"/>
            <a:ext cx="2212662" cy="659910"/>
          </a:xfrm>
          <a:prstGeom prst="wedgeEllipseCallou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待归约符号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FOLLOW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</a:t>
            </a:r>
          </a:p>
        </p:txBody>
      </p:sp>
      <p:sp>
        <p:nvSpPr>
          <p:cNvPr id="20" name="星形: 五角 19">
            <a:extLst>
              <a:ext uri="{FF2B5EF4-FFF2-40B4-BE49-F238E27FC236}">
                <a16:creationId xmlns:a16="http://schemas.microsoft.com/office/drawing/2014/main" id="{6E7BDC40-17A9-F1BD-D3B6-010F4C4975EC}"/>
              </a:ext>
            </a:extLst>
          </p:cNvPr>
          <p:cNvSpPr/>
          <p:nvPr/>
        </p:nvSpPr>
        <p:spPr>
          <a:xfrm>
            <a:off x="892451" y="142174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33D2F77D-324B-7362-DCAF-B1EEB9C937A4}"/>
              </a:ext>
            </a:extLst>
          </p:cNvPr>
          <p:cNvSpPr txBox="1">
            <a:spLocks noChangeArrowheads="1"/>
          </p:cNvSpPr>
          <p:nvPr/>
        </p:nvSpPr>
        <p:spPr>
          <a:xfrm>
            <a:off x="5082434" y="1954126"/>
            <a:ext cx="7212551" cy="322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构造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itchFamily="18" charset="0"/>
              </a:rPr>
              <a:t>G'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的规范</a:t>
            </a: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LR</a:t>
            </a:r>
            <a:r>
              <a:rPr lang="en-US" altLang="zh-CN" sz="1800" b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(0)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项集族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C 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= {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,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, … ,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i="1" baseline="-25000" dirty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。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l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根据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构造得到状态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。状态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的语法分析动作按照下面的方法决定：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 algn="l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if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 A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→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α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·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β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∈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and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GOTO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i="1" baseline="-25000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, a )=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j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then</a:t>
            </a:r>
            <a:r>
              <a:rPr lang="en-US" altLang="zh-CN" sz="1800" b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ACTION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[ 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, a ]=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sj</a:t>
            </a:r>
            <a:endParaRPr lang="en-US" altLang="zh-CN" sz="1800" b="1" baseline="-25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 algn="l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if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A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→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α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.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Bβ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∈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I</a:t>
            </a:r>
            <a:r>
              <a:rPr lang="en-US" altLang="zh-CN" sz="1800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i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and GOTO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( 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I</a:t>
            </a:r>
            <a:r>
              <a:rPr lang="en-US" altLang="zh-CN" sz="1800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i</a:t>
            </a:r>
            <a:r>
              <a:rPr lang="zh-CN" altLang="en-US" sz="1800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,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B 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)=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I</a:t>
            </a:r>
            <a:r>
              <a:rPr lang="en-US" altLang="zh-CN" sz="1800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j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 </a:t>
            </a: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then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 GOTO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[ 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i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,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B 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]=j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楷体_GB2312"/>
              </a:rPr>
              <a:t> 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  <a:p>
            <a:pPr lvl="1" algn="l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if</a:t>
            </a:r>
            <a:r>
              <a:rPr lang="en-US" altLang="zh-CN" sz="1800" b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→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α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·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∈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且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A 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≠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S' </a:t>
            </a: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then</a:t>
            </a:r>
            <a:r>
              <a:rPr lang="en-US" altLang="zh-CN" sz="1800" b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for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itchFamily="18" charset="2"/>
              </a:rPr>
              <a:t>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a∈</a:t>
            </a:r>
            <a:r>
              <a:rPr lang="en-US" altLang="zh-CN" sz="18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FOLLOW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do</a:t>
            </a:r>
            <a:r>
              <a:rPr lang="en-US" altLang="zh-CN" sz="1800" b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</a:p>
          <a:p>
            <a:pPr lvl="1" algn="l">
              <a:lnSpc>
                <a:spcPts val="2800"/>
              </a:lnSpc>
              <a:buClr>
                <a:schemeClr val="tx1"/>
              </a:buClr>
              <a:buFont typeface="Symbol" panose="05050102010706020507" pitchFamily="18" charset="2"/>
              <a:buNone/>
              <a:defRPr/>
            </a:pP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ACTION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[ 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, a ]=</a:t>
            </a:r>
            <a:r>
              <a:rPr lang="en-US" altLang="zh-CN" sz="18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rj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（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j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是产生式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→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α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的编号）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 algn="l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if</a:t>
            </a:r>
            <a:r>
              <a:rPr lang="en-US" altLang="zh-CN" sz="1800" b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S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'→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S</a:t>
            </a:r>
            <a:r>
              <a:rPr lang="en-US" altLang="zh-CN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·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∈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i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then</a:t>
            </a:r>
            <a:r>
              <a:rPr lang="en-US" altLang="zh-CN" sz="1800" b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ACTION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[ 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, # ]=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acc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;</a:t>
            </a:r>
          </a:p>
          <a:p>
            <a:pPr algn="l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没有定义的所有条目都设置为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“</a:t>
            </a:r>
            <a:r>
              <a:rPr lang="en-US" altLang="zh-CN" sz="18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error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”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。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A40569C-3942-4F59-8DF1-A180A4A3616C}"/>
              </a:ext>
            </a:extLst>
          </p:cNvPr>
          <p:cNvSpPr txBox="1"/>
          <p:nvPr/>
        </p:nvSpPr>
        <p:spPr>
          <a:xfrm>
            <a:off x="5224670" y="1618184"/>
            <a:ext cx="1401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SLR</a:t>
            </a:r>
            <a:r>
              <a:rPr lang="zh-CN" altLang="en-US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分析表</a:t>
            </a: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B999CC0-210E-9B4E-76D9-E1678B5696E6}"/>
              </a:ext>
            </a:extLst>
          </p:cNvPr>
          <p:cNvSpPr txBox="1"/>
          <p:nvPr/>
        </p:nvSpPr>
        <p:spPr>
          <a:xfrm>
            <a:off x="409604" y="979944"/>
            <a:ext cx="226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构造拓广文法</a:t>
            </a: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611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11">
            <a:extLst>
              <a:ext uri="{FF2B5EF4-FFF2-40B4-BE49-F238E27FC236}">
                <a16:creationId xmlns:a16="http://schemas.microsoft.com/office/drawing/2014/main" id="{2942D5D6-8412-B7E5-4C8E-1A0E9B56E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59" y="365333"/>
            <a:ext cx="620187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二、已知文法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A →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aAd|aAb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|</a:t>
            </a:r>
            <a:r>
              <a:rPr lang="el-GR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 ε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判断该文法是否是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SLR(1)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文法，若是，请构造相应分析表，并对输入串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ab#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给出分析过程</a:t>
            </a:r>
          </a:p>
        </p:txBody>
      </p:sp>
      <p:sp>
        <p:nvSpPr>
          <p:cNvPr id="2" name="文本框 11">
            <a:extLst>
              <a:ext uri="{FF2B5EF4-FFF2-40B4-BE49-F238E27FC236}">
                <a16:creationId xmlns:a16="http://schemas.microsoft.com/office/drawing/2014/main" id="{8DE08952-D049-7660-97E9-DC857F140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94" y="2028481"/>
            <a:ext cx="620187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拓广文法：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S → A </a:t>
            </a: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A →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aAd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A →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aAb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A → </a:t>
            </a:r>
            <a:r>
              <a:rPr lang="el-GR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ε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AD19C4E9-BF92-A214-9572-13868730D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94" y="3771142"/>
            <a:ext cx="62018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构造识别活前缀的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DFA</a:t>
            </a:r>
          </a:p>
        </p:txBody>
      </p:sp>
      <p:sp>
        <p:nvSpPr>
          <p:cNvPr id="4" name="Rectangle 2052">
            <a:extLst>
              <a:ext uri="{FF2B5EF4-FFF2-40B4-BE49-F238E27FC236}">
                <a16:creationId xmlns:a16="http://schemas.microsoft.com/office/drawing/2014/main" id="{9F637966-7588-4E84-0966-F82CB650F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895" y="3313941"/>
            <a:ext cx="1354138" cy="117191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0: S→•A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A→•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aAd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A→•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aAb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 →•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</a:p>
        </p:txBody>
      </p:sp>
      <p:grpSp>
        <p:nvGrpSpPr>
          <p:cNvPr id="5" name="Group 2144">
            <a:extLst>
              <a:ext uri="{FF2B5EF4-FFF2-40B4-BE49-F238E27FC236}">
                <a16:creationId xmlns:a16="http://schemas.microsoft.com/office/drawing/2014/main" id="{C1477E92-E543-B2D4-64F9-2A2FBA4A1C2A}"/>
              </a:ext>
            </a:extLst>
          </p:cNvPr>
          <p:cNvGrpSpPr>
            <a:grpSpLocks/>
          </p:cNvGrpSpPr>
          <p:nvPr/>
        </p:nvGrpSpPr>
        <p:grpSpPr bwMode="auto">
          <a:xfrm>
            <a:off x="5671033" y="3614150"/>
            <a:ext cx="774700" cy="285750"/>
            <a:chOff x="1617" y="1824"/>
            <a:chExt cx="651" cy="240"/>
          </a:xfrm>
        </p:grpSpPr>
        <p:sp>
          <p:nvSpPr>
            <p:cNvPr id="6" name="Line 2072">
              <a:extLst>
                <a:ext uri="{FF2B5EF4-FFF2-40B4-BE49-F238E27FC236}">
                  <a16:creationId xmlns:a16="http://schemas.microsoft.com/office/drawing/2014/main" id="{CA69F9DD-0C75-D3B7-31B8-B8073EDCA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7" y="2040"/>
              <a:ext cx="65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Rectangle 2082">
              <a:extLst>
                <a:ext uri="{FF2B5EF4-FFF2-40B4-BE49-F238E27FC236}">
                  <a16:creationId xmlns:a16="http://schemas.microsoft.com/office/drawing/2014/main" id="{E3D1FE92-BB36-3C44-C91E-C656F962B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" y="1824"/>
              <a:ext cx="33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endPara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8" name="Rectangle 2055">
            <a:extLst>
              <a:ext uri="{FF2B5EF4-FFF2-40B4-BE49-F238E27FC236}">
                <a16:creationId xmlns:a16="http://schemas.microsoft.com/office/drawing/2014/main" id="{AEB7EEB4-4CD0-6928-37E4-3628420B3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733" y="3687175"/>
            <a:ext cx="1300162" cy="368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1: S→A•</a:t>
            </a:r>
          </a:p>
        </p:txBody>
      </p:sp>
      <p:grpSp>
        <p:nvGrpSpPr>
          <p:cNvPr id="9" name="Group 2145">
            <a:extLst>
              <a:ext uri="{FF2B5EF4-FFF2-40B4-BE49-F238E27FC236}">
                <a16:creationId xmlns:a16="http://schemas.microsoft.com/office/drawing/2014/main" id="{5EE8FE73-D19B-ABE9-0455-CE4AB7B848B0}"/>
              </a:ext>
            </a:extLst>
          </p:cNvPr>
          <p:cNvGrpSpPr>
            <a:grpSpLocks/>
          </p:cNvGrpSpPr>
          <p:nvPr/>
        </p:nvGrpSpPr>
        <p:grpSpPr bwMode="auto">
          <a:xfrm>
            <a:off x="4993964" y="2219366"/>
            <a:ext cx="1447559" cy="1082601"/>
            <a:chOff x="970" y="1250"/>
            <a:chExt cx="1276" cy="334"/>
          </a:xfrm>
        </p:grpSpPr>
        <p:sp>
          <p:nvSpPr>
            <p:cNvPr id="10" name="Freeform 2064">
              <a:extLst>
                <a:ext uri="{FF2B5EF4-FFF2-40B4-BE49-F238E27FC236}">
                  <a16:creationId xmlns:a16="http://schemas.microsoft.com/office/drawing/2014/main" id="{A87C5F6E-77EE-19AD-8AD7-B36D5D418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1426"/>
              <a:ext cx="1276" cy="15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19971"/>
                  </a:moveTo>
                  <a:lnTo>
                    <a:pt x="0" y="0"/>
                  </a:lnTo>
                  <a:lnTo>
                    <a:pt x="19990" y="0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2083">
              <a:extLst>
                <a:ext uri="{FF2B5EF4-FFF2-40B4-BE49-F238E27FC236}">
                  <a16:creationId xmlns:a16="http://schemas.microsoft.com/office/drawing/2014/main" id="{F7EB02B6-D0D2-838E-9063-1204A0296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1250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endPara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2" name="Rectangle 2054">
            <a:extLst>
              <a:ext uri="{FF2B5EF4-FFF2-40B4-BE49-F238E27FC236}">
                <a16:creationId xmlns:a16="http://schemas.microsoft.com/office/drawing/2014/main" id="{85B0B084-1960-2756-BB30-9B46CE994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733" y="2084684"/>
            <a:ext cx="1300162" cy="142164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2: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A→a•Ad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A→a•Ab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A→•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aAd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A→•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aAb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A→•</a:t>
            </a:r>
          </a:p>
        </p:txBody>
      </p:sp>
      <p:grpSp>
        <p:nvGrpSpPr>
          <p:cNvPr id="13" name="Group 2144">
            <a:extLst>
              <a:ext uri="{FF2B5EF4-FFF2-40B4-BE49-F238E27FC236}">
                <a16:creationId xmlns:a16="http://schemas.microsoft.com/office/drawing/2014/main" id="{E4ECB200-5146-0501-4E9B-3A8872D2E5E2}"/>
              </a:ext>
            </a:extLst>
          </p:cNvPr>
          <p:cNvGrpSpPr>
            <a:grpSpLocks/>
          </p:cNvGrpSpPr>
          <p:nvPr/>
        </p:nvGrpSpPr>
        <p:grpSpPr bwMode="auto">
          <a:xfrm>
            <a:off x="7745895" y="2532663"/>
            <a:ext cx="774700" cy="285750"/>
            <a:chOff x="1617" y="1824"/>
            <a:chExt cx="651" cy="240"/>
          </a:xfrm>
        </p:grpSpPr>
        <p:sp>
          <p:nvSpPr>
            <p:cNvPr id="14" name="Line 2072">
              <a:extLst>
                <a:ext uri="{FF2B5EF4-FFF2-40B4-BE49-F238E27FC236}">
                  <a16:creationId xmlns:a16="http://schemas.microsoft.com/office/drawing/2014/main" id="{E0860422-3CDF-5102-7863-B2ADE8D41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7" y="2040"/>
              <a:ext cx="65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2082">
              <a:extLst>
                <a:ext uri="{FF2B5EF4-FFF2-40B4-BE49-F238E27FC236}">
                  <a16:creationId xmlns:a16="http://schemas.microsoft.com/office/drawing/2014/main" id="{850E68AA-C2D4-83C0-526F-E1F2D6BCF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" y="1824"/>
              <a:ext cx="33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endPara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6" name="Rectangle 2055">
            <a:extLst>
              <a:ext uri="{FF2B5EF4-FFF2-40B4-BE49-F238E27FC236}">
                <a16:creationId xmlns:a16="http://schemas.microsoft.com/office/drawing/2014/main" id="{D5C5D648-CD8E-2A55-ED2A-E8E922AB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595" y="2605687"/>
            <a:ext cx="1300162" cy="63446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3: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A→aA•d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A→aA•b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17" name="Group 2154">
            <a:extLst>
              <a:ext uri="{FF2B5EF4-FFF2-40B4-BE49-F238E27FC236}">
                <a16:creationId xmlns:a16="http://schemas.microsoft.com/office/drawing/2014/main" id="{ED613CDA-DA97-A90C-A394-71F8440801B5}"/>
              </a:ext>
            </a:extLst>
          </p:cNvPr>
          <p:cNvGrpSpPr>
            <a:grpSpLocks/>
          </p:cNvGrpSpPr>
          <p:nvPr/>
        </p:nvGrpSpPr>
        <p:grpSpPr bwMode="auto">
          <a:xfrm>
            <a:off x="6772690" y="1671703"/>
            <a:ext cx="914400" cy="400050"/>
            <a:chOff x="2448" y="0"/>
            <a:chExt cx="768" cy="336"/>
          </a:xfrm>
        </p:grpSpPr>
        <p:sp>
          <p:nvSpPr>
            <p:cNvPr id="18" name="Freeform 2078">
              <a:extLst>
                <a:ext uri="{FF2B5EF4-FFF2-40B4-BE49-F238E27FC236}">
                  <a16:creationId xmlns:a16="http://schemas.microsoft.com/office/drawing/2014/main" id="{48A30324-B3B3-517F-C58D-47A69C0D5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144"/>
              <a:ext cx="672" cy="192"/>
            </a:xfrm>
            <a:custGeom>
              <a:avLst/>
              <a:gdLst>
                <a:gd name="T0" fmla="*/ 672 w 672"/>
                <a:gd name="T1" fmla="*/ 192 h 192"/>
                <a:gd name="T2" fmla="*/ 336 w 672"/>
                <a:gd name="T3" fmla="*/ 0 h 192"/>
                <a:gd name="T4" fmla="*/ 0 w 672"/>
                <a:gd name="T5" fmla="*/ 192 h 192"/>
                <a:gd name="T6" fmla="*/ 0 60000 65536"/>
                <a:gd name="T7" fmla="*/ 0 60000 65536"/>
                <a:gd name="T8" fmla="*/ 0 60000 65536"/>
                <a:gd name="T9" fmla="*/ 0 w 672"/>
                <a:gd name="T10" fmla="*/ 0 h 192"/>
                <a:gd name="T11" fmla="*/ 672 w 67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192">
                  <a:moveTo>
                    <a:pt x="672" y="192"/>
                  </a:moveTo>
                  <a:cubicBezTo>
                    <a:pt x="560" y="96"/>
                    <a:pt x="448" y="0"/>
                    <a:pt x="336" y="0"/>
                  </a:cubicBezTo>
                  <a:cubicBezTo>
                    <a:pt x="224" y="0"/>
                    <a:pt x="112" y="96"/>
                    <a:pt x="0" y="19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2086">
              <a:extLst>
                <a:ext uri="{FF2B5EF4-FFF2-40B4-BE49-F238E27FC236}">
                  <a16:creationId xmlns:a16="http://schemas.microsoft.com/office/drawing/2014/main" id="{3CA05FDD-4BE0-79BD-A276-47A870AAA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0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endPara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20" name="Group 2158">
            <a:extLst>
              <a:ext uri="{FF2B5EF4-FFF2-40B4-BE49-F238E27FC236}">
                <a16:creationId xmlns:a16="http://schemas.microsoft.com/office/drawing/2014/main" id="{BE593DE3-5A3D-A3CE-5C7C-85C03FB57520}"/>
              </a:ext>
            </a:extLst>
          </p:cNvPr>
          <p:cNvGrpSpPr>
            <a:grpSpLocks/>
          </p:cNvGrpSpPr>
          <p:nvPr/>
        </p:nvGrpSpPr>
        <p:grpSpPr bwMode="auto">
          <a:xfrm>
            <a:off x="9825520" y="2721921"/>
            <a:ext cx="769937" cy="285750"/>
            <a:chOff x="3364" y="3264"/>
            <a:chExt cx="647" cy="240"/>
          </a:xfrm>
        </p:grpSpPr>
        <p:sp>
          <p:nvSpPr>
            <p:cNvPr id="21" name="Line 2073">
              <a:extLst>
                <a:ext uri="{FF2B5EF4-FFF2-40B4-BE49-F238E27FC236}">
                  <a16:creationId xmlns:a16="http://schemas.microsoft.com/office/drawing/2014/main" id="{B29A14C3-88A6-14C2-2C25-8E3CB27F4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4" y="3276"/>
              <a:ext cx="64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088">
              <a:extLst>
                <a:ext uri="{FF2B5EF4-FFF2-40B4-BE49-F238E27FC236}">
                  <a16:creationId xmlns:a16="http://schemas.microsoft.com/office/drawing/2014/main" id="{25BB07AC-65B9-3F8C-2CF6-AE09AE41D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264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d</a:t>
              </a:r>
              <a:endParaRPr kumimoji="1" lang="en-US" altLang="zh-CN" sz="1800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24" name="Rectangle 2055">
            <a:extLst>
              <a:ext uri="{FF2B5EF4-FFF2-40B4-BE49-F238E27FC236}">
                <a16:creationId xmlns:a16="http://schemas.microsoft.com/office/drawing/2014/main" id="{49FA5366-67F4-FED8-F0A9-6083EFB9C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5457" y="2554621"/>
            <a:ext cx="1300162" cy="368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4: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A→aAd</a:t>
            </a: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•</a:t>
            </a:r>
          </a:p>
        </p:txBody>
      </p:sp>
      <p:grpSp>
        <p:nvGrpSpPr>
          <p:cNvPr id="25" name="Group 2158">
            <a:extLst>
              <a:ext uri="{FF2B5EF4-FFF2-40B4-BE49-F238E27FC236}">
                <a16:creationId xmlns:a16="http://schemas.microsoft.com/office/drawing/2014/main" id="{FD81B129-5BFC-D797-D010-D62327CB56BC}"/>
              </a:ext>
            </a:extLst>
          </p:cNvPr>
          <p:cNvGrpSpPr>
            <a:grpSpLocks/>
          </p:cNvGrpSpPr>
          <p:nvPr/>
        </p:nvGrpSpPr>
        <p:grpSpPr bwMode="auto">
          <a:xfrm>
            <a:off x="9820757" y="3104509"/>
            <a:ext cx="769937" cy="285750"/>
            <a:chOff x="3364" y="3264"/>
            <a:chExt cx="647" cy="240"/>
          </a:xfrm>
        </p:grpSpPr>
        <p:sp>
          <p:nvSpPr>
            <p:cNvPr id="26" name="Line 2073">
              <a:extLst>
                <a:ext uri="{FF2B5EF4-FFF2-40B4-BE49-F238E27FC236}">
                  <a16:creationId xmlns:a16="http://schemas.microsoft.com/office/drawing/2014/main" id="{25F4A1E8-A38F-83F5-9928-C92AC75CB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4" y="3276"/>
              <a:ext cx="64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088">
              <a:extLst>
                <a:ext uri="{FF2B5EF4-FFF2-40B4-BE49-F238E27FC236}">
                  <a16:creationId xmlns:a16="http://schemas.microsoft.com/office/drawing/2014/main" id="{E7F76740-5F6E-BAB4-A02A-43FC3CEEF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264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b</a:t>
              </a:r>
              <a:endPara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28" name="Rectangle 2055">
            <a:extLst>
              <a:ext uri="{FF2B5EF4-FFF2-40B4-BE49-F238E27FC236}">
                <a16:creationId xmlns:a16="http://schemas.microsoft.com/office/drawing/2014/main" id="{587D1A0A-BB6A-62B7-43F4-03E437CBE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5457" y="2997283"/>
            <a:ext cx="1300162" cy="368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5: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A→aAb</a:t>
            </a: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•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22F4438-065F-FB88-A0FA-0557DD94FD9D}"/>
              </a:ext>
            </a:extLst>
          </p:cNvPr>
          <p:cNvSpPr txBox="1"/>
          <p:nvPr/>
        </p:nvSpPr>
        <p:spPr>
          <a:xfrm>
            <a:off x="1268895" y="508170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FOLLOW(A)={</a:t>
            </a:r>
            <a:r>
              <a:rPr lang="en-US" altLang="zh-CN" sz="18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d,b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,#}</a:t>
            </a:r>
            <a:endParaRPr lang="zh-CN" altLang="zh-CN" sz="18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对于状态0：FOLLOW(A)∩{a}=Ф</a:t>
            </a:r>
            <a:endParaRPr lang="zh-CN" altLang="zh-CN" sz="18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对于状态2：FOLLOW(A)∩{a}=Ф</a:t>
            </a:r>
            <a:endParaRPr lang="zh-CN" altLang="zh-CN" sz="18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18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因为，在DFA中无冲突的现象，所以该文法是SLR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(1)</a:t>
            </a:r>
            <a:r>
              <a:rPr lang="en-US" altLang="zh-CN" sz="18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文法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。</a:t>
            </a:r>
            <a:endParaRPr lang="zh-CN" altLang="zh-CN" sz="18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658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 animBg="1" autoUpdateAnimBg="0"/>
      <p:bldP spid="8" grpId="0" build="p" animBg="1" autoUpdateAnimBg="0"/>
      <p:bldP spid="12" grpId="0" build="p" animBg="1" autoUpdateAnimBg="0"/>
      <p:bldP spid="16" grpId="0" build="p" animBg="1" autoUpdateAnimBg="0"/>
      <p:bldP spid="24" grpId="0" build="p" animBg="1" autoUpdateAnimBg="0"/>
      <p:bldP spid="28" grpId="0" build="p" animBg="1" autoUpdateAnimBg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11">
            <a:extLst>
              <a:ext uri="{FF2B5EF4-FFF2-40B4-BE49-F238E27FC236}">
                <a16:creationId xmlns:a16="http://schemas.microsoft.com/office/drawing/2014/main" id="{2942D5D6-8412-B7E5-4C8E-1A0E9B56E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60" y="365333"/>
            <a:ext cx="347855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二、已知文法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A →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aAd|aAb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|</a:t>
            </a:r>
            <a:r>
              <a:rPr lang="el-GR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 ε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判断该文法是否是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SLR(1)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文法，若是，请构造相应分析表，并对输入串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ab#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给出分析过程</a:t>
            </a:r>
          </a:p>
        </p:txBody>
      </p:sp>
      <p:sp>
        <p:nvSpPr>
          <p:cNvPr id="4" name="Rectangle 2052">
            <a:extLst>
              <a:ext uri="{FF2B5EF4-FFF2-40B4-BE49-F238E27FC236}">
                <a16:creationId xmlns:a16="http://schemas.microsoft.com/office/drawing/2014/main" id="{9F637966-7588-4E84-0966-F82CB650F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2227" y="1642238"/>
            <a:ext cx="1354138" cy="117191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0: S→•A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A→•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aAd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A→•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aAb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 →•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</a:p>
        </p:txBody>
      </p:sp>
      <p:grpSp>
        <p:nvGrpSpPr>
          <p:cNvPr id="5" name="Group 2144">
            <a:extLst>
              <a:ext uri="{FF2B5EF4-FFF2-40B4-BE49-F238E27FC236}">
                <a16:creationId xmlns:a16="http://schemas.microsoft.com/office/drawing/2014/main" id="{C1477E92-E543-B2D4-64F9-2A2FBA4A1C2A}"/>
              </a:ext>
            </a:extLst>
          </p:cNvPr>
          <p:cNvGrpSpPr>
            <a:grpSpLocks/>
          </p:cNvGrpSpPr>
          <p:nvPr/>
        </p:nvGrpSpPr>
        <p:grpSpPr bwMode="auto">
          <a:xfrm>
            <a:off x="5866365" y="1942447"/>
            <a:ext cx="774700" cy="285750"/>
            <a:chOff x="1617" y="1824"/>
            <a:chExt cx="651" cy="240"/>
          </a:xfrm>
        </p:grpSpPr>
        <p:sp>
          <p:nvSpPr>
            <p:cNvPr id="6" name="Line 2072">
              <a:extLst>
                <a:ext uri="{FF2B5EF4-FFF2-40B4-BE49-F238E27FC236}">
                  <a16:creationId xmlns:a16="http://schemas.microsoft.com/office/drawing/2014/main" id="{CA69F9DD-0C75-D3B7-31B8-B8073EDCA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7" y="2040"/>
              <a:ext cx="65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Rectangle 2082">
              <a:extLst>
                <a:ext uri="{FF2B5EF4-FFF2-40B4-BE49-F238E27FC236}">
                  <a16:creationId xmlns:a16="http://schemas.microsoft.com/office/drawing/2014/main" id="{E3D1FE92-BB36-3C44-C91E-C656F962B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" y="1824"/>
              <a:ext cx="33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endPara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8" name="Rectangle 2055">
            <a:extLst>
              <a:ext uri="{FF2B5EF4-FFF2-40B4-BE49-F238E27FC236}">
                <a16:creationId xmlns:a16="http://schemas.microsoft.com/office/drawing/2014/main" id="{AEB7EEB4-4CD0-6928-37E4-3628420B3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1065" y="2015472"/>
            <a:ext cx="1300162" cy="368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1: S→A•</a:t>
            </a:r>
          </a:p>
        </p:txBody>
      </p:sp>
      <p:grpSp>
        <p:nvGrpSpPr>
          <p:cNvPr id="9" name="Group 2145">
            <a:extLst>
              <a:ext uri="{FF2B5EF4-FFF2-40B4-BE49-F238E27FC236}">
                <a16:creationId xmlns:a16="http://schemas.microsoft.com/office/drawing/2014/main" id="{5EE8FE73-D19B-ABE9-0455-CE4AB7B848B0}"/>
              </a:ext>
            </a:extLst>
          </p:cNvPr>
          <p:cNvGrpSpPr>
            <a:grpSpLocks/>
          </p:cNvGrpSpPr>
          <p:nvPr/>
        </p:nvGrpSpPr>
        <p:grpSpPr bwMode="auto">
          <a:xfrm>
            <a:off x="5189296" y="547663"/>
            <a:ext cx="1447559" cy="1082601"/>
            <a:chOff x="970" y="1250"/>
            <a:chExt cx="1276" cy="334"/>
          </a:xfrm>
        </p:grpSpPr>
        <p:sp>
          <p:nvSpPr>
            <p:cNvPr id="10" name="Freeform 2064">
              <a:extLst>
                <a:ext uri="{FF2B5EF4-FFF2-40B4-BE49-F238E27FC236}">
                  <a16:creationId xmlns:a16="http://schemas.microsoft.com/office/drawing/2014/main" id="{A87C5F6E-77EE-19AD-8AD7-B36D5D418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1426"/>
              <a:ext cx="1276" cy="15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19971"/>
                  </a:moveTo>
                  <a:lnTo>
                    <a:pt x="0" y="0"/>
                  </a:lnTo>
                  <a:lnTo>
                    <a:pt x="19990" y="0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2083">
              <a:extLst>
                <a:ext uri="{FF2B5EF4-FFF2-40B4-BE49-F238E27FC236}">
                  <a16:creationId xmlns:a16="http://schemas.microsoft.com/office/drawing/2014/main" id="{F7EB02B6-D0D2-838E-9063-1204A0296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1250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endPara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2" name="Rectangle 2054">
            <a:extLst>
              <a:ext uri="{FF2B5EF4-FFF2-40B4-BE49-F238E27FC236}">
                <a16:creationId xmlns:a16="http://schemas.microsoft.com/office/drawing/2014/main" id="{85B0B084-1960-2756-BB30-9B46CE994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1065" y="412981"/>
            <a:ext cx="1300162" cy="142164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2: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A→a•Ad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A→a•Ab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A→•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aAd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A→•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aAb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A→•</a:t>
            </a:r>
          </a:p>
        </p:txBody>
      </p:sp>
      <p:grpSp>
        <p:nvGrpSpPr>
          <p:cNvPr id="13" name="Group 2144">
            <a:extLst>
              <a:ext uri="{FF2B5EF4-FFF2-40B4-BE49-F238E27FC236}">
                <a16:creationId xmlns:a16="http://schemas.microsoft.com/office/drawing/2014/main" id="{E4ECB200-5146-0501-4E9B-3A8872D2E5E2}"/>
              </a:ext>
            </a:extLst>
          </p:cNvPr>
          <p:cNvGrpSpPr>
            <a:grpSpLocks/>
          </p:cNvGrpSpPr>
          <p:nvPr/>
        </p:nvGrpSpPr>
        <p:grpSpPr bwMode="auto">
          <a:xfrm>
            <a:off x="7941227" y="860960"/>
            <a:ext cx="774700" cy="285750"/>
            <a:chOff x="1617" y="1824"/>
            <a:chExt cx="651" cy="240"/>
          </a:xfrm>
        </p:grpSpPr>
        <p:sp>
          <p:nvSpPr>
            <p:cNvPr id="14" name="Line 2072">
              <a:extLst>
                <a:ext uri="{FF2B5EF4-FFF2-40B4-BE49-F238E27FC236}">
                  <a16:creationId xmlns:a16="http://schemas.microsoft.com/office/drawing/2014/main" id="{E0860422-3CDF-5102-7863-B2ADE8D41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7" y="2040"/>
              <a:ext cx="65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2082">
              <a:extLst>
                <a:ext uri="{FF2B5EF4-FFF2-40B4-BE49-F238E27FC236}">
                  <a16:creationId xmlns:a16="http://schemas.microsoft.com/office/drawing/2014/main" id="{850E68AA-C2D4-83C0-526F-E1F2D6BCF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" y="1824"/>
              <a:ext cx="33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endPara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6" name="Rectangle 2055">
            <a:extLst>
              <a:ext uri="{FF2B5EF4-FFF2-40B4-BE49-F238E27FC236}">
                <a16:creationId xmlns:a16="http://schemas.microsoft.com/office/drawing/2014/main" id="{D5C5D648-CD8E-2A55-ED2A-E8E922AB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927" y="933984"/>
            <a:ext cx="1300162" cy="63446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3: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A→aA•d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A→aA•b</a:t>
            </a:r>
            <a:endParaRPr kumimoji="1"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17" name="Group 2154">
            <a:extLst>
              <a:ext uri="{FF2B5EF4-FFF2-40B4-BE49-F238E27FC236}">
                <a16:creationId xmlns:a16="http://schemas.microsoft.com/office/drawing/2014/main" id="{ED613CDA-DA97-A90C-A394-71F8440801B5}"/>
              </a:ext>
            </a:extLst>
          </p:cNvPr>
          <p:cNvGrpSpPr>
            <a:grpSpLocks/>
          </p:cNvGrpSpPr>
          <p:nvPr/>
        </p:nvGrpSpPr>
        <p:grpSpPr bwMode="auto">
          <a:xfrm>
            <a:off x="6968022" y="0"/>
            <a:ext cx="914400" cy="400050"/>
            <a:chOff x="2448" y="0"/>
            <a:chExt cx="768" cy="336"/>
          </a:xfrm>
        </p:grpSpPr>
        <p:sp>
          <p:nvSpPr>
            <p:cNvPr id="18" name="Freeform 2078">
              <a:extLst>
                <a:ext uri="{FF2B5EF4-FFF2-40B4-BE49-F238E27FC236}">
                  <a16:creationId xmlns:a16="http://schemas.microsoft.com/office/drawing/2014/main" id="{48A30324-B3B3-517F-C58D-47A69C0D5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144"/>
              <a:ext cx="672" cy="192"/>
            </a:xfrm>
            <a:custGeom>
              <a:avLst/>
              <a:gdLst>
                <a:gd name="T0" fmla="*/ 672 w 672"/>
                <a:gd name="T1" fmla="*/ 192 h 192"/>
                <a:gd name="T2" fmla="*/ 336 w 672"/>
                <a:gd name="T3" fmla="*/ 0 h 192"/>
                <a:gd name="T4" fmla="*/ 0 w 672"/>
                <a:gd name="T5" fmla="*/ 192 h 192"/>
                <a:gd name="T6" fmla="*/ 0 60000 65536"/>
                <a:gd name="T7" fmla="*/ 0 60000 65536"/>
                <a:gd name="T8" fmla="*/ 0 60000 65536"/>
                <a:gd name="T9" fmla="*/ 0 w 672"/>
                <a:gd name="T10" fmla="*/ 0 h 192"/>
                <a:gd name="T11" fmla="*/ 672 w 67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192">
                  <a:moveTo>
                    <a:pt x="672" y="192"/>
                  </a:moveTo>
                  <a:cubicBezTo>
                    <a:pt x="560" y="96"/>
                    <a:pt x="448" y="0"/>
                    <a:pt x="336" y="0"/>
                  </a:cubicBezTo>
                  <a:cubicBezTo>
                    <a:pt x="224" y="0"/>
                    <a:pt x="112" y="96"/>
                    <a:pt x="0" y="19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2086">
              <a:extLst>
                <a:ext uri="{FF2B5EF4-FFF2-40B4-BE49-F238E27FC236}">
                  <a16:creationId xmlns:a16="http://schemas.microsoft.com/office/drawing/2014/main" id="{3CA05FDD-4BE0-79BD-A276-47A870AAA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0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endPara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20" name="Group 2158">
            <a:extLst>
              <a:ext uri="{FF2B5EF4-FFF2-40B4-BE49-F238E27FC236}">
                <a16:creationId xmlns:a16="http://schemas.microsoft.com/office/drawing/2014/main" id="{BE593DE3-5A3D-A3CE-5C7C-85C03FB57520}"/>
              </a:ext>
            </a:extLst>
          </p:cNvPr>
          <p:cNvGrpSpPr>
            <a:grpSpLocks/>
          </p:cNvGrpSpPr>
          <p:nvPr/>
        </p:nvGrpSpPr>
        <p:grpSpPr bwMode="auto">
          <a:xfrm>
            <a:off x="10020852" y="1050218"/>
            <a:ext cx="769937" cy="285750"/>
            <a:chOff x="3364" y="3264"/>
            <a:chExt cx="647" cy="240"/>
          </a:xfrm>
        </p:grpSpPr>
        <p:sp>
          <p:nvSpPr>
            <p:cNvPr id="21" name="Line 2073">
              <a:extLst>
                <a:ext uri="{FF2B5EF4-FFF2-40B4-BE49-F238E27FC236}">
                  <a16:creationId xmlns:a16="http://schemas.microsoft.com/office/drawing/2014/main" id="{B29A14C3-88A6-14C2-2C25-8E3CB27F4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4" y="3276"/>
              <a:ext cx="64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088">
              <a:extLst>
                <a:ext uri="{FF2B5EF4-FFF2-40B4-BE49-F238E27FC236}">
                  <a16:creationId xmlns:a16="http://schemas.microsoft.com/office/drawing/2014/main" id="{25BB07AC-65B9-3F8C-2CF6-AE09AE41D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264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d</a:t>
              </a:r>
              <a:endParaRPr kumimoji="1" lang="en-US" altLang="zh-CN" sz="1800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24" name="Rectangle 2055">
            <a:extLst>
              <a:ext uri="{FF2B5EF4-FFF2-40B4-BE49-F238E27FC236}">
                <a16:creationId xmlns:a16="http://schemas.microsoft.com/office/drawing/2014/main" id="{49FA5366-67F4-FED8-F0A9-6083EFB9C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0789" y="882918"/>
            <a:ext cx="1300162" cy="368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4: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A→aAd</a:t>
            </a: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•</a:t>
            </a:r>
          </a:p>
        </p:txBody>
      </p:sp>
      <p:grpSp>
        <p:nvGrpSpPr>
          <p:cNvPr id="25" name="Group 2158">
            <a:extLst>
              <a:ext uri="{FF2B5EF4-FFF2-40B4-BE49-F238E27FC236}">
                <a16:creationId xmlns:a16="http://schemas.microsoft.com/office/drawing/2014/main" id="{FD81B129-5BFC-D797-D010-D62327CB56BC}"/>
              </a:ext>
            </a:extLst>
          </p:cNvPr>
          <p:cNvGrpSpPr>
            <a:grpSpLocks/>
          </p:cNvGrpSpPr>
          <p:nvPr/>
        </p:nvGrpSpPr>
        <p:grpSpPr bwMode="auto">
          <a:xfrm>
            <a:off x="10016089" y="1432806"/>
            <a:ext cx="769937" cy="285750"/>
            <a:chOff x="3364" y="3264"/>
            <a:chExt cx="647" cy="240"/>
          </a:xfrm>
        </p:grpSpPr>
        <p:sp>
          <p:nvSpPr>
            <p:cNvPr id="26" name="Line 2073">
              <a:extLst>
                <a:ext uri="{FF2B5EF4-FFF2-40B4-BE49-F238E27FC236}">
                  <a16:creationId xmlns:a16="http://schemas.microsoft.com/office/drawing/2014/main" id="{25F4A1E8-A38F-83F5-9928-C92AC75CB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4" y="3276"/>
              <a:ext cx="64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088">
              <a:extLst>
                <a:ext uri="{FF2B5EF4-FFF2-40B4-BE49-F238E27FC236}">
                  <a16:creationId xmlns:a16="http://schemas.microsoft.com/office/drawing/2014/main" id="{E7F76740-5F6E-BAB4-A02A-43FC3CEEF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264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b</a:t>
              </a:r>
              <a:endPara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28" name="Rectangle 2055">
            <a:extLst>
              <a:ext uri="{FF2B5EF4-FFF2-40B4-BE49-F238E27FC236}">
                <a16:creationId xmlns:a16="http://schemas.microsoft.com/office/drawing/2014/main" id="{587D1A0A-BB6A-62B7-43F4-03E437CBE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0789" y="1325580"/>
            <a:ext cx="1300162" cy="368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5: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A→aAb</a:t>
            </a:r>
            <a:r>
              <a:rPr kumimoji="1"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•</a:t>
            </a: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12F78459-1934-7336-5587-5334E48A86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3524433"/>
              </p:ext>
            </p:extLst>
          </p:nvPr>
        </p:nvGraphicFramePr>
        <p:xfrm>
          <a:off x="2701096" y="3495140"/>
          <a:ext cx="4781274" cy="2501900"/>
        </p:xfrm>
        <a:graphic>
          <a:graphicData uri="http://schemas.openxmlformats.org/drawingml/2006/table">
            <a:tbl>
              <a:tblPr/>
              <a:tblGrid>
                <a:gridCol w="959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84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63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2738">
                <a:tc rowSpan="2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状态</a:t>
                      </a:r>
                    </a:p>
                  </a:txBody>
                  <a:tcPr marL="91438" marR="91438" marT="34288" marB="3428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ACTION</a:t>
                      </a:r>
                      <a:endParaRPr lang="zh-CN" altLang="en-US" sz="1600" b="1" i="1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GOTO</a:t>
                      </a:r>
                      <a:endParaRPr lang="zh-CN" altLang="en-US" sz="1600" b="1" i="1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1600" b="1" dirty="0"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endParaRPr lang="zh-CN" altLang="en-US" sz="16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dirty="0">
                          <a:latin typeface="华文楷体" panose="02010600040101010101" pitchFamily="2" charset="-122"/>
                          <a:ea typeface="Times New Roman" panose="02020603050405020304" pitchFamily="18" charset="0"/>
                        </a:rPr>
                        <a:t>#</a:t>
                      </a:r>
                      <a:r>
                        <a:rPr lang="en-US" altLang="zh-CN" sz="1600" b="1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600" b="1" dirty="0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lang="zh-CN" altLang="en-US" sz="1600" b="1" i="1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D55550B8-82AF-4677-222F-7DDFBCF66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467" y="4094302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A560A79-42D1-50AC-D856-3C13663B6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180" y="4094302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9D6245F-5F25-D295-B71B-DB7E3F1F9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463" y="4396636"/>
            <a:ext cx="5052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856766D-62E2-6672-CFE0-7F00F4097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180" y="4713342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514F3BC-06D2-E854-B4FF-6EC199CFD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467" y="4709009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5B59CCE-31B3-5621-A2B8-EDFC59959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999" y="5041260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6FC9FE-E0C5-9178-BF52-6367F80F9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350" y="5031096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s5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786DDAA-8994-7AD5-67B6-F0A15092F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412" y="5349280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11">
            <a:extLst>
              <a:ext uri="{FF2B5EF4-FFF2-40B4-BE49-F238E27FC236}">
                <a16:creationId xmlns:a16="http://schemas.microsoft.com/office/drawing/2014/main" id="{4DD95809-D3B2-47D9-FC0D-99EFD04D0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60" y="2122872"/>
            <a:ext cx="620187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拓广文法：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(0) S → A </a:t>
            </a: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(1) A →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aAd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(2) A →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aAb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(3) A → </a:t>
            </a:r>
            <a:r>
              <a:rPr lang="el-GR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ε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214C6D2-BB2B-6805-0374-D5EEF03AA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586" y="5349280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F85E09A-ECC1-FE2B-79C0-6E1BDD3B4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8451" y="5349280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3A5B328-3B36-4022-947A-1E2D9C49B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525" y="4080834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BF4DE01-DF7E-DB1D-8E76-0E1471903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2580" y="4070551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CB31E5A-22B2-576E-68AA-796EFF585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525" y="4062697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4C729C1-CE4B-CA27-E88E-AD6168052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000" y="4724125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FB731B0-0242-62FE-17C9-57548AA8F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055" y="4713842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B05DEFF-D1DE-3C4B-3FF0-D201CB149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705988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87A1E91-5F30-6872-AB0B-6FCDC9960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350" y="5662196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23D25C9-4822-147F-CB4F-DF2B3A5E2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405" y="5651913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90CE56E-4224-C6DA-08F6-F0A8AF47F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350" y="5644059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86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 autoUpdateAnimBg="0"/>
      <p:bldP spid="8" grpId="0" build="p" animBg="1" autoUpdateAnimBg="0"/>
      <p:bldP spid="12" grpId="0" build="p" animBg="1" autoUpdateAnimBg="0"/>
      <p:bldP spid="16" grpId="0" build="p" animBg="1" autoUpdateAnimBg="0"/>
      <p:bldP spid="24" grpId="0" build="p" animBg="1" autoUpdateAnimBg="0"/>
      <p:bldP spid="28" grpId="0" build="p" animBg="1" autoUpdateAnimBg="0"/>
      <p:bldP spid="30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11">
            <a:extLst>
              <a:ext uri="{FF2B5EF4-FFF2-40B4-BE49-F238E27FC236}">
                <a16:creationId xmlns:a16="http://schemas.microsoft.com/office/drawing/2014/main" id="{2942D5D6-8412-B7E5-4C8E-1A0E9B56E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60" y="365333"/>
            <a:ext cx="347855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二、已知文法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A →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aAd|aAb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|</a:t>
            </a:r>
            <a:r>
              <a:rPr lang="el-GR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 ε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判断该文法是否是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SLR(1)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文法，若是，请构造相应分析表，并对输入串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ab#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给出分析过程</a:t>
            </a: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12F78459-1934-7336-5587-5334E48A86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8873601"/>
              </p:ext>
            </p:extLst>
          </p:nvPr>
        </p:nvGraphicFramePr>
        <p:xfrm>
          <a:off x="6822522" y="109210"/>
          <a:ext cx="4781274" cy="2501900"/>
        </p:xfrm>
        <a:graphic>
          <a:graphicData uri="http://schemas.openxmlformats.org/drawingml/2006/table">
            <a:tbl>
              <a:tblPr/>
              <a:tblGrid>
                <a:gridCol w="959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84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63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2738">
                <a:tc rowSpan="2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状态</a:t>
                      </a:r>
                    </a:p>
                  </a:txBody>
                  <a:tcPr marL="91438" marR="91438" marT="34288" marB="3428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ACTION</a:t>
                      </a:r>
                      <a:endParaRPr lang="zh-CN" altLang="en-US" sz="1600" b="1" i="1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GOTO</a:t>
                      </a:r>
                      <a:endParaRPr lang="zh-CN" altLang="en-US" sz="1600" b="1" i="1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1600" b="1" dirty="0"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endParaRPr lang="zh-CN" altLang="en-US" sz="16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dirty="0">
                          <a:latin typeface="华文楷体" panose="02010600040101010101" pitchFamily="2" charset="-122"/>
                          <a:ea typeface="Times New Roman" panose="02020603050405020304" pitchFamily="18" charset="0"/>
                        </a:rPr>
                        <a:t>#</a:t>
                      </a:r>
                      <a:r>
                        <a:rPr lang="en-US" altLang="zh-CN" sz="1600" b="1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600" b="1" dirty="0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lang="zh-CN" altLang="en-US" sz="1600" b="1" i="1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D55550B8-82AF-4677-222F-7DDFBCF66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893" y="708372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A560A79-42D1-50AC-D856-3C13663B6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7606" y="708372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9D6245F-5F25-D295-B71B-DB7E3F1F9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8889" y="1010706"/>
            <a:ext cx="5052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856766D-62E2-6672-CFE0-7F00F4097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7606" y="1327412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514F3BC-06D2-E854-B4FF-6EC199CFD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893" y="1323079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5B59CCE-31B3-5621-A2B8-EDFC59959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425" y="1655330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6FC9FE-E0C5-9178-BF52-6367F80F9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9776" y="1645166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s5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786DDAA-8994-7AD5-67B6-F0A15092F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9838" y="1963350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11">
            <a:extLst>
              <a:ext uri="{FF2B5EF4-FFF2-40B4-BE49-F238E27FC236}">
                <a16:creationId xmlns:a16="http://schemas.microsoft.com/office/drawing/2014/main" id="{4DD95809-D3B2-47D9-FC0D-99EFD04D0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1733" y="352078"/>
            <a:ext cx="620187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拓广文法：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(0) S → A </a:t>
            </a: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(1) A →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aAd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(2) A →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aAb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(3) A → </a:t>
            </a:r>
            <a:r>
              <a:rPr lang="el-GR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ε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214C6D2-BB2B-6805-0374-D5EEF03AA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6012" y="1963350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F85E09A-ECC1-FE2B-79C0-6E1BDD3B4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9877" y="1963350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3A5B328-3B36-4022-947A-1E2D9C49B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6951" y="694904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BF4DE01-DF7E-DB1D-8E76-0E1471903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06" y="684621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CB31E5A-22B2-576E-68AA-796EFF585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951" y="676767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4C729C1-CE4B-CA27-E88E-AD6168052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0426" y="1338195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FB731B0-0242-62FE-17C9-57548AA8F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7481" y="1327912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B05DEFF-D1DE-3C4B-3FF0-D201CB149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7426" y="1320058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87A1E91-5F30-6872-AB0B-6FCDC9960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9776" y="2276266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23D25C9-4822-147F-CB4F-DF2B3A5E2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6831" y="2265983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90CE56E-4224-C6DA-08F6-F0A8AF47F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6776" y="2258129"/>
            <a:ext cx="402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1AEAD10-3567-5285-B743-064CD3BBE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882" y="3772897"/>
            <a:ext cx="8659517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5663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1462088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19192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3764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28336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2908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/>
            <a:r>
              <a:rPr lang="zh-CN" altLang="en-US" b="1" u="sng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步骤	  状态栈	符号栈	输入串            动作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	  0		#		ab#                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移进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500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2	  02		#a		  b#                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归约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 → </a:t>
            </a:r>
            <a:r>
              <a:rPr lang="el-GR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ε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3	  023		#aA		  b#                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移进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500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	  0235		#aAb		    #                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归约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 → </a:t>
            </a:r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aAb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500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	  01		#A		    #                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接受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431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F13430C-725A-E93A-162D-75BDC85A6EC5}"/>
              </a:ext>
            </a:extLst>
          </p:cNvPr>
          <p:cNvSpPr txBox="1"/>
          <p:nvPr/>
        </p:nvSpPr>
        <p:spPr>
          <a:xfrm>
            <a:off x="596347" y="703445"/>
            <a:ext cx="9634331" cy="80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1616075">
              <a:lnSpc>
                <a:spcPct val="231000"/>
              </a:lnSpc>
              <a:spcBef>
                <a:spcPts val="285"/>
              </a:spcBef>
              <a:spcAft>
                <a:spcPts val="0"/>
              </a:spcAft>
            </a:pPr>
            <a:r>
              <a:rPr lang="zh-CN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三、写出表达式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sz="24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a+b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)*(</a:t>
            </a:r>
            <a:r>
              <a:rPr lang="en-US" altLang="zh-CN" sz="24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c+d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) +(</a:t>
            </a:r>
            <a:r>
              <a:rPr lang="en-US" altLang="zh-CN" sz="24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a+b+c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对应的四元式序列。</a:t>
            </a:r>
          </a:p>
        </p:txBody>
      </p:sp>
    </p:spTree>
    <p:extLst>
      <p:ext uri="{BB962C8B-B14F-4D97-AF65-F5344CB8AC3E}">
        <p14:creationId xmlns:p14="http://schemas.microsoft.com/office/powerpoint/2010/main" val="99283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F13430C-725A-E93A-162D-75BDC85A6EC5}"/>
              </a:ext>
            </a:extLst>
          </p:cNvPr>
          <p:cNvSpPr txBox="1"/>
          <p:nvPr/>
        </p:nvSpPr>
        <p:spPr>
          <a:xfrm>
            <a:off x="225286" y="1326298"/>
            <a:ext cx="9634331" cy="25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1616075">
              <a:lnSpc>
                <a:spcPct val="231000"/>
              </a:lnSpc>
              <a:spcBef>
                <a:spcPts val="285"/>
              </a:spcBef>
              <a:spcAft>
                <a:spcPts val="0"/>
              </a:spcAft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a:=b*(-c)+b*(-c)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的三地址码：</a:t>
            </a:r>
            <a:endParaRPr lang="en-US" altLang="zh-CN" sz="24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63500" marR="1616075">
              <a:lnSpc>
                <a:spcPct val="231000"/>
              </a:lnSpc>
              <a:spcBef>
                <a:spcPts val="285"/>
              </a:spcBef>
              <a:spcAft>
                <a:spcPts val="0"/>
              </a:spcAft>
            </a:pP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63500" marR="1616075">
              <a:lnSpc>
                <a:spcPct val="231000"/>
              </a:lnSpc>
              <a:spcBef>
                <a:spcPts val="285"/>
              </a:spcBef>
              <a:spcAft>
                <a:spcPts val="0"/>
              </a:spcAft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四元式：                                                                    三元式：</a:t>
            </a:r>
            <a:endParaRPr lang="en-US" altLang="zh-CN" sz="24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C74255-6142-0897-6573-05392D0EA34A}"/>
              </a:ext>
            </a:extLst>
          </p:cNvPr>
          <p:cNvSpPr txBox="1"/>
          <p:nvPr/>
        </p:nvSpPr>
        <p:spPr>
          <a:xfrm>
            <a:off x="5262493" y="1083978"/>
            <a:ext cx="2014538" cy="2085975"/>
          </a:xfrm>
          <a:prstGeom prst="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just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</a:rPr>
              <a:t>抽象语法树对应的</a:t>
            </a:r>
            <a:r>
              <a:rPr lang="zh-CN" altLang="en-US" b="1" dirty="0">
                <a:solidFill>
                  <a:schemeClr val="tx1"/>
                </a:solidFill>
              </a:rPr>
              <a:t>三地址码：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T</a:t>
            </a:r>
            <a:r>
              <a:rPr lang="en-US" altLang="zh-CN" b="1" baseline="-30000" dirty="0">
                <a:solidFill>
                  <a:schemeClr val="tx1"/>
                </a:solidFill>
              </a:rPr>
              <a:t>1 </a:t>
            </a:r>
            <a:r>
              <a:rPr lang="en-US" altLang="zh-CN" b="1" dirty="0">
                <a:solidFill>
                  <a:schemeClr val="tx1"/>
                </a:solidFill>
              </a:rPr>
              <a:t>:= -c</a:t>
            </a:r>
          </a:p>
          <a:p>
            <a:pPr algn="just">
              <a:lnSpc>
                <a:spcPct val="9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T</a:t>
            </a:r>
            <a:r>
              <a:rPr lang="en-US" altLang="zh-CN" b="1" baseline="-30000" dirty="0">
                <a:solidFill>
                  <a:schemeClr val="tx1"/>
                </a:solidFill>
              </a:rPr>
              <a:t>2 </a:t>
            </a:r>
            <a:r>
              <a:rPr lang="en-US" altLang="zh-CN" b="1" dirty="0">
                <a:solidFill>
                  <a:schemeClr val="tx1"/>
                </a:solidFill>
              </a:rPr>
              <a:t>:= b * T</a:t>
            </a:r>
            <a:r>
              <a:rPr lang="en-US" altLang="zh-CN" b="1" baseline="-30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	</a:t>
            </a:r>
          </a:p>
          <a:p>
            <a:pPr algn="just">
              <a:lnSpc>
                <a:spcPct val="9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T</a:t>
            </a:r>
            <a:r>
              <a:rPr lang="en-US" altLang="zh-CN" b="1" baseline="-30000" dirty="0">
                <a:solidFill>
                  <a:schemeClr val="tx1"/>
                </a:solidFill>
              </a:rPr>
              <a:t>3 </a:t>
            </a:r>
            <a:r>
              <a:rPr lang="en-US" altLang="zh-CN" b="1" dirty="0">
                <a:solidFill>
                  <a:schemeClr val="tx1"/>
                </a:solidFill>
              </a:rPr>
              <a:t>:= - c</a:t>
            </a:r>
          </a:p>
          <a:p>
            <a:pPr algn="just">
              <a:lnSpc>
                <a:spcPct val="9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T</a:t>
            </a:r>
            <a:r>
              <a:rPr lang="en-US" altLang="zh-CN" b="1" baseline="-30000" dirty="0">
                <a:solidFill>
                  <a:schemeClr val="tx1"/>
                </a:solidFill>
              </a:rPr>
              <a:t>4 </a:t>
            </a:r>
            <a:r>
              <a:rPr lang="en-US" altLang="zh-CN" b="1" dirty="0">
                <a:solidFill>
                  <a:schemeClr val="tx1"/>
                </a:solidFill>
              </a:rPr>
              <a:t>:= b * T</a:t>
            </a:r>
            <a:r>
              <a:rPr lang="en-US" altLang="zh-CN" b="1" baseline="-30000" dirty="0">
                <a:solidFill>
                  <a:schemeClr val="tx1"/>
                </a:solidFill>
              </a:rPr>
              <a:t>3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T</a:t>
            </a:r>
            <a:r>
              <a:rPr lang="en-US" altLang="zh-CN" b="1" baseline="-30000" dirty="0">
                <a:solidFill>
                  <a:schemeClr val="tx1"/>
                </a:solidFill>
              </a:rPr>
              <a:t>5 </a:t>
            </a:r>
            <a:r>
              <a:rPr lang="en-US" altLang="zh-CN" b="1" dirty="0">
                <a:solidFill>
                  <a:schemeClr val="tx1"/>
                </a:solidFill>
              </a:rPr>
              <a:t>:= T</a:t>
            </a:r>
            <a:r>
              <a:rPr lang="en-US" altLang="zh-CN" b="1" baseline="-30000" dirty="0">
                <a:solidFill>
                  <a:schemeClr val="tx1"/>
                </a:solidFill>
              </a:rPr>
              <a:t>2 </a:t>
            </a:r>
            <a:r>
              <a:rPr lang="en-US" altLang="zh-CN" b="1" dirty="0">
                <a:solidFill>
                  <a:schemeClr val="tx1"/>
                </a:solidFill>
              </a:rPr>
              <a:t>+ T</a:t>
            </a:r>
            <a:r>
              <a:rPr lang="en-US" altLang="zh-CN" b="1" baseline="-30000" dirty="0">
                <a:solidFill>
                  <a:schemeClr val="tx1"/>
                </a:solidFill>
              </a:rPr>
              <a:t>4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9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a := T</a:t>
            </a:r>
            <a:r>
              <a:rPr lang="en-US" altLang="zh-CN" b="1" baseline="-30000" dirty="0">
                <a:solidFill>
                  <a:schemeClr val="tx1"/>
                </a:solidFill>
              </a:rPr>
              <a:t>5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内容占位符 4">
            <a:extLst>
              <a:ext uri="{FF2B5EF4-FFF2-40B4-BE49-F238E27FC236}">
                <a16:creationId xmlns:a16="http://schemas.microsoft.com/office/drawing/2014/main" id="{ED404CE9-3500-572C-B91D-FA163AE919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4513941"/>
              </p:ext>
            </p:extLst>
          </p:nvPr>
        </p:nvGraphicFramePr>
        <p:xfrm>
          <a:off x="1619733" y="3425363"/>
          <a:ext cx="4649786" cy="240030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611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4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序号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OP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arg1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arg2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(0)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</a:rPr>
                        <a:t>uminus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="1" baseline="-30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(1)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="1" baseline="-30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="1" baseline="-3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(2)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</a:rPr>
                        <a:t>uminus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="1" baseline="-30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(3)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="1" baseline="-30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="1" baseline="-30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(4)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="1" baseline="-3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="1" baseline="-30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="1" baseline="-30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(5)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:=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="1" baseline="-30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82" marR="68582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内容占位符 4">
            <a:extLst>
              <a:ext uri="{FF2B5EF4-FFF2-40B4-BE49-F238E27FC236}">
                <a16:creationId xmlns:a16="http://schemas.microsoft.com/office/drawing/2014/main" id="{0B67830F-B5F3-C8BC-1709-F4465067B8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3530460"/>
              </p:ext>
            </p:extLst>
          </p:nvPr>
        </p:nvGraphicFramePr>
        <p:xfrm>
          <a:off x="8136558" y="3425363"/>
          <a:ext cx="3640138" cy="240030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611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序号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OP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arg1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arg2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(0)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</a:rPr>
                        <a:t>uminus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(1)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(0)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(2)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</a:rPr>
                        <a:t>uminus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(3)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(2)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(4)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(1)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(3)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(5)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:=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(4)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68579" marR="68579"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星形: 五角 4">
            <a:extLst>
              <a:ext uri="{FF2B5EF4-FFF2-40B4-BE49-F238E27FC236}">
                <a16:creationId xmlns:a16="http://schemas.microsoft.com/office/drawing/2014/main" id="{AB76F874-DAA6-7C70-8826-FD1A5FCF8242}"/>
              </a:ext>
            </a:extLst>
          </p:cNvPr>
          <p:cNvSpPr/>
          <p:nvPr/>
        </p:nvSpPr>
        <p:spPr>
          <a:xfrm>
            <a:off x="892451" y="142174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30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D097256-EAE6-5739-D7E4-3D80A5785113}"/>
              </a:ext>
            </a:extLst>
          </p:cNvPr>
          <p:cNvSpPr txBox="1"/>
          <p:nvPr/>
        </p:nvSpPr>
        <p:spPr>
          <a:xfrm>
            <a:off x="596347" y="703445"/>
            <a:ext cx="9634331" cy="682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1616075">
              <a:lnSpc>
                <a:spcPct val="231000"/>
              </a:lnSpc>
              <a:spcBef>
                <a:spcPts val="285"/>
              </a:spcBef>
              <a:spcAft>
                <a:spcPts val="0"/>
              </a:spcAft>
            </a:pPr>
            <a:r>
              <a:rPr lang="zh-CN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三、写出表达式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a+b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)*(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c+d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) +(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a+b+c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对应的四元式序列。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AF19C0-3EB0-D340-7FC6-D32B3DB3087D}"/>
              </a:ext>
            </a:extLst>
          </p:cNvPr>
          <p:cNvSpPr txBox="1"/>
          <p:nvPr/>
        </p:nvSpPr>
        <p:spPr>
          <a:xfrm>
            <a:off x="1364974" y="2366307"/>
            <a:ext cx="27166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(+ a b t1)</a:t>
            </a:r>
            <a:endParaRPr lang="zh-CN" altLang="zh-CN" sz="28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it-IT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(+ c d t2)</a:t>
            </a:r>
            <a:endParaRPr lang="zh-CN" altLang="zh-CN" sz="28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it-IT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(* t1 t2 t3)</a:t>
            </a:r>
            <a:endParaRPr lang="zh-CN" altLang="zh-CN" sz="28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it-IT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(+ a b t4)</a:t>
            </a:r>
            <a:endParaRPr lang="zh-CN" altLang="zh-CN" sz="28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it-IT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(+ t4 c t5)</a:t>
            </a:r>
            <a:endParaRPr lang="zh-CN" altLang="zh-CN" sz="28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it-IT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(+ t3 t5 t6) </a:t>
            </a:r>
            <a:endParaRPr lang="zh-CN" altLang="zh-CN" sz="28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17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B7661E-4EFB-95C6-9315-FA308A9B4557}"/>
              </a:ext>
            </a:extLst>
          </p:cNvPr>
          <p:cNvSpPr txBox="1"/>
          <p:nvPr/>
        </p:nvSpPr>
        <p:spPr>
          <a:xfrm>
            <a:off x="357809" y="949279"/>
            <a:ext cx="11635408" cy="520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>
              <a:lnSpc>
                <a:spcPts val="1345"/>
              </a:lnSpc>
            </a:pPr>
            <a:r>
              <a:rPr lang="zh-CN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四、如下为简单算术表达式文法，写出</a:t>
            </a:r>
            <a:r>
              <a:rPr lang="en-US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(2)</a:t>
            </a:r>
            <a:r>
              <a:rPr lang="zh-CN" altLang="zh-CN" sz="2000" b="1" spc="-15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产生式对应的语义子程序。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63500">
              <a:spcBef>
                <a:spcPts val="215"/>
              </a:spcBef>
            </a:pP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(1) E → E(1)</a:t>
            </a:r>
            <a:r>
              <a:rPr lang="en-US" altLang="zh-CN" sz="2000" b="1" spc="255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＋ </a:t>
            </a:r>
            <a:r>
              <a:rPr lang="en-US" altLang="zh-CN" sz="2000" b="1" spc="-2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E(2)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64185" marR="3909695" indent="-40132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tabLst>
                <a:tab pos="260985" algn="l"/>
                <a:tab pos="2899410" algn="l"/>
              </a:tabLst>
            </a:pPr>
            <a:r>
              <a:rPr lang="en-US" altLang="zh-CN" sz="2000" b="1" spc="-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{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	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E.place</a:t>
            </a:r>
            <a:r>
              <a:rPr lang="en-US" altLang="zh-CN" sz="2000" b="1" spc="2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＝ 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newtemp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 ); </a:t>
            </a:r>
          </a:p>
          <a:p>
            <a:pPr marL="464185" marR="3909695" indent="-40132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tabLst>
                <a:tab pos="260985" algn="l"/>
                <a:tab pos="2899410" algn="l"/>
              </a:tabLst>
            </a:pP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emit(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E.place‘＝’E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(1).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place‘＋’E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(2).place )	</a:t>
            </a:r>
            <a:r>
              <a:rPr lang="en-US" altLang="zh-CN" sz="2000" b="1" spc="-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42900" lvl="0" indent="-342900">
              <a:spcBef>
                <a:spcPts val="70"/>
              </a:spcBef>
              <a:buFont typeface="+mj-lt"/>
              <a:buAutoNum type="arabicParenBoth" startAt="2"/>
              <a:tabLst>
                <a:tab pos="352425" algn="l"/>
                <a:tab pos="353060" algn="l"/>
              </a:tabLst>
            </a:pP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</a:t>
            </a:r>
            <a:r>
              <a:rPr lang="en-US" altLang="zh-CN" sz="2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→ E(1)</a:t>
            </a:r>
            <a:r>
              <a:rPr lang="en-US" altLang="zh-CN" sz="20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* </a:t>
            </a:r>
            <a:r>
              <a:rPr lang="en-US" altLang="zh-CN" sz="2000" b="1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E(2)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197485">
              <a:spcBef>
                <a:spcPts val="355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{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63500"/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 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197485">
              <a:spcBef>
                <a:spcPts val="645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>
              <a:spcBef>
                <a:spcPts val="285"/>
              </a:spcBef>
              <a:spcAft>
                <a:spcPts val="0"/>
              </a:spcAft>
              <a:tabLst>
                <a:tab pos="352425" algn="l"/>
                <a:tab pos="353060" algn="l"/>
              </a:tabLst>
            </a:pP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(3) E </a:t>
            </a:r>
            <a:r>
              <a:rPr lang="en-US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→（E(1)）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  <a:p>
            <a:pPr marL="63500">
              <a:spcBef>
                <a:spcPts val="215"/>
              </a:spcBef>
              <a:tabLst>
                <a:tab pos="260985" algn="l"/>
              </a:tabLst>
            </a:pPr>
            <a:r>
              <a:rPr lang="en-US" altLang="zh-CN" sz="2000" b="1" spc="-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{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	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E.place</a:t>
            </a:r>
            <a:r>
              <a:rPr lang="en-US" altLang="zh-CN" sz="2000" b="1" spc="2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＝ </a:t>
            </a:r>
            <a:r>
              <a:rPr lang="en-US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E(1).place；}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>
              <a:spcBef>
                <a:spcPts val="285"/>
              </a:spcBef>
              <a:spcAft>
                <a:spcPts val="0"/>
              </a:spcAft>
              <a:tabLst>
                <a:tab pos="352425" algn="l"/>
                <a:tab pos="353060" algn="l"/>
              </a:tabLst>
            </a:pP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(4) E →</a:t>
            </a:r>
            <a:r>
              <a:rPr lang="en-US" altLang="zh-CN" sz="2000" b="1" spc="-5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2000" b="1" spc="-5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i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  <a:p>
            <a:pPr marL="63500">
              <a:spcBef>
                <a:spcPts val="285"/>
              </a:spcBef>
              <a:tabLst>
                <a:tab pos="260350" algn="l"/>
              </a:tabLst>
            </a:pPr>
            <a:r>
              <a:rPr lang="en-US" altLang="zh-CN" sz="2000" b="1" spc="-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{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	p</a:t>
            </a:r>
            <a:r>
              <a:rPr lang="en-US" altLang="zh-CN" sz="2000" b="1" spc="26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＝</a:t>
            </a:r>
            <a:r>
              <a:rPr lang="en-US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Lookup </a:t>
            </a:r>
            <a:r>
              <a:rPr lang="en-US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(i.name);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64185" marR="4730115" indent="-133350">
              <a:lnSpc>
                <a:spcPct val="120000"/>
              </a:lnSpc>
              <a:spcBef>
                <a:spcPts val="215"/>
              </a:spcBef>
              <a:spcAft>
                <a:spcPts val="0"/>
              </a:spcAft>
              <a:tabLst>
                <a:tab pos="545465" algn="l"/>
                <a:tab pos="1374775" algn="l"/>
              </a:tabLst>
            </a:pPr>
            <a:r>
              <a:rPr lang="en-US" altLang="zh-CN" sz="2000" b="1" spc="-3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if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		(p != NULL)	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E.place</a:t>
            </a:r>
            <a:r>
              <a:rPr lang="en-US" altLang="zh-CN" sz="2000" b="1" spc="19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＝</a:t>
            </a:r>
            <a:r>
              <a:rPr lang="en-US" altLang="zh-CN" sz="2000" b="1" spc="-9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p; </a:t>
            </a:r>
          </a:p>
          <a:p>
            <a:pPr marL="464185" marR="4730115" indent="-133350">
              <a:lnSpc>
                <a:spcPct val="120000"/>
              </a:lnSpc>
              <a:spcBef>
                <a:spcPts val="215"/>
              </a:spcBef>
              <a:spcAft>
                <a:spcPts val="0"/>
              </a:spcAft>
              <a:tabLst>
                <a:tab pos="545465" algn="l"/>
                <a:tab pos="1374775" algn="l"/>
              </a:tabLst>
            </a:pP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else error( );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63500">
              <a:spcBef>
                <a:spcPts val="100"/>
              </a:spcBef>
              <a:spcAft>
                <a:spcPts val="0"/>
              </a:spcAft>
            </a:pP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8266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星形: 五角 1">
            <a:extLst>
              <a:ext uri="{FF2B5EF4-FFF2-40B4-BE49-F238E27FC236}">
                <a16:creationId xmlns:a16="http://schemas.microsoft.com/office/drawing/2014/main" id="{5AE160EC-35AB-95D5-4863-DA0AD36F34F6}"/>
              </a:ext>
            </a:extLst>
          </p:cNvPr>
          <p:cNvSpPr/>
          <p:nvPr/>
        </p:nvSpPr>
        <p:spPr>
          <a:xfrm>
            <a:off x="892451" y="142174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624D1A2-51AA-3852-1912-B414EA4C0C1B}"/>
              </a:ext>
            </a:extLst>
          </p:cNvPr>
          <p:cNvSpPr txBox="1">
            <a:spLocks/>
          </p:cNvSpPr>
          <p:nvPr/>
        </p:nvSpPr>
        <p:spPr>
          <a:xfrm>
            <a:off x="1263993" y="1279526"/>
            <a:ext cx="8754649" cy="38358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S→id</a:t>
            </a: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:=E	 { p:=lookup(id.name);</a:t>
            </a:r>
          </a:p>
          <a:p>
            <a:pPr algn="just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		if </a:t>
            </a:r>
            <a:r>
              <a:rPr lang="en-US" altLang="zh-CN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p</a:t>
            </a:r>
            <a:r>
              <a:rPr lang="en-US" altLang="zh-CN" sz="2000" b="1" dirty="0" err="1">
                <a:solidFill>
                  <a:srgbClr val="0070C0"/>
                </a:solidFill>
                <a:latin typeface="Candara" panose="020E0502030303020204" pitchFamily="34" charset="0"/>
                <a:sym typeface="Symbol" panose="05050102010706020507" pitchFamily="18" charset="2"/>
              </a:rPr>
              <a:t></a:t>
            </a:r>
            <a:r>
              <a:rPr lang="en-US" altLang="zh-CN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nil</a:t>
            </a: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then  emit(p ‘:=’ </a:t>
            </a:r>
            <a:r>
              <a:rPr lang="en-US" altLang="zh-CN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E.place</a:t>
            </a: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)</a:t>
            </a:r>
          </a:p>
          <a:p>
            <a:pPr algn="just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			else error  }</a:t>
            </a:r>
          </a:p>
          <a:p>
            <a:pPr algn="just">
              <a:spcBef>
                <a:spcPts val="450"/>
              </a:spcBef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E→E</a:t>
            </a:r>
            <a:r>
              <a:rPr lang="en-US" altLang="zh-CN" sz="2000" b="1" baseline="-30000" dirty="0">
                <a:solidFill>
                  <a:srgbClr val="C00000"/>
                </a:solidFill>
                <a:latin typeface="Candara" panose="020E0502030303020204" pitchFamily="34" charset="0"/>
              </a:rPr>
              <a:t>1</a:t>
            </a: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+E</a:t>
            </a:r>
            <a:r>
              <a:rPr lang="en-US" altLang="zh-CN" sz="2000" b="1" baseline="-30000" dirty="0">
                <a:solidFill>
                  <a:srgbClr val="C00000"/>
                </a:solidFill>
                <a:latin typeface="Candara" panose="020E0502030303020204" pitchFamily="34" charset="0"/>
              </a:rPr>
              <a:t>2	 </a:t>
            </a: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{ </a:t>
            </a:r>
            <a:r>
              <a:rPr lang="en-US" altLang="zh-CN" sz="2000" b="1" dirty="0" err="1">
                <a:solidFill>
                  <a:srgbClr val="C00000"/>
                </a:solidFill>
                <a:latin typeface="Candara" panose="020E0502030303020204" pitchFamily="34" charset="0"/>
              </a:rPr>
              <a:t>E.place</a:t>
            </a: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:=</a:t>
            </a:r>
            <a:r>
              <a:rPr lang="en-US" altLang="zh-CN" sz="2000" b="1" dirty="0" err="1">
                <a:solidFill>
                  <a:srgbClr val="C00000"/>
                </a:solidFill>
                <a:latin typeface="Candara" panose="020E0502030303020204" pitchFamily="34" charset="0"/>
              </a:rPr>
              <a:t>newtemp</a:t>
            </a: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;</a:t>
            </a:r>
          </a:p>
          <a:p>
            <a:pPr algn="just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		emit(</a:t>
            </a:r>
            <a:r>
              <a:rPr lang="en-US" altLang="zh-CN" sz="2000" b="1" dirty="0" err="1">
                <a:solidFill>
                  <a:srgbClr val="C00000"/>
                </a:solidFill>
                <a:latin typeface="Candara" panose="020E0502030303020204" pitchFamily="34" charset="0"/>
              </a:rPr>
              <a:t>E.place</a:t>
            </a: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 ‘:=’ E</a:t>
            </a:r>
            <a:r>
              <a:rPr lang="en-US" altLang="zh-CN" sz="2000" b="1" baseline="-30000" dirty="0">
                <a:solidFill>
                  <a:srgbClr val="C00000"/>
                </a:solidFill>
                <a:latin typeface="Candara" panose="020E0502030303020204" pitchFamily="34" charset="0"/>
              </a:rPr>
              <a:t>1</a:t>
            </a: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.place ‘+’ E</a:t>
            </a:r>
            <a:r>
              <a:rPr lang="en-US" altLang="zh-CN" sz="2000" b="1" baseline="-30000" dirty="0">
                <a:solidFill>
                  <a:srgbClr val="C00000"/>
                </a:solidFill>
                <a:latin typeface="Candara" panose="020E0502030303020204" pitchFamily="34" charset="0"/>
              </a:rPr>
              <a:t>2</a:t>
            </a: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.place)}</a:t>
            </a:r>
          </a:p>
          <a:p>
            <a:pPr algn="just">
              <a:spcBef>
                <a:spcPts val="450"/>
              </a:spcBef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E→E</a:t>
            </a:r>
            <a:r>
              <a:rPr lang="en-US" altLang="zh-CN" sz="2000" b="1" baseline="-30000" dirty="0">
                <a:solidFill>
                  <a:srgbClr val="008000"/>
                </a:solidFill>
                <a:latin typeface="Candara" panose="020E0502030303020204" pitchFamily="34" charset="0"/>
              </a:rPr>
              <a:t>1</a:t>
            </a: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*E</a:t>
            </a:r>
            <a:r>
              <a:rPr lang="en-US" altLang="zh-CN" sz="2000" b="1" baseline="-30000" dirty="0">
                <a:solidFill>
                  <a:srgbClr val="008000"/>
                </a:solidFill>
                <a:latin typeface="Candara" panose="020E0502030303020204" pitchFamily="34" charset="0"/>
              </a:rPr>
              <a:t>2</a:t>
            </a: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	 { </a:t>
            </a:r>
            <a:r>
              <a:rPr lang="en-US" altLang="zh-CN" sz="2000" b="1" dirty="0" err="1">
                <a:solidFill>
                  <a:srgbClr val="008000"/>
                </a:solidFill>
                <a:latin typeface="Candara" panose="020E0502030303020204" pitchFamily="34" charset="0"/>
              </a:rPr>
              <a:t>E.place</a:t>
            </a: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:=</a:t>
            </a:r>
            <a:r>
              <a:rPr lang="en-US" altLang="zh-CN" sz="2000" b="1" dirty="0" err="1">
                <a:solidFill>
                  <a:srgbClr val="008000"/>
                </a:solidFill>
                <a:latin typeface="Candara" panose="020E0502030303020204" pitchFamily="34" charset="0"/>
              </a:rPr>
              <a:t>newtemp</a:t>
            </a: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;</a:t>
            </a:r>
          </a:p>
          <a:p>
            <a:pPr algn="just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		emit(</a:t>
            </a:r>
            <a:r>
              <a:rPr lang="en-US" altLang="zh-CN" sz="2000" b="1" dirty="0" err="1">
                <a:solidFill>
                  <a:srgbClr val="008000"/>
                </a:solidFill>
                <a:latin typeface="Candara" panose="020E0502030303020204" pitchFamily="34" charset="0"/>
              </a:rPr>
              <a:t>E.place</a:t>
            </a: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 ‘:=’ E</a:t>
            </a:r>
            <a:r>
              <a:rPr lang="en-US" altLang="zh-CN" sz="2000" b="1" baseline="-30000" dirty="0">
                <a:solidFill>
                  <a:srgbClr val="008000"/>
                </a:solidFill>
                <a:latin typeface="Candara" panose="020E0502030303020204" pitchFamily="34" charset="0"/>
              </a:rPr>
              <a:t> 1</a:t>
            </a: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.place ‘*’ E</a:t>
            </a:r>
            <a:r>
              <a:rPr lang="en-US" altLang="zh-CN" sz="2000" b="1" baseline="-30000" dirty="0">
                <a:solidFill>
                  <a:srgbClr val="008000"/>
                </a:solidFill>
                <a:latin typeface="Candara" panose="020E0502030303020204" pitchFamily="34" charset="0"/>
              </a:rPr>
              <a:t> 2</a:t>
            </a: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.place)}</a:t>
            </a:r>
          </a:p>
          <a:p>
            <a:pPr algn="just">
              <a:spcBef>
                <a:spcPct val="0"/>
              </a:spcBef>
              <a:buFont typeface="Symbol" panose="05050102010706020507" pitchFamily="18" charset="2"/>
              <a:buNone/>
            </a:pPr>
            <a:endParaRPr lang="en-US" altLang="zh-CN" sz="2000" b="1" dirty="0">
              <a:solidFill>
                <a:srgbClr val="008000"/>
              </a:solidFill>
              <a:latin typeface="Candara" panose="020E0502030303020204" pitchFamily="34" charset="0"/>
            </a:endParaRPr>
          </a:p>
          <a:p>
            <a:pPr algn="just">
              <a:spcBef>
                <a:spcPct val="0"/>
              </a:spcBef>
            </a:pP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E→-E</a:t>
            </a:r>
            <a:r>
              <a:rPr lang="en-US" altLang="zh-CN" sz="2000" b="1" baseline="-30000" dirty="0">
                <a:solidFill>
                  <a:srgbClr val="0070C0"/>
                </a:solidFill>
                <a:latin typeface="Candara" panose="020E0502030303020204" pitchFamily="34" charset="0"/>
              </a:rPr>
              <a:t>1	                           </a:t>
            </a: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{ </a:t>
            </a:r>
            <a:r>
              <a:rPr lang="en-US" altLang="zh-CN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E.place</a:t>
            </a: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:=</a:t>
            </a:r>
            <a:r>
              <a:rPr lang="en-US" altLang="zh-CN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newtemp</a:t>
            </a: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;</a:t>
            </a:r>
          </a:p>
          <a:p>
            <a:pPr algn="just">
              <a:spcBef>
                <a:spcPct val="0"/>
              </a:spcBef>
            </a:pP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		emit(</a:t>
            </a:r>
            <a:r>
              <a:rPr lang="en-US" altLang="zh-CN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E.place</a:t>
            </a: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‘:=’ ‘</a:t>
            </a:r>
            <a:r>
              <a:rPr lang="en-US" altLang="zh-CN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uminus</a:t>
            </a: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’ E</a:t>
            </a:r>
            <a:r>
              <a:rPr lang="en-US" altLang="zh-CN" sz="2000" b="1" baseline="-30000" dirty="0">
                <a:solidFill>
                  <a:srgbClr val="0070C0"/>
                </a:solidFill>
                <a:latin typeface="Candara" panose="020E0502030303020204" pitchFamily="34" charset="0"/>
              </a:rPr>
              <a:t> 1</a:t>
            </a:r>
            <a:r>
              <a:rPr lang="en-US" altLang="zh-CN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.place) }</a:t>
            </a:r>
          </a:p>
          <a:p>
            <a:pPr algn="just">
              <a:spcBef>
                <a:spcPct val="0"/>
              </a:spcBef>
            </a:pPr>
            <a:endParaRPr lang="en-US" altLang="zh-CN" sz="2000" b="1" dirty="0">
              <a:solidFill>
                <a:srgbClr val="0070C0"/>
              </a:solidFill>
              <a:latin typeface="Candara" panose="020E0502030303020204" pitchFamily="34" charset="0"/>
            </a:endParaRPr>
          </a:p>
          <a:p>
            <a:pPr algn="just">
              <a:spcBef>
                <a:spcPts val="45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E→(E</a:t>
            </a:r>
            <a:r>
              <a:rPr lang="en-US" altLang="zh-CN" sz="2000" b="1" baseline="-30000" dirty="0">
                <a:solidFill>
                  <a:srgbClr val="C00000"/>
                </a:solidFill>
                <a:latin typeface="Candara" panose="020E0502030303020204" pitchFamily="34" charset="0"/>
              </a:rPr>
              <a:t>1</a:t>
            </a: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)	                  { </a:t>
            </a:r>
            <a:r>
              <a:rPr lang="en-US" altLang="zh-CN" sz="2000" b="1" dirty="0" err="1">
                <a:solidFill>
                  <a:srgbClr val="C00000"/>
                </a:solidFill>
                <a:latin typeface="Candara" panose="020E0502030303020204" pitchFamily="34" charset="0"/>
              </a:rPr>
              <a:t>E.place</a:t>
            </a: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:=E</a:t>
            </a:r>
            <a:r>
              <a:rPr lang="en-US" altLang="zh-CN" sz="2000" b="1" baseline="-30000" dirty="0">
                <a:solidFill>
                  <a:srgbClr val="C00000"/>
                </a:solidFill>
                <a:latin typeface="Candara" panose="020E0502030303020204" pitchFamily="34" charset="0"/>
              </a:rPr>
              <a:t>1</a:t>
            </a:r>
            <a:r>
              <a:rPr lang="en-US" altLang="zh-CN" sz="2000" b="1" dirty="0">
                <a:solidFill>
                  <a:srgbClr val="C00000"/>
                </a:solidFill>
                <a:latin typeface="Candara" panose="020E0502030303020204" pitchFamily="34" charset="0"/>
              </a:rPr>
              <a:t>.place }</a:t>
            </a:r>
          </a:p>
          <a:p>
            <a:pPr algn="just">
              <a:spcBef>
                <a:spcPts val="450"/>
              </a:spcBef>
            </a:pPr>
            <a:endParaRPr lang="en-US" altLang="zh-CN" sz="2000" b="1" dirty="0">
              <a:solidFill>
                <a:srgbClr val="C00000"/>
              </a:solidFill>
              <a:latin typeface="Candara" panose="020E0502030303020204" pitchFamily="34" charset="0"/>
            </a:endParaRPr>
          </a:p>
          <a:p>
            <a:pPr algn="just">
              <a:spcBef>
                <a:spcPts val="450"/>
              </a:spcBef>
            </a:pPr>
            <a:r>
              <a:rPr lang="en-US" altLang="zh-CN" sz="2000" b="1" dirty="0" err="1">
                <a:solidFill>
                  <a:srgbClr val="008000"/>
                </a:solidFill>
                <a:latin typeface="Candara" panose="020E0502030303020204" pitchFamily="34" charset="0"/>
              </a:rPr>
              <a:t>E→id</a:t>
            </a: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	                  { p:=lookup(id.name);</a:t>
            </a:r>
          </a:p>
          <a:p>
            <a:pPr algn="just">
              <a:spcBef>
                <a:spcPct val="0"/>
              </a:spcBef>
            </a:pP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		  if </a:t>
            </a:r>
            <a:r>
              <a:rPr lang="en-US" altLang="zh-CN" sz="2000" b="1" dirty="0" err="1">
                <a:solidFill>
                  <a:srgbClr val="008000"/>
                </a:solidFill>
                <a:latin typeface="Candara" panose="020E0502030303020204" pitchFamily="34" charset="0"/>
              </a:rPr>
              <a:t>p</a:t>
            </a:r>
            <a:r>
              <a:rPr lang="en-US" altLang="zh-CN" sz="2000" b="1" dirty="0" err="1">
                <a:solidFill>
                  <a:srgbClr val="008000"/>
                </a:solidFill>
                <a:latin typeface="Candara" panose="020E0502030303020204" pitchFamily="34" charset="0"/>
                <a:sym typeface="Symbol" panose="05050102010706020507" pitchFamily="18" charset="2"/>
              </a:rPr>
              <a:t></a:t>
            </a:r>
            <a:r>
              <a:rPr lang="en-US" altLang="zh-CN" sz="2000" b="1" dirty="0" err="1">
                <a:solidFill>
                  <a:srgbClr val="008000"/>
                </a:solidFill>
                <a:latin typeface="Candara" panose="020E0502030303020204" pitchFamily="34" charset="0"/>
              </a:rPr>
              <a:t>nil</a:t>
            </a: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 then  </a:t>
            </a:r>
            <a:r>
              <a:rPr lang="en-US" altLang="zh-CN" sz="2000" b="1" dirty="0" err="1">
                <a:solidFill>
                  <a:srgbClr val="008000"/>
                </a:solidFill>
                <a:latin typeface="Candara" panose="020E0502030303020204" pitchFamily="34" charset="0"/>
              </a:rPr>
              <a:t>E.place</a:t>
            </a: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:=p</a:t>
            </a:r>
          </a:p>
          <a:p>
            <a:pPr algn="just">
              <a:spcBef>
                <a:spcPct val="0"/>
              </a:spcBef>
            </a:pPr>
            <a:r>
              <a:rPr lang="en-US" altLang="zh-CN" sz="2000" b="1" dirty="0">
                <a:solidFill>
                  <a:srgbClr val="008000"/>
                </a:solidFill>
                <a:latin typeface="Candara" panose="020E0502030303020204" pitchFamily="34" charset="0"/>
              </a:rPr>
              <a:t>			else error }</a:t>
            </a:r>
            <a:endParaRPr lang="zh-CN" altLang="en-US" sz="2000" b="1" dirty="0">
              <a:solidFill>
                <a:srgbClr val="008000"/>
              </a:solidFill>
              <a:latin typeface="Candara" panose="020E0502030303020204" pitchFamily="34" charset="0"/>
            </a:endParaRPr>
          </a:p>
          <a:p>
            <a:pPr algn="just">
              <a:spcBef>
                <a:spcPct val="0"/>
              </a:spcBef>
              <a:buFont typeface="Symbol" panose="05050102010706020507" pitchFamily="18" charset="2"/>
              <a:buNone/>
            </a:pPr>
            <a:endParaRPr lang="en-US" altLang="zh-CN" sz="2000" b="1" dirty="0">
              <a:solidFill>
                <a:srgbClr val="008000"/>
              </a:solidFill>
              <a:latin typeface="Candara" panose="020E0502030303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22056D-D8B5-0DC5-ACCD-66BA1DB6AF77}"/>
              </a:ext>
            </a:extLst>
          </p:cNvPr>
          <p:cNvSpPr txBox="1"/>
          <p:nvPr/>
        </p:nvSpPr>
        <p:spPr>
          <a:xfrm>
            <a:off x="2266121" y="265837"/>
            <a:ext cx="3226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a typeface="楷体" panose="02010609060101010101" pitchFamily="49" charset="-122"/>
              </a:rPr>
              <a:t>赋值语句的</a:t>
            </a:r>
            <a:r>
              <a:rPr lang="en-US" altLang="zh-CN" sz="2400" b="1" dirty="0">
                <a:ea typeface="楷体" panose="02010609060101010101" pitchFamily="49" charset="-122"/>
              </a:rPr>
              <a:t>SDT</a:t>
            </a:r>
            <a:endParaRPr lang="zh-CN" altLang="en-US" sz="2400" b="1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624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星形: 五角 1">
            <a:extLst>
              <a:ext uri="{FF2B5EF4-FFF2-40B4-BE49-F238E27FC236}">
                <a16:creationId xmlns:a16="http://schemas.microsoft.com/office/drawing/2014/main" id="{5AE160EC-35AB-95D5-4863-DA0AD36F34F6}"/>
              </a:ext>
            </a:extLst>
          </p:cNvPr>
          <p:cNvSpPr/>
          <p:nvPr/>
        </p:nvSpPr>
        <p:spPr>
          <a:xfrm>
            <a:off x="892451" y="142174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22056D-D8B5-0DC5-ACCD-66BA1DB6AF77}"/>
              </a:ext>
            </a:extLst>
          </p:cNvPr>
          <p:cNvSpPr txBox="1"/>
          <p:nvPr/>
        </p:nvSpPr>
        <p:spPr>
          <a:xfrm>
            <a:off x="2266120" y="265837"/>
            <a:ext cx="3551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ea typeface="楷体" panose="02010609060101010101" pitchFamily="49" charset="-122"/>
              </a:rPr>
              <a:t>布尔表达式的</a:t>
            </a:r>
            <a:r>
              <a:rPr lang="en-US" altLang="zh-CN" sz="2400" b="1" dirty="0">
                <a:ea typeface="楷体" panose="02010609060101010101" pitchFamily="49" charset="-122"/>
              </a:rPr>
              <a:t>SDT</a:t>
            </a:r>
            <a:endParaRPr lang="zh-CN" altLang="en-US" sz="2400" b="1" dirty="0">
              <a:ea typeface="楷体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2A301DA-5539-00A7-9D1F-A66D2AE5C47D}"/>
              </a:ext>
            </a:extLst>
          </p:cNvPr>
          <p:cNvSpPr txBox="1">
            <a:spLocks/>
          </p:cNvSpPr>
          <p:nvPr/>
        </p:nvSpPr>
        <p:spPr>
          <a:xfrm>
            <a:off x="656466" y="1384576"/>
            <a:ext cx="10250073" cy="46650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2654" indent="-272654" algn="l">
              <a:buFont typeface="Wingdings" pitchFamily="2" charset="2"/>
              <a:buChar char="Ø"/>
              <a:defRPr/>
            </a:pP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→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relop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gen(‘if ’ E1.place 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relop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E2. place ‘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  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  <a:endParaRPr lang="en-US" altLang="zh-CN" b="1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</a:t>
            </a:r>
            <a:r>
              <a:rPr lang="zh-CN" altLang="en-US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gen(‘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 }</a:t>
            </a:r>
          </a:p>
          <a:p>
            <a:pPr marL="272654" indent="-272654" algn="l"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true  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gen(‘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 }  </a:t>
            </a:r>
          </a:p>
          <a:p>
            <a:pPr marL="272654" indent="-272654" algn="l"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false  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gen(‘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 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 }      </a:t>
            </a:r>
            <a:endParaRPr lang="zh-CN" altLang="en-US" b="1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3044" indent="-273044" algn="l"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( 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{B1.true =B. true;  B1.false =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 </a:t>
            </a:r>
          </a:p>
          <a:p>
            <a:pPr marL="272654" indent="-272654" algn="l"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not 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B1.true = 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B1.false = </a:t>
            </a:r>
            <a:r>
              <a:rPr lang="en-US" altLang="zh-CN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lang="en-US" altLang="zh-CN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</a:p>
          <a:p>
            <a:pPr marL="272654" indent="-272654" algn="l"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</a:t>
            </a:r>
            <a:r>
              <a:rPr lang="en-US" altLang="zh-CN" sz="25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or B</a:t>
            </a:r>
            <a:r>
              <a:rPr lang="en-US" altLang="zh-CN" sz="25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575072" lvl="1" indent="-272654" algn="l">
              <a:buClrTx/>
              <a:buFont typeface="Wingdings" pitchFamily="2" charset="2"/>
              <a:buChar char="Ø"/>
              <a:defRPr/>
            </a:pP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B1.true = </a:t>
            </a:r>
            <a:r>
              <a:rPr lang="en-US" altLang="zh-CN" sz="2400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 B1.false = </a:t>
            </a:r>
            <a:r>
              <a:rPr lang="en-US" altLang="zh-CN" sz="2400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newlabel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(); }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575072" lvl="1" indent="-272654" algn="l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     or 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label(B1.false);  B2.true = </a:t>
            </a:r>
            <a:r>
              <a:rPr lang="en-US" altLang="zh-CN" sz="2400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 B2.false = </a:t>
            </a:r>
            <a:r>
              <a:rPr lang="en-US" altLang="zh-CN" sz="2400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2654" indent="-272654" algn="l"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</a:t>
            </a:r>
            <a:r>
              <a:rPr lang="en-US" altLang="zh-CN" sz="25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and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</a:p>
          <a:p>
            <a:pPr marL="575072" lvl="1" indent="-272654" algn="l"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B1.true = </a:t>
            </a:r>
            <a:r>
              <a:rPr lang="en-US" altLang="zh-CN" sz="2400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newlabel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(); B1.false = </a:t>
            </a:r>
            <a:r>
              <a:rPr lang="en-US" altLang="zh-CN" sz="2400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575072" lvl="1" indent="-272654" algn="l"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  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and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label(B1.true); B2.true = </a:t>
            </a:r>
            <a:r>
              <a:rPr lang="en-US" altLang="zh-CN" sz="2400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B.true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B2.false = </a:t>
            </a:r>
            <a:r>
              <a:rPr lang="en-US" altLang="zh-CN" sz="2400" b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B.false</a:t>
            </a:r>
            <a:r>
              <a:rPr lang="en-US" altLang="zh-CN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}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en-US" altLang="zh-CN" b="1" baseline="-25000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575072" lvl="1" indent="-272654" algn="l">
              <a:buClr>
                <a:srgbClr val="FF0000"/>
              </a:buClr>
              <a:buFont typeface="Wingdings" pitchFamily="2" charset="2"/>
              <a:buNone/>
              <a:defRPr/>
            </a:pPr>
            <a:endParaRPr lang="zh-CN" alt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2654" indent="-272654" algn="l">
              <a:defRPr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982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91DA258-9846-13F5-4EA6-678591B35128}"/>
              </a:ext>
            </a:extLst>
          </p:cNvPr>
          <p:cNvSpPr txBox="1"/>
          <p:nvPr/>
        </p:nvSpPr>
        <p:spPr>
          <a:xfrm>
            <a:off x="357809" y="949279"/>
            <a:ext cx="11635408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>
              <a:lnSpc>
                <a:spcPts val="1345"/>
              </a:lnSpc>
            </a:pPr>
            <a:r>
              <a:rPr lang="zh-CN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四、如下为简单算术表达式文法，写出</a:t>
            </a:r>
            <a:r>
              <a:rPr lang="en-US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(2)</a:t>
            </a:r>
            <a:r>
              <a:rPr lang="zh-CN" altLang="zh-CN" sz="2000" b="1" spc="-15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产生式对应的语义子程序。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63500">
              <a:spcBef>
                <a:spcPts val="215"/>
              </a:spcBef>
            </a:pP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(1) E → E(1)</a:t>
            </a:r>
            <a:r>
              <a:rPr lang="en-US" altLang="zh-CN" sz="2000" b="1" spc="255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＋ </a:t>
            </a:r>
            <a:r>
              <a:rPr lang="en-US" altLang="zh-CN" sz="2000" b="1" spc="-2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E(2)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64185" marR="3909695" indent="-40132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tabLst>
                <a:tab pos="260985" algn="l"/>
                <a:tab pos="2899410" algn="l"/>
              </a:tabLst>
            </a:pPr>
            <a:r>
              <a:rPr lang="en-US" altLang="zh-CN" sz="2000" b="1" spc="-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{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	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E.place</a:t>
            </a:r>
            <a:r>
              <a:rPr lang="en-US" altLang="zh-CN" sz="2000" b="1" spc="2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＝ 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newtemp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 ); </a:t>
            </a:r>
          </a:p>
          <a:p>
            <a:pPr marL="464185" marR="3909695" indent="-40132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tabLst>
                <a:tab pos="260985" algn="l"/>
                <a:tab pos="2899410" algn="l"/>
              </a:tabLst>
            </a:pP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emit(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E.place‘＝’E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(1).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place‘＋’E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(2).place )	</a:t>
            </a:r>
            <a:r>
              <a:rPr lang="en-US" altLang="zh-CN" sz="2000" b="1" spc="-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42900" lvl="0" indent="-342900">
              <a:spcBef>
                <a:spcPts val="70"/>
              </a:spcBef>
              <a:buFont typeface="+mj-lt"/>
              <a:buAutoNum type="arabicParenBoth" startAt="2"/>
              <a:tabLst>
                <a:tab pos="352425" algn="l"/>
                <a:tab pos="353060" algn="l"/>
              </a:tabLst>
            </a:pP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</a:t>
            </a:r>
            <a:r>
              <a:rPr lang="en-US" altLang="zh-CN" sz="2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→ E(1)</a:t>
            </a:r>
            <a:r>
              <a:rPr lang="en-US" altLang="zh-CN" sz="20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* </a:t>
            </a:r>
            <a:r>
              <a:rPr lang="en-US" altLang="zh-CN" sz="2000" b="1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E(2)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64185" marR="3909695" indent="-40132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tabLst>
                <a:tab pos="260985" algn="l"/>
                <a:tab pos="2899410" algn="l"/>
              </a:tabLst>
            </a:pP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{ </a:t>
            </a:r>
            <a:r>
              <a:rPr lang="en-US" altLang="zh-CN" sz="2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E.place</a:t>
            </a:r>
            <a:r>
              <a:rPr lang="en-US" altLang="zh-CN" sz="2000" b="1" spc="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＝ </a:t>
            </a:r>
            <a:r>
              <a:rPr lang="en-US" altLang="zh-CN" sz="2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newtemp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 ); </a:t>
            </a:r>
          </a:p>
          <a:p>
            <a:pPr marL="464185" marR="3909695" indent="-401320">
              <a:lnSpc>
                <a:spcPct val="115000"/>
              </a:lnSpc>
              <a:spcBef>
                <a:spcPts val="210"/>
              </a:spcBef>
              <a:spcAft>
                <a:spcPts val="0"/>
              </a:spcAft>
              <a:tabLst>
                <a:tab pos="260985" algn="l"/>
                <a:tab pos="2899410" algn="l"/>
              </a:tabLst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emit(</a:t>
            </a:r>
            <a:r>
              <a:rPr lang="en-US" altLang="zh-CN" sz="2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E.place‘＝’E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(1).place‘*’E(2).place )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>
              <a:spcBef>
                <a:spcPts val="285"/>
              </a:spcBef>
              <a:spcAft>
                <a:spcPts val="0"/>
              </a:spcAft>
              <a:tabLst>
                <a:tab pos="352425" algn="l"/>
                <a:tab pos="353060" algn="l"/>
              </a:tabLst>
            </a:pP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(3) E </a:t>
            </a:r>
            <a:r>
              <a:rPr lang="en-US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→（E(1)）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  <a:p>
            <a:pPr marL="63500">
              <a:spcBef>
                <a:spcPts val="215"/>
              </a:spcBef>
              <a:tabLst>
                <a:tab pos="260985" algn="l"/>
              </a:tabLst>
            </a:pPr>
            <a:r>
              <a:rPr lang="en-US" altLang="zh-CN" sz="2000" b="1" spc="-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{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	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E.place</a:t>
            </a:r>
            <a:r>
              <a:rPr lang="en-US" altLang="zh-CN" sz="2000" b="1" spc="2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＝ </a:t>
            </a:r>
            <a:r>
              <a:rPr lang="en-US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E(1).place；}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>
              <a:spcBef>
                <a:spcPts val="285"/>
              </a:spcBef>
              <a:spcAft>
                <a:spcPts val="0"/>
              </a:spcAft>
              <a:tabLst>
                <a:tab pos="352425" algn="l"/>
                <a:tab pos="353060" algn="l"/>
              </a:tabLst>
            </a:pP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(4) E →</a:t>
            </a:r>
            <a:r>
              <a:rPr lang="en-US" altLang="zh-CN" sz="2000" b="1" spc="-5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2000" b="1" spc="-5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i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  <a:p>
            <a:pPr marL="63500">
              <a:spcBef>
                <a:spcPts val="285"/>
              </a:spcBef>
              <a:tabLst>
                <a:tab pos="260350" algn="l"/>
              </a:tabLst>
            </a:pPr>
            <a:r>
              <a:rPr lang="en-US" altLang="zh-CN" sz="2000" b="1" spc="-5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{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	p</a:t>
            </a:r>
            <a:r>
              <a:rPr lang="en-US" altLang="zh-CN" sz="2000" b="1" spc="26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＝</a:t>
            </a:r>
            <a:r>
              <a:rPr lang="en-US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Lookup </a:t>
            </a:r>
            <a:r>
              <a:rPr lang="en-US" altLang="zh-CN" sz="2000" b="1" spc="-1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(i.name);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64185" marR="4730115" indent="-133350">
              <a:lnSpc>
                <a:spcPct val="120000"/>
              </a:lnSpc>
              <a:spcBef>
                <a:spcPts val="215"/>
              </a:spcBef>
              <a:spcAft>
                <a:spcPts val="0"/>
              </a:spcAft>
              <a:tabLst>
                <a:tab pos="545465" algn="l"/>
                <a:tab pos="1374775" algn="l"/>
              </a:tabLst>
            </a:pPr>
            <a:r>
              <a:rPr lang="en-US" altLang="zh-CN" sz="2000" b="1" spc="-3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if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		(p != NULL)	</a:t>
            </a:r>
            <a:r>
              <a:rPr lang="en-US" altLang="zh-CN" sz="2000" b="1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E.place</a:t>
            </a:r>
            <a:r>
              <a:rPr lang="en-US" altLang="zh-CN" sz="2000" b="1" spc="19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＝</a:t>
            </a:r>
            <a:r>
              <a:rPr lang="en-US" altLang="zh-CN" sz="2000" b="1" spc="-9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p; </a:t>
            </a:r>
          </a:p>
          <a:p>
            <a:pPr marL="464185" marR="4730115" indent="-133350">
              <a:lnSpc>
                <a:spcPct val="120000"/>
              </a:lnSpc>
              <a:spcBef>
                <a:spcPts val="215"/>
              </a:spcBef>
              <a:spcAft>
                <a:spcPts val="0"/>
              </a:spcAft>
              <a:tabLst>
                <a:tab pos="545465" algn="l"/>
                <a:tab pos="1374775" algn="l"/>
              </a:tabLst>
            </a:pP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else error( );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63500">
              <a:spcBef>
                <a:spcPts val="100"/>
              </a:spcBef>
              <a:spcAft>
                <a:spcPts val="0"/>
              </a:spcAft>
            </a:pPr>
            <a:r>
              <a:rPr lang="en-US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  <a:endParaRPr lang="zh-CN" altLang="zh-CN" sz="2000" b="1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495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9AB2C93-6408-2823-8A39-D5D8A778EA60}"/>
              </a:ext>
            </a:extLst>
          </p:cNvPr>
          <p:cNvSpPr txBox="1"/>
          <p:nvPr/>
        </p:nvSpPr>
        <p:spPr>
          <a:xfrm>
            <a:off x="655982" y="503108"/>
            <a:ext cx="104493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五、对下面的流图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endParaRPr lang="zh-CN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R="4340225" lvl="0" algn="just">
              <a:buSzPts val="950"/>
              <a:tabLst>
                <a:tab pos="21971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(1) 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求出流图中各结点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N 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的必经结点集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D(n) </a:t>
            </a:r>
          </a:p>
          <a:p>
            <a:pPr marR="4340225" lvl="0" algn="just">
              <a:buSzPts val="950"/>
              <a:tabLst>
                <a:tab pos="21971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(2)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求出流图中的回边</a:t>
            </a:r>
          </a:p>
          <a:p>
            <a:pPr algn="just"/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(3)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求出流图中的循环</a:t>
            </a:r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C8A1DC8A-DE80-F530-1A50-2DB5CF662DC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01067" y="2409577"/>
            <a:ext cx="2004159" cy="320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813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FA11CBF-872C-3404-5F46-D7CE21DC2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40" y="1327185"/>
            <a:ext cx="11145561" cy="4203630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对任意两个结点</a:t>
            </a:r>
            <a:r>
              <a:rPr lang="en-US" altLang="zh-CN" sz="25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d</a:t>
            </a: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和</a:t>
            </a:r>
            <a:r>
              <a:rPr lang="en-US" altLang="zh-CN" sz="25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，如果从流图的首结点出发，到达</a:t>
            </a:r>
            <a:r>
              <a:rPr lang="en-US" altLang="zh-CN" sz="25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</a:t>
            </a:r>
            <a:r>
              <a:rPr lang="zh-CN" altLang="en-US" b="1" dirty="0">
                <a:solidFill>
                  <a:srgbClr val="2D83F4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任一通路</a:t>
            </a: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都经过结点</a:t>
            </a:r>
            <a:r>
              <a:rPr lang="en-US" altLang="zh-CN" sz="25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d</a:t>
            </a: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，则称结点</a:t>
            </a:r>
            <a:r>
              <a:rPr lang="en-US" altLang="zh-CN" sz="25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d</a:t>
            </a: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是结点</a:t>
            </a:r>
            <a:r>
              <a:rPr lang="en-US" altLang="zh-CN" sz="25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支配结点</a:t>
            </a: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，记为</a:t>
            </a:r>
            <a:r>
              <a:rPr lang="en-US" altLang="zh-CN" sz="25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d</a:t>
            </a:r>
            <a:r>
              <a:rPr lang="en-US" altLang="zh-CN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500" b="1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dom</a:t>
            </a:r>
            <a:r>
              <a:rPr lang="en-US" altLang="zh-CN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</a:p>
          <a:p>
            <a:pPr algn="just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假定流图中存在两个结点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dom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。如果存在从结点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的有向边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n→d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，那么这条边称为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回边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给定一个回边</a:t>
            </a:r>
            <a:r>
              <a:rPr lang="en-US" altLang="zh-CN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 → d</a:t>
            </a: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，该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回边的自然循环</a:t>
            </a: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为：</a:t>
            </a:r>
            <a:r>
              <a:rPr lang="en-US" altLang="zh-CN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，以及所有可以</a:t>
            </a:r>
            <a:r>
              <a:rPr lang="zh-CN" altLang="en-US" b="1" dirty="0">
                <a:solidFill>
                  <a:srgbClr val="2D83F4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不经过</a:t>
            </a:r>
            <a:r>
              <a:rPr lang="en-US" altLang="zh-CN" b="1" i="1" dirty="0">
                <a:solidFill>
                  <a:srgbClr val="2D83F4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b="1" dirty="0">
                <a:solidFill>
                  <a:srgbClr val="2D83F4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而到达</a:t>
            </a:r>
            <a:r>
              <a:rPr lang="en-US" altLang="zh-CN" b="1" i="1" dirty="0">
                <a:solidFill>
                  <a:srgbClr val="2D83F4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en-US" b="1" dirty="0">
                <a:solidFill>
                  <a:srgbClr val="2D83F4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的结点</a:t>
            </a: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。</a:t>
            </a:r>
            <a:r>
              <a:rPr lang="en-US" altLang="zh-CN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为该循环的首</a:t>
            </a:r>
            <a:r>
              <a:rPr lang="zh-CN" altLang="en-US" b="1" dirty="0">
                <a:ea typeface="楷体" pitchFamily="49" charset="-122"/>
                <a:cs typeface="Times New Roman" pitchFamily="18" charset="0"/>
              </a:rPr>
              <a:t>结</a:t>
            </a: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点。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endParaRPr lang="zh-CN" altLang="en-US" sz="2500" b="1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  <a:p>
            <a:pPr lvl="1" algn="just">
              <a:defRPr/>
            </a:pPr>
            <a:endParaRPr lang="zh-CN" altLang="en-US" sz="1800" b="1" dirty="0">
              <a:latin typeface="Times New Roman" panose="02020603050405020304" pitchFamily="18" charset="0"/>
              <a:ea typeface="楷体" panose="02010609060101010101" pitchFamily="49" charset="-122"/>
              <a:cs typeface="楷体_GB2312"/>
            </a:endParaRPr>
          </a:p>
        </p:txBody>
      </p:sp>
      <p:sp>
        <p:nvSpPr>
          <p:cNvPr id="4" name="星形: 五角 3">
            <a:extLst>
              <a:ext uri="{FF2B5EF4-FFF2-40B4-BE49-F238E27FC236}">
                <a16:creationId xmlns:a16="http://schemas.microsoft.com/office/drawing/2014/main" id="{9B8667E6-5B77-AFCD-310B-C52A345924EC}"/>
              </a:ext>
            </a:extLst>
          </p:cNvPr>
          <p:cNvSpPr/>
          <p:nvPr/>
        </p:nvSpPr>
        <p:spPr>
          <a:xfrm>
            <a:off x="892451" y="142174"/>
            <a:ext cx="859433" cy="7089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65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9AB2C93-6408-2823-8A39-D5D8A778EA60}"/>
              </a:ext>
            </a:extLst>
          </p:cNvPr>
          <p:cNvSpPr txBox="1"/>
          <p:nvPr/>
        </p:nvSpPr>
        <p:spPr>
          <a:xfrm>
            <a:off x="205408" y="337456"/>
            <a:ext cx="104493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五、对下面的流图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endParaRPr lang="zh-CN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R="4340225" lvl="0" algn="just">
              <a:buSzPts val="950"/>
              <a:tabLst>
                <a:tab pos="219710" algn="l"/>
              </a:tabLst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(1) 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求出流图中各结点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N 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的必经结点集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D(n) </a:t>
            </a:r>
          </a:p>
          <a:p>
            <a:pPr marR="4340225" lvl="0" algn="just">
              <a:buSzPts val="950"/>
              <a:tabLst>
                <a:tab pos="219710" algn="l"/>
              </a:tabLst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(2)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求出流图中的回边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(3)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求出流图中的循环</a:t>
            </a:r>
          </a:p>
        </p:txBody>
      </p:sp>
      <p:pic>
        <p:nvPicPr>
          <p:cNvPr id="6" name="image2.jpeg">
            <a:extLst>
              <a:ext uri="{FF2B5EF4-FFF2-40B4-BE49-F238E27FC236}">
                <a16:creationId xmlns:a16="http://schemas.microsoft.com/office/drawing/2014/main" id="{C8A1DC8A-DE80-F530-1A50-2DB5CF662DC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427693" y="1448794"/>
            <a:ext cx="2101698" cy="336553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7368CCA-E0CD-C615-421B-E61D9325B5F3}"/>
              </a:ext>
            </a:extLst>
          </p:cNvPr>
          <p:cNvSpPr txBox="1"/>
          <p:nvPr/>
        </p:nvSpPr>
        <p:spPr>
          <a:xfrm>
            <a:off x="728870" y="1890456"/>
            <a:ext cx="6096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流图中各结点</a:t>
            </a:r>
            <a:r>
              <a:rPr lang="it-IT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N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的必经结点集</a:t>
            </a:r>
            <a:r>
              <a:rPr lang="it-IT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D(n)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，</a:t>
            </a:r>
          </a:p>
          <a:p>
            <a:r>
              <a:rPr lang="it-IT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D(l)＝{1}，</a:t>
            </a:r>
          </a:p>
          <a:p>
            <a:r>
              <a:rPr lang="it-IT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D(2)＝{1，2}，</a:t>
            </a:r>
          </a:p>
          <a:p>
            <a:r>
              <a:rPr lang="it-IT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D(3)＝{1，2，3}，</a:t>
            </a:r>
          </a:p>
          <a:p>
            <a:r>
              <a:rPr lang="it-IT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D(4)={1，2，3，4}，</a:t>
            </a:r>
          </a:p>
          <a:p>
            <a:r>
              <a:rPr lang="it-IT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D(5)＝{1，2，3，5}，</a:t>
            </a:r>
          </a:p>
          <a:p>
            <a:r>
              <a:rPr lang="it-IT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D(6)＝{1，2，3，6}，</a:t>
            </a:r>
          </a:p>
          <a:p>
            <a:r>
              <a:rPr lang="it-IT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D(7)＝{1，2,   7}，</a:t>
            </a:r>
          </a:p>
          <a:p>
            <a:r>
              <a:rPr lang="it-IT" altLang="zh-CN" sz="20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D(8)＝{1，2，7，8}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368CCA-E0CD-C615-421B-E61D9325B5F3}"/>
              </a:ext>
            </a:extLst>
          </p:cNvPr>
          <p:cNvSpPr txBox="1"/>
          <p:nvPr/>
        </p:nvSpPr>
        <p:spPr>
          <a:xfrm>
            <a:off x="728870" y="49989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流图中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回边：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7→2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441C64-7096-3ECA-BE7C-905E2761A640}"/>
              </a:ext>
            </a:extLst>
          </p:cNvPr>
          <p:cNvSpPr txBox="1"/>
          <p:nvPr/>
        </p:nvSpPr>
        <p:spPr>
          <a:xfrm>
            <a:off x="728870" y="57476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流图中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循环：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7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6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96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9AB2C93-6408-2823-8A39-D5D8A778EA60}"/>
              </a:ext>
            </a:extLst>
          </p:cNvPr>
          <p:cNvSpPr txBox="1"/>
          <p:nvPr/>
        </p:nvSpPr>
        <p:spPr>
          <a:xfrm>
            <a:off x="1027043" y="582621"/>
            <a:ext cx="689775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六、给定一个基本块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B=3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D=A+C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E=A*C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F=E+D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G=B*F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H=A+C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I=A*C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J=H+I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K=B*5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L=K+J</a:t>
            </a:r>
          </a:p>
          <a:p>
            <a:pPr algn="just"/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M=L</a:t>
            </a:r>
          </a:p>
          <a:p>
            <a:pPr algn="just"/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假设只有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L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在基本块后面还要被引用，应用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DAG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进行优化，并写出优化后的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TAC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语句序列</a:t>
            </a:r>
            <a:endParaRPr lang="zh-CN" altLang="zh-CN" sz="20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9176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77">
            <a:extLst>
              <a:ext uri="{FF2B5EF4-FFF2-40B4-BE49-F238E27FC236}">
                <a16:creationId xmlns:a16="http://schemas.microsoft.com/office/drawing/2014/main" id="{2A893957-3D6D-5FCA-5967-93DB5640B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684" y="4508500"/>
            <a:ext cx="7772400" cy="230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sz="16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111620" name="文本框 11">
            <a:extLst>
              <a:ext uri="{FF2B5EF4-FFF2-40B4-BE49-F238E27FC236}">
                <a16:creationId xmlns:a16="http://schemas.microsoft.com/office/drawing/2014/main" id="{B646210D-4B9C-4470-9E6F-B08AFE075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0385" y="165100"/>
            <a:ext cx="2087033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ts val="2667"/>
              </a:lnSpc>
            </a:pPr>
            <a:r>
              <a:rPr lang="en-US" altLang="zh-CN" sz="2400">
                <a:cs typeface="Times New Roman" panose="02020603050405020304" pitchFamily="18" charset="0"/>
              </a:rPr>
              <a:t>① </a:t>
            </a:r>
            <a:r>
              <a:rPr lang="en-US" altLang="zh-CN" sz="24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</a:p>
          <a:p>
            <a:pPr marL="0" lvl="1">
              <a:lnSpc>
                <a:spcPts val="2667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:=op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marL="0" lvl="1">
              <a:lnSpc>
                <a:spcPts val="2667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op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11621" name="Rectangle 3">
            <a:extLst>
              <a:ext uri="{FF2B5EF4-FFF2-40B4-BE49-F238E27FC236}">
                <a16:creationId xmlns:a16="http://schemas.microsoft.com/office/drawing/2014/main" id="{7F4A9699-817A-E595-924F-4C7327CF49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118" y="924985"/>
            <a:ext cx="11569700" cy="578484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zh-CN" altLang="en-US" sz="2400" b="1" dirty="0"/>
              <a:t>对于每个</a:t>
            </a:r>
            <a:r>
              <a:rPr lang="en-US" altLang="zh-CN" sz="2400" b="1" dirty="0"/>
              <a:t>TAC</a:t>
            </a:r>
            <a:r>
              <a:rPr lang="zh-CN" altLang="en-US" sz="2400" b="1" dirty="0"/>
              <a:t>语句：</a:t>
            </a:r>
            <a:endParaRPr lang="en-US" altLang="zh-CN" sz="2400" b="1" dirty="0"/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 dirty="0"/>
              <a:t>1.</a:t>
            </a:r>
            <a:r>
              <a:rPr lang="zh-CN" altLang="en-US" sz="2400" b="1" dirty="0"/>
              <a:t>如果</a:t>
            </a:r>
            <a:r>
              <a:rPr lang="en-US" altLang="zh-CN" sz="2400" b="1" dirty="0"/>
              <a:t>NODE(B)</a:t>
            </a:r>
            <a:r>
              <a:rPr lang="zh-CN" altLang="en-US" sz="2400" b="1" dirty="0"/>
              <a:t>无定义，则构造一个标记为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的叶节点并定义</a:t>
            </a:r>
            <a:r>
              <a:rPr lang="en-US" altLang="zh-CN" sz="2400" b="1" dirty="0"/>
              <a:t>NODE(B)</a:t>
            </a:r>
            <a:r>
              <a:rPr lang="zh-CN" altLang="en-US" sz="2400" b="1" dirty="0"/>
              <a:t>为这个结点</a:t>
            </a:r>
            <a:endParaRPr lang="en-US" altLang="zh-CN" sz="2400" b="1" dirty="0"/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 dirty="0">
                <a:solidFill>
                  <a:srgbClr val="00B050"/>
                </a:solidFill>
              </a:rPr>
              <a:t>   </a:t>
            </a:r>
            <a:r>
              <a:rPr lang="zh-CN" altLang="en-US" sz="2400" b="1" dirty="0">
                <a:solidFill>
                  <a:srgbClr val="00B050"/>
                </a:solidFill>
              </a:rPr>
              <a:t>对于</a:t>
            </a:r>
            <a:r>
              <a:rPr lang="en-US" altLang="zh-CN" sz="2400" b="1" dirty="0">
                <a:solidFill>
                  <a:srgbClr val="00B050"/>
                </a:solidFill>
                <a:cs typeface="Times New Roman" panose="02020603050405020304" pitchFamily="18" charset="0"/>
              </a:rPr>
              <a:t>① </a:t>
            </a:r>
            <a:r>
              <a:rPr lang="zh-CN" altLang="en-US" sz="2400" b="1" dirty="0">
                <a:solidFill>
                  <a:srgbClr val="00B050"/>
                </a:solidFill>
              </a:rPr>
              <a:t>，记</a:t>
            </a:r>
            <a:r>
              <a:rPr lang="en-US" altLang="zh-CN" sz="2400" b="1" dirty="0">
                <a:solidFill>
                  <a:srgbClr val="00B050"/>
                </a:solidFill>
              </a:rPr>
              <a:t>NODE(B)</a:t>
            </a:r>
            <a:r>
              <a:rPr lang="zh-CN" altLang="en-US" sz="2400" b="1" dirty="0">
                <a:solidFill>
                  <a:srgbClr val="00B050"/>
                </a:solidFill>
              </a:rPr>
              <a:t>的值为</a:t>
            </a:r>
            <a:r>
              <a:rPr lang="en-US" altLang="zh-CN" sz="2400" b="1" dirty="0">
                <a:solidFill>
                  <a:srgbClr val="00B050"/>
                </a:solidFill>
              </a:rPr>
              <a:t>n</a:t>
            </a:r>
            <a:r>
              <a:rPr lang="zh-CN" altLang="en-US" sz="2400" b="1" dirty="0">
                <a:solidFill>
                  <a:srgbClr val="00B050"/>
                </a:solidFill>
              </a:rPr>
              <a:t>，转</a:t>
            </a:r>
            <a:r>
              <a:rPr lang="en-US" altLang="zh-CN" sz="2400" b="1" dirty="0">
                <a:solidFill>
                  <a:srgbClr val="00B050"/>
                </a:solidFill>
              </a:rPr>
              <a:t>4</a:t>
            </a:r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   </a:t>
            </a:r>
            <a:r>
              <a:rPr lang="zh-CN" altLang="en-US" sz="2400" b="1" dirty="0">
                <a:solidFill>
                  <a:srgbClr val="0070C0"/>
                </a:solidFill>
              </a:rPr>
              <a:t>对于</a:t>
            </a:r>
            <a:r>
              <a:rPr lang="en-US" altLang="zh-CN" sz="2400" b="1" dirty="0">
                <a:solidFill>
                  <a:srgbClr val="0070C0"/>
                </a:solidFill>
              </a:rPr>
              <a:t>② </a:t>
            </a:r>
            <a:r>
              <a:rPr lang="zh-CN" altLang="en-US" sz="2400" b="1" dirty="0">
                <a:solidFill>
                  <a:srgbClr val="0070C0"/>
                </a:solidFill>
              </a:rPr>
              <a:t>，转</a:t>
            </a:r>
            <a:r>
              <a:rPr lang="en-US" altLang="zh-CN" sz="2400" b="1" dirty="0">
                <a:solidFill>
                  <a:srgbClr val="0070C0"/>
                </a:solidFill>
              </a:rPr>
              <a:t>2(1)</a:t>
            </a:r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 dirty="0">
                <a:solidFill>
                  <a:srgbClr val="C00000"/>
                </a:solidFill>
              </a:rPr>
              <a:t>   </a:t>
            </a:r>
            <a:r>
              <a:rPr lang="zh-CN" altLang="en-US" sz="2400" b="1" dirty="0">
                <a:solidFill>
                  <a:srgbClr val="C00000"/>
                </a:solidFill>
              </a:rPr>
              <a:t>对于</a:t>
            </a:r>
            <a:r>
              <a:rPr lang="en-US" altLang="zh-CN" sz="2400" b="1" dirty="0">
                <a:solidFill>
                  <a:srgbClr val="C00000"/>
                </a:solidFill>
              </a:rPr>
              <a:t>③</a:t>
            </a:r>
            <a:r>
              <a:rPr lang="zh-CN" altLang="en-US" sz="2400" b="1" dirty="0">
                <a:solidFill>
                  <a:srgbClr val="C00000"/>
                </a:solidFill>
              </a:rPr>
              <a:t>，如果</a:t>
            </a:r>
            <a:r>
              <a:rPr lang="en-US" altLang="zh-CN" sz="2400" b="1" dirty="0">
                <a:solidFill>
                  <a:srgbClr val="C00000"/>
                </a:solidFill>
              </a:rPr>
              <a:t>NODE(C)</a:t>
            </a:r>
            <a:r>
              <a:rPr lang="zh-CN" altLang="en-US" sz="2400" b="1" dirty="0">
                <a:solidFill>
                  <a:srgbClr val="C00000"/>
                </a:solidFill>
              </a:rPr>
              <a:t>无定义，则构造一个标记为</a:t>
            </a:r>
            <a:r>
              <a:rPr lang="en-US" altLang="zh-CN" sz="2400" b="1" dirty="0">
                <a:solidFill>
                  <a:srgbClr val="C00000"/>
                </a:solidFill>
              </a:rPr>
              <a:t>C</a:t>
            </a:r>
            <a:r>
              <a:rPr lang="zh-CN" altLang="en-US" sz="2400" b="1" dirty="0">
                <a:solidFill>
                  <a:srgbClr val="C00000"/>
                </a:solidFill>
              </a:rPr>
              <a:t>的叶节点并定义</a:t>
            </a:r>
            <a:r>
              <a:rPr lang="en-US" altLang="zh-CN" sz="2400" b="1" dirty="0">
                <a:solidFill>
                  <a:srgbClr val="C00000"/>
                </a:solidFill>
              </a:rPr>
              <a:t>NODE(C)</a:t>
            </a:r>
            <a:r>
              <a:rPr lang="zh-CN" altLang="en-US" sz="2400" b="1" dirty="0">
                <a:solidFill>
                  <a:srgbClr val="C00000"/>
                </a:solidFill>
              </a:rPr>
              <a:t>为这个结点，转</a:t>
            </a:r>
            <a:r>
              <a:rPr lang="en-US" altLang="zh-CN" sz="2400" b="1" dirty="0">
                <a:solidFill>
                  <a:srgbClr val="C00000"/>
                </a:solidFill>
              </a:rPr>
              <a:t>2(2)</a:t>
            </a:r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 dirty="0"/>
              <a:t>2</a:t>
            </a:r>
            <a:r>
              <a:rPr lang="en-US" altLang="zh-CN" sz="2400" b="1" dirty="0">
                <a:solidFill>
                  <a:srgbClr val="0070C0"/>
                </a:solidFill>
              </a:rPr>
              <a:t>.(1)</a:t>
            </a:r>
            <a:r>
              <a:rPr lang="zh-CN" altLang="en-US" sz="2400" b="1" dirty="0">
                <a:solidFill>
                  <a:srgbClr val="0070C0"/>
                </a:solidFill>
              </a:rPr>
              <a:t>如果</a:t>
            </a:r>
            <a:r>
              <a:rPr lang="en-US" altLang="zh-CN" sz="2400" b="1" dirty="0">
                <a:solidFill>
                  <a:srgbClr val="0070C0"/>
                </a:solidFill>
              </a:rPr>
              <a:t>NODE(B)</a:t>
            </a:r>
            <a:r>
              <a:rPr lang="zh-CN" altLang="en-US" sz="2400" b="1" dirty="0">
                <a:solidFill>
                  <a:srgbClr val="0070C0"/>
                </a:solidFill>
              </a:rPr>
              <a:t>是标记为常数的叶节点，则转</a:t>
            </a:r>
            <a:r>
              <a:rPr lang="en-US" altLang="zh-CN" sz="2400" b="1" dirty="0">
                <a:solidFill>
                  <a:srgbClr val="0070C0"/>
                </a:solidFill>
              </a:rPr>
              <a:t>2(3)</a:t>
            </a:r>
            <a:r>
              <a:rPr lang="zh-CN" altLang="en-US" sz="2400" b="1" dirty="0">
                <a:solidFill>
                  <a:srgbClr val="0070C0"/>
                </a:solidFill>
              </a:rPr>
              <a:t>，否则转</a:t>
            </a:r>
            <a:r>
              <a:rPr lang="en-US" altLang="zh-CN" sz="2400" b="1" dirty="0">
                <a:solidFill>
                  <a:srgbClr val="0070C0"/>
                </a:solidFill>
              </a:rPr>
              <a:t>3(1)</a:t>
            </a:r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 dirty="0">
                <a:solidFill>
                  <a:srgbClr val="C00000"/>
                </a:solidFill>
              </a:rPr>
              <a:t>   (2)</a:t>
            </a:r>
            <a:r>
              <a:rPr lang="zh-CN" altLang="en-US" sz="2400" b="1" dirty="0">
                <a:solidFill>
                  <a:srgbClr val="C00000"/>
                </a:solidFill>
              </a:rPr>
              <a:t>如果</a:t>
            </a:r>
            <a:r>
              <a:rPr lang="en-US" altLang="zh-CN" sz="2400" b="1" dirty="0">
                <a:solidFill>
                  <a:srgbClr val="C00000"/>
                </a:solidFill>
              </a:rPr>
              <a:t>NODE(B)</a:t>
            </a:r>
            <a:r>
              <a:rPr lang="zh-CN" altLang="en-US" sz="2400" b="1" dirty="0">
                <a:solidFill>
                  <a:srgbClr val="C00000"/>
                </a:solidFill>
              </a:rPr>
              <a:t>和</a:t>
            </a:r>
            <a:r>
              <a:rPr lang="en-US" altLang="zh-CN" sz="2400" b="1" dirty="0">
                <a:solidFill>
                  <a:srgbClr val="C00000"/>
                </a:solidFill>
              </a:rPr>
              <a:t>NODE(C)</a:t>
            </a:r>
            <a:r>
              <a:rPr lang="zh-CN" altLang="en-US" sz="2400" b="1" dirty="0">
                <a:solidFill>
                  <a:srgbClr val="C00000"/>
                </a:solidFill>
              </a:rPr>
              <a:t>都是标记为常数的叶节点，则转</a:t>
            </a:r>
            <a:r>
              <a:rPr lang="en-US" altLang="zh-CN" sz="2400" b="1" dirty="0">
                <a:solidFill>
                  <a:srgbClr val="C00000"/>
                </a:solidFill>
              </a:rPr>
              <a:t>2(4)</a:t>
            </a:r>
            <a:r>
              <a:rPr lang="zh-CN" altLang="en-US" sz="2400" b="1" dirty="0">
                <a:solidFill>
                  <a:srgbClr val="C00000"/>
                </a:solidFill>
              </a:rPr>
              <a:t>，否则转</a:t>
            </a:r>
            <a:r>
              <a:rPr lang="en-US" altLang="zh-CN" sz="2400" b="1" dirty="0">
                <a:solidFill>
                  <a:srgbClr val="C00000"/>
                </a:solidFill>
              </a:rPr>
              <a:t>3(2)</a:t>
            </a:r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>
                <a:solidFill>
                  <a:srgbClr val="0070C0"/>
                </a:solidFill>
              </a:rPr>
              <a:t>(3)</a:t>
            </a:r>
            <a:r>
              <a:rPr lang="zh-CN" altLang="en-US" sz="2400" b="1" dirty="0">
                <a:solidFill>
                  <a:srgbClr val="0070C0"/>
                </a:solidFill>
              </a:rPr>
              <a:t>执行</a:t>
            </a:r>
            <a:r>
              <a:rPr lang="en-US" altLang="zh-CN" sz="2400" b="1" dirty="0">
                <a:solidFill>
                  <a:srgbClr val="0070C0"/>
                </a:solidFill>
              </a:rPr>
              <a:t>op B(</a:t>
            </a:r>
            <a:r>
              <a:rPr lang="zh-CN" altLang="en-US" sz="2400" b="1" dirty="0">
                <a:solidFill>
                  <a:srgbClr val="0070C0"/>
                </a:solidFill>
              </a:rPr>
              <a:t>即常量合并</a:t>
            </a:r>
            <a:r>
              <a:rPr lang="en-US" altLang="zh-CN" sz="2400" b="1" dirty="0">
                <a:solidFill>
                  <a:srgbClr val="0070C0"/>
                </a:solidFill>
              </a:rPr>
              <a:t>)</a:t>
            </a:r>
            <a:r>
              <a:rPr lang="zh-CN" altLang="en-US" sz="2400" b="1" dirty="0">
                <a:solidFill>
                  <a:srgbClr val="0070C0"/>
                </a:solidFill>
              </a:rPr>
              <a:t>，令得到的新常数为</a:t>
            </a:r>
            <a:r>
              <a:rPr lang="en-US" altLang="zh-CN" sz="2400" b="1" dirty="0">
                <a:solidFill>
                  <a:srgbClr val="0070C0"/>
                </a:solidFill>
              </a:rPr>
              <a:t>P</a:t>
            </a:r>
            <a:r>
              <a:rPr lang="zh-CN" altLang="en-US" sz="2400" b="1" dirty="0">
                <a:solidFill>
                  <a:srgbClr val="0070C0"/>
                </a:solidFill>
              </a:rPr>
              <a:t>。如果</a:t>
            </a:r>
            <a:r>
              <a:rPr lang="en-US" altLang="zh-CN" sz="2400" b="1" dirty="0">
                <a:solidFill>
                  <a:srgbClr val="0070C0"/>
                </a:solidFill>
              </a:rPr>
              <a:t>NODE(B)</a:t>
            </a:r>
            <a:r>
              <a:rPr lang="zh-CN" altLang="en-US" sz="2400" b="1" dirty="0">
                <a:solidFill>
                  <a:srgbClr val="0070C0"/>
                </a:solidFill>
              </a:rPr>
              <a:t>是处理当前</a:t>
            </a:r>
            <a:r>
              <a:rPr lang="en-US" altLang="zh-CN" sz="2400" b="1" dirty="0">
                <a:solidFill>
                  <a:srgbClr val="0070C0"/>
                </a:solidFill>
              </a:rPr>
              <a:t>TAC</a:t>
            </a:r>
            <a:r>
              <a:rPr lang="zh-CN" altLang="en-US" sz="2400" b="1" dirty="0">
                <a:solidFill>
                  <a:srgbClr val="0070C0"/>
                </a:solidFill>
              </a:rPr>
              <a:t>语句时新构造出来的结点，则删除它。如果</a:t>
            </a:r>
            <a:r>
              <a:rPr lang="en-US" altLang="zh-CN" sz="2400" b="1" dirty="0">
                <a:solidFill>
                  <a:srgbClr val="0070C0"/>
                </a:solidFill>
              </a:rPr>
              <a:t>NODE(P)</a:t>
            </a:r>
            <a:r>
              <a:rPr lang="zh-CN" altLang="en-US" sz="2400" b="1" dirty="0">
                <a:solidFill>
                  <a:srgbClr val="0070C0"/>
                </a:solidFill>
              </a:rPr>
              <a:t>无定义，则构造一个标记为</a:t>
            </a:r>
            <a:r>
              <a:rPr lang="en-US" altLang="zh-CN" sz="2400" b="1" dirty="0">
                <a:solidFill>
                  <a:srgbClr val="0070C0"/>
                </a:solidFill>
              </a:rPr>
              <a:t>P</a:t>
            </a:r>
            <a:r>
              <a:rPr lang="zh-CN" altLang="en-US" sz="2400" b="1" dirty="0">
                <a:solidFill>
                  <a:srgbClr val="0070C0"/>
                </a:solidFill>
              </a:rPr>
              <a:t>的叶节点</a:t>
            </a:r>
            <a:r>
              <a:rPr lang="en-US" altLang="zh-CN" sz="2400" b="1" dirty="0">
                <a:solidFill>
                  <a:srgbClr val="0070C0"/>
                </a:solidFill>
              </a:rPr>
              <a:t>n</a:t>
            </a:r>
            <a:r>
              <a:rPr lang="zh-CN" altLang="en-US" sz="2400" b="1" dirty="0">
                <a:solidFill>
                  <a:srgbClr val="0070C0"/>
                </a:solidFill>
              </a:rPr>
              <a:t>，记</a:t>
            </a:r>
            <a:r>
              <a:rPr lang="en-US" altLang="zh-CN" sz="2400" b="1" dirty="0">
                <a:solidFill>
                  <a:srgbClr val="0070C0"/>
                </a:solidFill>
              </a:rPr>
              <a:t>NODE(P)</a:t>
            </a:r>
            <a:r>
              <a:rPr lang="zh-CN" altLang="en-US" sz="2400" b="1" dirty="0">
                <a:solidFill>
                  <a:srgbClr val="0070C0"/>
                </a:solidFill>
              </a:rPr>
              <a:t>的值为</a:t>
            </a:r>
            <a:r>
              <a:rPr lang="en-US" altLang="zh-CN" sz="2400" b="1" dirty="0">
                <a:solidFill>
                  <a:srgbClr val="0070C0"/>
                </a:solidFill>
              </a:rPr>
              <a:t>n</a:t>
            </a:r>
            <a:r>
              <a:rPr lang="zh-CN" altLang="en-US" sz="2400" b="1" dirty="0">
                <a:solidFill>
                  <a:srgbClr val="0070C0"/>
                </a:solidFill>
              </a:rPr>
              <a:t>，转</a:t>
            </a:r>
            <a:r>
              <a:rPr lang="en-US" altLang="zh-CN" sz="2400" b="1" dirty="0">
                <a:solidFill>
                  <a:srgbClr val="0070C0"/>
                </a:solidFill>
              </a:rPr>
              <a:t>4</a:t>
            </a:r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>
                <a:solidFill>
                  <a:srgbClr val="C00000"/>
                </a:solidFill>
              </a:rPr>
              <a:t>(4)</a:t>
            </a:r>
            <a:r>
              <a:rPr lang="zh-CN" altLang="en-US" sz="2400" b="1" dirty="0">
                <a:solidFill>
                  <a:srgbClr val="C00000"/>
                </a:solidFill>
              </a:rPr>
              <a:t>执行</a:t>
            </a:r>
            <a:r>
              <a:rPr lang="en-US" altLang="zh-CN" sz="2400" b="1" dirty="0">
                <a:solidFill>
                  <a:srgbClr val="C00000"/>
                </a:solidFill>
              </a:rPr>
              <a:t>B op C(</a:t>
            </a:r>
            <a:r>
              <a:rPr lang="zh-CN" altLang="en-US" sz="2400" b="1" dirty="0">
                <a:solidFill>
                  <a:srgbClr val="C00000"/>
                </a:solidFill>
              </a:rPr>
              <a:t>即常量合并</a:t>
            </a:r>
            <a:r>
              <a:rPr lang="en-US" altLang="zh-CN" sz="2400" b="1" dirty="0">
                <a:solidFill>
                  <a:srgbClr val="C00000"/>
                </a:solidFill>
              </a:rPr>
              <a:t>)</a:t>
            </a:r>
            <a:r>
              <a:rPr lang="zh-CN" altLang="en-US" sz="2400" b="1" dirty="0">
                <a:solidFill>
                  <a:srgbClr val="C00000"/>
                </a:solidFill>
              </a:rPr>
              <a:t>，令得到的新常数为</a:t>
            </a:r>
            <a:r>
              <a:rPr lang="en-US" altLang="zh-CN" sz="2400" b="1" dirty="0">
                <a:solidFill>
                  <a:srgbClr val="C00000"/>
                </a:solidFill>
              </a:rPr>
              <a:t>P</a:t>
            </a:r>
            <a:r>
              <a:rPr lang="zh-CN" altLang="en-US" sz="2400" b="1" dirty="0">
                <a:solidFill>
                  <a:srgbClr val="C00000"/>
                </a:solidFill>
              </a:rPr>
              <a:t>。如果</a:t>
            </a:r>
            <a:r>
              <a:rPr lang="en-US" altLang="zh-CN" sz="2400" b="1" dirty="0">
                <a:solidFill>
                  <a:srgbClr val="C00000"/>
                </a:solidFill>
              </a:rPr>
              <a:t>NODE(B)</a:t>
            </a:r>
            <a:r>
              <a:rPr lang="zh-CN" altLang="en-US" sz="2400" b="1" dirty="0">
                <a:solidFill>
                  <a:srgbClr val="C00000"/>
                </a:solidFill>
              </a:rPr>
              <a:t>或</a:t>
            </a:r>
            <a:r>
              <a:rPr lang="en-US" altLang="zh-CN" sz="2400" b="1" dirty="0">
                <a:solidFill>
                  <a:srgbClr val="C00000"/>
                </a:solidFill>
              </a:rPr>
              <a:t>NODE(C)</a:t>
            </a:r>
            <a:r>
              <a:rPr lang="zh-CN" altLang="en-US" sz="2400" b="1" dirty="0">
                <a:solidFill>
                  <a:srgbClr val="C00000"/>
                </a:solidFill>
              </a:rPr>
              <a:t>是处理当前</a:t>
            </a:r>
            <a:r>
              <a:rPr lang="en-US" altLang="zh-CN" sz="2400" b="1" dirty="0">
                <a:solidFill>
                  <a:srgbClr val="C00000"/>
                </a:solidFill>
              </a:rPr>
              <a:t>TAC</a:t>
            </a:r>
            <a:r>
              <a:rPr lang="zh-CN" altLang="en-US" sz="2400" b="1" dirty="0">
                <a:solidFill>
                  <a:srgbClr val="C00000"/>
                </a:solidFill>
              </a:rPr>
              <a:t>语句时新构造出来的结点，则删除它。如果</a:t>
            </a:r>
            <a:r>
              <a:rPr lang="en-US" altLang="zh-CN" sz="2400" b="1" dirty="0">
                <a:solidFill>
                  <a:srgbClr val="C00000"/>
                </a:solidFill>
              </a:rPr>
              <a:t>NODE(P)</a:t>
            </a:r>
            <a:r>
              <a:rPr lang="zh-CN" altLang="en-US" sz="2400" b="1" dirty="0">
                <a:solidFill>
                  <a:srgbClr val="C00000"/>
                </a:solidFill>
              </a:rPr>
              <a:t>无定义，则构造一个标记为</a:t>
            </a:r>
            <a:r>
              <a:rPr lang="en-US" altLang="zh-CN" sz="2400" b="1" dirty="0">
                <a:solidFill>
                  <a:srgbClr val="C00000"/>
                </a:solidFill>
              </a:rPr>
              <a:t>P</a:t>
            </a:r>
            <a:r>
              <a:rPr lang="zh-CN" altLang="en-US" sz="2400" b="1" dirty="0">
                <a:solidFill>
                  <a:srgbClr val="C00000"/>
                </a:solidFill>
              </a:rPr>
              <a:t>的叶节点</a:t>
            </a:r>
            <a:r>
              <a:rPr lang="en-US" altLang="zh-CN" sz="2400" b="1" dirty="0">
                <a:solidFill>
                  <a:srgbClr val="C00000"/>
                </a:solidFill>
              </a:rPr>
              <a:t>n</a:t>
            </a:r>
            <a:r>
              <a:rPr lang="zh-CN" altLang="en-US" sz="2400" b="1" dirty="0">
                <a:solidFill>
                  <a:srgbClr val="C00000"/>
                </a:solidFill>
              </a:rPr>
              <a:t>，记</a:t>
            </a:r>
            <a:r>
              <a:rPr lang="en-US" altLang="zh-CN" sz="2400" b="1" dirty="0">
                <a:solidFill>
                  <a:srgbClr val="C00000"/>
                </a:solidFill>
              </a:rPr>
              <a:t>NODE(P)</a:t>
            </a:r>
            <a:r>
              <a:rPr lang="zh-CN" altLang="en-US" sz="2400" b="1" dirty="0">
                <a:solidFill>
                  <a:srgbClr val="C00000"/>
                </a:solidFill>
              </a:rPr>
              <a:t>的值为</a:t>
            </a:r>
            <a:r>
              <a:rPr lang="en-US" altLang="zh-CN" sz="2400" b="1" dirty="0">
                <a:solidFill>
                  <a:srgbClr val="C00000"/>
                </a:solidFill>
              </a:rPr>
              <a:t>n</a:t>
            </a:r>
            <a:r>
              <a:rPr lang="zh-CN" altLang="en-US" sz="2400" b="1" dirty="0">
                <a:solidFill>
                  <a:srgbClr val="C00000"/>
                </a:solidFill>
              </a:rPr>
              <a:t>，转</a:t>
            </a:r>
            <a:r>
              <a:rPr lang="en-US" altLang="zh-CN" sz="2400" b="1" dirty="0">
                <a:solidFill>
                  <a:srgbClr val="C00000"/>
                </a:solidFill>
              </a:rPr>
              <a:t>4</a:t>
            </a:r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endParaRPr lang="en-US" altLang="zh-CN" sz="2400" b="1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790228D-B446-878F-AC13-D63977ADB255}"/>
              </a:ext>
            </a:extLst>
          </p:cNvPr>
          <p:cNvGrpSpPr>
            <a:grpSpLocks/>
          </p:cNvGrpSpPr>
          <p:nvPr/>
        </p:nvGrpSpPr>
        <p:grpSpPr bwMode="auto">
          <a:xfrm>
            <a:off x="5747856" y="1646029"/>
            <a:ext cx="1200149" cy="889676"/>
            <a:chOff x="1371027" y="2951383"/>
            <a:chExt cx="901172" cy="667902"/>
          </a:xfrm>
        </p:grpSpPr>
        <p:grpSp>
          <p:nvGrpSpPr>
            <p:cNvPr id="111629" name="组合 15">
              <a:extLst>
                <a:ext uri="{FF2B5EF4-FFF2-40B4-BE49-F238E27FC236}">
                  <a16:creationId xmlns:a16="http://schemas.microsoft.com/office/drawing/2014/main" id="{BC6BC72B-C761-33FC-3DAE-335035AACA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027" y="2951383"/>
              <a:ext cx="503996" cy="351178"/>
              <a:chOff x="1371027" y="2577407"/>
              <a:chExt cx="503996" cy="351178"/>
            </a:xfrm>
          </p:grpSpPr>
          <p:sp>
            <p:nvSpPr>
              <p:cNvPr id="19" name="Oval 72">
                <a:extLst>
                  <a:ext uri="{FF2B5EF4-FFF2-40B4-BE49-F238E27FC236}">
                    <a16:creationId xmlns:a16="http://schemas.microsoft.com/office/drawing/2014/main" id="{540AAB33-475E-52CE-E976-4C7A9B0E0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331" y="2656859"/>
                <a:ext cx="270193" cy="27172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1633" name="Text Box 68">
                <a:extLst>
                  <a:ext uri="{FF2B5EF4-FFF2-40B4-BE49-F238E27FC236}">
                    <a16:creationId xmlns:a16="http://schemas.microsoft.com/office/drawing/2014/main" id="{56A8955A-61D5-49AD-2FED-A0CA367A66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027" y="2577407"/>
                <a:ext cx="503996" cy="346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1630" name="Text Box 24">
              <a:extLst>
                <a:ext uri="{FF2B5EF4-FFF2-40B4-BE49-F238E27FC236}">
                  <a16:creationId xmlns:a16="http://schemas.microsoft.com/office/drawing/2014/main" id="{2CC585C4-2B93-064E-B469-ABD3ECE50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5888" y="3272702"/>
              <a:ext cx="571500" cy="346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1631" name="Text Box 24">
              <a:extLst>
                <a:ext uri="{FF2B5EF4-FFF2-40B4-BE49-F238E27FC236}">
                  <a16:creationId xmlns:a16="http://schemas.microsoft.com/office/drawing/2014/main" id="{994780B2-699D-6C0F-6E7F-7105E9307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0699" y="2963090"/>
              <a:ext cx="571500" cy="346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07E4A21-F023-A078-D90D-F64C6979EE49}"/>
              </a:ext>
            </a:extLst>
          </p:cNvPr>
          <p:cNvGrpSpPr>
            <a:grpSpLocks/>
          </p:cNvGrpSpPr>
          <p:nvPr/>
        </p:nvGrpSpPr>
        <p:grpSpPr bwMode="auto">
          <a:xfrm>
            <a:off x="2825475" y="2794044"/>
            <a:ext cx="1200151" cy="889676"/>
            <a:chOff x="1371027" y="2951383"/>
            <a:chExt cx="901172" cy="667902"/>
          </a:xfrm>
        </p:grpSpPr>
        <p:grpSp>
          <p:nvGrpSpPr>
            <p:cNvPr id="111624" name="组合 21">
              <a:extLst>
                <a:ext uri="{FF2B5EF4-FFF2-40B4-BE49-F238E27FC236}">
                  <a16:creationId xmlns:a16="http://schemas.microsoft.com/office/drawing/2014/main" id="{96C36D15-9F7F-0D91-9020-3244FEE15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027" y="2951383"/>
              <a:ext cx="503996" cy="349588"/>
              <a:chOff x="1371027" y="2577407"/>
              <a:chExt cx="503996" cy="349588"/>
            </a:xfrm>
          </p:grpSpPr>
          <p:sp>
            <p:nvSpPr>
              <p:cNvPr id="25" name="Oval 72">
                <a:extLst>
                  <a:ext uri="{FF2B5EF4-FFF2-40B4-BE49-F238E27FC236}">
                    <a16:creationId xmlns:a16="http://schemas.microsoft.com/office/drawing/2014/main" id="{A1C95012-47A5-4AAF-9238-A6136EE3A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332" y="2656859"/>
                <a:ext cx="270192" cy="2701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1628" name="Text Box 68">
                <a:extLst>
                  <a:ext uri="{FF2B5EF4-FFF2-40B4-BE49-F238E27FC236}">
                    <a16:creationId xmlns:a16="http://schemas.microsoft.com/office/drawing/2014/main" id="{8CD0C28C-3D09-CFE9-6764-5776F4CA17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027" y="2577407"/>
                <a:ext cx="503996" cy="2541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1625" name="Text Box 24">
              <a:extLst>
                <a:ext uri="{FF2B5EF4-FFF2-40B4-BE49-F238E27FC236}">
                  <a16:creationId xmlns:a16="http://schemas.microsoft.com/office/drawing/2014/main" id="{5BF195A8-CD97-077F-0F86-3380206E5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5888" y="3272702"/>
              <a:ext cx="571500" cy="346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1626" name="Text Box 24">
              <a:extLst>
                <a:ext uri="{FF2B5EF4-FFF2-40B4-BE49-F238E27FC236}">
                  <a16:creationId xmlns:a16="http://schemas.microsoft.com/office/drawing/2014/main" id="{A435E77D-EEDC-73F5-5249-CFDEBBADB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0699" y="2963090"/>
              <a:ext cx="571500" cy="346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Line 18">
            <a:extLst>
              <a:ext uri="{FF2B5EF4-FFF2-40B4-BE49-F238E27FC236}">
                <a16:creationId xmlns:a16="http://schemas.microsoft.com/office/drawing/2014/main" id="{A95F1A5F-981B-94B3-29B0-83597ADAC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13333" y="5302252"/>
            <a:ext cx="730251" cy="8826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40" tIns="45720" rIns="91440" bIns="45720" anchor="ctr"/>
          <a:lstStyle/>
          <a:p>
            <a:endParaRPr lang="zh-CN" altLang="en-US" sz="2400"/>
          </a:p>
        </p:txBody>
      </p:sp>
      <p:sp>
        <p:nvSpPr>
          <p:cNvPr id="113667" name="Line 18">
            <a:extLst>
              <a:ext uri="{FF2B5EF4-FFF2-40B4-BE49-F238E27FC236}">
                <a16:creationId xmlns:a16="http://schemas.microsoft.com/office/drawing/2014/main" id="{1E8B0D72-9719-3556-0BBC-0B7380C6A2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17667" y="5310718"/>
            <a:ext cx="366184" cy="7810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40" tIns="45720" rIns="91440" bIns="45720" anchor="ctr"/>
          <a:lstStyle/>
          <a:p>
            <a:endParaRPr lang="zh-CN" altLang="en-US" sz="2400"/>
          </a:p>
        </p:txBody>
      </p:sp>
      <p:sp>
        <p:nvSpPr>
          <p:cNvPr id="113668" name="Line 18">
            <a:extLst>
              <a:ext uri="{FF2B5EF4-FFF2-40B4-BE49-F238E27FC236}">
                <a16:creationId xmlns:a16="http://schemas.microsoft.com/office/drawing/2014/main" id="{9165E920-4F55-8B66-3CCE-A56E1C142A6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41900" y="5168900"/>
            <a:ext cx="2117" cy="7789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40" tIns="45720" rIns="91440" bIns="45720" anchor="ctr"/>
          <a:lstStyle/>
          <a:p>
            <a:endParaRPr lang="zh-CN" altLang="en-US" sz="2400"/>
          </a:p>
        </p:txBody>
      </p:sp>
      <p:sp>
        <p:nvSpPr>
          <p:cNvPr id="113670" name="Rectangle 77">
            <a:extLst>
              <a:ext uri="{FF2B5EF4-FFF2-40B4-BE49-F238E27FC236}">
                <a16:creationId xmlns:a16="http://schemas.microsoft.com/office/drawing/2014/main" id="{0741BA92-D778-CEB3-CE8D-7C6793DCE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684" y="4508500"/>
            <a:ext cx="7772400" cy="230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sz="16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113671" name="文本框 11">
            <a:extLst>
              <a:ext uri="{FF2B5EF4-FFF2-40B4-BE49-F238E27FC236}">
                <a16:creationId xmlns:a16="http://schemas.microsoft.com/office/drawing/2014/main" id="{20DBABD7-A671-2E1F-CC9D-5F7A0D304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0385" y="165100"/>
            <a:ext cx="2087033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ts val="2667"/>
              </a:lnSpc>
            </a:pPr>
            <a:r>
              <a:rPr lang="en-US" altLang="zh-CN" sz="2400">
                <a:cs typeface="Times New Roman" panose="02020603050405020304" pitchFamily="18" charset="0"/>
              </a:rPr>
              <a:t>① </a:t>
            </a:r>
            <a:r>
              <a:rPr lang="en-US" altLang="zh-CN" sz="24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</a:p>
          <a:p>
            <a:pPr marL="0" lvl="1">
              <a:lnSpc>
                <a:spcPts val="2667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:=op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marL="0" lvl="1">
              <a:lnSpc>
                <a:spcPts val="2667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:=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op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13672" name="Rectangle 3">
            <a:extLst>
              <a:ext uri="{FF2B5EF4-FFF2-40B4-BE49-F238E27FC236}">
                <a16:creationId xmlns:a16="http://schemas.microsoft.com/office/drawing/2014/main" id="{4E2C8F42-45FD-E5EA-2FFD-885E9151E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118" y="1314452"/>
            <a:ext cx="11569700" cy="43222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/>
              <a:t>3</a:t>
            </a:r>
            <a:r>
              <a:rPr lang="en-US" altLang="zh-CN" sz="2400" b="1">
                <a:solidFill>
                  <a:srgbClr val="0070C0"/>
                </a:solidFill>
              </a:rPr>
              <a:t>.(1)</a:t>
            </a:r>
            <a:r>
              <a:rPr lang="zh-CN" altLang="en-US" sz="2400" b="1">
                <a:solidFill>
                  <a:srgbClr val="0070C0"/>
                </a:solidFill>
              </a:rPr>
              <a:t>检查</a:t>
            </a:r>
            <a:r>
              <a:rPr lang="en-US" altLang="zh-CN" sz="2400" b="1">
                <a:solidFill>
                  <a:srgbClr val="0070C0"/>
                </a:solidFill>
              </a:rPr>
              <a:t>DAG</a:t>
            </a:r>
            <a:r>
              <a:rPr lang="zh-CN" altLang="en-US" sz="2400" b="1">
                <a:solidFill>
                  <a:srgbClr val="0070C0"/>
                </a:solidFill>
              </a:rPr>
              <a:t>中是否已有一结点，其唯一后继为</a:t>
            </a:r>
            <a:r>
              <a:rPr lang="en-US" altLang="zh-CN" sz="2400" b="1">
                <a:solidFill>
                  <a:srgbClr val="0070C0"/>
                </a:solidFill>
              </a:rPr>
              <a:t>NODE(B)</a:t>
            </a:r>
            <a:r>
              <a:rPr lang="zh-CN" altLang="en-US" sz="2400" b="1">
                <a:solidFill>
                  <a:srgbClr val="0070C0"/>
                </a:solidFill>
              </a:rPr>
              <a:t>，且标记为</a:t>
            </a:r>
            <a:r>
              <a:rPr lang="en-US" altLang="zh-CN" sz="2400" b="1">
                <a:solidFill>
                  <a:srgbClr val="0070C0"/>
                </a:solidFill>
              </a:rPr>
              <a:t>op(</a:t>
            </a:r>
            <a:r>
              <a:rPr lang="zh-CN" altLang="en-US" sz="2400" b="1">
                <a:solidFill>
                  <a:srgbClr val="0070C0"/>
                </a:solidFill>
              </a:rPr>
              <a:t>即找公共子表达式</a:t>
            </a:r>
            <a:r>
              <a:rPr lang="en-US" altLang="zh-CN" sz="2400" b="1">
                <a:solidFill>
                  <a:srgbClr val="0070C0"/>
                </a:solidFill>
              </a:rPr>
              <a:t>)</a:t>
            </a:r>
            <a:r>
              <a:rPr lang="zh-CN" altLang="en-US" sz="2400" b="1">
                <a:solidFill>
                  <a:srgbClr val="0070C0"/>
                </a:solidFill>
              </a:rPr>
              <a:t>。如果没有，则构造该节点</a:t>
            </a:r>
            <a:r>
              <a:rPr lang="en-US" altLang="zh-CN" sz="2400" b="1">
                <a:solidFill>
                  <a:srgbClr val="0070C0"/>
                </a:solidFill>
              </a:rPr>
              <a:t>n</a:t>
            </a:r>
            <a:r>
              <a:rPr lang="zh-CN" altLang="en-US" sz="2400" b="1">
                <a:solidFill>
                  <a:srgbClr val="0070C0"/>
                </a:solidFill>
              </a:rPr>
              <a:t>，否则就把已有的结点作为它的结点并设该结点为</a:t>
            </a:r>
            <a:r>
              <a:rPr lang="en-US" altLang="zh-CN" sz="2400" b="1">
                <a:solidFill>
                  <a:srgbClr val="0070C0"/>
                </a:solidFill>
              </a:rPr>
              <a:t>n</a:t>
            </a:r>
            <a:r>
              <a:rPr lang="zh-CN" altLang="en-US" sz="2400" b="1">
                <a:solidFill>
                  <a:srgbClr val="0070C0"/>
                </a:solidFill>
              </a:rPr>
              <a:t>，转</a:t>
            </a:r>
            <a:r>
              <a:rPr lang="en-US" altLang="zh-CN" sz="2400" b="1">
                <a:solidFill>
                  <a:srgbClr val="0070C0"/>
                </a:solidFill>
              </a:rPr>
              <a:t>4</a:t>
            </a:r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   (2)</a:t>
            </a:r>
            <a:r>
              <a:rPr lang="zh-CN" altLang="en-US" sz="2400" b="1">
                <a:solidFill>
                  <a:srgbClr val="C00000"/>
                </a:solidFill>
              </a:rPr>
              <a:t>检查</a:t>
            </a:r>
            <a:r>
              <a:rPr lang="en-US" altLang="zh-CN" sz="2400" b="1">
                <a:solidFill>
                  <a:srgbClr val="C00000"/>
                </a:solidFill>
              </a:rPr>
              <a:t>DAG</a:t>
            </a:r>
            <a:r>
              <a:rPr lang="zh-CN" altLang="en-US" sz="2400" b="1">
                <a:solidFill>
                  <a:srgbClr val="C00000"/>
                </a:solidFill>
              </a:rPr>
              <a:t>中是否已有一结点，其左后继为</a:t>
            </a:r>
            <a:r>
              <a:rPr lang="en-US" altLang="zh-CN" sz="2400" b="1">
                <a:solidFill>
                  <a:srgbClr val="C00000"/>
                </a:solidFill>
              </a:rPr>
              <a:t>NODE(B)</a:t>
            </a:r>
            <a:r>
              <a:rPr lang="zh-CN" altLang="en-US" sz="2400" b="1">
                <a:solidFill>
                  <a:srgbClr val="C00000"/>
                </a:solidFill>
              </a:rPr>
              <a:t>，右后继为</a:t>
            </a:r>
            <a:r>
              <a:rPr lang="en-US" altLang="zh-CN" sz="2400" b="1">
                <a:solidFill>
                  <a:srgbClr val="C00000"/>
                </a:solidFill>
              </a:rPr>
              <a:t>NODE(C)</a:t>
            </a:r>
            <a:r>
              <a:rPr lang="zh-CN" altLang="en-US" sz="2400" b="1">
                <a:solidFill>
                  <a:srgbClr val="C00000"/>
                </a:solidFill>
              </a:rPr>
              <a:t>，且标记为</a:t>
            </a:r>
            <a:r>
              <a:rPr lang="en-US" altLang="zh-CN" sz="2400" b="1">
                <a:solidFill>
                  <a:srgbClr val="C00000"/>
                </a:solidFill>
              </a:rPr>
              <a:t>op (</a:t>
            </a:r>
            <a:r>
              <a:rPr lang="zh-CN" altLang="en-US" sz="2400" b="1">
                <a:solidFill>
                  <a:srgbClr val="C00000"/>
                </a:solidFill>
              </a:rPr>
              <a:t>即找公共子表达式</a:t>
            </a:r>
            <a:r>
              <a:rPr lang="en-US" altLang="zh-CN" sz="2400" b="1">
                <a:solidFill>
                  <a:srgbClr val="C00000"/>
                </a:solidFill>
              </a:rPr>
              <a:t>)</a:t>
            </a:r>
            <a:r>
              <a:rPr lang="zh-CN" altLang="en-US" sz="2400" b="1">
                <a:solidFill>
                  <a:srgbClr val="C00000"/>
                </a:solidFill>
              </a:rPr>
              <a:t>。如果没有，则构造该节点</a:t>
            </a:r>
            <a:r>
              <a:rPr lang="en-US" altLang="zh-CN" sz="2400" b="1">
                <a:solidFill>
                  <a:srgbClr val="C00000"/>
                </a:solidFill>
              </a:rPr>
              <a:t>n</a:t>
            </a:r>
            <a:r>
              <a:rPr lang="zh-CN" altLang="en-US" sz="2400" b="1">
                <a:solidFill>
                  <a:srgbClr val="C00000"/>
                </a:solidFill>
              </a:rPr>
              <a:t>，否则就把已有的结点作为它的结点并设该结点为</a:t>
            </a:r>
            <a:r>
              <a:rPr lang="en-US" altLang="zh-CN" sz="2400" b="1">
                <a:solidFill>
                  <a:srgbClr val="C00000"/>
                </a:solidFill>
              </a:rPr>
              <a:t>n</a:t>
            </a:r>
            <a:r>
              <a:rPr lang="zh-CN" altLang="en-US" sz="2400" b="1">
                <a:solidFill>
                  <a:srgbClr val="C00000"/>
                </a:solidFill>
              </a:rPr>
              <a:t>，转</a:t>
            </a:r>
            <a:r>
              <a:rPr lang="en-US" altLang="zh-CN" sz="2400" b="1">
                <a:solidFill>
                  <a:srgbClr val="C00000"/>
                </a:solidFill>
              </a:rPr>
              <a:t>4</a:t>
            </a:r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/>
              <a:t>4.</a:t>
            </a:r>
            <a:r>
              <a:rPr lang="zh-CN" altLang="en-US" sz="2400" b="1"/>
              <a:t>如果</a:t>
            </a:r>
            <a:r>
              <a:rPr lang="en-US" altLang="zh-CN" sz="2400" b="1"/>
              <a:t>NODE(A)</a:t>
            </a:r>
            <a:r>
              <a:rPr lang="zh-CN" altLang="en-US" sz="2400" b="1"/>
              <a:t>无定义，则把</a:t>
            </a:r>
            <a:r>
              <a:rPr lang="en-US" altLang="zh-CN" sz="2400" b="1"/>
              <a:t>A</a:t>
            </a:r>
            <a:r>
              <a:rPr lang="zh-CN" altLang="en-US" sz="2400" b="1"/>
              <a:t>附加在结点</a:t>
            </a:r>
            <a:r>
              <a:rPr lang="en-US" altLang="zh-CN" sz="2400" b="1"/>
              <a:t>n</a:t>
            </a:r>
            <a:r>
              <a:rPr lang="zh-CN" altLang="en-US" sz="2400" b="1"/>
              <a:t>上并令</a:t>
            </a:r>
            <a:r>
              <a:rPr lang="en-US" altLang="zh-CN" sz="2400" b="1"/>
              <a:t>NODE(A)=n</a:t>
            </a:r>
            <a:r>
              <a:rPr lang="zh-CN" altLang="en-US" sz="2400" b="1"/>
              <a:t>。</a:t>
            </a:r>
            <a:endParaRPr lang="en-US" altLang="zh-CN" sz="2400" b="1"/>
          </a:p>
          <a:p>
            <a:pPr marL="0" lvl="2" indent="0">
              <a:lnSpc>
                <a:spcPts val="2933"/>
              </a:lnSpc>
              <a:buClr>
                <a:schemeClr val="tx1"/>
              </a:buClr>
              <a:buNone/>
            </a:pPr>
            <a:r>
              <a:rPr lang="en-US" altLang="zh-CN" sz="2400" b="1"/>
              <a:t>   </a:t>
            </a:r>
            <a:r>
              <a:rPr lang="zh-CN" altLang="en-US" sz="2400" b="1"/>
              <a:t>否则先把</a:t>
            </a:r>
            <a:r>
              <a:rPr lang="en-US" altLang="zh-CN" sz="2400" b="1"/>
              <a:t>A</a:t>
            </a:r>
            <a:r>
              <a:rPr lang="zh-CN" altLang="en-US" sz="2400" b="1"/>
              <a:t>从</a:t>
            </a:r>
            <a:r>
              <a:rPr lang="en-US" altLang="zh-CN" sz="2400" b="1"/>
              <a:t>NODE(A)</a:t>
            </a:r>
            <a:r>
              <a:rPr lang="zh-CN" altLang="en-US" sz="2400" b="1"/>
              <a:t>结点上附加标识符集中删除（若</a:t>
            </a:r>
            <a:r>
              <a:rPr lang="en-US" altLang="zh-CN" sz="2400" b="1"/>
              <a:t>NODE(A)</a:t>
            </a:r>
            <a:r>
              <a:rPr lang="zh-CN" altLang="en-US" sz="2400" b="1"/>
              <a:t>是叶结点，则其标记</a:t>
            </a:r>
            <a:r>
              <a:rPr lang="en-US" altLang="zh-CN" sz="2400" b="1"/>
              <a:t>A</a:t>
            </a:r>
            <a:r>
              <a:rPr lang="zh-CN" altLang="en-US" sz="2400" b="1"/>
              <a:t>不删除），把</a:t>
            </a:r>
            <a:r>
              <a:rPr lang="en-US" altLang="zh-CN" sz="2400" b="1"/>
              <a:t>A</a:t>
            </a:r>
            <a:r>
              <a:rPr lang="zh-CN" altLang="en-US" sz="2400" b="1"/>
              <a:t>附加到新结点</a:t>
            </a:r>
            <a:r>
              <a:rPr lang="en-US" altLang="zh-CN" sz="2400" b="1"/>
              <a:t>n</a:t>
            </a:r>
            <a:r>
              <a:rPr lang="zh-CN" altLang="en-US" sz="2400" b="1"/>
              <a:t>上并令</a:t>
            </a:r>
            <a:r>
              <a:rPr lang="en-US" altLang="zh-CN" sz="2400" b="1"/>
              <a:t>NODE(A)=n</a:t>
            </a:r>
            <a:r>
              <a:rPr lang="zh-CN" altLang="en-US" sz="2400" b="1"/>
              <a:t>，转处理下一</a:t>
            </a:r>
            <a:r>
              <a:rPr lang="en-US" altLang="zh-CN" sz="2400" b="1"/>
              <a:t>TAC</a:t>
            </a:r>
            <a:r>
              <a:rPr lang="zh-CN" altLang="en-US" sz="2400" b="1"/>
              <a:t>语句。</a:t>
            </a:r>
            <a:endParaRPr lang="en-US" altLang="zh-CN" sz="2400" b="1"/>
          </a:p>
        </p:txBody>
      </p:sp>
      <p:grpSp>
        <p:nvGrpSpPr>
          <p:cNvPr id="113673" name="组合 1">
            <a:extLst>
              <a:ext uri="{FF2B5EF4-FFF2-40B4-BE49-F238E27FC236}">
                <a16:creationId xmlns:a16="http://schemas.microsoft.com/office/drawing/2014/main" id="{A4BF7304-4A35-ECDA-25C6-B24DA8C0EF9C}"/>
              </a:ext>
            </a:extLst>
          </p:cNvPr>
          <p:cNvGrpSpPr>
            <a:grpSpLocks/>
          </p:cNvGrpSpPr>
          <p:nvPr/>
        </p:nvGrpSpPr>
        <p:grpSpPr bwMode="auto">
          <a:xfrm>
            <a:off x="1634067" y="4969922"/>
            <a:ext cx="1286933" cy="532532"/>
            <a:chOff x="1372429" y="2934825"/>
            <a:chExt cx="964460" cy="400282"/>
          </a:xfrm>
        </p:grpSpPr>
        <p:grpSp>
          <p:nvGrpSpPr>
            <p:cNvPr id="113738" name="组合 2">
              <a:extLst>
                <a:ext uri="{FF2B5EF4-FFF2-40B4-BE49-F238E27FC236}">
                  <a16:creationId xmlns:a16="http://schemas.microsoft.com/office/drawing/2014/main" id="{F41D9DDC-BBCC-5B22-9CD3-0CEAAD02D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429" y="2934825"/>
              <a:ext cx="503996" cy="365931"/>
              <a:chOff x="1372429" y="2560849"/>
              <a:chExt cx="503996" cy="365931"/>
            </a:xfrm>
          </p:grpSpPr>
          <p:sp>
            <p:nvSpPr>
              <p:cNvPr id="6" name="Oval 72">
                <a:extLst>
                  <a:ext uri="{FF2B5EF4-FFF2-40B4-BE49-F238E27FC236}">
                    <a16:creationId xmlns:a16="http://schemas.microsoft.com/office/drawing/2014/main" id="{844AFA81-B690-4D5A-53C9-187FCDDF4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119" y="2657901"/>
                <a:ext cx="271255" cy="26887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742" name="Text Box 68">
                <a:extLst>
                  <a:ext uri="{FF2B5EF4-FFF2-40B4-BE49-F238E27FC236}">
                    <a16:creationId xmlns:a16="http://schemas.microsoft.com/office/drawing/2014/main" id="{09841865-A951-5160-3C51-EA8F769C6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2429" y="2560849"/>
                <a:ext cx="503996" cy="3470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739" name="Text Box 24">
              <a:extLst>
                <a:ext uri="{FF2B5EF4-FFF2-40B4-BE49-F238E27FC236}">
                  <a16:creationId xmlns:a16="http://schemas.microsoft.com/office/drawing/2014/main" id="{C61C80E7-7C4D-CBB5-804F-D0FBCF78C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7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3740" name="Text Box 24">
              <a:extLst>
                <a:ext uri="{FF2B5EF4-FFF2-40B4-BE49-F238E27FC236}">
                  <a16:creationId xmlns:a16="http://schemas.microsoft.com/office/drawing/2014/main" id="{9E38519C-7282-9750-01F2-90865788B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389" y="2988093"/>
              <a:ext cx="571500" cy="347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13674" name="组合 7">
            <a:extLst>
              <a:ext uri="{FF2B5EF4-FFF2-40B4-BE49-F238E27FC236}">
                <a16:creationId xmlns:a16="http://schemas.microsoft.com/office/drawing/2014/main" id="{23DD9D41-D97D-E971-FAB9-4AFD4C677993}"/>
              </a:ext>
            </a:extLst>
          </p:cNvPr>
          <p:cNvGrpSpPr>
            <a:grpSpLocks/>
          </p:cNvGrpSpPr>
          <p:nvPr/>
        </p:nvGrpSpPr>
        <p:grpSpPr bwMode="auto">
          <a:xfrm>
            <a:off x="3634317" y="4976285"/>
            <a:ext cx="1090083" cy="520979"/>
            <a:chOff x="1361088" y="2942013"/>
            <a:chExt cx="817072" cy="390774"/>
          </a:xfrm>
        </p:grpSpPr>
        <p:grpSp>
          <p:nvGrpSpPr>
            <p:cNvPr id="113734" name="组合 8">
              <a:extLst>
                <a:ext uri="{FF2B5EF4-FFF2-40B4-BE49-F238E27FC236}">
                  <a16:creationId xmlns:a16="http://schemas.microsoft.com/office/drawing/2014/main" id="{4F172AD0-378B-57E3-8F7F-50E5B3E741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1088" y="2942013"/>
              <a:ext cx="503996" cy="360399"/>
              <a:chOff x="1361088" y="2568037"/>
              <a:chExt cx="503996" cy="360399"/>
            </a:xfrm>
          </p:grpSpPr>
          <p:sp>
            <p:nvSpPr>
              <p:cNvPr id="13" name="Oval 72">
                <a:extLst>
                  <a:ext uri="{FF2B5EF4-FFF2-40B4-BE49-F238E27FC236}">
                    <a16:creationId xmlns:a16="http://schemas.microsoft.com/office/drawing/2014/main" id="{AE6B9CCF-2BEC-8C77-51D3-6A13328A3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6473" y="2656946"/>
                <a:ext cx="269713" cy="2714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737" name="Text Box 68">
                <a:extLst>
                  <a:ext uri="{FF2B5EF4-FFF2-40B4-BE49-F238E27FC236}">
                    <a16:creationId xmlns:a16="http://schemas.microsoft.com/office/drawing/2014/main" id="{4048994F-6929-43A8-CD13-325D6F1089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1088" y="2568037"/>
                <a:ext cx="503996" cy="346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735" name="Text Box 24">
              <a:extLst>
                <a:ext uri="{FF2B5EF4-FFF2-40B4-BE49-F238E27FC236}">
                  <a16:creationId xmlns:a16="http://schemas.microsoft.com/office/drawing/2014/main" id="{B6600300-2224-B11F-0DE5-DA7D16357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6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113675" name="组合 15">
            <a:extLst>
              <a:ext uri="{FF2B5EF4-FFF2-40B4-BE49-F238E27FC236}">
                <a16:creationId xmlns:a16="http://schemas.microsoft.com/office/drawing/2014/main" id="{85D938E2-6AE7-C746-4E6D-3C4116B06A89}"/>
              </a:ext>
            </a:extLst>
          </p:cNvPr>
          <p:cNvGrpSpPr>
            <a:grpSpLocks/>
          </p:cNvGrpSpPr>
          <p:nvPr/>
        </p:nvGrpSpPr>
        <p:grpSpPr bwMode="auto">
          <a:xfrm>
            <a:off x="2912534" y="4988985"/>
            <a:ext cx="1073151" cy="530691"/>
            <a:chOff x="1372429" y="2934825"/>
            <a:chExt cx="805731" cy="397310"/>
          </a:xfrm>
        </p:grpSpPr>
        <p:grpSp>
          <p:nvGrpSpPr>
            <p:cNvPr id="113730" name="组合 16">
              <a:extLst>
                <a:ext uri="{FF2B5EF4-FFF2-40B4-BE49-F238E27FC236}">
                  <a16:creationId xmlns:a16="http://schemas.microsoft.com/office/drawing/2014/main" id="{465DDFA8-E7D2-EF11-AEEE-25B428CFC6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429" y="2934825"/>
              <a:ext cx="503996" cy="366060"/>
              <a:chOff x="1372429" y="2560849"/>
              <a:chExt cx="503996" cy="366060"/>
            </a:xfrm>
          </p:grpSpPr>
          <p:sp>
            <p:nvSpPr>
              <p:cNvPr id="20" name="Oval 72">
                <a:extLst>
                  <a:ext uri="{FF2B5EF4-FFF2-40B4-BE49-F238E27FC236}">
                    <a16:creationId xmlns:a16="http://schemas.microsoft.com/office/drawing/2014/main" id="{FF3E61E5-9304-9EFD-470D-B8DB1E1E9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143" y="2657514"/>
                <a:ext cx="270166" cy="26939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733" name="Text Box 68">
                <a:extLst>
                  <a:ext uri="{FF2B5EF4-FFF2-40B4-BE49-F238E27FC236}">
                    <a16:creationId xmlns:a16="http://schemas.microsoft.com/office/drawing/2014/main" id="{5C62095A-6390-9CA9-55C5-EC90AC50F0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2429" y="2560849"/>
                <a:ext cx="503996" cy="253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731" name="Text Box 24">
              <a:extLst>
                <a:ext uri="{FF2B5EF4-FFF2-40B4-BE49-F238E27FC236}">
                  <a16:creationId xmlns:a16="http://schemas.microsoft.com/office/drawing/2014/main" id="{5A0BA664-82A6-A884-7E3F-6F746873F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5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2" name="Group 78">
            <a:extLst>
              <a:ext uri="{FF2B5EF4-FFF2-40B4-BE49-F238E27FC236}">
                <a16:creationId xmlns:a16="http://schemas.microsoft.com/office/drawing/2014/main" id="{16CCB06D-874E-7611-0E52-F4865F637BCC}"/>
              </a:ext>
            </a:extLst>
          </p:cNvPr>
          <p:cNvGrpSpPr>
            <a:grpSpLocks/>
          </p:cNvGrpSpPr>
          <p:nvPr/>
        </p:nvGrpSpPr>
        <p:grpSpPr bwMode="auto">
          <a:xfrm>
            <a:off x="2969685" y="5118101"/>
            <a:ext cx="325967" cy="368300"/>
            <a:chOff x="3470" y="1797"/>
            <a:chExt cx="272" cy="363"/>
          </a:xfrm>
        </p:grpSpPr>
        <p:sp>
          <p:nvSpPr>
            <p:cNvPr id="113728" name="Line 79">
              <a:extLst>
                <a:ext uri="{FF2B5EF4-FFF2-40B4-BE49-F238E27FC236}">
                  <a16:creationId xmlns:a16="http://schemas.microsoft.com/office/drawing/2014/main" id="{462E0D96-011B-D3BD-6CFF-BE794C48D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3729" name="Line 80">
              <a:extLst>
                <a:ext uri="{FF2B5EF4-FFF2-40B4-BE49-F238E27FC236}">
                  <a16:creationId xmlns:a16="http://schemas.microsoft.com/office/drawing/2014/main" id="{C16181B7-E6CC-87FF-4601-E90F19F517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113677" name="组合 24">
            <a:extLst>
              <a:ext uri="{FF2B5EF4-FFF2-40B4-BE49-F238E27FC236}">
                <a16:creationId xmlns:a16="http://schemas.microsoft.com/office/drawing/2014/main" id="{F41BA256-D23D-1E23-CF58-151ABBD3EB05}"/>
              </a:ext>
            </a:extLst>
          </p:cNvPr>
          <p:cNvGrpSpPr>
            <a:grpSpLocks/>
          </p:cNvGrpSpPr>
          <p:nvPr/>
        </p:nvGrpSpPr>
        <p:grpSpPr bwMode="auto">
          <a:xfrm>
            <a:off x="4847167" y="5695956"/>
            <a:ext cx="1075267" cy="530418"/>
            <a:chOff x="1372429" y="2934825"/>
            <a:chExt cx="805731" cy="398693"/>
          </a:xfrm>
        </p:grpSpPr>
        <p:grpSp>
          <p:nvGrpSpPr>
            <p:cNvPr id="113724" name="组合 25">
              <a:extLst>
                <a:ext uri="{FF2B5EF4-FFF2-40B4-BE49-F238E27FC236}">
                  <a16:creationId xmlns:a16="http://schemas.microsoft.com/office/drawing/2014/main" id="{A76AC7E6-A3AE-7EEF-BD31-A6C3ABF339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429" y="2934825"/>
              <a:ext cx="503996" cy="365933"/>
              <a:chOff x="1372429" y="2560849"/>
              <a:chExt cx="503996" cy="365933"/>
            </a:xfrm>
          </p:grpSpPr>
          <p:sp>
            <p:nvSpPr>
              <p:cNvPr id="28" name="Oval 72">
                <a:extLst>
                  <a:ext uri="{FF2B5EF4-FFF2-40B4-BE49-F238E27FC236}">
                    <a16:creationId xmlns:a16="http://schemas.microsoft.com/office/drawing/2014/main" id="{73AB5A23-948C-3E12-6C97-EEE6C3396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118" y="2657900"/>
                <a:ext cx="271221" cy="2688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727" name="Text Box 68">
                <a:extLst>
                  <a:ext uri="{FF2B5EF4-FFF2-40B4-BE49-F238E27FC236}">
                    <a16:creationId xmlns:a16="http://schemas.microsoft.com/office/drawing/2014/main" id="{F93B9CA8-3E27-4C34-D909-DEBDCE087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2429" y="2560849"/>
                <a:ext cx="503996" cy="254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725" name="Text Box 24">
              <a:extLst>
                <a:ext uri="{FF2B5EF4-FFF2-40B4-BE49-F238E27FC236}">
                  <a16:creationId xmlns:a16="http://schemas.microsoft.com/office/drawing/2014/main" id="{9E339EBC-CE53-DE4F-73F2-57367F826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7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13678" name="组合 34">
            <a:extLst>
              <a:ext uri="{FF2B5EF4-FFF2-40B4-BE49-F238E27FC236}">
                <a16:creationId xmlns:a16="http://schemas.microsoft.com/office/drawing/2014/main" id="{198B5943-EEF8-9295-9AB4-B899A9F4B70D}"/>
              </a:ext>
            </a:extLst>
          </p:cNvPr>
          <p:cNvGrpSpPr>
            <a:grpSpLocks/>
          </p:cNvGrpSpPr>
          <p:nvPr/>
        </p:nvGrpSpPr>
        <p:grpSpPr bwMode="auto">
          <a:xfrm>
            <a:off x="4847168" y="4821759"/>
            <a:ext cx="1284817" cy="532532"/>
            <a:chOff x="1372429" y="2934825"/>
            <a:chExt cx="964460" cy="400282"/>
          </a:xfrm>
        </p:grpSpPr>
        <p:grpSp>
          <p:nvGrpSpPr>
            <p:cNvPr id="113719" name="组合 35">
              <a:extLst>
                <a:ext uri="{FF2B5EF4-FFF2-40B4-BE49-F238E27FC236}">
                  <a16:creationId xmlns:a16="http://schemas.microsoft.com/office/drawing/2014/main" id="{D4390FA0-27D2-F691-5B99-9B1833C4EC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429" y="2934825"/>
              <a:ext cx="503996" cy="365931"/>
              <a:chOff x="1372429" y="2560849"/>
              <a:chExt cx="503996" cy="365931"/>
            </a:xfrm>
          </p:grpSpPr>
          <p:sp>
            <p:nvSpPr>
              <p:cNvPr id="39" name="Oval 72">
                <a:extLst>
                  <a:ext uri="{FF2B5EF4-FFF2-40B4-BE49-F238E27FC236}">
                    <a16:creationId xmlns:a16="http://schemas.microsoft.com/office/drawing/2014/main" id="{00DBB7E0-22E9-BF2B-5A19-85BBCC952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140" y="2657901"/>
                <a:ext cx="270112" cy="26887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723" name="Text Box 68">
                <a:extLst>
                  <a:ext uri="{FF2B5EF4-FFF2-40B4-BE49-F238E27FC236}">
                    <a16:creationId xmlns:a16="http://schemas.microsoft.com/office/drawing/2014/main" id="{E0B15D4F-7999-AA62-6350-C4F586CA6A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2429" y="2560849"/>
                <a:ext cx="503996" cy="3470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720" name="Text Box 24">
              <a:extLst>
                <a:ext uri="{FF2B5EF4-FFF2-40B4-BE49-F238E27FC236}">
                  <a16:creationId xmlns:a16="http://schemas.microsoft.com/office/drawing/2014/main" id="{8F8A1490-F134-17B4-EB31-4400120F3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7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21" name="Text Box 24">
              <a:extLst>
                <a:ext uri="{FF2B5EF4-FFF2-40B4-BE49-F238E27FC236}">
                  <a16:creationId xmlns:a16="http://schemas.microsoft.com/office/drawing/2014/main" id="{8568EED3-E6B3-16F1-6B23-8934EC63C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389" y="2988093"/>
              <a:ext cx="571500" cy="347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…A</a:t>
              </a:r>
            </a:p>
          </p:txBody>
        </p:sp>
      </p:grpSp>
      <p:grpSp>
        <p:nvGrpSpPr>
          <p:cNvPr id="113679" name="组合 41">
            <a:extLst>
              <a:ext uri="{FF2B5EF4-FFF2-40B4-BE49-F238E27FC236}">
                <a16:creationId xmlns:a16="http://schemas.microsoft.com/office/drawing/2014/main" id="{6611C288-8EB4-48EB-C85F-AEF35223BF81}"/>
              </a:ext>
            </a:extLst>
          </p:cNvPr>
          <p:cNvGrpSpPr>
            <a:grpSpLocks/>
          </p:cNvGrpSpPr>
          <p:nvPr/>
        </p:nvGrpSpPr>
        <p:grpSpPr bwMode="auto">
          <a:xfrm>
            <a:off x="7124701" y="4874685"/>
            <a:ext cx="1073151" cy="530691"/>
            <a:chOff x="1372429" y="2934825"/>
            <a:chExt cx="805731" cy="397310"/>
          </a:xfrm>
        </p:grpSpPr>
        <p:grpSp>
          <p:nvGrpSpPr>
            <p:cNvPr id="113715" name="组合 42">
              <a:extLst>
                <a:ext uri="{FF2B5EF4-FFF2-40B4-BE49-F238E27FC236}">
                  <a16:creationId xmlns:a16="http://schemas.microsoft.com/office/drawing/2014/main" id="{ACAC17C5-7479-DAB6-946E-7AB8D4C95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429" y="2934825"/>
              <a:ext cx="503996" cy="366060"/>
              <a:chOff x="1372429" y="2560849"/>
              <a:chExt cx="503996" cy="366060"/>
            </a:xfrm>
          </p:grpSpPr>
          <p:sp>
            <p:nvSpPr>
              <p:cNvPr id="45" name="Oval 72">
                <a:extLst>
                  <a:ext uri="{FF2B5EF4-FFF2-40B4-BE49-F238E27FC236}">
                    <a16:creationId xmlns:a16="http://schemas.microsoft.com/office/drawing/2014/main" id="{CB5DF85B-EB97-1638-E26B-31F741724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143" y="2657514"/>
                <a:ext cx="270166" cy="26939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718" name="Text Box 68">
                <a:extLst>
                  <a:ext uri="{FF2B5EF4-FFF2-40B4-BE49-F238E27FC236}">
                    <a16:creationId xmlns:a16="http://schemas.microsoft.com/office/drawing/2014/main" id="{D89DE696-B79A-E2DC-0011-D5F650C501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2429" y="2560849"/>
                <a:ext cx="503996" cy="253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716" name="Text Box 24">
              <a:extLst>
                <a:ext uri="{FF2B5EF4-FFF2-40B4-BE49-F238E27FC236}">
                  <a16:creationId xmlns:a16="http://schemas.microsoft.com/office/drawing/2014/main" id="{102DF653-8575-8DFD-38C3-96DF1AFE9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5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113680" name="组合 46">
            <a:extLst>
              <a:ext uri="{FF2B5EF4-FFF2-40B4-BE49-F238E27FC236}">
                <a16:creationId xmlns:a16="http://schemas.microsoft.com/office/drawing/2014/main" id="{4AC97C71-E21A-C785-864A-2C101D947970}"/>
              </a:ext>
            </a:extLst>
          </p:cNvPr>
          <p:cNvGrpSpPr>
            <a:grpSpLocks/>
          </p:cNvGrpSpPr>
          <p:nvPr/>
        </p:nvGrpSpPr>
        <p:grpSpPr bwMode="auto">
          <a:xfrm>
            <a:off x="6320367" y="4883156"/>
            <a:ext cx="1073151" cy="530418"/>
            <a:chOff x="1372429" y="2934825"/>
            <a:chExt cx="805731" cy="398693"/>
          </a:xfrm>
        </p:grpSpPr>
        <p:grpSp>
          <p:nvGrpSpPr>
            <p:cNvPr id="113711" name="组合 47">
              <a:extLst>
                <a:ext uri="{FF2B5EF4-FFF2-40B4-BE49-F238E27FC236}">
                  <a16:creationId xmlns:a16="http://schemas.microsoft.com/office/drawing/2014/main" id="{69F00ADF-8F24-585C-E8CB-64ED58A8E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429" y="2934825"/>
              <a:ext cx="503996" cy="365933"/>
              <a:chOff x="1372429" y="2560849"/>
              <a:chExt cx="503996" cy="365933"/>
            </a:xfrm>
          </p:grpSpPr>
          <p:sp>
            <p:nvSpPr>
              <p:cNvPr id="50" name="Oval 72">
                <a:extLst>
                  <a:ext uri="{FF2B5EF4-FFF2-40B4-BE49-F238E27FC236}">
                    <a16:creationId xmlns:a16="http://schemas.microsoft.com/office/drawing/2014/main" id="{E12384EC-6361-DB47-FF75-8D2DDE89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143" y="2657900"/>
                <a:ext cx="270166" cy="2688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714" name="Text Box 68">
                <a:extLst>
                  <a:ext uri="{FF2B5EF4-FFF2-40B4-BE49-F238E27FC236}">
                    <a16:creationId xmlns:a16="http://schemas.microsoft.com/office/drawing/2014/main" id="{9779AF0E-C218-4397-5FC0-E75696D91E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2429" y="2560849"/>
                <a:ext cx="503996" cy="254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712" name="Text Box 24">
              <a:extLst>
                <a:ext uri="{FF2B5EF4-FFF2-40B4-BE49-F238E27FC236}">
                  <a16:creationId xmlns:a16="http://schemas.microsoft.com/office/drawing/2014/main" id="{AAD4F4F4-918A-7319-42D7-60A011432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7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13681" name="组合 51">
            <a:extLst>
              <a:ext uri="{FF2B5EF4-FFF2-40B4-BE49-F238E27FC236}">
                <a16:creationId xmlns:a16="http://schemas.microsoft.com/office/drawing/2014/main" id="{A33807C0-5EE8-30AC-3B2D-19B4CB0E62D3}"/>
              </a:ext>
            </a:extLst>
          </p:cNvPr>
          <p:cNvGrpSpPr>
            <a:grpSpLocks/>
          </p:cNvGrpSpPr>
          <p:nvPr/>
        </p:nvGrpSpPr>
        <p:grpSpPr bwMode="auto">
          <a:xfrm>
            <a:off x="7929034" y="4874685"/>
            <a:ext cx="1073151" cy="530691"/>
            <a:chOff x="1372429" y="2934825"/>
            <a:chExt cx="805731" cy="397310"/>
          </a:xfrm>
        </p:grpSpPr>
        <p:grpSp>
          <p:nvGrpSpPr>
            <p:cNvPr id="113707" name="组合 52">
              <a:extLst>
                <a:ext uri="{FF2B5EF4-FFF2-40B4-BE49-F238E27FC236}">
                  <a16:creationId xmlns:a16="http://schemas.microsoft.com/office/drawing/2014/main" id="{1BA9CD64-EAE2-BD44-65D9-0BD7B1518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429" y="2934825"/>
              <a:ext cx="503996" cy="366060"/>
              <a:chOff x="1372429" y="2560849"/>
              <a:chExt cx="503996" cy="366060"/>
            </a:xfrm>
          </p:grpSpPr>
          <p:sp>
            <p:nvSpPr>
              <p:cNvPr id="55" name="Oval 72">
                <a:extLst>
                  <a:ext uri="{FF2B5EF4-FFF2-40B4-BE49-F238E27FC236}">
                    <a16:creationId xmlns:a16="http://schemas.microsoft.com/office/drawing/2014/main" id="{06988599-1211-A474-002A-EC5A24CB30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143" y="2657514"/>
                <a:ext cx="270166" cy="26939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710" name="Text Box 68">
                <a:extLst>
                  <a:ext uri="{FF2B5EF4-FFF2-40B4-BE49-F238E27FC236}">
                    <a16:creationId xmlns:a16="http://schemas.microsoft.com/office/drawing/2014/main" id="{DDEFCDB3-6589-ECD2-8B43-C33ED93EB6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2429" y="2560849"/>
                <a:ext cx="503996" cy="253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708" name="Text Box 24">
              <a:extLst>
                <a:ext uri="{FF2B5EF4-FFF2-40B4-BE49-F238E27FC236}">
                  <a16:creationId xmlns:a16="http://schemas.microsoft.com/office/drawing/2014/main" id="{7C5D5E37-40BE-E760-C066-1DC6AAB88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5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113682" name="Text Box 68">
            <a:extLst>
              <a:ext uri="{FF2B5EF4-FFF2-40B4-BE49-F238E27FC236}">
                <a16:creationId xmlns:a16="http://schemas.microsoft.com/office/drawing/2014/main" id="{461FED74-343B-ACEC-0F83-680AB44CE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2685" y="4883152"/>
            <a:ext cx="673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400" baseline="-25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9" name="Group 78">
            <a:extLst>
              <a:ext uri="{FF2B5EF4-FFF2-40B4-BE49-F238E27FC236}">
                <a16:creationId xmlns:a16="http://schemas.microsoft.com/office/drawing/2014/main" id="{F1EE0A20-BF93-47B9-268C-567BA18A1668}"/>
              </a:ext>
            </a:extLst>
          </p:cNvPr>
          <p:cNvGrpSpPr>
            <a:grpSpLocks/>
          </p:cNvGrpSpPr>
          <p:nvPr/>
        </p:nvGrpSpPr>
        <p:grpSpPr bwMode="auto">
          <a:xfrm>
            <a:off x="6350001" y="5008034"/>
            <a:ext cx="325967" cy="368300"/>
            <a:chOff x="3470" y="1797"/>
            <a:chExt cx="272" cy="363"/>
          </a:xfrm>
        </p:grpSpPr>
        <p:sp>
          <p:nvSpPr>
            <p:cNvPr id="113705" name="Line 79">
              <a:extLst>
                <a:ext uri="{FF2B5EF4-FFF2-40B4-BE49-F238E27FC236}">
                  <a16:creationId xmlns:a16="http://schemas.microsoft.com/office/drawing/2014/main" id="{492E128F-CE27-1807-AE24-A342E494E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3706" name="Line 80">
              <a:extLst>
                <a:ext uri="{FF2B5EF4-FFF2-40B4-BE49-F238E27FC236}">
                  <a16:creationId xmlns:a16="http://schemas.microsoft.com/office/drawing/2014/main" id="{BA06D4E6-D302-BF42-A992-F5EFACEEE0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62" name="Group 78">
            <a:extLst>
              <a:ext uri="{FF2B5EF4-FFF2-40B4-BE49-F238E27FC236}">
                <a16:creationId xmlns:a16="http://schemas.microsoft.com/office/drawing/2014/main" id="{B3FF4EF1-65C5-A6D3-0FCC-A617796AB1A2}"/>
              </a:ext>
            </a:extLst>
          </p:cNvPr>
          <p:cNvGrpSpPr>
            <a:grpSpLocks/>
          </p:cNvGrpSpPr>
          <p:nvPr/>
        </p:nvGrpSpPr>
        <p:grpSpPr bwMode="auto">
          <a:xfrm>
            <a:off x="7177618" y="5014384"/>
            <a:ext cx="325967" cy="370416"/>
            <a:chOff x="3470" y="1797"/>
            <a:chExt cx="272" cy="363"/>
          </a:xfrm>
        </p:grpSpPr>
        <p:sp>
          <p:nvSpPr>
            <p:cNvPr id="113703" name="Line 79">
              <a:extLst>
                <a:ext uri="{FF2B5EF4-FFF2-40B4-BE49-F238E27FC236}">
                  <a16:creationId xmlns:a16="http://schemas.microsoft.com/office/drawing/2014/main" id="{AA9FBE58-FE01-D6FB-225A-A4743C520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3704" name="Line 80">
              <a:extLst>
                <a:ext uri="{FF2B5EF4-FFF2-40B4-BE49-F238E27FC236}">
                  <a16:creationId xmlns:a16="http://schemas.microsoft.com/office/drawing/2014/main" id="{8B2AC669-4DCE-1F24-103A-1D0583CCBF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113685" name="组合 110592">
            <a:extLst>
              <a:ext uri="{FF2B5EF4-FFF2-40B4-BE49-F238E27FC236}">
                <a16:creationId xmlns:a16="http://schemas.microsoft.com/office/drawing/2014/main" id="{72A0703C-1E39-B842-EBAA-63BDCAD4B72B}"/>
              </a:ext>
            </a:extLst>
          </p:cNvPr>
          <p:cNvGrpSpPr>
            <a:grpSpLocks/>
          </p:cNvGrpSpPr>
          <p:nvPr/>
        </p:nvGrpSpPr>
        <p:grpSpPr bwMode="auto">
          <a:xfrm>
            <a:off x="10297584" y="5808140"/>
            <a:ext cx="1073149" cy="530693"/>
            <a:chOff x="1372429" y="2934825"/>
            <a:chExt cx="805731" cy="397310"/>
          </a:xfrm>
        </p:grpSpPr>
        <p:grpSp>
          <p:nvGrpSpPr>
            <p:cNvPr id="113699" name="组合 110593">
              <a:extLst>
                <a:ext uri="{FF2B5EF4-FFF2-40B4-BE49-F238E27FC236}">
                  <a16:creationId xmlns:a16="http://schemas.microsoft.com/office/drawing/2014/main" id="{3B04905C-381E-511B-E309-4D04C3EC4F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429" y="2934825"/>
              <a:ext cx="503996" cy="366060"/>
              <a:chOff x="1372429" y="2560849"/>
              <a:chExt cx="503996" cy="366060"/>
            </a:xfrm>
          </p:grpSpPr>
          <p:sp>
            <p:nvSpPr>
              <p:cNvPr id="110597" name="Oval 72">
                <a:extLst>
                  <a:ext uri="{FF2B5EF4-FFF2-40B4-BE49-F238E27FC236}">
                    <a16:creationId xmlns:a16="http://schemas.microsoft.com/office/drawing/2014/main" id="{D3CCB516-ABBB-6B1F-BF48-08DD698587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143" y="2657515"/>
                <a:ext cx="270167" cy="26939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702" name="Text Box 68">
                <a:extLst>
                  <a:ext uri="{FF2B5EF4-FFF2-40B4-BE49-F238E27FC236}">
                    <a16:creationId xmlns:a16="http://schemas.microsoft.com/office/drawing/2014/main" id="{3C661322-6694-F599-C845-FE85B004A3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2429" y="2560849"/>
                <a:ext cx="503996" cy="253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700" name="Text Box 24">
              <a:extLst>
                <a:ext uri="{FF2B5EF4-FFF2-40B4-BE49-F238E27FC236}">
                  <a16:creationId xmlns:a16="http://schemas.microsoft.com/office/drawing/2014/main" id="{D73184B9-1969-2443-AA67-CEE9BB488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5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113686" name="组合 110598">
            <a:extLst>
              <a:ext uri="{FF2B5EF4-FFF2-40B4-BE49-F238E27FC236}">
                <a16:creationId xmlns:a16="http://schemas.microsoft.com/office/drawing/2014/main" id="{993DF510-E974-BB19-E5BA-010FD6A7043E}"/>
              </a:ext>
            </a:extLst>
          </p:cNvPr>
          <p:cNvGrpSpPr>
            <a:grpSpLocks/>
          </p:cNvGrpSpPr>
          <p:nvPr/>
        </p:nvGrpSpPr>
        <p:grpSpPr bwMode="auto">
          <a:xfrm>
            <a:off x="9220200" y="5816606"/>
            <a:ext cx="1075267" cy="530693"/>
            <a:chOff x="1372429" y="2934825"/>
            <a:chExt cx="805731" cy="397310"/>
          </a:xfrm>
        </p:grpSpPr>
        <p:grpSp>
          <p:nvGrpSpPr>
            <p:cNvPr id="113695" name="组合 110599">
              <a:extLst>
                <a:ext uri="{FF2B5EF4-FFF2-40B4-BE49-F238E27FC236}">
                  <a16:creationId xmlns:a16="http://schemas.microsoft.com/office/drawing/2014/main" id="{471F458E-3DB0-817A-3728-D2EA74827E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429" y="2934825"/>
              <a:ext cx="503996" cy="366060"/>
              <a:chOff x="1372429" y="2560849"/>
              <a:chExt cx="503996" cy="366060"/>
            </a:xfrm>
          </p:grpSpPr>
          <p:sp>
            <p:nvSpPr>
              <p:cNvPr id="110602" name="Oval 72">
                <a:extLst>
                  <a:ext uri="{FF2B5EF4-FFF2-40B4-BE49-F238E27FC236}">
                    <a16:creationId xmlns:a16="http://schemas.microsoft.com/office/drawing/2014/main" id="{3EBF03E4-69C6-50B2-D7D2-DC1B23199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118" y="2657515"/>
                <a:ext cx="271221" cy="26939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698" name="Text Box 68">
                <a:extLst>
                  <a:ext uri="{FF2B5EF4-FFF2-40B4-BE49-F238E27FC236}">
                    <a16:creationId xmlns:a16="http://schemas.microsoft.com/office/drawing/2014/main" id="{B56F40FD-FB6C-ACDF-3B43-0C63615602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2429" y="2560849"/>
                <a:ext cx="503996" cy="253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696" name="Text Box 24">
              <a:extLst>
                <a:ext uri="{FF2B5EF4-FFF2-40B4-BE49-F238E27FC236}">
                  <a16:creationId xmlns:a16="http://schemas.microsoft.com/office/drawing/2014/main" id="{782C631D-11F8-A186-7961-FEA329D75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5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13687" name="组合 110603">
            <a:extLst>
              <a:ext uri="{FF2B5EF4-FFF2-40B4-BE49-F238E27FC236}">
                <a16:creationId xmlns:a16="http://schemas.microsoft.com/office/drawing/2014/main" id="{4599EC42-A0AE-3237-5245-47F205C9557D}"/>
              </a:ext>
            </a:extLst>
          </p:cNvPr>
          <p:cNvGrpSpPr>
            <a:grpSpLocks/>
          </p:cNvGrpSpPr>
          <p:nvPr/>
        </p:nvGrpSpPr>
        <p:grpSpPr bwMode="auto">
          <a:xfrm>
            <a:off x="9865784" y="4963586"/>
            <a:ext cx="1284816" cy="532532"/>
            <a:chOff x="1372429" y="2934825"/>
            <a:chExt cx="964460" cy="400282"/>
          </a:xfrm>
        </p:grpSpPr>
        <p:grpSp>
          <p:nvGrpSpPr>
            <p:cNvPr id="113690" name="组合 110604">
              <a:extLst>
                <a:ext uri="{FF2B5EF4-FFF2-40B4-BE49-F238E27FC236}">
                  <a16:creationId xmlns:a16="http://schemas.microsoft.com/office/drawing/2014/main" id="{32127313-57F8-CD92-1DD4-42CB38319B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2429" y="2934825"/>
              <a:ext cx="503996" cy="365932"/>
              <a:chOff x="1372429" y="2560849"/>
              <a:chExt cx="503996" cy="365932"/>
            </a:xfrm>
          </p:grpSpPr>
          <p:sp>
            <p:nvSpPr>
              <p:cNvPr id="110608" name="Oval 72">
                <a:extLst>
                  <a:ext uri="{FF2B5EF4-FFF2-40B4-BE49-F238E27FC236}">
                    <a16:creationId xmlns:a16="http://schemas.microsoft.com/office/drawing/2014/main" id="{9CBBF69D-7464-21BC-0D5D-9573CC3E8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140" y="2657900"/>
                <a:ext cx="270112" cy="2688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36000" tIns="45720" rIns="91440" bIns="45720" anchor="ctr"/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endPara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3694" name="Text Box 68">
                <a:extLst>
                  <a:ext uri="{FF2B5EF4-FFF2-40B4-BE49-F238E27FC236}">
                    <a16:creationId xmlns:a16="http://schemas.microsoft.com/office/drawing/2014/main" id="{D481537A-2CE3-2194-9555-B522582A29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2429" y="2560849"/>
                <a:ext cx="503996" cy="3470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3691" name="Text Box 24">
              <a:extLst>
                <a:ext uri="{FF2B5EF4-FFF2-40B4-BE49-F238E27FC236}">
                  <a16:creationId xmlns:a16="http://schemas.microsoft.com/office/drawing/2014/main" id="{294ED10E-B702-E933-23D7-8B128D8F0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660" y="2986503"/>
              <a:ext cx="571500" cy="347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692" name="Text Box 24">
              <a:extLst>
                <a:ext uri="{FF2B5EF4-FFF2-40B4-BE49-F238E27FC236}">
                  <a16:creationId xmlns:a16="http://schemas.microsoft.com/office/drawing/2014/main" id="{184E58B3-4C49-A42F-264A-7550AB4D9B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389" y="2988093"/>
              <a:ext cx="571500" cy="347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…A</a:t>
              </a:r>
            </a:p>
          </p:txBody>
        </p:sp>
      </p:grpSp>
      <p:sp>
        <p:nvSpPr>
          <p:cNvPr id="110610" name="Text Box 24">
            <a:extLst>
              <a:ext uri="{FF2B5EF4-FFF2-40B4-BE49-F238E27FC236}">
                <a16:creationId xmlns:a16="http://schemas.microsoft.com/office/drawing/2014/main" id="{AA32FF27-AC87-05F4-EEC7-D293AE673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8617" y="52070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op</a:t>
            </a:r>
          </a:p>
        </p:txBody>
      </p:sp>
      <p:sp>
        <p:nvSpPr>
          <p:cNvPr id="110613" name="Text Box 24">
            <a:extLst>
              <a:ext uri="{FF2B5EF4-FFF2-40B4-BE49-F238E27FC236}">
                <a16:creationId xmlns:a16="http://schemas.microsoft.com/office/drawing/2014/main" id="{F3C054E8-01F0-DBF1-6627-2443B6731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6517" y="5276851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10" grpId="0"/>
      <p:bldP spid="1106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7" name="Rectangle 3">
            <a:extLst>
              <a:ext uri="{FF2B5EF4-FFF2-40B4-BE49-F238E27FC236}">
                <a16:creationId xmlns:a16="http://schemas.microsoft.com/office/drawing/2014/main" id="{AA1298D7-F1AA-70E5-5063-2A6FA4C1E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501" y="1047751"/>
            <a:ext cx="10953751" cy="43010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>
              <a:lnSpc>
                <a:spcPts val="4667"/>
              </a:lnSpc>
              <a:buFont typeface="Wingdings" panose="05000000000000000000" pitchFamily="2" charset="2"/>
              <a:buChar char="Ø"/>
            </a:pPr>
            <a:r>
              <a:rPr lang="zh-CN" altLang="en-US" sz="3333" b="1" dirty="0"/>
              <a:t>从一个</a:t>
            </a:r>
            <a:r>
              <a:rPr lang="en-US" altLang="zh-CN" sz="3333" b="1" i="1" dirty="0"/>
              <a:t>DAG</a:t>
            </a:r>
            <a:r>
              <a:rPr lang="zh-CN" altLang="en-US" sz="3333" b="1" dirty="0"/>
              <a:t>上删除所有</a:t>
            </a:r>
            <a:r>
              <a:rPr lang="zh-CN" altLang="en-US" sz="3333" b="1" dirty="0">
                <a:solidFill>
                  <a:srgbClr val="2D83F4"/>
                </a:solidFill>
              </a:rPr>
              <a:t>没有附加活跃变量</a:t>
            </a:r>
            <a:r>
              <a:rPr lang="zh-CN" altLang="en-US" sz="3333" b="1" dirty="0"/>
              <a:t>（活跃变量是指其值可能会在以后被使用的变量）的</a:t>
            </a:r>
            <a:r>
              <a:rPr lang="zh-CN" altLang="en-US" sz="3333" b="1" dirty="0">
                <a:solidFill>
                  <a:srgbClr val="2D83F4"/>
                </a:solidFill>
              </a:rPr>
              <a:t>根结点</a:t>
            </a:r>
            <a:r>
              <a:rPr lang="en-US" altLang="zh-CN" sz="3333" b="1" dirty="0">
                <a:cs typeface="Times New Roman" panose="02020603050405020304" pitchFamily="18" charset="0"/>
              </a:rPr>
              <a:t>(</a:t>
            </a:r>
            <a:r>
              <a:rPr lang="zh-CN" altLang="en-US" sz="3333" b="1" dirty="0"/>
              <a:t>即没有父结点的结点</a:t>
            </a:r>
            <a:r>
              <a:rPr lang="en-US" altLang="zh-CN" sz="3333" b="1" dirty="0"/>
              <a:t>) </a:t>
            </a:r>
            <a:r>
              <a:rPr lang="zh-CN" altLang="en-US" sz="3333" b="1" dirty="0"/>
              <a:t>。重复应用这样的处理过程就可以从</a:t>
            </a:r>
            <a:r>
              <a:rPr lang="en-US" altLang="zh-CN" sz="3333" b="1" i="1" dirty="0"/>
              <a:t>DAG</a:t>
            </a:r>
            <a:r>
              <a:rPr lang="zh-CN" altLang="en-US" sz="3333" b="1" dirty="0"/>
              <a:t>中消除所有对应于无用代码的结点</a:t>
            </a:r>
            <a:endParaRPr lang="en-US" altLang="zh-CN" sz="3333" b="1" dirty="0"/>
          </a:p>
          <a:p>
            <a:pPr>
              <a:lnSpc>
                <a:spcPts val="4667"/>
              </a:lnSpc>
              <a:buFont typeface="Wingdings" panose="05000000000000000000" pitchFamily="2" charset="2"/>
              <a:buChar char="Ø"/>
            </a:pPr>
            <a:r>
              <a:rPr lang="zh-CN" altLang="en-US" sz="3333" b="1" dirty="0"/>
              <a:t>例</a:t>
            </a:r>
            <a:endParaRPr lang="en-US" altLang="zh-CN" sz="3333" b="1" dirty="0"/>
          </a:p>
          <a:p>
            <a:pPr lvl="1">
              <a:lnSpc>
                <a:spcPts val="2667"/>
              </a:lnSpc>
              <a:buClr>
                <a:srgbClr val="31B6FD"/>
              </a:buClr>
              <a:buNone/>
            </a:pP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a</a:t>
            </a:r>
            <a:r>
              <a:rPr lang="en-US" altLang="zh-CN" sz="2667" b="1" dirty="0">
                <a:solidFill>
                  <a:srgbClr val="000000"/>
                </a:solidFill>
                <a:ea typeface="楷体_GB2312"/>
                <a:cs typeface="楷体_GB2312"/>
              </a:rPr>
              <a:t> = </a:t>
            </a: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b</a:t>
            </a:r>
            <a:r>
              <a:rPr lang="en-US" altLang="zh-CN" sz="2667" b="1" dirty="0">
                <a:solidFill>
                  <a:srgbClr val="000000"/>
                </a:solidFill>
                <a:ea typeface="楷体_GB2312"/>
                <a:cs typeface="楷体_GB2312"/>
              </a:rPr>
              <a:t> +</a:t>
            </a: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 c</a:t>
            </a:r>
          </a:p>
          <a:p>
            <a:pPr lvl="1">
              <a:lnSpc>
                <a:spcPts val="2667"/>
              </a:lnSpc>
              <a:buClr>
                <a:srgbClr val="31B6FD"/>
              </a:buClr>
              <a:buNone/>
            </a:pP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b</a:t>
            </a:r>
            <a:r>
              <a:rPr lang="en-US" altLang="zh-CN" sz="2667" b="1" dirty="0">
                <a:solidFill>
                  <a:srgbClr val="000000"/>
                </a:solidFill>
                <a:ea typeface="楷体_GB2312"/>
                <a:cs typeface="楷体_GB2312"/>
              </a:rPr>
              <a:t> = </a:t>
            </a: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b</a:t>
            </a:r>
            <a:r>
              <a:rPr lang="en-US" altLang="zh-CN" sz="2667" b="1" dirty="0">
                <a:solidFill>
                  <a:srgbClr val="000000"/>
                </a:solidFill>
                <a:ea typeface="楷体_GB2312"/>
                <a:cs typeface="楷体_GB2312"/>
              </a:rPr>
              <a:t> - </a:t>
            </a: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d</a:t>
            </a:r>
            <a:endParaRPr lang="zh-CN" altLang="en-US" sz="2667" b="1" i="1" dirty="0">
              <a:solidFill>
                <a:srgbClr val="000000"/>
              </a:solidFill>
              <a:ea typeface="楷体_GB2312"/>
              <a:cs typeface="楷体_GB2312"/>
            </a:endParaRPr>
          </a:p>
          <a:p>
            <a:pPr lvl="1">
              <a:lnSpc>
                <a:spcPts val="2667"/>
              </a:lnSpc>
              <a:buClr>
                <a:srgbClr val="31B6FD"/>
              </a:buClr>
              <a:buNone/>
            </a:pP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c </a:t>
            </a:r>
            <a:r>
              <a:rPr lang="en-US" altLang="zh-CN" sz="2667" b="1" dirty="0">
                <a:solidFill>
                  <a:srgbClr val="000000"/>
                </a:solidFill>
                <a:ea typeface="楷体_GB2312"/>
                <a:cs typeface="楷体_GB2312"/>
              </a:rPr>
              <a:t>= </a:t>
            </a: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c</a:t>
            </a:r>
            <a:r>
              <a:rPr lang="en-US" altLang="zh-CN" sz="2667" b="1" dirty="0">
                <a:solidFill>
                  <a:srgbClr val="000000"/>
                </a:solidFill>
                <a:ea typeface="楷体_GB2312"/>
                <a:cs typeface="楷体_GB2312"/>
              </a:rPr>
              <a:t> + </a:t>
            </a: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d</a:t>
            </a:r>
            <a:endParaRPr lang="zh-CN" altLang="en-US" sz="2667" b="1" i="1" dirty="0">
              <a:solidFill>
                <a:srgbClr val="000000"/>
              </a:solidFill>
              <a:ea typeface="楷体_GB2312"/>
              <a:cs typeface="楷体_GB2312"/>
            </a:endParaRPr>
          </a:p>
          <a:p>
            <a:pPr lvl="1">
              <a:lnSpc>
                <a:spcPts val="2667"/>
              </a:lnSpc>
              <a:buClr>
                <a:srgbClr val="31B6FD"/>
              </a:buClr>
              <a:buNone/>
            </a:pP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e</a:t>
            </a:r>
            <a:r>
              <a:rPr lang="en-US" altLang="zh-CN" sz="2667" b="1" dirty="0">
                <a:solidFill>
                  <a:srgbClr val="000000"/>
                </a:solidFill>
                <a:ea typeface="楷体_GB2312"/>
                <a:cs typeface="楷体_GB2312"/>
              </a:rPr>
              <a:t> = </a:t>
            </a: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b</a:t>
            </a:r>
            <a:r>
              <a:rPr lang="en-US" altLang="zh-CN" sz="2667" b="1" dirty="0">
                <a:solidFill>
                  <a:srgbClr val="000000"/>
                </a:solidFill>
                <a:ea typeface="楷体_GB2312"/>
                <a:cs typeface="楷体_GB2312"/>
              </a:rPr>
              <a:t> + </a:t>
            </a:r>
            <a:r>
              <a:rPr lang="en-US" altLang="zh-CN" sz="2667" b="1" i="1" dirty="0">
                <a:solidFill>
                  <a:srgbClr val="000000"/>
                </a:solidFill>
                <a:ea typeface="楷体_GB2312"/>
                <a:cs typeface="楷体_GB2312"/>
              </a:rPr>
              <a:t>c</a:t>
            </a:r>
            <a:endParaRPr lang="en-US" altLang="zh-CN" sz="2667" b="1" dirty="0">
              <a:solidFill>
                <a:srgbClr val="000000"/>
              </a:solidFill>
              <a:latin typeface="楷体_GB2312"/>
            </a:endParaRPr>
          </a:p>
          <a:p>
            <a:pPr>
              <a:lnSpc>
                <a:spcPts val="4667"/>
              </a:lnSpc>
              <a:buNone/>
            </a:pPr>
            <a:endParaRPr lang="zh-CN" altLang="en-US" sz="3333" b="1" dirty="0"/>
          </a:p>
          <a:p>
            <a:pPr lvl="1">
              <a:lnSpc>
                <a:spcPts val="4667"/>
              </a:lnSpc>
              <a:buFont typeface="Wingdings" panose="05000000000000000000" pitchFamily="2" charset="2"/>
              <a:buChar char="Ø"/>
            </a:pPr>
            <a:endParaRPr lang="en-US" altLang="zh-CN" sz="3333" b="1" dirty="0"/>
          </a:p>
        </p:txBody>
      </p:sp>
      <p:grpSp>
        <p:nvGrpSpPr>
          <p:cNvPr id="2" name="组合 73">
            <a:extLst>
              <a:ext uri="{FF2B5EF4-FFF2-40B4-BE49-F238E27FC236}">
                <a16:creationId xmlns:a16="http://schemas.microsoft.com/office/drawing/2014/main" id="{DBDB6003-28D6-0C70-63F6-1DA550314165}"/>
              </a:ext>
            </a:extLst>
          </p:cNvPr>
          <p:cNvGrpSpPr>
            <a:grpSpLocks/>
          </p:cNvGrpSpPr>
          <p:nvPr/>
        </p:nvGrpSpPr>
        <p:grpSpPr bwMode="auto">
          <a:xfrm>
            <a:off x="3312586" y="3585636"/>
            <a:ext cx="3237969" cy="2366443"/>
            <a:chOff x="5572132" y="4500576"/>
            <a:chExt cx="2428493" cy="1775052"/>
          </a:xfrm>
        </p:grpSpPr>
        <p:sp>
          <p:nvSpPr>
            <p:cNvPr id="115724" name="Line 49">
              <a:extLst>
                <a:ext uri="{FF2B5EF4-FFF2-40B4-BE49-F238E27FC236}">
                  <a16:creationId xmlns:a16="http://schemas.microsoft.com/office/drawing/2014/main" id="{674FD00E-67D6-D829-F8CD-4DBF295C75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57884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40" tIns="45720" rIns="91440" bIns="45720"/>
            <a:lstStyle/>
            <a:p>
              <a:endParaRPr lang="zh-CN" altLang="en-US" sz="2400"/>
            </a:p>
          </p:txBody>
        </p:sp>
        <p:sp>
          <p:nvSpPr>
            <p:cNvPr id="115725" name="Line 50">
              <a:extLst>
                <a:ext uri="{FF2B5EF4-FFF2-40B4-BE49-F238E27FC236}">
                  <a16:creationId xmlns:a16="http://schemas.microsoft.com/office/drawing/2014/main" id="{0BB39012-F4E1-1913-DBAC-C03888D4D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3451" y="4857766"/>
              <a:ext cx="388945" cy="4286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40" tIns="45720" rIns="91440" bIns="45720"/>
            <a:lstStyle/>
            <a:p>
              <a:endParaRPr lang="zh-CN" altLang="en-US" sz="2400"/>
            </a:p>
          </p:txBody>
        </p:sp>
        <p:grpSp>
          <p:nvGrpSpPr>
            <p:cNvPr id="115726" name="Group 34">
              <a:extLst>
                <a:ext uri="{FF2B5EF4-FFF2-40B4-BE49-F238E27FC236}">
                  <a16:creationId xmlns:a16="http://schemas.microsoft.com/office/drawing/2014/main" id="{D1F61137-3D1C-C912-FC1A-7323CEA1F2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5469" y="5141926"/>
              <a:ext cx="351801" cy="572263"/>
              <a:chOff x="3648" y="1392"/>
              <a:chExt cx="365" cy="591"/>
            </a:xfrm>
          </p:grpSpPr>
          <p:sp>
            <p:nvSpPr>
              <p:cNvPr id="117791" name="Oval 35">
                <a:extLst>
                  <a:ext uri="{FF2B5EF4-FFF2-40B4-BE49-F238E27FC236}">
                    <a16:creationId xmlns:a16="http://schemas.microsoft.com/office/drawing/2014/main" id="{5F13B063-935B-04BE-C3D5-6F2A9100B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400" i="1" dirty="0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15750" name="Text Box 36">
                <a:extLst>
                  <a:ext uri="{FF2B5EF4-FFF2-40B4-BE49-F238E27FC236}">
                    <a16:creationId xmlns:a16="http://schemas.microsoft.com/office/drawing/2014/main" id="{2547C5FC-1C8E-1CCD-883C-2857131E53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3" y="1625"/>
                <a:ext cx="240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115727" name="Line 44">
              <a:extLst>
                <a:ext uri="{FF2B5EF4-FFF2-40B4-BE49-F238E27FC236}">
                  <a16:creationId xmlns:a16="http://schemas.microsoft.com/office/drawing/2014/main" id="{B37D7CEA-7757-2DEA-BB47-CE4582D770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77393" y="5474535"/>
              <a:ext cx="0" cy="5000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40" tIns="45720" rIns="91440" bIns="45720"/>
            <a:lstStyle/>
            <a:p>
              <a:endParaRPr lang="zh-CN" altLang="en-US" sz="2400"/>
            </a:p>
          </p:txBody>
        </p:sp>
        <p:sp>
          <p:nvSpPr>
            <p:cNvPr id="115728" name="Line 49">
              <a:extLst>
                <a:ext uri="{FF2B5EF4-FFF2-40B4-BE49-F238E27FC236}">
                  <a16:creationId xmlns:a16="http://schemas.microsoft.com/office/drawing/2014/main" id="{CDCD65AC-A80A-A653-93B5-74FA1E6CA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7884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40" tIns="45720" rIns="91440" bIns="45720"/>
            <a:lstStyle/>
            <a:p>
              <a:endParaRPr lang="zh-CN" altLang="en-US" sz="2400"/>
            </a:p>
          </p:txBody>
        </p:sp>
        <p:sp>
          <p:nvSpPr>
            <p:cNvPr id="115729" name="Line 50">
              <a:extLst>
                <a:ext uri="{FF2B5EF4-FFF2-40B4-BE49-F238E27FC236}">
                  <a16:creationId xmlns:a16="http://schemas.microsoft.com/office/drawing/2014/main" id="{76D182C6-6B01-1F52-FC02-321315393D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75456" y="4857766"/>
              <a:ext cx="253997" cy="285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40" tIns="45720" rIns="91440" bIns="45720"/>
            <a:lstStyle/>
            <a:p>
              <a:endParaRPr lang="zh-CN" altLang="en-US" sz="2400"/>
            </a:p>
          </p:txBody>
        </p:sp>
        <p:sp>
          <p:nvSpPr>
            <p:cNvPr id="115730" name="矩形 52">
              <a:extLst>
                <a:ext uri="{FF2B5EF4-FFF2-40B4-BE49-F238E27FC236}">
                  <a16:creationId xmlns:a16="http://schemas.microsoft.com/office/drawing/2014/main" id="{59A9E1BA-E025-A045-F0F8-3E3F241A8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2" y="5929336"/>
              <a:ext cx="330862" cy="34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5731" name="矩形 53">
              <a:extLst>
                <a:ext uri="{FF2B5EF4-FFF2-40B4-BE49-F238E27FC236}">
                  <a16:creationId xmlns:a16="http://schemas.microsoft.com/office/drawing/2014/main" id="{2B5EFA3A-2581-3E3A-2621-EBD9E1B54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9388" y="5929336"/>
              <a:ext cx="317638" cy="34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c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115732" name="Group 34">
              <a:extLst>
                <a:ext uri="{FF2B5EF4-FFF2-40B4-BE49-F238E27FC236}">
                  <a16:creationId xmlns:a16="http://schemas.microsoft.com/office/drawing/2014/main" id="{34E20EBF-3F99-976C-2667-5E64D512EF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62728" y="5143519"/>
              <a:ext cx="323850" cy="514164"/>
              <a:chOff x="3648" y="1392"/>
              <a:chExt cx="336" cy="531"/>
            </a:xfrm>
          </p:grpSpPr>
          <p:sp>
            <p:nvSpPr>
              <p:cNvPr id="117789" name="Oval 35">
                <a:extLst>
                  <a:ext uri="{FF2B5EF4-FFF2-40B4-BE49-F238E27FC236}">
                    <a16:creationId xmlns:a16="http://schemas.microsoft.com/office/drawing/2014/main" id="{7B41C508-AB60-8982-7AC1-2D55B1E01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400" i="1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15748" name="Text Box 36">
                <a:extLst>
                  <a:ext uri="{FF2B5EF4-FFF2-40B4-BE49-F238E27FC236}">
                    <a16:creationId xmlns:a16="http://schemas.microsoft.com/office/drawing/2014/main" id="{DFB49C26-1FCC-6F4E-5C88-50F3D5CE3A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8" y="1565"/>
                <a:ext cx="240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>
                    <a:latin typeface="Times New Roman" panose="02020603050405020304" pitchFamily="18" charset="0"/>
                  </a:rPr>
                  <a:t>-</a:t>
                </a:r>
              </a:p>
            </p:txBody>
          </p:sp>
        </p:grpSp>
        <p:grpSp>
          <p:nvGrpSpPr>
            <p:cNvPr id="115733" name="Group 34">
              <a:extLst>
                <a:ext uri="{FF2B5EF4-FFF2-40B4-BE49-F238E27FC236}">
                  <a16:creationId xmlns:a16="http://schemas.microsoft.com/office/drawing/2014/main" id="{0A82DCC3-FA95-C61B-3869-097488D87C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36874" y="5092198"/>
              <a:ext cx="471317" cy="376666"/>
              <a:chOff x="3626" y="1339"/>
              <a:chExt cx="489" cy="389"/>
            </a:xfrm>
          </p:grpSpPr>
          <p:sp>
            <p:nvSpPr>
              <p:cNvPr id="117787" name="Oval 35">
                <a:extLst>
                  <a:ext uri="{FF2B5EF4-FFF2-40B4-BE49-F238E27FC236}">
                    <a16:creationId xmlns:a16="http://schemas.microsoft.com/office/drawing/2014/main" id="{AD702BE6-4F30-6450-754B-5FE2629CD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400" i="1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15746" name="Text Box 36">
                <a:extLst>
                  <a:ext uri="{FF2B5EF4-FFF2-40B4-BE49-F238E27FC236}">
                    <a16:creationId xmlns:a16="http://schemas.microsoft.com/office/drawing/2014/main" id="{D94B40CD-BA6E-32DE-A9C0-D9457CDF9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6" y="1339"/>
                <a:ext cx="489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n</a:t>
                </a:r>
                <a:r>
                  <a:rPr kumimoji="1" lang="en-US" altLang="zh-CN" sz="2400" baseline="-2500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15734" name="Group 34">
              <a:extLst>
                <a:ext uri="{FF2B5EF4-FFF2-40B4-BE49-F238E27FC236}">
                  <a16:creationId xmlns:a16="http://schemas.microsoft.com/office/drawing/2014/main" id="{31B8E417-0296-4286-ACE4-26BC63A2D4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1356" y="4559314"/>
              <a:ext cx="323850" cy="569356"/>
              <a:chOff x="3648" y="1392"/>
              <a:chExt cx="336" cy="588"/>
            </a:xfrm>
          </p:grpSpPr>
          <p:sp>
            <p:nvSpPr>
              <p:cNvPr id="117785" name="Oval 35">
                <a:extLst>
                  <a:ext uri="{FF2B5EF4-FFF2-40B4-BE49-F238E27FC236}">
                    <a16:creationId xmlns:a16="http://schemas.microsoft.com/office/drawing/2014/main" id="{2ADDF626-9A1A-C73E-DA7A-D7394F9FEC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400" i="1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15744" name="Text Box 36">
                <a:extLst>
                  <a:ext uri="{FF2B5EF4-FFF2-40B4-BE49-F238E27FC236}">
                    <a16:creationId xmlns:a16="http://schemas.microsoft.com/office/drawing/2014/main" id="{8A4FFC87-90A3-48B9-8325-462AAF2FB5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1" y="1622"/>
                <a:ext cx="240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115735" name="矩形 64">
              <a:extLst>
                <a:ext uri="{FF2B5EF4-FFF2-40B4-BE49-F238E27FC236}">
                  <a16:creationId xmlns:a16="http://schemas.microsoft.com/office/drawing/2014/main" id="{E662E853-4C40-1DF0-B332-96E0BB6CD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8083" y="5929336"/>
              <a:ext cx="330862" cy="34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d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5736" name="矩形 65">
              <a:extLst>
                <a:ext uri="{FF2B5EF4-FFF2-40B4-BE49-F238E27FC236}">
                  <a16:creationId xmlns:a16="http://schemas.microsoft.com/office/drawing/2014/main" id="{86341D4C-CBE2-7FC8-EEC1-CD7D7C376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6644" y="4500576"/>
              <a:ext cx="240693" cy="34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e</a:t>
              </a:r>
              <a:endParaRPr lang="en-US" altLang="zh-CN" sz="24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15737" name="矩形 66">
              <a:extLst>
                <a:ext uri="{FF2B5EF4-FFF2-40B4-BE49-F238E27FC236}">
                  <a16:creationId xmlns:a16="http://schemas.microsoft.com/office/drawing/2014/main" id="{BDD24C80-538C-14E6-FCF1-C9F6CF708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932" y="5083021"/>
              <a:ext cx="240693" cy="34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c</a:t>
              </a:r>
              <a:endParaRPr lang="en-US" altLang="zh-CN" sz="24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15738" name="矩形 67">
              <a:extLst>
                <a:ext uri="{FF2B5EF4-FFF2-40B4-BE49-F238E27FC236}">
                  <a16:creationId xmlns:a16="http://schemas.microsoft.com/office/drawing/2014/main" id="{0E8C4498-358E-47A1-FBF1-92D26B9B4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1238" y="5083021"/>
              <a:ext cx="253917" cy="34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b</a:t>
              </a:r>
              <a:endParaRPr lang="en-US" altLang="zh-CN" sz="24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15739" name="矩形 68">
              <a:extLst>
                <a:ext uri="{FF2B5EF4-FFF2-40B4-BE49-F238E27FC236}">
                  <a16:creationId xmlns:a16="http://schemas.microsoft.com/office/drawing/2014/main" id="{66904F9D-1A35-1017-93C4-67A8A405C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9322" y="5083021"/>
              <a:ext cx="253917" cy="346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  <a:endParaRPr lang="en-US" altLang="zh-CN" sz="24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15740" name="Line 44">
              <a:extLst>
                <a:ext uri="{FF2B5EF4-FFF2-40B4-BE49-F238E27FC236}">
                  <a16:creationId xmlns:a16="http://schemas.microsoft.com/office/drawing/2014/main" id="{E3673834-1A1E-E94B-9D4B-F01A616CE1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36184" y="5473549"/>
              <a:ext cx="0" cy="5000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40" tIns="45720" rIns="91440" bIns="45720"/>
            <a:lstStyle/>
            <a:p>
              <a:endParaRPr lang="zh-CN" altLang="en-US" sz="2400"/>
            </a:p>
          </p:txBody>
        </p:sp>
        <p:sp>
          <p:nvSpPr>
            <p:cNvPr id="115741" name="Line 49">
              <a:extLst>
                <a:ext uri="{FF2B5EF4-FFF2-40B4-BE49-F238E27FC236}">
                  <a16:creationId xmlns:a16="http://schemas.microsoft.com/office/drawing/2014/main" id="{6E9F2A46-C54E-CBF6-091B-86B8A8FDC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5140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40" tIns="45720" rIns="91440" bIns="45720"/>
            <a:lstStyle/>
            <a:p>
              <a:endParaRPr lang="zh-CN" altLang="en-US" sz="2400"/>
            </a:p>
          </p:txBody>
        </p:sp>
        <p:sp>
          <p:nvSpPr>
            <p:cNvPr id="115742" name="Line 49">
              <a:extLst>
                <a:ext uri="{FF2B5EF4-FFF2-40B4-BE49-F238E27FC236}">
                  <a16:creationId xmlns:a16="http://schemas.microsoft.com/office/drawing/2014/main" id="{9C82C11D-4B47-4C49-616C-5615D0DD59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15140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40" tIns="45720" rIns="91440" bIns="45720"/>
            <a:lstStyle/>
            <a:p>
              <a:endParaRPr lang="zh-CN" altLang="en-US" sz="2400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A43885E0-506E-FC37-4680-232BA6ECE72E}"/>
              </a:ext>
            </a:extLst>
          </p:cNvPr>
          <p:cNvSpPr/>
          <p:nvPr/>
        </p:nvSpPr>
        <p:spPr bwMode="auto">
          <a:xfrm>
            <a:off x="4982068" y="3531357"/>
            <a:ext cx="628083" cy="42817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21299999" rev="0"/>
            </a:camera>
            <a:lightRig rig="threePt" dir="t"/>
          </a:scene3d>
        </p:spPr>
        <p:txBody>
          <a:bodyPr lIns="91440" tIns="45720" rIns="91440" bIns="45720"/>
          <a:lstStyle/>
          <a:p>
            <a:pPr algn="ctr" eaLnBrk="1" hangingPunct="1">
              <a:defRPr/>
            </a:pPr>
            <a:r>
              <a:rPr lang="en-US" altLang="zh-CN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endParaRPr lang="zh-CN" alt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A39FBF-8F7E-30F4-81AB-C6A9841CAA3C}"/>
              </a:ext>
            </a:extLst>
          </p:cNvPr>
          <p:cNvSpPr/>
          <p:nvPr/>
        </p:nvSpPr>
        <p:spPr bwMode="auto">
          <a:xfrm>
            <a:off x="5592523" y="4305615"/>
            <a:ext cx="628083" cy="64807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21299999" rev="0"/>
            </a:camera>
            <a:lightRig rig="threePt" dir="t"/>
          </a:scene3d>
        </p:spPr>
        <p:txBody>
          <a:bodyPr lIns="91440" tIns="45720" rIns="91440" bIns="45720"/>
          <a:lstStyle/>
          <a:p>
            <a:pPr algn="ctr" eaLnBrk="1" hangingPunct="1">
              <a:defRPr/>
            </a:pPr>
            <a:r>
              <a:rPr lang="en-US" altLang="zh-CN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endParaRPr lang="zh-CN" alt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8831CE-792F-09A9-9211-151E7DEF27C5}"/>
              </a:ext>
            </a:extLst>
          </p:cNvPr>
          <p:cNvSpPr/>
          <p:nvPr/>
        </p:nvSpPr>
        <p:spPr>
          <a:xfrm>
            <a:off x="1909234" y="6030384"/>
            <a:ext cx="6322484" cy="5847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假设</a:t>
            </a:r>
            <a:r>
              <a:rPr lang="en-US" altLang="zh-CN" sz="3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3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是活跃变量，但</a:t>
            </a:r>
            <a:r>
              <a:rPr lang="en-US" altLang="zh-CN" sz="3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3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</a:t>
            </a: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不是</a:t>
            </a:r>
            <a:endParaRPr lang="zh-CN" altLang="en-US" sz="2133" dirty="0"/>
          </a:p>
        </p:txBody>
      </p:sp>
      <p:sp>
        <p:nvSpPr>
          <p:cNvPr id="115720" name="Text Box 36">
            <a:extLst>
              <a:ext uri="{FF2B5EF4-FFF2-40B4-BE49-F238E27FC236}">
                <a16:creationId xmlns:a16="http://schemas.microsoft.com/office/drawing/2014/main" id="{3DDDC7F1-E2C3-FA49-B60D-EEBABA090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818" y="4364568"/>
            <a:ext cx="628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n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15721" name="Text Box 36">
            <a:extLst>
              <a:ext uri="{FF2B5EF4-FFF2-40B4-BE49-F238E27FC236}">
                <a16:creationId xmlns:a16="http://schemas.microsoft.com/office/drawing/2014/main" id="{2845855E-20B9-A331-7923-8220683D4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4358218"/>
            <a:ext cx="6286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n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15722" name="Text Box 36">
            <a:extLst>
              <a:ext uri="{FF2B5EF4-FFF2-40B4-BE49-F238E27FC236}">
                <a16:creationId xmlns:a16="http://schemas.microsoft.com/office/drawing/2014/main" id="{78A1225C-91CD-2249-F8F2-490D3BD0F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4934" y="4741334"/>
            <a:ext cx="3090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115723" name="Text Box 36">
            <a:extLst>
              <a:ext uri="{FF2B5EF4-FFF2-40B4-BE49-F238E27FC236}">
                <a16:creationId xmlns:a16="http://schemas.microsoft.com/office/drawing/2014/main" id="{72B7F704-63CD-73B5-6B48-8AC94E4ED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433" y="3562352"/>
            <a:ext cx="804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Line 50">
            <a:extLst>
              <a:ext uri="{FF2B5EF4-FFF2-40B4-BE49-F238E27FC236}">
                <a16:creationId xmlns:a16="http://schemas.microsoft.com/office/drawing/2014/main" id="{4F01BDCA-5E11-FA38-10A1-5383E3033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8453" y="1591024"/>
            <a:ext cx="502443" cy="72737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1" name="Line 50">
            <a:extLst>
              <a:ext uri="{FF2B5EF4-FFF2-40B4-BE49-F238E27FC236}">
                <a16:creationId xmlns:a16="http://schemas.microsoft.com/office/drawing/2014/main" id="{8A6429EF-3289-D0A6-2AC5-B4FA13468C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17445" y="1570388"/>
            <a:ext cx="562597" cy="7309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2" name="Text Box 36">
            <a:extLst>
              <a:ext uri="{FF2B5EF4-FFF2-40B4-BE49-F238E27FC236}">
                <a16:creationId xmlns:a16="http://schemas.microsoft.com/office/drawing/2014/main" id="{B60E4BC2-4E54-BC14-3645-3CA3B595D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4942" y="1708500"/>
            <a:ext cx="231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29" name="Line 50">
            <a:extLst>
              <a:ext uri="{FF2B5EF4-FFF2-40B4-BE49-F238E27FC236}">
                <a16:creationId xmlns:a16="http://schemas.microsoft.com/office/drawing/2014/main" id="{5B55254F-B7EF-CB64-401B-F2162D960D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4126" y="1551773"/>
            <a:ext cx="1177903" cy="217141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0" name="Line 50">
            <a:extLst>
              <a:ext uri="{FF2B5EF4-FFF2-40B4-BE49-F238E27FC236}">
                <a16:creationId xmlns:a16="http://schemas.microsoft.com/office/drawing/2014/main" id="{EFE1D7C4-87C3-5C47-0ECE-5DDEDD022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3029" y="1551773"/>
            <a:ext cx="408211" cy="7400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4" name="Line 50">
            <a:extLst>
              <a:ext uri="{FF2B5EF4-FFF2-40B4-BE49-F238E27FC236}">
                <a16:creationId xmlns:a16="http://schemas.microsoft.com/office/drawing/2014/main" id="{E29D4882-CC84-8873-537D-A6836AD06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0375" y="2365520"/>
            <a:ext cx="502443" cy="72737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" name="Line 50">
            <a:extLst>
              <a:ext uri="{FF2B5EF4-FFF2-40B4-BE49-F238E27FC236}">
                <a16:creationId xmlns:a16="http://schemas.microsoft.com/office/drawing/2014/main" id="{EAD88679-FE30-8507-68F2-8BE419EFAA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89367" y="2344884"/>
            <a:ext cx="562597" cy="7309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9" name="Line 50">
            <a:extLst>
              <a:ext uri="{FF2B5EF4-FFF2-40B4-BE49-F238E27FC236}">
                <a16:creationId xmlns:a16="http://schemas.microsoft.com/office/drawing/2014/main" id="{C5344166-EECD-3368-3228-0ACD73C587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0669" y="3198959"/>
            <a:ext cx="692150" cy="584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0" name="Line 50">
            <a:extLst>
              <a:ext uri="{FF2B5EF4-FFF2-40B4-BE49-F238E27FC236}">
                <a16:creationId xmlns:a16="http://schemas.microsoft.com/office/drawing/2014/main" id="{A9F8334A-A5B6-4FB2-BA8B-EE54438FEA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9919" y="3198959"/>
            <a:ext cx="1600200" cy="584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1" name="Oval 68">
            <a:extLst>
              <a:ext uri="{FF2B5EF4-FFF2-40B4-BE49-F238E27FC236}">
                <a16:creationId xmlns:a16="http://schemas.microsoft.com/office/drawing/2014/main" id="{00311420-8F61-A13C-8EAA-3A0C5B23A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2644" y="3033859"/>
            <a:ext cx="325438" cy="323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5</a:t>
            </a:r>
            <a:endParaRPr lang="zh-CN" altLang="en-US" sz="1600" b="1" baseline="-25000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4" name="Line 50">
            <a:extLst>
              <a:ext uri="{FF2B5EF4-FFF2-40B4-BE49-F238E27FC236}">
                <a16:creationId xmlns:a16="http://schemas.microsoft.com/office/drawing/2014/main" id="{91ECDB40-079D-74D8-99FF-C6411ACFF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1104" y="3198959"/>
            <a:ext cx="463550" cy="636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5" name="Line 50">
            <a:extLst>
              <a:ext uri="{FF2B5EF4-FFF2-40B4-BE49-F238E27FC236}">
                <a16:creationId xmlns:a16="http://schemas.microsoft.com/office/drawing/2014/main" id="{F2D95F14-F2EB-8D05-F189-552EF04CC3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204" y="3178322"/>
            <a:ext cx="471488" cy="636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6" name="Text Box 36">
            <a:extLst>
              <a:ext uri="{FF2B5EF4-FFF2-40B4-BE49-F238E27FC236}">
                <a16:creationId xmlns:a16="http://schemas.microsoft.com/office/drawing/2014/main" id="{49678EE8-C86D-0928-828E-A512587A3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592" y="3316434"/>
            <a:ext cx="231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AB2C93-6408-2823-8A39-D5D8A778EA60}"/>
              </a:ext>
            </a:extLst>
          </p:cNvPr>
          <p:cNvSpPr txBox="1"/>
          <p:nvPr/>
        </p:nvSpPr>
        <p:spPr>
          <a:xfrm>
            <a:off x="344556" y="231438"/>
            <a:ext cx="395577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六、给定一个基本块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B=3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D=A+C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E=A*C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F=E+D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G=B*F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H=A+C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I=A*C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J=H+I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K=B*5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L=K+J</a:t>
            </a:r>
          </a:p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M=L</a:t>
            </a:r>
          </a:p>
          <a:p>
            <a:pPr algn="just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假设只有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在基本块后面还要被引用，应用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DAG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进行优化，并写出优化后的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TAC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语句序列</a:t>
            </a:r>
            <a:endParaRPr lang="zh-CN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Oval 68">
            <a:extLst>
              <a:ext uri="{FF2B5EF4-FFF2-40B4-BE49-F238E27FC236}">
                <a16:creationId xmlns:a16="http://schemas.microsoft.com/office/drawing/2014/main" id="{AE444FC0-52C4-3A3E-4B3A-15265B609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091" y="3634314"/>
            <a:ext cx="325437" cy="323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1</a:t>
            </a:r>
            <a:endParaRPr lang="zh-CN" altLang="en-US" sz="1600" b="1" baseline="-25000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73C11D-D8F0-BD87-5907-6DAD5794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810" y="3876192"/>
            <a:ext cx="29238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1165E4-C60B-8421-00EE-66CCBCB83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3335" y="3487254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Oval 68">
            <a:extLst>
              <a:ext uri="{FF2B5EF4-FFF2-40B4-BE49-F238E27FC236}">
                <a16:creationId xmlns:a16="http://schemas.microsoft.com/office/drawing/2014/main" id="{4A80764D-2F8B-39F3-C418-D4E50A6C7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045" y="3634314"/>
            <a:ext cx="325437" cy="323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2</a:t>
            </a:r>
            <a:endParaRPr lang="zh-CN" altLang="en-US" sz="1600" b="1" baseline="-25000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D148D0-24E7-C471-A720-96B7A75CE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637" y="3637075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Oval 68">
            <a:extLst>
              <a:ext uri="{FF2B5EF4-FFF2-40B4-BE49-F238E27FC236}">
                <a16:creationId xmlns:a16="http://schemas.microsoft.com/office/drawing/2014/main" id="{A9B569E2-D886-6874-D689-6E9C53A7C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9062" y="3628249"/>
            <a:ext cx="325437" cy="323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3</a:t>
            </a:r>
            <a:endParaRPr lang="zh-CN" altLang="en-US" sz="1600" b="1" baseline="-25000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6A1210-C898-05BD-7F63-7C73B85E2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654" y="3631010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Oval 68">
            <a:extLst>
              <a:ext uri="{FF2B5EF4-FFF2-40B4-BE49-F238E27FC236}">
                <a16:creationId xmlns:a16="http://schemas.microsoft.com/office/drawing/2014/main" id="{DC58A3B4-D7BB-6BF9-1B7A-85FF0FF35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7592" y="2992326"/>
            <a:ext cx="325437" cy="323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4</a:t>
            </a:r>
            <a:endParaRPr lang="zh-CN" altLang="en-US" sz="1600" b="1" baseline="-25000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7F41CCB-333E-5B24-15DE-61A22F14B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184" y="2995087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7656878-337C-51DA-66C9-D8DE8524F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69" y="2976709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3" name="Text Box 36">
            <a:extLst>
              <a:ext uri="{FF2B5EF4-FFF2-40B4-BE49-F238E27FC236}">
                <a16:creationId xmlns:a16="http://schemas.microsoft.com/office/drawing/2014/main" id="{DCC8F538-35A0-9914-B394-1431B95D9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065" y="3244056"/>
            <a:ext cx="231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26" name="Text Box 36">
            <a:extLst>
              <a:ext uri="{FF2B5EF4-FFF2-40B4-BE49-F238E27FC236}">
                <a16:creationId xmlns:a16="http://schemas.microsoft.com/office/drawing/2014/main" id="{A4B4CADE-25C6-A658-7A07-8C0879FCE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6864" y="2482996"/>
            <a:ext cx="231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27" name="Oval 68">
            <a:extLst>
              <a:ext uri="{FF2B5EF4-FFF2-40B4-BE49-F238E27FC236}">
                <a16:creationId xmlns:a16="http://schemas.microsoft.com/office/drawing/2014/main" id="{E73BE428-1546-A093-F6FF-2AE051A1B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522" y="2160411"/>
            <a:ext cx="325438" cy="323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6</a:t>
            </a:r>
            <a:endParaRPr lang="zh-CN" altLang="en-US" sz="1600" b="1" baseline="-25000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7861DA6-4BA7-AA1D-5EAA-10FC2B6B2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4547" y="2103261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1" name="Oval 68">
            <a:extLst>
              <a:ext uri="{FF2B5EF4-FFF2-40B4-BE49-F238E27FC236}">
                <a16:creationId xmlns:a16="http://schemas.microsoft.com/office/drawing/2014/main" id="{1F7FAEAB-8CAC-2FDB-EEFC-8C5D39DFC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880" y="1376527"/>
            <a:ext cx="325438" cy="323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7</a:t>
            </a:r>
            <a:endParaRPr lang="zh-CN" altLang="en-US" sz="1600" b="1" baseline="-25000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905CE34-6E4C-FFE3-1642-9A7DFE1A5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905" y="1319377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G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3" name="Text Box 36">
            <a:extLst>
              <a:ext uri="{FF2B5EF4-FFF2-40B4-BE49-F238E27FC236}">
                <a16:creationId xmlns:a16="http://schemas.microsoft.com/office/drawing/2014/main" id="{A39805D1-8271-4B7A-7ECC-6F56F040C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405" y="1674465"/>
            <a:ext cx="231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8983669-2418-33AC-5614-1F932CD30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57" y="2999759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H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3940264-74F6-C0F1-D61F-5A65B9B1B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199" y="2975924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680153B-FFAA-7FA6-B564-7F4E434E4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9461" y="2103261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J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7" name="Oval 68">
            <a:extLst>
              <a:ext uri="{FF2B5EF4-FFF2-40B4-BE49-F238E27FC236}">
                <a16:creationId xmlns:a16="http://schemas.microsoft.com/office/drawing/2014/main" id="{5D72B04B-7F34-152F-63BB-E6D51C152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513" y="2192155"/>
            <a:ext cx="325437" cy="323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8</a:t>
            </a:r>
            <a:endParaRPr lang="zh-CN" altLang="en-US" sz="1600" b="1" baseline="-25000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6C23F0B-E53B-A084-11FD-99D3E8B27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6232" y="2434033"/>
            <a:ext cx="44627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15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6C7EB55-889D-9DBD-5EC9-A73504239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757" y="2045095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43" name="Oval 68">
            <a:extLst>
              <a:ext uri="{FF2B5EF4-FFF2-40B4-BE49-F238E27FC236}">
                <a16:creationId xmlns:a16="http://schemas.microsoft.com/office/drawing/2014/main" id="{48EBE3FA-CD78-6B25-EFD9-4B7C4ABFF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6307" y="1389848"/>
            <a:ext cx="325438" cy="323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9</a:t>
            </a:r>
            <a:endParaRPr lang="zh-CN" altLang="en-US" sz="1600" b="1" baseline="-25000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954A62A-A6A3-7CA8-5B9E-BDA3BA361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3332" y="1332698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4993054-9DF3-ABF3-2695-3205A71F8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1978" y="1324277"/>
            <a:ext cx="479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endParaRPr kumimoji="1" lang="en-US" altLang="zh-CN" sz="2400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47" name="Group 78">
            <a:extLst>
              <a:ext uri="{FF2B5EF4-FFF2-40B4-BE49-F238E27FC236}">
                <a16:creationId xmlns:a16="http://schemas.microsoft.com/office/drawing/2014/main" id="{EFE9B046-D561-0AC5-FD63-64B6D6634E71}"/>
              </a:ext>
            </a:extLst>
          </p:cNvPr>
          <p:cNvGrpSpPr>
            <a:grpSpLocks/>
          </p:cNvGrpSpPr>
          <p:nvPr/>
        </p:nvGrpSpPr>
        <p:grpSpPr bwMode="auto">
          <a:xfrm>
            <a:off x="8171116" y="1399683"/>
            <a:ext cx="271463" cy="287338"/>
            <a:chOff x="3470" y="1797"/>
            <a:chExt cx="272" cy="363"/>
          </a:xfrm>
        </p:grpSpPr>
        <p:sp>
          <p:nvSpPr>
            <p:cNvPr id="48" name="Line 79">
              <a:extLst>
                <a:ext uri="{FF2B5EF4-FFF2-40B4-BE49-F238E27FC236}">
                  <a16:creationId xmlns:a16="http://schemas.microsoft.com/office/drawing/2014/main" id="{78F9541A-4530-F0D9-B08B-79EAAF45D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80">
              <a:extLst>
                <a:ext uri="{FF2B5EF4-FFF2-40B4-BE49-F238E27FC236}">
                  <a16:creationId xmlns:a16="http://schemas.microsoft.com/office/drawing/2014/main" id="{6ACE797C-2E97-A1F2-3D2C-3588A9A81B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" name="Group 78">
            <a:extLst>
              <a:ext uri="{FF2B5EF4-FFF2-40B4-BE49-F238E27FC236}">
                <a16:creationId xmlns:a16="http://schemas.microsoft.com/office/drawing/2014/main" id="{6D67DAAC-2D41-F82B-7BC4-A657FBBFAE6E}"/>
              </a:ext>
            </a:extLst>
          </p:cNvPr>
          <p:cNvGrpSpPr>
            <a:grpSpLocks/>
          </p:cNvGrpSpPr>
          <p:nvPr/>
        </p:nvGrpSpPr>
        <p:grpSpPr bwMode="auto">
          <a:xfrm>
            <a:off x="6384195" y="1385747"/>
            <a:ext cx="271463" cy="287338"/>
            <a:chOff x="3470" y="1797"/>
            <a:chExt cx="272" cy="363"/>
          </a:xfrm>
        </p:grpSpPr>
        <p:sp>
          <p:nvSpPr>
            <p:cNvPr id="51" name="Line 79">
              <a:extLst>
                <a:ext uri="{FF2B5EF4-FFF2-40B4-BE49-F238E27FC236}">
                  <a16:creationId xmlns:a16="http://schemas.microsoft.com/office/drawing/2014/main" id="{AC72965D-B47D-1A29-4080-B1ECB2870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80">
              <a:extLst>
                <a:ext uri="{FF2B5EF4-FFF2-40B4-BE49-F238E27FC236}">
                  <a16:creationId xmlns:a16="http://schemas.microsoft.com/office/drawing/2014/main" id="{DFF066F6-585C-A745-5CE5-657B35B5F0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Group 78">
            <a:extLst>
              <a:ext uri="{FF2B5EF4-FFF2-40B4-BE49-F238E27FC236}">
                <a16:creationId xmlns:a16="http://schemas.microsoft.com/office/drawing/2014/main" id="{6A286EC8-EE71-1F68-E6D6-0748BFB0AB93}"/>
              </a:ext>
            </a:extLst>
          </p:cNvPr>
          <p:cNvGrpSpPr>
            <a:grpSpLocks/>
          </p:cNvGrpSpPr>
          <p:nvPr/>
        </p:nvGrpSpPr>
        <p:grpSpPr bwMode="auto">
          <a:xfrm>
            <a:off x="5096448" y="3638066"/>
            <a:ext cx="271463" cy="287338"/>
            <a:chOff x="3470" y="1797"/>
            <a:chExt cx="272" cy="363"/>
          </a:xfrm>
        </p:grpSpPr>
        <p:sp>
          <p:nvSpPr>
            <p:cNvPr id="54" name="Line 79">
              <a:extLst>
                <a:ext uri="{FF2B5EF4-FFF2-40B4-BE49-F238E27FC236}">
                  <a16:creationId xmlns:a16="http://schemas.microsoft.com/office/drawing/2014/main" id="{E1525443-D10A-0278-AC6A-693C781DD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80">
              <a:extLst>
                <a:ext uri="{FF2B5EF4-FFF2-40B4-BE49-F238E27FC236}">
                  <a16:creationId xmlns:a16="http://schemas.microsoft.com/office/drawing/2014/main" id="{237E7105-8AAF-8825-3C7B-DAB569FCC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" name="Group 78">
            <a:extLst>
              <a:ext uri="{FF2B5EF4-FFF2-40B4-BE49-F238E27FC236}">
                <a16:creationId xmlns:a16="http://schemas.microsoft.com/office/drawing/2014/main" id="{68E8AA84-1AD3-7286-673A-183A91362030}"/>
              </a:ext>
            </a:extLst>
          </p:cNvPr>
          <p:cNvGrpSpPr>
            <a:grpSpLocks/>
          </p:cNvGrpSpPr>
          <p:nvPr/>
        </p:nvGrpSpPr>
        <p:grpSpPr bwMode="auto">
          <a:xfrm>
            <a:off x="7482646" y="2180943"/>
            <a:ext cx="271463" cy="287338"/>
            <a:chOff x="3470" y="1797"/>
            <a:chExt cx="272" cy="363"/>
          </a:xfrm>
        </p:grpSpPr>
        <p:sp>
          <p:nvSpPr>
            <p:cNvPr id="57" name="Line 79">
              <a:extLst>
                <a:ext uri="{FF2B5EF4-FFF2-40B4-BE49-F238E27FC236}">
                  <a16:creationId xmlns:a16="http://schemas.microsoft.com/office/drawing/2014/main" id="{7FD14C7E-E25E-94FE-5E77-ECE4D2EA9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80">
              <a:extLst>
                <a:ext uri="{FF2B5EF4-FFF2-40B4-BE49-F238E27FC236}">
                  <a16:creationId xmlns:a16="http://schemas.microsoft.com/office/drawing/2014/main" id="{F0E7DA60-C51E-942A-F466-0BCAD7FF3B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" name="Group 78">
            <a:extLst>
              <a:ext uri="{FF2B5EF4-FFF2-40B4-BE49-F238E27FC236}">
                <a16:creationId xmlns:a16="http://schemas.microsoft.com/office/drawing/2014/main" id="{CCC65213-8117-E43E-D93B-0BC05DF226EF}"/>
              </a:ext>
            </a:extLst>
          </p:cNvPr>
          <p:cNvGrpSpPr>
            <a:grpSpLocks/>
          </p:cNvGrpSpPr>
          <p:nvPr/>
        </p:nvGrpSpPr>
        <p:grpSpPr bwMode="auto">
          <a:xfrm>
            <a:off x="6852903" y="3062763"/>
            <a:ext cx="271463" cy="287338"/>
            <a:chOff x="3470" y="1797"/>
            <a:chExt cx="272" cy="363"/>
          </a:xfrm>
        </p:grpSpPr>
        <p:sp>
          <p:nvSpPr>
            <p:cNvPr id="60" name="Line 79">
              <a:extLst>
                <a:ext uri="{FF2B5EF4-FFF2-40B4-BE49-F238E27FC236}">
                  <a16:creationId xmlns:a16="http://schemas.microsoft.com/office/drawing/2014/main" id="{DDAE1421-3C27-D2DC-B5B9-8114F73C6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80">
              <a:extLst>
                <a:ext uri="{FF2B5EF4-FFF2-40B4-BE49-F238E27FC236}">
                  <a16:creationId xmlns:a16="http://schemas.microsoft.com/office/drawing/2014/main" id="{FE954F2A-E96D-3882-85C4-0B3B3E5971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2" name="Group 78">
            <a:extLst>
              <a:ext uri="{FF2B5EF4-FFF2-40B4-BE49-F238E27FC236}">
                <a16:creationId xmlns:a16="http://schemas.microsoft.com/office/drawing/2014/main" id="{3267E14F-E0D4-253F-4B57-BD5F45E59930}"/>
              </a:ext>
            </a:extLst>
          </p:cNvPr>
          <p:cNvGrpSpPr>
            <a:grpSpLocks/>
          </p:cNvGrpSpPr>
          <p:nvPr/>
        </p:nvGrpSpPr>
        <p:grpSpPr bwMode="auto">
          <a:xfrm>
            <a:off x="8020164" y="3051330"/>
            <a:ext cx="271463" cy="287338"/>
            <a:chOff x="3470" y="1797"/>
            <a:chExt cx="272" cy="363"/>
          </a:xfrm>
        </p:grpSpPr>
        <p:sp>
          <p:nvSpPr>
            <p:cNvPr id="63" name="Line 79">
              <a:extLst>
                <a:ext uri="{FF2B5EF4-FFF2-40B4-BE49-F238E27FC236}">
                  <a16:creationId xmlns:a16="http://schemas.microsoft.com/office/drawing/2014/main" id="{250E7782-A1C2-E213-EF9B-F242B8FBF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80">
              <a:extLst>
                <a:ext uri="{FF2B5EF4-FFF2-40B4-BE49-F238E27FC236}">
                  <a16:creationId xmlns:a16="http://schemas.microsoft.com/office/drawing/2014/main" id="{0C9DC902-68E8-4D67-34D9-88E91EF599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FE4CCD1F-88D8-31B0-CF31-5DD32D44E724}"/>
              </a:ext>
            </a:extLst>
          </p:cNvPr>
          <p:cNvSpPr txBox="1"/>
          <p:nvPr/>
        </p:nvSpPr>
        <p:spPr>
          <a:xfrm>
            <a:off x="9310127" y="4672940"/>
            <a:ext cx="1556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D=A+C</a:t>
            </a:r>
          </a:p>
          <a:p>
            <a:pPr algn="just"/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E=A*C</a:t>
            </a:r>
          </a:p>
          <a:p>
            <a:pPr algn="just"/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F=D+E</a:t>
            </a:r>
          </a:p>
          <a:p>
            <a:pPr algn="just"/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L=15+F</a:t>
            </a:r>
          </a:p>
        </p:txBody>
      </p:sp>
    </p:spTree>
    <p:extLst>
      <p:ext uri="{BB962C8B-B14F-4D97-AF65-F5344CB8AC3E}">
        <p14:creationId xmlns:p14="http://schemas.microsoft.com/office/powerpoint/2010/main" val="139192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/>
      <p:bldP spid="42" grpId="1"/>
      <p:bldP spid="29" grpId="0" animBg="1"/>
      <p:bldP spid="30" grpId="0" animBg="1"/>
      <p:bldP spid="24" grpId="0" animBg="1"/>
      <p:bldP spid="25" grpId="0" animBg="1"/>
      <p:bldP spid="19" grpId="0" animBg="1"/>
      <p:bldP spid="20" grpId="0" animBg="1"/>
      <p:bldP spid="21" grpId="0" animBg="1"/>
      <p:bldP spid="21" grpId="1" animBg="1"/>
      <p:bldP spid="21" grpId="2" animBg="1"/>
      <p:bldP spid="14" grpId="0" animBg="1"/>
      <p:bldP spid="15" grpId="0" animBg="1"/>
      <p:bldP spid="16" grpId="0"/>
      <p:bldP spid="16" grpId="1"/>
      <p:bldP spid="2" grpId="0" animBg="1"/>
      <p:bldP spid="2" grpId="1" animBg="1"/>
      <p:bldP spid="2" grpId="2" animBg="1"/>
      <p:bldP spid="3" grpId="0"/>
      <p:bldP spid="3" grpId="1"/>
      <p:bldP spid="3" grpId="2"/>
      <p:bldP spid="4" grpId="0"/>
      <p:bldP spid="4" grpId="1"/>
      <p:bldP spid="4" grpId="2"/>
      <p:bldP spid="9" grpId="0" animBg="1"/>
      <p:bldP spid="9" grpId="1" animBg="1"/>
      <p:bldP spid="9" grpId="2" animBg="1"/>
      <p:bldP spid="11" grpId="0"/>
      <p:bldP spid="11" grpId="1"/>
      <p:bldP spid="11" grpId="2"/>
      <p:bldP spid="12" grpId="0" animBg="1"/>
      <p:bldP spid="12" grpId="1" animBg="1"/>
      <p:bldP spid="12" grpId="2" animBg="1"/>
      <p:bldP spid="13" grpId="0"/>
      <p:bldP spid="13" grpId="1"/>
      <p:bldP spid="13" grpId="2"/>
      <p:bldP spid="17" grpId="0" animBg="1"/>
      <p:bldP spid="17" grpId="1" animBg="1"/>
      <p:bldP spid="17" grpId="2" animBg="1"/>
      <p:bldP spid="18" grpId="0"/>
      <p:bldP spid="18" grpId="1"/>
      <p:bldP spid="18" grpId="2"/>
      <p:bldP spid="22" grpId="0"/>
      <p:bldP spid="22" grpId="1"/>
      <p:bldP spid="22" grpId="2"/>
      <p:bldP spid="23" grpId="0"/>
      <p:bldP spid="23" grpId="1"/>
      <p:bldP spid="26" grpId="0"/>
      <p:bldP spid="26" grpId="1"/>
      <p:bldP spid="27" grpId="0" animBg="1"/>
      <p:bldP spid="27" grpId="1" animBg="1"/>
      <p:bldP spid="27" grpId="2" animBg="1"/>
      <p:bldP spid="28" grpId="0"/>
      <p:bldP spid="28" grpId="1"/>
      <p:bldP spid="28" grpId="2"/>
      <p:bldP spid="31" grpId="0" animBg="1"/>
      <p:bldP spid="31" grpId="1" animBg="1"/>
      <p:bldP spid="31" grpId="2" animBg="1"/>
      <p:bldP spid="32" grpId="0"/>
      <p:bldP spid="32" grpId="1"/>
      <p:bldP spid="32" grpId="2"/>
      <p:bldP spid="33" grpId="0"/>
      <p:bldP spid="33" grpId="1"/>
      <p:bldP spid="34" grpId="0"/>
      <p:bldP spid="34" grpId="1"/>
      <p:bldP spid="34" grpId="2"/>
      <p:bldP spid="35" grpId="0"/>
      <p:bldP spid="35" grpId="1"/>
      <p:bldP spid="35" grpId="2"/>
      <p:bldP spid="36" grpId="0"/>
      <p:bldP spid="36" grpId="1"/>
      <p:bldP spid="36" grpId="2"/>
      <p:bldP spid="37" grpId="0" animBg="1"/>
      <p:bldP spid="37" grpId="1" animBg="1"/>
      <p:bldP spid="37" grpId="2" animBg="1"/>
      <p:bldP spid="38" grpId="0"/>
      <p:bldP spid="38" grpId="1"/>
      <p:bldP spid="38" grpId="2"/>
      <p:bldP spid="39" grpId="0"/>
      <p:bldP spid="39" grpId="1"/>
      <p:bldP spid="39" grpId="2"/>
      <p:bldP spid="43" grpId="0" animBg="1"/>
      <p:bldP spid="43" grpId="1" animBg="1"/>
      <p:bldP spid="43" grpId="2" animBg="1"/>
      <p:bldP spid="44" grpId="0"/>
      <p:bldP spid="44" grpId="1"/>
      <p:bldP spid="44" grpId="2"/>
      <p:bldP spid="46" grpId="0"/>
      <p:bldP spid="46" grpId="1"/>
      <p:bldP spid="46" grpId="2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3393</Words>
  <Application>Microsoft Office PowerPoint</Application>
  <PresentationFormat>宽屏</PresentationFormat>
  <Paragraphs>520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等线</vt:lpstr>
      <vt:lpstr>等线 Light</vt:lpstr>
      <vt:lpstr>华文楷体</vt:lpstr>
      <vt:lpstr>楷体</vt:lpstr>
      <vt:lpstr>微软雅黑</vt:lpstr>
      <vt:lpstr>Arial</vt:lpstr>
      <vt:lpstr>Calibri</vt:lpstr>
      <vt:lpstr>Candara</vt:lpstr>
      <vt:lpstr>Symbol</vt:lpstr>
      <vt:lpstr>Times New Roman</vt:lpstr>
      <vt:lpstr>Wingdings</vt:lpstr>
      <vt:lpstr>楷体_GB2312</vt:lpstr>
      <vt:lpstr>Office 主题​​</vt:lpstr>
      <vt:lpstr>PowerPoint 演示文稿</vt:lpstr>
      <vt:lpstr>一、给定文法 G(s)  S→(T)|a T→T,S|S (1) 计算该文法各非终结符的 FIRSTVT 和 LASTVT集(2) 构造算符优先表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构造下列正规式的最小的DFA     1(0|1)*101     (a|b)*(aa|bb)(a|b)*     b*(d|ad)(b|ab)+</dc:title>
  <dc:creator>xinlei wang</dc:creator>
  <cp:lastModifiedBy>xinlei wang</cp:lastModifiedBy>
  <cp:revision>13</cp:revision>
  <dcterms:created xsi:type="dcterms:W3CDTF">2024-04-01T02:42:03Z</dcterms:created>
  <dcterms:modified xsi:type="dcterms:W3CDTF">2024-05-27T05:31:30Z</dcterms:modified>
</cp:coreProperties>
</file>
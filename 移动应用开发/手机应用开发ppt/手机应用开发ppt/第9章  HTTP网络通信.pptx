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1803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877823">
              <a:defRPr b="1" sz="1919">
                <a:solidFill>
                  <a:srgbClr val="FFFFFF"/>
                </a:solidFill>
              </a:defRPr>
            </a:pPr>
            <a:r>
              <a:t>第9章  </a:t>
            </a:r>
            <a:r>
              <a:t>HTTP</a:t>
            </a:r>
            <a:r>
              <a:t>网络通信</a:t>
            </a:r>
            <a:endParaRPr sz="1008"/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826274" y="907873"/>
            <a:ext cx="3773350" cy="610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ctr">
              <a:defRPr sz="2800" u="sng">
                <a:solidFill>
                  <a:srgbClr val="FFFFFF"/>
                </a:solidFill>
              </a:defRPr>
            </a:pPr>
            <a:r>
              <a:t>第9章  </a:t>
            </a:r>
            <a:r>
              <a:t>HTTP</a:t>
            </a:r>
            <a:r>
              <a:t>网络通信</a:t>
            </a:r>
            <a:r>
              <a:t>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HTTP网络通信是实现起来最为便捷的网络通信方式，特别适合对低延迟要求不高，且与服务器端非持续连接的数据通信。HTTP网络通信需要客户端发送请求，服务器端才能发送数据。HTTP除了不适合移动设备作为服务器端，还特别不适合应用于低延迟的网络游戏和实时音视频传输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6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9.1  HttpURLConnection类"/>
          <p:cNvSpPr txBox="1"/>
          <p:nvPr/>
        </p:nvSpPr>
        <p:spPr>
          <a:xfrm>
            <a:off x="347979" y="1013142"/>
            <a:ext cx="325109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9.1  HttpURLConnection类</a:t>
            </a:r>
          </a:p>
        </p:txBody>
      </p:sp>
      <p:sp>
        <p:nvSpPr>
          <p:cNvPr id="68" name="HttpURLConnection类（java.net.HttpURLConnection）使用HTTP进行数据传输，GET和POST方法是HTTP使用较频繁的方法。通过HTTP向服务器端发送请求后，服务器端会返回状态码用于快速判断响应结果。"/>
          <p:cNvSpPr txBox="1"/>
          <p:nvPr/>
        </p:nvSpPr>
        <p:spPr>
          <a:xfrm>
            <a:off x="630368" y="1492721"/>
            <a:ext cx="7883264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HttpURLConnection类（java.net.HttpURLConnection）使用HTTP进行数据传输，GET和POST方法是HTTP使用较频繁的方法。通过HTTP向服务器端发送请求后，服务器端会返回状态码用于快速判断响应结果。</a:t>
            </a:r>
          </a:p>
        </p:txBody>
      </p:sp>
      <p:graphicFrame>
        <p:nvGraphicFramePr>
          <p:cNvPr id="69" name="表格"/>
          <p:cNvGraphicFramePr/>
          <p:nvPr/>
        </p:nvGraphicFramePr>
        <p:xfrm>
          <a:off x="1063764" y="3279747"/>
          <a:ext cx="7325078" cy="269832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114576"/>
                <a:gridCol w="2851011"/>
                <a:gridCol w="3346789"/>
              </a:tblGrid>
              <a:tr h="305298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状态码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HttpURLConnection类的常量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说     明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</a:tr>
              <a:tr h="287186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200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HTTP_OK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请求已成功，请求的响应头或数据体将随之返回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87186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400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HTTP_BAD_REQUEST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请求无效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87186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404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HTTP_NOT_FOUND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请求失败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87186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408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HTTP_CLIENT_TIMEOUT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请求超时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87186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500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HTTP_INTERNAL_ERROR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服务器内部错误，多源于服务器端的源代码出现错误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90541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505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HTTP_VERSION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服务器版本不支持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表格"/>
          <p:cNvGraphicFramePr/>
          <p:nvPr/>
        </p:nvGraphicFramePr>
        <p:xfrm>
          <a:off x="1570665" y="1606550"/>
          <a:ext cx="2540001" cy="291978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778259"/>
                <a:gridCol w="4470475"/>
              </a:tblGrid>
              <a:tr h="265434">
                <a:tc>
                  <a:txBody>
                    <a:bodyPr/>
                    <a:lstStyle/>
                    <a:p>
                      <a:pPr marR="457200" algn="l" defTabSz="266700">
                        <a:defRPr sz="1800"/>
                      </a:pPr>
                      <a:r>
                        <a:rPr sz="1400"/>
                        <a:t>类型和修饰符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457200" algn="ctr" defTabSz="266700">
                        <a:defRPr sz="1400"/>
                      </a:pPr>
                      <a:r>
                        <a:t>方</a:t>
                      </a:r>
                      <a:r>
                        <a:t>    </a:t>
                      </a:r>
                      <a:r>
                        <a:t>法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algn="l">
                        <a:defRPr sz="2500"/>
                      </a:pP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HttpURLConnection(URL u)
构造方法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void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addRequestProperty(String key, String value)
添加请求属性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abstract void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connect()
打开连接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abstract void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disconnect()
断开连接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String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getHeaderField(int n)
获取消息头的字段数据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long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getHeaderFieldDate(String name, long Default)
获取消息头的日期字段数据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String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getHeaderFieldKey(int n)
获取消息头的字段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String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getRequestMethod()
获取请求方式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int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getResponseCode()
获取HTTP响应消息的状态代码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400"/>
                        <a:t>String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lnSpc>
                          <a:spcPts val="1300"/>
                        </a:lnSpc>
                        <a:defRPr sz="1800"/>
                      </a:pPr>
                      <a:r>
                        <a:rPr sz="1400"/>
                        <a:t>getResponseMessage()
获取HTTP的响应消息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表格"/>
          <p:cNvGraphicFramePr/>
          <p:nvPr/>
        </p:nvGraphicFramePr>
        <p:xfrm>
          <a:off x="800500" y="2308212"/>
          <a:ext cx="7581100" cy="272670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116107"/>
                <a:gridCol w="2881127"/>
                <a:gridCol w="3571164"/>
              </a:tblGrid>
              <a:tr h="265434"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状态码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HttpURLConnection类的常量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457200" algn="ctr" defTabSz="266700">
                        <a:defRPr sz="1800"/>
                      </a:pPr>
                      <a:r>
                        <a:rPr sz="1200"/>
                        <a:t>说     明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  <a:solidFill>
                      <a:srgbClr val="E6E6E6"/>
                    </a:solidFill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defTabSz="266700">
                        <a:defRPr sz="1800"/>
                      </a:pPr>
                      <a:r>
                        <a:rPr sz="1200"/>
                        <a:t>200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HTTP_OK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请求已成功，请求的响应头或数据体将随之返回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defTabSz="266700">
                        <a:defRPr sz="1800"/>
                      </a:pPr>
                      <a:r>
                        <a:rPr sz="1200"/>
                        <a:t>400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HTTP_BAD_REQUEST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请求无效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defTabSz="266700">
                        <a:defRPr sz="1800"/>
                      </a:pPr>
                      <a:r>
                        <a:rPr sz="1200"/>
                        <a:t>404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HTTP_NOT_FOUND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请求失败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defTabSz="266700">
                        <a:defRPr sz="1800"/>
                      </a:pPr>
                      <a:r>
                        <a:rPr sz="1200"/>
                        <a:t>408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HTTP_CLIENT_TIMEOUT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请求超时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defTabSz="266700">
                        <a:defRPr sz="1800"/>
                      </a:pPr>
                      <a:r>
                        <a:rPr sz="1200"/>
                        <a:t>500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HTTP_INTERNAL_ERROR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服务器内部错误，多源于服务器端的源代码出现错误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635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  <a:tr h="265434">
                <a:tc>
                  <a:txBody>
                    <a:bodyPr/>
                    <a:lstStyle/>
                    <a:p>
                      <a:pPr marR="457200" defTabSz="266700">
                        <a:defRPr sz="1800"/>
                      </a:pPr>
                      <a:r>
                        <a:rPr sz="1200"/>
                        <a:t>505</a:t>
                      </a:r>
                    </a:p>
                  </a:txBody>
                  <a:tcPr marL="63500" marR="63500" marT="0" marB="0" anchor="ctr" anchorCtr="0" horzOverflow="overflow">
                    <a:lnL w="1270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HTTP_VERSION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635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just" defTabSz="266700">
                        <a:defRPr sz="1800"/>
                      </a:pPr>
                      <a:r>
                        <a:rPr sz="1200"/>
                        <a:t>服务器版本不支持</a:t>
                      </a:r>
                    </a:p>
                  </a:txBody>
                  <a:tcPr marL="63500" marR="63500" marT="0" marB="0" anchor="ctr" anchorCtr="0" horzOverflow="overflow">
                    <a:lnL w="6350">
                      <a:solidFill>
                        <a:srgbClr val="CBCBCB"/>
                      </a:solidFill>
                      <a:miter lim="400000"/>
                    </a:lnL>
                    <a:lnR w="12700">
                      <a:solidFill>
                        <a:srgbClr val="CBCBCB"/>
                      </a:solidFill>
                      <a:miter lim="400000"/>
                    </a:lnR>
                    <a:lnT w="6350"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实例工程：加载网络图片（带缓存）"/>
          <p:cNvSpPr txBox="1"/>
          <p:nvPr/>
        </p:nvSpPr>
        <p:spPr>
          <a:xfrm>
            <a:off x="347979" y="1013142"/>
            <a:ext cx="40513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实例工程：加载网络图片（带缓存）</a:t>
            </a:r>
          </a:p>
        </p:txBody>
      </p:sp>
      <p:pic>
        <p:nvPicPr>
          <p:cNvPr id="7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0313" y="1577047"/>
            <a:ext cx="7263374" cy="44851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实例工程：发布动态（POST方式）"/>
          <p:cNvSpPr txBox="1"/>
          <p:nvPr/>
        </p:nvSpPr>
        <p:spPr>
          <a:xfrm>
            <a:off x="347979" y="1013142"/>
            <a:ext cx="39879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实例工程：发布动态（POST方式）</a:t>
            </a:r>
          </a:p>
        </p:txBody>
      </p:sp>
      <p:pic>
        <p:nvPicPr>
          <p:cNvPr id="7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2432" y="1567365"/>
            <a:ext cx="7379136" cy="44730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实例工程：动态列表（GET方式）"/>
          <p:cNvSpPr txBox="1"/>
          <p:nvPr/>
        </p:nvSpPr>
        <p:spPr>
          <a:xfrm>
            <a:off x="347979" y="1013142"/>
            <a:ext cx="383542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实例工程：动态列表（GET方式）</a:t>
            </a:r>
          </a:p>
        </p:txBody>
      </p:sp>
      <p:pic>
        <p:nvPicPr>
          <p:cNvPr id="8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9062" y="1550502"/>
            <a:ext cx="4745876" cy="4474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1．实现文件下载的功能，将文件保存在缓存文件夹中。
2．实现服务器端登录验证的功能，验证地址为http://www.weiju2014.com/teachol/android/login.php，使用get方法，用户名的参数为name，密码的参数为password。可以使用的登录用户名为abc，密码为000，登录成功后返回的JSON数据为{"state":"ok"}，登录失败则返回{"state":"error"}。
3．实现服务器端获取动态中的图片并通过ListView控件显示图片，获取最近发布的100条动态数据，地址为http://www.weiju2014.com/teachol/android/DailyList.php?num= 100&amp;start=0。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8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
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349775" y="6289783"/>
            <a:ext cx="3794225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57231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第1章 Android的基础知识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417890" y="908230"/>
            <a:ext cx="4590118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第1章 Android的基础知识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Android的英文原意是机器人，Android图标也是一个机器人，来源于法国作家利尔·亚当在1886年发表的科幻小说《未来夏娃》，将外表像人的机器命名为Android。学习Android先从了解Android的历史开始，Android的诞生与Andy Rubin有关，Andy Rubin被称为Android之父。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1.1  Android与Andy Rubin"/>
          <p:cNvSpPr txBox="1"/>
          <p:nvPr/>
        </p:nvSpPr>
        <p:spPr>
          <a:xfrm>
            <a:off x="347979" y="1013142"/>
            <a:ext cx="321738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1.1  Android与Andy Rubin</a:t>
            </a:r>
          </a:p>
        </p:txBody>
      </p:sp>
      <p:sp>
        <p:nvSpPr>
          <p:cNvPr id="69" name="1989年，Andy Rubin被一名苹果公司工程师引荐到当时处在第一个全盛时期的苹果公司，参与名为Magic Cap的智能手机操作系统开发工作。…"/>
          <p:cNvSpPr txBox="1"/>
          <p:nvPr/>
        </p:nvSpPr>
        <p:spPr>
          <a:xfrm>
            <a:off x="347979" y="1670521"/>
            <a:ext cx="8378839" cy="5073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1989年，Andy Rubin被一名苹果公司工程师引荐到当时处在第一个全盛时期的苹果公司，参与名为Magic Cap的智能手机操作系统开发工作。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1999年，Andy Rubin创立了Danger公司，开发了一个名为Hiptop的类似智能手机雏形的设备，提出了“智能手机”的概念——“支持互联网”和“其上运行着能够实现不同功能的各种应用”。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2002年，Andy Rubin在斯坦福大学做了一次讲座，听众中包括Google公司的两位创始人Larry Page和Sergey Brin。互联网智能手机的理念深深打动了Larry Page，尤其是他注意到Danger产品上默认的搜索引擎为Google。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2003年，Andy Rubin等人创立了Android公司，并组建Android开发团队，注册了android.com域名，立志设计一个基于开源思想的移动平台。当时的手机操作系统都是手机厂商单独开发的，操作系统也是各手机厂商的核心技术，具有很强的封闭性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2005年，Andy Rubin靠自己的积蓄和朋友的支持，艰难地完成了Android系统。但在寻找投资方时并不顺利，突然Andy Rubin想到了Google公司的Larry Page，于是给他发了一封电子邮件。仅仅几周后，Google公司收购了成立仅22个月的Android公司。Andy Rubin成为Google公司工程部副总裁，继续负责Android项目。…"/>
          <p:cNvSpPr txBox="1"/>
          <p:nvPr/>
        </p:nvSpPr>
        <p:spPr>
          <a:xfrm>
            <a:off x="347979" y="1416521"/>
            <a:ext cx="8378839" cy="397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2005年，Andy Rubin靠自己的积蓄和朋友的支持，艰难地完成了Android系统。但在寻找投资方时并不顺利，突然Andy Rubin想到了Google公司的Larry Page，于是给他发了一封电子邮件。仅仅几周后，Google公司收购了成立仅22个月的Android公司。Andy Rubin成为Google公司工程部副总裁，继续负责Android项目。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2014年，Andy Rubin离开Google公司。2015年，Andy Rubin创立Essential公司，开发Android智能手机。两年后发布首款手机Essential PH-1，但是销量惨淡。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2020年2月12日，Essential公司正式宣布停止运营。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1.2  Android的开发环境"/>
          <p:cNvSpPr txBox="1"/>
          <p:nvPr/>
        </p:nvSpPr>
        <p:spPr>
          <a:xfrm>
            <a:off x="347979" y="1013142"/>
            <a:ext cx="284925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  Android的开发环境</a:t>
            </a:r>
          </a:p>
        </p:txBody>
      </p:sp>
      <p:sp>
        <p:nvSpPr>
          <p:cNvPr id="74" name="1.2.1  Android Studio的下载"/>
          <p:cNvSpPr txBox="1"/>
          <p:nvPr/>
        </p:nvSpPr>
        <p:spPr>
          <a:xfrm>
            <a:off x="347979" y="1543521"/>
            <a:ext cx="837883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1.2.1  Android Studio的下载</a:t>
            </a:r>
          </a:p>
        </p:txBody>
      </p:sp>
      <p:sp>
        <p:nvSpPr>
          <p:cNvPr id="75" name="https://developer.android.google.cn/studio/"/>
          <p:cNvSpPr txBox="1"/>
          <p:nvPr/>
        </p:nvSpPr>
        <p:spPr>
          <a:xfrm>
            <a:off x="2329285" y="5803617"/>
            <a:ext cx="473943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https://developer.android.google.cn/studio/</a:t>
            </a:r>
          </a:p>
        </p:txBody>
      </p:sp>
      <p:pic>
        <p:nvPicPr>
          <p:cNvPr id="7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638" y="2092200"/>
            <a:ext cx="6532724" cy="3583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1.2.2  Android Studio的安装"/>
          <p:cNvSpPr txBox="1"/>
          <p:nvPr/>
        </p:nvSpPr>
        <p:spPr>
          <a:xfrm>
            <a:off x="347979" y="1013142"/>
            <a:ext cx="335724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1.2.2  Android Studio的安装</a:t>
            </a:r>
          </a:p>
        </p:txBody>
      </p:sp>
      <p:sp>
        <p:nvSpPr>
          <p:cNvPr id="79" name="1．Windows版的安装"/>
          <p:cNvSpPr txBox="1"/>
          <p:nvPr/>
        </p:nvSpPr>
        <p:spPr>
          <a:xfrm>
            <a:off x="347979" y="1543521"/>
            <a:ext cx="837883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1．Windows版的安装</a:t>
            </a:r>
          </a:p>
        </p:txBody>
      </p:sp>
      <p:pic>
        <p:nvPicPr>
          <p:cNvPr id="8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43449" y="2073899"/>
            <a:ext cx="4587900" cy="34352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2．Mac版的安装"/>
          <p:cNvSpPr txBox="1"/>
          <p:nvPr/>
        </p:nvSpPr>
        <p:spPr>
          <a:xfrm>
            <a:off x="347979" y="1013142"/>
            <a:ext cx="210853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2．Mac版的安装</a:t>
            </a:r>
          </a:p>
        </p:txBody>
      </p:sp>
      <p:pic>
        <p:nvPicPr>
          <p:cNvPr id="83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4984" y="1670521"/>
            <a:ext cx="6334032" cy="43313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1.2.3  Android SDK的安装"/>
          <p:cNvSpPr txBox="1"/>
          <p:nvPr/>
        </p:nvSpPr>
        <p:spPr>
          <a:xfrm>
            <a:off x="347979" y="1013142"/>
            <a:ext cx="312886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1.2.3  Android SDK的安装</a:t>
            </a:r>
          </a:p>
        </p:txBody>
      </p:sp>
      <p:pic>
        <p:nvPicPr>
          <p:cNvPr id="8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66679" y="1454496"/>
            <a:ext cx="6010642" cy="45373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1.2.4  Android Studio界面"/>
          <p:cNvSpPr txBox="1"/>
          <p:nvPr/>
        </p:nvSpPr>
        <p:spPr>
          <a:xfrm>
            <a:off x="347979" y="1013142"/>
            <a:ext cx="312864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1.2.4  Android Studio界面</a:t>
            </a:r>
          </a:p>
        </p:txBody>
      </p:sp>
      <p:pic>
        <p:nvPicPr>
          <p:cNvPr id="8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0282" y="1632421"/>
            <a:ext cx="5205375" cy="4438192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菜单栏"/>
          <p:cNvSpPr txBox="1"/>
          <p:nvPr/>
        </p:nvSpPr>
        <p:spPr>
          <a:xfrm>
            <a:off x="6707137" y="1647202"/>
            <a:ext cx="1079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菜单栏</a:t>
            </a:r>
          </a:p>
        </p:txBody>
      </p:sp>
      <p:sp>
        <p:nvSpPr>
          <p:cNvPr id="91" name="工具栏"/>
          <p:cNvSpPr txBox="1"/>
          <p:nvPr/>
        </p:nvSpPr>
        <p:spPr>
          <a:xfrm>
            <a:off x="6707137" y="2148356"/>
            <a:ext cx="1079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工具栏</a:t>
            </a:r>
          </a:p>
        </p:txBody>
      </p:sp>
      <p:sp>
        <p:nvSpPr>
          <p:cNvPr id="92" name="导航条"/>
          <p:cNvSpPr txBox="1"/>
          <p:nvPr/>
        </p:nvSpPr>
        <p:spPr>
          <a:xfrm>
            <a:off x="6707137" y="2649510"/>
            <a:ext cx="1079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导航条</a:t>
            </a:r>
          </a:p>
        </p:txBody>
      </p:sp>
      <p:sp>
        <p:nvSpPr>
          <p:cNvPr id="93" name="左侧工具条"/>
          <p:cNvSpPr txBox="1"/>
          <p:nvPr/>
        </p:nvSpPr>
        <p:spPr>
          <a:xfrm>
            <a:off x="6707137" y="3150665"/>
            <a:ext cx="15367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左侧工具条</a:t>
            </a:r>
          </a:p>
        </p:txBody>
      </p:sp>
      <p:sp>
        <p:nvSpPr>
          <p:cNvPr id="94" name="工具窗口"/>
          <p:cNvSpPr txBox="1"/>
          <p:nvPr/>
        </p:nvSpPr>
        <p:spPr>
          <a:xfrm>
            <a:off x="6707137" y="3651819"/>
            <a:ext cx="13081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工具窗口</a:t>
            </a:r>
          </a:p>
        </p:txBody>
      </p:sp>
      <p:sp>
        <p:nvSpPr>
          <p:cNvPr id="95" name="编辑器"/>
          <p:cNvSpPr txBox="1"/>
          <p:nvPr/>
        </p:nvSpPr>
        <p:spPr>
          <a:xfrm>
            <a:off x="6707137" y="4152973"/>
            <a:ext cx="1079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编辑器</a:t>
            </a:r>
          </a:p>
        </p:txBody>
      </p:sp>
      <p:sp>
        <p:nvSpPr>
          <p:cNvPr id="96" name="右侧工具条"/>
          <p:cNvSpPr txBox="1"/>
          <p:nvPr/>
        </p:nvSpPr>
        <p:spPr>
          <a:xfrm>
            <a:off x="6707137" y="4654127"/>
            <a:ext cx="15367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右侧工具条</a:t>
            </a:r>
          </a:p>
        </p:txBody>
      </p:sp>
      <p:sp>
        <p:nvSpPr>
          <p:cNvPr id="97" name="运行工具窗口"/>
          <p:cNvSpPr txBox="1"/>
          <p:nvPr/>
        </p:nvSpPr>
        <p:spPr>
          <a:xfrm>
            <a:off x="6707137" y="5155282"/>
            <a:ext cx="17653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运行工具窗口</a:t>
            </a:r>
          </a:p>
        </p:txBody>
      </p:sp>
      <p:sp>
        <p:nvSpPr>
          <p:cNvPr id="98" name="状态栏"/>
          <p:cNvSpPr txBox="1"/>
          <p:nvPr/>
        </p:nvSpPr>
        <p:spPr>
          <a:xfrm>
            <a:off x="6707137" y="5656436"/>
            <a:ext cx="107950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状态栏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1.2.5  Gradle更新"/>
          <p:cNvSpPr txBox="1"/>
          <p:nvPr/>
        </p:nvSpPr>
        <p:spPr>
          <a:xfrm>
            <a:off x="347979" y="1013142"/>
            <a:ext cx="221055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1.2.5  Gradle更新</a:t>
            </a:r>
          </a:p>
        </p:txBody>
      </p:sp>
      <p:sp>
        <p:nvSpPr>
          <p:cNvPr id="101" name="1．Windows版的手动更新"/>
          <p:cNvSpPr txBox="1"/>
          <p:nvPr/>
        </p:nvSpPr>
        <p:spPr>
          <a:xfrm>
            <a:off x="356138" y="1670521"/>
            <a:ext cx="3122167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1．Windows版的手动更新</a:t>
            </a:r>
          </a:p>
        </p:txBody>
      </p:sp>
      <p:pic>
        <p:nvPicPr>
          <p:cNvPr id="10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3640" y="2185152"/>
            <a:ext cx="6440172" cy="1529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1412" y="4919224"/>
            <a:ext cx="8344627" cy="1039775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2．Mac版的手动更新"/>
          <p:cNvSpPr txBox="1"/>
          <p:nvPr/>
        </p:nvSpPr>
        <p:spPr>
          <a:xfrm>
            <a:off x="426149" y="4112542"/>
            <a:ext cx="256573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2．Mac版的手动更新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1.2.6  重构Java工程"/>
          <p:cNvSpPr txBox="1"/>
          <p:nvPr/>
        </p:nvSpPr>
        <p:spPr>
          <a:xfrm>
            <a:off x="347979" y="1013142"/>
            <a:ext cx="245210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1.2.6  重构Java工程</a:t>
            </a:r>
          </a:p>
        </p:txBody>
      </p:sp>
      <p:pic>
        <p:nvPicPr>
          <p:cNvPr id="107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3742" y="2556201"/>
            <a:ext cx="7118517" cy="17455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1.3  创建Android工程"/>
          <p:cNvSpPr txBox="1"/>
          <p:nvPr/>
        </p:nvSpPr>
        <p:spPr>
          <a:xfrm>
            <a:off x="347979" y="1013142"/>
            <a:ext cx="262902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  创建Android工程</a:t>
            </a:r>
          </a:p>
        </p:txBody>
      </p:sp>
      <p:sp>
        <p:nvSpPr>
          <p:cNvPr id="110" name="1.3.1  Android工程的新建命令"/>
          <p:cNvSpPr txBox="1"/>
          <p:nvPr/>
        </p:nvSpPr>
        <p:spPr>
          <a:xfrm>
            <a:off x="347979" y="1476705"/>
            <a:ext cx="3497103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1.3.1  Android工程的新建命令</a:t>
            </a:r>
          </a:p>
        </p:txBody>
      </p:sp>
      <p:sp>
        <p:nvSpPr>
          <p:cNvPr id="111" name="1.3.2  Android工程的创建向导"/>
          <p:cNvSpPr txBox="1"/>
          <p:nvPr/>
        </p:nvSpPr>
        <p:spPr>
          <a:xfrm>
            <a:off x="347979" y="3215099"/>
            <a:ext cx="3497103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1.3.2  Android工程的创建向导</a:t>
            </a:r>
          </a:p>
        </p:txBody>
      </p:sp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4884" y="1907413"/>
            <a:ext cx="7734301" cy="114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2436" y="3788724"/>
            <a:ext cx="3237883" cy="2594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图像" descr="图像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74778" y="3177848"/>
            <a:ext cx="3975101" cy="2984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1.3.3  虚拟设备运行工程"/>
          <p:cNvSpPr txBox="1"/>
          <p:nvPr/>
        </p:nvSpPr>
        <p:spPr>
          <a:xfrm>
            <a:off x="347979" y="1013142"/>
            <a:ext cx="28579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1.3.3  虚拟设备运行工程</a:t>
            </a:r>
          </a:p>
        </p:txBody>
      </p:sp>
      <p:pic>
        <p:nvPicPr>
          <p:cNvPr id="117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5600" y="1670521"/>
            <a:ext cx="8432800" cy="72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7031" y="2509886"/>
            <a:ext cx="5337993" cy="35877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图像" descr="图像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24848" y="2801490"/>
            <a:ext cx="1917701" cy="3238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1.3.4  物理设备运行工程"/>
          <p:cNvSpPr txBox="1"/>
          <p:nvPr/>
        </p:nvSpPr>
        <p:spPr>
          <a:xfrm>
            <a:off x="347979" y="1013142"/>
            <a:ext cx="28579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1.3.4  物理设备运行工程</a:t>
            </a:r>
          </a:p>
        </p:txBody>
      </p:sp>
      <p:pic>
        <p:nvPicPr>
          <p:cNvPr id="12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3294" y="4230923"/>
            <a:ext cx="5473701" cy="558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02166" y="1421034"/>
            <a:ext cx="2260601" cy="42926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使用USB线将手机连接到计算机，在工具栏的运行/调试设备下拉菜单中会显示连接的手机作为首选项。单击“Run 'app'(^R)”按钮，会编译工程并安装在连接的手机上，然后自动启动运行。"/>
          <p:cNvSpPr txBox="1"/>
          <p:nvPr/>
        </p:nvSpPr>
        <p:spPr>
          <a:xfrm>
            <a:off x="347979" y="1670521"/>
            <a:ext cx="5724331" cy="150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使用USB线将手机连接到计算机，在工具栏的运行/调试设备下拉菜单中会显示连接的手机作为首选项。单击“Run 'app'(^R)”按钮，会编译工程并安装在连接的手机上，然后自动启动运行。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1.3.5  生成签名的APK文件"/>
          <p:cNvSpPr txBox="1"/>
          <p:nvPr/>
        </p:nvSpPr>
        <p:spPr>
          <a:xfrm>
            <a:off x="347979" y="1013142"/>
            <a:ext cx="311201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1.3.5  生成签名的APK文件</a:t>
            </a:r>
          </a:p>
        </p:txBody>
      </p:sp>
      <p:sp>
        <p:nvSpPr>
          <p:cNvPr id="127" name="APK文件是App的安装文件，设置APK文件签名的目的是让App不被恶意生成的APK文件覆盖安装。在升级App时，只有同一签名的APK文件才能对App进行升级，从而避免恶意覆盖。"/>
          <p:cNvSpPr txBox="1"/>
          <p:nvPr/>
        </p:nvSpPr>
        <p:spPr>
          <a:xfrm>
            <a:off x="347979" y="1454496"/>
            <a:ext cx="8341618" cy="1139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APK文件是App的安装文件，设置APK文件签名的目的是让App不被恶意生成的APK文件覆盖安装。在升级App时，只有同一签名的APK文件才能对App进行升级，从而避免恶意覆盖。</a:t>
            </a:r>
          </a:p>
        </p:txBody>
      </p:sp>
      <p:pic>
        <p:nvPicPr>
          <p:cNvPr id="128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3962" y="2689599"/>
            <a:ext cx="4236393" cy="29793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09018" y="2265858"/>
            <a:ext cx="3794226" cy="3852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939" y="1155700"/>
            <a:ext cx="3885606" cy="29346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1232" y="2981993"/>
            <a:ext cx="4126201" cy="31155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1.4  Android的工程结构"/>
          <p:cNvSpPr txBox="1"/>
          <p:nvPr/>
        </p:nvSpPr>
        <p:spPr>
          <a:xfrm>
            <a:off x="347979" y="1013142"/>
            <a:ext cx="284925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1.4  Android的工程结构</a:t>
            </a:r>
          </a:p>
        </p:txBody>
      </p:sp>
      <p:sp>
        <p:nvSpPr>
          <p:cNvPr id="135" name="1.4.1  Project视图"/>
          <p:cNvSpPr txBox="1"/>
          <p:nvPr/>
        </p:nvSpPr>
        <p:spPr>
          <a:xfrm>
            <a:off x="347979" y="1454496"/>
            <a:ext cx="226134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1.4.1  Project视图</a:t>
            </a:r>
          </a:p>
        </p:txBody>
      </p:sp>
      <p:sp>
        <p:nvSpPr>
          <p:cNvPr id="136" name="1.4.2  AndroidManifest.xml文件"/>
          <p:cNvSpPr txBox="1"/>
          <p:nvPr/>
        </p:nvSpPr>
        <p:spPr>
          <a:xfrm>
            <a:off x="4151696" y="1443053"/>
            <a:ext cx="373876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1.4.2  AndroidManifest.xml文件</a:t>
            </a:r>
          </a:p>
        </p:txBody>
      </p:sp>
      <p:sp>
        <p:nvSpPr>
          <p:cNvPr id="137" name="1．&lt;manifest&gt;标签"/>
          <p:cNvSpPr txBox="1"/>
          <p:nvPr/>
        </p:nvSpPr>
        <p:spPr>
          <a:xfrm>
            <a:off x="4151696" y="2003141"/>
            <a:ext cx="2413708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1．&lt;manifest&gt;标签</a:t>
            </a:r>
          </a:p>
        </p:txBody>
      </p:sp>
      <p:sp>
        <p:nvSpPr>
          <p:cNvPr id="138" name="xmlns:android属性：设置Android API的命名空间，用于识别控件的属性。…"/>
          <p:cNvSpPr txBox="1"/>
          <p:nvPr/>
        </p:nvSpPr>
        <p:spPr>
          <a:xfrm>
            <a:off x="4151696" y="2563229"/>
            <a:ext cx="4236393" cy="1787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xmlns:android属性：设置Android API的命名空间，用于识别控件的属性。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package属性：设置App的包名。</a:t>
            </a:r>
          </a:p>
        </p:txBody>
      </p:sp>
      <p:pic>
        <p:nvPicPr>
          <p:cNvPr id="139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4308" y="1983138"/>
            <a:ext cx="2456371" cy="44480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2．&lt;application&gt;标签"/>
          <p:cNvSpPr txBox="1"/>
          <p:nvPr/>
        </p:nvSpPr>
        <p:spPr>
          <a:xfrm>
            <a:off x="347979" y="1013142"/>
            <a:ext cx="2680260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2．&lt;application&gt;标签</a:t>
            </a:r>
          </a:p>
        </p:txBody>
      </p:sp>
      <p:sp>
        <p:nvSpPr>
          <p:cNvPr id="142" name="android:allowBackup属性：设置App数据的备份和恢复功能，默认值为true，可以通过adb backup和adb restore对App数据进行备份和恢复。…"/>
          <p:cNvSpPr txBox="1"/>
          <p:nvPr/>
        </p:nvSpPr>
        <p:spPr>
          <a:xfrm>
            <a:off x="347979" y="1454496"/>
            <a:ext cx="8167880" cy="365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android:allowBackup属性：设置App数据的备份和恢复功能，默认值为true，可以通过adb backup和adb restore对App数据进行备份和恢复。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android:icon属性：设置一个Drawable资源作为App的普通图标。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android:label属性：设置App的名称。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android:roundIcon属性：设置一个Drawable资源作为App的圆形图标。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android:supportsRtl属性：设置是否支持从右到左的布局，默认值为true。当build.gradle文件中的targetSdkVersion值设置为17或更高时，可以使用RTL（right-to-left）布局。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android:theme属性：设置界面皮肤主题。</a:t>
            </a:r>
          </a:p>
        </p:txBody>
      </p:sp>
      <p:sp>
        <p:nvSpPr>
          <p:cNvPr id="143" name="3．&lt;activity&gt;标签"/>
          <p:cNvSpPr txBox="1"/>
          <p:nvPr/>
        </p:nvSpPr>
        <p:spPr>
          <a:xfrm>
            <a:off x="373380" y="4835842"/>
            <a:ext cx="226145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3．&lt;activity&gt;标签</a:t>
            </a:r>
          </a:p>
        </p:txBody>
      </p:sp>
      <p:sp>
        <p:nvSpPr>
          <p:cNvPr id="144" name="4．&lt;intent-filter&gt;标签"/>
          <p:cNvSpPr txBox="1"/>
          <p:nvPr/>
        </p:nvSpPr>
        <p:spPr>
          <a:xfrm>
            <a:off x="373379" y="5228924"/>
            <a:ext cx="26673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4．&lt;intent-filter&gt;标签</a:t>
            </a:r>
          </a:p>
        </p:txBody>
      </p:sp>
      <p:sp>
        <p:nvSpPr>
          <p:cNvPr id="145" name="5．&lt;action&gt;标签"/>
          <p:cNvSpPr txBox="1"/>
          <p:nvPr/>
        </p:nvSpPr>
        <p:spPr>
          <a:xfrm>
            <a:off x="373380" y="5622006"/>
            <a:ext cx="21468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5．&lt;action&gt;标签</a:t>
            </a:r>
          </a:p>
        </p:txBody>
      </p:sp>
      <p:sp>
        <p:nvSpPr>
          <p:cNvPr id="146" name="6．&lt;category&gt;标签"/>
          <p:cNvSpPr txBox="1"/>
          <p:nvPr/>
        </p:nvSpPr>
        <p:spPr>
          <a:xfrm>
            <a:off x="373379" y="6015087"/>
            <a:ext cx="242654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6．&lt;category&gt;标签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1.4.3  build.gradle文件"/>
          <p:cNvSpPr txBox="1"/>
          <p:nvPr/>
        </p:nvSpPr>
        <p:spPr>
          <a:xfrm>
            <a:off x="347979" y="1315469"/>
            <a:ext cx="278183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1.4.3  build.gradle文件</a:t>
            </a:r>
          </a:p>
        </p:txBody>
      </p:sp>
      <p:sp>
        <p:nvSpPr>
          <p:cNvPr id="149" name="顶级build.gradle文件位于项目根目录，用于配置适合项目中所有模块的构建设置。默认情况下，顶级build.gradle文件使用buildscript{}代码块来定义项目中所有模块共用的Gradle存储区和依赖项。…"/>
          <p:cNvSpPr txBox="1"/>
          <p:nvPr/>
        </p:nvSpPr>
        <p:spPr>
          <a:xfrm>
            <a:off x="347979" y="1756823"/>
            <a:ext cx="8448042" cy="2196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顶级build.gradle文件位于项目根目录，用于配置适合项目中所有模块的构建设置。默认情况下，顶级build.gradle文件使用buildscript{}代码块来定义项目中所有模块共用的Gradle存储区和依赖项。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模块级build.gradle文件位于project/module文件夹中，用于配置适合其所在模块的构建设置，通过配置这些构建设置可以提供自定义打包选项。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1.4.4  res文件夹"/>
          <p:cNvSpPr txBox="1"/>
          <p:nvPr/>
        </p:nvSpPr>
        <p:spPr>
          <a:xfrm>
            <a:off x="347979" y="1315469"/>
            <a:ext cx="2058195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1.4.4  res文件夹</a:t>
            </a:r>
          </a:p>
        </p:txBody>
      </p:sp>
      <p:sp>
        <p:nvSpPr>
          <p:cNvPr id="152" name="drawable：用于存储图像和XMLDrawable文件，XMLDrawable分为AnimationDrawable、Bitmap- Drawable、ClipDrawable、ColorDrawable、Gradient- Drawable、NinePatchDrawable、RotateDrawable、StateListDrawable、ShapeDrawable和Transition- Drawable等类型。…"/>
          <p:cNvSpPr txBox="1"/>
          <p:nvPr/>
        </p:nvSpPr>
        <p:spPr>
          <a:xfrm>
            <a:off x="347979" y="1756823"/>
            <a:ext cx="8448042" cy="3656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drawable：用于存储图像和XMLDrawable文件，XMLDrawable分为AnimationDrawable、Bitmap- Drawable、ClipDrawable、ColorDrawable、Gradient- Drawable、NinePatchDrawable、RotateDrawable、StateListDrawable、ShapeDrawable和Transition- Drawable等类型。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layout：用于存储界面布局文件。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mipmap：用于存储图标文件，默认包含自动生成的Launcher Icons（桌面图标），还可以存储Action Bar and Tab Icons（桌面图标）和Notification Icons（通知图标）。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values：用于存储colors.xml、strings.xml和styles.xml等文件。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表格 7"/>
          <p:cNvGraphicFramePr/>
          <p:nvPr/>
        </p:nvGraphicFramePr>
        <p:xfrm>
          <a:off x="611560" y="2009799"/>
          <a:ext cx="8005589" cy="279527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2782570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1．下载最新版本的Android Studio，安装后如果需要更新Gradle，则将其更新到最新版本。
2．创建一个任意类型的手机App工程，分别使用虚拟设备和物理设备运行。
3．在build.gradle文件中修改支持的API最低版本，然后生成带签名的APK文件。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
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4089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第2章 基础UI控件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3021004" y="908230"/>
            <a:ext cx="3383891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第2章 基础UI控件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用户最直接接触App的部分是App的界面，App界面的核心组成部分是UI控件。Android提供了丰富的UI控件，不但能呈现丰富多彩的内容，还能进行人机交互。基础UI控件可以单独使用，无须依靠其他UI控件或适配器就可以实现核心功能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2.1  UI控件基础"/>
          <p:cNvSpPr txBox="1"/>
          <p:nvPr/>
        </p:nvSpPr>
        <p:spPr>
          <a:xfrm>
            <a:off x="347979" y="1013142"/>
            <a:ext cx="19815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  UI控件基础</a:t>
            </a:r>
          </a:p>
        </p:txBody>
      </p:sp>
      <p:sp>
        <p:nvSpPr>
          <p:cNvPr id="69" name="2.1.1  UI控件的创建方式"/>
          <p:cNvSpPr txBox="1"/>
          <p:nvPr/>
        </p:nvSpPr>
        <p:spPr>
          <a:xfrm>
            <a:off x="347979" y="1365721"/>
            <a:ext cx="837883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2.1.1  UI控件的创建方式</a:t>
            </a:r>
          </a:p>
        </p:txBody>
      </p:sp>
      <p:sp>
        <p:nvSpPr>
          <p:cNvPr id="70" name="1．XML标签创建UI控件"/>
          <p:cNvSpPr txBox="1"/>
          <p:nvPr/>
        </p:nvSpPr>
        <p:spPr>
          <a:xfrm>
            <a:off x="347979" y="1819899"/>
            <a:ext cx="837883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1．XML标签创建UI控件</a:t>
            </a:r>
          </a:p>
        </p:txBody>
      </p:sp>
      <p:pic>
        <p:nvPicPr>
          <p:cNvPr id="7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9184" y="2398894"/>
            <a:ext cx="6476430" cy="3781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2．动态创建UI控件"/>
          <p:cNvSpPr txBox="1"/>
          <p:nvPr/>
        </p:nvSpPr>
        <p:spPr>
          <a:xfrm>
            <a:off x="347979" y="1013142"/>
            <a:ext cx="234963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2．动态创建UI控件</a:t>
            </a:r>
          </a:p>
        </p:txBody>
      </p:sp>
      <p:pic>
        <p:nvPicPr>
          <p:cNvPr id="7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64" y="1581620"/>
            <a:ext cx="8216901" cy="4572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2.1.2  View子类的常用属性"/>
          <p:cNvSpPr txBox="1"/>
          <p:nvPr/>
        </p:nvSpPr>
        <p:spPr>
          <a:xfrm>
            <a:off x="347979" y="1013142"/>
            <a:ext cx="314627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2.1.2  View子类的常用属性</a:t>
            </a:r>
          </a:p>
        </p:txBody>
      </p:sp>
      <p:sp>
        <p:nvSpPr>
          <p:cNvPr id="77" name="1．XML标签的常用属性"/>
          <p:cNvSpPr txBox="1"/>
          <p:nvPr/>
        </p:nvSpPr>
        <p:spPr>
          <a:xfrm>
            <a:off x="347979" y="1454496"/>
            <a:ext cx="283217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1．XML标签的常用属性</a:t>
            </a:r>
          </a:p>
        </p:txBody>
      </p:sp>
      <p:pic>
        <p:nvPicPr>
          <p:cNvPr id="7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992" y="1895849"/>
            <a:ext cx="7578016" cy="41855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2．常用的View子类方法"/>
          <p:cNvSpPr txBox="1"/>
          <p:nvPr/>
        </p:nvSpPr>
        <p:spPr>
          <a:xfrm>
            <a:off x="347979" y="1013142"/>
            <a:ext cx="286655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2．常用的View子类方法</a:t>
            </a:r>
          </a:p>
        </p:txBody>
      </p:sp>
      <p:pic>
        <p:nvPicPr>
          <p:cNvPr id="8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4121" y="1534888"/>
            <a:ext cx="7195758" cy="44815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2.1.3  UI控件的常用单位"/>
          <p:cNvSpPr txBox="1"/>
          <p:nvPr/>
        </p:nvSpPr>
        <p:spPr>
          <a:xfrm>
            <a:off x="347979" y="1013142"/>
            <a:ext cx="28579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2.1.3  UI控件的常用单位</a:t>
            </a:r>
          </a:p>
        </p:txBody>
      </p:sp>
      <p:sp>
        <p:nvSpPr>
          <p:cNvPr id="84" name="px：像素（pixel），每个单位像素代表屏幕上的一个显示点。100px的图像在不同分辨率的手机上显示的大小是不同的，即使同样尺寸的屏幕，分辨率也可能不同，因此不建议使用该单位。…"/>
          <p:cNvSpPr txBox="1"/>
          <p:nvPr/>
        </p:nvSpPr>
        <p:spPr>
          <a:xfrm>
            <a:off x="347979" y="1505296"/>
            <a:ext cx="8448042" cy="406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px：像素（pixel），每个单位像素代表屏幕上的一个显示点。100px的图像在不同分辨率的手机上显示的大小是不同的，即使同样尺寸的屏幕，分辨率也可能不同，因此不建议使用该单位。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dp：设备独立像素、等同于dip（density-independent pixel），转换公式为dp×dpi/ 160=px。160dpi的中密度手机屏幕为基准屏幕，此时1dp=1px。100dp在320×480（MDPI，160dpi）的手机上是100px，100dp在480×800（HDPI，240dpi）的手机上是150px，但它们都是100dp。不管屏幕的像素密度是多少，相同dp大小的元素在屏幕上显示的大小始终都差不多，因此控件多使用该单位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sp：与缩放无关的抽象像素（scale-independent pixel），与dp类似，转换公式为sp×dpi/160=px。当用户通过手机设置修改手机字体时，以sp为单位的字体会随着改变，因此字号多使用该单位。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2.2  文 本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2.2  文 本 视 图</a:t>
            </a:r>
          </a:p>
        </p:txBody>
      </p:sp>
      <p:sp>
        <p:nvSpPr>
          <p:cNvPr id="87" name="TextView控件（android.widget.TextView）是用于显示文本信息的UI控件，是android.view.View的子类。"/>
          <p:cNvSpPr txBox="1"/>
          <p:nvPr/>
        </p:nvSpPr>
        <p:spPr>
          <a:xfrm>
            <a:off x="627380" y="1505296"/>
            <a:ext cx="4939168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TextView控件（android.widget.TextView）是用于显示文本信息的UI控件，是android.view.View的子类。</a:t>
            </a:r>
          </a:p>
        </p:txBody>
      </p:sp>
      <p:pic>
        <p:nvPicPr>
          <p:cNvPr id="8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69520" y="1227823"/>
            <a:ext cx="2355355" cy="46790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2.3  输  入  框"/>
          <p:cNvSpPr txBox="1"/>
          <p:nvPr/>
        </p:nvSpPr>
        <p:spPr>
          <a:xfrm>
            <a:off x="347979" y="1013142"/>
            <a:ext cx="17783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2.3  输  入  框</a:t>
            </a:r>
          </a:p>
        </p:txBody>
      </p:sp>
      <p:sp>
        <p:nvSpPr>
          <p:cNvPr id="91" name="EditText控件（android.widget.EditText）是用于输入和编辑文本内容的UI控件，是android.widget.TextView的子类。"/>
          <p:cNvSpPr txBox="1"/>
          <p:nvPr/>
        </p:nvSpPr>
        <p:spPr>
          <a:xfrm>
            <a:off x="652780" y="1505296"/>
            <a:ext cx="3185337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EditText控件（android.widget.EditText）是用于输入和编辑文本内容的UI控件，是android.widget.TextView的子类。</a:t>
            </a:r>
          </a:p>
        </p:txBody>
      </p:sp>
      <p:pic>
        <p:nvPicPr>
          <p:cNvPr id="9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5208" y="1437151"/>
            <a:ext cx="4587900" cy="44764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2.4  按    钮"/>
          <p:cNvSpPr txBox="1"/>
          <p:nvPr/>
        </p:nvSpPr>
        <p:spPr>
          <a:xfrm>
            <a:off x="347979" y="1013142"/>
            <a:ext cx="15497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2.4  按    钮</a:t>
            </a:r>
          </a:p>
        </p:txBody>
      </p:sp>
      <p:sp>
        <p:nvSpPr>
          <p:cNvPr id="95" name="Button控件（android.widget.Button）是按钮的UI控件，是android.widget.TextView的子类。"/>
          <p:cNvSpPr txBox="1"/>
          <p:nvPr/>
        </p:nvSpPr>
        <p:spPr>
          <a:xfrm>
            <a:off x="601980" y="1505296"/>
            <a:ext cx="4873064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Button控件（android.widget.Button）是按钮的UI控件，是android.widget.TextView的子类。</a:t>
            </a:r>
          </a:p>
        </p:txBody>
      </p:sp>
      <p:pic>
        <p:nvPicPr>
          <p:cNvPr id="9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34488" y="1170010"/>
            <a:ext cx="2425419" cy="47946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2.5  图 像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2.5  图 像 视 图</a:t>
            </a:r>
          </a:p>
        </p:txBody>
      </p:sp>
      <p:sp>
        <p:nvSpPr>
          <p:cNvPr id="99" name="ImageView控件（android.widget.ImageView）是用于显示图像的UI控件，是android.view.View的子类。图像通常存储在“drawable”资源文件夹中或下载后显示出来。"/>
          <p:cNvSpPr txBox="1"/>
          <p:nvPr/>
        </p:nvSpPr>
        <p:spPr>
          <a:xfrm>
            <a:off x="627380" y="1505296"/>
            <a:ext cx="481512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ImageView控件（android.widget.ImageView）是用于显示图像的UI控件，是android.view.View的子类。图像通常存储在“drawable”资源文件夹中或下载后显示出来。</a:t>
            </a:r>
          </a:p>
        </p:txBody>
      </p:sp>
      <p:pic>
        <p:nvPicPr>
          <p:cNvPr id="10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25041" y="1112988"/>
            <a:ext cx="2552313" cy="4980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2.6  图 像 按 钮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2.6  图 像 按 钮</a:t>
            </a:r>
          </a:p>
        </p:txBody>
      </p:sp>
      <p:sp>
        <p:nvSpPr>
          <p:cNvPr id="103" name="ImageButton控件（android.widget.ImageButton）是图像按钮的UI控件，是android. widget. ImageView的子类，不但能够显示图像，而且能实现按钮的功能。"/>
          <p:cNvSpPr txBox="1"/>
          <p:nvPr/>
        </p:nvSpPr>
        <p:spPr>
          <a:xfrm>
            <a:off x="627380" y="1505296"/>
            <a:ext cx="481512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ImageButton控件（android.widget.ImageButton）是图像按钮的UI控件，是android. widget. ImageView的子类，不但能够显示图像，而且能实现按钮的功能。</a:t>
            </a:r>
          </a:p>
        </p:txBody>
      </p:sp>
      <p:pic>
        <p:nvPicPr>
          <p:cNvPr id="10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507" y="1017212"/>
            <a:ext cx="2555381" cy="51002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2.7  单 选 按 钮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2.7  单 选 按 钮</a:t>
            </a:r>
          </a:p>
        </p:txBody>
      </p:sp>
      <p:sp>
        <p:nvSpPr>
          <p:cNvPr id="107" name="RadioButton控件（android.widget.RadioButton）是单选按钮的UI控件，是android.widget. CompoundButton的子类。只有同一个RadioButtonGroup中的RadioButton才能实现真正的单选功能。"/>
          <p:cNvSpPr txBox="1"/>
          <p:nvPr/>
        </p:nvSpPr>
        <p:spPr>
          <a:xfrm>
            <a:off x="627380" y="1505296"/>
            <a:ext cx="4815125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RadioButton控件（android.widget.RadioButton）是单选按钮的UI控件，是android.widget. CompoundButton的子类。只有同一个RadioButtonGroup中的RadioButton才能实现真正的单选功能。</a:t>
            </a:r>
          </a:p>
        </p:txBody>
      </p:sp>
      <p:pic>
        <p:nvPicPr>
          <p:cNvPr id="10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47925" y="1176810"/>
            <a:ext cx="2398546" cy="47810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2.8  复  选  框"/>
          <p:cNvSpPr txBox="1"/>
          <p:nvPr/>
        </p:nvSpPr>
        <p:spPr>
          <a:xfrm>
            <a:off x="347979" y="1013142"/>
            <a:ext cx="17783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2.8  复  选  框</a:t>
            </a:r>
          </a:p>
        </p:txBody>
      </p:sp>
      <p:sp>
        <p:nvSpPr>
          <p:cNvPr id="111" name="CheckBox控件（android.widget.Checkbox）是复选框的UI控件，是android.widget. CompoundButton的子类。"/>
          <p:cNvSpPr txBox="1"/>
          <p:nvPr/>
        </p:nvSpPr>
        <p:spPr>
          <a:xfrm>
            <a:off x="627380" y="1505296"/>
            <a:ext cx="2359856" cy="255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CheckBox控件（android.widget.Checkbox）是复选框的UI控件，是android.widget. CompoundButton的子类。</a:t>
            </a:r>
          </a:p>
        </p:txBody>
      </p:sp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51606" y="1263486"/>
            <a:ext cx="5147067" cy="48343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2.9  开 关 按 钮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2.9  开 关 按 钮</a:t>
            </a:r>
          </a:p>
        </p:txBody>
      </p:sp>
      <p:sp>
        <p:nvSpPr>
          <p:cNvPr id="115" name="Switch控件（android.widget.Switch）是开关按钮的UI控件，是android.widget. CompoundButton的子类。"/>
          <p:cNvSpPr txBox="1"/>
          <p:nvPr/>
        </p:nvSpPr>
        <p:spPr>
          <a:xfrm>
            <a:off x="627380" y="1505296"/>
            <a:ext cx="4798677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Switch控件（android.widget.Switch）是开关按钮的UI控件，是android.widget. CompoundButton的子类。</a:t>
            </a:r>
          </a:p>
        </p:txBody>
      </p:sp>
      <p:pic>
        <p:nvPicPr>
          <p:cNvPr id="11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8299" y="1088566"/>
            <a:ext cx="2457797" cy="49575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2.10  提 示 信 息"/>
          <p:cNvSpPr txBox="1"/>
          <p:nvPr/>
        </p:nvSpPr>
        <p:spPr>
          <a:xfrm>
            <a:off x="347979" y="1013142"/>
            <a:ext cx="207058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2.10  提 示 信 息</a:t>
            </a:r>
          </a:p>
        </p:txBody>
      </p:sp>
      <p:sp>
        <p:nvSpPr>
          <p:cNvPr id="119" name="Toast控件（android.widget.Toast）是显示提示信息的UI控件，是java.lang.Object的子类。"/>
          <p:cNvSpPr txBox="1"/>
          <p:nvPr/>
        </p:nvSpPr>
        <p:spPr>
          <a:xfrm>
            <a:off x="627380" y="1505296"/>
            <a:ext cx="2488743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Toast控件（android.widget.Toast）是显示提示信息的UI控件，是java.lang.Object的子类。</a:t>
            </a:r>
          </a:p>
        </p:txBody>
      </p:sp>
      <p:pic>
        <p:nvPicPr>
          <p:cNvPr id="12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49387" y="1238147"/>
            <a:ext cx="5198229" cy="48397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2.11  对  话  框"/>
          <p:cNvSpPr txBox="1"/>
          <p:nvPr/>
        </p:nvSpPr>
        <p:spPr>
          <a:xfrm>
            <a:off x="347979" y="1013142"/>
            <a:ext cx="189299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2.11  对  话  框</a:t>
            </a:r>
          </a:p>
        </p:txBody>
      </p:sp>
      <p:sp>
        <p:nvSpPr>
          <p:cNvPr id="123" name="AlertDialog控件（android.app.alertDialog）是显示对话框的UI控件，是android.app.Dialog的子类。由于AlertDialog类的构造方法是protected方法，因此需要通过AlertDialog.Builder类进行实例化。"/>
          <p:cNvSpPr txBox="1"/>
          <p:nvPr/>
        </p:nvSpPr>
        <p:spPr>
          <a:xfrm>
            <a:off x="627380" y="1505296"/>
            <a:ext cx="2488743" cy="406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AlertDialog控件（android.app.alertDialog）是显示对话框的UI控件，是android.app.Dialog的子类。由于AlertDialog类的构造方法是protected方法，因此需要通过AlertDialog.Builder类进行实例化。</a:t>
            </a:r>
          </a:p>
        </p:txBody>
      </p:sp>
      <p:pic>
        <p:nvPicPr>
          <p:cNvPr id="12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92537" y="1146910"/>
            <a:ext cx="5152631" cy="48408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2.12  日期选择器"/>
          <p:cNvSpPr txBox="1"/>
          <p:nvPr/>
        </p:nvSpPr>
        <p:spPr>
          <a:xfrm>
            <a:off x="347979" y="1013142"/>
            <a:ext cx="210864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2.12  日期选择器</a:t>
            </a:r>
          </a:p>
        </p:txBody>
      </p:sp>
      <p:sp>
        <p:nvSpPr>
          <p:cNvPr id="127" name="DatePicker控件（android.widget.DatePicker）是选择日期的UI控件，是android.widget.FrameLayout的子类。"/>
          <p:cNvSpPr txBox="1"/>
          <p:nvPr/>
        </p:nvSpPr>
        <p:spPr>
          <a:xfrm>
            <a:off x="627380" y="1505296"/>
            <a:ext cx="2488743" cy="219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DatePicker控件（android.widget.DatePicker）是选择日期的UI控件，是android.widget.FrameLayout的子类。</a:t>
            </a:r>
          </a:p>
        </p:txBody>
      </p:sp>
      <p:pic>
        <p:nvPicPr>
          <p:cNvPr id="12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93292" y="1211196"/>
            <a:ext cx="5080297" cy="4712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2.13  时间选择器"/>
          <p:cNvSpPr txBox="1"/>
          <p:nvPr/>
        </p:nvSpPr>
        <p:spPr>
          <a:xfrm>
            <a:off x="347979" y="1013142"/>
            <a:ext cx="210864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2.13  时间选择器</a:t>
            </a:r>
          </a:p>
        </p:txBody>
      </p:sp>
      <p:sp>
        <p:nvSpPr>
          <p:cNvPr id="131" name="TimePicker控件（android.widget.TimePicker）是选择时间的UI控件，是android.widget.FrameLayout的子类。"/>
          <p:cNvSpPr txBox="1"/>
          <p:nvPr/>
        </p:nvSpPr>
        <p:spPr>
          <a:xfrm>
            <a:off x="627380" y="1505296"/>
            <a:ext cx="2488743" cy="2190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TimePicker控件（android.widget.TimePicker）是选择时间的UI控件，是android.widget.FrameLayout的子类。</a:t>
            </a:r>
          </a:p>
        </p:txBody>
      </p:sp>
      <p:pic>
        <p:nvPicPr>
          <p:cNvPr id="13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6702" y="1092303"/>
            <a:ext cx="5289448" cy="49500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2.14  滚动条视图"/>
          <p:cNvSpPr txBox="1"/>
          <p:nvPr/>
        </p:nvSpPr>
        <p:spPr>
          <a:xfrm>
            <a:off x="347979" y="1013142"/>
            <a:ext cx="210864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2.14  滚动条视图</a:t>
            </a:r>
          </a:p>
        </p:txBody>
      </p:sp>
      <p:sp>
        <p:nvSpPr>
          <p:cNvPr id="135" name="ScrollView控件（android.widget.ScrollView）是可滚动的显示其他控件的UI控件，是android.widget.FrameLayout的子类。ScrollView控件只能包含一个子控件，否则会报错，但是在子控件中可以再添加控件。"/>
          <p:cNvSpPr txBox="1"/>
          <p:nvPr/>
        </p:nvSpPr>
        <p:spPr>
          <a:xfrm>
            <a:off x="627380" y="1505296"/>
            <a:ext cx="4587900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ScrollView控件（android.widget.ScrollView）是可滚动的显示其他控件的UI控件，是android.widget.FrameLayout的子类。ScrollView控件只能包含一个子控件，否则会报错，但是在子控件中可以再添加控件。</a:t>
            </a:r>
          </a:p>
        </p:txBody>
      </p:sp>
      <p:pic>
        <p:nvPicPr>
          <p:cNvPr id="13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59445" y="979094"/>
            <a:ext cx="2564612" cy="50687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2.15  通    知"/>
          <p:cNvSpPr txBox="1"/>
          <p:nvPr/>
        </p:nvSpPr>
        <p:spPr>
          <a:xfrm>
            <a:off x="347979" y="1013142"/>
            <a:ext cx="167689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2.15  通    知</a:t>
            </a:r>
          </a:p>
        </p:txBody>
      </p:sp>
      <p:sp>
        <p:nvSpPr>
          <p:cNvPr id="139" name="Notification控件（android.app.Notification）是显示通知的UI控件，是java.lang.Object的子类。当App向系统发出通知时，先以图标的形式显示在通知栏中。当用户下拉通知栏后，可以查看通知的详细信息。"/>
          <p:cNvSpPr txBox="1"/>
          <p:nvPr/>
        </p:nvSpPr>
        <p:spPr>
          <a:xfrm>
            <a:off x="627380" y="1505296"/>
            <a:ext cx="4587900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Notification控件（android.app.Notification）是显示通知的UI控件，是java.lang.Object的子类。当App向系统发出通知时，先以图标的形式显示在通知栏中。当用户下拉通知栏后，可以查看通知的详细信息。</a:t>
            </a:r>
          </a:p>
        </p:txBody>
      </p:sp>
      <p:pic>
        <p:nvPicPr>
          <p:cNvPr id="14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2176" y="4076232"/>
            <a:ext cx="4738308" cy="12322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48704" y="970348"/>
            <a:ext cx="2596987" cy="51939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1．实现全屏显示图像的界面效果。
2．实现多选题的界面效果。
3．实现选择出生日期的界面效果。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144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
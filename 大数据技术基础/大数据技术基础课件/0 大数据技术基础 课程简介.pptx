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29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96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9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15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2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44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31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70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54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18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4DDD3-34CB-4B4F-A0FA-C6BB91995BD6}" type="datetimeFigureOut">
              <a:rPr lang="zh-CN" altLang="en-US" smtClean="0"/>
              <a:t>2023/8/31/Thursday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92B19-14BA-4B72-BE5F-9AE3B81DA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64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uexi.cn/lgpage/detail/index.html?id=15307190946981574103" TargetMode="External"/><Relationship Id="rId2" Type="http://schemas.openxmlformats.org/officeDocument/2006/relationships/hyperlink" Target="https://www.xuexi.cn/lgpage/detail/index.html?id=982936555478428160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xuexi.cn/lgpage/detail/index.html?id=54275294479498117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/>
              <a:t>大数据技术基础 </a:t>
            </a:r>
            <a:r>
              <a:rPr lang="en-US" altLang="zh-CN" smtClean="0"/>
              <a:t>32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42753" y="4134052"/>
            <a:ext cx="6858000" cy="1655762"/>
          </a:xfrm>
        </p:spPr>
        <p:txBody>
          <a:bodyPr/>
          <a:lstStyle/>
          <a:p>
            <a:endParaRPr lang="en-US" altLang="zh-CN" smtClean="0"/>
          </a:p>
          <a:p>
            <a:r>
              <a:rPr lang="zh-CN" altLang="en-US" smtClean="0"/>
              <a:t>下学期：</a:t>
            </a:r>
            <a:r>
              <a:rPr lang="en-US" altLang="zh-CN" smtClean="0"/>
              <a:t>Python</a:t>
            </a:r>
            <a:r>
              <a:rPr lang="zh-CN" altLang="en-US"/>
              <a:t>语言及大数据</a:t>
            </a:r>
            <a:r>
              <a:rPr lang="zh-CN" altLang="en-US" smtClean="0"/>
              <a:t>实践  </a:t>
            </a:r>
            <a:r>
              <a:rPr lang="en-US" altLang="zh-CN" smtClean="0"/>
              <a:t>16+16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42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304800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000000"/>
                </a:solidFill>
                <a:latin typeface="等线 Light"/>
                <a:cs typeface="等线 Light"/>
              </a:rPr>
              <a:t>本课程内容组织</a:t>
            </a:r>
            <a:endParaRPr>
              <a:latin typeface="等线 Light"/>
              <a:cs typeface="等线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2221" y="1035929"/>
            <a:ext cx="7446010" cy="5073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9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err="1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数据科学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与大数据</a:t>
            </a:r>
            <a:r>
              <a:rPr sz="2400" err="1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基础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698500" lvl="1" indent="-228600">
              <a:lnSpc>
                <a:spcPts val="23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25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python</a:t>
            </a: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工具、科学计算包</a:t>
            </a:r>
          </a:p>
          <a:p>
            <a:pPr marL="241300" indent="-228600"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多维数据组织与计算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-numpy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241300" indent="-228600">
              <a:lnSpc>
                <a:spcPts val="2790"/>
              </a:lnSpc>
              <a:spcBef>
                <a:spcPts val="120"/>
              </a:spcBef>
              <a:buFont typeface="Arial"/>
              <a:buChar char="•"/>
              <a:tabLst>
                <a:tab pos="241300" algn="l"/>
              </a:tabLst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数据汇总与统计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-pandas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241300" indent="-228600">
              <a:lnSpc>
                <a:spcPts val="279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数据可视化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-</a:t>
            </a:r>
            <a:r>
              <a:rPr lang="en-US" sz="2400" spc="25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M</a:t>
            </a:r>
            <a:r>
              <a:rPr sz="2400" spc="25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atplotlib</a:t>
            </a:r>
            <a:r>
              <a:rPr lang="zh-CN" altLang="en-US" sz="2400" spc="25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、</a:t>
            </a:r>
            <a:r>
              <a:rPr sz="2400" spc="15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pyecharts</a:t>
            </a: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241300" indent="-228600">
              <a:lnSpc>
                <a:spcPts val="279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数据采集</a:t>
            </a:r>
          </a:p>
          <a:p>
            <a:pPr marL="698500" lvl="1" indent="-228600">
              <a:lnSpc>
                <a:spcPts val="23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文本分析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698500" lvl="1" indent="-228600">
              <a:lnSpc>
                <a:spcPts val="23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网络爬虫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241300" indent="-228600">
              <a:lnSpc>
                <a:spcPts val="2790"/>
              </a:lnSpc>
              <a:spcBef>
                <a:spcPts val="80"/>
              </a:spcBef>
              <a:buFont typeface="Arial"/>
              <a:buChar char="•"/>
              <a:tabLst>
                <a:tab pos="241300" algn="l"/>
              </a:tabLst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数据建模分析</a:t>
            </a:r>
          </a:p>
          <a:p>
            <a:pPr marL="698500" lvl="1" indent="-228600">
              <a:lnSpc>
                <a:spcPts val="221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机器学习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scikit-learn</a:t>
            </a:r>
          </a:p>
          <a:p>
            <a:pPr marL="241300" indent="-228600">
              <a:lnSpc>
                <a:spcPts val="279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数据分析技术应用</a:t>
            </a:r>
          </a:p>
          <a:p>
            <a:pPr marL="698500" lvl="1" indent="-228600">
              <a:lnSpc>
                <a:spcPts val="23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图像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与计算机视觉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OpenCV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 </a:t>
            </a:r>
            <a:r>
              <a:rPr lang="en-US" altLang="zh-CN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(</a:t>
            </a: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自学</a:t>
            </a:r>
            <a:r>
              <a:rPr lang="en-US" altLang="zh-CN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) </a:t>
            </a:r>
            <a:endParaRPr lang="en-US" sz="20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698500" lvl="1" indent="-228600">
              <a:lnSpc>
                <a:spcPts val="23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时序与声音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自学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)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241300" indent="-228600">
              <a:spcBef>
                <a:spcPts val="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err="1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大数据分析技术</a:t>
            </a: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698500" lvl="2" indent="-228600">
              <a:spcBef>
                <a:spcPts val="8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Hadoop</a:t>
            </a: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，</a:t>
            </a:r>
            <a:r>
              <a:rPr lang="en-US" altLang="zh-CN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Spark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下学期讲授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)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</p:txBody>
      </p:sp>
    </p:spTree>
    <p:extLst>
      <p:ext uri="{BB962C8B-B14F-4D97-AF65-F5344CB8AC3E}">
        <p14:creationId xmlns:p14="http://schemas.microsoft.com/office/powerpoint/2010/main" val="219150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611124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000000"/>
                </a:solidFill>
                <a:latin typeface="等线 Light"/>
                <a:cs typeface="等线 Light"/>
              </a:rPr>
              <a:t>课程教学安排</a:t>
            </a:r>
            <a:endParaRPr>
              <a:latin typeface="等线 Light"/>
              <a:cs typeface="等线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392" y="1477774"/>
            <a:ext cx="7724775" cy="40863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indent="-228600"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教学</a:t>
            </a:r>
          </a:p>
          <a:p>
            <a:pPr marL="698500" lvl="1" indent="-228600">
              <a:spcBef>
                <a:spcPts val="52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8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周 </a:t>
            </a: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每周一次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机房授课  课堂讲授</a:t>
            </a:r>
            <a:r>
              <a:rPr sz="2000" spc="25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+</a:t>
            </a:r>
            <a:r>
              <a:rPr lang="zh-CN" altLang="en-US" sz="2000" spc="25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课堂上机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练习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698500" lvl="1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err="1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课后作业</a:t>
            </a:r>
            <a:endParaRPr lang="en-US" sz="20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698500" lvl="1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课后综合设计</a:t>
            </a:r>
            <a:endParaRPr sz="20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20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241300" indent="-228600">
              <a:spcBef>
                <a:spcPts val="1465"/>
              </a:spcBef>
              <a:buFont typeface="Arial"/>
              <a:buChar char="•"/>
              <a:tabLst>
                <a:tab pos="241300" algn="l"/>
              </a:tabLst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考核及成绩评定方法</a:t>
            </a:r>
          </a:p>
          <a:p>
            <a:pPr marL="698500" lvl="1" indent="-228600">
              <a:spcBef>
                <a:spcPts val="52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课堂表现及作业</a:t>
            </a:r>
            <a:r>
              <a:rPr 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20</a:t>
            </a:r>
            <a:r>
              <a:rPr sz="2000" err="1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：</a:t>
            </a:r>
            <a:r>
              <a:rPr sz="1600" err="1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上课与课后作业</a:t>
            </a:r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，课</a:t>
            </a:r>
            <a:r>
              <a:rPr sz="16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堂</a:t>
            </a:r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上机练习</a:t>
            </a:r>
            <a:endParaRPr sz="16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698500" lvl="1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综合设计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20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：</a:t>
            </a:r>
            <a:r>
              <a:rPr lang="zh-CN" altLang="en-US" sz="2000" spc="-1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 </a:t>
            </a:r>
            <a:r>
              <a:rPr lang="en-US" altLang="zh-CN" sz="1600" spc="-1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1-2</a:t>
            </a:r>
            <a:r>
              <a:rPr lang="zh-CN" altLang="en-US" sz="1600" spc="-4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人</a:t>
            </a:r>
            <a:r>
              <a:rPr lang="en-US" altLang="zh-CN" sz="1600" spc="-1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1</a:t>
            </a:r>
            <a:r>
              <a:rPr lang="zh-CN" altLang="en-US" sz="1600" spc="-4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组自选题目，完成设计及编程，上交综合设计报告、志愿参加答辩。备选题目：爬虫类（房产局公示信息；报纸杂志</a:t>
            </a:r>
            <a:r>
              <a:rPr lang="en-US" altLang="zh-CN" sz="1600" spc="-4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PDF</a:t>
            </a:r>
            <a:r>
              <a:rPr lang="zh-CN" altLang="en-US" sz="1600" spc="-4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；电商平台数据；电子书网站书目；其他感兴趣网站公开数据），机器学习建模类</a:t>
            </a:r>
            <a:r>
              <a:rPr lang="en-US" altLang="zh-CN" sz="1600" spc="-4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……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  <a:p>
            <a:pPr marL="698500" lvl="1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期末考试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60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：</a:t>
            </a:r>
            <a:r>
              <a:rPr lang="zh-CN" altLang="en-US" sz="1600" spc="-40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开</a:t>
            </a:r>
            <a:r>
              <a:rPr sz="1600" spc="-40" err="1">
                <a:latin typeface="微软雅黑" panose="020B0503020204020204" pitchFamily="34" charset="-122"/>
                <a:ea typeface="微软雅黑" panose="020B0503020204020204" pitchFamily="34" charset="-122"/>
                <a:cs typeface="等线 Light"/>
              </a:rPr>
              <a:t>卷考试</a:t>
            </a:r>
            <a:endParaRPr sz="1600">
              <a:latin typeface="微软雅黑" panose="020B0503020204020204" pitchFamily="34" charset="-122"/>
              <a:ea typeface="微软雅黑" panose="020B0503020204020204" pitchFamily="34" charset="-122"/>
              <a:cs typeface="等线 Light"/>
            </a:endParaRPr>
          </a:p>
        </p:txBody>
      </p:sp>
    </p:spTree>
    <p:extLst>
      <p:ext uri="{BB962C8B-B14F-4D97-AF65-F5344CB8AC3E}">
        <p14:creationId xmlns:p14="http://schemas.microsoft.com/office/powerpoint/2010/main" val="3829448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000000"/>
                </a:solidFill>
                <a:latin typeface="等线 Light"/>
                <a:cs typeface="等线 Light"/>
              </a:rPr>
              <a:t>教学资料</a:t>
            </a:r>
            <a:endParaRPr>
              <a:latin typeface="等线 Light"/>
              <a:cs typeface="等线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126" y="990602"/>
            <a:ext cx="8991599" cy="546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等线 Light"/>
                <a:cs typeface="等线 Light"/>
              </a:rPr>
              <a:t>教材</a:t>
            </a:r>
          </a:p>
          <a:p>
            <a:pPr marL="698500" marR="110489" lvl="1" indent="-228600">
              <a:lnSpc>
                <a:spcPct val="79100"/>
              </a:lnSpc>
              <a:spcBef>
                <a:spcPts val="54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>
                <a:latin typeface="等线 Light"/>
                <a:cs typeface="等线 Light"/>
              </a:rPr>
              <a:t>数据科学技术与应用-基于</a:t>
            </a:r>
            <a:r>
              <a:rPr sz="2200" spc="20">
                <a:latin typeface="等线 Light"/>
                <a:cs typeface="等线 Light"/>
              </a:rPr>
              <a:t>Py</a:t>
            </a:r>
            <a:r>
              <a:rPr sz="2200" spc="40">
                <a:latin typeface="等线 Light"/>
                <a:cs typeface="等线 Light"/>
              </a:rPr>
              <a:t>t</a:t>
            </a:r>
            <a:r>
              <a:rPr sz="2200" spc="25">
                <a:latin typeface="等线 Light"/>
                <a:cs typeface="等线 Light"/>
              </a:rPr>
              <a:t>hon</a:t>
            </a:r>
            <a:r>
              <a:rPr sz="2200">
                <a:latin typeface="等线 Light"/>
                <a:cs typeface="等线 Light"/>
              </a:rPr>
              <a:t>实现，宋晖、刘晓强主 编，电子工业出版社</a:t>
            </a:r>
            <a:r>
              <a:rPr sz="2200" spc="10">
                <a:latin typeface="等线 Light"/>
                <a:cs typeface="等线 Light"/>
              </a:rPr>
              <a:t>，2021.8</a:t>
            </a:r>
            <a:r>
              <a:rPr lang="en-US" sz="2200" spc="10">
                <a:latin typeface="等线 Light"/>
                <a:cs typeface="等线 Light"/>
              </a:rPr>
              <a:t> </a:t>
            </a:r>
            <a:r>
              <a:rPr lang="en-US" sz="1600" spc="10">
                <a:latin typeface="等线 Light"/>
                <a:cs typeface="等线 Light"/>
              </a:rPr>
              <a:t>https://www.phei.com.cn/module/goods/wssd_content.jsp?bookid=58785</a:t>
            </a:r>
            <a:endParaRPr sz="2550">
              <a:latin typeface="Times New Roman"/>
              <a:cs typeface="Times New Roman"/>
            </a:endParaRPr>
          </a:p>
          <a:p>
            <a:pPr marL="241300" indent="-228600">
              <a:lnSpc>
                <a:spcPts val="3115"/>
              </a:lnSpc>
              <a:buFont typeface="Arial"/>
              <a:buChar char="•"/>
              <a:tabLst>
                <a:tab pos="241300" algn="l"/>
              </a:tabLst>
            </a:pPr>
            <a:endParaRPr lang="en-US" sz="2600">
              <a:latin typeface="等线 Light"/>
              <a:cs typeface="等线 Light"/>
            </a:endParaRPr>
          </a:p>
          <a:p>
            <a:pPr marL="241300" indent="-228600">
              <a:lnSpc>
                <a:spcPts val="3115"/>
              </a:lnSpc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等线 Light"/>
                <a:cs typeface="等线 Light"/>
              </a:rPr>
              <a:t>课堂讲义</a:t>
            </a:r>
          </a:p>
          <a:p>
            <a:pPr marL="698500" lvl="1" indent="-228600">
              <a:lnSpc>
                <a:spcPts val="263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30">
                <a:latin typeface="等线 Light"/>
                <a:cs typeface="等线 Light"/>
              </a:rPr>
              <a:t>ppt</a:t>
            </a:r>
            <a:r>
              <a:rPr sz="2200">
                <a:latin typeface="等线 Light"/>
                <a:cs typeface="等线 Light"/>
              </a:rPr>
              <a:t>、实例程序</a:t>
            </a:r>
            <a:endParaRPr sz="2950">
              <a:latin typeface="Times New Roman"/>
              <a:cs typeface="Times New Roman"/>
            </a:endParaRPr>
          </a:p>
          <a:p>
            <a:pPr marL="241300" indent="-228600">
              <a:lnSpc>
                <a:spcPts val="3115"/>
              </a:lnSpc>
              <a:buFont typeface="Arial"/>
              <a:buChar char="•"/>
              <a:tabLst>
                <a:tab pos="241300" algn="l"/>
              </a:tabLst>
            </a:pPr>
            <a:endParaRPr lang="en-US" sz="2600">
              <a:latin typeface="等线 Light"/>
              <a:cs typeface="等线 Light"/>
            </a:endParaRPr>
          </a:p>
          <a:p>
            <a:pPr marL="241300" indent="-228600">
              <a:lnSpc>
                <a:spcPts val="3115"/>
              </a:lnSpc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等线 Light"/>
                <a:cs typeface="等线 Light"/>
              </a:rPr>
              <a:t>参考书籍</a:t>
            </a: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1600" spc="25">
                <a:latin typeface="等线 Light"/>
                <a:cs typeface="等线 Light"/>
              </a:rPr>
              <a:t>大数据导论．梅宏．高等教育</a:t>
            </a:r>
            <a:r>
              <a:rPr lang="zh-CN" altLang="en-US" sz="1600" spc="25" smtClean="0">
                <a:latin typeface="等线 Light"/>
                <a:cs typeface="等线 Light"/>
              </a:rPr>
              <a:t>出版社．</a:t>
            </a:r>
            <a:endParaRPr lang="en-US" altLang="zh-CN" sz="1600" spc="25">
              <a:latin typeface="等线 Light"/>
              <a:cs typeface="等线 Light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altLang="zh-CN" sz="1600" spc="25">
                <a:latin typeface="等线 Light"/>
                <a:cs typeface="等线 Light"/>
              </a:rPr>
              <a:t>Python</a:t>
            </a:r>
            <a:r>
              <a:rPr lang="zh-CN" altLang="en-US" sz="1600" spc="25">
                <a:latin typeface="等线 Light"/>
                <a:cs typeface="等线 Light"/>
              </a:rPr>
              <a:t>语言程序设计基础第</a:t>
            </a:r>
            <a:r>
              <a:rPr lang="en-US" altLang="zh-CN" sz="1600" spc="25">
                <a:latin typeface="等线 Light"/>
                <a:cs typeface="等线 Light"/>
              </a:rPr>
              <a:t>2</a:t>
            </a:r>
            <a:r>
              <a:rPr lang="zh-CN" altLang="en-US" sz="1600" spc="25">
                <a:latin typeface="等线 Light"/>
                <a:cs typeface="等线 Light"/>
              </a:rPr>
              <a:t>版．嵩天．高等教育</a:t>
            </a:r>
            <a:r>
              <a:rPr lang="zh-CN" altLang="en-US" sz="1600" spc="25" smtClean="0">
                <a:latin typeface="等线 Light"/>
                <a:cs typeface="等线 Light"/>
              </a:rPr>
              <a:t>出版社．</a:t>
            </a:r>
            <a:endParaRPr lang="zh-CN" altLang="en-US" sz="1600" spc="25">
              <a:latin typeface="等线 Light"/>
              <a:cs typeface="等线 Light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1600" spc="25" smtClean="0">
                <a:latin typeface="等线 Light"/>
                <a:cs typeface="等线 Light"/>
              </a:rPr>
              <a:t>利用</a:t>
            </a:r>
            <a:r>
              <a:rPr lang="en-US" altLang="zh-CN" sz="1600" spc="25" smtClean="0">
                <a:latin typeface="等线 Light"/>
                <a:cs typeface="等线 Light"/>
              </a:rPr>
              <a:t>Python</a:t>
            </a:r>
            <a:r>
              <a:rPr lang="zh-CN" altLang="en-US" sz="1600" spc="25" smtClean="0">
                <a:latin typeface="等线 Light"/>
                <a:cs typeface="等线 Light"/>
              </a:rPr>
              <a:t>进行数据分析第</a:t>
            </a:r>
            <a:r>
              <a:rPr lang="en-US" altLang="zh-CN" sz="1600" spc="25" smtClean="0">
                <a:latin typeface="等线 Light"/>
                <a:cs typeface="等线 Light"/>
              </a:rPr>
              <a:t>2</a:t>
            </a:r>
            <a:r>
              <a:rPr lang="zh-CN" altLang="en-US" sz="1600" spc="25" smtClean="0">
                <a:latin typeface="等线 Light"/>
                <a:cs typeface="等线 Light"/>
              </a:rPr>
              <a:t>版．麦金尼．机械工业出版社．</a:t>
            </a:r>
            <a:endParaRPr lang="zh-CN" altLang="en-US" sz="1600" spc="25">
              <a:latin typeface="等线 Light"/>
              <a:cs typeface="等线 Light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altLang="zh-CN" sz="1600" spc="25" smtClean="0">
                <a:latin typeface="等线 Light"/>
                <a:cs typeface="等线 Light"/>
              </a:rPr>
              <a:t>Python 3</a:t>
            </a:r>
            <a:r>
              <a:rPr lang="zh-CN" altLang="en-US" sz="1600" spc="25" smtClean="0">
                <a:latin typeface="等线 Light"/>
                <a:cs typeface="等线 Light"/>
              </a:rPr>
              <a:t>爬虫、数据清洗与可视化实战．零一．电子工业出版社．</a:t>
            </a:r>
            <a:endParaRPr lang="zh-CN" altLang="en-US" sz="1600" spc="25">
              <a:latin typeface="等线 Light"/>
              <a:cs typeface="等线 Light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altLang="zh-CN" sz="1600" spc="25">
                <a:latin typeface="等线 Light"/>
                <a:cs typeface="等线 Light"/>
              </a:rPr>
              <a:t>scikit-learn</a:t>
            </a:r>
            <a:r>
              <a:rPr lang="zh-CN" altLang="en-US" sz="1600" spc="25">
                <a:latin typeface="等线 Light"/>
                <a:cs typeface="等线 Light"/>
              </a:rPr>
              <a:t>机器学习：常用算法原理及编程实战．黄永昌．机械工业</a:t>
            </a:r>
            <a:r>
              <a:rPr lang="zh-CN" altLang="en-US" sz="1600" spc="25" smtClean="0">
                <a:latin typeface="等线 Light"/>
                <a:cs typeface="等线 Light"/>
              </a:rPr>
              <a:t>出版社．</a:t>
            </a:r>
            <a:endParaRPr lang="en-US" altLang="zh-CN" sz="1600" spc="25">
              <a:latin typeface="等线 Light"/>
              <a:cs typeface="等线 Light"/>
            </a:endParaRPr>
          </a:p>
          <a:p>
            <a:pPr marL="698500" lvl="1" indent="-228600">
              <a:lnSpc>
                <a:spcPts val="263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endParaRPr lang="zh-CN" altLang="en-US" sz="2950">
              <a:latin typeface="Times New Roman"/>
              <a:cs typeface="Times New Roman"/>
            </a:endParaRPr>
          </a:p>
          <a:p>
            <a:pPr marL="469900" lvl="1">
              <a:lnSpc>
                <a:spcPts val="2610"/>
              </a:lnSpc>
              <a:tabLst>
                <a:tab pos="697865" algn="l"/>
                <a:tab pos="698500" algn="l"/>
              </a:tabLst>
            </a:pPr>
            <a:endParaRPr lang="en-US" altLang="zh-CN" sz="1600" spc="25">
              <a:latin typeface="等线 Light"/>
              <a:cs typeface="等线 Light"/>
            </a:endParaRPr>
          </a:p>
        </p:txBody>
      </p:sp>
    </p:spTree>
    <p:extLst>
      <p:ext uri="{BB962C8B-B14F-4D97-AF65-F5344CB8AC3E}">
        <p14:creationId xmlns:p14="http://schemas.microsoft.com/office/powerpoint/2010/main" val="148229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228600" y="914400"/>
            <a:ext cx="8369300" cy="4162678"/>
          </a:xfrm>
        </p:spPr>
        <p:txBody>
          <a:bodyPr>
            <a:normAutofit/>
          </a:bodyPr>
          <a:lstStyle/>
          <a:p>
            <a:pPr marL="241300">
              <a:lnSpc>
                <a:spcPts val="3115"/>
              </a:lnSpc>
              <a:buFont typeface="Arial"/>
              <a:buChar char="•"/>
              <a:tabLst>
                <a:tab pos="241300" algn="l"/>
              </a:tabLst>
            </a:pPr>
            <a:r>
              <a:rPr lang="zh-CN" altLang="en-US" sz="2600"/>
              <a:t>网络慕课</a:t>
            </a:r>
            <a:r>
              <a:rPr lang="zh-CN" altLang="en-US" sz="2600" smtClean="0"/>
              <a:t>教程</a:t>
            </a:r>
            <a:endParaRPr lang="zh-CN" altLang="en-US" sz="2600"/>
          </a:p>
          <a:p>
            <a:pPr marL="698500" lvl="1">
              <a:lnSpc>
                <a:spcPts val="263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zh-CN" altLang="en-US" sz="2000">
                <a:latin typeface="+mn-ea"/>
              </a:rPr>
              <a:t>大数据技术</a:t>
            </a:r>
            <a:r>
              <a:rPr lang="zh-CN" altLang="en-US" sz="2000" smtClean="0">
                <a:latin typeface="+mn-ea"/>
              </a:rPr>
              <a:t>导论</a:t>
            </a:r>
            <a:r>
              <a:rPr lang="en-US" altLang="zh-CN" sz="2000" spc="30">
                <a:latin typeface="+mn-ea"/>
                <a:cs typeface="等线 Light"/>
                <a:hlinkClick r:id="rId2"/>
              </a:rPr>
              <a:t>https</a:t>
            </a:r>
            <a:r>
              <a:rPr lang="en-US" altLang="zh-CN" sz="2000" spc="30">
                <a:latin typeface="+mn-ea"/>
                <a:cs typeface="等线 Light"/>
                <a:hlinkClick r:id="rId2"/>
              </a:rPr>
              <a:t>://</a:t>
            </a:r>
            <a:r>
              <a:rPr lang="en-US" altLang="zh-CN" sz="2000" spc="30" smtClean="0">
                <a:latin typeface="+mn-ea"/>
                <a:cs typeface="等线 Light"/>
                <a:hlinkClick r:id="rId2"/>
              </a:rPr>
              <a:t>www.xuexi.cn/lgpage/detail/index.html?id=9829365554784281601</a:t>
            </a:r>
            <a:endParaRPr lang="en-US" altLang="zh-CN" sz="2000" spc="30" smtClean="0">
              <a:latin typeface="+mn-ea"/>
              <a:cs typeface="等线 Light"/>
            </a:endParaRPr>
          </a:p>
          <a:p>
            <a:pPr marL="698500" lvl="1">
              <a:lnSpc>
                <a:spcPts val="263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altLang="zh-CN" sz="2000" spc="30" smtClean="0">
                <a:latin typeface="+mn-ea"/>
                <a:cs typeface="等线 Light"/>
              </a:rPr>
              <a:t>Python</a:t>
            </a:r>
            <a:r>
              <a:rPr lang="zh-CN" altLang="en-US" sz="2000" spc="30">
                <a:latin typeface="+mn-ea"/>
                <a:cs typeface="等线 Light"/>
              </a:rPr>
              <a:t>语言程序设计</a:t>
            </a:r>
            <a:r>
              <a:rPr lang="en-US" altLang="zh-CN" sz="2000" spc="30">
                <a:latin typeface="+mn-ea"/>
                <a:cs typeface="等线 Light"/>
                <a:hlinkClick r:id="rId3"/>
              </a:rPr>
              <a:t>https://www.xuexi.cn/lgpage/detail/index.html?id=15307190946981574103</a:t>
            </a:r>
            <a:endParaRPr lang="en-US" altLang="zh-CN" sz="2000" spc="30">
              <a:latin typeface="+mn-ea"/>
              <a:cs typeface="等线 Light"/>
            </a:endParaRPr>
          </a:p>
          <a:p>
            <a:pPr marL="698500" lvl="1">
              <a:lnSpc>
                <a:spcPts val="263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altLang="zh-CN" sz="2000">
                <a:latin typeface="+mn-ea"/>
              </a:rPr>
              <a:t>Python</a:t>
            </a:r>
            <a:r>
              <a:rPr lang="zh-CN" altLang="en-US" sz="2000">
                <a:latin typeface="+mn-ea"/>
              </a:rPr>
              <a:t>网络爬虫与信息提取</a:t>
            </a:r>
            <a:r>
              <a:rPr lang="en-US" altLang="zh-CN" sz="2000">
                <a:latin typeface="+mn-ea"/>
                <a:hlinkClick r:id="rId4"/>
              </a:rPr>
              <a:t>https://www.xuexi.cn/lgpage/detail/index.html?id=5427529447949811704</a:t>
            </a:r>
            <a:endParaRPr lang="en-US" altLang="zh-CN" sz="2000">
              <a:latin typeface="+mn-ea"/>
            </a:endParaRPr>
          </a:p>
          <a:p>
            <a:pPr marL="698500" lvl="1">
              <a:lnSpc>
                <a:spcPts val="263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endParaRPr lang="en-US" altLang="zh-CN" sz="2000" spc="30">
              <a:latin typeface="+mn-ea"/>
              <a:cs typeface="等线 Light"/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49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282</Words>
  <Application>Microsoft Office PowerPoint</Application>
  <PresentationFormat>全屏显示(4:3)</PresentationFormat>
  <Paragraphs>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Calibri</vt:lpstr>
      <vt:lpstr>Calibri Light</vt:lpstr>
      <vt:lpstr>Times New Roman</vt:lpstr>
      <vt:lpstr>Office 主题​​</vt:lpstr>
      <vt:lpstr>大数据技术基础 32</vt:lpstr>
      <vt:lpstr>本课程内容组织</vt:lpstr>
      <vt:lpstr>课程教学安排</vt:lpstr>
      <vt:lpstr>教学资料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大数据技术基础 32</dc:title>
  <dc:creator>dell5</dc:creator>
  <cp:lastModifiedBy>dell5</cp:lastModifiedBy>
  <cp:revision>7</cp:revision>
  <dcterms:created xsi:type="dcterms:W3CDTF">2022-01-26T22:49:42Z</dcterms:created>
  <dcterms:modified xsi:type="dcterms:W3CDTF">2023-08-30T23:14:45Z</dcterms:modified>
</cp:coreProperties>
</file>